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898255ec424ad5" /><Relationship Type="http://schemas.openxmlformats.org/officeDocument/2006/relationships/extended-properties" Target="/docProps/app.xml" Id="R9afdad0595d8495e" /><Relationship Type="http://schemas.openxmlformats.org/officeDocument/2006/relationships/officeDocument" Target="/ppt/presentation.xml" Id="Ra091765bb69143c6" /></Relationships>
</file>

<file path=ppt/presentation.xml><?xml version="1.0" encoding="utf-8"?>
<p:presentation xmlns:p="http://schemas.openxmlformats.org/presentationml/2006/main">
  <p:sldMasterIdLst>
    <p:sldMasterId xmlns:r="http://schemas.openxmlformats.org/officeDocument/2006/relationships" id="2147483648" r:id="Rc6191b6e20a049f3"/>
  </p:sldMasterIdLst>
  <p:notesMasterIdLst>
    <p:notesMasterId xmlns:r="http://schemas.openxmlformats.org/officeDocument/2006/relationships" r:id="R09f9f983da9e43f4"/>
  </p:notesMasterIdLst>
  <p:sldIdLst>
    <p:sldId xmlns:r="http://schemas.openxmlformats.org/officeDocument/2006/relationships" id="256" r:id="R057b4ff99ae64517"/>
    <p:sldId xmlns:r="http://schemas.openxmlformats.org/officeDocument/2006/relationships" id="257" r:id="R4ad073b8609b4208"/>
    <p:sldId xmlns:r="http://schemas.openxmlformats.org/officeDocument/2006/relationships" id="258" r:id="R1e0fc3660b284847"/>
    <p:sldId xmlns:r="http://schemas.openxmlformats.org/officeDocument/2006/relationships" id="259" r:id="R68724aeb06634bb1"/>
    <p:sldId xmlns:r="http://schemas.openxmlformats.org/officeDocument/2006/relationships" id="260" r:id="Rc3bc6e9507144255"/>
    <p:sldId xmlns:r="http://schemas.openxmlformats.org/officeDocument/2006/relationships" id="261" r:id="Rabef9269cc7a4e97"/>
    <p:sldId xmlns:r="http://schemas.openxmlformats.org/officeDocument/2006/relationships" id="262" r:id="Rf165d095fdd64dbd"/>
    <p:sldId xmlns:r="http://schemas.openxmlformats.org/officeDocument/2006/relationships" id="263" r:id="Re2f87c3a910a4804"/>
    <p:sldId xmlns:r="http://schemas.openxmlformats.org/officeDocument/2006/relationships" id="264" r:id="R740e68d5f37c42d5"/>
    <p:sldId xmlns:r="http://schemas.openxmlformats.org/officeDocument/2006/relationships" id="265" r:id="Rf3edd53455ef4c4f"/>
    <p:sldId xmlns:r="http://schemas.openxmlformats.org/officeDocument/2006/relationships" id="266" r:id="R86e0780499824d47"/>
    <p:sldId xmlns:r="http://schemas.openxmlformats.org/officeDocument/2006/relationships" id="267" r:id="R2347c8a9b57b40a5"/>
    <p:sldId xmlns:r="http://schemas.openxmlformats.org/officeDocument/2006/relationships" id="268" r:id="R0bd0d14fc141427c"/>
    <p:sldId xmlns:r="http://schemas.openxmlformats.org/officeDocument/2006/relationships" id="269" r:id="R8571240243a6425f"/>
    <p:sldId xmlns:r="http://schemas.openxmlformats.org/officeDocument/2006/relationships" id="270" r:id="Ra49f8a9b83664abd"/>
    <p:sldId xmlns:r="http://schemas.openxmlformats.org/officeDocument/2006/relationships" id="271" r:id="R182ca5f13afb415a"/>
    <p:sldId xmlns:r="http://schemas.openxmlformats.org/officeDocument/2006/relationships" id="272" r:id="R20697fb8a3724fb0"/>
    <p:sldId xmlns:r="http://schemas.openxmlformats.org/officeDocument/2006/relationships" id="273" r:id="Rb3dc52b11c644df3"/>
    <p:sldId xmlns:r="http://schemas.openxmlformats.org/officeDocument/2006/relationships" id="274" r:id="Ra700eb432b984abc"/>
    <p:sldId xmlns:r="http://schemas.openxmlformats.org/officeDocument/2006/relationships" id="275" r:id="R6f6f509d258d4bc1"/>
    <p:sldId xmlns:r="http://schemas.openxmlformats.org/officeDocument/2006/relationships" id="276" r:id="R471e730fadff4054"/>
    <p:sldId xmlns:r="http://schemas.openxmlformats.org/officeDocument/2006/relationships" id="277" r:id="R3110e9426ed34066"/>
    <p:sldId xmlns:r="http://schemas.openxmlformats.org/officeDocument/2006/relationships" id="278" r:id="R7f40a3984d8f4b4a"/>
    <p:sldId xmlns:r="http://schemas.openxmlformats.org/officeDocument/2006/relationships" id="279" r:id="Rd9592fb8605944ed"/>
    <p:sldId xmlns:r="http://schemas.openxmlformats.org/officeDocument/2006/relationships" id="280" r:id="R16956beb638045d3"/>
    <p:sldId xmlns:r="http://schemas.openxmlformats.org/officeDocument/2006/relationships" id="281" r:id="R8b45584bef614baf"/>
    <p:sldId xmlns:r="http://schemas.openxmlformats.org/officeDocument/2006/relationships" id="282" r:id="R5be5b2f4fcca4832"/>
    <p:sldId xmlns:r="http://schemas.openxmlformats.org/officeDocument/2006/relationships" id="283" r:id="R3611c12a9b8b4942"/>
    <p:sldId xmlns:r="http://schemas.openxmlformats.org/officeDocument/2006/relationships" id="284" r:id="R51532d3fe72c4b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1342b6e7b3462e" /><Relationship Type="http://schemas.openxmlformats.org/officeDocument/2006/relationships/slideMaster" Target="/ppt/slideMasters/slideMaster1.xml" Id="Rc6191b6e20a049f3" /><Relationship Type="http://schemas.openxmlformats.org/officeDocument/2006/relationships/notesMaster" Target="/ppt/notesMasters/notesMaster1.xml" Id="R09f9f983da9e43f4" /><Relationship Type="http://schemas.openxmlformats.org/officeDocument/2006/relationships/presProps" Target="/ppt/presProps.xml" Id="R8c09d19b916f46ed" /><Relationship Type="http://schemas.openxmlformats.org/officeDocument/2006/relationships/tableStyles" Target="/ppt/tableStyles.xml" Id="Rc0f2315ee2b146af" /><Relationship Type="http://schemas.openxmlformats.org/officeDocument/2006/relationships/slide" Target="/ppt/slides/slide1.xml" Id="R057b4ff99ae64517" /><Relationship Type="http://schemas.openxmlformats.org/officeDocument/2006/relationships/slide" Target="/ppt/slides/slide2.xml" Id="R4ad073b8609b4208" /><Relationship Type="http://schemas.openxmlformats.org/officeDocument/2006/relationships/slide" Target="/ppt/slides/slide3.xml" Id="R1e0fc3660b284847" /><Relationship Type="http://schemas.openxmlformats.org/officeDocument/2006/relationships/slide" Target="/ppt/slides/slide4.xml" Id="R68724aeb06634bb1" /><Relationship Type="http://schemas.openxmlformats.org/officeDocument/2006/relationships/slide" Target="/ppt/slides/slide5.xml" Id="Rc3bc6e9507144255" /><Relationship Type="http://schemas.openxmlformats.org/officeDocument/2006/relationships/slide" Target="/ppt/slides/slide6.xml" Id="Rabef9269cc7a4e97" /><Relationship Type="http://schemas.openxmlformats.org/officeDocument/2006/relationships/slide" Target="/ppt/slides/slide7.xml" Id="Rf165d095fdd64dbd" /><Relationship Type="http://schemas.openxmlformats.org/officeDocument/2006/relationships/slide" Target="/ppt/slides/slide8.xml" Id="Re2f87c3a910a4804" /><Relationship Type="http://schemas.openxmlformats.org/officeDocument/2006/relationships/slide" Target="/ppt/slides/slide9.xml" Id="R740e68d5f37c42d5" /><Relationship Type="http://schemas.openxmlformats.org/officeDocument/2006/relationships/slide" Target="/ppt/slides/slide10.xml" Id="Rf3edd53455ef4c4f" /><Relationship Type="http://schemas.openxmlformats.org/officeDocument/2006/relationships/slide" Target="/ppt/slides/slide11.xml" Id="R86e0780499824d47" /><Relationship Type="http://schemas.openxmlformats.org/officeDocument/2006/relationships/slide" Target="/ppt/slides/slide12.xml" Id="R2347c8a9b57b40a5" /><Relationship Type="http://schemas.openxmlformats.org/officeDocument/2006/relationships/slide" Target="/ppt/slides/slide13.xml" Id="R0bd0d14fc141427c" /><Relationship Type="http://schemas.openxmlformats.org/officeDocument/2006/relationships/slide" Target="/ppt/slides/slide14.xml" Id="R8571240243a6425f" /><Relationship Type="http://schemas.openxmlformats.org/officeDocument/2006/relationships/slide" Target="/ppt/slides/slide15.xml" Id="Ra49f8a9b83664abd" /><Relationship Type="http://schemas.openxmlformats.org/officeDocument/2006/relationships/slide" Target="/ppt/slides/slide16.xml" Id="R182ca5f13afb415a" /><Relationship Type="http://schemas.openxmlformats.org/officeDocument/2006/relationships/slide" Target="/ppt/slides/slide17.xml" Id="R20697fb8a3724fb0" /><Relationship Type="http://schemas.openxmlformats.org/officeDocument/2006/relationships/slide" Target="/ppt/slides/slide18.xml" Id="Rb3dc52b11c644df3" /><Relationship Type="http://schemas.openxmlformats.org/officeDocument/2006/relationships/slide" Target="/ppt/slides/slide19.xml" Id="Ra700eb432b984abc" /><Relationship Type="http://schemas.openxmlformats.org/officeDocument/2006/relationships/slide" Target="/ppt/slides/slide20.xml" Id="R6f6f509d258d4bc1" /><Relationship Type="http://schemas.openxmlformats.org/officeDocument/2006/relationships/slide" Target="/ppt/slides/slide21.xml" Id="R471e730fadff4054" /><Relationship Type="http://schemas.openxmlformats.org/officeDocument/2006/relationships/slide" Target="/ppt/slides/slide22.xml" Id="R3110e9426ed34066" /><Relationship Type="http://schemas.openxmlformats.org/officeDocument/2006/relationships/slide" Target="/ppt/slides/slide23.xml" Id="R7f40a3984d8f4b4a" /><Relationship Type="http://schemas.openxmlformats.org/officeDocument/2006/relationships/slide" Target="/ppt/slides/slide24.xml" Id="Rd9592fb8605944ed" /><Relationship Type="http://schemas.openxmlformats.org/officeDocument/2006/relationships/slide" Target="/ppt/slides/slide25.xml" Id="R16956beb638045d3" /><Relationship Type="http://schemas.openxmlformats.org/officeDocument/2006/relationships/slide" Target="/ppt/slides/slide26.xml" Id="R8b45584bef614baf" /><Relationship Type="http://schemas.openxmlformats.org/officeDocument/2006/relationships/slide" Target="/ppt/slides/slide27.xml" Id="R5be5b2f4fcca4832" /><Relationship Type="http://schemas.openxmlformats.org/officeDocument/2006/relationships/slide" Target="/ppt/slides/slide28.xml" Id="R3611c12a9b8b4942" /><Relationship Type="http://schemas.openxmlformats.org/officeDocument/2006/relationships/slide" Target="/ppt/slides/slide29.xml" Id="R51532d3fe72c4b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84c927e6c349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64314ae8bd4377" /><Relationship Type="http://schemas.openxmlformats.org/officeDocument/2006/relationships/notesMaster" Target="/ppt/notesMasters/notesMaster1.xml" Id="Re6bfeab7f1864a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716600544b4b06" /><Relationship Type="http://schemas.openxmlformats.org/officeDocument/2006/relationships/notesMaster" Target="/ppt/notesMasters/notesMaster1.xml" Id="Rf22ef0df52b648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50742451e24ec0" /><Relationship Type="http://schemas.openxmlformats.org/officeDocument/2006/relationships/notesMaster" Target="/ppt/notesMasters/notesMaster1.xml" Id="R345161df877548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dcc13b3c6a4cfa" /><Relationship Type="http://schemas.openxmlformats.org/officeDocument/2006/relationships/notesMaster" Target="/ppt/notesMasters/notesMaster1.xml" Id="Rff173d4c82d044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3565d19f8e4270" /><Relationship Type="http://schemas.openxmlformats.org/officeDocument/2006/relationships/notesMaster" Target="/ppt/notesMasters/notesMaster1.xml" Id="R11f9012f1d474c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4a712ad73042ad" /><Relationship Type="http://schemas.openxmlformats.org/officeDocument/2006/relationships/notesMaster" Target="/ppt/notesMasters/notesMaster1.xml" Id="Rf3a4885523cc44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408bbd22764e36" /><Relationship Type="http://schemas.openxmlformats.org/officeDocument/2006/relationships/notesMaster" Target="/ppt/notesMasters/notesMaster1.xml" Id="Rcabbd0a3e08a44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0bc7ca54374a26" /><Relationship Type="http://schemas.openxmlformats.org/officeDocument/2006/relationships/notesMaster" Target="/ppt/notesMasters/notesMaster1.xml" Id="R787ad224077041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85a6e55002422e" /><Relationship Type="http://schemas.openxmlformats.org/officeDocument/2006/relationships/notesMaster" Target="/ppt/notesMasters/notesMaster1.xml" Id="Rd3fb15327d2e47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b12646f32b45a8" /><Relationship Type="http://schemas.openxmlformats.org/officeDocument/2006/relationships/notesMaster" Target="/ppt/notesMasters/notesMaster1.xml" Id="Ree46d7f62c5742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53cc42e93c42f7" /><Relationship Type="http://schemas.openxmlformats.org/officeDocument/2006/relationships/notesMaster" Target="/ppt/notesMasters/notesMaster1.xml" Id="Rfd6d341f705249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1cf600906440ed" /><Relationship Type="http://schemas.openxmlformats.org/officeDocument/2006/relationships/notesMaster" Target="/ppt/notesMasters/notesMaster1.xml" Id="Ra2c5da0726ac4a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af715129a14976" /><Relationship Type="http://schemas.openxmlformats.org/officeDocument/2006/relationships/notesMaster" Target="/ppt/notesMasters/notesMaster1.xml" Id="R5bcb2adef4c34c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558a85bd2741c0" /><Relationship Type="http://schemas.openxmlformats.org/officeDocument/2006/relationships/notesMaster" Target="/ppt/notesMasters/notesMaster1.xml" Id="R3a18f605b7b64f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49c7afb62f45fa" /><Relationship Type="http://schemas.openxmlformats.org/officeDocument/2006/relationships/notesMaster" Target="/ppt/notesMasters/notesMaster1.xml" Id="Rdf6b9bb388d747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0e76429bd045cf" /><Relationship Type="http://schemas.openxmlformats.org/officeDocument/2006/relationships/notesMaster" Target="/ppt/notesMasters/notesMaster1.xml" Id="Rd4f9338e15ec48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96cb9579928437a" /><Relationship Type="http://schemas.openxmlformats.org/officeDocument/2006/relationships/notesMaster" Target="/ppt/notesMasters/notesMaster1.xml" Id="Rcebb9109aab74b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b9c07a45bf4964" /><Relationship Type="http://schemas.openxmlformats.org/officeDocument/2006/relationships/notesMaster" Target="/ppt/notesMasters/notesMaster1.xml" Id="R414710ee53e14c0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5dd7eba81c46a8" /><Relationship Type="http://schemas.openxmlformats.org/officeDocument/2006/relationships/notesMaster" Target="/ppt/notesMasters/notesMaster1.xml" Id="R1560e042624b4f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f6f06e754654897" /><Relationship Type="http://schemas.openxmlformats.org/officeDocument/2006/relationships/notesMaster" Target="/ppt/notesMasters/notesMaster1.xml" Id="R3007a96e5d8c49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c4a4c2798749ed" /><Relationship Type="http://schemas.openxmlformats.org/officeDocument/2006/relationships/notesMaster" Target="/ppt/notesMasters/notesMaster1.xml" Id="R7452bc853e2343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5102eb7b7744ca" /><Relationship Type="http://schemas.openxmlformats.org/officeDocument/2006/relationships/notesMaster" Target="/ppt/notesMasters/notesMaster1.xml" Id="Re758e754e4fa45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99f5837cc94441" /><Relationship Type="http://schemas.openxmlformats.org/officeDocument/2006/relationships/notesMaster" Target="/ppt/notesMasters/notesMaster1.xml" Id="R4186831d62764a0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eea647818344fa8" /><Relationship Type="http://schemas.openxmlformats.org/officeDocument/2006/relationships/notesMaster" Target="/ppt/notesMasters/notesMaster1.xml" Id="R9d1d9e1542b7430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059560b2584cf8" /><Relationship Type="http://schemas.openxmlformats.org/officeDocument/2006/relationships/notesMaster" Target="/ppt/notesMasters/notesMaster1.xml" Id="Rd9871835e5af493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c6d041d51f141cb" /><Relationship Type="http://schemas.openxmlformats.org/officeDocument/2006/relationships/notesMaster" Target="/ppt/notesMasters/notesMaster1.xml" Id="R5d60ae5ae3134a5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db0d1befb124cc0" /><Relationship Type="http://schemas.openxmlformats.org/officeDocument/2006/relationships/notesMaster" Target="/ppt/notesMasters/notesMaster1.xml" Id="R9b7e6e5f1a024b9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dd38c036c64a09" /><Relationship Type="http://schemas.openxmlformats.org/officeDocument/2006/relationships/notesMaster" Target="/ppt/notesMasters/notesMaster1.xml" Id="Rc28c53a51b6642d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627fa22491747e9" /><Relationship Type="http://schemas.openxmlformats.org/officeDocument/2006/relationships/notesMaster" Target="/ppt/notesMasters/notesMaster1.xml" Id="Re3d8702dac2547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2026年10月5日。M1 齊藤光汰。本編20枚。以降は実験条件と結果の補足。</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中間発表の最後に述べた方針を振り返る。独立な列置換は依存を保つ保証がない。疑似ラベルを用いる拡張は誤りの影響を受け得る。これらが常に性能低下を生むという断定はしない。</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コピュラは一様周辺を持つ同時分布関数。周辺が連続ならSklar分解のコピュラは一意。任意の依存を一つの種類で捉える保証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右図は体重の対応だけを入れ替える反例で、実在の追加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70kg以下はA,C,B,D,G,E,Hの7人。経験CDFをFハットで表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Hの身長以下はA〜Hの8人。H体重70以下はA,B,C,D,E,G,Hの7人。経験CDFの1は実装の逆正規変換にそのまま使わ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U,Vは一様周辺。小文字u,vはしきい値、大文字U,Vは確率変数。</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経験同時累積割合は5/10。真の連続コピュラCと有限標本の経験割合を区別。両条件を満たすのはA,B,C,D,E。F身長順位6だが体重位置.8で除外。</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図は共通10人の順位位置.1〜1を使った比較モデル。独立は全100組を等確率で、完全同方向は順位一致10組を等確率で選ぶ。観測10組と別の実測表ではない。連続理論はC=uvとmin。完全同方向は順位一致でありcmとkgが同じ値という意味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H=P(X≤x,Y≤y)。連続周辺ならCは一意。一般の周辺にも分解は存在するが一意性は値域上に限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逆経験CDFはinf{x:Fhat(x)≥u}。この共通データでは第6順序統計量173。実装は経験分位点の線形補間であり厳密な逆経験CDFと区別す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共通データから70kg付近のE,H,Fを抽出した近傍例。70kgそのものが1人しかいないため、この表だけで条件分布を精密推定できない。Gaussianの仮定で全体を使う動機。</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一般のコピュラから条件分布を求める。コピュラの定義Cそのものと条件分布を混同し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Gaussianの元特徴の正規性は不要。tは有限自由度で非退化の相関に両裾依存。</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正の依存を持つ標準形について説明。回転形は含めない。裾は確率位置の端の領域、周辺分布の裾とは区別。</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Frankは二変量では正負依存、標準多変量は制約がある。Vineはペアコピュラの構成で単独の一族ではない。ノンパラメトリックは経験・平滑化などで条件付けと次元に課題。</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選択は初期実験の設計判断で、最適性を主張しない。二変量条件正規は分散1-rho^2。rho=.6, FY70=.7の架空計算。元の周辺分布を正規と仮定する必要はない。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根拠：tmp/seminar_20261005/rerun_results.json versions。ハードウェア機種やRAMは記録にないため記載しない。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根拠：load_breast_cancer / load_wineの公式説明とrun_experiment.py。乳がんは細胞核の測定特徴、Wineはワインの化学分析と3品種。</a:t>
            </a:r>
          </a:p>
          <a:p xmlns:a="http://schemas.openxmlformats.org/drawingml/2006/main">
            <a:r>
              <a:t/>
            </a:r>
          </a:p>
          <a:p xmlns:a="http://schemas.openxmlformats.org/drawingml/2006/main">
            <a:r>
              <a:t>出典・根拠</a:t>
            </a:r>
          </a:p>
          <a:p xmlns:a="http://schemas.openxmlformats.org/drawingml/2006/main">
            <a:r>
              <a:t>https://scikit-learn.org/stable/modules/generated/sklearn.datasets.load_breast_cancer.html</a:t>
            </a:r>
          </a:p>
          <a:p xmlns:a="http://schemas.openxmlformats.org/drawingml/2006/main">
            <a:r>
              <a:t>https://scikit-learn.org/stable/modules/generated/sklearn.datasets.load_wine.html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runs内n_labeled n_unlabeled n_test。5seedとも同数。整数丸めにより30%と厳密一致しない。層化分割。ラベルなしはラベルを隠して使用。</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根拠：research-bench/src/tabular_research/vime_torch.py と run_experiment.py。原論文の全実験の再現ではなく、この実装内の比較。</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根拠：run_experiment.py と rerun_results.json protocol。MinMaxは訓練全体のみ、コピュラfitはラベルなし訓練のみ。再分割5回。</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summary。SDはddof1。差の区間はペア差のpercentile bootstrap、5seedの探索比較で不確実性大。</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ここからは今後の実験設計の提案。実験結果の主張ではない。公平な評価と不確実性の記載はNeurIPS checklistを参考にする。学習条件を統一した置換器比較で寄与を検討し、研究全体の性能は既存法の一式と比較する。</a:t>
            </a:r>
          </a:p>
          <a:p xmlns:a="http://schemas.openxmlformats.org/drawingml/2006/main">
            <a:r>
              <a:t/>
            </a:r>
          </a:p>
          <a:p xmlns:a="http://schemas.openxmlformats.org/drawingml/2006/main">
            <a:r>
              <a:t>出典・根拠</a:t>
            </a:r>
          </a:p>
          <a:p xmlns:a="http://schemas.openxmlformats.org/drawingml/2006/main">
            <a:r>
              <a:t>https://nips.cc/public/guides/PaperChecklist</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の実験計画。学習曲線は未実行。ラベルなし集合を固定するならラベル数を増減する専用のラベル付き候補を別途用意する。固定訓練プールを一部ラベル化する設計も可能だがラベルなし件数が変わるため利用プール固定と明記。学習量の比較は分類器を含む手法全体で行う。</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計画の提案。列シャッフル対比に加え、R=Iまたは各列独立生成を加えると周辺の生成と条件依存の寄与を分けやすい。補正・最適化予算は公平にし各手法の調整をvalidationで実施。クラス保持評価は別のラベル付き検証データを利用し評価用ラベルが訓練に混入しないようにする。未知実データで生成した個体の真のラベルは観測できず代理評価の限界あり。Pearsonだけでなくrank/裾/制約も対象依存に応じる。</a:t>
            </a:r>
          </a:p>
          <a:p xmlns:a="http://schemas.openxmlformats.org/drawingml/2006/main">
            <a:r>
              <a:t/>
            </a:r>
          </a:p>
          <a:p xmlns:a="http://schemas.openxmlformats.org/drawingml/2006/main">
            <a:r>
              <a:t>出典・根拠</a:t>
            </a:r>
          </a:p>
          <a:p xmlns:a="http://schemas.openxmlformats.org/drawingml/2006/main">
            <a:r>
              <a:t>https://nips.cc/public/guides/PaperChecklist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e19e70c6ca48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4d2b8961eb4ad3" /><Relationship Type="http://schemas.openxmlformats.org/officeDocument/2006/relationships/slideLayout" Target="/ppt/slideLayouts/slideLayout1.xml" Id="R39d63dd76d4044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d63dd76d4044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879d70ef1443e7" /><Relationship Type="http://schemas.openxmlformats.org/officeDocument/2006/relationships/notesSlide" Target="/ppt/notesSlides/notesSlide1.xml" Id="R7446beae5ad947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1bfad9c55440c2" /><Relationship Type="http://schemas.openxmlformats.org/officeDocument/2006/relationships/notesSlide" Target="/ppt/notesSlides/notesSlide2.xml" Id="R5da7acf736e44a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96e069a1744a02" /><Relationship Type="http://schemas.openxmlformats.org/officeDocument/2006/relationships/notesSlide" Target="/ppt/notesSlides/notesSlide3.xml" Id="R91d33099594844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08530375904ff7" /><Relationship Type="http://schemas.openxmlformats.org/officeDocument/2006/relationships/notesSlide" Target="/ppt/notesSlides/notesSlide4.xml" Id="R61741524e6ab4e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569525fc844378" /><Relationship Type="http://schemas.openxmlformats.org/officeDocument/2006/relationships/chart" Target="/ppt/slides/charts/chart1.xml" Id="Rd93a44503c1a4f0a" /><Relationship Type="http://schemas.openxmlformats.org/officeDocument/2006/relationships/chart" Target="/ppt/slides/charts/chart2.xml" Id="R60480ce886e54e5b" /><Relationship Type="http://schemas.openxmlformats.org/officeDocument/2006/relationships/notesSlide" Target="/ppt/notesSlides/notesSlide5.xml" Id="R3f4df74b68ba48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6be037d2764377" /><Relationship Type="http://schemas.openxmlformats.org/officeDocument/2006/relationships/notesSlide" Target="/ppt/notesSlides/notesSlide6.xml" Id="R6f883beddb3b4e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d4535e89bb4187" /><Relationship Type="http://schemas.openxmlformats.org/officeDocument/2006/relationships/notesSlide" Target="/ppt/notesSlides/notesSlide7.xml" Id="R6f8ffd035e7d4c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2fab71927c41c8" /><Relationship Type="http://schemas.openxmlformats.org/officeDocument/2006/relationships/notesSlide" Target="/ppt/notesSlides/notesSlide8.xml" Id="Re88bd6b7439e49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185b232e5a4152" /><Relationship Type="http://schemas.openxmlformats.org/officeDocument/2006/relationships/notesSlide" Target="/ppt/notesSlides/notesSlide9.xml" Id="Rec3ca90e33b74b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0ca8dd0667f46ce" /><Relationship Type="http://schemas.openxmlformats.org/officeDocument/2006/relationships/chart" Target="/ppt/slides/charts/chart3.xml" Id="Rff88bc33d1ae4430" /><Relationship Type="http://schemas.openxmlformats.org/officeDocument/2006/relationships/notesSlide" Target="/ppt/notesSlides/notesSlide10.xml" Id="Red6d5e7a2ef54b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5c845fc54c64270" /><Relationship Type="http://schemas.openxmlformats.org/officeDocument/2006/relationships/chart" Target="/ppt/slides/charts/chart4.xml" Id="Red9f7844eac94bd3" /><Relationship Type="http://schemas.openxmlformats.org/officeDocument/2006/relationships/chart" Target="/ppt/slides/charts/chart5.xml" Id="Re92f3054ca7b43d7" /><Relationship Type="http://schemas.openxmlformats.org/officeDocument/2006/relationships/notesSlide" Target="/ppt/notesSlides/notesSlide11.xml" Id="R274ea30cde9d49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004937e2a14624" /><Relationship Type="http://schemas.openxmlformats.org/officeDocument/2006/relationships/notesSlide" Target="/ppt/notesSlides/notesSlide12.xml" Id="R8d31e20bfff341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310925db6042d7" /><Relationship Type="http://schemas.openxmlformats.org/officeDocument/2006/relationships/notesSlide" Target="/ppt/notesSlides/notesSlide13.xml" Id="R9a222160a25847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4e6688f2b7434e" /><Relationship Type="http://schemas.openxmlformats.org/officeDocument/2006/relationships/notesSlide" Target="/ppt/notesSlides/notesSlide14.xml" Id="R850fa18a5d704b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05b1571a374d1c" /><Relationship Type="http://schemas.openxmlformats.org/officeDocument/2006/relationships/notesSlide" Target="/ppt/notesSlides/notesSlide15.xml" Id="R831b3812774840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c88a36934c4510" /><Relationship Type="http://schemas.openxmlformats.org/officeDocument/2006/relationships/notesSlide" Target="/ppt/notesSlides/notesSlide16.xml" Id="Rc0567861adea4e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9cf2e11016644e8" /><Relationship Type="http://schemas.openxmlformats.org/officeDocument/2006/relationships/notesSlide" Target="/ppt/notesSlides/notesSlide17.xml" Id="R73c421e8c1fa40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412b4b63d964fec" /><Relationship Type="http://schemas.openxmlformats.org/officeDocument/2006/relationships/notesSlide" Target="/ppt/notesSlides/notesSlide18.xml" Id="R39bfa5fbe2524a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e56966dd29f4e04" /><Relationship Type="http://schemas.openxmlformats.org/officeDocument/2006/relationships/notesSlide" Target="/ppt/notesSlides/notesSlide19.xml" Id="R36ee30ce40d742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61a610e750a49f1" /><Relationship Type="http://schemas.openxmlformats.org/officeDocument/2006/relationships/notesSlide" Target="/ppt/notesSlides/notesSlide20.xml" Id="Rc1343eb89e3646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00c86ea6c3f4574" /><Relationship Type="http://schemas.openxmlformats.org/officeDocument/2006/relationships/notesSlide" Target="/ppt/notesSlides/notesSlide21.xml" Id="R07e5d0828d36403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7860c33de4a427d" /><Relationship Type="http://schemas.openxmlformats.org/officeDocument/2006/relationships/notesSlide" Target="/ppt/notesSlides/notesSlide22.xml" Id="R22d65886190d47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75cd17251e644e7" /><Relationship Type="http://schemas.openxmlformats.org/officeDocument/2006/relationships/notesSlide" Target="/ppt/notesSlides/notesSlide23.xml" Id="R3c16c257b1ab4a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a7d59d73ea54ac1" /><Relationship Type="http://schemas.openxmlformats.org/officeDocument/2006/relationships/notesSlide" Target="/ppt/notesSlides/notesSlide24.xml" Id="R3759371ed86a48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01e7769f0c54975" /><Relationship Type="http://schemas.openxmlformats.org/officeDocument/2006/relationships/notesSlide" Target="/ppt/notesSlides/notesSlide25.xml" Id="R1c1737a444ef448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89b2c50aad8401c" /><Relationship Type="http://schemas.openxmlformats.org/officeDocument/2006/relationships/notesSlide" Target="/ppt/notesSlides/notesSlide26.xml" Id="R302bf759d1df4e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f16970931984f4c" /><Relationship Type="http://schemas.openxmlformats.org/officeDocument/2006/relationships/notesSlide" Target="/ppt/notesSlides/notesSlide27.xml" Id="Rfc077d7345b94d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362a898beba402b" /><Relationship Type="http://schemas.openxmlformats.org/officeDocument/2006/relationships/notesSlide" Target="/ppt/notesSlides/notesSlide28.xml" Id="R02e1c9492299400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ef7ee34e6c64eee" /><Relationship Type="http://schemas.openxmlformats.org/officeDocument/2006/relationships/notesSlide" Target="/ppt/notesSlides/notesSlide29.xml" Id="R3873f8bc2b3e44ad" /></Relationships>
</file>

<file path=ppt/slides/charts/chart1.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Lit>
              <c:formatCode>General</c:formatCode>
              <c:ptCount val="10"/>
              <c:pt idx="0">
                <c:v>155</c:v>
              </c:pt>
              <c:pt idx="1">
                <c:v>160</c:v>
              </c:pt>
              <c:pt idx="2">
                <c:v>165</c:v>
              </c:pt>
              <c:pt idx="3">
                <c:v>168</c:v>
              </c:pt>
              <c:pt idx="4">
                <c:v>170</c:v>
              </c:pt>
              <c:pt idx="5">
                <c:v>173</c:v>
              </c:pt>
              <c:pt idx="6">
                <c:v>175</c:v>
              </c:pt>
              <c:pt idx="7">
                <c:v>178</c:v>
              </c:pt>
              <c:pt idx="8">
                <c:v>182</c:v>
              </c:pt>
              <c:pt idx="9">
                <c:v>185</c:v>
              </c:pt>
            </c:numLit>
          </c:xVal>
          <c:yVal>
            <c:numLit>
              <c:formatCode>0.0</c:formatCode>
              <c:ptCount val="10"/>
              <c:pt idx="0">
                <c:v>45</c:v>
              </c:pt>
              <c:pt idx="1">
                <c:v>55</c:v>
              </c:pt>
              <c:pt idx="2">
                <c:v>50</c:v>
              </c:pt>
              <c:pt idx="3">
                <c:v>60</c:v>
              </c:pt>
              <c:pt idx="4">
                <c:v>67</c:v>
              </c:pt>
              <c:pt idx="5">
                <c:v>75</c:v>
              </c:pt>
              <c:pt idx="6">
                <c:v>63</c:v>
              </c:pt>
              <c:pt idx="7">
                <c:v>70</c:v>
              </c:pt>
              <c:pt idx="8">
                <c:v>90</c:v>
              </c:pt>
              <c:pt idx="9">
                <c:v>80</c:v>
              </c:pt>
            </c:numLit>
          </c:yVal>
        </c:ser>
        <c:axId val="48650112"/>
        <c:axId val="48672768"/>
      </c:scatterChart>
      <c:valAx>
        <c:axId val="48672768"/>
        <c:scaling>
          <c:orientation val="minMax"/>
          <c:max val="100"/>
          <c:min val="4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 kg</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90"/>
          <c:min val="15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 cm</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E0562B"/>
            </a:solidFill>
            <a:ln xmlns:a="http://schemas.openxmlformats.org/drawingml/2006/main" w="0">
              <a:noFill/>
            </a:ln>
          </c:spPr>
          <c:marker>
            <c:symbol val="circle"/>
            <c:size val="5"/>
            <c:spPr>
              <a:noFill xmlns:a="http://schemas.openxmlformats.org/drawingml/2006/main"/>
            </c:spPr>
          </c:marker>
          <c:xVal>
            <c:numLit>
              <c:formatCode>General</c:formatCode>
              <c:ptCount val="10"/>
              <c:pt idx="0">
                <c:v>155</c:v>
              </c:pt>
              <c:pt idx="1">
                <c:v>160</c:v>
              </c:pt>
              <c:pt idx="2">
                <c:v>165</c:v>
              </c:pt>
              <c:pt idx="3">
                <c:v>168</c:v>
              </c:pt>
              <c:pt idx="4">
                <c:v>170</c:v>
              </c:pt>
              <c:pt idx="5">
                <c:v>173</c:v>
              </c:pt>
              <c:pt idx="6">
                <c:v>175</c:v>
              </c:pt>
              <c:pt idx="7">
                <c:v>178</c:v>
              </c:pt>
              <c:pt idx="8">
                <c:v>182</c:v>
              </c:pt>
              <c:pt idx="9">
                <c:v>185</c:v>
              </c:pt>
            </c:numLit>
          </c:xVal>
          <c:yVal>
            <c:numLit>
              <c:formatCode>0.0</c:formatCode>
              <c:ptCount val="10"/>
              <c:pt idx="0">
                <c:v>80</c:v>
              </c:pt>
              <c:pt idx="1">
                <c:v>90</c:v>
              </c:pt>
              <c:pt idx="2">
                <c:v>70</c:v>
              </c:pt>
              <c:pt idx="3">
                <c:v>63</c:v>
              </c:pt>
              <c:pt idx="4">
                <c:v>75</c:v>
              </c:pt>
              <c:pt idx="5">
                <c:v>67</c:v>
              </c:pt>
              <c:pt idx="6">
                <c:v>60</c:v>
              </c:pt>
              <c:pt idx="7">
                <c:v>50</c:v>
              </c:pt>
              <c:pt idx="8">
                <c:v>55</c:v>
              </c:pt>
              <c:pt idx="9">
                <c:v>45</c:v>
              </c:pt>
            </c:numLit>
          </c:yVal>
        </c:ser>
        <c:axId val="48650112"/>
        <c:axId val="48672768"/>
      </c:scatterChart>
      <c:valAx>
        <c:axId val="48672768"/>
        <c:scaling>
          <c:orientation val="minMax"/>
          <c:max val="100"/>
          <c:min val="4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 kg</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90"/>
          <c:min val="15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 cm</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lineMarker"/>
        <c:ser>
          <c:idx val="0"/>
          <c:order val="0"/>
          <c:tx>
            <c:v>範囲外</c:v>
          </c:tx>
          <c:spPr>
            <a:solidFill xmlns:a="http://schemas.openxmlformats.org/drawingml/2006/main">
              <a:srgbClr val="2B6777"/>
            </a:solidFill>
            <a:ln xmlns:a="http://schemas.openxmlformats.org/drawingml/2006/main" w="0">
              <a:noFill/>
            </a:ln>
          </c:spPr>
          <c:marker>
            <c:symbol val="circle"/>
            <c:size val="6"/>
            <c:spPr>
              <a:noFill xmlns:a="http://schemas.openxmlformats.org/drawingml/2006/main"/>
            </c:spPr>
          </c:marker>
          <c:xVal>
            <c:numLit>
              <c:formatCode>General</c:formatCode>
              <c:ptCount val="5"/>
              <c:pt idx="0">
                <c:v>0.6</c:v>
              </c:pt>
              <c:pt idx="1">
                <c:v>0.7</c:v>
              </c:pt>
              <c:pt idx="2">
                <c:v>0.8</c:v>
              </c:pt>
              <c:pt idx="3">
                <c:v>0.9</c:v>
              </c:pt>
              <c:pt idx="4">
                <c:v>1</c:v>
              </c:pt>
            </c:numLit>
          </c:xVal>
          <c:yVal>
            <c:numLit>
              <c:formatCode>0.0</c:formatCode>
              <c:ptCount val="5"/>
              <c:pt idx="0">
                <c:v>0.8</c:v>
              </c:pt>
              <c:pt idx="1">
                <c:v>0.5</c:v>
              </c:pt>
              <c:pt idx="2">
                <c:v>0.7</c:v>
              </c:pt>
              <c:pt idx="3">
                <c:v>1</c:v>
              </c:pt>
              <c:pt idx="4">
                <c:v>0.9</c:v>
              </c:pt>
            </c:numLit>
          </c:yVal>
        </c:ser>
        <c:ser>
          <c:idx val="1"/>
          <c:order val="1"/>
          <c:tx>
            <c:v>両条件を満たす5人</c:v>
          </c:tx>
          <c:spPr>
            <a:solidFill xmlns:a="http://schemas.openxmlformats.org/drawingml/2006/main">
              <a:srgbClr val="E0562B"/>
            </a:solidFill>
            <a:ln xmlns:a="http://schemas.openxmlformats.org/drawingml/2006/main" w="0">
              <a:noFill/>
            </a:ln>
          </c:spPr>
          <c:marker>
            <c:symbol val="circle"/>
            <c:size val="8"/>
            <c:spPr>
              <a:noFill xmlns:a="http://schemas.openxmlformats.org/drawingml/2006/main"/>
            </c:spPr>
          </c:marker>
          <c:xVal>
            <c:numLit>
              <c:formatCode>General</c:formatCode>
              <c:ptCount val="5"/>
              <c:pt idx="0">
                <c:v>0.1</c:v>
              </c:pt>
              <c:pt idx="1">
                <c:v>0.2</c:v>
              </c:pt>
              <c:pt idx="2">
                <c:v>0.3</c:v>
              </c:pt>
              <c:pt idx="3">
                <c:v>0.4</c:v>
              </c:pt>
              <c:pt idx="4">
                <c:v>0.5</c:v>
              </c:pt>
            </c:numLit>
          </c:xVal>
          <c:yVal>
            <c:numLit>
              <c:formatCode>0.0</c:formatCode>
              <c:ptCount val="5"/>
              <c:pt idx="0">
                <c:v>0.1</c:v>
              </c:pt>
              <c:pt idx="1">
                <c:v>0.3</c:v>
              </c:pt>
              <c:pt idx="2">
                <c:v>0.2</c:v>
              </c:pt>
              <c:pt idx="3">
                <c:v>0.4</c:v>
              </c:pt>
              <c:pt idx="4">
                <c:v>0.6</c:v>
              </c:pt>
            </c:numLit>
          </c:yVal>
        </c:ser>
        <c:ser>
          <c:idx val="2"/>
          <c:order val="2"/>
          <c:tx>
            <c:v>u=0.6</c:v>
          </c:tx>
          <c:spPr>
            <a:solidFill xmlns:a="http://schemas.openxmlformats.org/drawingml/2006/main">
              <a:srgbClr val="2B6777"/>
            </a:solidFill>
            <a:ln xmlns:a="http://schemas.openxmlformats.org/drawingml/2006/main" w="19050">
              <a:solidFill>
                <a:srgbClr val="2B6777"/>
              </a:solidFill>
            </a:ln>
          </c:spPr>
          <c:marker>
            <c:symbol val="none"/>
            <c:size val="2"/>
          </c:marker>
          <c:xVal>
            <c:numLit>
              <c:formatCode>General</c:formatCode>
              <c:ptCount val="5"/>
              <c:pt idx="0">
                <c:v>0.6</c:v>
              </c:pt>
              <c:pt idx="1">
                <c:v>0.6</c:v>
              </c:pt>
              <c:pt idx="2">
                <c:v>0.6</c:v>
              </c:pt>
              <c:pt idx="3">
                <c:v>0.6</c:v>
              </c:pt>
              <c:pt idx="4">
                <c:v>0.6</c:v>
              </c:pt>
            </c:numLit>
          </c:xVal>
          <c:yVal>
            <c:numLit>
              <c:formatCode>0.0</c:formatCode>
              <c:ptCount val="5"/>
              <c:pt idx="0">
                <c:v>0</c:v>
              </c:pt>
              <c:pt idx="1">
                <c:v>0.25</c:v>
              </c:pt>
              <c:pt idx="2">
                <c:v>0.5</c:v>
              </c:pt>
              <c:pt idx="3">
                <c:v>0.75</c:v>
              </c:pt>
              <c:pt idx="4">
                <c:v>1</c:v>
              </c:pt>
            </c:numLit>
          </c:yVal>
        </c:ser>
        <c:ser>
          <c:idx val="3"/>
          <c:order val="3"/>
          <c:tx>
            <c:v>v=0.7</c:v>
          </c:tx>
          <c:spPr>
            <a:solidFill xmlns:a="http://schemas.openxmlformats.org/drawingml/2006/main">
              <a:srgbClr val="2B6777"/>
            </a:solidFill>
            <a:ln xmlns:a="http://schemas.openxmlformats.org/drawingml/2006/main" w="19050">
              <a:solidFill>
                <a:srgbClr val="2B6777"/>
              </a:solidFill>
            </a:ln>
          </c:spPr>
          <c:marker>
            <c:symbol val="none"/>
            <c:size val="2"/>
          </c:marker>
          <c:xVal>
            <c:numLit>
              <c:formatCode>General</c:formatCode>
              <c:ptCount val="5"/>
              <c:pt idx="0">
                <c:v>0</c:v>
              </c:pt>
              <c:pt idx="1">
                <c:v>0.25</c:v>
              </c:pt>
              <c:pt idx="2">
                <c:v>0.5</c:v>
              </c:pt>
              <c:pt idx="3">
                <c:v>0.75</c:v>
              </c:pt>
              <c:pt idx="4">
                <c:v>1</c:v>
              </c:pt>
            </c:numLit>
          </c:xVal>
          <c:yVal>
            <c:numLit>
              <c:formatCode>0.0</c:formatCode>
              <c:ptCount val="5"/>
              <c:pt idx="0">
                <c:v>0.7</c:v>
              </c:pt>
              <c:pt idx="1">
                <c:v>0.7</c:v>
              </c:pt>
              <c:pt idx="2">
                <c:v>0.7</c:v>
              </c:pt>
              <c:pt idx="3">
                <c:v>0.7</c:v>
              </c:pt>
              <c:pt idx="4">
                <c:v>0.7</c:v>
              </c:pt>
            </c:numLit>
          </c:yVal>
        </c:ser>
        <c:axId val="48650112"/>
        <c:axId val="48672768"/>
      </c:scatterChart>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体重の経験位置 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身長の経験位置 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Lit>
              <c:formatCode>General</c:formatCode>
              <c:ptCount val="100"/>
              <c:pt idx="0">
                <c:v>0.1</c:v>
              </c:pt>
              <c:pt idx="1">
                <c:v>0.1</c:v>
              </c:pt>
              <c:pt idx="2">
                <c:v>0.1</c:v>
              </c:pt>
              <c:pt idx="3">
                <c:v>0.1</c:v>
              </c:pt>
              <c:pt idx="4">
                <c:v>0.1</c:v>
              </c:pt>
              <c:pt idx="5">
                <c:v>0.1</c:v>
              </c:pt>
              <c:pt idx="6">
                <c:v>0.1</c:v>
              </c:pt>
              <c:pt idx="7">
                <c:v>0.1</c:v>
              </c:pt>
              <c:pt idx="8">
                <c:v>0.1</c:v>
              </c:pt>
              <c:pt idx="9">
                <c:v>0.1</c:v>
              </c:pt>
              <c:pt idx="10">
                <c:v>0.2</c:v>
              </c:pt>
              <c:pt idx="11">
                <c:v>0.2</c:v>
              </c:pt>
              <c:pt idx="12">
                <c:v>0.2</c:v>
              </c:pt>
              <c:pt idx="13">
                <c:v>0.2</c:v>
              </c:pt>
              <c:pt idx="14">
                <c:v>0.2</c:v>
              </c:pt>
              <c:pt idx="15">
                <c:v>0.2</c:v>
              </c:pt>
              <c:pt idx="16">
                <c:v>0.2</c:v>
              </c:pt>
              <c:pt idx="17">
                <c:v>0.2</c:v>
              </c:pt>
              <c:pt idx="18">
                <c:v>0.2</c:v>
              </c:pt>
              <c:pt idx="19">
                <c:v>0.2</c:v>
              </c:pt>
              <c:pt idx="20">
                <c:v>0.3</c:v>
              </c:pt>
              <c:pt idx="21">
                <c:v>0.3</c:v>
              </c:pt>
              <c:pt idx="22">
                <c:v>0.3</c:v>
              </c:pt>
              <c:pt idx="23">
                <c:v>0.3</c:v>
              </c:pt>
              <c:pt idx="24">
                <c:v>0.3</c:v>
              </c:pt>
              <c:pt idx="25">
                <c:v>0.3</c:v>
              </c:pt>
              <c:pt idx="26">
                <c:v>0.3</c:v>
              </c:pt>
              <c:pt idx="27">
                <c:v>0.3</c:v>
              </c:pt>
              <c:pt idx="28">
                <c:v>0.3</c:v>
              </c:pt>
              <c:pt idx="29">
                <c:v>0.3</c:v>
              </c:pt>
              <c:pt idx="30">
                <c:v>0.4</c:v>
              </c:pt>
              <c:pt idx="31">
                <c:v>0.4</c:v>
              </c:pt>
              <c:pt idx="32">
                <c:v>0.4</c:v>
              </c:pt>
              <c:pt idx="33">
                <c:v>0.4</c:v>
              </c:pt>
              <c:pt idx="34">
                <c:v>0.4</c:v>
              </c:pt>
              <c:pt idx="35">
                <c:v>0.4</c:v>
              </c:pt>
              <c:pt idx="36">
                <c:v>0.4</c:v>
              </c:pt>
              <c:pt idx="37">
                <c:v>0.4</c:v>
              </c:pt>
              <c:pt idx="38">
                <c:v>0.4</c:v>
              </c:pt>
              <c:pt idx="39">
                <c:v>0.4</c:v>
              </c:pt>
              <c:pt idx="40">
                <c:v>0.5</c:v>
              </c:pt>
              <c:pt idx="41">
                <c:v>0.5</c:v>
              </c:pt>
              <c:pt idx="42">
                <c:v>0.5</c:v>
              </c:pt>
              <c:pt idx="43">
                <c:v>0.5</c:v>
              </c:pt>
              <c:pt idx="44">
                <c:v>0.5</c:v>
              </c:pt>
              <c:pt idx="45">
                <c:v>0.5</c:v>
              </c:pt>
              <c:pt idx="46">
                <c:v>0.5</c:v>
              </c:pt>
              <c:pt idx="47">
                <c:v>0.5</c:v>
              </c:pt>
              <c:pt idx="48">
                <c:v>0.5</c:v>
              </c:pt>
              <c:pt idx="49">
                <c:v>0.5</c:v>
              </c:pt>
              <c:pt idx="50">
                <c:v>0.6</c:v>
              </c:pt>
              <c:pt idx="51">
                <c:v>0.6</c:v>
              </c:pt>
              <c:pt idx="52">
                <c:v>0.6</c:v>
              </c:pt>
              <c:pt idx="53">
                <c:v>0.6</c:v>
              </c:pt>
              <c:pt idx="54">
                <c:v>0.6</c:v>
              </c:pt>
              <c:pt idx="55">
                <c:v>0.6</c:v>
              </c:pt>
              <c:pt idx="56">
                <c:v>0.6</c:v>
              </c:pt>
              <c:pt idx="57">
                <c:v>0.6</c:v>
              </c:pt>
              <c:pt idx="58">
                <c:v>0.6</c:v>
              </c:pt>
              <c:pt idx="59">
                <c:v>0.6</c:v>
              </c:pt>
              <c:pt idx="60">
                <c:v>0.7</c:v>
              </c:pt>
              <c:pt idx="61">
                <c:v>0.7</c:v>
              </c:pt>
              <c:pt idx="62">
                <c:v>0.7</c:v>
              </c:pt>
              <c:pt idx="63">
                <c:v>0.7</c:v>
              </c:pt>
              <c:pt idx="64">
                <c:v>0.7</c:v>
              </c:pt>
              <c:pt idx="65">
                <c:v>0.7</c:v>
              </c:pt>
              <c:pt idx="66">
                <c:v>0.7</c:v>
              </c:pt>
              <c:pt idx="67">
                <c:v>0.7</c:v>
              </c:pt>
              <c:pt idx="68">
                <c:v>0.7</c:v>
              </c:pt>
              <c:pt idx="69">
                <c:v>0.7</c:v>
              </c:pt>
              <c:pt idx="70">
                <c:v>0.8</c:v>
              </c:pt>
              <c:pt idx="71">
                <c:v>0.8</c:v>
              </c:pt>
              <c:pt idx="72">
                <c:v>0.8</c:v>
              </c:pt>
              <c:pt idx="73">
                <c:v>0.8</c:v>
              </c:pt>
              <c:pt idx="74">
                <c:v>0.8</c:v>
              </c:pt>
              <c:pt idx="75">
                <c:v>0.8</c:v>
              </c:pt>
              <c:pt idx="76">
                <c:v>0.8</c:v>
              </c:pt>
              <c:pt idx="77">
                <c:v>0.8</c:v>
              </c:pt>
              <c:pt idx="78">
                <c:v>0.8</c:v>
              </c:pt>
              <c:pt idx="79">
                <c:v>0.8</c:v>
              </c:pt>
              <c:pt idx="80">
                <c:v>0.9</c:v>
              </c:pt>
              <c:pt idx="81">
                <c:v>0.9</c:v>
              </c:pt>
              <c:pt idx="82">
                <c:v>0.9</c:v>
              </c:pt>
              <c:pt idx="83">
                <c:v>0.9</c:v>
              </c:pt>
              <c:pt idx="84">
                <c:v>0.9</c:v>
              </c:pt>
              <c:pt idx="85">
                <c:v>0.9</c:v>
              </c:pt>
              <c:pt idx="86">
                <c:v>0.9</c:v>
              </c:pt>
              <c:pt idx="87">
                <c:v>0.9</c:v>
              </c:pt>
              <c:pt idx="88">
                <c:v>0.9</c:v>
              </c:pt>
              <c:pt idx="89">
                <c:v>0.9</c:v>
              </c:pt>
              <c:pt idx="90">
                <c:v>1</c:v>
              </c:pt>
              <c:pt idx="91">
                <c:v>1</c:v>
              </c:pt>
              <c:pt idx="92">
                <c:v>1</c:v>
              </c:pt>
              <c:pt idx="93">
                <c:v>1</c:v>
              </c:pt>
              <c:pt idx="94">
                <c:v>1</c:v>
              </c:pt>
              <c:pt idx="95">
                <c:v>1</c:v>
              </c:pt>
              <c:pt idx="96">
                <c:v>1</c:v>
              </c:pt>
              <c:pt idx="97">
                <c:v>1</c:v>
              </c:pt>
              <c:pt idx="98">
                <c:v>1</c:v>
              </c:pt>
              <c:pt idx="99">
                <c:v>1</c:v>
              </c:pt>
            </c:numLit>
          </c:xVal>
          <c:yVal>
            <c:numLit>
              <c:formatCode>0.0</c:formatCode>
              <c:ptCount val="100"/>
              <c:pt idx="0">
                <c:v>0.1</c:v>
              </c:pt>
              <c:pt idx="1">
                <c:v>0.2</c:v>
              </c:pt>
              <c:pt idx="2">
                <c:v>0.3</c:v>
              </c:pt>
              <c:pt idx="3">
                <c:v>0.4</c:v>
              </c:pt>
              <c:pt idx="4">
                <c:v>0.5</c:v>
              </c:pt>
              <c:pt idx="5">
                <c:v>0.6</c:v>
              </c:pt>
              <c:pt idx="6">
                <c:v>0.7</c:v>
              </c:pt>
              <c:pt idx="7">
                <c:v>0.8</c:v>
              </c:pt>
              <c:pt idx="8">
                <c:v>0.9</c:v>
              </c:pt>
              <c:pt idx="9">
                <c:v>1</c:v>
              </c:pt>
              <c:pt idx="10">
                <c:v>0.1</c:v>
              </c:pt>
              <c:pt idx="11">
                <c:v>0.2</c:v>
              </c:pt>
              <c:pt idx="12">
                <c:v>0.3</c:v>
              </c:pt>
              <c:pt idx="13">
                <c:v>0.4</c:v>
              </c:pt>
              <c:pt idx="14">
                <c:v>0.5</c:v>
              </c:pt>
              <c:pt idx="15">
                <c:v>0.6</c:v>
              </c:pt>
              <c:pt idx="16">
                <c:v>0.7</c:v>
              </c:pt>
              <c:pt idx="17">
                <c:v>0.8</c:v>
              </c:pt>
              <c:pt idx="18">
                <c:v>0.9</c:v>
              </c:pt>
              <c:pt idx="19">
                <c:v>1</c:v>
              </c:pt>
              <c:pt idx="20">
                <c:v>0.1</c:v>
              </c:pt>
              <c:pt idx="21">
                <c:v>0.2</c:v>
              </c:pt>
              <c:pt idx="22">
                <c:v>0.3</c:v>
              </c:pt>
              <c:pt idx="23">
                <c:v>0.4</c:v>
              </c:pt>
              <c:pt idx="24">
                <c:v>0.5</c:v>
              </c:pt>
              <c:pt idx="25">
                <c:v>0.6</c:v>
              </c:pt>
              <c:pt idx="26">
                <c:v>0.7</c:v>
              </c:pt>
              <c:pt idx="27">
                <c:v>0.8</c:v>
              </c:pt>
              <c:pt idx="28">
                <c:v>0.9</c:v>
              </c:pt>
              <c:pt idx="29">
                <c:v>1</c:v>
              </c:pt>
              <c:pt idx="30">
                <c:v>0.1</c:v>
              </c:pt>
              <c:pt idx="31">
                <c:v>0.2</c:v>
              </c:pt>
              <c:pt idx="32">
                <c:v>0.3</c:v>
              </c:pt>
              <c:pt idx="33">
                <c:v>0.4</c:v>
              </c:pt>
              <c:pt idx="34">
                <c:v>0.5</c:v>
              </c:pt>
              <c:pt idx="35">
                <c:v>0.6</c:v>
              </c:pt>
              <c:pt idx="36">
                <c:v>0.7</c:v>
              </c:pt>
              <c:pt idx="37">
                <c:v>0.8</c:v>
              </c:pt>
              <c:pt idx="38">
                <c:v>0.9</c:v>
              </c:pt>
              <c:pt idx="39">
                <c:v>1</c:v>
              </c:pt>
              <c:pt idx="40">
                <c:v>0.1</c:v>
              </c:pt>
              <c:pt idx="41">
                <c:v>0.2</c:v>
              </c:pt>
              <c:pt idx="42">
                <c:v>0.3</c:v>
              </c:pt>
              <c:pt idx="43">
                <c:v>0.4</c:v>
              </c:pt>
              <c:pt idx="44">
                <c:v>0.5</c:v>
              </c:pt>
              <c:pt idx="45">
                <c:v>0.6</c:v>
              </c:pt>
              <c:pt idx="46">
                <c:v>0.7</c:v>
              </c:pt>
              <c:pt idx="47">
                <c:v>0.8</c:v>
              </c:pt>
              <c:pt idx="48">
                <c:v>0.9</c:v>
              </c:pt>
              <c:pt idx="49">
                <c:v>1</c:v>
              </c:pt>
              <c:pt idx="50">
                <c:v>0.1</c:v>
              </c:pt>
              <c:pt idx="51">
                <c:v>0.2</c:v>
              </c:pt>
              <c:pt idx="52">
                <c:v>0.3</c:v>
              </c:pt>
              <c:pt idx="53">
                <c:v>0.4</c:v>
              </c:pt>
              <c:pt idx="54">
                <c:v>0.5</c:v>
              </c:pt>
              <c:pt idx="55">
                <c:v>0.6</c:v>
              </c:pt>
              <c:pt idx="56">
                <c:v>0.7</c:v>
              </c:pt>
              <c:pt idx="57">
                <c:v>0.8</c:v>
              </c:pt>
              <c:pt idx="58">
                <c:v>0.9</c:v>
              </c:pt>
              <c:pt idx="59">
                <c:v>1</c:v>
              </c:pt>
              <c:pt idx="60">
                <c:v>0.1</c:v>
              </c:pt>
              <c:pt idx="61">
                <c:v>0.2</c:v>
              </c:pt>
              <c:pt idx="62">
                <c:v>0.3</c:v>
              </c:pt>
              <c:pt idx="63">
                <c:v>0.4</c:v>
              </c:pt>
              <c:pt idx="64">
                <c:v>0.5</c:v>
              </c:pt>
              <c:pt idx="65">
                <c:v>0.6</c:v>
              </c:pt>
              <c:pt idx="66">
                <c:v>0.7</c:v>
              </c:pt>
              <c:pt idx="67">
                <c:v>0.8</c:v>
              </c:pt>
              <c:pt idx="68">
                <c:v>0.9</c:v>
              </c:pt>
              <c:pt idx="69">
                <c:v>1</c:v>
              </c:pt>
              <c:pt idx="70">
                <c:v>0.1</c:v>
              </c:pt>
              <c:pt idx="71">
                <c:v>0.2</c:v>
              </c:pt>
              <c:pt idx="72">
                <c:v>0.3</c:v>
              </c:pt>
              <c:pt idx="73">
                <c:v>0.4</c:v>
              </c:pt>
              <c:pt idx="74">
                <c:v>0.5</c:v>
              </c:pt>
              <c:pt idx="75">
                <c:v>0.6</c:v>
              </c:pt>
              <c:pt idx="76">
                <c:v>0.7</c:v>
              </c:pt>
              <c:pt idx="77">
                <c:v>0.8</c:v>
              </c:pt>
              <c:pt idx="78">
                <c:v>0.9</c:v>
              </c:pt>
              <c:pt idx="79">
                <c:v>1</c:v>
              </c:pt>
              <c:pt idx="80">
                <c:v>0.1</c:v>
              </c:pt>
              <c:pt idx="81">
                <c:v>0.2</c:v>
              </c:pt>
              <c:pt idx="82">
                <c:v>0.3</c:v>
              </c:pt>
              <c:pt idx="83">
                <c:v>0.4</c:v>
              </c:pt>
              <c:pt idx="84">
                <c:v>0.5</c:v>
              </c:pt>
              <c:pt idx="85">
                <c:v>0.6</c:v>
              </c:pt>
              <c:pt idx="86">
                <c:v>0.7</c:v>
              </c:pt>
              <c:pt idx="87">
                <c:v>0.8</c:v>
              </c:pt>
              <c:pt idx="88">
                <c:v>0.9</c:v>
              </c:pt>
              <c:pt idx="89">
                <c:v>1</c:v>
              </c:pt>
              <c:pt idx="90">
                <c:v>0.1</c:v>
              </c:pt>
              <c:pt idx="91">
                <c:v>0.2</c:v>
              </c:pt>
              <c:pt idx="92">
                <c:v>0.3</c:v>
              </c:pt>
              <c:pt idx="93">
                <c:v>0.4</c:v>
              </c:pt>
              <c:pt idx="94">
                <c:v>0.5</c:v>
              </c:pt>
              <c:pt idx="95">
                <c:v>0.6</c:v>
              </c:pt>
              <c:pt idx="96">
                <c:v>0.7</c:v>
              </c:pt>
              <c:pt idx="97">
                <c:v>0.8</c:v>
              </c:pt>
              <c:pt idx="98">
                <c:v>0.9</c:v>
              </c:pt>
              <c:pt idx="99">
                <c:v>1</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体重の位置 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身長の位置 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E0562B"/>
            </a:solidFill>
            <a:ln xmlns:a="http://schemas.openxmlformats.org/drawingml/2006/main" w="0">
              <a:noFill/>
            </a:ln>
          </c:spPr>
          <c:marker>
            <c:symbol val="circle"/>
            <c:size val="5"/>
            <c:spPr>
              <a:noFill xmlns:a="http://schemas.openxmlformats.org/drawingml/2006/main"/>
            </c:spPr>
          </c:marker>
          <c:xVal>
            <c:numLit>
              <c:formatCode>General</c:formatCode>
              <c:ptCount val="10"/>
              <c:pt idx="0">
                <c:v>0.1</c:v>
              </c:pt>
              <c:pt idx="1">
                <c:v>0.2</c:v>
              </c:pt>
              <c:pt idx="2">
                <c:v>0.3</c:v>
              </c:pt>
              <c:pt idx="3">
                <c:v>0.4</c:v>
              </c:pt>
              <c:pt idx="4">
                <c:v>0.5</c:v>
              </c:pt>
              <c:pt idx="5">
                <c:v>0.6</c:v>
              </c:pt>
              <c:pt idx="6">
                <c:v>0.7</c:v>
              </c:pt>
              <c:pt idx="7">
                <c:v>0.8</c:v>
              </c:pt>
              <c:pt idx="8">
                <c:v>0.9</c:v>
              </c:pt>
              <c:pt idx="9">
                <c:v>1</c:v>
              </c:pt>
            </c:numLit>
          </c:xVal>
          <c:yVal>
            <c:numLit>
              <c:formatCode>0.0</c:formatCode>
              <c:ptCount val="10"/>
              <c:pt idx="0">
                <c:v>0.1</c:v>
              </c:pt>
              <c:pt idx="1">
                <c:v>0.2</c:v>
              </c:pt>
              <c:pt idx="2">
                <c:v>0.3</c:v>
              </c:pt>
              <c:pt idx="3">
                <c:v>0.4</c:v>
              </c:pt>
              <c:pt idx="4">
                <c:v>0.5</c:v>
              </c:pt>
              <c:pt idx="5">
                <c:v>0.6</c:v>
              </c:pt>
              <c:pt idx="6">
                <c:v>0.7</c:v>
              </c:pt>
              <c:pt idx="7">
                <c:v>0.8</c:v>
              </c:pt>
              <c:pt idx="8">
                <c:v>0.9</c:v>
              </c:pt>
              <c:pt idx="9">
                <c:v>1</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体重の位置 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身長の位置 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830CBE-23D6-4650-B69A-A7E9E33B005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ゼミ発表</a:t>
            </a:r>
          </a:p>
        </p:txBody>
      </p:sp>
      <p:sp>
        <p:nvSpPr>
          <p:cNvPr id="2" name="">
            <a:extLst xmlns:a="http://schemas.openxmlformats.org/drawingml/2006/main">
              <a:ext uri="{FF2B5EF4-FFF2-40B4-BE49-F238E27FC236}">
                <a16:creationId xmlns:a16="http://schemas.microsoft.com/office/drawing/2014/main" id="{C8B30008-FE88-4858-89F5-AD42B329B2E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C6A5A7-F09E-4A82-9356-33B39D6CC7E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変数間の依存構造を考慮したデータ拡張</a:t>
            </a:r>
          </a:p>
        </p:txBody>
      </p:sp>
      <p:sp>
        <p:nvSpPr>
          <p:cNvPr id="4" name="">
            <a:extLst xmlns:a="http://schemas.openxmlformats.org/drawingml/2006/main">
              <a:ext uri="{FF2B5EF4-FFF2-40B4-BE49-F238E27FC236}">
                <a16:creationId xmlns:a16="http://schemas.microsoft.com/office/drawing/2014/main" id="{A5AF35DB-F39D-4813-A70D-CAA3B93EADF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47A938E5-D7E3-4023-A785-A3DFF952E54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a:t>
            </a:r>
          </a:p>
        </p:txBody>
      </p:sp>
      <p:sp>
        <p:nvSpPr>
          <p:cNvPr id="6" name="">
            <a:extLst xmlns:a="http://schemas.openxmlformats.org/drawingml/2006/main">
              <a:ext uri="{FF2B5EF4-FFF2-40B4-BE49-F238E27FC236}">
                <a16:creationId xmlns:a16="http://schemas.microsoft.com/office/drawing/2014/main" id="{C9C4C783-D41D-4F6B-A823-2CD1091B8A51}"/>
              </a:ext>
            </a:extLst>
          </p:cNvPr>
          <p:cNvSpPr>
            <a:spLocks xmlns:a="http://schemas.openxmlformats.org/drawingml/2006/main" noGrp="1"/>
          </p:cNvSpPr>
          <p:nvPr/>
        </p:nvSpPr>
        <p:spPr>
          <a:xfrm xmlns:a="http://schemas.openxmlformats.org/drawingml/2006/main">
            <a:off x="857250" y="27622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222222"/>
                </a:solidFill>
                <a:latin typeface="Noto Sans JP"/>
                <a:ea typeface="Noto Sans JP"/>
                <a:cs typeface="Noto Sans JP"/>
              </a:defRPr>
            </a:pPr>
            <a:r>
              <a:rPr sz="3450" b="1">
                <a:solidFill>
                  <a:srgbClr val="222222"/>
                </a:solidFill>
                <a:latin typeface="Noto Sans JP"/>
                <a:ea typeface="Noto Sans JP"/>
                <a:cs typeface="Noto Sans JP"/>
              </a:rPr>
              <a:t>コピュラの基礎と初期実験の方針</a:t>
            </a:r>
          </a:p>
        </p:txBody>
      </p:sp>
      <p:sp>
        <p:nvSpPr>
          <p:cNvPr id="7" name="">
            <a:extLst xmlns:a="http://schemas.openxmlformats.org/drawingml/2006/main">
              <a:ext uri="{FF2B5EF4-FFF2-40B4-BE49-F238E27FC236}">
                <a16:creationId xmlns:a16="http://schemas.microsoft.com/office/drawing/2014/main" id="{61EC222A-4027-4F81-AA29-9FD631711E30}"/>
              </a:ext>
            </a:extLst>
          </p:cNvPr>
          <p:cNvSpPr>
            <a:spLocks xmlns:a="http://schemas.openxmlformats.org/drawingml/2006/main" noGrp="1"/>
          </p:cNvSpPr>
          <p:nvPr/>
        </p:nvSpPr>
        <p:spPr>
          <a:xfrm xmlns:a="http://schemas.openxmlformats.org/drawingml/2006/main">
            <a:off x="857250" y="4286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M1 齊藤光汰</a:t>
            </a:r>
          </a:p>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2026年10月5日</a:t>
            </a:r>
          </a:p>
        </p:txBody>
      </p:sp>
    </p:spTree>
    <p:extLst>
      <p:ext uri="{BB962C8B-B14F-4D97-AF65-F5344CB8AC3E}">
        <p14:creationId xmlns:p14="http://schemas.microsoft.com/office/powerpoint/2010/main" val="10132914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0E1875-D5BE-4B4D-A35B-626DF274FFE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本研究の問題設定と中間発表の振り返り</a:t>
            </a:r>
          </a:p>
        </p:txBody>
      </p:sp>
      <p:sp>
        <p:nvSpPr>
          <p:cNvPr id="2" name="">
            <a:extLst xmlns:a="http://schemas.openxmlformats.org/drawingml/2006/main">
              <a:ext uri="{FF2B5EF4-FFF2-40B4-BE49-F238E27FC236}">
                <a16:creationId xmlns:a16="http://schemas.microsoft.com/office/drawing/2014/main" id="{ED2E04C7-765D-4F4B-B4CA-00C1BD3203B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7E8683-FB32-4B19-BD6F-A3327C2593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変数間の関係を考慮した、テーブルデータの拡張を目指す。</a:t>
            </a:r>
          </a:p>
        </p:txBody>
      </p:sp>
      <p:sp>
        <p:nvSpPr>
          <p:cNvPr id="4" name="">
            <a:extLst xmlns:a="http://schemas.openxmlformats.org/drawingml/2006/main">
              <a:ext uri="{FF2B5EF4-FFF2-40B4-BE49-F238E27FC236}">
                <a16:creationId xmlns:a16="http://schemas.microsoft.com/office/drawing/2014/main" id="{7D427F2A-1928-4398-8F7A-08A39B0D048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ED9AC7F-1764-4F5A-82EE-E70903EACE5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a:t>
            </a:r>
          </a:p>
        </p:txBody>
      </p:sp>
      <p:sp>
        <p:nvSpPr>
          <p:cNvPr id="6" name="">
            <a:extLst xmlns:a="http://schemas.openxmlformats.org/drawingml/2006/main">
              <a:ext uri="{FF2B5EF4-FFF2-40B4-BE49-F238E27FC236}">
                <a16:creationId xmlns:a16="http://schemas.microsoft.com/office/drawing/2014/main" id="{CC2A2BA9-413B-47AE-8093-445FC81253B8}"/>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列ごとに値を無作為に置換すると、身長と体重などの</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組合せが不自然になる可能性がある。</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疑似ラベルを条件に拡張すると、誤ったラベルの影響を</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受ける可能性がある。</a:t>
            </a:r>
          </a:p>
        </p:txBody>
      </p:sp>
      <p:sp>
        <p:nvSpPr>
          <p:cNvPr id="7" name="">
            <a:extLst xmlns:a="http://schemas.openxmlformats.org/drawingml/2006/main">
              <a:ext uri="{FF2B5EF4-FFF2-40B4-BE49-F238E27FC236}">
                <a16:creationId xmlns:a16="http://schemas.microsoft.com/office/drawing/2014/main" id="{334ABE6D-DC89-4ED1-A1BA-5C9D4676AE3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C291DE-160D-40B5-BBF3-0A8552BC31F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中間発表で述べた方針：依存構造を扱うために、コピュラを使用する</a:t>
            </a:r>
          </a:p>
        </p:txBody>
      </p:sp>
    </p:spTree>
    <p:extLst>
      <p:ext uri="{BB962C8B-B14F-4D97-AF65-F5344CB8AC3E}">
        <p14:creationId xmlns:p14="http://schemas.microsoft.com/office/powerpoint/2010/main" val="3320420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6208D4-3A54-48D7-9828-9D3FF6D8C91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コピュラとは</a:t>
            </a:r>
          </a:p>
        </p:txBody>
      </p:sp>
      <p:sp>
        <p:nvSpPr>
          <p:cNvPr id="2" name="">
            <a:extLst xmlns:a="http://schemas.openxmlformats.org/drawingml/2006/main">
              <a:ext uri="{FF2B5EF4-FFF2-40B4-BE49-F238E27FC236}">
                <a16:creationId xmlns:a16="http://schemas.microsoft.com/office/drawing/2014/main" id="{0E46B5BD-5B0C-4A46-B85A-AD153604059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0B87BB-BB76-470F-8AC7-280A1E8D6FF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各変数の分布と、変数どうしの依存を分けて表す確率モデル。</a:t>
            </a:r>
          </a:p>
        </p:txBody>
      </p:sp>
      <p:sp>
        <p:nvSpPr>
          <p:cNvPr id="4" name="">
            <a:extLst xmlns:a="http://schemas.openxmlformats.org/drawingml/2006/main">
              <a:ext uri="{FF2B5EF4-FFF2-40B4-BE49-F238E27FC236}">
                <a16:creationId xmlns:a16="http://schemas.microsoft.com/office/drawing/2014/main" id="{8CC2A9B7-D822-4859-87F5-AF2CCC21999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8254C38-E478-41F2-9A78-7DBF0EFF629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a:t>
            </a:r>
          </a:p>
        </p:txBody>
      </p:sp>
      <p:sp>
        <p:nvSpPr>
          <p:cNvPr id="6" name="">
            <a:extLst xmlns:a="http://schemas.openxmlformats.org/drawingml/2006/main">
              <a:ext uri="{FF2B5EF4-FFF2-40B4-BE49-F238E27FC236}">
                <a16:creationId xmlns:a16="http://schemas.microsoft.com/office/drawing/2014/main" id="{E6A9CF84-1E9C-4EAF-8B4E-22962A5E24BC}"/>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例：身長の分布と体重の分布を、それぞれ別に扱う。</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そのうえで「身長が高い人ほど体重も重い」といった</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組合せの関係を、コピュラで表す。</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研究では、残した特徴の値に合わせて、</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置換する特徴の値を生成するために使う。</a:t>
            </a:r>
          </a:p>
        </p:txBody>
      </p:sp>
      <p:sp>
        <p:nvSpPr>
          <p:cNvPr id="7" name="">
            <a:extLst xmlns:a="http://schemas.openxmlformats.org/drawingml/2006/main">
              <a:ext uri="{FF2B5EF4-FFF2-40B4-BE49-F238E27FC236}">
                <a16:creationId xmlns:a16="http://schemas.microsoft.com/office/drawing/2014/main" id="{BD884BF3-F68C-4499-B783-70EFF469B4F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DA76FE-1DE5-436F-9CDD-1D0E9A46BF9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まず、分布の形と組合せの関係を、例で分けて考える</a:t>
            </a:r>
          </a:p>
        </p:txBody>
      </p:sp>
    </p:spTree>
    <p:extLst>
      <p:ext uri="{BB962C8B-B14F-4D97-AF65-F5344CB8AC3E}">
        <p14:creationId xmlns:p14="http://schemas.microsoft.com/office/powerpoint/2010/main" val="19201013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417E27-8FAB-4309-AF56-AF860F9636E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周辺分布と依存構造</a:t>
            </a:r>
          </a:p>
        </p:txBody>
      </p:sp>
      <p:sp>
        <p:nvSpPr>
          <p:cNvPr id="2" name="">
            <a:extLst xmlns:a="http://schemas.openxmlformats.org/drawingml/2006/main">
              <a:ext uri="{FF2B5EF4-FFF2-40B4-BE49-F238E27FC236}">
                <a16:creationId xmlns:a16="http://schemas.microsoft.com/office/drawing/2014/main" id="{8475FE97-D4B8-4FCD-B0A8-30E735A42DA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E96FF8-C701-4D7D-96D2-0538FFF039B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以降の例はすべて、この10人の身長・体重データを用いる。</a:t>
            </a:r>
          </a:p>
        </p:txBody>
      </p:sp>
      <p:sp>
        <p:nvSpPr>
          <p:cNvPr id="4" name="">
            <a:extLst xmlns:a="http://schemas.openxmlformats.org/drawingml/2006/main">
              <a:ext uri="{FF2B5EF4-FFF2-40B4-BE49-F238E27FC236}">
                <a16:creationId xmlns:a16="http://schemas.microsoft.com/office/drawing/2014/main" id="{4FE62C48-1BD5-45D9-BD3F-3F485AD3D87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3A96499-6132-4A28-929D-10EC7667726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a:t>
            </a:r>
          </a:p>
        </p:txBody>
      </p:sp>
      <p:graphicFrame>
        <p:nvGraphicFramePr>
          <p:cNvPr id="15" name=""/>
          <p:cNvGraphicFramePr/>
          <p:nvPr/>
        </p:nvGraphicFramePr>
        <p:xfrm>
          <a:off xmlns:a="http://schemas.openxmlformats.org/drawingml/2006/main" x="514350" y="1924050"/>
          <a:ext xmlns:a="http://schemas.openxmlformats.org/drawingml/2006/main" cx="6191250" cy="3495675"/>
        </p:xfrm>
        <a:graphic xmlns:a="http://schemas.openxmlformats.org/drawingml/2006/main">
          <a:graphicData uri="http://schemas.openxmlformats.org/drawingml/2006/table">
            <a:tbl>
              <a:tblPr/>
              <a:tblGrid>
                <a:gridCol w="1238250"/>
                <a:gridCol w="2476500"/>
                <a:gridCol w="2476500"/>
              </a:tblGrid>
              <a:tr h="317789">
                <a:tc>
                  <a:txBody>
                    <a:bodyPr/>
                    <a:lstStyle/>
                    <a:p>
                      <a:pPr algn="ctr"/>
                      <a:r>
                        <a:rPr sz="1800" b="1">
                          <a:solidFill>
                            <a:srgbClr val="2E7D5B"/>
                          </a:solidFill>
                          <a:latin typeface="Noto Sans JP"/>
                          <a:ea typeface="Noto Sans JP"/>
                          <a:cs typeface="Noto Sans JP"/>
                        </a:rPr>
                        <a:t>人</a:t>
                      </a:r>
                    </a:p>
                  </a:txBody>
                  <a:tcPr marL="38100" marR="38100" marT="9525" marB="9525" anchor="ctr">
                    <a:solidFill>
                      <a:srgbClr val="E7F2EC"/>
                    </a:solidFill>
                  </a:tcPr>
                </a:tc>
                <a:tc>
                  <a:txBody>
                    <a:bodyPr/>
                    <a:lstStyle/>
                    <a:p>
                      <a:pPr algn="ctr"/>
                      <a:r>
                        <a:rPr sz="1800" b="1">
                          <a:solidFill>
                            <a:srgbClr val="2E7D5B"/>
                          </a:solidFill>
                          <a:latin typeface="Noto Sans JP"/>
                          <a:ea typeface="Noto Sans JP"/>
                          <a:cs typeface="Noto Sans JP"/>
                        </a:rPr>
                        <a:t>身長 cm</a:t>
                      </a:r>
                    </a:p>
                  </a:txBody>
                  <a:tcPr marL="38100" marR="38100" marT="9525" marB="9525" anchor="ctr">
                    <a:solidFill>
                      <a:srgbClr val="E7F2EC"/>
                    </a:solidFill>
                  </a:tcPr>
                </a:tc>
                <a:tc>
                  <a:txBody>
                    <a:bodyPr/>
                    <a:lstStyle/>
                    <a:p>
                      <a:pPr algn="ctr"/>
                      <a:r>
                        <a:rPr sz="1800" b="1">
                          <a:solidFill>
                            <a:srgbClr val="2E7D5B"/>
                          </a:solidFill>
                          <a:latin typeface="Noto Sans JP"/>
                          <a:ea typeface="Noto Sans JP"/>
                          <a:cs typeface="Noto Sans JP"/>
                        </a:rPr>
                        <a:t>体重 kg</a:t>
                      </a:r>
                    </a:p>
                  </a:txBody>
                  <a:tcPr marL="38100" marR="38100" marT="9525" marB="9525" anchor="ctr">
                    <a:solidFill>
                      <a:srgbClr val="E7F2EC"/>
                    </a:solidFill>
                  </a:tcPr>
                </a:tc>
              </a:tr>
              <a:tr h="317789">
                <a:tc>
                  <a:txBody>
                    <a:bodyPr/>
                    <a:lstStyle/>
                    <a:p>
                      <a:pPr algn="ctr"/>
                      <a:r>
                        <a:rPr sz="1800" b="0">
                          <a:solidFill>
                            <a:srgbClr val="222222"/>
                          </a:solidFill>
                          <a:latin typeface="Noto Sans JP"/>
                          <a:ea typeface="Noto Sans JP"/>
                          <a:cs typeface="Noto Sans JP"/>
                        </a:rPr>
                        <a:t>A</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155</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45</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B</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160</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55</a:t>
                      </a:r>
                    </a:p>
                  </a:txBody>
                  <a:tcPr marL="38100" marR="38100" marT="9525" marB="9525" anchor="ctr">
                    <a:solidFill>
                      <a:srgbClr val="F6F6F6"/>
                    </a:solidFill>
                  </a:tcPr>
                </a:tc>
              </a:tr>
              <a:tr h="317789">
                <a:tc>
                  <a:txBody>
                    <a:bodyPr/>
                    <a:lstStyle/>
                    <a:p>
                      <a:pPr algn="ctr"/>
                      <a:r>
                        <a:rPr sz="1800" b="0">
                          <a:solidFill>
                            <a:srgbClr val="222222"/>
                          </a:solidFill>
                          <a:latin typeface="Noto Sans JP"/>
                          <a:ea typeface="Noto Sans JP"/>
                          <a:cs typeface="Noto Sans JP"/>
                        </a:rPr>
                        <a:t>C</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165</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50</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D</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168</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60</a:t>
                      </a:r>
                    </a:p>
                  </a:txBody>
                  <a:tcPr marL="38100" marR="38100" marT="9525" marB="9525" anchor="ctr">
                    <a:solidFill>
                      <a:srgbClr val="F6F6F6"/>
                    </a:solidFill>
                  </a:tcPr>
                </a:tc>
              </a:tr>
              <a:tr h="317789">
                <a:tc>
                  <a:txBody>
                    <a:bodyPr/>
                    <a:lstStyle/>
                    <a:p>
                      <a:pPr algn="ctr"/>
                      <a:r>
                        <a:rPr sz="1800" b="0">
                          <a:solidFill>
                            <a:srgbClr val="222222"/>
                          </a:solidFill>
                          <a:latin typeface="Noto Sans JP"/>
                          <a:ea typeface="Noto Sans JP"/>
                          <a:cs typeface="Noto Sans JP"/>
                        </a:rPr>
                        <a:t>E</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170</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67</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F</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173</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75</a:t>
                      </a:r>
                    </a:p>
                  </a:txBody>
                  <a:tcPr marL="38100" marR="38100" marT="9525" marB="9525" anchor="ctr">
                    <a:solidFill>
                      <a:srgbClr val="F6F6F6"/>
                    </a:solidFill>
                  </a:tcPr>
                </a:tc>
              </a:tr>
              <a:tr h="317789">
                <a:tc>
                  <a:txBody>
                    <a:bodyPr/>
                    <a:lstStyle/>
                    <a:p>
                      <a:pPr algn="ctr"/>
                      <a:r>
                        <a:rPr sz="1800" b="0">
                          <a:solidFill>
                            <a:srgbClr val="222222"/>
                          </a:solidFill>
                          <a:latin typeface="Noto Sans JP"/>
                          <a:ea typeface="Noto Sans JP"/>
                          <a:cs typeface="Noto Sans JP"/>
                        </a:rPr>
                        <a:t>G</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175</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63</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H</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178</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70</a:t>
                      </a:r>
                    </a:p>
                  </a:txBody>
                  <a:tcPr marL="38100" marR="38100" marT="9525" marB="9525" anchor="ctr">
                    <a:solidFill>
                      <a:srgbClr val="F6F6F6"/>
                    </a:solidFill>
                  </a:tcPr>
                </a:tc>
              </a:tr>
              <a:tr h="317789">
                <a:tc>
                  <a:txBody>
                    <a:bodyPr/>
                    <a:lstStyle/>
                    <a:p>
                      <a:pPr algn="ctr"/>
                      <a:r>
                        <a:rPr sz="1800" b="0">
                          <a:solidFill>
                            <a:srgbClr val="222222"/>
                          </a:solidFill>
                          <a:latin typeface="Noto Sans JP"/>
                          <a:ea typeface="Noto Sans JP"/>
                          <a:cs typeface="Noto Sans JP"/>
                        </a:rPr>
                        <a:t>I</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182</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90</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J</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185</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80</a:t>
                      </a:r>
                    </a:p>
                  </a:txBody>
                  <a:tcPr marL="38100" marR="38100" marT="9525" marB="9525"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39BE7490-5B85-4AAC-83BE-ABFD077ED966}"/>
              </a:ext>
            </a:extLst>
          </p:cNvPr>
          <p:cNvSpPr>
            <a:spLocks xmlns:a="http://schemas.openxmlformats.org/drawingml/2006/main" noGrp="1"/>
          </p:cNvSpPr>
          <p:nvPr/>
        </p:nvSpPr>
        <p:spPr>
          <a:xfrm xmlns:a="http://schemas.openxmlformats.org/drawingml/2006/main">
            <a:off x="7143750" y="1914525"/>
            <a:ext cx="4476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周辺分布</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一つの列に注目した値の分布。</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依存構造</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同じ人の身長と体重の組合せ。</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例：Hさんは178 cm、70 kg。</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高い身長に必ず最も重い体重が</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対応するわけではない。</a:t>
            </a:r>
          </a:p>
        </p:txBody>
      </p:sp>
      <p:sp>
        <p:nvSpPr>
          <p:cNvPr id="8" name="">
            <a:extLst xmlns:a="http://schemas.openxmlformats.org/drawingml/2006/main">
              <a:ext uri="{FF2B5EF4-FFF2-40B4-BE49-F238E27FC236}">
                <a16:creationId xmlns:a16="http://schemas.microsoft.com/office/drawing/2014/main" id="{C81FC074-9BD5-48C4-99EF-9BA14835169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853EBC-2D2B-42E0-A375-CED174ECDB7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同じ10人のデータで、分布・順位位置・同時確率を順に説明する</a:t>
            </a:r>
          </a:p>
        </p:txBody>
      </p:sp>
    </p:spTree>
    <p:extLst>
      <p:ext uri="{BB962C8B-B14F-4D97-AF65-F5344CB8AC3E}">
        <p14:creationId xmlns:p14="http://schemas.microsoft.com/office/powerpoint/2010/main" val="9873486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4F21C6-0F5D-4009-ABB1-3353B632392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同じ周辺分布でも、依存は異なる</a:t>
            </a:r>
          </a:p>
        </p:txBody>
      </p:sp>
      <p:sp>
        <p:nvSpPr>
          <p:cNvPr id="2" name="">
            <a:extLst xmlns:a="http://schemas.openxmlformats.org/drawingml/2006/main">
              <a:ext uri="{FF2B5EF4-FFF2-40B4-BE49-F238E27FC236}">
                <a16:creationId xmlns:a16="http://schemas.microsoft.com/office/drawing/2014/main" id="{308B250B-EB81-4F32-B9D4-56E3FCC5196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6F7D90-9B9A-45ED-9D56-93647646FA1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同じ10人の体重だけを逆順に並べ、組合せの違いを比較する。</a:t>
            </a:r>
          </a:p>
        </p:txBody>
      </p:sp>
      <p:sp>
        <p:nvSpPr>
          <p:cNvPr id="4" name="">
            <a:extLst xmlns:a="http://schemas.openxmlformats.org/drawingml/2006/main">
              <a:ext uri="{FF2B5EF4-FFF2-40B4-BE49-F238E27FC236}">
                <a16:creationId xmlns:a16="http://schemas.microsoft.com/office/drawing/2014/main" id="{B2499C0A-9E03-44D9-ADA9-42584F2BCAF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01AE8545-C6B7-406C-881D-4B62017FEC2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graphicFrame>
        <p:nvGraphicFramePr>
          <p:cNvPr id="17" name="Chart"/>
          <p:cNvGraphicFramePr/>
          <p:nvPr/>
        </p:nvGraphicFramePr>
        <p:xfrm>
          <a:off xmlns:a="http://schemas.openxmlformats.org/drawingml/2006/main" x="523875" y="2057400"/>
          <a:ext xmlns:a="http://schemas.openxmlformats.org/drawingml/2006/main" cx="5238750" cy="3238500"/>
        </p:xfrm>
        <a:graphic xmlns:a="http://schemas.openxmlformats.org/drawingml/2006/main">
          <a:graphicData uri="http://schemas.openxmlformats.org/drawingml/2006/chart">
            <c:chart xmlns:r="http://schemas.openxmlformats.org/officeDocument/2006/relationships" xmlns:c="http://schemas.openxmlformats.org/drawingml/2006/chart" r:id="Rd93a44503c1a4f0a"/>
          </a:graphicData>
        </a:graphic>
      </p:graphicFrame>
      <p:graphicFrame>
        <p:nvGraphicFramePr>
          <p:cNvPr id="18" name="Chart"/>
          <p:cNvGraphicFramePr/>
          <p:nvPr/>
        </p:nvGraphicFramePr>
        <p:xfrm>
          <a:off xmlns:a="http://schemas.openxmlformats.org/drawingml/2006/main" x="6238875" y="2057400"/>
          <a:ext xmlns:a="http://schemas.openxmlformats.org/drawingml/2006/main" cx="5238750" cy="3238500"/>
        </p:xfrm>
        <a:graphic xmlns:a="http://schemas.openxmlformats.org/drawingml/2006/main">
          <a:graphicData uri="http://schemas.openxmlformats.org/drawingml/2006/chart">
            <c:chart xmlns:r="http://schemas.openxmlformats.org/officeDocument/2006/relationships" xmlns:c="http://schemas.openxmlformats.org/drawingml/2006/chart" r:id="R60480ce886e54e5b"/>
          </a:graphicData>
        </a:graphic>
      </p:graphicFrame>
      <p:sp>
        <p:nvSpPr>
          <p:cNvPr id="8" name="">
            <a:extLst xmlns:a="http://schemas.openxmlformats.org/drawingml/2006/main">
              <a:ext uri="{FF2B5EF4-FFF2-40B4-BE49-F238E27FC236}">
                <a16:creationId xmlns:a16="http://schemas.microsoft.com/office/drawing/2014/main" id="{44E34F32-B524-4FC0-8F8D-0317BB5000AC}"/>
              </a:ext>
            </a:extLst>
          </p:cNvPr>
          <p:cNvSpPr>
            <a:spLocks xmlns:a="http://schemas.openxmlformats.org/drawingml/2006/main" noGrp="1"/>
          </p:cNvSpPr>
          <p:nvPr/>
        </p:nvSpPr>
        <p:spPr>
          <a:xfrm xmlns:a="http://schemas.openxmlformats.org/drawingml/2006/main">
            <a:off x="619125"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共通データの元の組合せ</a:t>
            </a:r>
          </a:p>
        </p:txBody>
      </p:sp>
      <p:sp>
        <p:nvSpPr>
          <p:cNvPr id="9" name="">
            <a:extLst xmlns:a="http://schemas.openxmlformats.org/drawingml/2006/main">
              <a:ext uri="{FF2B5EF4-FFF2-40B4-BE49-F238E27FC236}">
                <a16:creationId xmlns:a16="http://schemas.microsoft.com/office/drawing/2014/main" id="{58B53FEC-3AF6-48AA-A4AB-4F410AB711C0}"/>
              </a:ext>
            </a:extLst>
          </p:cNvPr>
          <p:cNvSpPr>
            <a:spLocks xmlns:a="http://schemas.openxmlformats.org/drawingml/2006/main" noGrp="1"/>
          </p:cNvSpPr>
          <p:nvPr/>
        </p:nvSpPr>
        <p:spPr>
          <a:xfrm xmlns:a="http://schemas.openxmlformats.org/drawingml/2006/main">
            <a:off x="6286500"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E0562B"/>
                </a:solidFill>
                <a:latin typeface="Noto Sans JP"/>
                <a:ea typeface="Noto Sans JP"/>
                <a:cs typeface="Noto Sans JP"/>
              </a:defRPr>
            </a:pPr>
            <a:r>
              <a:rPr sz="2025" b="1">
                <a:solidFill>
                  <a:srgbClr val="E0562B"/>
                </a:solidFill>
                <a:latin typeface="Noto Sans JP"/>
                <a:ea typeface="Noto Sans JP"/>
                <a:cs typeface="Noto Sans JP"/>
              </a:rPr>
              <a:t>体重の対応だけを逆にした例</a:t>
            </a:r>
          </a:p>
        </p:txBody>
      </p:sp>
      <p:sp>
        <p:nvSpPr>
          <p:cNvPr id="10" name="">
            <a:extLst xmlns:a="http://schemas.openxmlformats.org/drawingml/2006/main">
              <a:ext uri="{FF2B5EF4-FFF2-40B4-BE49-F238E27FC236}">
                <a16:creationId xmlns:a16="http://schemas.microsoft.com/office/drawing/2014/main" id="{F6F40919-4235-4EC1-8DE9-145B580EC9E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708B30A-3520-4C46-AF07-4344E2C549E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各列の値を変えなくても、対応を変えると依存構造は変わる</a:t>
            </a:r>
          </a:p>
        </p:txBody>
      </p:sp>
    </p:spTree>
    <p:extLst>
      <p:ext uri="{BB962C8B-B14F-4D97-AF65-F5344CB8AC3E}">
        <p14:creationId xmlns:p14="http://schemas.microsoft.com/office/powerpoint/2010/main" val="21454733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0BE3C1-B15F-496D-B322-DA70B125C08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累積分布関数の意味</a:t>
            </a:r>
          </a:p>
        </p:txBody>
      </p:sp>
      <p:sp>
        <p:nvSpPr>
          <p:cNvPr id="2" name="">
            <a:extLst xmlns:a="http://schemas.openxmlformats.org/drawingml/2006/main">
              <a:ext uri="{FF2B5EF4-FFF2-40B4-BE49-F238E27FC236}">
                <a16:creationId xmlns:a16="http://schemas.microsoft.com/office/drawing/2014/main" id="{CBFB7B23-9B13-47DA-B915-BFE7A44BD29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69F06F-3F5F-42EE-A81F-741F1AE5368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共通データ10人の体重を、小さい順に並べる。</a:t>
            </a:r>
          </a:p>
        </p:txBody>
      </p:sp>
      <p:sp>
        <p:nvSpPr>
          <p:cNvPr id="4" name="">
            <a:extLst xmlns:a="http://schemas.openxmlformats.org/drawingml/2006/main">
              <a:ext uri="{FF2B5EF4-FFF2-40B4-BE49-F238E27FC236}">
                <a16:creationId xmlns:a16="http://schemas.microsoft.com/office/drawing/2014/main" id="{FA9856DE-64C4-47B0-A423-DD4B74168C7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3C6DC17-BC00-4A8B-A0EA-EC9E7850B9F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graphicFrame>
        <p:nvGraphicFramePr>
          <p:cNvPr id="18" name=""/>
          <p:cNvGraphicFramePr/>
          <p:nvPr/>
        </p:nvGraphicFramePr>
        <p:xfrm>
          <a:off xmlns:a="http://schemas.openxmlformats.org/drawingml/2006/main" x="514350" y="2000250"/>
          <a:ext xmlns:a="http://schemas.openxmlformats.org/drawingml/2006/main" cx="11163300" cy="1104900"/>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552450">
                <a:tc>
                  <a:txBody>
                    <a:bodyPr/>
                    <a:lstStyle/>
                    <a:p>
                      <a:pPr algn="ctr"/>
                      <a:r>
                        <a:rPr sz="1875"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B</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D</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H</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F</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J</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I</a:t>
                      </a:r>
                    </a:p>
                  </a:txBody>
                  <a:tcPr marL="91440" marR="91440" marT="45720" marB="45720" anchor="ctr">
                    <a:solidFill>
                      <a:srgbClr val="E7F2EC"/>
                    </a:solidFill>
                  </a:tcPr>
                </a:tc>
              </a:tr>
              <a:tr h="552450">
                <a:tc>
                  <a:txBody>
                    <a:bodyPr/>
                    <a:lstStyle/>
                    <a:p>
                      <a:pPr algn="ctr"/>
                      <a:r>
                        <a:rPr sz="1875" b="0">
                          <a:solidFill>
                            <a:srgbClr val="222222"/>
                          </a:solidFill>
                          <a:latin typeface="Noto Sans JP"/>
                          <a:ea typeface="Noto Sans JP"/>
                          <a:cs typeface="Noto Sans JP"/>
                        </a:rPr>
                        <a:t>体重 kg</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45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63</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90</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27B9C2C-F54C-49A4-B6DD-DDE6CEFDBC87}"/>
              </a:ext>
            </a:extLst>
          </p:cNvPr>
          <p:cNvSpPr>
            <a:spLocks xmlns:a="http://schemas.openxmlformats.org/drawingml/2006/main" noGrp="1"/>
          </p:cNvSpPr>
          <p:nvPr/>
        </p:nvSpPr>
        <p:spPr>
          <a:xfrm xmlns:a="http://schemas.openxmlformats.org/drawingml/2006/main">
            <a:off x="619125" y="32289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経験累積分布関数（経験CDF）の式</a:t>
            </a:r>
          </a:p>
        </p:txBody>
      </p:sp>
      <p:sp>
        <p:nvSpPr>
          <p:cNvPr id="8" name="">
            <a:extLst xmlns:a="http://schemas.openxmlformats.org/drawingml/2006/main">
              <a:ext uri="{FF2B5EF4-FFF2-40B4-BE49-F238E27FC236}">
                <a16:creationId xmlns:a16="http://schemas.microsoft.com/office/drawing/2014/main" id="{1E81BD6F-DB97-487D-9D9C-3B0DA720BDFC}"/>
              </a:ext>
            </a:extLst>
          </p:cNvPr>
          <p:cNvSpPr>
            <a:spLocks xmlns:a="http://schemas.openxmlformats.org/drawingml/2006/main" noGrp="1"/>
          </p:cNvSpPr>
          <p:nvPr/>
        </p:nvSpPr>
        <p:spPr>
          <a:xfrm xmlns:a="http://schemas.openxmlformats.org/drawingml/2006/main">
            <a:off x="514350" y="36671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71E3EDA-B3CC-4518-9518-3DB035B6585A}"/>
              </a:ext>
            </a:extLst>
          </p:cNvPr>
          <p:cNvSpPr>
            <a:spLocks xmlns:a="http://schemas.openxmlformats.org/drawingml/2006/main" noGrp="1"/>
          </p:cNvSpPr>
          <p:nvPr/>
        </p:nvSpPr>
        <p:spPr>
          <a:xfrm xmlns:a="http://schemas.openxmlformats.org/drawingml/2006/main">
            <a:off x="704850" y="37623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F̂ᵧ(70) = 70 kg以下の人数 / 全体人数 = 7 / 10 = 0.7</a:t>
            </a:r>
          </a:p>
        </p:txBody>
      </p:sp>
      <p:sp>
        <p:nvSpPr>
          <p:cNvPr id="10" name="">
            <a:extLst xmlns:a="http://schemas.openxmlformats.org/drawingml/2006/main">
              <a:ext uri="{FF2B5EF4-FFF2-40B4-BE49-F238E27FC236}">
                <a16:creationId xmlns:a16="http://schemas.microsoft.com/office/drawing/2014/main" id="{7B6D3FA5-AC61-4D65-B937-1EA5F4D113F7}"/>
              </a:ext>
            </a:extLst>
          </p:cNvPr>
          <p:cNvSpPr>
            <a:spLocks xmlns:a="http://schemas.openxmlformats.org/drawingml/2006/main" noGrp="1"/>
          </p:cNvSpPr>
          <p:nvPr/>
        </p:nvSpPr>
        <p:spPr>
          <a:xfrm xmlns:a="http://schemas.openxmlformats.org/drawingml/2006/main">
            <a:off x="666750" y="48482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70 kg以下はA・C・B・D・G・E・Hの7人。</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F̂ᵧは、観測した10人から求める累積割合。</a:t>
            </a:r>
          </a:p>
        </p:txBody>
      </p:sp>
      <p:sp>
        <p:nvSpPr>
          <p:cNvPr id="11" name="">
            <a:extLst xmlns:a="http://schemas.openxmlformats.org/drawingml/2006/main">
              <a:ext uri="{FF2B5EF4-FFF2-40B4-BE49-F238E27FC236}">
                <a16:creationId xmlns:a16="http://schemas.microsoft.com/office/drawing/2014/main" id="{47611A1A-0E8A-4228-920B-71C6ABE195F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A37790-F069-4C10-826F-018DACC0A8B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70 kgの累積確率位置は0.7。同じ計算を、身長にも適用する</a:t>
            </a:r>
          </a:p>
        </p:txBody>
      </p:sp>
    </p:spTree>
    <p:extLst>
      <p:ext uri="{BB962C8B-B14F-4D97-AF65-F5344CB8AC3E}">
        <p14:creationId xmlns:p14="http://schemas.microsoft.com/office/powerpoint/2010/main" val="11232038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5515837-4F20-4768-80B9-41035C95757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確率積分変換</a:t>
            </a:r>
          </a:p>
        </p:txBody>
      </p:sp>
      <p:sp>
        <p:nvSpPr>
          <p:cNvPr id="2" name="">
            <a:extLst xmlns:a="http://schemas.openxmlformats.org/drawingml/2006/main">
              <a:ext uri="{FF2B5EF4-FFF2-40B4-BE49-F238E27FC236}">
                <a16:creationId xmlns:a16="http://schemas.microsoft.com/office/drawing/2014/main" id="{C32C81D3-86F1-4609-9D3C-9A4894033C4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8C1812-0A6F-48F3-B517-5A63980BDC4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身長も体重も、0〜1の共通の尺度へ変換する。</a:t>
            </a:r>
          </a:p>
        </p:txBody>
      </p:sp>
      <p:sp>
        <p:nvSpPr>
          <p:cNvPr id="4" name="">
            <a:extLst xmlns:a="http://schemas.openxmlformats.org/drawingml/2006/main">
              <a:ext uri="{FF2B5EF4-FFF2-40B4-BE49-F238E27FC236}">
                <a16:creationId xmlns:a16="http://schemas.microsoft.com/office/drawing/2014/main" id="{1C84E9EA-2FCB-423C-9A86-C264D77A18C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4FC42B9-18A9-45EB-A67B-37FF2E8890F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sp>
        <p:nvSpPr>
          <p:cNvPr id="6" name="">
            <a:extLst xmlns:a="http://schemas.openxmlformats.org/drawingml/2006/main">
              <a:ext uri="{FF2B5EF4-FFF2-40B4-BE49-F238E27FC236}">
                <a16:creationId xmlns:a16="http://schemas.microsoft.com/office/drawing/2014/main" id="{35EB305A-6E67-4FFF-87BD-1566C5A30998}"/>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確率積分変換の式（母集団の累積分布を用いる）</a:t>
            </a:r>
          </a:p>
        </p:txBody>
      </p:sp>
      <p:sp>
        <p:nvSpPr>
          <p:cNvPr id="7" name="">
            <a:extLst xmlns:a="http://schemas.openxmlformats.org/drawingml/2006/main">
              <a:ext uri="{FF2B5EF4-FFF2-40B4-BE49-F238E27FC236}">
                <a16:creationId xmlns:a16="http://schemas.microsoft.com/office/drawing/2014/main" id="{7EA4AEC3-BCF7-4BB5-9ACE-CD14E304EFDB}"/>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9B97A6-D7A7-47D8-BAF4-3E8B9BF0B803}"/>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U = Fₓ(X),   V = Fᵧ(Y)</a:t>
            </a:r>
          </a:p>
        </p:txBody>
      </p:sp>
      <p:sp>
        <p:nvSpPr>
          <p:cNvPr id="9" name="">
            <a:extLst xmlns:a="http://schemas.openxmlformats.org/drawingml/2006/main">
              <a:ext uri="{FF2B5EF4-FFF2-40B4-BE49-F238E27FC236}">
                <a16:creationId xmlns:a16="http://schemas.microsoft.com/office/drawing/2014/main" id="{B82C6630-07E0-41DD-B696-472B34473543}"/>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X：身長　Y：体重　U・V：分布の中の累積確率位置</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連続な周辺分布なら、UとVはそれぞれ0〜1の一様分布。</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説明用の10人では、Fを経験CDFのF̂で近似する。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得られる位置は0.1刻みで、連続一様分布そのものではない。</a:t>
            </a:r>
          </a:p>
        </p:txBody>
      </p:sp>
      <p:sp>
        <p:nvSpPr>
          <p:cNvPr id="10" name="">
            <a:extLst xmlns:a="http://schemas.openxmlformats.org/drawingml/2006/main">
              <a:ext uri="{FF2B5EF4-FFF2-40B4-BE49-F238E27FC236}">
                <a16:creationId xmlns:a16="http://schemas.microsoft.com/office/drawing/2014/main" id="{1D65C971-E8AE-4D6C-8767-00AE0113C1A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22F32D4-9C02-4BAA-950F-9434CDB7482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次ページで、共通データから位置を求める計算を示す</a:t>
            </a:r>
          </a:p>
        </p:txBody>
      </p:sp>
    </p:spTree>
    <p:extLst>
      <p:ext uri="{BB962C8B-B14F-4D97-AF65-F5344CB8AC3E}">
        <p14:creationId xmlns:p14="http://schemas.microsoft.com/office/powerpoint/2010/main" val="13333816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5343C1-0EE7-4F52-AEDF-0485EC9C0F5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元の値と確率位置の対応</a:t>
            </a:r>
          </a:p>
        </p:txBody>
      </p:sp>
      <p:sp>
        <p:nvSpPr>
          <p:cNvPr id="2" name="">
            <a:extLst xmlns:a="http://schemas.openxmlformats.org/drawingml/2006/main">
              <a:ext uri="{FF2B5EF4-FFF2-40B4-BE49-F238E27FC236}">
                <a16:creationId xmlns:a16="http://schemas.microsoft.com/office/drawing/2014/main" id="{4E17DED6-A7B7-463D-BF2A-7A2C05BFF9F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FC9078-4CC8-4B4C-BA78-EEE7A4384E3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各位置は「その値以下の人数 ÷ 10」で求める。</a:t>
            </a:r>
          </a:p>
        </p:txBody>
      </p:sp>
      <p:sp>
        <p:nvSpPr>
          <p:cNvPr id="4" name="">
            <a:extLst xmlns:a="http://schemas.openxmlformats.org/drawingml/2006/main">
              <a:ext uri="{FF2B5EF4-FFF2-40B4-BE49-F238E27FC236}">
                <a16:creationId xmlns:a16="http://schemas.microsoft.com/office/drawing/2014/main" id="{58A4B2C3-D713-4EC3-A0CA-36FE0BD5944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049ABC9-3119-487F-8802-FBFECE47267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graphicFrame>
        <p:nvGraphicFramePr>
          <p:cNvPr id="16" name=""/>
          <p:cNvGraphicFramePr/>
          <p:nvPr/>
        </p:nvGraphicFramePr>
        <p:xfrm>
          <a:off xmlns:a="http://schemas.openxmlformats.org/drawingml/2006/main" x="514350" y="1952625"/>
          <a:ext xmlns:a="http://schemas.openxmlformats.org/drawingml/2006/main" cx="6334125" cy="3419475"/>
        </p:xfrm>
        <a:graphic xmlns:a="http://schemas.openxmlformats.org/drawingml/2006/main">
          <a:graphicData uri="http://schemas.openxmlformats.org/drawingml/2006/table">
            <a:tbl>
              <a:tblPr/>
              <a:tblGrid>
                <a:gridCol w="809625"/>
                <a:gridCol w="1428750"/>
                <a:gridCol w="1428750"/>
                <a:gridCol w="1333500"/>
                <a:gridCol w="1333500"/>
              </a:tblGrid>
              <a:tr h="310861">
                <a:tc>
                  <a:txBody>
                    <a:bodyPr/>
                    <a:lstStyle/>
                    <a:p>
                      <a:pPr algn="ctr"/>
                      <a:r>
                        <a:rPr sz="1725" b="1">
                          <a:solidFill>
                            <a:srgbClr val="2E7D5B"/>
                          </a:solidFill>
                          <a:latin typeface="Noto Sans JP"/>
                          <a:ea typeface="Noto Sans JP"/>
                          <a:cs typeface="Noto Sans JP"/>
                        </a:rPr>
                        <a:t>人</a:t>
                      </a:r>
                    </a:p>
                  </a:txBody>
                  <a:tcPr marL="38100" marR="38100" marT="9525" marB="9525" anchor="ctr">
                    <a:solidFill>
                      <a:srgbClr val="E7F2EC"/>
                    </a:solidFill>
                  </a:tcPr>
                </a:tc>
                <a:tc>
                  <a:txBody>
                    <a:bodyPr/>
                    <a:lstStyle/>
                    <a:p>
                      <a:pPr algn="ctr"/>
                      <a:r>
                        <a:rPr sz="1725" b="1">
                          <a:solidFill>
                            <a:srgbClr val="2E7D5B"/>
                          </a:solidFill>
                          <a:latin typeface="Noto Sans JP"/>
                          <a:ea typeface="Noto Sans JP"/>
                          <a:cs typeface="Noto Sans JP"/>
                        </a:rPr>
                        <a:t>身長 cm</a:t>
                      </a:r>
                    </a:p>
                  </a:txBody>
                  <a:tcPr marL="38100" marR="38100" marT="9525" marB="9525" anchor="ctr">
                    <a:solidFill>
                      <a:srgbClr val="E7F2EC"/>
                    </a:solidFill>
                  </a:tcPr>
                </a:tc>
                <a:tc>
                  <a:txBody>
                    <a:bodyPr/>
                    <a:lstStyle/>
                    <a:p>
                      <a:pPr algn="ctr"/>
                      <a:r>
                        <a:rPr sz="1725" b="1">
                          <a:solidFill>
                            <a:srgbClr val="2E7D5B"/>
                          </a:solidFill>
                          <a:latin typeface="Noto Sans JP"/>
                          <a:ea typeface="Noto Sans JP"/>
                          <a:cs typeface="Noto Sans JP"/>
                        </a:rPr>
                        <a:t>体重 kg</a:t>
                      </a:r>
                    </a:p>
                  </a:txBody>
                  <a:tcPr marL="38100" marR="38100" marT="9525" marB="9525" anchor="ctr">
                    <a:solidFill>
                      <a:srgbClr val="E7F2EC"/>
                    </a:solidFill>
                  </a:tcPr>
                </a:tc>
                <a:tc>
                  <a:txBody>
                    <a:bodyPr/>
                    <a:lstStyle/>
                    <a:p>
                      <a:pPr algn="ctr"/>
                      <a:r>
                        <a:rPr sz="1725" b="1">
                          <a:solidFill>
                            <a:srgbClr val="2E7D5B"/>
                          </a:solidFill>
                          <a:latin typeface="Noto Sans JP"/>
                          <a:ea typeface="Noto Sans JP"/>
                          <a:cs typeface="Noto Sans JP"/>
                        </a:rPr>
                        <a:t>身長 Û</a:t>
                      </a:r>
                    </a:p>
                  </a:txBody>
                  <a:tcPr marL="38100" marR="38100" marT="9525" marB="9525" anchor="ctr">
                    <a:solidFill>
                      <a:srgbClr val="E7F2EC"/>
                    </a:solidFill>
                  </a:tcPr>
                </a:tc>
                <a:tc>
                  <a:txBody>
                    <a:bodyPr/>
                    <a:lstStyle/>
                    <a:p>
                      <a:pPr algn="ctr"/>
                      <a:r>
                        <a:rPr sz="1725" b="1">
                          <a:solidFill>
                            <a:srgbClr val="2E7D5B"/>
                          </a:solidFill>
                          <a:latin typeface="Noto Sans JP"/>
                          <a:ea typeface="Noto Sans JP"/>
                          <a:cs typeface="Noto Sans JP"/>
                        </a:rPr>
                        <a:t>体重 V̂</a:t>
                      </a:r>
                    </a:p>
                  </a:txBody>
                  <a:tcPr marL="38100" marR="38100" marT="9525" marB="9525" anchor="ctr">
                    <a:solidFill>
                      <a:srgbClr val="E7F2EC"/>
                    </a:solidFill>
                  </a:tcPr>
                </a:tc>
              </a:tr>
              <a:tr h="310861">
                <a:tc>
                  <a:txBody>
                    <a:bodyPr/>
                    <a:lstStyle/>
                    <a:p>
                      <a:pPr algn="ctr"/>
                      <a:r>
                        <a:rPr sz="1725" b="0">
                          <a:solidFill>
                            <a:srgbClr val="222222"/>
                          </a:solidFill>
                          <a:latin typeface="Noto Sans JP"/>
                          <a:ea typeface="Noto Sans JP"/>
                          <a:cs typeface="Noto Sans JP"/>
                        </a:rPr>
                        <a:t>A</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155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45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0.1</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0.1</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B</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160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55</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0.2</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0.3</a:t>
                      </a:r>
                    </a:p>
                  </a:txBody>
                  <a:tcPr marL="38100" marR="38100" marT="9525" marB="9525" anchor="ctr">
                    <a:solidFill>
                      <a:srgbClr val="F6F6F6"/>
                    </a:solidFill>
                  </a:tcPr>
                </a:tc>
              </a:tr>
              <a:tr h="310861">
                <a:tc>
                  <a:txBody>
                    <a:bodyPr/>
                    <a:lstStyle/>
                    <a:p>
                      <a:pPr algn="ctr"/>
                      <a:r>
                        <a:rPr sz="1725" b="0">
                          <a:solidFill>
                            <a:srgbClr val="222222"/>
                          </a:solidFill>
                          <a:latin typeface="Noto Sans JP"/>
                          <a:ea typeface="Noto Sans JP"/>
                          <a:cs typeface="Noto Sans JP"/>
                        </a:rPr>
                        <a:t>C</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165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50</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0.3</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0.2</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D</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168</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60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0.4</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0.4</a:t>
                      </a:r>
                    </a:p>
                  </a:txBody>
                  <a:tcPr marL="38100" marR="38100" marT="9525" marB="9525" anchor="ctr">
                    <a:solidFill>
                      <a:srgbClr val="F6F6F6"/>
                    </a:solidFill>
                  </a:tcPr>
                </a:tc>
              </a:tr>
              <a:tr h="310861">
                <a:tc>
                  <a:txBody>
                    <a:bodyPr/>
                    <a:lstStyle/>
                    <a:p>
                      <a:pPr algn="ctr"/>
                      <a:r>
                        <a:rPr sz="1725" b="0">
                          <a:solidFill>
                            <a:srgbClr val="222222"/>
                          </a:solidFill>
                          <a:latin typeface="Noto Sans JP"/>
                          <a:ea typeface="Noto Sans JP"/>
                          <a:cs typeface="Noto Sans JP"/>
                        </a:rPr>
                        <a:t>E</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170</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67</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0.6</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F</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173</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75</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0.6</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0.8</a:t>
                      </a:r>
                    </a:p>
                  </a:txBody>
                  <a:tcPr marL="38100" marR="38100" marT="9525" marB="9525" anchor="ctr">
                    <a:solidFill>
                      <a:srgbClr val="F6F6F6"/>
                    </a:solidFill>
                  </a:tcPr>
                </a:tc>
              </a:tr>
              <a:tr h="310861">
                <a:tc>
                  <a:txBody>
                    <a:bodyPr/>
                    <a:lstStyle/>
                    <a:p>
                      <a:pPr algn="ctr"/>
                      <a:r>
                        <a:rPr sz="1725" b="0">
                          <a:solidFill>
                            <a:srgbClr val="222222"/>
                          </a:solidFill>
                          <a:latin typeface="Noto Sans JP"/>
                          <a:ea typeface="Noto Sans JP"/>
                          <a:cs typeface="Noto Sans JP"/>
                        </a:rPr>
                        <a:t>G</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175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63</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0.7</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0.5</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H</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178</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70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0.8</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0.7</a:t>
                      </a:r>
                    </a:p>
                  </a:txBody>
                  <a:tcPr marL="38100" marR="38100" marT="9525" marB="9525" anchor="ctr">
                    <a:solidFill>
                      <a:srgbClr val="F6F6F6"/>
                    </a:solidFill>
                  </a:tcPr>
                </a:tc>
              </a:tr>
              <a:tr h="310861">
                <a:tc>
                  <a:txBody>
                    <a:bodyPr/>
                    <a:lstStyle/>
                    <a:p>
                      <a:pPr algn="ctr"/>
                      <a:r>
                        <a:rPr sz="1725" b="0">
                          <a:solidFill>
                            <a:srgbClr val="222222"/>
                          </a:solidFill>
                          <a:latin typeface="Noto Sans JP"/>
                          <a:ea typeface="Noto Sans JP"/>
                          <a:cs typeface="Noto Sans JP"/>
                        </a:rPr>
                        <a:t>I</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182</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90</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0.9</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1.0</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J</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185</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80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0.9</a:t>
                      </a:r>
                    </a:p>
                  </a:txBody>
                  <a:tcPr marL="38100" marR="38100" marT="9525" marB="9525"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27950139-4856-4996-B7D3-CAE78E5DED00}"/>
              </a:ext>
            </a:extLst>
          </p:cNvPr>
          <p:cNvSpPr>
            <a:spLocks xmlns:a="http://schemas.openxmlformats.org/drawingml/2006/main" noGrp="1"/>
          </p:cNvSpPr>
          <p:nvPr/>
        </p:nvSpPr>
        <p:spPr>
          <a:xfrm xmlns:a="http://schemas.openxmlformats.org/drawingml/2006/main">
            <a:off x="7239000" y="1952625"/>
            <a:ext cx="433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Hさん（178 cm・70 kg）の計算</a:t>
            </a:r>
          </a:p>
        </p:txBody>
      </p:sp>
      <p:sp>
        <p:nvSpPr>
          <p:cNvPr id="8" name="">
            <a:extLst xmlns:a="http://schemas.openxmlformats.org/drawingml/2006/main">
              <a:ext uri="{FF2B5EF4-FFF2-40B4-BE49-F238E27FC236}">
                <a16:creationId xmlns:a16="http://schemas.microsoft.com/office/drawing/2014/main" id="{6C7A4874-D210-40FB-87F5-032D6025307F}"/>
              </a:ext>
            </a:extLst>
          </p:cNvPr>
          <p:cNvSpPr>
            <a:spLocks xmlns:a="http://schemas.openxmlformats.org/drawingml/2006/main" noGrp="1"/>
          </p:cNvSpPr>
          <p:nvPr/>
        </p:nvSpPr>
        <p:spPr>
          <a:xfrm xmlns:a="http://schemas.openxmlformats.org/drawingml/2006/main">
            <a:off x="7239000" y="2714625"/>
            <a:ext cx="4333875"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身長178 cm以下は8人</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Û = F̂ₓ(178) = 8 / 10 = 0.8</a:t>
            </a:r>
          </a:p>
          <a:p xmlns:a="http://schemas.openxmlformats.org/drawingml/2006/main">
            <a:r>
              <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体重70 kg以下は7人</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V̂ = F̂ᵧ(70) = 7 / 10 = 0.7</a:t>
            </a:r>
          </a:p>
          <a:p xmlns:a="http://schemas.openxmlformats.org/drawingml/2006/main">
            <a:r>
              <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Hさんの位置の組は (0.8, 0.7)。</a:t>
            </a:r>
          </a:p>
        </p:txBody>
      </p:sp>
      <p:sp>
        <p:nvSpPr>
          <p:cNvPr id="9" name="">
            <a:extLst xmlns:a="http://schemas.openxmlformats.org/drawingml/2006/main">
              <a:ext uri="{FF2B5EF4-FFF2-40B4-BE49-F238E27FC236}">
                <a16:creationId xmlns:a16="http://schemas.microsoft.com/office/drawing/2014/main" id="{1EDDE389-7D39-4A88-BFA9-C816F2DB555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9ED024-1F80-411C-A37F-8F1C76857C5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位置は任意に付けた数ではなく、各列の累積割合から計算する</a:t>
            </a:r>
          </a:p>
        </p:txBody>
      </p:sp>
    </p:spTree>
    <p:extLst>
      <p:ext uri="{BB962C8B-B14F-4D97-AF65-F5344CB8AC3E}">
        <p14:creationId xmlns:p14="http://schemas.microsoft.com/office/powerpoint/2010/main" val="2293946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0BFC40-09CE-4167-B50A-7DE62EF94BE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コピュラの定義式</a:t>
            </a:r>
          </a:p>
        </p:txBody>
      </p:sp>
      <p:sp>
        <p:nvSpPr>
          <p:cNvPr id="2" name="">
            <a:extLst xmlns:a="http://schemas.openxmlformats.org/drawingml/2006/main">
              <a:ext uri="{FF2B5EF4-FFF2-40B4-BE49-F238E27FC236}">
                <a16:creationId xmlns:a16="http://schemas.microsoft.com/office/drawing/2014/main" id="{EC176F93-9EE5-4393-8022-5718538FE54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A50B23-8C49-4AEE-BCB1-1A1C3EB3F02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二つの位置が、指定した範囲に同時に入る確率を表す。</a:t>
            </a:r>
          </a:p>
        </p:txBody>
      </p:sp>
      <p:sp>
        <p:nvSpPr>
          <p:cNvPr id="4" name="">
            <a:extLst xmlns:a="http://schemas.openxmlformats.org/drawingml/2006/main">
              <a:ext uri="{FF2B5EF4-FFF2-40B4-BE49-F238E27FC236}">
                <a16:creationId xmlns:a16="http://schemas.microsoft.com/office/drawing/2014/main" id="{49BB35AA-DFEF-4467-9A82-3B60436CD81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042E3F5-06A7-4F11-A436-4BD1F7CEC2D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sp>
        <p:nvSpPr>
          <p:cNvPr id="6" name="">
            <a:extLst xmlns:a="http://schemas.openxmlformats.org/drawingml/2006/main">
              <a:ext uri="{FF2B5EF4-FFF2-40B4-BE49-F238E27FC236}">
                <a16:creationId xmlns:a16="http://schemas.microsoft.com/office/drawing/2014/main" id="{752AEF27-7264-45FD-AAC5-69587388D8DC}"/>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コピュラの定義：一様周辺を持つ同時累積分布関数</a:t>
            </a:r>
          </a:p>
        </p:txBody>
      </p:sp>
      <p:sp>
        <p:nvSpPr>
          <p:cNvPr id="7" name="">
            <a:extLst xmlns:a="http://schemas.openxmlformats.org/drawingml/2006/main">
              <a:ext uri="{FF2B5EF4-FFF2-40B4-BE49-F238E27FC236}">
                <a16:creationId xmlns:a16="http://schemas.microsoft.com/office/drawing/2014/main" id="{3FE8017D-DF75-4469-B4BF-5155FD3D07F5}"/>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B9FEF5-FB00-44B7-B743-7EB4CEA0E65A}"/>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C(u, v) = P(U ≤ u, V ≤ v)</a:t>
            </a:r>
          </a:p>
        </p:txBody>
      </p:sp>
      <p:sp>
        <p:nvSpPr>
          <p:cNvPr id="9" name="">
            <a:extLst xmlns:a="http://schemas.openxmlformats.org/drawingml/2006/main">
              <a:ext uri="{FF2B5EF4-FFF2-40B4-BE49-F238E27FC236}">
                <a16:creationId xmlns:a16="http://schemas.microsoft.com/office/drawing/2014/main" id="{7B72B93B-14F9-41F5-9B5D-F12B4C6FDE51}"/>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C：コピュラ　u・v：位置の上限（0〜1）</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C(0.6, 0.7) は「身長の位置が0.6以下」かつ</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「体重の位置が0.7以下」を同時に満たす確率。</a:t>
            </a:r>
          </a:p>
        </p:txBody>
      </p:sp>
      <p:sp>
        <p:nvSpPr>
          <p:cNvPr id="10" name="">
            <a:extLst xmlns:a="http://schemas.openxmlformats.org/drawingml/2006/main">
              <a:ext uri="{FF2B5EF4-FFF2-40B4-BE49-F238E27FC236}">
                <a16:creationId xmlns:a16="http://schemas.microsoft.com/office/drawing/2014/main" id="{32C4C501-3D89-4756-AD7D-CC357F40EB2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AA01D0-BEEE-4DAA-8010-C5D6E35FB00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Cは点の密度でも、体重を固定した条件付き確率でもない</a:t>
            </a:r>
          </a:p>
        </p:txBody>
      </p:sp>
    </p:spTree>
    <p:extLst>
      <p:ext uri="{BB962C8B-B14F-4D97-AF65-F5344CB8AC3E}">
        <p14:creationId xmlns:p14="http://schemas.microsoft.com/office/powerpoint/2010/main" val="5457781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D4912D-9489-47D3-9BE7-FDDE205434F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定義式を図で読む</a:t>
            </a:r>
          </a:p>
        </p:txBody>
      </p:sp>
      <p:sp>
        <p:nvSpPr>
          <p:cNvPr id="2" name="">
            <a:extLst xmlns:a="http://schemas.openxmlformats.org/drawingml/2006/main">
              <a:ext uri="{FF2B5EF4-FFF2-40B4-BE49-F238E27FC236}">
                <a16:creationId xmlns:a16="http://schemas.microsoft.com/office/drawing/2014/main" id="{D82EC83F-505E-4177-B581-A1D5381D042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ECEF0F-CE4A-49C4-81F5-6CBB117CC4B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共通データ10人の位置を、散布図にする。</a:t>
            </a:r>
          </a:p>
        </p:txBody>
      </p:sp>
      <p:sp>
        <p:nvSpPr>
          <p:cNvPr id="4" name="">
            <a:extLst xmlns:a="http://schemas.openxmlformats.org/drawingml/2006/main">
              <a:ext uri="{FF2B5EF4-FFF2-40B4-BE49-F238E27FC236}">
                <a16:creationId xmlns:a16="http://schemas.microsoft.com/office/drawing/2014/main" id="{9E28A270-E226-45E9-8B05-6F2A1D9B633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7A94F57-6178-492F-A4AD-8E1702CE686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Chart"/>
          <p:cNvGraphicFramePr/>
          <p:nvPr/>
        </p:nvGraphicFramePr>
        <p:xfrm>
          <a:off xmlns:a="http://schemas.openxmlformats.org/drawingml/2006/main" x="523875" y="1933575"/>
          <a:ext xmlns:a="http://schemas.openxmlformats.org/drawingml/2006/main" cx="6238875" cy="3381375"/>
        </p:xfrm>
        <a:graphic xmlns:a="http://schemas.openxmlformats.org/drawingml/2006/main">
          <a:graphicData uri="http://schemas.openxmlformats.org/drawingml/2006/chart">
            <c:chart xmlns:r="http://schemas.openxmlformats.org/officeDocument/2006/relationships" xmlns:c="http://schemas.openxmlformats.org/drawingml/2006/chart" r:id="Rff88bc33d1ae4430"/>
          </a:graphicData>
        </a:graphic>
      </p:graphicFrame>
      <p:sp>
        <p:nvSpPr>
          <p:cNvPr id="7" name="">
            <a:extLst xmlns:a="http://schemas.openxmlformats.org/drawingml/2006/main">
              <a:ext uri="{FF2B5EF4-FFF2-40B4-BE49-F238E27FC236}">
                <a16:creationId xmlns:a16="http://schemas.microsoft.com/office/drawing/2014/main" id="{AB431575-5481-4640-8EA6-2A2265F7C12D}"/>
              </a:ext>
            </a:extLst>
          </p:cNvPr>
          <p:cNvSpPr>
            <a:spLocks xmlns:a="http://schemas.openxmlformats.org/drawingml/2006/main" noGrp="1"/>
          </p:cNvSpPr>
          <p:nvPr/>
        </p:nvSpPr>
        <p:spPr>
          <a:xfrm xmlns:a="http://schemas.openxmlformats.org/drawingml/2006/main">
            <a:off x="7143750" y="201930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 0.6、v = 0.7</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両条件を満たす人：</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A・B・C・D・E（5人）</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この10人での累積割合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5 / 10 = 0.5</a:t>
            </a:r>
          </a:p>
        </p:txBody>
      </p:sp>
      <p:sp>
        <p:nvSpPr>
          <p:cNvPr id="8" name="">
            <a:extLst xmlns:a="http://schemas.openxmlformats.org/drawingml/2006/main">
              <a:ext uri="{FF2B5EF4-FFF2-40B4-BE49-F238E27FC236}">
                <a16:creationId xmlns:a16="http://schemas.microsoft.com/office/drawing/2014/main" id="{59543F4D-F7F0-4E8F-B494-7D4E6483638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B9E25EB-C0B5-4863-96EB-0E00312A5DE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母集団のC(0.6, 0.7)を、観測データの割合0.5で近似する</a:t>
            </a:r>
          </a:p>
        </p:txBody>
      </p:sp>
    </p:spTree>
    <p:extLst>
      <p:ext uri="{BB962C8B-B14F-4D97-AF65-F5344CB8AC3E}">
        <p14:creationId xmlns:p14="http://schemas.microsoft.com/office/powerpoint/2010/main" val="939479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38E88D-21D5-45E0-B7D5-BD3E46C9A06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独立と完全同方向依存の違い</a:t>
            </a:r>
          </a:p>
        </p:txBody>
      </p:sp>
      <p:sp>
        <p:nvSpPr>
          <p:cNvPr id="2" name="">
            <a:extLst xmlns:a="http://schemas.openxmlformats.org/drawingml/2006/main">
              <a:ext uri="{FF2B5EF4-FFF2-40B4-BE49-F238E27FC236}">
                <a16:creationId xmlns:a16="http://schemas.microsoft.com/office/drawing/2014/main" id="{A2FC1645-66D2-4C11-BBFA-0CDA2873DAD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190F80-9B95-4304-A18D-86B0DB8F28C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同じ周辺分布でも、一方を知ったときの情報が異なる。</a:t>
            </a:r>
          </a:p>
        </p:txBody>
      </p:sp>
      <p:sp>
        <p:nvSpPr>
          <p:cNvPr id="4" name="">
            <a:extLst xmlns:a="http://schemas.openxmlformats.org/drawingml/2006/main">
              <a:ext uri="{FF2B5EF4-FFF2-40B4-BE49-F238E27FC236}">
                <a16:creationId xmlns:a16="http://schemas.microsoft.com/office/drawing/2014/main" id="{9A0A39BB-4199-449E-9B63-84C9BCAE4C5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0DE1683-E882-4B21-82F4-58E46F79322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19" name="Chart"/>
          <p:cNvGraphicFramePr/>
          <p:nvPr/>
        </p:nvGraphicFramePr>
        <p:xfrm>
          <a:off xmlns:a="http://schemas.openxmlformats.org/drawingml/2006/main" x="523875" y="2105025"/>
          <a:ext xmlns:a="http://schemas.openxmlformats.org/drawingml/2006/main" cx="5257800" cy="1838325"/>
        </p:xfrm>
        <a:graphic xmlns:a="http://schemas.openxmlformats.org/drawingml/2006/main">
          <a:graphicData uri="http://schemas.openxmlformats.org/drawingml/2006/chart">
            <c:chart xmlns:r="http://schemas.openxmlformats.org/officeDocument/2006/relationships" xmlns:c="http://schemas.openxmlformats.org/drawingml/2006/chart" r:id="Red9f7844eac94bd3"/>
          </a:graphicData>
        </a:graphic>
      </p:graphicFrame>
      <p:graphicFrame>
        <p:nvGraphicFramePr>
          <p:cNvPr id="20" name="Chart"/>
          <p:cNvGraphicFramePr/>
          <p:nvPr/>
        </p:nvGraphicFramePr>
        <p:xfrm>
          <a:off xmlns:a="http://schemas.openxmlformats.org/drawingml/2006/main" x="6296025" y="2105025"/>
          <a:ext xmlns:a="http://schemas.openxmlformats.org/drawingml/2006/main" cx="5257800" cy="1838325"/>
        </p:xfrm>
        <a:graphic xmlns:a="http://schemas.openxmlformats.org/drawingml/2006/main">
          <a:graphicData uri="http://schemas.openxmlformats.org/drawingml/2006/chart">
            <c:chart xmlns:r="http://schemas.openxmlformats.org/officeDocument/2006/relationships" xmlns:c="http://schemas.openxmlformats.org/drawingml/2006/chart" r:id="Re92f3054ca7b43d7"/>
          </a:graphicData>
        </a:graphic>
      </p:graphicFrame>
      <p:sp>
        <p:nvSpPr>
          <p:cNvPr id="8" name="">
            <a:extLst xmlns:a="http://schemas.openxmlformats.org/drawingml/2006/main">
              <a:ext uri="{FF2B5EF4-FFF2-40B4-BE49-F238E27FC236}">
                <a16:creationId xmlns:a16="http://schemas.microsoft.com/office/drawing/2014/main" id="{F99BF24A-A52D-4130-A151-0157CCC869D4}"/>
              </a:ext>
            </a:extLst>
          </p:cNvPr>
          <p:cNvSpPr>
            <a:spLocks xmlns:a="http://schemas.openxmlformats.org/drawingml/2006/main" noGrp="1"/>
          </p:cNvSpPr>
          <p:nvPr/>
        </p:nvSpPr>
        <p:spPr>
          <a:xfrm xmlns:a="http://schemas.openxmlformats.org/drawingml/2006/main">
            <a:off x="619125"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B6777"/>
                </a:solidFill>
                <a:latin typeface="Noto Sans JP"/>
                <a:ea typeface="Noto Sans JP"/>
                <a:cs typeface="Noto Sans JP"/>
              </a:defRPr>
            </a:pPr>
            <a:r>
              <a:rPr sz="1725" b="1">
                <a:solidFill>
                  <a:srgbClr val="2B6777"/>
                </a:solidFill>
                <a:latin typeface="Noto Sans JP"/>
                <a:ea typeface="Noto Sans JP"/>
                <a:cs typeface="Noto Sans JP"/>
              </a:rPr>
              <a:t>独立：すべての位置の組が候補</a:t>
            </a:r>
          </a:p>
        </p:txBody>
      </p:sp>
      <p:sp>
        <p:nvSpPr>
          <p:cNvPr id="9" name="">
            <a:extLst xmlns:a="http://schemas.openxmlformats.org/drawingml/2006/main">
              <a:ext uri="{FF2B5EF4-FFF2-40B4-BE49-F238E27FC236}">
                <a16:creationId xmlns:a16="http://schemas.microsoft.com/office/drawing/2014/main" id="{B0D08391-A351-4557-9C5E-27F22BA88196}"/>
              </a:ext>
            </a:extLst>
          </p:cNvPr>
          <p:cNvSpPr>
            <a:spLocks xmlns:a="http://schemas.openxmlformats.org/drawingml/2006/main" noGrp="1"/>
          </p:cNvSpPr>
          <p:nvPr/>
        </p:nvSpPr>
        <p:spPr>
          <a:xfrm xmlns:a="http://schemas.openxmlformats.org/drawingml/2006/main">
            <a:off x="6362700" y="17145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E0562B"/>
                </a:solidFill>
                <a:latin typeface="Noto Sans JP"/>
                <a:ea typeface="Noto Sans JP"/>
                <a:cs typeface="Noto Sans JP"/>
              </a:defRPr>
            </a:pPr>
            <a:r>
              <a:rPr sz="1725" b="1">
                <a:solidFill>
                  <a:srgbClr val="E0562B"/>
                </a:solidFill>
                <a:latin typeface="Noto Sans JP"/>
                <a:ea typeface="Noto Sans JP"/>
                <a:cs typeface="Noto Sans JP"/>
              </a:rPr>
              <a:t>完全同方向：同じ順位だけが対応</a:t>
            </a:r>
          </a:p>
        </p:txBody>
      </p:sp>
      <p:sp>
        <p:nvSpPr>
          <p:cNvPr id="10" name="">
            <a:extLst xmlns:a="http://schemas.openxmlformats.org/drawingml/2006/main">
              <a:ext uri="{FF2B5EF4-FFF2-40B4-BE49-F238E27FC236}">
                <a16:creationId xmlns:a16="http://schemas.microsoft.com/office/drawing/2014/main" id="{34D5024C-0D6A-4509-BB6A-4F8C2B5BF0E6}"/>
              </a:ext>
            </a:extLst>
          </p:cNvPr>
          <p:cNvSpPr>
            <a:spLocks xmlns:a="http://schemas.openxmlformats.org/drawingml/2006/main" noGrp="1"/>
          </p:cNvSpPr>
          <p:nvPr/>
        </p:nvSpPr>
        <p:spPr>
          <a:xfrm xmlns:a="http://schemas.openxmlformats.org/drawingml/2006/main">
            <a:off x="647700" y="4019550"/>
            <a:ext cx="5143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体重の位置が分かっても、</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身長の位置の分布は変わらない。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C(u, v) = uv</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C(0.6, 0.7) = 0.6 × 0.7 = 0.42</a:t>
            </a:r>
          </a:p>
        </p:txBody>
      </p:sp>
      <p:sp>
        <p:nvSpPr>
          <p:cNvPr id="11" name="">
            <a:extLst xmlns:a="http://schemas.openxmlformats.org/drawingml/2006/main">
              <a:ext uri="{FF2B5EF4-FFF2-40B4-BE49-F238E27FC236}">
                <a16:creationId xmlns:a16="http://schemas.microsoft.com/office/drawing/2014/main" id="{244FD7BE-0542-4A21-8DC9-8A3BD423DD66}"/>
              </a:ext>
            </a:extLst>
          </p:cNvPr>
          <p:cNvSpPr>
            <a:spLocks xmlns:a="http://schemas.openxmlformats.org/drawingml/2006/main" noGrp="1"/>
          </p:cNvSpPr>
          <p:nvPr/>
        </p:nvSpPr>
        <p:spPr>
          <a:xfrm xmlns:a="http://schemas.openxmlformats.org/drawingml/2006/main">
            <a:off x="6438900" y="4019550"/>
            <a:ext cx="5143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体重の位置が分かれば、</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身長の位置も同じに決まる（U = V）。</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C(u, v) = min(u, v)</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C(0.6, 0.7) = 0.6</a:t>
            </a:r>
          </a:p>
        </p:txBody>
      </p:sp>
      <p:sp>
        <p:nvSpPr>
          <p:cNvPr id="12" name="">
            <a:extLst xmlns:a="http://schemas.openxmlformats.org/drawingml/2006/main">
              <a:ext uri="{FF2B5EF4-FFF2-40B4-BE49-F238E27FC236}">
                <a16:creationId xmlns:a16="http://schemas.microsoft.com/office/drawing/2014/main" id="{CFF55A48-D45F-41A4-9810-F7CF0623506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44AE55F-A996-4F93-9276-AACCEE31CDD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完全同方向は「順位が常に一致」。元の身長と体重が同じ値になる意味ではない</a:t>
            </a:r>
          </a:p>
        </p:txBody>
      </p:sp>
    </p:spTree>
    <p:extLst>
      <p:ext uri="{BB962C8B-B14F-4D97-AF65-F5344CB8AC3E}">
        <p14:creationId xmlns:p14="http://schemas.microsoft.com/office/powerpoint/2010/main" val="21285649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B83F4E-69FF-455B-80F0-9611B27B6FE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Sklar（スクラー）の定理</a:t>
            </a:r>
          </a:p>
        </p:txBody>
      </p:sp>
      <p:sp>
        <p:nvSpPr>
          <p:cNvPr id="2" name="">
            <a:extLst xmlns:a="http://schemas.openxmlformats.org/drawingml/2006/main">
              <a:ext uri="{FF2B5EF4-FFF2-40B4-BE49-F238E27FC236}">
                <a16:creationId xmlns:a16="http://schemas.microsoft.com/office/drawing/2014/main" id="{637E04B9-A652-469E-8A62-0B73371EA84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2AE6E0-9FEF-4BBB-8231-F43317648DD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元の同時分布を、周辺分布とコピュラで表す。</a:t>
            </a:r>
          </a:p>
        </p:txBody>
      </p:sp>
      <p:sp>
        <p:nvSpPr>
          <p:cNvPr id="4" name="">
            <a:extLst xmlns:a="http://schemas.openxmlformats.org/drawingml/2006/main">
              <a:ext uri="{FF2B5EF4-FFF2-40B4-BE49-F238E27FC236}">
                <a16:creationId xmlns:a16="http://schemas.microsoft.com/office/drawing/2014/main" id="{514A33CB-2088-4257-B6D8-A77674806A3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2B2596D-DA90-4774-8392-B0AD0C587A9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sp>
        <p:nvSpPr>
          <p:cNvPr id="6" name="">
            <a:extLst xmlns:a="http://schemas.openxmlformats.org/drawingml/2006/main">
              <a:ext uri="{FF2B5EF4-FFF2-40B4-BE49-F238E27FC236}">
                <a16:creationId xmlns:a16="http://schemas.microsoft.com/office/drawing/2014/main" id="{CF1DFE29-D27B-4BDA-A06A-2D7C077DBFD5}"/>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Sklarの定理の式</a:t>
            </a:r>
          </a:p>
        </p:txBody>
      </p:sp>
      <p:sp>
        <p:nvSpPr>
          <p:cNvPr id="7" name="">
            <a:extLst xmlns:a="http://schemas.openxmlformats.org/drawingml/2006/main">
              <a:ext uri="{FF2B5EF4-FFF2-40B4-BE49-F238E27FC236}">
                <a16:creationId xmlns:a16="http://schemas.microsoft.com/office/drawing/2014/main" id="{6E7B47AB-2D40-4AD3-A397-EF648388E3FB}"/>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F4B665-48A8-465F-8683-05369B1DC4A2}"/>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H(x, y) = C(Fₓ(x), Fᵧ(y))</a:t>
            </a:r>
          </a:p>
        </p:txBody>
      </p:sp>
      <p:sp>
        <p:nvSpPr>
          <p:cNvPr id="9" name="">
            <a:extLst xmlns:a="http://schemas.openxmlformats.org/drawingml/2006/main">
              <a:ext uri="{FF2B5EF4-FFF2-40B4-BE49-F238E27FC236}">
                <a16:creationId xmlns:a16="http://schemas.microsoft.com/office/drawing/2014/main" id="{F69DF52B-B670-4A86-8CB6-A4AD40DAF419}"/>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H：身長と体重の同時累積分布関数</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Fₓ・Fᵧ：各列の累積分布関数　C：位置どうしの依存</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まずxとyを位置へ変換し、その位置の同時確率をCで求める。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連続な周辺分布では、対応するコピュラは一意に定まる。</a:t>
            </a:r>
          </a:p>
        </p:txBody>
      </p:sp>
      <p:sp>
        <p:nvSpPr>
          <p:cNvPr id="10" name="">
            <a:extLst xmlns:a="http://schemas.openxmlformats.org/drawingml/2006/main">
              <a:ext uri="{FF2B5EF4-FFF2-40B4-BE49-F238E27FC236}">
                <a16:creationId xmlns:a16="http://schemas.microsoft.com/office/drawing/2014/main" id="{74134D7D-607E-4199-8EC3-7D53B283D31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3F3B75-70AE-4726-8ABE-8C884A775B8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周辺の分布の形と、依存構造を分けてモデル化できる</a:t>
            </a:r>
          </a:p>
        </p:txBody>
      </p:sp>
    </p:spTree>
    <p:extLst>
      <p:ext uri="{BB962C8B-B14F-4D97-AF65-F5344CB8AC3E}">
        <p14:creationId xmlns:p14="http://schemas.microsoft.com/office/powerpoint/2010/main" val="18006436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99FB80-FACD-48A7-A1EF-5F7413CD244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逆累積分布による生成</a:t>
            </a:r>
          </a:p>
        </p:txBody>
      </p:sp>
      <p:sp>
        <p:nvSpPr>
          <p:cNvPr id="2" name="">
            <a:extLst xmlns:a="http://schemas.openxmlformats.org/drawingml/2006/main">
              <a:ext uri="{FF2B5EF4-FFF2-40B4-BE49-F238E27FC236}">
                <a16:creationId xmlns:a16="http://schemas.microsoft.com/office/drawing/2014/main" id="{5B6F51EB-6DB8-4DBF-8CE3-F43DB589FD1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F11B3A-5BC9-47A0-A6C6-A8A31147022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位置の組を生成した後、元の単位に戻す。</a:t>
            </a:r>
          </a:p>
        </p:txBody>
      </p:sp>
      <p:sp>
        <p:nvSpPr>
          <p:cNvPr id="4" name="">
            <a:extLst xmlns:a="http://schemas.openxmlformats.org/drawingml/2006/main">
              <a:ext uri="{FF2B5EF4-FFF2-40B4-BE49-F238E27FC236}">
                <a16:creationId xmlns:a16="http://schemas.microsoft.com/office/drawing/2014/main" id="{DA7AAE36-28CC-46AC-A6E8-135744BC9C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1D104D29-1617-449A-A9DE-79ABF1AAF23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8D7E8BAF-5EFA-46EF-BCCD-8B3E384737CF}"/>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逆累積分布変換（逆変換法）の式</a:t>
            </a:r>
          </a:p>
        </p:txBody>
      </p:sp>
      <p:sp>
        <p:nvSpPr>
          <p:cNvPr id="7" name="">
            <a:extLst xmlns:a="http://schemas.openxmlformats.org/drawingml/2006/main">
              <a:ext uri="{FF2B5EF4-FFF2-40B4-BE49-F238E27FC236}">
                <a16:creationId xmlns:a16="http://schemas.microsoft.com/office/drawing/2014/main" id="{BEA60478-7074-4B3C-9346-60E13145A53A}"/>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34E827-D1C0-4E6F-B150-2F6F1A0F3B7F}"/>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X = Fₓ⁻¹(U),   Y = Fᵧ⁻¹(V)</a:t>
            </a:r>
          </a:p>
        </p:txBody>
      </p:sp>
      <p:sp>
        <p:nvSpPr>
          <p:cNvPr id="9" name="">
            <a:extLst xmlns:a="http://schemas.openxmlformats.org/drawingml/2006/main">
              <a:ext uri="{FF2B5EF4-FFF2-40B4-BE49-F238E27FC236}">
                <a16:creationId xmlns:a16="http://schemas.microsoft.com/office/drawing/2014/main" id="{C39FEF28-6A33-4CDA-9EFE-DFF383DCD19D}"/>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F⁻¹：位置に対応する値を返す、逆CDF（分位点関数）</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共通データでは、身長を小さい順に並べた6番目が173 cm。</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経験CDFの逆変換なら、F̂ₓ⁻¹(0.6) = 173 cm。</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生成した位置を、その列の値へ戻す。</a:t>
            </a:r>
          </a:p>
        </p:txBody>
      </p:sp>
      <p:sp>
        <p:nvSpPr>
          <p:cNvPr id="10" name="">
            <a:extLst xmlns:a="http://schemas.openxmlformats.org/drawingml/2006/main">
              <a:ext uri="{FF2B5EF4-FFF2-40B4-BE49-F238E27FC236}">
                <a16:creationId xmlns:a16="http://schemas.microsoft.com/office/drawing/2014/main" id="{869CBECB-FC69-40AB-9E18-EA3201EC113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0E9A7F-5DE3-4E4F-A089-F2AC0D26F81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身長の位置0.6を、共通データに対応する173 cmへ戻す</a:t>
            </a:r>
          </a:p>
        </p:txBody>
      </p:sp>
    </p:spTree>
    <p:extLst>
      <p:ext uri="{BB962C8B-B14F-4D97-AF65-F5344CB8AC3E}">
        <p14:creationId xmlns:p14="http://schemas.microsoft.com/office/powerpoint/2010/main" val="20345469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B38A0C-6039-4A4D-BEC0-FE9FA9A0B19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条件付き分布の意味</a:t>
            </a:r>
          </a:p>
        </p:txBody>
      </p:sp>
      <p:sp>
        <p:nvSpPr>
          <p:cNvPr id="2" name="">
            <a:extLst xmlns:a="http://schemas.openxmlformats.org/drawingml/2006/main">
              <a:ext uri="{FF2B5EF4-FFF2-40B4-BE49-F238E27FC236}">
                <a16:creationId xmlns:a16="http://schemas.microsoft.com/office/drawing/2014/main" id="{1A705972-67AC-4D13-BA05-90DDD36ECDE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FE645D-3382-4BDA-AA99-02101FE6A12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研究では、残した値に合う分布から、置換する値を生成する。</a:t>
            </a:r>
          </a:p>
        </p:txBody>
      </p:sp>
      <p:sp>
        <p:nvSpPr>
          <p:cNvPr id="4" name="">
            <a:extLst xmlns:a="http://schemas.openxmlformats.org/drawingml/2006/main">
              <a:ext uri="{FF2B5EF4-FFF2-40B4-BE49-F238E27FC236}">
                <a16:creationId xmlns:a16="http://schemas.microsoft.com/office/drawing/2014/main" id="{E418C3DD-73F1-4F40-8346-73D631914C1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D026858-B0E6-45C7-A048-36E2B77F4D6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27D9C5C8-62BA-4456-A972-75B4B8A733C8}"/>
              </a:ext>
            </a:extLst>
          </p:cNvPr>
          <p:cNvSpPr>
            <a:spLocks xmlns:a="http://schemas.openxmlformats.org/drawingml/2006/main" noGrp="1"/>
          </p:cNvSpPr>
          <p:nvPr/>
        </p:nvSpPr>
        <p:spPr>
          <a:xfrm xmlns:a="http://schemas.openxmlformats.org/drawingml/2006/main">
            <a:off x="619125" y="19716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条件付き分布の表記：X | Y = 70</a:t>
            </a:r>
          </a:p>
        </p:txBody>
      </p:sp>
      <p:graphicFrame>
        <p:nvGraphicFramePr>
          <p:cNvPr id="17" name=""/>
          <p:cNvGraphicFramePr/>
          <p:nvPr/>
        </p:nvGraphicFramePr>
        <p:xfrm>
          <a:off xmlns:a="http://schemas.openxmlformats.org/drawingml/2006/main" x="514350" y="2695575"/>
          <a:ext xmlns:a="http://schemas.openxmlformats.org/drawingml/2006/main" cx="5905500" cy="2362200"/>
        </p:xfrm>
        <a:graphic xmlns:a="http://schemas.openxmlformats.org/drawingml/2006/main">
          <a:graphicData uri="http://schemas.openxmlformats.org/drawingml/2006/table">
            <a:tbl>
              <a:tblPr/>
              <a:tblGrid>
                <a:gridCol w="1968500"/>
                <a:gridCol w="1968500"/>
                <a:gridCol w="1968500"/>
              </a:tblGrid>
              <a:tr h="590550">
                <a:tc>
                  <a:txBody>
                    <a:bodyPr/>
                    <a:lstStyle/>
                    <a:p>
                      <a:pPr algn="ctr"/>
                      <a:r>
                        <a:rPr sz="2025" b="1">
                          <a:solidFill>
                            <a:srgbClr val="2E7D5B"/>
                          </a:solidFill>
                          <a:latin typeface="Noto Sans JP"/>
                          <a:ea typeface="Noto Sans JP"/>
                          <a:cs typeface="Noto Sans JP"/>
                        </a:rPr>
                        <a:t>共通データの人</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体重</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a:t>
                      </a:r>
                    </a:p>
                  </a:txBody>
                  <a:tcPr marL="91440" marR="91440" marT="45720" marB="45720" anchor="ctr">
                    <a:solidFill>
                      <a:srgbClr val="E7F2EC"/>
                    </a:solidFill>
                  </a:tcPr>
                </a:tc>
              </a:tr>
              <a:tr h="590550">
                <a:tc>
                  <a:txBody>
                    <a:bodyPr/>
                    <a:lstStyle/>
                    <a:p>
                      <a:pPr algn="ctr"/>
                      <a:r>
                        <a:rPr sz="2025" b="0">
                          <a:solidFill>
                            <a:srgbClr val="222222"/>
                          </a:solidFill>
                          <a:latin typeface="Noto Sans JP"/>
                          <a:ea typeface="Noto Sans JP"/>
                          <a:cs typeface="Noto Sans JP"/>
                        </a:rPr>
                        <a:t>E</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67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170 cm</a:t>
                      </a:r>
                    </a:p>
                  </a:txBody>
                  <a:tcPr marL="91440" marR="91440" marT="45720" marB="45720" anchor="ctr">
                    <a:solidFill>
                      <a:srgbClr val="FFFFFF"/>
                    </a:solidFill>
                  </a:tcPr>
                </a:tc>
              </a:tr>
              <a:tr h="590550">
                <a:tc>
                  <a:txBody>
                    <a:bodyPr/>
                    <a:lstStyle/>
                    <a:p>
                      <a:pPr algn="ctr"/>
                      <a:r>
                        <a:rPr sz="2025" b="0">
                          <a:solidFill>
                            <a:srgbClr val="222222"/>
                          </a:solidFill>
                          <a:latin typeface="Noto Sans JP"/>
                          <a:ea typeface="Noto Sans JP"/>
                          <a:cs typeface="Noto Sans JP"/>
                        </a:rPr>
                        <a:t>H</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70 kg</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178 cm</a:t>
                      </a:r>
                    </a:p>
                  </a:txBody>
                  <a:tcPr marL="91440" marR="91440" marT="45720" marB="45720" anchor="ctr">
                    <a:solidFill>
                      <a:srgbClr val="F6F6F6"/>
                    </a:solidFill>
                  </a:tcPr>
                </a:tc>
              </a:tr>
              <a:tr h="590550">
                <a:tc>
                  <a:txBody>
                    <a:bodyPr/>
                    <a:lstStyle/>
                    <a:p>
                      <a:pPr algn="ctr"/>
                      <a:r>
                        <a:rPr sz="2025" b="0">
                          <a:solidFill>
                            <a:srgbClr val="222222"/>
                          </a:solidFill>
                          <a:latin typeface="Noto Sans JP"/>
                          <a:ea typeface="Noto Sans JP"/>
                          <a:cs typeface="Noto Sans JP"/>
                        </a:rPr>
                        <a:t>F</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75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173 cm</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3A7EE1B-05EE-4BB4-9DAB-DB0B7D06B82B}"/>
              </a:ext>
            </a:extLst>
          </p:cNvPr>
          <p:cNvSpPr>
            <a:spLocks xmlns:a="http://schemas.openxmlformats.org/drawingml/2006/main" noGrp="1"/>
          </p:cNvSpPr>
          <p:nvPr/>
        </p:nvSpPr>
        <p:spPr>
          <a:xfrm xmlns:a="http://schemas.openxmlformats.org/drawingml/2006/main">
            <a:off x="6829425" y="2638425"/>
            <a:ext cx="47815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X | Y = 70：</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体重70 kgを観測したときの身長</a:t>
            </a:r>
          </a:p>
          <a:p xmlns:a="http://schemas.openxmlformats.org/drawingml/2006/main">
            <a:r>
              <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同じ10人から近い体重の3人を抜粋。</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これは、条件に合う身長のばらつき</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を考えるための近傍の例。</a:t>
            </a:r>
          </a:p>
          <a:p xmlns:a="http://schemas.openxmlformats.org/drawingml/2006/main">
            <a:r>
              <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厳密な条件付き分布の計算結果ではない。</a:t>
            </a:r>
          </a:p>
        </p:txBody>
      </p:sp>
      <p:sp>
        <p:nvSpPr>
          <p:cNvPr id="9" name="">
            <a:extLst xmlns:a="http://schemas.openxmlformats.org/drawingml/2006/main">
              <a:ext uri="{FF2B5EF4-FFF2-40B4-BE49-F238E27FC236}">
                <a16:creationId xmlns:a16="http://schemas.microsoft.com/office/drawing/2014/main" id="{B95B431E-6228-4953-89B9-178AFEC66D4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DB0801C-8B94-4C9B-942C-F750979F57F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同じ10人の全体から依存を推定し、70 kgを条件に身長を生成する</a:t>
            </a:r>
          </a:p>
        </p:txBody>
      </p:sp>
    </p:spTree>
    <p:extLst>
      <p:ext uri="{BB962C8B-B14F-4D97-AF65-F5344CB8AC3E}">
        <p14:creationId xmlns:p14="http://schemas.microsoft.com/office/powerpoint/2010/main" val="2984012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B773C8-40C3-471D-B129-C2759200C0C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コピュラを用いた条件付き生成</a:t>
            </a:r>
          </a:p>
        </p:txBody>
      </p:sp>
      <p:sp>
        <p:nvSpPr>
          <p:cNvPr id="2" name="">
            <a:extLst xmlns:a="http://schemas.openxmlformats.org/drawingml/2006/main">
              <a:ext uri="{FF2B5EF4-FFF2-40B4-BE49-F238E27FC236}">
                <a16:creationId xmlns:a16="http://schemas.microsoft.com/office/drawing/2014/main" id="{3F4F8A2C-5925-47BE-A167-F0BFCF69D28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122210-CC32-495F-A0EA-F2133DF6BF8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値を位置へ変え、依存モデルで条件付けしてから、元へ戻す。</a:t>
            </a:r>
          </a:p>
        </p:txBody>
      </p:sp>
      <p:sp>
        <p:nvSpPr>
          <p:cNvPr id="4" name="">
            <a:extLst xmlns:a="http://schemas.openxmlformats.org/drawingml/2006/main">
              <a:ext uri="{FF2B5EF4-FFF2-40B4-BE49-F238E27FC236}">
                <a16:creationId xmlns:a16="http://schemas.microsoft.com/office/drawing/2014/main" id="{260E96CA-6CFD-4CD4-8C5D-616AC9204D1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840ED58B-AE74-4A97-999F-0EA87710D86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15" name=""/>
          <p:cNvGraphicFramePr/>
          <p:nvPr/>
        </p:nvGraphicFramePr>
        <p:xfrm>
          <a:off xmlns:a="http://schemas.openxmlformats.org/drawingml/2006/main" x="514350" y="2095500"/>
          <a:ext xmlns:a="http://schemas.openxmlformats.org/drawingml/2006/main" cx="11163300" cy="2762250"/>
        </p:xfrm>
        <a:graphic xmlns:a="http://schemas.openxmlformats.org/drawingml/2006/main">
          <a:graphicData uri="http://schemas.openxmlformats.org/drawingml/2006/table">
            <a:tbl>
              <a:tblPr/>
              <a:tblGrid>
                <a:gridCol w="2667000"/>
                <a:gridCol w="8496300"/>
              </a:tblGrid>
              <a:tr h="690563">
                <a:tc>
                  <a:txBody>
                    <a:bodyPr/>
                    <a:lstStyle/>
                    <a:p>
                      <a:pPr algn="ctr"/>
                      <a:r>
                        <a:rPr sz="2100"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体重70 kgを残し、身長を生成する例</a:t>
                      </a:r>
                    </a:p>
                  </a:txBody>
                  <a:tcPr marL="91440" marR="91440" marT="45720" marB="45720" anchor="ctr">
                    <a:solidFill>
                      <a:srgbClr val="E7F2EC"/>
                    </a:solidFill>
                  </a:tcPr>
                </a:tc>
              </a:tr>
              <a:tr h="690563">
                <a:tc>
                  <a:txBody>
                    <a:bodyPr/>
                    <a:lstStyle/>
                    <a:p>
                      <a:pPr algn="ctr"/>
                      <a:r>
                        <a:rPr sz="2100" b="0">
                          <a:solidFill>
                            <a:srgbClr val="222222"/>
                          </a:solidFill>
                          <a:latin typeface="Noto Sans JP"/>
                          <a:ea typeface="Noto Sans JP"/>
                          <a:cs typeface="Noto Sans JP"/>
                        </a:rPr>
                        <a:t>条件を位置へ変換</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v = F̂ᵧ(70) = 7 / 10 = 0.7</a:t>
                      </a:r>
                    </a:p>
                  </a:txBody>
                  <a:tcPr marL="91440" marR="91440" marT="45720" marB="45720" anchor="ctr">
                    <a:solidFill>
                      <a:srgbClr val="FFFFFF"/>
                    </a:solidFill>
                  </a:tcPr>
                </a:tc>
              </a:tr>
              <a:tr h="690563">
                <a:tc>
                  <a:txBody>
                    <a:bodyPr/>
                    <a:lstStyle/>
                    <a:p>
                      <a:pPr algn="ctr"/>
                      <a:r>
                        <a:rPr sz="2100" b="0">
                          <a:solidFill>
                            <a:srgbClr val="222222"/>
                          </a:solidFill>
                          <a:latin typeface="Noto Sans JP"/>
                          <a:ea typeface="Noto Sans JP"/>
                          <a:cs typeface="Noto Sans JP"/>
                        </a:rPr>
                        <a:t>条件付きで位置を生成</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V = 0.7 の条件下で、身長の位置 U を生成</a:t>
                      </a:r>
                    </a:p>
                  </a:txBody>
                  <a:tcPr marL="91440" marR="91440" marT="45720" marB="45720" anchor="ctr">
                    <a:solidFill>
                      <a:srgbClr val="F6F6F6"/>
                    </a:solidFill>
                  </a:tcPr>
                </a:tc>
              </a:tr>
              <a:tr h="690563">
                <a:tc>
                  <a:txBody>
                    <a:bodyPr/>
                    <a:lstStyle/>
                    <a:p>
                      <a:pPr algn="ctr"/>
                      <a:r>
                        <a:rPr sz="2100" b="0">
                          <a:solidFill>
                            <a:srgbClr val="222222"/>
                          </a:solidFill>
                          <a:latin typeface="Noto Sans JP"/>
                          <a:ea typeface="Noto Sans JP"/>
                          <a:cs typeface="Noto Sans JP"/>
                        </a:rPr>
                        <a:t>元の単位へ変換</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X = F̂ₓ⁻¹(U) で、身長cmへ戻す</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199E15A-7D95-4DD4-B4C7-AEA22E959679}"/>
              </a:ext>
            </a:extLst>
          </p:cNvPr>
          <p:cNvSpPr>
            <a:spLocks xmlns:a="http://schemas.openxmlformats.org/drawingml/2006/main" noGrp="1"/>
          </p:cNvSpPr>
          <p:nvPr/>
        </p:nvSpPr>
        <p:spPr>
          <a:xfrm xmlns:a="http://schemas.openxmlformats.org/drawingml/2006/main">
            <a:off x="619125" y="50101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使った式：累積分布変換と逆累積分布変換。</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中央の生成方法は、選ぶコピュラの種類によって変わる。</a:t>
            </a:r>
          </a:p>
        </p:txBody>
      </p:sp>
      <p:sp>
        <p:nvSpPr>
          <p:cNvPr id="8" name="">
            <a:extLst xmlns:a="http://schemas.openxmlformats.org/drawingml/2006/main">
              <a:ext uri="{FF2B5EF4-FFF2-40B4-BE49-F238E27FC236}">
                <a16:creationId xmlns:a16="http://schemas.microsoft.com/office/drawing/2014/main" id="{54654E6E-5962-40ED-B642-65068C56BDF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CF5713-7414-434F-BEC5-0792067A778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条件付きの位置の生成が、既存の無作為な列置換との違い</a:t>
            </a:r>
          </a:p>
        </p:txBody>
      </p:sp>
    </p:spTree>
    <p:extLst>
      <p:ext uri="{BB962C8B-B14F-4D97-AF65-F5344CB8AC3E}">
        <p14:creationId xmlns:p14="http://schemas.microsoft.com/office/powerpoint/2010/main" val="179371955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793EEB-B406-4C43-9EEC-D0BED5B5F64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コピュラの説明のまとめ</a:t>
            </a:r>
          </a:p>
        </p:txBody>
      </p:sp>
      <p:sp>
        <p:nvSpPr>
          <p:cNvPr id="2" name="">
            <a:extLst xmlns:a="http://schemas.openxmlformats.org/drawingml/2006/main">
              <a:ext uri="{FF2B5EF4-FFF2-40B4-BE49-F238E27FC236}">
                <a16:creationId xmlns:a16="http://schemas.microsoft.com/office/drawing/2014/main" id="{11B4FAC6-726D-4FAE-BD5F-F7C4E040577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BAFA7A-0B64-416C-84C7-D24949AFBF3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分布の形を各列で扱い、組合せの関係をコピュラで扱う。</a:t>
            </a:r>
          </a:p>
        </p:txBody>
      </p:sp>
      <p:sp>
        <p:nvSpPr>
          <p:cNvPr id="4" name="">
            <a:extLst xmlns:a="http://schemas.openxmlformats.org/drawingml/2006/main">
              <a:ext uri="{FF2B5EF4-FFF2-40B4-BE49-F238E27FC236}">
                <a16:creationId xmlns:a16="http://schemas.microsoft.com/office/drawing/2014/main" id="{C2EADB0C-14BD-42AE-BE55-B8C7E931F92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1B9BBCB2-4836-49DF-BE47-E0A4C732C67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graphicFrame>
        <p:nvGraphicFramePr>
          <p:cNvPr id="14" name=""/>
          <p:cNvGraphicFramePr/>
          <p:nvPr/>
        </p:nvGraphicFramePr>
        <p:xfrm>
          <a:off xmlns:a="http://schemas.openxmlformats.org/drawingml/2006/main" x="514350" y="2095500"/>
          <a:ext xmlns:a="http://schemas.openxmlformats.org/drawingml/2006/main" cx="11163300" cy="3000375"/>
        </p:xfrm>
        <a:graphic xmlns:a="http://schemas.openxmlformats.org/drawingml/2006/main">
          <a:graphicData uri="http://schemas.openxmlformats.org/drawingml/2006/table">
            <a:tbl>
              <a:tblPr/>
              <a:tblGrid>
                <a:gridCol w="3721100"/>
                <a:gridCol w="3721100"/>
                <a:gridCol w="3721100"/>
              </a:tblGrid>
              <a:tr h="750094">
                <a:tc>
                  <a:txBody>
                    <a:bodyPr/>
                    <a:lstStyle/>
                    <a:p>
                      <a:pPr algn="ctr"/>
                      <a:r>
                        <a:rPr sz="2025" b="1">
                          <a:solidFill>
                            <a:srgbClr val="2E7D5B"/>
                          </a:solidFill>
                          <a:latin typeface="Noto Sans JP"/>
                          <a:ea typeface="Noto Sans JP"/>
                          <a:cs typeface="Noto Sans JP"/>
                        </a:rPr>
                        <a:t>要素</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役割</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身長・体重の例</a:t>
                      </a:r>
                    </a:p>
                  </a:txBody>
                  <a:tcPr marL="91440" marR="91440" marT="45720" marB="45720" anchor="ctr">
                    <a:solidFill>
                      <a:srgbClr val="E7F2EC"/>
                    </a:solidFill>
                  </a:tcPr>
                </a:tc>
              </a:tr>
              <a:tr h="750094">
                <a:tc>
                  <a:txBody>
                    <a:bodyPr/>
                    <a:lstStyle/>
                    <a:p>
                      <a:pPr algn="ctr"/>
                      <a:r>
                        <a:rPr sz="2025" b="0">
                          <a:solidFill>
                            <a:srgbClr val="222222"/>
                          </a:solidFill>
                          <a:latin typeface="Noto Sans JP"/>
                          <a:ea typeface="Noto Sans JP"/>
                          <a:cs typeface="Noto Sans JP"/>
                        </a:rPr>
                        <a:t>周辺分布</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各変数の値の出現頻度</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身長の分布、体重の分布</a:t>
                      </a:r>
                    </a:p>
                  </a:txBody>
                  <a:tcPr marL="91440" marR="91440" marT="45720" marB="45720" anchor="ctr">
                    <a:solidFill>
                      <a:srgbClr val="FFFFFF"/>
                    </a:solidFill>
                  </a:tcPr>
                </a:tc>
              </a:tr>
              <a:tr h="750094">
                <a:tc>
                  <a:txBody>
                    <a:bodyPr/>
                    <a:lstStyle/>
                    <a:p>
                      <a:pPr algn="ctr"/>
                      <a:r>
                        <a:rPr sz="2025" b="0">
                          <a:solidFill>
                            <a:srgbClr val="222222"/>
                          </a:solidFill>
                          <a:latin typeface="Noto Sans JP"/>
                          <a:ea typeface="Noto Sans JP"/>
                          <a:cs typeface="Noto Sans JP"/>
                        </a:rPr>
                        <a:t>コピュラ</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確率位置どうしの依存</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高い位置と重い位置の結びつき</a:t>
                      </a:r>
                    </a:p>
                  </a:txBody>
                  <a:tcPr marL="91440" marR="91440" marT="45720" marB="45720" anchor="ctr">
                    <a:solidFill>
                      <a:srgbClr val="F6F6F6"/>
                    </a:solidFill>
                  </a:tcPr>
                </a:tc>
              </a:tr>
              <a:tr h="750094">
                <a:tc>
                  <a:txBody>
                    <a:bodyPr/>
                    <a:lstStyle/>
                    <a:p>
                      <a:pPr algn="ctr"/>
                      <a:r>
                        <a:rPr sz="20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観測値に合う値を生成</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70 kgを残して身長を生成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05A33FD-8EEA-4BD3-A060-777ABBB1EFC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C0F3452-6410-4AFE-AFB9-BB7BE3E388E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コピュラにはいくつか種類があり、表せる依存の形が異なる</a:t>
            </a:r>
          </a:p>
        </p:txBody>
      </p:sp>
    </p:spTree>
    <p:extLst>
      <p:ext uri="{BB962C8B-B14F-4D97-AF65-F5344CB8AC3E}">
        <p14:creationId xmlns:p14="http://schemas.microsoft.com/office/powerpoint/2010/main" val="12018619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F6049F-79A8-4BB6-A873-76431053A7C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Gaussian copulaとStudent-t copula</a:t>
            </a:r>
          </a:p>
        </p:txBody>
      </p:sp>
      <p:sp>
        <p:nvSpPr>
          <p:cNvPr id="2" name="">
            <a:extLst xmlns:a="http://schemas.openxmlformats.org/drawingml/2006/main">
              <a:ext uri="{FF2B5EF4-FFF2-40B4-BE49-F238E27FC236}">
                <a16:creationId xmlns:a16="http://schemas.microsoft.com/office/drawing/2014/main" id="{39284FD0-8228-4903-8BCC-1CF8823E1BF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771565-9C3A-4147-AB19-1C18454DB65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どちらも、変換した空間で多変量分布を用いるコピュラ。</a:t>
            </a:r>
          </a:p>
        </p:txBody>
      </p:sp>
      <p:sp>
        <p:nvSpPr>
          <p:cNvPr id="4" name="">
            <a:extLst xmlns:a="http://schemas.openxmlformats.org/drawingml/2006/main">
              <a:ext uri="{FF2B5EF4-FFF2-40B4-BE49-F238E27FC236}">
                <a16:creationId xmlns:a16="http://schemas.microsoft.com/office/drawing/2014/main" id="{E5DD6537-B925-4131-9B51-B0D35819D24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F73005E-7102-41D4-8036-EAA7B3A688B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363D60A3-83ED-4D98-A298-54CAE2BBE911}"/>
              </a:ext>
            </a:extLst>
          </p:cNvPr>
          <p:cNvSpPr>
            <a:spLocks xmlns:a="http://schemas.openxmlformats.org/drawingml/2006/main" noGrp="1"/>
          </p:cNvSpPr>
          <p:nvPr/>
        </p:nvSpPr>
        <p:spPr>
          <a:xfrm xmlns:a="http://schemas.openxmlformats.org/drawingml/2006/main">
            <a:off x="619125" y="19050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Gaussian copula（ガウシアン・コピュラ）の式</a:t>
            </a:r>
          </a:p>
        </p:txBody>
      </p:sp>
      <p:sp>
        <p:nvSpPr>
          <p:cNvPr id="7" name="">
            <a:extLst xmlns:a="http://schemas.openxmlformats.org/drawingml/2006/main">
              <a:ext uri="{FF2B5EF4-FFF2-40B4-BE49-F238E27FC236}">
                <a16:creationId xmlns:a16="http://schemas.microsoft.com/office/drawing/2014/main" id="{CE26C8D0-845E-4C21-9291-648A797D809C}"/>
              </a:ext>
            </a:extLst>
          </p:cNvPr>
          <p:cNvSpPr>
            <a:spLocks xmlns:a="http://schemas.openxmlformats.org/drawingml/2006/main" noGrp="1"/>
          </p:cNvSpPr>
          <p:nvPr/>
        </p:nvSpPr>
        <p:spPr>
          <a:xfrm xmlns:a="http://schemas.openxmlformats.org/drawingml/2006/main">
            <a:off x="514350" y="23050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1593169-5E5E-4500-AA98-670831B98232}"/>
              </a:ext>
            </a:extLst>
          </p:cNvPr>
          <p:cNvSpPr>
            <a:spLocks xmlns:a="http://schemas.openxmlformats.org/drawingml/2006/main" noGrp="1"/>
          </p:cNvSpPr>
          <p:nvPr/>
        </p:nvSpPr>
        <p:spPr>
          <a:xfrm xmlns:a="http://schemas.openxmlformats.org/drawingml/2006/main">
            <a:off x="704850" y="24003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Cρ(u, v) = Φρ(Φ⁻¹(u), Φ⁻¹(v))</a:t>
            </a:r>
          </a:p>
        </p:txBody>
      </p:sp>
      <p:sp>
        <p:nvSpPr>
          <p:cNvPr id="9" name="">
            <a:extLst xmlns:a="http://schemas.openxmlformats.org/drawingml/2006/main">
              <a:ext uri="{FF2B5EF4-FFF2-40B4-BE49-F238E27FC236}">
                <a16:creationId xmlns:a16="http://schemas.microsoft.com/office/drawing/2014/main" id="{521BAB48-8DB6-47EE-8ACF-18133579C736}"/>
              </a:ext>
            </a:extLst>
          </p:cNvPr>
          <p:cNvSpPr>
            <a:spLocks xmlns:a="http://schemas.openxmlformats.org/drawingml/2006/main" noGrp="1"/>
          </p:cNvSpPr>
          <p:nvPr/>
        </p:nvSpPr>
        <p:spPr>
          <a:xfrm xmlns:a="http://schemas.openxmlformats.org/drawingml/2006/main">
            <a:off x="666750" y="34575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Φ：標準正規CDF　Φ⁻¹：位置を正規の値に戻す逆CDF</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Φρ：相関ρを持つ二変量標準正規CDF。ρで依存を表す。</a:t>
            </a:r>
          </a:p>
        </p:txBody>
      </p:sp>
      <p:sp>
        <p:nvSpPr>
          <p:cNvPr id="10" name="">
            <a:extLst xmlns:a="http://schemas.openxmlformats.org/drawingml/2006/main">
              <a:ext uri="{FF2B5EF4-FFF2-40B4-BE49-F238E27FC236}">
                <a16:creationId xmlns:a16="http://schemas.microsoft.com/office/drawing/2014/main" id="{567EE684-6A73-46F6-A26D-6A05BE0E6304}"/>
              </a:ext>
            </a:extLst>
          </p:cNvPr>
          <p:cNvSpPr>
            <a:spLocks xmlns:a="http://schemas.openxmlformats.org/drawingml/2006/main" noGrp="1"/>
          </p:cNvSpPr>
          <p:nvPr/>
        </p:nvSpPr>
        <p:spPr>
          <a:xfrm xmlns:a="http://schemas.openxmlformats.org/drawingml/2006/main">
            <a:off x="666750" y="442912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Student-t copula</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正規分布の代わりにt分布を使う。上下両側の極端な値が</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同時に出る依存を表せる。相関に加え自由度の推定が必要。</a:t>
            </a:r>
          </a:p>
        </p:txBody>
      </p:sp>
      <p:sp>
        <p:nvSpPr>
          <p:cNvPr id="11" name="">
            <a:extLst xmlns:a="http://schemas.openxmlformats.org/drawingml/2006/main">
              <a:ext uri="{FF2B5EF4-FFF2-40B4-BE49-F238E27FC236}">
                <a16:creationId xmlns:a16="http://schemas.microsoft.com/office/drawing/2014/main" id="{07B6E6E0-1355-4F8A-A4AF-E055B125304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1497E32-B78F-459C-B7D6-9413E4B8932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Gaussianは条件付き計算が容易。Student-tは両側の裾依存を扱える</a:t>
            </a:r>
          </a:p>
        </p:txBody>
      </p:sp>
    </p:spTree>
    <p:extLst>
      <p:ext uri="{BB962C8B-B14F-4D97-AF65-F5344CB8AC3E}">
        <p14:creationId xmlns:p14="http://schemas.microsoft.com/office/powerpoint/2010/main" val="9274585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8AF70E-07CD-4EDC-B802-2F46C4F697D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Clayton・Gumbel・Joe copula</a:t>
            </a:r>
          </a:p>
        </p:txBody>
      </p:sp>
      <p:sp>
        <p:nvSpPr>
          <p:cNvPr id="2" name="">
            <a:extLst xmlns:a="http://schemas.openxmlformats.org/drawingml/2006/main">
              <a:ext uri="{FF2B5EF4-FFF2-40B4-BE49-F238E27FC236}">
                <a16:creationId xmlns:a16="http://schemas.microsoft.com/office/drawing/2014/main" id="{69BD5BA1-EED9-48EA-A87A-22E1F46CD56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4ED0B5-6465-456C-A594-BDD5286589D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小さい側、大きい側など、特定の側で強い依存を表す。</a:t>
            </a:r>
          </a:p>
        </p:txBody>
      </p:sp>
      <p:sp>
        <p:nvSpPr>
          <p:cNvPr id="4" name="">
            <a:extLst xmlns:a="http://schemas.openxmlformats.org/drawingml/2006/main">
              <a:ext uri="{FF2B5EF4-FFF2-40B4-BE49-F238E27FC236}">
                <a16:creationId xmlns:a16="http://schemas.microsoft.com/office/drawing/2014/main" id="{A50F2E81-496E-4E30-A60C-98B480ED271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397F608-E155-42A4-9E36-8E9B1E29B4F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graphicFrame>
        <p:nvGraphicFramePr>
          <p:cNvPr id="14" name=""/>
          <p:cNvGraphicFramePr/>
          <p:nvPr/>
        </p:nvGraphicFramePr>
        <p:xfrm>
          <a:off xmlns:a="http://schemas.openxmlformats.org/drawingml/2006/main" x="514350" y="2105025"/>
          <a:ext xmlns:a="http://schemas.openxmlformats.org/drawingml/2006/main" cx="11163300" cy="3048000"/>
        </p:xfrm>
        <a:graphic xmlns:a="http://schemas.openxmlformats.org/drawingml/2006/main">
          <a:graphicData uri="http://schemas.openxmlformats.org/drawingml/2006/table">
            <a:tbl>
              <a:tblPr/>
              <a:tblGrid>
                <a:gridCol w="3721100"/>
                <a:gridCol w="3721100"/>
                <a:gridCol w="3721100"/>
              </a:tblGrid>
              <a:tr h="762000">
                <a:tc>
                  <a:txBody>
                    <a:bodyPr/>
                    <a:lstStyle/>
                    <a:p>
                      <a:pPr algn="ctr"/>
                      <a:r>
                        <a:rPr sz="195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主な特徴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依存の例</a:t>
                      </a:r>
                    </a:p>
                  </a:txBody>
                  <a:tcPr marL="91440" marR="91440" marT="45720" marB="45720" anchor="ctr">
                    <a:solidFill>
                      <a:srgbClr val="E7F2EC"/>
                    </a:solidFill>
                  </a:tcPr>
                </a:tc>
              </a:tr>
              <a:tr h="762000">
                <a:tc>
                  <a:txBody>
                    <a:bodyPr/>
                    <a:lstStyle/>
                    <a:p>
                      <a:pPr algn="ctr"/>
                      <a:r>
                        <a:rPr sz="1950" b="0">
                          <a:solidFill>
                            <a:srgbClr val="222222"/>
                          </a:solidFill>
                          <a:latin typeface="Noto Sans JP"/>
                          <a:ea typeface="Noto Sans JP"/>
                          <a:cs typeface="Noto Sans JP"/>
                        </a:rPr>
                        <a:t>Clayton</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小さい値どうしの共発生</a:t>
                      </a:r>
                    </a:p>
                    <a:p>
                      <a:pPr algn="ctr"/>
                      <a:r>
                        <a:rPr sz="1950" b="0">
                          <a:solidFill>
                            <a:srgbClr val="222222"/>
                          </a:solidFill>
                          <a:latin typeface="Noto Sans JP"/>
                          <a:ea typeface="Noto Sans JP"/>
                          <a:cs typeface="Noto Sans JP"/>
                        </a:rPr>
                        <a:t>下側の裾依存</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両方の指標が低い状態で</a:t>
                      </a:r>
                    </a:p>
                    <a:p>
                      <a:pPr algn="ctr"/>
                      <a:r>
                        <a:rPr sz="1950" b="0">
                          <a:solidFill>
                            <a:srgbClr val="222222"/>
                          </a:solidFill>
                          <a:latin typeface="Noto Sans JP"/>
                          <a:ea typeface="Noto Sans JP"/>
                          <a:cs typeface="Noto Sans JP"/>
                        </a:rPr>
                        <a:t>特に強く連動する</a:t>
                      </a:r>
                    </a:p>
                  </a:txBody>
                  <a:tcPr marL="91440" marR="91440" marT="45720" marB="45720" anchor="ctr">
                    <a:solidFill>
                      <a:srgbClr val="FFFFFF"/>
                    </a:solidFill>
                  </a:tcPr>
                </a:tc>
              </a:tr>
              <a:tr h="762000">
                <a:tc>
                  <a:txBody>
                    <a:bodyPr/>
                    <a:lstStyle/>
                    <a:p>
                      <a:pPr algn="ctr"/>
                      <a:r>
                        <a:rPr sz="1950" b="0">
                          <a:solidFill>
                            <a:srgbClr val="222222"/>
                          </a:solidFill>
                          <a:latin typeface="Noto Sans JP"/>
                          <a:ea typeface="Noto Sans JP"/>
                          <a:cs typeface="Noto Sans JP"/>
                        </a:rPr>
                        <a:t>Gumbel</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大きい値どうしの共発生</a:t>
                      </a:r>
                    </a:p>
                    <a:p>
                      <a:pPr algn="ctr"/>
                      <a:r>
                        <a:rPr sz="1950" b="0">
                          <a:solidFill>
                            <a:srgbClr val="222222"/>
                          </a:solidFill>
                          <a:latin typeface="Noto Sans JP"/>
                          <a:ea typeface="Noto Sans JP"/>
                          <a:cs typeface="Noto Sans JP"/>
                        </a:rPr>
                        <a:t>上側の裾依存</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需要と負荷が非常に高い</a:t>
                      </a:r>
                    </a:p>
                    <a:p>
                      <a:pPr algn="ctr"/>
                      <a:r>
                        <a:rPr sz="1950" b="0">
                          <a:solidFill>
                            <a:srgbClr val="222222"/>
                          </a:solidFill>
                          <a:latin typeface="Noto Sans JP"/>
                          <a:ea typeface="Noto Sans JP"/>
                          <a:cs typeface="Noto Sans JP"/>
                        </a:rPr>
                        <a:t>状態で連動する</a:t>
                      </a:r>
                    </a:p>
                  </a:txBody>
                  <a:tcPr marL="91440" marR="91440" marT="45720" marB="45720" anchor="ctr">
                    <a:solidFill>
                      <a:srgbClr val="F6F6F6"/>
                    </a:solidFill>
                  </a:tcPr>
                </a:tc>
              </a:tr>
              <a:tr h="762000">
                <a:tc>
                  <a:txBody>
                    <a:bodyPr/>
                    <a:lstStyle/>
                    <a:p>
                      <a:pPr algn="ctr"/>
                      <a:r>
                        <a:rPr sz="1950" b="0">
                          <a:solidFill>
                            <a:srgbClr val="222222"/>
                          </a:solidFill>
                          <a:latin typeface="Noto Sans JP"/>
                          <a:ea typeface="Noto Sans JP"/>
                          <a:cs typeface="Noto Sans JP"/>
                        </a:rPr>
                        <a:t>Joe</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上側の裾依存</a:t>
                      </a:r>
                    </a:p>
                    <a:p>
                      <a:pPr algn="ctr"/>
                      <a:r>
                        <a:rPr sz="1950" b="0">
                          <a:solidFill>
                            <a:srgbClr val="222222"/>
                          </a:solidFill>
                          <a:latin typeface="Noto Sans JP"/>
                          <a:ea typeface="Noto Sans JP"/>
                          <a:cs typeface="Noto Sans JP"/>
                        </a:rPr>
                        <a:t>Gumbelとは内部の形が異なる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高い位置の共発生を</a:t>
                      </a:r>
                    </a:p>
                    <a:p>
                      <a:pPr algn="ctr"/>
                      <a:r>
                        <a:rPr sz="1950" b="0">
                          <a:solidFill>
                            <a:srgbClr val="222222"/>
                          </a:solidFill>
                          <a:latin typeface="Noto Sans JP"/>
                          <a:ea typeface="Noto Sans JP"/>
                          <a:cs typeface="Noto Sans JP"/>
                        </a:rPr>
                        <a:t>別の形でモデル化する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6E49097-8E3E-4DD4-9B50-B239625BE5E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B428299-E320-4815-9DAC-01AA001F677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裾とは分布の端の領域。どちら側の共発生を重視するかで選ぶ</a:t>
            </a:r>
          </a:p>
        </p:txBody>
      </p:sp>
    </p:spTree>
    <p:extLst>
      <p:ext uri="{BB962C8B-B14F-4D97-AF65-F5344CB8AC3E}">
        <p14:creationId xmlns:p14="http://schemas.microsoft.com/office/powerpoint/2010/main" val="195885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EB9B4D-6C05-4CEC-A16E-1F782B51881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Frank・Vine・ノンパラメトリック・コピュラ</a:t>
            </a:r>
          </a:p>
        </p:txBody>
      </p:sp>
      <p:sp>
        <p:nvSpPr>
          <p:cNvPr id="2" name="">
            <a:extLst xmlns:a="http://schemas.openxmlformats.org/drawingml/2006/main">
              <a:ext uri="{FF2B5EF4-FFF2-40B4-BE49-F238E27FC236}">
                <a16:creationId xmlns:a16="http://schemas.microsoft.com/office/drawing/2014/main" id="{F3E96796-C594-471B-AD9A-CD432FF5352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1D9C9C-CB37-4239-99A2-53FC322CF22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依存の対称性や、変数の組ごとの違いを扱う候補。</a:t>
            </a:r>
          </a:p>
        </p:txBody>
      </p:sp>
      <p:sp>
        <p:nvSpPr>
          <p:cNvPr id="4" name="">
            <a:extLst xmlns:a="http://schemas.openxmlformats.org/drawingml/2006/main">
              <a:ext uri="{FF2B5EF4-FFF2-40B4-BE49-F238E27FC236}">
                <a16:creationId xmlns:a16="http://schemas.microsoft.com/office/drawing/2014/main" id="{955C4DA3-52A7-4CF0-8FCE-22E59C3A6AE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5CD0D2A-8C98-4D21-B3D6-B0EC7358F82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4" name=""/>
          <p:cNvGraphicFramePr/>
          <p:nvPr/>
        </p:nvGraphicFramePr>
        <p:xfrm>
          <a:off xmlns:a="http://schemas.openxmlformats.org/drawingml/2006/main" x="514350" y="2095500"/>
          <a:ext xmlns:a="http://schemas.openxmlformats.org/drawingml/2006/main" cx="11163300" cy="3076575"/>
        </p:xfrm>
        <a:graphic xmlns:a="http://schemas.openxmlformats.org/drawingml/2006/main">
          <a:graphicData uri="http://schemas.openxmlformats.org/drawingml/2006/table">
            <a:tbl>
              <a:tblPr/>
              <a:tblGrid>
                <a:gridCol w="3721100"/>
                <a:gridCol w="3721100"/>
                <a:gridCol w="3721100"/>
              </a:tblGrid>
              <a:tr h="769144">
                <a:tc>
                  <a:txBody>
                    <a:bodyPr/>
                    <a:lstStyle/>
                    <a:p>
                      <a:pPr algn="ctr"/>
                      <a:r>
                        <a:rPr sz="1950" b="1">
                          <a:solidFill>
                            <a:srgbClr val="2E7D5B"/>
                          </a:solidFill>
                          <a:latin typeface="Noto Sans JP"/>
                          <a:ea typeface="Noto Sans JP"/>
                          <a:cs typeface="Noto Sans JP"/>
                        </a:rPr>
                        <a:t>種類・構成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推定・生成の注意点</a:t>
                      </a:r>
                    </a:p>
                  </a:txBody>
                  <a:tcPr marL="91440" marR="91440" marT="45720" marB="45720" anchor="ctr">
                    <a:solidFill>
                      <a:srgbClr val="E7F2EC"/>
                    </a:solidFill>
                  </a:tcPr>
                </a:tc>
              </a:tr>
              <a:tr h="769144">
                <a:tc>
                  <a:txBody>
                    <a:bodyPr/>
                    <a:lstStyle/>
                    <a:p>
                      <a:pPr algn="ctr"/>
                      <a:r>
                        <a:rPr sz="1950" b="0">
                          <a:solidFill>
                            <a:srgbClr val="222222"/>
                          </a:solidFill>
                          <a:latin typeface="Noto Sans JP"/>
                          <a:ea typeface="Noto Sans JP"/>
                          <a:cs typeface="Noto Sans JP"/>
                        </a:rPr>
                        <a:t>Frank</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対称な依存。上下の</a:t>
                      </a:r>
                    </a:p>
                    <a:p>
                      <a:pPr algn="ctr"/>
                      <a:r>
                        <a:rPr sz="1950" b="0">
                          <a:solidFill>
                            <a:srgbClr val="222222"/>
                          </a:solidFill>
                          <a:latin typeface="Noto Sans JP"/>
                          <a:ea typeface="Noto Sans JP"/>
                          <a:cs typeface="Noto Sans JP"/>
                        </a:rPr>
                        <a:t>裾依存係数は0</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裾依存が0でも、</a:t>
                      </a:r>
                    </a:p>
                    <a:p>
                      <a:pPr algn="ctr"/>
                      <a:r>
                        <a:rPr sz="1950" b="0">
                          <a:solidFill>
                            <a:srgbClr val="222222"/>
                          </a:solidFill>
                          <a:latin typeface="Noto Sans JP"/>
                          <a:ea typeface="Noto Sans JP"/>
                          <a:cs typeface="Noto Sans JP"/>
                        </a:rPr>
                        <a:t>独立という意味ではない</a:t>
                      </a:r>
                    </a:p>
                  </a:txBody>
                  <a:tcPr marL="91440" marR="91440" marT="45720" marB="45720" anchor="ctr">
                    <a:solidFill>
                      <a:srgbClr val="FFFFFF"/>
                    </a:solidFill>
                  </a:tcPr>
                </a:tc>
              </a:tr>
              <a:tr h="769144">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二変量のコピュラを組合せ、</a:t>
                      </a:r>
                    </a:p>
                    <a:p>
                      <a:pPr algn="ctr"/>
                      <a:r>
                        <a:rPr sz="1950" b="0">
                          <a:solidFill>
                            <a:srgbClr val="222222"/>
                          </a:solidFill>
                          <a:latin typeface="Noto Sans JP"/>
                          <a:ea typeface="Noto Sans JP"/>
                          <a:cs typeface="Noto Sans JP"/>
                        </a:rPr>
                        <a:t>ペアごとに異なる依存を表す</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組合せ・種類・パラメータを</a:t>
                      </a:r>
                    </a:p>
                    <a:p>
                      <a:pPr algn="ctr"/>
                      <a:r>
                        <a:rPr sz="1950" b="0">
                          <a:solidFill>
                            <a:srgbClr val="222222"/>
                          </a:solidFill>
                          <a:latin typeface="Noto Sans JP"/>
                          <a:ea typeface="Noto Sans JP"/>
                          <a:cs typeface="Noto Sans JP"/>
                        </a:rPr>
                        <a:t>選ぶ必要がある</a:t>
                      </a:r>
                    </a:p>
                  </a:txBody>
                  <a:tcPr marL="91440" marR="91440" marT="45720" marB="45720" anchor="ctr">
                    <a:solidFill>
                      <a:srgbClr val="F6F6F6"/>
                    </a:solidFill>
                  </a:tcPr>
                </a:tc>
              </a:tr>
              <a:tr h="769144">
                <a:tc>
                  <a:txBody>
                    <a:bodyPr/>
                    <a:lstStyle/>
                    <a:p>
                      <a:pPr algn="ctr"/>
                      <a:r>
                        <a:rPr sz="1950" b="0">
                          <a:solidFill>
                            <a:srgbClr val="222222"/>
                          </a:solidFill>
                          <a:latin typeface="Noto Sans JP"/>
                          <a:ea typeface="Noto Sans JP"/>
                          <a:cs typeface="Noto Sans JP"/>
                        </a:rPr>
                        <a:t>ノンパラメトリック</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特定の一族に固定せず、</a:t>
                      </a:r>
                    </a:p>
                    <a:p>
                      <a:pPr algn="ctr"/>
                      <a:r>
                        <a:rPr sz="1950" b="0">
                          <a:solidFill>
                            <a:srgbClr val="222222"/>
                          </a:solidFill>
                          <a:latin typeface="Noto Sans JP"/>
                          <a:ea typeface="Noto Sans JP"/>
                          <a:cs typeface="Noto Sans JP"/>
                        </a:rPr>
                        <a:t>データから柔軟に推定</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高次元や少数データでの</a:t>
                      </a:r>
                    </a:p>
                    <a:p>
                      <a:pPr algn="ctr"/>
                      <a:r>
                        <a:rPr sz="1950" b="0">
                          <a:solidFill>
                            <a:srgbClr val="222222"/>
                          </a:solidFill>
                          <a:latin typeface="Noto Sans JP"/>
                          <a:ea typeface="Noto Sans JP"/>
                          <a:cs typeface="Noto Sans JP"/>
                        </a:rPr>
                        <a:t>推定・条件付けが課題</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E516276-0755-4974-8548-52EC3C55B2A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CD085D-8EEF-43C9-BF80-48FFED051BA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柔軟なモデルほど、必要なデータ量と推定の負担も検討する</a:t>
            </a:r>
          </a:p>
        </p:txBody>
      </p:sp>
    </p:spTree>
    <p:extLst>
      <p:ext uri="{BB962C8B-B14F-4D97-AF65-F5344CB8AC3E}">
        <p14:creationId xmlns:p14="http://schemas.microsoft.com/office/powerpoint/2010/main" val="9356800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7EFBB8-FF6C-44EF-8C2F-ED078FA4CD2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初期実験で用いるコピュラ</a:t>
            </a:r>
          </a:p>
        </p:txBody>
      </p:sp>
      <p:sp>
        <p:nvSpPr>
          <p:cNvPr id="2" name="">
            <a:extLst xmlns:a="http://schemas.openxmlformats.org/drawingml/2006/main">
              <a:ext uri="{FF2B5EF4-FFF2-40B4-BE49-F238E27FC236}">
                <a16:creationId xmlns:a16="http://schemas.microsoft.com/office/drawing/2014/main" id="{288CE1A4-D752-41E0-8941-7C345DDAC93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FE4677-EDCD-420D-91CD-BC6A61B7FAC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まずGaussian copulaを、VIMEの条件付き置換器に用いる。</a:t>
            </a:r>
          </a:p>
        </p:txBody>
      </p:sp>
      <p:sp>
        <p:nvSpPr>
          <p:cNvPr id="4" name="">
            <a:extLst xmlns:a="http://schemas.openxmlformats.org/drawingml/2006/main">
              <a:ext uri="{FF2B5EF4-FFF2-40B4-BE49-F238E27FC236}">
                <a16:creationId xmlns:a16="http://schemas.microsoft.com/office/drawing/2014/main" id="{C87EDC56-B026-4544-8E36-F60FE60E858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3791D02-B720-4624-B17B-1F1D6E09C56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415A7EB6-58BD-4C4D-8C2D-E80DE6D8EC8B}"/>
              </a:ext>
            </a:extLst>
          </p:cNvPr>
          <p:cNvSpPr>
            <a:spLocks xmlns:a="http://schemas.openxmlformats.org/drawingml/2006/main" noGrp="1"/>
          </p:cNvSpPr>
          <p:nvPr/>
        </p:nvSpPr>
        <p:spPr>
          <a:xfrm xmlns:a="http://schemas.openxmlformats.org/drawingml/2006/main">
            <a:off x="619125" y="1933575"/>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選択理由：多変量の条件付き分布を計算しやすく、</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既存の列置換と、同じ学習条件で比較できる。</a:t>
            </a:r>
          </a:p>
        </p:txBody>
      </p:sp>
      <p:sp>
        <p:nvSpPr>
          <p:cNvPr id="7" name="">
            <a:extLst xmlns:a="http://schemas.openxmlformats.org/drawingml/2006/main">
              <a:ext uri="{FF2B5EF4-FFF2-40B4-BE49-F238E27FC236}">
                <a16:creationId xmlns:a16="http://schemas.microsoft.com/office/drawing/2014/main" id="{B3553A85-8F93-48B7-A3A6-C63B265A5C81}"/>
              </a:ext>
            </a:extLst>
          </p:cNvPr>
          <p:cNvSpPr>
            <a:spLocks xmlns:a="http://schemas.openxmlformats.org/drawingml/2006/main" noGrp="1"/>
          </p:cNvSpPr>
          <p:nvPr/>
        </p:nvSpPr>
        <p:spPr>
          <a:xfrm xmlns:a="http://schemas.openxmlformats.org/drawingml/2006/main">
            <a:off x="619125" y="2971800"/>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条件付き正規分布の式（身長の潜在値を生成）</a:t>
            </a:r>
          </a:p>
        </p:txBody>
      </p:sp>
      <p:sp>
        <p:nvSpPr>
          <p:cNvPr id="8" name="">
            <a:extLst xmlns:a="http://schemas.openxmlformats.org/drawingml/2006/main">
              <a:ext uri="{FF2B5EF4-FFF2-40B4-BE49-F238E27FC236}">
                <a16:creationId xmlns:a16="http://schemas.microsoft.com/office/drawing/2014/main" id="{5B215D06-456F-41EA-8667-E0326549DAA9}"/>
              </a:ext>
            </a:extLst>
          </p:cNvPr>
          <p:cNvSpPr>
            <a:spLocks xmlns:a="http://schemas.openxmlformats.org/drawingml/2006/main" noGrp="1"/>
          </p:cNvSpPr>
          <p:nvPr/>
        </p:nvSpPr>
        <p:spPr>
          <a:xfrm xmlns:a="http://schemas.openxmlformats.org/drawingml/2006/main">
            <a:off x="514350" y="33909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61C3948-6EF1-45C0-AAE7-8FBACA1AA40E}"/>
              </a:ext>
            </a:extLst>
          </p:cNvPr>
          <p:cNvSpPr>
            <a:spLocks xmlns:a="http://schemas.openxmlformats.org/drawingml/2006/main" noGrp="1"/>
          </p:cNvSpPr>
          <p:nvPr/>
        </p:nvSpPr>
        <p:spPr>
          <a:xfrm xmlns:a="http://schemas.openxmlformats.org/drawingml/2006/main">
            <a:off x="704850" y="34861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Zₓ | Zᵧ = zᵧ  ~  N(ρzᵧ, 1 − ρ²)</a:t>
            </a:r>
          </a:p>
        </p:txBody>
      </p:sp>
      <p:sp>
        <p:nvSpPr>
          <p:cNvPr id="10" name="">
            <a:extLst xmlns:a="http://schemas.openxmlformats.org/drawingml/2006/main">
              <a:ext uri="{FF2B5EF4-FFF2-40B4-BE49-F238E27FC236}">
                <a16:creationId xmlns:a16="http://schemas.microsoft.com/office/drawing/2014/main" id="{DD5C83EF-3AFF-4300-B648-B47CF3000E67}"/>
              </a:ext>
            </a:extLst>
          </p:cNvPr>
          <p:cNvSpPr>
            <a:spLocks xmlns:a="http://schemas.openxmlformats.org/drawingml/2006/main" noGrp="1"/>
          </p:cNvSpPr>
          <p:nvPr/>
        </p:nvSpPr>
        <p:spPr>
          <a:xfrm xmlns:a="http://schemas.openxmlformats.org/drawingml/2006/main">
            <a:off x="666750" y="45434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Zₓ・Zᵧ：Φ⁻¹で変換した値　ρ：潜在空間の相関</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N(平均, 分散)：正規分布。残した体重に平均を合わせ、ばらつきを残す。</a:t>
            </a:r>
          </a:p>
        </p:txBody>
      </p:sp>
      <p:sp>
        <p:nvSpPr>
          <p:cNvPr id="11" name="">
            <a:extLst xmlns:a="http://schemas.openxmlformats.org/drawingml/2006/main">
              <a:ext uri="{FF2B5EF4-FFF2-40B4-BE49-F238E27FC236}">
                <a16:creationId xmlns:a16="http://schemas.microsoft.com/office/drawing/2014/main" id="{8A982EAF-053B-4565-AB37-0DF7D7C3320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346CB9-DF49-46E9-86BE-D7C05AF7763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Gaussianで依存保持と分類性能を検証し、必要に応じて他の種類へ広げる</a:t>
            </a:r>
          </a:p>
        </p:txBody>
      </p:sp>
    </p:spTree>
    <p:extLst>
      <p:ext uri="{BB962C8B-B14F-4D97-AF65-F5344CB8AC3E}">
        <p14:creationId xmlns:p14="http://schemas.microsoft.com/office/powerpoint/2010/main" val="61244342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08B1DB-6675-4F51-8EBB-8CFC1CDEB1D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補足：実験環境</a:t>
            </a:r>
          </a:p>
        </p:txBody>
      </p:sp>
      <p:sp>
        <p:nvSpPr>
          <p:cNvPr id="2" name="">
            <a:extLst xmlns:a="http://schemas.openxmlformats.org/drawingml/2006/main">
              <a:ext uri="{FF2B5EF4-FFF2-40B4-BE49-F238E27FC236}">
                <a16:creationId xmlns:a16="http://schemas.microsoft.com/office/drawing/2014/main" id="{42484840-8257-4EF9-9CFC-132A9852664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FC015E-866B-46A3-BBC1-D4AF6160F04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保存済みの2026年10月4日の実行記録に基づく。</a:t>
            </a:r>
          </a:p>
        </p:txBody>
      </p:sp>
      <p:sp>
        <p:nvSpPr>
          <p:cNvPr id="4" name="">
            <a:extLst xmlns:a="http://schemas.openxmlformats.org/drawingml/2006/main">
              <a:ext uri="{FF2B5EF4-FFF2-40B4-BE49-F238E27FC236}">
                <a16:creationId xmlns:a16="http://schemas.microsoft.com/office/drawing/2014/main" id="{69FD835B-115F-4F27-99F8-9B413499810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A40ABB84-0704-4DC2-A430-164C70F5F03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graphicFrame>
        <p:nvGraphicFramePr>
          <p:cNvPr id="14" name=""/>
          <p:cNvGraphicFramePr/>
          <p:nvPr/>
        </p:nvGraphicFramePr>
        <p:xfrm>
          <a:off xmlns:a="http://schemas.openxmlformats.org/drawingml/2006/main" x="514350" y="2095500"/>
          <a:ext xmlns:a="http://schemas.openxmlformats.org/drawingml/2006/main" cx="11163300" cy="3190875"/>
        </p:xfrm>
        <a:graphic xmlns:a="http://schemas.openxmlformats.org/drawingml/2006/main">
          <a:graphicData uri="http://schemas.openxmlformats.org/drawingml/2006/table">
            <a:tbl>
              <a:tblPr/>
              <a:tblGrid>
                <a:gridCol w="2667000"/>
                <a:gridCol w="8496300"/>
              </a:tblGrid>
              <a:tr h="638175">
                <a:tc>
                  <a:txBody>
                    <a:bodyPr/>
                    <a:lstStyle/>
                    <a:p>
                      <a:pPr algn="ctr"/>
                      <a:r>
                        <a:rPr sz="21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実行環境</a:t>
                      </a:r>
                    </a:p>
                  </a:txBody>
                  <a:tcPr marL="91440" marR="91440" marT="45720" marB="45720" anchor="ctr">
                    <a:solidFill>
                      <a:srgbClr val="E7F2EC"/>
                    </a:solidFill>
                  </a:tcPr>
                </a:tc>
              </a:tr>
              <a:tr h="638175">
                <a:tc>
                  <a:txBody>
                    <a:bodyPr/>
                    <a:lstStyle/>
                    <a:p>
                      <a:pPr algn="ctr"/>
                      <a:r>
                        <a:rPr sz="2100" b="0">
                          <a:solidFill>
                            <a:srgbClr val="222222"/>
                          </a:solidFill>
                          <a:latin typeface="Noto Sans JP"/>
                          <a:ea typeface="Noto Sans JP"/>
                          <a:cs typeface="Noto Sans JP"/>
                        </a:rPr>
                        <a:t>OS / CPU系統</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macOS 26.3.1 / arm64</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Python</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3.12.14</a:t>
                      </a:r>
                    </a:p>
                  </a:txBody>
                  <a:tcPr marL="91440" marR="91440" marT="45720" marB="45720" anchor="ctr">
                    <a:solidFill>
                      <a:srgbClr val="F6F6F6"/>
                    </a:solidFill>
                  </a:tcPr>
                </a:tc>
              </a:tr>
              <a:tr h="638175">
                <a:tc>
                  <a:txBody>
                    <a:bodyPr/>
                    <a:lstStyle/>
                    <a:p>
                      <a:pPr algn="ctr"/>
                      <a:r>
                        <a:rPr sz="2100" b="0">
                          <a:solidFill>
                            <a:srgbClr val="222222"/>
                          </a:solidFill>
                          <a:latin typeface="Noto Sans JP"/>
                          <a:ea typeface="Noto Sans JP"/>
                          <a:cs typeface="Noto Sans JP"/>
                        </a:rPr>
                        <a:t>主要ライブラリ</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NumPy 2.5.3 / SciPy 1.18.1</a:t>
                      </a:r>
                    </a:p>
                    <a:p>
                      <a:pPr algn="ctr"/>
                      <a:r>
                        <a:rPr sz="2100" b="0">
                          <a:solidFill>
                            <a:srgbClr val="222222"/>
                          </a:solidFill>
                          <a:latin typeface="Noto Sans JP"/>
                          <a:ea typeface="Noto Sans JP"/>
                          <a:cs typeface="Noto Sans JP"/>
                        </a:rPr>
                        <a:t>scikit-learn 1.9.1 / PyTorch 2.14.1</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計算デバイス</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CPU / PyTorchのスレッド数1</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CA74D82D-5C80-4B78-AD06-07F99CB4DD6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2B0401-8E8B-4C17-98B4-7BA9925A959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VIMEのPyTorch実装を用いた小規模な比較実験</a:t>
            </a:r>
          </a:p>
        </p:txBody>
      </p:sp>
    </p:spTree>
    <p:extLst>
      <p:ext uri="{BB962C8B-B14F-4D97-AF65-F5344CB8AC3E}">
        <p14:creationId xmlns:p14="http://schemas.microsoft.com/office/powerpoint/2010/main" val="84668909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833D24-FA29-49E5-B8D7-7028353CF9A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補足：使用するデータ</a:t>
            </a:r>
          </a:p>
        </p:txBody>
      </p:sp>
      <p:sp>
        <p:nvSpPr>
          <p:cNvPr id="2" name="">
            <a:extLst xmlns:a="http://schemas.openxmlformats.org/drawingml/2006/main">
              <a:ext uri="{FF2B5EF4-FFF2-40B4-BE49-F238E27FC236}">
                <a16:creationId xmlns:a16="http://schemas.microsoft.com/office/drawing/2014/main" id="{CC8E13BC-068F-47B1-B6C6-4E876AAEB04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CCA1E8-C6A9-4686-A164-23E1C9B8F8E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scikit-learnに付属する、数値特徴の分類データ。</a:t>
            </a:r>
          </a:p>
        </p:txBody>
      </p:sp>
      <p:sp>
        <p:nvSpPr>
          <p:cNvPr id="4" name="">
            <a:extLst xmlns:a="http://schemas.openxmlformats.org/drawingml/2006/main">
              <a:ext uri="{FF2B5EF4-FFF2-40B4-BE49-F238E27FC236}">
                <a16:creationId xmlns:a16="http://schemas.microsoft.com/office/drawing/2014/main" id="{4D9305CB-A245-4253-9FD2-4ADD2B12475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26BCDBA9-C363-4E80-8070-91F85722DB3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14" name=""/>
          <p:cNvGraphicFramePr/>
          <p:nvPr/>
        </p:nvGraphicFramePr>
        <p:xfrm>
          <a:off xmlns:a="http://schemas.openxmlformats.org/drawingml/2006/main" x="514350" y="2038350"/>
          <a:ext xmlns:a="http://schemas.openxmlformats.org/drawingml/2006/main" cx="11163300" cy="3200400"/>
        </p:xfrm>
        <a:graphic xmlns:a="http://schemas.openxmlformats.org/drawingml/2006/main">
          <a:graphicData uri="http://schemas.openxmlformats.org/drawingml/2006/table">
            <a:tbl>
              <a:tblPr/>
              <a:tblGrid>
                <a:gridCol w="3721100"/>
                <a:gridCol w="3721100"/>
                <a:gridCol w="3721100"/>
              </a:tblGrid>
              <a:tr h="640080">
                <a:tc>
                  <a:txBody>
                    <a:bodyPr/>
                    <a:lstStyle/>
                    <a:p>
                      <a:pPr algn="ctr"/>
                      <a:r>
                        <a:rPr sz="195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Wine</a:t>
                      </a:r>
                    </a:p>
                  </a:txBody>
                  <a:tcPr marL="91440" marR="91440" marT="45720" marB="45720" anchor="ctr">
                    <a:solidFill>
                      <a:srgbClr val="E7F2EC"/>
                    </a:solidFill>
                  </a:tcPr>
                </a:tc>
              </a:tr>
              <a:tr h="640080">
                <a:tc>
                  <a:txBody>
                    <a:bodyPr/>
                    <a:lstStyle/>
                    <a:p>
                      <a:pPr algn="ctr"/>
                      <a:r>
                        <a:rPr sz="1950" b="0">
                          <a:solidFill>
                            <a:srgbClr val="222222"/>
                          </a:solidFill>
                          <a:latin typeface="Noto Sans JP"/>
                          <a:ea typeface="Noto Sans JP"/>
                          <a:cs typeface="Noto Sans JP"/>
                        </a:rPr>
                        <a:t>行数 / 特徴数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569行 / 30特徴</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178行 / 13特徴</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データの内容</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細胞核の大きさ・形状など</a:t>
                      </a:r>
                    </a:p>
                    <a:p>
                      <a:pPr algn="ctr"/>
                      <a:r>
                        <a:rPr sz="1950" b="0">
                          <a:solidFill>
                            <a:srgbClr val="222222"/>
                          </a:solidFill>
                          <a:latin typeface="Noto Sans JP"/>
                          <a:ea typeface="Noto Sans JP"/>
                          <a:cs typeface="Noto Sans JP"/>
                        </a:rPr>
                        <a:t>画像から求めた数値特徴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アルコール・酸・色など</a:t>
                      </a:r>
                    </a:p>
                    <a:p>
                      <a:pPr algn="ctr"/>
                      <a:r>
                        <a:rPr sz="1950" b="0">
                          <a:solidFill>
                            <a:srgbClr val="222222"/>
                          </a:solidFill>
                          <a:latin typeface="Noto Sans JP"/>
                          <a:ea typeface="Noto Sans JP"/>
                          <a:cs typeface="Noto Sans JP"/>
                        </a:rPr>
                        <a:t>ワインの化学分析値</a:t>
                      </a:r>
                    </a:p>
                  </a:txBody>
                  <a:tcPr marL="91440" marR="91440" marT="45720" marB="45720" anchor="ctr">
                    <a:solidFill>
                      <a:srgbClr val="F6F6F6"/>
                    </a:solidFill>
                  </a:tcPr>
                </a:tc>
              </a:tr>
              <a:tr h="640080">
                <a:tc>
                  <a:txBody>
                    <a:bodyPr/>
                    <a:lstStyle/>
                    <a:p>
                      <a:pPr algn="ctr"/>
                      <a:r>
                        <a:rPr sz="1950" b="0">
                          <a:solidFill>
                            <a:srgbClr val="222222"/>
                          </a:solidFill>
                          <a:latin typeface="Noto Sans JP"/>
                          <a:ea typeface="Noto Sans JP"/>
                          <a:cs typeface="Noto Sans JP"/>
                        </a:rPr>
                        <a:t>分類ラベル</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悪性 / 良性（2クラス）</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ワインの品種（3クラス）</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1ECF0CF5-F940-48D9-8FDC-80C37B93499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4941FB-DA93-4D79-8C35-2FBB3DBB53A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ラベルは分類の正解。コピュラの依存推定にはラベルを使わない</a:t>
            </a:r>
          </a:p>
        </p:txBody>
      </p:sp>
    </p:spTree>
    <p:extLst>
      <p:ext uri="{BB962C8B-B14F-4D97-AF65-F5344CB8AC3E}">
        <p14:creationId xmlns:p14="http://schemas.microsoft.com/office/powerpoint/2010/main" val="8597881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E03161-E6AB-445C-B82A-6FACFEE1B40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補足：ラベル付きデータの設定</a:t>
            </a:r>
          </a:p>
        </p:txBody>
      </p:sp>
      <p:sp>
        <p:nvSpPr>
          <p:cNvPr id="2" name="">
            <a:extLst xmlns:a="http://schemas.openxmlformats.org/drawingml/2006/main">
              <a:ext uri="{FF2B5EF4-FFF2-40B4-BE49-F238E27FC236}">
                <a16:creationId xmlns:a16="http://schemas.microsoft.com/office/drawing/2014/main" id="{4F58B77C-2559-43D4-AC0E-1A29970C475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E31581-76AE-4CAC-B0A8-7BA4565E70D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全体を訓練80%・テスト20%に分け、訓練の30%にラベルを付ける。</a:t>
            </a:r>
          </a:p>
        </p:txBody>
      </p:sp>
      <p:sp>
        <p:nvSpPr>
          <p:cNvPr id="4" name="">
            <a:extLst xmlns:a="http://schemas.openxmlformats.org/drawingml/2006/main">
              <a:ext uri="{FF2B5EF4-FFF2-40B4-BE49-F238E27FC236}">
                <a16:creationId xmlns:a16="http://schemas.microsoft.com/office/drawing/2014/main" id="{C707BFD3-101A-4D37-BE13-434A13B8A84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E67DD0D7-1622-4D43-96F6-D5E6C610E9D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graphicFrame>
        <p:nvGraphicFramePr>
          <p:cNvPr id="15" name=""/>
          <p:cNvGraphicFramePr/>
          <p:nvPr/>
        </p:nvGraphicFramePr>
        <p:xfrm>
          <a:off xmlns:a="http://schemas.openxmlformats.org/drawingml/2006/main" x="514350" y="2085975"/>
          <a:ext xmlns:a="http://schemas.openxmlformats.org/drawingml/2006/main" cx="11163300" cy="2962275"/>
        </p:xfrm>
        <a:graphic xmlns:a="http://schemas.openxmlformats.org/drawingml/2006/main">
          <a:graphicData uri="http://schemas.openxmlformats.org/drawingml/2006/table">
            <a:tbl>
              <a:tblPr/>
              <a:tblGrid>
                <a:gridCol w="3721100"/>
                <a:gridCol w="3721100"/>
                <a:gridCol w="3721100"/>
              </a:tblGrid>
              <a:tr h="592455">
                <a:tc>
                  <a:txBody>
                    <a:bodyPr/>
                    <a:lstStyle/>
                    <a:p>
                      <a:pPr algn="ctr"/>
                      <a:r>
                        <a:rPr sz="2100" b="1">
                          <a:solidFill>
                            <a:srgbClr val="2E7D5B"/>
                          </a:solidFill>
                          <a:latin typeface="Noto Sans JP"/>
                          <a:ea typeface="Noto Sans JP"/>
                          <a:cs typeface="Noto Sans JP"/>
                        </a:rPr>
                        <a:t>区分</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Wine</a:t>
                      </a:r>
                    </a:p>
                  </a:txBody>
                  <a:tcPr marL="91440" marR="91440" marT="45720" marB="45720" anchor="ctr">
                    <a:solidFill>
                      <a:srgbClr val="E7F2EC"/>
                    </a:solidFill>
                  </a:tcPr>
                </a:tc>
              </a:tr>
              <a:tr h="592455">
                <a:tc>
                  <a:txBody>
                    <a:bodyPr/>
                    <a:lstStyle/>
                    <a:p>
                      <a:pPr algn="ctr"/>
                      <a:r>
                        <a:rPr sz="2100" b="0">
                          <a:solidFill>
                            <a:srgbClr val="222222"/>
                          </a:solidFill>
                          <a:latin typeface="Noto Sans JP"/>
                          <a:ea typeface="Noto Sans JP"/>
                          <a:cs typeface="Noto Sans JP"/>
                        </a:rPr>
                        <a:t>ラベル付き訓練</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136件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ラベルなし訓練</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319件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100件</a:t>
                      </a:r>
                    </a:p>
                  </a:txBody>
                  <a:tcPr marL="91440" marR="91440" marT="45720" marB="45720" anchor="ctr">
                    <a:solidFill>
                      <a:srgbClr val="F6F6F6"/>
                    </a:solidFill>
                  </a:tcPr>
                </a:tc>
              </a:tr>
              <a:tr h="592455">
                <a:tc>
                  <a:txBody>
                    <a:bodyPr/>
                    <a:lstStyle/>
                    <a:p>
                      <a:pPr algn="ctr"/>
                      <a:r>
                        <a:rPr sz="2100" b="0">
                          <a:solidFill>
                            <a:srgbClr val="222222"/>
                          </a:solidFill>
                          <a:latin typeface="Noto Sans JP"/>
                          <a:ea typeface="Noto Sans JP"/>
                          <a:cs typeface="Noto Sans JP"/>
                        </a:rPr>
                        <a:t>訓練合計</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455件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テスト</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114件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36件</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A26FA11-AF57-42CE-A500-F56A3C574252}"/>
              </a:ext>
            </a:extLst>
          </p:cNvPr>
          <p:cNvSpPr>
            <a:spLocks xmlns:a="http://schemas.openxmlformats.org/drawingml/2006/main" noGrp="1"/>
          </p:cNvSpPr>
          <p:nvPr/>
        </p:nvSpPr>
        <p:spPr>
          <a:xfrm xmlns:a="http://schemas.openxmlformats.org/drawingml/2006/main">
            <a:off x="619125" y="51911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クラス比を保つ層化分割。テストデータは学習や分布推定に使わない。</a:t>
            </a:r>
          </a:p>
        </p:txBody>
      </p:sp>
      <p:sp>
        <p:nvSpPr>
          <p:cNvPr id="8" name="">
            <a:extLst xmlns:a="http://schemas.openxmlformats.org/drawingml/2006/main">
              <a:ext uri="{FF2B5EF4-FFF2-40B4-BE49-F238E27FC236}">
                <a16:creationId xmlns:a16="http://schemas.microsoft.com/office/drawing/2014/main" id="{27D89CE1-BF49-413C-BAAD-42CEAFBAFE3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EC915F-7108-4C68-B860-B495429CAB0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「30%」は全データに対する割合ではなく、訓練データ内の割合</a:t>
            </a:r>
          </a:p>
        </p:txBody>
      </p:sp>
    </p:spTree>
    <p:extLst>
      <p:ext uri="{BB962C8B-B14F-4D97-AF65-F5344CB8AC3E}">
        <p14:creationId xmlns:p14="http://schemas.microsoft.com/office/powerpoint/2010/main" val="17011791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191B97-2414-4DAE-BB20-6A39BCFB558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補足：使用するモデル</a:t>
            </a:r>
          </a:p>
        </p:txBody>
      </p:sp>
      <p:sp>
        <p:nvSpPr>
          <p:cNvPr id="2" name="">
            <a:extLst xmlns:a="http://schemas.openxmlformats.org/drawingml/2006/main">
              <a:ext uri="{FF2B5EF4-FFF2-40B4-BE49-F238E27FC236}">
                <a16:creationId xmlns:a16="http://schemas.microsoft.com/office/drawing/2014/main" id="{CF1CD3DE-E03A-4164-9C16-77FC396DE58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3B7C8C-F5AE-456A-A5A1-F2AE1FBED17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VIMEの学習枠組みで、置換器だけを変更して比較する。</a:t>
            </a:r>
          </a:p>
        </p:txBody>
      </p:sp>
      <p:sp>
        <p:nvSpPr>
          <p:cNvPr id="4" name="">
            <a:extLst xmlns:a="http://schemas.openxmlformats.org/drawingml/2006/main">
              <a:ext uri="{FF2B5EF4-FFF2-40B4-BE49-F238E27FC236}">
                <a16:creationId xmlns:a16="http://schemas.microsoft.com/office/drawing/2014/main" id="{8684AE42-8243-4DBB-BB37-786920D09A2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96308BCF-4DCB-4DBC-B902-D24860ECEA9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graphicFrame>
        <p:nvGraphicFramePr>
          <p:cNvPr id="14" name=""/>
          <p:cNvGraphicFramePr/>
          <p:nvPr/>
        </p:nvGraphicFramePr>
        <p:xfrm>
          <a:off xmlns:a="http://schemas.openxmlformats.org/drawingml/2006/main" x="514350" y="195262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今回の設定</a:t>
                      </a:r>
                    </a:p>
                  </a:txBody>
                  <a:tcPr marL="91440" marR="91440" marT="45720" marB="45720" anchor="ctr">
                    <a:solidFill>
                      <a:srgbClr val="E7F2EC"/>
                    </a:solidFill>
                  </a:tcPr>
                </a:tc>
              </a:tr>
              <a:tr h="555625">
                <a:tc>
                  <a:txBody>
                    <a:bodyPr/>
                    <a:lstStyle/>
                    <a:p>
                      <a:pPr algn="ctr"/>
                      <a:r>
                        <a:rPr sz="1950" b="0">
                          <a:solidFill>
                            <a:srgbClr val="222222"/>
                          </a:solidFill>
                          <a:latin typeface="Noto Sans JP"/>
                          <a:ea typeface="Noto Sans JP"/>
                          <a:cs typeface="Noto Sans JP"/>
                        </a:rPr>
                        <a:t>エンコーダ</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MLP：隠れ層4層、各層32ユニット</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自己教師あり学習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変更位置の推定（BCE）と元値の復元（MSE）</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分類器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エンコーダを固定し、隠れ幅32のMLPで分類</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半教師あり学習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ラベル付きの交差エントロピー</a:t>
                      </a:r>
                    </a:p>
                    <a:p>
                      <a:pPr algn="ctr"/>
                      <a:r>
                        <a:rPr sz="1950" b="0">
                          <a:solidFill>
                            <a:srgbClr val="222222"/>
                          </a:solidFill>
                          <a:latin typeface="Noto Sans JP"/>
                          <a:ea typeface="Noto Sans JP"/>
                          <a:cs typeface="Noto Sans JP"/>
                        </a:rPr>
                        <a:t>＋ラベルなしの3拡張の予測一貫性</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比較する置換器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列ごとの無作為置換 / Gaussian copula条件付き置換</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FEAC807-0058-4158-9C0F-98630B2141F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D16D59-93C2-4F03-A399-ECCAFEB4D77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学習課題とモデルをそろえ、置換方法の違いを比較する</a:t>
            </a:r>
          </a:p>
        </p:txBody>
      </p:sp>
    </p:spTree>
    <p:extLst>
      <p:ext uri="{BB962C8B-B14F-4D97-AF65-F5344CB8AC3E}">
        <p14:creationId xmlns:p14="http://schemas.microsoft.com/office/powerpoint/2010/main" val="67000223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D4D525-D952-4FFC-92BB-BDF604D5903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補足：学習条件と前処理</a:t>
            </a:r>
          </a:p>
        </p:txBody>
      </p:sp>
      <p:sp>
        <p:nvSpPr>
          <p:cNvPr id="2" name="">
            <a:extLst xmlns:a="http://schemas.openxmlformats.org/drawingml/2006/main">
              <a:ext uri="{FF2B5EF4-FFF2-40B4-BE49-F238E27FC236}">
                <a16:creationId xmlns:a16="http://schemas.microsoft.com/office/drawing/2014/main" id="{AC49234F-B5E5-4B91-AE0F-FDFF6FB5F36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489C97-077E-4F44-9264-BB971E7E575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同じデータ分割・乱数seed・学習予算で、2手法を比較する。</a:t>
            </a:r>
          </a:p>
        </p:txBody>
      </p:sp>
      <p:sp>
        <p:nvSpPr>
          <p:cNvPr id="4" name="">
            <a:extLst xmlns:a="http://schemas.openxmlformats.org/drawingml/2006/main">
              <a:ext uri="{FF2B5EF4-FFF2-40B4-BE49-F238E27FC236}">
                <a16:creationId xmlns:a16="http://schemas.microsoft.com/office/drawing/2014/main" id="{C57C75B1-2222-414E-B3AE-84026199114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8679D2C3-2EC4-4E88-B1B1-4881FA27C40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graphicFrame>
        <p:nvGraphicFramePr>
          <p:cNvPr id="14" name=""/>
          <p:cNvGraphicFramePr/>
          <p:nvPr/>
        </p:nvGraphicFramePr>
        <p:xfrm>
          <a:off xmlns:a="http://schemas.openxmlformats.org/drawingml/2006/main" x="514350" y="197167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2025"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共通設定</a:t>
                      </a:r>
                    </a:p>
                  </a:txBody>
                  <a:tcPr marL="91440" marR="91440" marT="45720" marB="45720" anchor="ctr">
                    <a:solidFill>
                      <a:srgbClr val="E7F2EC"/>
                    </a:solidFill>
                  </a:tcPr>
                </a:tc>
              </a:tr>
              <a:tr h="555625">
                <a:tc>
                  <a:txBody>
                    <a:bodyPr/>
                    <a:lstStyle/>
                    <a:p>
                      <a:pPr algn="ctr"/>
                      <a:r>
                        <a:rPr sz="2025" b="0">
                          <a:solidFill>
                            <a:srgbClr val="222222"/>
                          </a:solidFill>
                          <a:latin typeface="Noto Sans JP"/>
                          <a:ea typeface="Noto Sans JP"/>
                          <a:cs typeface="Noto Sans JP"/>
                        </a:rPr>
                        <a:t>前処理</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訓練データだけでMinMaxScalerを推定</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学習回数</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自己教師あり15 epoch / 半教師あり300反復</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拡張・batch</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各特徴のマスク確率0.4 / batch size 64</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損失重み</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復元MSE：2 / 予測一貫性：1</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seed = 11, 23, 37, 51, 67（5回）</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46DD52B-19A3-4833-806F-4959E1E6550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512212-684B-4203-A08A-49668616F7E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コピュラの周辺分布と依存は、ラベルなし訓練データから推定する</a:t>
            </a:r>
          </a:p>
        </p:txBody>
      </p:sp>
    </p:spTree>
    <p:extLst>
      <p:ext uri="{BB962C8B-B14F-4D97-AF65-F5344CB8AC3E}">
        <p14:creationId xmlns:p14="http://schemas.microsoft.com/office/powerpoint/2010/main" val="8718126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3F65F3-DC17-466B-AE3B-A282145C5CD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補足：保存済みの初期実験結果</a:t>
            </a:r>
          </a:p>
        </p:txBody>
      </p:sp>
      <p:sp>
        <p:nvSpPr>
          <p:cNvPr id="2" name="">
            <a:extLst xmlns:a="http://schemas.openxmlformats.org/drawingml/2006/main">
              <a:ext uri="{FF2B5EF4-FFF2-40B4-BE49-F238E27FC236}">
                <a16:creationId xmlns:a16="http://schemas.microsoft.com/office/drawing/2014/main" id="{0197CCBE-261D-4034-953E-4B01E61567F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0946BC-6835-4773-A49B-DDC82CC1E75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分類性能の平均差は小さく、改善の結論には追加検証が必要。</a:t>
            </a:r>
          </a:p>
        </p:txBody>
      </p:sp>
      <p:sp>
        <p:nvSpPr>
          <p:cNvPr id="4" name="">
            <a:extLst xmlns:a="http://schemas.openxmlformats.org/drawingml/2006/main">
              <a:ext uri="{FF2B5EF4-FFF2-40B4-BE49-F238E27FC236}">
                <a16:creationId xmlns:a16="http://schemas.microsoft.com/office/drawing/2014/main" id="{B823DD0A-A7A9-492B-8BA7-4107B169F0C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29C63421-A841-4BFD-B51D-9BC5636A97A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graphicFrame>
        <p:nvGraphicFramePr>
          <p:cNvPr id="15" name=""/>
          <p:cNvGraphicFramePr/>
          <p:nvPr/>
        </p:nvGraphicFramePr>
        <p:xfrm>
          <a:off xmlns:a="http://schemas.openxmlformats.org/drawingml/2006/main" x="514350" y="2105025"/>
          <a:ext xmlns:a="http://schemas.openxmlformats.org/drawingml/2006/main" cx="11163300" cy="2190750"/>
        </p:xfrm>
        <a:graphic xmlns:a="http://schemas.openxmlformats.org/drawingml/2006/main">
          <a:graphicData uri="http://schemas.openxmlformats.org/drawingml/2006/table">
            <a:tbl>
              <a:tblPr/>
              <a:tblGrid>
                <a:gridCol w="3721100"/>
                <a:gridCol w="3721100"/>
                <a:gridCol w="3721100"/>
              </a:tblGrid>
              <a:tr h="730250">
                <a:tc>
                  <a:txBody>
                    <a:bodyPr/>
                    <a:lstStyle/>
                    <a:p>
                      <a:pPr algn="ctr"/>
                      <a:r>
                        <a:rPr sz="2100" b="1">
                          <a:solidFill>
                            <a:srgbClr val="2E7D5B"/>
                          </a:solidFill>
                          <a:latin typeface="Noto Sans JP"/>
                          <a:ea typeface="Noto Sans JP"/>
                          <a:cs typeface="Noto Sans JP"/>
                        </a:rPr>
                        <a:t>ROC-AUC：平均 ± SD</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Gaussian copula</a:t>
                      </a:r>
                    </a:p>
                  </a:txBody>
                  <a:tcPr marL="91440" marR="91440" marT="45720" marB="45720" anchor="ctr">
                    <a:solidFill>
                      <a:srgbClr val="E7F2EC"/>
                    </a:solidFill>
                  </a:tcPr>
                </a:tc>
              </a:tr>
              <a:tr h="730250">
                <a:tc>
                  <a:txBody>
                    <a:bodyPr/>
                    <a:lstStyle/>
                    <a:p>
                      <a:pPr algn="ctr"/>
                      <a:r>
                        <a:rPr sz="210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0.973 ± 0.017</a:t>
                      </a:r>
                    </a:p>
                  </a:txBody>
                  <a:tcPr marL="91440" marR="91440" marT="45720" marB="45720" anchor="ctr">
                    <a:solidFill>
                      <a:srgbClr val="FFFFFF"/>
                    </a:solidFill>
                  </a:tcPr>
                </a:tc>
              </a:tr>
              <a:tr h="730250">
                <a:tc>
                  <a:txBody>
                    <a:bodyPr/>
                    <a:lstStyle/>
                    <a:p>
                      <a:pPr algn="ctr"/>
                      <a:r>
                        <a:rPr sz="210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0.847 ± 0.130</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C7D0BA4-D497-456C-B20F-E654B8D7739E}"/>
              </a:ext>
            </a:extLst>
          </p:cNvPr>
          <p:cNvSpPr>
            <a:spLocks xmlns:a="http://schemas.openxmlformats.org/drawingml/2006/main" noGrp="1"/>
          </p:cNvSpPr>
          <p:nvPr/>
        </p:nvSpPr>
        <p:spPr>
          <a:xfrm xmlns:a="http://schemas.openxmlformats.org/drawingml/2006/main">
            <a:off x="619125" y="45243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平均差の95%区間</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Breast Cancer：−0.005〜+0.011　Wine：−0.079〜+0.109</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両方とも0を含む。少数データ・5回の探索的な比較。</a:t>
            </a:r>
          </a:p>
        </p:txBody>
      </p:sp>
      <p:sp>
        <p:nvSpPr>
          <p:cNvPr id="8" name="">
            <a:extLst xmlns:a="http://schemas.openxmlformats.org/drawingml/2006/main">
              <a:ext uri="{FF2B5EF4-FFF2-40B4-BE49-F238E27FC236}">
                <a16:creationId xmlns:a16="http://schemas.microsoft.com/office/drawing/2014/main" id="{A81FC94D-CD97-499D-B9E8-34D5FF49F92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8923618-D0E9-4870-80CF-F3E48AC2166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現在は探索的な結果。次ページの評価条件に沿って、追加検証する</a:t>
            </a:r>
          </a:p>
        </p:txBody>
      </p:sp>
    </p:spTree>
    <p:extLst>
      <p:ext uri="{BB962C8B-B14F-4D97-AF65-F5344CB8AC3E}">
        <p14:creationId xmlns:p14="http://schemas.microsoft.com/office/powerpoint/2010/main" val="12430639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C988AC-2FE9-47A7-9579-4C9DD68378D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補足：提案手法が優れていると言える条件</a:t>
            </a:r>
          </a:p>
        </p:txBody>
      </p:sp>
      <p:sp>
        <p:nvSpPr>
          <p:cNvPr id="2" name="">
            <a:extLst xmlns:a="http://schemas.openxmlformats.org/drawingml/2006/main">
              <a:ext uri="{FF2B5EF4-FFF2-40B4-BE49-F238E27FC236}">
                <a16:creationId xmlns:a16="http://schemas.microsoft.com/office/drawing/2014/main" id="{D613016E-3973-4E3B-878A-81C2DE0F9FD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682407-0E5E-4F54-A7CE-5F28A64EDC0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研究仮説：依存を考慮した拡張が、分類の学習に役立つか。</a:t>
            </a:r>
          </a:p>
        </p:txBody>
      </p:sp>
      <p:sp>
        <p:nvSpPr>
          <p:cNvPr id="4" name="">
            <a:extLst xmlns:a="http://schemas.openxmlformats.org/drawingml/2006/main">
              <a:ext uri="{FF2B5EF4-FFF2-40B4-BE49-F238E27FC236}">
                <a16:creationId xmlns:a16="http://schemas.microsoft.com/office/drawing/2014/main" id="{FA15A2D2-8B6F-4AA8-9A77-AEC5DC23257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39D4BE68-FF67-4B39-B69D-341B456A642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graphicFrame>
        <p:nvGraphicFramePr>
          <p:cNvPr id="15" name=""/>
          <p:cNvGraphicFramePr/>
          <p:nvPr/>
        </p:nvGraphicFramePr>
        <p:xfrm>
          <a:off xmlns:a="http://schemas.openxmlformats.org/drawingml/2006/main" x="514350" y="2095500"/>
          <a:ext xmlns:a="http://schemas.openxmlformats.org/drawingml/2006/main" cx="11163300" cy="2876550"/>
        </p:xfrm>
        <a:graphic xmlns:a="http://schemas.openxmlformats.org/drawingml/2006/main">
          <a:graphicData uri="http://schemas.openxmlformats.org/drawingml/2006/table">
            <a:tbl>
              <a:tblPr/>
              <a:tblGrid>
                <a:gridCol w="2667000"/>
                <a:gridCol w="8496300"/>
              </a:tblGrid>
              <a:tr h="719138">
                <a:tc>
                  <a:txBody>
                    <a:bodyPr/>
                    <a:lstStyle/>
                    <a:p>
                      <a:pPr algn="ctr"/>
                      <a:r>
                        <a:rPr sz="1950" b="1">
                          <a:solidFill>
                            <a:srgbClr val="2E7D5B"/>
                          </a:solidFill>
                          <a:latin typeface="Noto Sans JP"/>
                          <a:ea typeface="Noto Sans JP"/>
                          <a:cs typeface="Noto Sans JP"/>
                        </a:rPr>
                        <a:t>示したいこと</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優位性の根拠になる結果</a:t>
                      </a:r>
                    </a:p>
                  </a:txBody>
                  <a:tcPr marL="91440" marR="91440" marT="45720" marB="45720" anchor="ctr">
                    <a:solidFill>
                      <a:srgbClr val="E7F2EC"/>
                    </a:solidFill>
                  </a:tcPr>
                </a:tc>
              </a:tr>
              <a:tr h="719138">
                <a:tc>
                  <a:txBody>
                    <a:bodyPr/>
                    <a:lstStyle/>
                    <a:p>
                      <a:pPr algn="ctr"/>
                      <a:r>
                        <a:rPr sz="1950" b="0">
                          <a:solidFill>
                            <a:srgbClr val="222222"/>
                          </a:solidFill>
                          <a:latin typeface="Noto Sans JP"/>
                          <a:ea typeface="Noto Sans JP"/>
                          <a:cs typeface="Noto Sans JP"/>
                        </a:rPr>
                        <a:t>分類性能の改善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同じラベル数・利用データ・評価条件で、</a:t>
                      </a:r>
                    </a:p>
                    <a:p>
                      <a:pPr algn="ctr"/>
                      <a:r>
                        <a:rPr sz="1950" b="0">
                          <a:solidFill>
                            <a:srgbClr val="222222"/>
                          </a:solidFill>
                          <a:latin typeface="Noto Sans JP"/>
                          <a:ea typeface="Noto Sans JP"/>
                          <a:cs typeface="Noto Sans JP"/>
                        </a:rPr>
                        <a:t>既存の拡張よりテスト性能が安定して高い</a:t>
                      </a:r>
                    </a:p>
                  </a:txBody>
                  <a:tcPr marL="91440" marR="91440" marT="45720" marB="45720" anchor="ctr">
                    <a:solidFill>
                      <a:srgbClr val="FFFFFF"/>
                    </a:solidFill>
                  </a:tcPr>
                </a:tc>
              </a:tr>
              <a:tr h="719138">
                <a:tc>
                  <a:txBody>
                    <a:bodyPr/>
                    <a:lstStyle/>
                    <a:p>
                      <a:pPr algn="ctr"/>
                      <a:r>
                        <a:rPr sz="1950" b="0">
                          <a:solidFill>
                            <a:srgbClr val="222222"/>
                          </a:solidFill>
                          <a:latin typeface="Noto Sans JP"/>
                          <a:ea typeface="Noto Sans JP"/>
                          <a:cs typeface="Noto Sans JP"/>
                        </a:rPr>
                        <a:t>ラベル効率の改善</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同じ量のラベルなしデータを用いた比較で、</a:t>
                      </a:r>
                    </a:p>
                    <a:p>
                      <a:pPr algn="ctr"/>
                      <a:r>
                        <a:rPr sz="1950" b="0">
                          <a:solidFill>
                            <a:srgbClr val="222222"/>
                          </a:solidFill>
                          <a:latin typeface="Noto Sans JP"/>
                          <a:ea typeface="Noto Sans JP"/>
                          <a:cs typeface="Noto Sans JP"/>
                        </a:rPr>
                        <a:t>より少ないラベルから同等以上の性能を得る</a:t>
                      </a:r>
                    </a:p>
                  </a:txBody>
                  <a:tcPr marL="91440" marR="91440" marT="45720" marB="45720" anchor="ctr">
                    <a:solidFill>
                      <a:srgbClr val="F6F6F6"/>
                    </a:solidFill>
                  </a:tcPr>
                </a:tc>
              </a:tr>
              <a:tr h="719138">
                <a:tc>
                  <a:txBody>
                    <a:bodyPr/>
                    <a:lstStyle/>
                    <a:p>
                      <a:pPr algn="ctr"/>
                      <a:r>
                        <a:rPr sz="1950" b="0">
                          <a:solidFill>
                            <a:srgbClr val="222222"/>
                          </a:solidFill>
                          <a:latin typeface="Noto Sans JP"/>
                          <a:ea typeface="Noto Sans JP"/>
                          <a:cs typeface="Noto Sans JP"/>
                        </a:rPr>
                        <a:t>改善の仕組み</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依存を壊すアブレーションで性能が落ち、</a:t>
                      </a:r>
                    </a:p>
                    <a:p>
                      <a:pPr algn="ctr"/>
                      <a:r>
                        <a:rPr sz="1950" b="0">
                          <a:solidFill>
                            <a:srgbClr val="222222"/>
                          </a:solidFill>
                          <a:latin typeface="Noto Sans JP"/>
                          <a:ea typeface="Noto Sans JP"/>
                          <a:cs typeface="Noto Sans JP"/>
                        </a:rPr>
                        <a:t>生成の妥当性の改善と合わせて説明できる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482D363-24C3-4884-AB04-A64F5EE69A03}"/>
              </a:ext>
            </a:extLst>
          </p:cNvPr>
          <p:cNvSpPr>
            <a:spLocks xmlns:a="http://schemas.openxmlformats.org/drawingml/2006/main" noGrp="1"/>
          </p:cNvSpPr>
          <p:nvPr/>
        </p:nvSpPr>
        <p:spPr>
          <a:xfrm xmlns:a="http://schemas.openxmlformats.org/drawingml/2006/main">
            <a:off x="619125" y="51816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主要指標と意味のある改善幅を事前に決め、複数データ・反復で確認する。</a:t>
            </a:r>
          </a:p>
        </p:txBody>
      </p:sp>
      <p:sp>
        <p:nvSpPr>
          <p:cNvPr id="8" name="">
            <a:extLst xmlns:a="http://schemas.openxmlformats.org/drawingml/2006/main">
              <a:ext uri="{FF2B5EF4-FFF2-40B4-BE49-F238E27FC236}">
                <a16:creationId xmlns:a16="http://schemas.microsoft.com/office/drawing/2014/main" id="{BAB7CCB2-752B-4D30-BBBD-4840D442BEB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F9987E-0FA8-4A72-845E-4374ECF0439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基本は同条件での分類改善。少ないラベルでの学習は、追加で示せる価値</a:t>
            </a:r>
          </a:p>
        </p:txBody>
      </p:sp>
    </p:spTree>
    <p:extLst>
      <p:ext uri="{BB962C8B-B14F-4D97-AF65-F5344CB8AC3E}">
        <p14:creationId xmlns:p14="http://schemas.microsoft.com/office/powerpoint/2010/main" val="122925296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46A489-DF3A-47D0-AD8B-826E0AAF7DD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補足：少ないデータで学習するとは</a:t>
            </a:r>
          </a:p>
        </p:txBody>
      </p:sp>
      <p:sp>
        <p:nvSpPr>
          <p:cNvPr id="2" name="">
            <a:extLst xmlns:a="http://schemas.openxmlformats.org/drawingml/2006/main">
              <a:ext uri="{FF2B5EF4-FFF2-40B4-BE49-F238E27FC236}">
                <a16:creationId xmlns:a16="http://schemas.microsoft.com/office/drawing/2014/main" id="{476387C2-FFBF-47C9-A7E3-6C797F78D0C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DC9A34-B208-4E28-865E-A8129668069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ラベル付きデータと、利用する総データ量を分けて考える。</a:t>
            </a:r>
          </a:p>
        </p:txBody>
      </p:sp>
      <p:sp>
        <p:nvSpPr>
          <p:cNvPr id="4" name="">
            <a:extLst xmlns:a="http://schemas.openxmlformats.org/drawingml/2006/main">
              <a:ext uri="{FF2B5EF4-FFF2-40B4-BE49-F238E27FC236}">
                <a16:creationId xmlns:a16="http://schemas.microsoft.com/office/drawing/2014/main" id="{2FF47181-8291-4B92-877B-E3F2D651D05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1DD7CB6A-ACC7-4724-94FD-186C70D2DCB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E7449763-3C5C-41E1-85CE-96760B5DD5C0}"/>
              </a:ext>
            </a:extLst>
          </p:cNvPr>
          <p:cNvSpPr>
            <a:spLocks xmlns:a="http://schemas.openxmlformats.org/drawingml/2006/main" noGrp="1"/>
          </p:cNvSpPr>
          <p:nvPr/>
        </p:nvSpPr>
        <p:spPr>
          <a:xfrm xmlns:a="http://schemas.openxmlformats.org/drawingml/2006/main">
            <a:off x="619125" y="19716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同じラベルなしデータを使い、ラベル数を段階的に変える。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例：5%・10%・20%・30%相当のラベル予算で学習曲線を比較。</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総データ量の効率を示す場合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ラベル付き・ラベルなしを含む利用総件数を変え、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同じ評価データで目標性能に必要な件数を比較する。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各設定で、すべてのクラスにラベルが含まれる件数を確保する。</a:t>
            </a:r>
          </a:p>
        </p:txBody>
      </p:sp>
      <p:sp>
        <p:nvSpPr>
          <p:cNvPr id="7" name="">
            <a:extLst xmlns:a="http://schemas.openxmlformats.org/drawingml/2006/main">
              <a:ext uri="{FF2B5EF4-FFF2-40B4-BE49-F238E27FC236}">
                <a16:creationId xmlns:a16="http://schemas.microsoft.com/office/drawing/2014/main" id="{9619E459-7733-4C49-86DF-7B475F22898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8601CD-B1C2-4A42-9254-826525A3ED8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コピュラの推定にもデータが必要。少ないデータで必ず勝つとは限らない</a:t>
            </a:r>
          </a:p>
        </p:txBody>
      </p:sp>
    </p:spTree>
    <p:extLst>
      <p:ext uri="{BB962C8B-B14F-4D97-AF65-F5344CB8AC3E}">
        <p14:creationId xmlns:p14="http://schemas.microsoft.com/office/powerpoint/2010/main" val="76231305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48F3C5-3961-45B5-A9A3-AEC3A030AD0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補足：研究仮説を検証する比較実験</a:t>
            </a:r>
          </a:p>
        </p:txBody>
      </p:sp>
      <p:sp>
        <p:nvSpPr>
          <p:cNvPr id="2" name="">
            <a:extLst xmlns:a="http://schemas.openxmlformats.org/drawingml/2006/main">
              <a:ext uri="{FF2B5EF4-FFF2-40B4-BE49-F238E27FC236}">
                <a16:creationId xmlns:a16="http://schemas.microsoft.com/office/drawing/2014/main" id="{D414C394-AFF5-48DF-85B4-1E72648FC36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CB12FF-BA9F-4448-AE25-025E641BC10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置換器の効果と、手法全体の性能を分けて調べる。</a:t>
            </a:r>
          </a:p>
        </p:txBody>
      </p:sp>
      <p:sp>
        <p:nvSpPr>
          <p:cNvPr id="4" name="">
            <a:extLst xmlns:a="http://schemas.openxmlformats.org/drawingml/2006/main">
              <a:ext uri="{FF2B5EF4-FFF2-40B4-BE49-F238E27FC236}">
                <a16:creationId xmlns:a16="http://schemas.microsoft.com/office/drawing/2014/main" id="{C9EB3B0B-3140-465D-96FE-B86A6C018A0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9B3ADCCE-12E6-4896-A03E-5337023FFE7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graphicFrame>
        <p:nvGraphicFramePr>
          <p:cNvPr id="14" name=""/>
          <p:cNvGraphicFramePr/>
          <p:nvPr/>
        </p:nvGraphicFramePr>
        <p:xfrm>
          <a:off xmlns:a="http://schemas.openxmlformats.org/drawingml/2006/main" x="514350" y="2047875"/>
          <a:ext xmlns:a="http://schemas.openxmlformats.org/drawingml/2006/main" cx="11163300" cy="3219450"/>
        </p:xfrm>
        <a:graphic xmlns:a="http://schemas.openxmlformats.org/drawingml/2006/main">
          <a:graphicData uri="http://schemas.openxmlformats.org/drawingml/2006/table">
            <a:tbl>
              <a:tblPr/>
              <a:tblGrid>
                <a:gridCol w="2667000"/>
                <a:gridCol w="8496300"/>
              </a:tblGrid>
              <a:tr h="643890">
                <a:tc>
                  <a:txBody>
                    <a:bodyPr/>
                    <a:lstStyle/>
                    <a:p>
                      <a:pPr algn="ctr"/>
                      <a:r>
                        <a:rPr sz="1875" b="1">
                          <a:solidFill>
                            <a:srgbClr val="2E7D5B"/>
                          </a:solidFill>
                          <a:latin typeface="Noto Sans JP"/>
                          <a:ea typeface="Noto Sans JP"/>
                          <a:cs typeface="Noto Sans JP"/>
                        </a:rPr>
                        <a:t>比較・評価</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確認すること</a:t>
                      </a:r>
                    </a:p>
                  </a:txBody>
                  <a:tcPr marL="91440" marR="91440" marT="45720" marB="45720" anchor="ctr">
                    <a:solidFill>
                      <a:srgbClr val="E7F2EC"/>
                    </a:solidFill>
                  </a:tcPr>
                </a:tc>
              </a:tr>
              <a:tr h="643890">
                <a:tc>
                  <a:txBody>
                    <a:bodyPr/>
                    <a:lstStyle/>
                    <a:p>
                      <a:pPr algn="ctr"/>
                      <a:r>
                        <a:rPr sz="1875" b="0">
                          <a:solidFill>
                            <a:srgbClr val="222222"/>
                          </a:solidFill>
                          <a:latin typeface="Noto Sans JP"/>
                          <a:ea typeface="Noto Sans JP"/>
                          <a:cs typeface="Noto Sans JP"/>
                        </a:rPr>
                        <a:t>同じVIME内の比較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列置換 / 各列独立生成 / コピュラ条件付き生成</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既存手法との比較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拡張なし、先行研究1・2、近傍法などの分類性能</a:t>
                      </a:r>
                    </a:p>
                  </a:txBody>
                  <a:tcPr marL="91440" marR="91440" marT="45720" marB="45720" anchor="ctr">
                    <a:solidFill>
                      <a:srgbClr val="F6F6F6"/>
                    </a:solidFill>
                  </a:tcPr>
                </a:tc>
              </a:tr>
              <a:tr h="643890">
                <a:tc>
                  <a:txBody>
                    <a:bodyPr/>
                    <a:lstStyle/>
                    <a:p>
                      <a:pPr algn="ctr"/>
                      <a:r>
                        <a:rPr sz="1875" b="0">
                          <a:solidFill>
                            <a:srgbClr val="222222"/>
                          </a:solidFill>
                          <a:latin typeface="Noto Sans JP"/>
                          <a:ea typeface="Noto Sans JP"/>
                          <a:cs typeface="Noto Sans JP"/>
                        </a:rPr>
                        <a:t>評価条件の統一</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同じ分割・利用データ・モデル規模・調整予算。</a:t>
                      </a:r>
                    </a:p>
                    <a:p>
                      <a:pPr algn="ctr"/>
                      <a:r>
                        <a:rPr sz="1875" b="0">
                          <a:solidFill>
                            <a:srgbClr val="222222"/>
                          </a:solidFill>
                          <a:latin typeface="Noto Sans JP"/>
                          <a:ea typeface="Noto Sans JP"/>
                          <a:cs typeface="Noto Sans JP"/>
                        </a:rPr>
                        <a:t>複数データとseedで差と不確実性を報告</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生成品質の評価</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依存の再現、既知の制約違反、変更量・多様性、</a:t>
                      </a:r>
                    </a:p>
                    <a:p>
                      <a:pPr algn="ctr"/>
                      <a:r>
                        <a:rPr sz="1875" b="0">
                          <a:solidFill>
                            <a:srgbClr val="222222"/>
                          </a:solidFill>
                          <a:latin typeface="Noto Sans JP"/>
                          <a:ea typeface="Noto Sans JP"/>
                          <a:cs typeface="Noto Sans JP"/>
                        </a:rPr>
                        <a:t>ラベル付き検証データでのクラス保持の代理評価</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0EA11A5C-1784-4FB0-BB59-AFC5416CF46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054045-456A-417C-97DE-CA1174BE1CE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依存を保つだけでは、クラス保持や分類性能の向上は保証されない</a:t>
            </a:r>
          </a:p>
        </p:txBody>
      </p:sp>
    </p:spTree>
    <p:extLst>
      <p:ext uri="{BB962C8B-B14F-4D97-AF65-F5344CB8AC3E}">
        <p14:creationId xmlns:p14="http://schemas.microsoft.com/office/powerpoint/2010/main" val="65380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2026-10-05T01:21:32.8600000Z</dcterms:created>
  <dcterms:modified xsi:type="dcterms:W3CDTF">2026-10-05T01:21:32.8600000Z</dcterms:modified>
</coreProperties>
</file>