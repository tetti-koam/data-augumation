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eda47f30b749e7" /><Relationship Type="http://schemas.openxmlformats.org/officeDocument/2006/relationships/extended-properties" Target="/docProps/app.xml" Id="R6cddcea555174a01" /><Relationship Type="http://schemas.openxmlformats.org/officeDocument/2006/relationships/officeDocument" Target="/ppt/presentation.xml" Id="R25f73c241f7f4acc" /></Relationships>
</file>

<file path=ppt/presentation.xml><?xml version="1.0" encoding="utf-8"?>
<p:presentation xmlns:p="http://schemas.openxmlformats.org/presentationml/2006/main">
  <p:sldMasterIdLst>
    <p:sldMasterId xmlns:r="http://schemas.openxmlformats.org/officeDocument/2006/relationships" id="2147483648" r:id="R96165da3d2f14da7"/>
  </p:sldMasterIdLst>
  <p:notesMasterIdLst>
    <p:notesMasterId xmlns:r="http://schemas.openxmlformats.org/officeDocument/2006/relationships" r:id="R26b3d8e6d31e4b1d"/>
  </p:notesMasterIdLst>
  <p:sldIdLst>
    <p:sldId xmlns:r="http://schemas.openxmlformats.org/officeDocument/2006/relationships" id="256" r:id="R85a678357be742a5"/>
    <p:sldId xmlns:r="http://schemas.openxmlformats.org/officeDocument/2006/relationships" id="257" r:id="Rd32bbfe59bc545c2"/>
    <p:sldId xmlns:r="http://schemas.openxmlformats.org/officeDocument/2006/relationships" id="258" r:id="R9c069cc55b694b26"/>
    <p:sldId xmlns:r="http://schemas.openxmlformats.org/officeDocument/2006/relationships" id="259" r:id="R177aa87b267f41df"/>
    <p:sldId xmlns:r="http://schemas.openxmlformats.org/officeDocument/2006/relationships" id="260" r:id="R8cffb26dfb2042a8"/>
    <p:sldId xmlns:r="http://schemas.openxmlformats.org/officeDocument/2006/relationships" id="261" r:id="Ra922d8457ac24b37"/>
    <p:sldId xmlns:r="http://schemas.openxmlformats.org/officeDocument/2006/relationships" id="262" r:id="Rc6afb11aee1f4433"/>
    <p:sldId xmlns:r="http://schemas.openxmlformats.org/officeDocument/2006/relationships" id="263" r:id="Ra730d503dc2f4eaf"/>
    <p:sldId xmlns:r="http://schemas.openxmlformats.org/officeDocument/2006/relationships" id="264" r:id="R1d6ee0ffd63442f4"/>
    <p:sldId xmlns:r="http://schemas.openxmlformats.org/officeDocument/2006/relationships" id="265" r:id="Rdef62891a7ac4fe5"/>
    <p:sldId xmlns:r="http://schemas.openxmlformats.org/officeDocument/2006/relationships" id="266" r:id="R7bb6e97f71174124"/>
    <p:sldId xmlns:r="http://schemas.openxmlformats.org/officeDocument/2006/relationships" id="267" r:id="R2ab75425c6244609"/>
    <p:sldId xmlns:r="http://schemas.openxmlformats.org/officeDocument/2006/relationships" id="268" r:id="Rbb937e6044de4649"/>
    <p:sldId xmlns:r="http://schemas.openxmlformats.org/officeDocument/2006/relationships" id="269" r:id="Re0a291a1757a4a4d"/>
    <p:sldId xmlns:r="http://schemas.openxmlformats.org/officeDocument/2006/relationships" id="270" r:id="R8f57a8ed1c024bc3"/>
    <p:sldId xmlns:r="http://schemas.openxmlformats.org/officeDocument/2006/relationships" id="271" r:id="R3833df531884431d"/>
    <p:sldId xmlns:r="http://schemas.openxmlformats.org/officeDocument/2006/relationships" id="272" r:id="R308afaa39fa9486c"/>
    <p:sldId xmlns:r="http://schemas.openxmlformats.org/officeDocument/2006/relationships" id="273" r:id="R1be480d45c9e4897"/>
    <p:sldId xmlns:r="http://schemas.openxmlformats.org/officeDocument/2006/relationships" id="274" r:id="Rd4ab4237f4dc4605"/>
    <p:sldId xmlns:r="http://schemas.openxmlformats.org/officeDocument/2006/relationships" id="275" r:id="R4c94b663e1ab4a0e"/>
    <p:sldId xmlns:r="http://schemas.openxmlformats.org/officeDocument/2006/relationships" id="276" r:id="R8946c6c10c214b7b"/>
    <p:sldId xmlns:r="http://schemas.openxmlformats.org/officeDocument/2006/relationships" id="277" r:id="R94bea01016b54099"/>
    <p:sldId xmlns:r="http://schemas.openxmlformats.org/officeDocument/2006/relationships" id="278" r:id="R7996601ffdb646e7"/>
    <p:sldId xmlns:r="http://schemas.openxmlformats.org/officeDocument/2006/relationships" id="279" r:id="R6aba441b411c40ce"/>
    <p:sldId xmlns:r="http://schemas.openxmlformats.org/officeDocument/2006/relationships" id="280" r:id="R5d81eb006f834537"/>
    <p:sldId xmlns:r="http://schemas.openxmlformats.org/officeDocument/2006/relationships" id="281" r:id="R04d8f17fc8914372"/>
    <p:sldId xmlns:r="http://schemas.openxmlformats.org/officeDocument/2006/relationships" id="282" r:id="R83c36009c550484b"/>
    <p:sldId xmlns:r="http://schemas.openxmlformats.org/officeDocument/2006/relationships" id="283" r:id="Rc55029ccd25f4a01"/>
    <p:sldId xmlns:r="http://schemas.openxmlformats.org/officeDocument/2006/relationships" id="284" r:id="R8519413e61904d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cbaed6f8144668" /><Relationship Type="http://schemas.openxmlformats.org/officeDocument/2006/relationships/slideMaster" Target="/ppt/slideMasters/slideMaster1.xml" Id="R96165da3d2f14da7" /><Relationship Type="http://schemas.openxmlformats.org/officeDocument/2006/relationships/notesMaster" Target="/ppt/notesMasters/notesMaster1.xml" Id="R26b3d8e6d31e4b1d" /><Relationship Type="http://schemas.openxmlformats.org/officeDocument/2006/relationships/presProps" Target="/ppt/presProps.xml" Id="Rc442e48815f14e0b" /><Relationship Type="http://schemas.openxmlformats.org/officeDocument/2006/relationships/tableStyles" Target="/ppt/tableStyles.xml" Id="Rc3a0a9db9c6a4f4b" /><Relationship Type="http://schemas.openxmlformats.org/officeDocument/2006/relationships/slide" Target="/ppt/slides/slide1.xml" Id="R85a678357be742a5" /><Relationship Type="http://schemas.openxmlformats.org/officeDocument/2006/relationships/slide" Target="/ppt/slides/slide2.xml" Id="Rd32bbfe59bc545c2" /><Relationship Type="http://schemas.openxmlformats.org/officeDocument/2006/relationships/slide" Target="/ppt/slides/slide3.xml" Id="R9c069cc55b694b26" /><Relationship Type="http://schemas.openxmlformats.org/officeDocument/2006/relationships/slide" Target="/ppt/slides/slide4.xml" Id="R177aa87b267f41df" /><Relationship Type="http://schemas.openxmlformats.org/officeDocument/2006/relationships/slide" Target="/ppt/slides/slide5.xml" Id="R8cffb26dfb2042a8" /><Relationship Type="http://schemas.openxmlformats.org/officeDocument/2006/relationships/slide" Target="/ppt/slides/slide6.xml" Id="Ra922d8457ac24b37" /><Relationship Type="http://schemas.openxmlformats.org/officeDocument/2006/relationships/slide" Target="/ppt/slides/slide7.xml" Id="Rc6afb11aee1f4433" /><Relationship Type="http://schemas.openxmlformats.org/officeDocument/2006/relationships/slide" Target="/ppt/slides/slide8.xml" Id="Ra730d503dc2f4eaf" /><Relationship Type="http://schemas.openxmlformats.org/officeDocument/2006/relationships/slide" Target="/ppt/slides/slide9.xml" Id="R1d6ee0ffd63442f4" /><Relationship Type="http://schemas.openxmlformats.org/officeDocument/2006/relationships/slide" Target="/ppt/slides/slide10.xml" Id="Rdef62891a7ac4fe5" /><Relationship Type="http://schemas.openxmlformats.org/officeDocument/2006/relationships/slide" Target="/ppt/slides/slide11.xml" Id="R7bb6e97f71174124" /><Relationship Type="http://schemas.openxmlformats.org/officeDocument/2006/relationships/slide" Target="/ppt/slides/slide12.xml" Id="R2ab75425c6244609" /><Relationship Type="http://schemas.openxmlformats.org/officeDocument/2006/relationships/slide" Target="/ppt/slides/slide13.xml" Id="Rbb937e6044de4649" /><Relationship Type="http://schemas.openxmlformats.org/officeDocument/2006/relationships/slide" Target="/ppt/slides/slide14.xml" Id="Re0a291a1757a4a4d" /><Relationship Type="http://schemas.openxmlformats.org/officeDocument/2006/relationships/slide" Target="/ppt/slides/slide15.xml" Id="R8f57a8ed1c024bc3" /><Relationship Type="http://schemas.openxmlformats.org/officeDocument/2006/relationships/slide" Target="/ppt/slides/slide16.xml" Id="R3833df531884431d" /><Relationship Type="http://schemas.openxmlformats.org/officeDocument/2006/relationships/slide" Target="/ppt/slides/slide17.xml" Id="R308afaa39fa9486c" /><Relationship Type="http://schemas.openxmlformats.org/officeDocument/2006/relationships/slide" Target="/ppt/slides/slide18.xml" Id="R1be480d45c9e4897" /><Relationship Type="http://schemas.openxmlformats.org/officeDocument/2006/relationships/slide" Target="/ppt/slides/slide19.xml" Id="Rd4ab4237f4dc4605" /><Relationship Type="http://schemas.openxmlformats.org/officeDocument/2006/relationships/slide" Target="/ppt/slides/slide20.xml" Id="R4c94b663e1ab4a0e" /><Relationship Type="http://schemas.openxmlformats.org/officeDocument/2006/relationships/slide" Target="/ppt/slides/slide21.xml" Id="R8946c6c10c214b7b" /><Relationship Type="http://schemas.openxmlformats.org/officeDocument/2006/relationships/slide" Target="/ppt/slides/slide22.xml" Id="R94bea01016b54099" /><Relationship Type="http://schemas.openxmlformats.org/officeDocument/2006/relationships/slide" Target="/ppt/slides/slide23.xml" Id="R7996601ffdb646e7" /><Relationship Type="http://schemas.openxmlformats.org/officeDocument/2006/relationships/slide" Target="/ppt/slides/slide24.xml" Id="R6aba441b411c40ce" /><Relationship Type="http://schemas.openxmlformats.org/officeDocument/2006/relationships/slide" Target="/ppt/slides/slide25.xml" Id="R5d81eb006f834537" /><Relationship Type="http://schemas.openxmlformats.org/officeDocument/2006/relationships/slide" Target="/ppt/slides/slide26.xml" Id="R04d8f17fc8914372" /><Relationship Type="http://schemas.openxmlformats.org/officeDocument/2006/relationships/slide" Target="/ppt/slides/slide27.xml" Id="R83c36009c550484b" /><Relationship Type="http://schemas.openxmlformats.org/officeDocument/2006/relationships/slide" Target="/ppt/slides/slide28.xml" Id="Rc55029ccd25f4a01" /><Relationship Type="http://schemas.openxmlformats.org/officeDocument/2006/relationships/slide" Target="/ppt/slides/slide29.xml" Id="R8519413e61904d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2bdedebbb040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529005ec64013" /><Relationship Type="http://schemas.openxmlformats.org/officeDocument/2006/relationships/notesMaster" Target="/ppt/notesMasters/notesMaster1.xml" Id="Rc0c6ade2c44e49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f33b909fb145aa" /><Relationship Type="http://schemas.openxmlformats.org/officeDocument/2006/relationships/notesMaster" Target="/ppt/notesMasters/notesMaster1.xml" Id="R18141793f7584d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d104a80634270" /><Relationship Type="http://schemas.openxmlformats.org/officeDocument/2006/relationships/notesMaster" Target="/ppt/notesMasters/notesMaster1.xml" Id="Raa40e8ba6ef446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1ad12fae1c418f" /><Relationship Type="http://schemas.openxmlformats.org/officeDocument/2006/relationships/notesMaster" Target="/ppt/notesMasters/notesMaster1.xml" Id="R980d1dd43f6141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a69e535d9f4d61" /><Relationship Type="http://schemas.openxmlformats.org/officeDocument/2006/relationships/notesMaster" Target="/ppt/notesMasters/notesMaster1.xml" Id="R4089b2ab91d640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12cc3362ee4ce2" /><Relationship Type="http://schemas.openxmlformats.org/officeDocument/2006/relationships/notesMaster" Target="/ppt/notesMasters/notesMaster1.xml" Id="Rff293141488545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f41ace72a848da" /><Relationship Type="http://schemas.openxmlformats.org/officeDocument/2006/relationships/notesMaster" Target="/ppt/notesMasters/notesMaster1.xml" Id="R0a01ef7b8ffb47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f605907a7c42e3" /><Relationship Type="http://schemas.openxmlformats.org/officeDocument/2006/relationships/notesMaster" Target="/ppt/notesMasters/notesMaster1.xml" Id="R7704aa89a413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84724630cc47f0" /><Relationship Type="http://schemas.openxmlformats.org/officeDocument/2006/relationships/notesMaster" Target="/ppt/notesMasters/notesMaster1.xml" Id="R073a7d9dbff745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133e57cf1a4d7c" /><Relationship Type="http://schemas.openxmlformats.org/officeDocument/2006/relationships/notesMaster" Target="/ppt/notesMasters/notesMaster1.xml" Id="Rb90e8826e5bb48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ba0fa2f7f5453b" /><Relationship Type="http://schemas.openxmlformats.org/officeDocument/2006/relationships/notesMaster" Target="/ppt/notesMasters/notesMaster1.xml" Id="R8027c5fa7f9641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9b4f488f394f8c" /><Relationship Type="http://schemas.openxmlformats.org/officeDocument/2006/relationships/notesMaster" Target="/ppt/notesMasters/notesMaster1.xml" Id="R33c0b945cace43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7c1af47f754780" /><Relationship Type="http://schemas.openxmlformats.org/officeDocument/2006/relationships/notesMaster" Target="/ppt/notesMasters/notesMaster1.xml" Id="R0300aec08a6849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3ff9f5c5a747e2" /><Relationship Type="http://schemas.openxmlformats.org/officeDocument/2006/relationships/notesMaster" Target="/ppt/notesMasters/notesMaster1.xml" Id="R22c8841111f648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bdc908d00a4037" /><Relationship Type="http://schemas.openxmlformats.org/officeDocument/2006/relationships/notesMaster" Target="/ppt/notesMasters/notesMaster1.xml" Id="R1192f8a4dfd042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db187349b046b8" /><Relationship Type="http://schemas.openxmlformats.org/officeDocument/2006/relationships/notesMaster" Target="/ppt/notesMasters/notesMaster1.xml" Id="Rbe88e379a3bd4a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f34104d01e48a0" /><Relationship Type="http://schemas.openxmlformats.org/officeDocument/2006/relationships/notesMaster" Target="/ppt/notesMasters/notesMaster1.xml" Id="R29fa5ba6ad4445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1d14ee12f94af6" /><Relationship Type="http://schemas.openxmlformats.org/officeDocument/2006/relationships/notesMaster" Target="/ppt/notesMasters/notesMaster1.xml" Id="R047441a776ef47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7dc87869484d6d" /><Relationship Type="http://schemas.openxmlformats.org/officeDocument/2006/relationships/notesMaster" Target="/ppt/notesMasters/notesMaster1.xml" Id="R25f5a8e111c347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c83b5f995a418e" /><Relationship Type="http://schemas.openxmlformats.org/officeDocument/2006/relationships/notesMaster" Target="/ppt/notesMasters/notesMaster1.xml" Id="R54c52f5a8b3746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a3ad35902d4525" /><Relationship Type="http://schemas.openxmlformats.org/officeDocument/2006/relationships/notesMaster" Target="/ppt/notesMasters/notesMaster1.xml" Id="Re1b854fd64914d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2cc29413294321" /><Relationship Type="http://schemas.openxmlformats.org/officeDocument/2006/relationships/notesMaster" Target="/ppt/notesMasters/notesMaster1.xml" Id="R59eb8a24c0784c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cf4e289aad4a0d" /><Relationship Type="http://schemas.openxmlformats.org/officeDocument/2006/relationships/notesMaster" Target="/ppt/notesMasters/notesMaster1.xml" Id="R82e416bda7cd48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c30a9aebfb4423" /><Relationship Type="http://schemas.openxmlformats.org/officeDocument/2006/relationships/notesMaster" Target="/ppt/notesMasters/notesMaster1.xml" Id="R1097b3b0aaab49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1f4ebba9104cc3" /><Relationship Type="http://schemas.openxmlformats.org/officeDocument/2006/relationships/notesMaster" Target="/ppt/notesMasters/notesMaster1.xml" Id="R181062f0f44c4e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afacebb0e045fb" /><Relationship Type="http://schemas.openxmlformats.org/officeDocument/2006/relationships/notesMaster" Target="/ppt/notesMasters/notesMaster1.xml" Id="Rb97515b876fa45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81e29ff9334f14" /><Relationship Type="http://schemas.openxmlformats.org/officeDocument/2006/relationships/notesMaster" Target="/ppt/notesMasters/notesMaster1.xml" Id="R16950648fcdf42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18d1316615440e" /><Relationship Type="http://schemas.openxmlformats.org/officeDocument/2006/relationships/notesMaster" Target="/ppt/notesMasters/notesMaster1.xml" Id="R4c6902b47ea44ea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fc860d4f7c47e1" /><Relationship Type="http://schemas.openxmlformats.org/officeDocument/2006/relationships/notesMaster" Target="/ppt/notesMasters/notesMaster1.xml" Id="R44e9037836c84e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非単調な例に更新した説明資料。本編20枚、補足9枚。</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今回のVIME実装は疑似ラベルを付与しない。ラベルなしの複数拡張への予測一貫性を用いる。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Y=X²と仮定する。5点は関係を示す代表点であり、5件の経験CDFで理論CDFを推定したものではない。FX(x)=(x+1)/2、FY(y)=sqrt(y)、V=|2U-1|。実験データではない。右は依存を壊す説明用の並べ替え。</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Y=X²と仮定する。5点は関係を示す代表点であり、5件の経験CDFで理論CDFを推定したものではない。FX(x)=(x+1)/2、FY(y)=sqrt(y)、V=|2U-1|。実験データではない。C(.75,.5)=.5。代表5点の経験割合ではない。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区間長による独自導出。特異コピュラで通常の2次元密度を持た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既知の理想関係を使う説明。現実のデータでは条件付き依存を推定する必要があり、Gaussian実装の出力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Xの符号反転でZXは奇関数、ZYは偶関数。積の期待値0、潜在相関0。母集団の理想値。有限標本では推定誤差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corruption.pyの実装。周辺と相関をラベルなし訓練データから推定。正規潜在空間で条件付き生成、元値への逆変換は線形補間の経験分位点。</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今後の検証案であり未実行。補足の既存実験結果とは別。</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根拠：tmp/seminar_20261005/rerun_results.json versions。ハードウェア機種やRAMは記録にないため記載しない。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根拠：load_breast_cancer / load_wineの公式説明とrun_experiment.py。乳がんは細胞核の測定特徴、Wineはワインの化学分析と3品種。</a:t>
            </a:r>
          </a:p>
          <a:p xmlns:a="http://schemas.openxmlformats.org/drawingml/2006/main">
            <a:r>
              <a:t/>
            </a:r>
          </a:p>
          <a:p xmlns:a="http://schemas.openxmlformats.org/drawingml/2006/main">
            <a:r>
              <a:t>出典・根拠</a:t>
            </a:r>
          </a:p>
          <a:p xmlns:a="http://schemas.openxmlformats.org/drawingml/2006/main">
            <a:r>
              <a:t>https://scikit-learn.org/stable/modules/generated/sklearn.datasets.load_breast_cancer.html</a:t>
            </a:r>
          </a:p>
          <a:p xmlns:a="http://schemas.openxmlformats.org/drawingml/2006/main">
            <a:r>
              <a:t>https://scikit-learn.org/stable/modules/generated/sklearn.datasets.load_wine.html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runs内n_labeled n_unlabeled n_test。5seedとも同数。整数丸めにより30%と厳密一致しない。層化分割。ラベルなしはラベルを隠して使用。</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根拠：research-bench/src/tabular_research/vime_torch.py と run_experiment.py。原論文の全実験の再現ではなく、この実装内の比較。</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根拠：run_experiment.py と rerun_results.json protocol。MinMaxは訓練全体のみ、コピュラfitはラベルなし訓練のみ。再分割5回。</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summary。SDはddof1。差の区間はペア差のpercentile bootstrap、5seedの探索比較で不確実性大。</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ここからは今後の実験設計の提案。実験結果の主張ではない。公平な評価と不確実性の記載はNeurIPS checklistを参考にする。学習条件を統一した置換器比較で寄与を検討し、研究全体の性能は既存法の一式と比較する。</a:t>
            </a:r>
          </a:p>
          <a:p xmlns:a="http://schemas.openxmlformats.org/drawingml/2006/main">
            <a:r>
              <a:t/>
            </a:r>
          </a:p>
          <a:p xmlns:a="http://schemas.openxmlformats.org/drawingml/2006/main">
            <a:r>
              <a:t>出典・根拠</a:t>
            </a:r>
          </a:p>
          <a:p xmlns:a="http://schemas.openxmlformats.org/drawingml/2006/main">
            <a:r>
              <a:t>https://nips.cc/public/guides/PaperChecklist</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実験計画。学習曲線は未実行。ラベルなし集合を固定するならラベル数を増減する専用のラベル付き候補を別途用意する。固定訓練プールを一部ラベル化する設計も可能だがラベルなし件数が変わるため利用プール固定と明記。学習量の比較は分類器を含む手法全体で行う。</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計画の提案。列シャッフル対比に加え、R=Iまたは各列独立生成を加えると周辺の生成と条件依存の寄与を分けやすい。補正・最適化予算は公平にし各手法の調整をvalidationで実施。クラス保持評価は別のラベル付き検証データを利用し評価用ラベルが訓練に混入しないようにする。未知実データで生成した個体の真のラベルは観測できず代理評価の限界あり。Pearsonだけでなくrank/裾/制約も対象依存に応じる。</a:t>
            </a:r>
          </a:p>
          <a:p xmlns:a="http://schemas.openxmlformats.org/drawingml/2006/main">
            <a:r>
              <a:t/>
            </a:r>
          </a:p>
          <a:p xmlns:a="http://schemas.openxmlformats.org/drawingml/2006/main">
            <a:r>
              <a:t>出典・根拠</a:t>
            </a:r>
          </a:p>
          <a:p xmlns:a="http://schemas.openxmlformats.org/drawingml/2006/main">
            <a:r>
              <a:t>https://nips.cc/public/guides/PaperChecklist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9702926bdc4a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9230637f3940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b4be1756a649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1ddd8d313047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57b344364340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b4be71b49b43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494181-5975-4DD7-B32B-53EA251521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2D69DA-68D7-47E6-92C0-F913CB93A6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871CB5-DC22-4602-BB86-CBFD983ACD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6F4B58-9FD6-493A-A46E-28BA1C43B7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EE72CB-7252-42B2-8E83-B8C478D74F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DEDC71-DC37-4D28-948D-8ACA2DF2AD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245B03-9AF7-46AB-BA77-F08F9E37EA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9D149E-E56C-44FE-B2C5-0EAB673E51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0345C-31E9-4044-A25C-3C5063CFDF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A8FC54-AE23-444E-B3BE-37DD96E6BD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5cf4a67b214227" /><Relationship Type="http://schemas.openxmlformats.org/officeDocument/2006/relationships/slideLayout" Target="/ppt/slideLayouts/slideLayout1.xml" Id="Rf2b5c9d66e054c32" /><Relationship Type="http://schemas.openxmlformats.org/officeDocument/2006/relationships/slideLayout" Target="/ppt/slideLayouts/slideLayout2.xml" Id="R342ab5a4f42b4dcf" /><Relationship Type="http://schemas.openxmlformats.org/officeDocument/2006/relationships/slideLayout" Target="/ppt/slideLayouts/slideLayout3.xml" Id="Rae77c83137814ff0" /><Relationship Type="http://schemas.openxmlformats.org/officeDocument/2006/relationships/slideLayout" Target="/ppt/slideLayouts/slideLayout4.xml" Id="R043a69964df44ac8" /><Relationship Type="http://schemas.openxmlformats.org/officeDocument/2006/relationships/slideLayout" Target="/ppt/slideLayouts/slideLayout5.xml" Id="R5c8a5312e35a47e8" /><Relationship Type="http://schemas.openxmlformats.org/officeDocument/2006/relationships/slideLayout" Target="/ppt/slideLayouts/slideLayout6.xml" Id="R21e7a90ffb9c4f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5c9d66e054c32"/>
    <p:sldLayoutId xmlns:r="http://schemas.openxmlformats.org/officeDocument/2006/relationships" id="2147483650" r:id="R342ab5a4f42b4dcf"/>
    <p:sldLayoutId xmlns:r="http://schemas.openxmlformats.org/officeDocument/2006/relationships" id="2147483651" r:id="Rae77c83137814ff0"/>
    <p:sldLayoutId xmlns:r="http://schemas.openxmlformats.org/officeDocument/2006/relationships" id="2147483652" r:id="R043a69964df44ac8"/>
    <p:sldLayoutId xmlns:r="http://schemas.openxmlformats.org/officeDocument/2006/relationships" id="2147483653" r:id="R5c8a5312e35a47e8"/>
    <p:sldLayoutId xmlns:r="http://schemas.openxmlformats.org/officeDocument/2006/relationships" id="2147483654" r:id="R21e7a90ffb9c4f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784a20b9204cd4" /><Relationship Type="http://schemas.openxmlformats.org/officeDocument/2006/relationships/notesSlide" Target="/ppt/notesSlides/notesSlide1.xml" Id="R13912ae1abd34c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74dd3944c40ef" /><Relationship Type="http://schemas.openxmlformats.org/officeDocument/2006/relationships/notesSlide" Target="/ppt/notesSlides/notesSlide2.xml" Id="R5b19bde84cd042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4a8eea77834aa4" /><Relationship Type="http://schemas.openxmlformats.org/officeDocument/2006/relationships/notesSlide" Target="/ppt/notesSlides/notesSlide3.xml" Id="Rbd76bd4440e745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1e0c84a545410f" /><Relationship Type="http://schemas.openxmlformats.org/officeDocument/2006/relationships/chart" Target="/ppt/slides/charts/chart1.xml" Id="R403dbe534af646c0" /><Relationship Type="http://schemas.openxmlformats.org/officeDocument/2006/relationships/notesSlide" Target="/ppt/notesSlides/notesSlide4.xml" Id="R2b1b081a0f61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1c3612c4a64b7b" /><Relationship Type="http://schemas.openxmlformats.org/officeDocument/2006/relationships/chart" Target="/ppt/slides/charts/chart2.xml" Id="Ra051ed83fb6645cc" /><Relationship Type="http://schemas.openxmlformats.org/officeDocument/2006/relationships/chart" Target="/ppt/slides/charts/chart3.xml" Id="R0abd901bf562462c" /><Relationship Type="http://schemas.openxmlformats.org/officeDocument/2006/relationships/notesSlide" Target="/ppt/notesSlides/notesSlide5.xml" Id="Rd69b2470af0a43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9c3fcc89804a1d" /><Relationship Type="http://schemas.openxmlformats.org/officeDocument/2006/relationships/notesSlide" Target="/ppt/notesSlides/notesSlide6.xml" Id="R9ac0fc2f6cf14a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e66b66fbd4447b" /><Relationship Type="http://schemas.openxmlformats.org/officeDocument/2006/relationships/notesSlide" Target="/ppt/notesSlides/notesSlide7.xml" Id="Rbd077afed31646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f456f9579745c7" /><Relationship Type="http://schemas.openxmlformats.org/officeDocument/2006/relationships/notesSlide" Target="/ppt/notesSlides/notesSlide8.xml" Id="R8968773ba9404e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d9bcaf92be400f" /><Relationship Type="http://schemas.openxmlformats.org/officeDocument/2006/relationships/chart" Target="/ppt/slides/charts/chart4.xml" Id="R3f953eaf846b4989" /><Relationship Type="http://schemas.openxmlformats.org/officeDocument/2006/relationships/notesSlide" Target="/ppt/notesSlides/notesSlide9.xml" Id="Rdb9d4876bbec42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a9f774ffa744b3" /><Relationship Type="http://schemas.openxmlformats.org/officeDocument/2006/relationships/notesSlide" Target="/ppt/notesSlides/notesSlide10.xml" Id="Rdc046005680841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3e7702067a4971" /><Relationship Type="http://schemas.openxmlformats.org/officeDocument/2006/relationships/chart" Target="/ppt/slides/charts/chart5.xml" Id="R3ab9e93328684153" /><Relationship Type="http://schemas.openxmlformats.org/officeDocument/2006/relationships/notesSlide" Target="/ppt/notesSlides/notesSlide11.xml" Id="Rc692f30d167944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a55cf7223f4719" /><Relationship Type="http://schemas.openxmlformats.org/officeDocument/2006/relationships/notesSlide" Target="/ppt/notesSlides/notesSlide12.xml" Id="R934ecbb2fe1a4a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cba73f7e484593" /><Relationship Type="http://schemas.openxmlformats.org/officeDocument/2006/relationships/notesSlide" Target="/ppt/notesSlides/notesSlide13.xml" Id="R786c4b0c33c94e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e5239a24464ae6" /><Relationship Type="http://schemas.openxmlformats.org/officeDocument/2006/relationships/notesSlide" Target="/ppt/notesSlides/notesSlide14.xml" Id="R0812f8be1d024b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0ed04ae1fd4ac4" /><Relationship Type="http://schemas.openxmlformats.org/officeDocument/2006/relationships/notesSlide" Target="/ppt/notesSlides/notesSlide15.xml" Id="R1cbbe771c94241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14ca527a3ee4de6" /><Relationship Type="http://schemas.openxmlformats.org/officeDocument/2006/relationships/notesSlide" Target="/ppt/notesSlides/notesSlide16.xml" Id="R4c4eff5559a7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0a5f89c09d0466f" /><Relationship Type="http://schemas.openxmlformats.org/officeDocument/2006/relationships/notesSlide" Target="/ppt/notesSlides/notesSlide17.xml" Id="Re5b20f0438b241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51f3b959494852" /><Relationship Type="http://schemas.openxmlformats.org/officeDocument/2006/relationships/notesSlide" Target="/ppt/notesSlides/notesSlide18.xml" Id="R66e085b53c664d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0c77320f3424697" /><Relationship Type="http://schemas.openxmlformats.org/officeDocument/2006/relationships/notesSlide" Target="/ppt/notesSlides/notesSlide19.xml" Id="Rf913effbf27047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8cf78a4a0374f89" /><Relationship Type="http://schemas.openxmlformats.org/officeDocument/2006/relationships/notesSlide" Target="/ppt/notesSlides/notesSlide20.xml" Id="Re68ebcef063c4d8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0db9f42a80a4d0a" /><Relationship Type="http://schemas.openxmlformats.org/officeDocument/2006/relationships/notesSlide" Target="/ppt/notesSlides/notesSlide21.xml" Id="R2d76dde100124f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ad0c904dad4411" /><Relationship Type="http://schemas.openxmlformats.org/officeDocument/2006/relationships/notesSlide" Target="/ppt/notesSlides/notesSlide22.xml" Id="R315761c98fa643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4ca6b2034bd495d" /><Relationship Type="http://schemas.openxmlformats.org/officeDocument/2006/relationships/notesSlide" Target="/ppt/notesSlides/notesSlide23.xml" Id="Rf99f072e100045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a467e28a1d14784" /><Relationship Type="http://schemas.openxmlformats.org/officeDocument/2006/relationships/notesSlide" Target="/ppt/notesSlides/notesSlide24.xml" Id="Ra2d99c8f06084d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9144e4d820345af" /><Relationship Type="http://schemas.openxmlformats.org/officeDocument/2006/relationships/notesSlide" Target="/ppt/notesSlides/notesSlide25.xml" Id="Rd505b87cca4b490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890774839c146e4" /><Relationship Type="http://schemas.openxmlformats.org/officeDocument/2006/relationships/notesSlide" Target="/ppt/notesSlides/notesSlide26.xml" Id="R35ffd56e957a47e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c1cb138cb9b4672" /><Relationship Type="http://schemas.openxmlformats.org/officeDocument/2006/relationships/notesSlide" Target="/ppt/notesSlides/notesSlide27.xml" Id="R417662fa2ed648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aa5775f05034a42" /><Relationship Type="http://schemas.openxmlformats.org/officeDocument/2006/relationships/notesSlide" Target="/ppt/notesSlides/notesSlide28.xml" Id="Rf2bd282399464a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18024ac15a45ed" /><Relationship Type="http://schemas.openxmlformats.org/officeDocument/2006/relationships/notesSlide" Target="/ppt/notesSlides/notesSlide29.xml" Id="Rb4152a624f664d50" /></Relationships>
</file>

<file path=ppt/slides/charts/chart1.xml><?xml version="1.0" encoding="utf-8"?>
<c:chartSpace xmlns:c="http://schemas.openxmlformats.org/drawingml/2006/chart">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Lit>
              <c:formatCode>General</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Lit>
          </c:xVal>
          <c:yVal>
            <c:numLit>
              <c:formatCode>0.0</c:formatCode>
              <c:ptCount val="81"/>
              <c:pt idx="0">
                <c:v>1</c:v>
              </c:pt>
              <c:pt idx="1">
                <c:v>0.950625</c:v>
              </c:pt>
              <c:pt idx="2">
                <c:v>0.9025</c:v>
              </c:pt>
              <c:pt idx="3">
                <c:v>0.855625</c:v>
              </c:pt>
              <c:pt idx="4">
                <c:v>0.81</c:v>
              </c:pt>
              <c:pt idx="5">
                <c:v>0.765625</c:v>
              </c:pt>
              <c:pt idx="6">
                <c:v>0.7225</c:v>
              </c:pt>
              <c:pt idx="7">
                <c:v>0.680625</c:v>
              </c:pt>
              <c:pt idx="8">
                <c:v>0.64</c:v>
              </c:pt>
              <c:pt idx="9">
                <c:v>0.600625</c:v>
              </c:pt>
              <c:pt idx="10">
                <c:v>0.5625</c:v>
              </c:pt>
              <c:pt idx="11">
                <c:v>0.525625</c:v>
              </c:pt>
              <c:pt idx="12">
                <c:v>0.49</c:v>
              </c:pt>
              <c:pt idx="13">
                <c:v>0.455625</c:v>
              </c:pt>
              <c:pt idx="14">
                <c:v>0.4225</c:v>
              </c:pt>
              <c:pt idx="15">
                <c:v>0.390625</c:v>
              </c:pt>
              <c:pt idx="16">
                <c:v>0.36</c:v>
              </c:pt>
              <c:pt idx="17">
                <c:v>0.330625</c:v>
              </c:pt>
              <c:pt idx="18">
                <c:v>0.3025</c:v>
              </c:pt>
              <c:pt idx="19">
                <c:v>0.275625</c:v>
              </c:pt>
              <c:pt idx="20">
                <c:v>0.25</c:v>
              </c:pt>
              <c:pt idx="21">
                <c:v>0.225625</c:v>
              </c:pt>
              <c:pt idx="22">
                <c:v>0.2025</c:v>
              </c:pt>
              <c:pt idx="23">
                <c:v>0.180625</c:v>
              </c:pt>
              <c:pt idx="24">
                <c:v>0.16</c:v>
              </c:pt>
              <c:pt idx="25">
                <c:v>0.140625</c:v>
              </c:pt>
              <c:pt idx="26">
                <c:v>0.1225</c:v>
              </c:pt>
              <c:pt idx="27">
                <c:v>0.105625</c:v>
              </c:pt>
              <c:pt idx="28">
                <c:v>0.09</c:v>
              </c:pt>
              <c:pt idx="29">
                <c:v>0.075625</c:v>
              </c:pt>
              <c:pt idx="30">
                <c:v>0.0625</c:v>
              </c:pt>
              <c:pt idx="31">
                <c:v>0.050625</c:v>
              </c:pt>
              <c:pt idx="32">
                <c:v>0.04</c:v>
              </c:pt>
              <c:pt idx="33">
                <c:v>0.030625</c:v>
              </c:pt>
              <c:pt idx="34">
                <c:v>0.0225</c:v>
              </c:pt>
              <c:pt idx="35">
                <c:v>0.015625</c:v>
              </c:pt>
              <c:pt idx="36">
                <c:v>0.01</c:v>
              </c:pt>
              <c:pt idx="37">
                <c:v>0.005625</c:v>
              </c:pt>
              <c:pt idx="38">
                <c:v>0.0025</c:v>
              </c:pt>
              <c:pt idx="39">
                <c:v>0.000625</c:v>
              </c:pt>
              <c:pt idx="40">
                <c:v>0</c:v>
              </c:pt>
              <c:pt idx="41">
                <c:v>0.000625</c:v>
              </c:pt>
              <c:pt idx="42">
                <c:v>0.0025</c:v>
              </c:pt>
              <c:pt idx="43">
                <c:v>0.005625</c:v>
              </c:pt>
              <c:pt idx="44">
                <c:v>0.01</c:v>
              </c:pt>
              <c:pt idx="45">
                <c:v>0.015625</c:v>
              </c:pt>
              <c:pt idx="46">
                <c:v>0.0225</c:v>
              </c:pt>
              <c:pt idx="47">
                <c:v>0.030625</c:v>
              </c:pt>
              <c:pt idx="48">
                <c:v>0.04</c:v>
              </c:pt>
              <c:pt idx="49">
                <c:v>0.050625</c:v>
              </c:pt>
              <c:pt idx="50">
                <c:v>0.0625</c:v>
              </c:pt>
              <c:pt idx="51">
                <c:v>0.075625</c:v>
              </c:pt>
              <c:pt idx="52">
                <c:v>0.09</c:v>
              </c:pt>
              <c:pt idx="53">
                <c:v>0.105625</c:v>
              </c:pt>
              <c:pt idx="54">
                <c:v>0.1225</c:v>
              </c:pt>
              <c:pt idx="55">
                <c:v>0.140625</c:v>
              </c:pt>
              <c:pt idx="56">
                <c:v>0.16</c:v>
              </c:pt>
              <c:pt idx="57">
                <c:v>0.180625</c:v>
              </c:pt>
              <c:pt idx="58">
                <c:v>0.2025</c:v>
              </c:pt>
              <c:pt idx="59">
                <c:v>0.225625</c:v>
              </c:pt>
              <c:pt idx="60">
                <c:v>0.25</c:v>
              </c:pt>
              <c:pt idx="61">
                <c:v>0.275625</c:v>
              </c:pt>
              <c:pt idx="62">
                <c:v>0.3025</c:v>
              </c:pt>
              <c:pt idx="63">
                <c:v>0.330625</c:v>
              </c:pt>
              <c:pt idx="64">
                <c:v>0.36</c:v>
              </c:pt>
              <c:pt idx="65">
                <c:v>0.390625</c:v>
              </c:pt>
              <c:pt idx="66">
                <c:v>0.4225</c:v>
              </c:pt>
              <c:pt idx="67">
                <c:v>0.455625</c:v>
              </c:pt>
              <c:pt idx="68">
                <c:v>0.49</c:v>
              </c:pt>
              <c:pt idx="69">
                <c:v>0.525625</c:v>
              </c:pt>
              <c:pt idx="70">
                <c:v>0.5625</c:v>
              </c:pt>
              <c:pt idx="71">
                <c:v>0.600625</c:v>
              </c:pt>
              <c:pt idx="72">
                <c:v>0.64</c:v>
              </c:pt>
              <c:pt idx="73">
                <c:v>0.680625</c:v>
              </c:pt>
              <c:pt idx="74">
                <c:v>0.7225</c:v>
              </c:pt>
              <c:pt idx="75">
                <c:v>0.765625</c:v>
              </c:pt>
              <c:pt idx="76">
                <c:v>0.81</c:v>
              </c:pt>
              <c:pt idx="77">
                <c:v>0.855625</c:v>
              </c:pt>
              <c:pt idx="78">
                <c:v>0.9025</c:v>
              </c:pt>
              <c:pt idx="79">
                <c:v>0.950625</c:v>
              </c:pt>
              <c:pt idx="80">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 = X²</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Lit>
              <c:formatCode>General</c:formatCode>
              <c:ptCount val="5"/>
              <c:pt idx="0">
                <c:v>-1</c:v>
              </c:pt>
              <c:pt idx="1">
                <c:v>-0.5</c:v>
              </c:pt>
              <c:pt idx="2">
                <c:v>0</c:v>
              </c:pt>
              <c:pt idx="3">
                <c:v>0.5</c:v>
              </c:pt>
              <c:pt idx="4">
                <c:v>1</c:v>
              </c:pt>
            </c:numLit>
          </c:xVal>
          <c:yVal>
            <c:numLit>
              <c:formatCode>0.0</c:formatCode>
              <c:ptCount val="5"/>
              <c:pt idx="0">
                <c:v>1</c:v>
              </c:pt>
              <c:pt idx="1">
                <c:v>0.25</c:v>
              </c:pt>
              <c:pt idx="2">
                <c:v>0</c:v>
              </c:pt>
              <c:pt idx="3">
                <c:v>0.25</c:v>
              </c:pt>
              <c:pt idx="4">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marker"/>
        <c:varyColors val="0"/>
        <c:ser>
          <c:idx val="0"/>
          <c:order val="0"/>
          <c:tx>
            <c:v>説明用データ</c:v>
          </c:tx>
          <c:spPr>
            <a:solidFill xmlns:a="http://schemas.openxmlformats.org/drawingml/2006/main">
              <a:srgbClr val="E0562B"/>
            </a:solidFill>
            <a:ln xmlns:a="http://schemas.openxmlformats.org/drawingml/2006/main" w="0">
              <a:noFill/>
            </a:ln>
          </c:spPr>
          <c:marker>
            <c:symbol val="circle"/>
            <c:size val="5"/>
          </c:marker>
          <c:xVal>
            <c:numLit>
              <c:formatCode>General</c:formatCode>
              <c:ptCount val="5"/>
              <c:pt idx="0">
                <c:v>-1</c:v>
              </c:pt>
              <c:pt idx="1">
                <c:v>-0.5</c:v>
              </c:pt>
              <c:pt idx="2">
                <c:v>0</c:v>
              </c:pt>
              <c:pt idx="3">
                <c:v>0.5</c:v>
              </c:pt>
              <c:pt idx="4">
                <c:v>1</c:v>
              </c:pt>
            </c:numLit>
          </c:xVal>
          <c:yVal>
            <c:numLit>
              <c:formatCode>0.0</c:formatCode>
              <c:ptCount val="5"/>
              <c:pt idx="0">
                <c:v>0</c:v>
              </c:pt>
              <c:pt idx="1">
                <c:v>1</c:v>
              </c:pt>
              <c:pt idx="2">
                <c:v>0.25</c:v>
              </c:pt>
              <c:pt idx="3">
                <c:v>1</c:v>
              </c:pt>
              <c:pt idx="4">
                <c:v>0.25</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Lit>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Lit>
          </c:xVal>
          <c:yVal>
            <c:numLit>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V：Yの位置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U：Xの位置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Lit>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Lit>
          </c:xVal>
          <c:yVal>
            <c:numLit>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3BBF0-DCCA-4B03-AAEC-F435DFAE52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ゼミ発表</a:t>
            </a:r>
          </a:p>
        </p:txBody>
      </p:sp>
      <p:sp>
        <p:nvSpPr>
          <p:cNvPr id="2" name="">
            <a:extLst xmlns:a="http://schemas.openxmlformats.org/drawingml/2006/main">
              <a:ext uri="{FF2B5EF4-FFF2-40B4-BE49-F238E27FC236}">
                <a16:creationId xmlns:a16="http://schemas.microsoft.com/office/drawing/2014/main" id="{1EA84B05-0C3D-4C81-81A8-F8B53858EFC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373139-E7DD-4964-945B-EBCB8CF4FD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変数間の依存構造を考慮したデータ拡張</a:t>
            </a:r>
          </a:p>
        </p:txBody>
      </p:sp>
      <p:sp>
        <p:nvSpPr>
          <p:cNvPr id="4" name="">
            <a:extLst xmlns:a="http://schemas.openxmlformats.org/drawingml/2006/main">
              <a:ext uri="{FF2B5EF4-FFF2-40B4-BE49-F238E27FC236}">
                <a16:creationId xmlns:a16="http://schemas.microsoft.com/office/drawing/2014/main" id="{9D943617-1F9C-450F-9D3B-36AA1ABC0F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B13F10D3-5F1A-4788-9D10-BED15B69FFF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a:t>
            </a:r>
          </a:p>
        </p:txBody>
      </p:sp>
      <p:sp>
        <p:nvSpPr>
          <p:cNvPr id="6" name="">
            <a:extLst xmlns:a="http://schemas.openxmlformats.org/drawingml/2006/main">
              <a:ext uri="{FF2B5EF4-FFF2-40B4-BE49-F238E27FC236}">
                <a16:creationId xmlns:a16="http://schemas.microsoft.com/office/drawing/2014/main" id="{22316DB1-904B-4AED-94EB-96291CC2307D}"/>
              </a:ext>
            </a:extLst>
          </p:cNvPr>
          <p:cNvSpPr>
            <a:spLocks xmlns:a="http://schemas.openxmlformats.org/drawingml/2006/main" noGrp="1"/>
          </p:cNvSpPr>
          <p:nvPr/>
        </p:nvSpPr>
        <p:spPr>
          <a:xfrm xmlns:a="http://schemas.openxmlformats.org/drawingml/2006/main">
            <a:off x="857250" y="2762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450" b="1">
                <a:solidFill>
                  <a:srgbClr val="222222"/>
                </a:solidFill>
                <a:latin typeface="Noto Sans JP"/>
                <a:ea typeface="Noto Sans JP"/>
                <a:cs typeface="Noto Sans JP"/>
              </a:defRPr>
            </a:defPPr>
          </a:lstStyle>
          <a:p xmlns:a="http://schemas.openxmlformats.org/drawingml/2006/main">
            <a:pPr algn="ctr">
              <a:defRPr sz="3450" b="1">
                <a:solidFill>
                  <a:srgbClr val="222222"/>
                </a:solidFill>
                <a:latin typeface="Noto Sans JP"/>
                <a:ea typeface="Noto Sans JP"/>
                <a:cs typeface="Noto Sans JP"/>
              </a:defRPr>
            </a:pPr>
            <a:r>
              <a:rPr sz="3450" b="1">
                <a:solidFill>
                  <a:srgbClr val="222222"/>
                </a:solidFill>
                <a:latin typeface="Noto Sans JP"/>
                <a:ea typeface="Noto Sans JP"/>
                <a:cs typeface="Noto Sans JP"/>
              </a:rPr>
              <a:t>コピュラの基礎と初期実験の方針</a:t>
            </a:r>
          </a:p>
        </p:txBody>
      </p:sp>
      <p:sp>
        <p:nvSpPr>
          <p:cNvPr id="7" name="">
            <a:extLst xmlns:a="http://schemas.openxmlformats.org/drawingml/2006/main">
              <a:ext uri="{FF2B5EF4-FFF2-40B4-BE49-F238E27FC236}">
                <a16:creationId xmlns:a16="http://schemas.microsoft.com/office/drawing/2014/main" id="{205FEF62-1D49-4C45-812D-A64400ECFDB1}"/>
              </a:ext>
            </a:extLst>
          </p:cNvPr>
          <p:cNvSpPr>
            <a:spLocks xmlns:a="http://schemas.openxmlformats.org/drawingml/2006/main" noGrp="1"/>
          </p:cNvSpPr>
          <p:nvPr/>
        </p:nvSpPr>
        <p:spPr>
          <a:xfrm xmlns:a="http://schemas.openxmlformats.org/drawingml/2006/main">
            <a:off x="857250" y="4286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0">
                <a:solidFill>
                  <a:srgbClr val="222222"/>
                </a:solidFill>
                <a:latin typeface="Noto Sans JP"/>
                <a:ea typeface="Noto Sans JP"/>
                <a:cs typeface="Noto Sans JP"/>
              </a:defRPr>
            </a:defPPr>
          </a:lstStyle>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M1 齊藤光汰</a:t>
            </a:r>
          </a:p>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非単調な関係を用いた解説版</a:t>
            </a:r>
          </a:p>
        </p:txBody>
      </p:sp>
    </p:spTree>
    <p:extLst>
      <p:ext uri="{BB962C8B-B14F-4D97-AF65-F5344CB8AC3E}">
        <p14:creationId xmlns:p14="http://schemas.microsoft.com/office/powerpoint/2010/main" val="809659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CBA71F-E878-4B58-992C-858FB0D38DA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本研究の問題設定</a:t>
            </a:r>
          </a:p>
        </p:txBody>
      </p:sp>
      <p:sp>
        <p:nvSpPr>
          <p:cNvPr id="2" name="">
            <a:extLst xmlns:a="http://schemas.openxmlformats.org/drawingml/2006/main">
              <a:ext uri="{FF2B5EF4-FFF2-40B4-BE49-F238E27FC236}">
                <a16:creationId xmlns:a16="http://schemas.microsoft.com/office/drawing/2014/main" id="{5813755B-7E4F-468E-9429-510C97AC3E8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9E4080-B840-4424-B02F-874F813D9D4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少ないラベル付きデータと、ラベルなしデータを使う。</a:t>
            </a:r>
          </a:p>
        </p:txBody>
      </p:sp>
      <p:sp>
        <p:nvSpPr>
          <p:cNvPr id="4" name="">
            <a:extLst xmlns:a="http://schemas.openxmlformats.org/drawingml/2006/main">
              <a:ext uri="{FF2B5EF4-FFF2-40B4-BE49-F238E27FC236}">
                <a16:creationId xmlns:a16="http://schemas.microsoft.com/office/drawing/2014/main" id="{11D7B9EB-28A4-4422-AEBA-DC3E2221625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6AEE320-BC68-40BF-911D-787048C6193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a:t>
            </a:r>
          </a:p>
        </p:txBody>
      </p:sp>
      <p:sp>
        <p:nvSpPr>
          <p:cNvPr id="6" name="">
            <a:extLst xmlns:a="http://schemas.openxmlformats.org/drawingml/2006/main">
              <a:ext uri="{FF2B5EF4-FFF2-40B4-BE49-F238E27FC236}">
                <a16:creationId xmlns:a16="http://schemas.microsoft.com/office/drawing/2014/main" id="{1EC764E1-CC91-4C95-8587-A05B651C3BB7}"/>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目的：依存を考慮したデータ拡張で、分類性能の改善を目指す。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列を別々に置換すると、元の変数間の関係から</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外れた組合せが生じる可能性がある。</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中間発表で述べた方針：依存構造を扱うために</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コピュラを使用する。</a:t>
            </a:r>
          </a:p>
        </p:txBody>
      </p:sp>
      <p:sp>
        <p:nvSpPr>
          <p:cNvPr id="7" name="">
            <a:extLst xmlns:a="http://schemas.openxmlformats.org/drawingml/2006/main">
              <a:ext uri="{FF2B5EF4-FFF2-40B4-BE49-F238E27FC236}">
                <a16:creationId xmlns:a16="http://schemas.microsoft.com/office/drawing/2014/main" id="{F50770F7-F422-4512-8DCF-A302EF315F6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0402DC-4A5E-44FF-A1FB-48D3641AAF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今回の半教師あり学習は、擬似ラベルを付与せず予測一貫性を使う</a:t>
            </a:r>
          </a:p>
        </p:txBody>
      </p:sp>
    </p:spTree>
    <p:extLst>
      <p:ext uri="{BB962C8B-B14F-4D97-AF65-F5344CB8AC3E}">
        <p14:creationId xmlns:p14="http://schemas.microsoft.com/office/powerpoint/2010/main" val="66094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77300C-9F07-47C1-8F33-94D970E5791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コピュラとは</a:t>
            </a:r>
          </a:p>
        </p:txBody>
      </p:sp>
      <p:sp>
        <p:nvSpPr>
          <p:cNvPr id="2" name="">
            <a:extLst xmlns:a="http://schemas.openxmlformats.org/drawingml/2006/main">
              <a:ext uri="{FF2B5EF4-FFF2-40B4-BE49-F238E27FC236}">
                <a16:creationId xmlns:a16="http://schemas.microsoft.com/office/drawing/2014/main" id="{A9C2921B-06D6-48C9-A54E-0D23CC6B5D3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4BC809-191E-4189-864F-20C4178D9DB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各変数の分布と、変数間の依存を分けて表す。</a:t>
            </a:r>
          </a:p>
        </p:txBody>
      </p:sp>
      <p:sp>
        <p:nvSpPr>
          <p:cNvPr id="4" name="">
            <a:extLst xmlns:a="http://schemas.openxmlformats.org/drawingml/2006/main">
              <a:ext uri="{FF2B5EF4-FFF2-40B4-BE49-F238E27FC236}">
                <a16:creationId xmlns:a16="http://schemas.microsoft.com/office/drawing/2014/main" id="{78FA1075-A7BD-4A1C-AF03-6FDDDAA90A5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337D8638-5D6E-4A5B-ABDA-7BB0AA17BD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a:t>
            </a:r>
          </a:p>
        </p:txBody>
      </p:sp>
      <p:sp>
        <p:nvSpPr>
          <p:cNvPr id="6" name="">
            <a:extLst xmlns:a="http://schemas.openxmlformats.org/drawingml/2006/main">
              <a:ext uri="{FF2B5EF4-FFF2-40B4-BE49-F238E27FC236}">
                <a16:creationId xmlns:a16="http://schemas.microsoft.com/office/drawing/2014/main" id="{49B69A9E-BCED-4D26-B4AD-222998E8C408}"/>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周辺分布：Xだけ、Yだけを見たときの値の分布。</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コピュラ：分布内の確率位置どうしの組合せを表す。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例：Xが増えるとYが一度下がり、その後に上がる</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U字型の関係を、同じ例で説明する。</a:t>
            </a:r>
          </a:p>
        </p:txBody>
      </p:sp>
      <p:sp>
        <p:nvSpPr>
          <p:cNvPr id="7" name="">
            <a:extLst xmlns:a="http://schemas.openxmlformats.org/drawingml/2006/main">
              <a:ext uri="{FF2B5EF4-FFF2-40B4-BE49-F238E27FC236}">
                <a16:creationId xmlns:a16="http://schemas.microsoft.com/office/drawing/2014/main" id="{14E87CCA-E8B8-448D-B7C1-17754E71403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0AA0C5-BDC3-4432-9066-61696D914E3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コピュラの種類によって、表現できる依存の形は異なる</a:t>
            </a:r>
          </a:p>
        </p:txBody>
      </p:sp>
    </p:spTree>
    <p:extLst>
      <p:ext uri="{BB962C8B-B14F-4D97-AF65-F5344CB8AC3E}">
        <p14:creationId xmlns:p14="http://schemas.microsoft.com/office/powerpoint/2010/main" val="17542593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DB49D8-3BEE-4DE6-B33E-9ECA41ABB7D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説明に使う非単調なデータ</a:t>
            </a:r>
          </a:p>
        </p:txBody>
      </p:sp>
      <p:sp>
        <p:nvSpPr>
          <p:cNvPr id="2" name="">
            <a:extLst xmlns:a="http://schemas.openxmlformats.org/drawingml/2006/main">
              <a:ext uri="{FF2B5EF4-FFF2-40B4-BE49-F238E27FC236}">
                <a16:creationId xmlns:a16="http://schemas.microsoft.com/office/drawing/2014/main" id="{168095A2-BADE-456E-9D78-DE27ABBD68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1D64DC-E769-4B3B-9D65-8A20B8F99DE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Xは−1〜1の一様分布、YはXの二乗と仮定する。</a:t>
            </a:r>
          </a:p>
        </p:txBody>
      </p:sp>
      <p:sp>
        <p:nvSpPr>
          <p:cNvPr id="4" name="">
            <a:extLst xmlns:a="http://schemas.openxmlformats.org/drawingml/2006/main">
              <a:ext uri="{FF2B5EF4-FFF2-40B4-BE49-F238E27FC236}">
                <a16:creationId xmlns:a16="http://schemas.microsoft.com/office/drawing/2014/main" id="{3CF78368-27F2-474A-A281-A872B372EEC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940AF6D-DD75-408E-8251-88099707153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a:t>
            </a:r>
          </a:p>
        </p:txBody>
      </p:sp>
      <p:graphicFrame>
        <p:nvGraphicFramePr>
          <p:cNvPr id="6" name="">
            <a:extLst xmlns:a="http://schemas.openxmlformats.org/drawingml/2006/main">
              <a:ext uri="{FF2B5EF4-FFF2-40B4-BE49-F238E27FC236}">
                <a16:creationId xmlns:a16="http://schemas.microsoft.com/office/drawing/2014/main" id="{BB3DD25A-6EE3-4674-8593-AA5135092A99}"/>
              </a:ext>
            </a:extLst>
          </p:cNvPr>
          <p:cNvGraphicFramePr/>
          <p:nvPr/>
        </p:nvGraphicFramePr>
        <p:xfrm>
          <a:off xmlns:a="http://schemas.openxmlformats.org/drawingml/2006/main" x="514350" y="2057400"/>
          <a:ext xmlns:a="http://schemas.openxmlformats.org/drawingml/2006/main" cx="5524500" cy="3143250"/>
        </p:xfrm>
        <a:graphic xmlns:a="http://schemas.openxmlformats.org/drawingml/2006/main">
          <a:graphicData uri="http://schemas.openxmlformats.org/drawingml/2006/table">
            <a:tbl>
              <a:tblPr/>
              <a:tblGrid>
                <a:gridCol w="1841500"/>
                <a:gridCol w="1841500"/>
                <a:gridCol w="1841500"/>
              </a:tblGrid>
              <a:tr h="523875">
                <a:tc>
                  <a:txBody>
                    <a:bodyPr/>
                    <a:lstStyle/>
                    <a:p>
                      <a:pPr algn="ctr"/>
                      <a:r>
                        <a:rPr sz="2025" b="1">
                          <a:solidFill>
                            <a:srgbClr val="2E7D5B"/>
                          </a:solidFill>
                          <a:latin typeface="Noto Sans JP"/>
                          <a:ea typeface="Noto Sans JP"/>
                          <a:cs typeface="Noto Sans JP"/>
                        </a:rPr>
                        <a:t>代表点</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Y = X²</a:t>
                      </a:r>
                    </a:p>
                  </a:txBody>
                  <a:tcPr marL="91440" marR="91440" marT="45720" marB="45720" anchor="ctr">
                    <a:solidFill>
                      <a:srgbClr val="E7F2EC"/>
                    </a:solidFill>
                  </a:tcPr>
                </a:tc>
              </a:tr>
              <a:tr h="523875">
                <a:tc>
                  <a:txBody>
                    <a:bodyPr/>
                    <a:lstStyle/>
                    <a:p>
                      <a:pPr algn="ctr"/>
                      <a:r>
                        <a:rPr sz="202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graphicFrame>
        <p:nvGraphicFramePr>
          <p:cNvPr id="7" name="Chart">
            <a:extLst xmlns:a="http://schemas.openxmlformats.org/drawingml/2006/main">
              <a:ext uri="{FF2B5EF4-FFF2-40B4-BE49-F238E27FC236}">
                <a16:creationId xmlns:a16="http://schemas.microsoft.com/office/drawing/2014/main" id="{84662763-78FF-4E23-A590-E1D38F2281EB}"/>
              </a:ext>
            </a:extLst>
          </p:cNvPr>
          <p:cNvGraphicFramePr/>
          <p:nvPr/>
        </p:nvGraphicFramePr>
        <p:xfrm>
          <a:off xmlns:a="http://schemas.openxmlformats.org/drawingml/2006/main" x="6477000" y="2000250"/>
          <a:ext xmlns:a="http://schemas.openxmlformats.org/drawingml/2006/main" cx="5095875" cy="3381375"/>
        </p:xfrm>
        <a:graphic xmlns:a="http://schemas.openxmlformats.org/drawingml/2006/main">
          <a:graphicData uri="http://schemas.openxmlformats.org/drawingml/2006/chart">
            <c:chart xmlns:r="http://schemas.openxmlformats.org/officeDocument/2006/relationships" xmlns:c="http://schemas.openxmlformats.org/drawingml/2006/chart" r:id="R403dbe534af646c0"/>
          </a:graphicData>
        </a:graphic>
      </p:graphicFrame>
      <p:sp>
        <p:nvSpPr>
          <p:cNvPr id="8" name="">
            <a:extLst xmlns:a="http://schemas.openxmlformats.org/drawingml/2006/main">
              <a:ext uri="{FF2B5EF4-FFF2-40B4-BE49-F238E27FC236}">
                <a16:creationId xmlns:a16="http://schemas.microsoft.com/office/drawing/2014/main" id="{0BAD6677-5591-4610-AAB8-5EEAB7C164C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33511CB-ABB8-4821-8B42-B4DE9995AF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Xが−1から0へ増えるとYは下がり、0から1へ増えるとYは上がる</a:t>
            </a:r>
          </a:p>
        </p:txBody>
      </p:sp>
    </p:spTree>
    <p:extLst>
      <p:ext uri="{BB962C8B-B14F-4D97-AF65-F5344CB8AC3E}">
        <p14:creationId xmlns:p14="http://schemas.microsoft.com/office/powerpoint/2010/main" val="1849238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0E6F1D-BE6F-4494-8D6C-97B746B7E39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独立な置換で壊れる関係</a:t>
            </a:r>
          </a:p>
        </p:txBody>
      </p:sp>
      <p:sp>
        <p:nvSpPr>
          <p:cNvPr id="2" name="">
            <a:extLst xmlns:a="http://schemas.openxmlformats.org/drawingml/2006/main">
              <a:ext uri="{FF2B5EF4-FFF2-40B4-BE49-F238E27FC236}">
                <a16:creationId xmlns:a16="http://schemas.microsoft.com/office/drawing/2014/main" id="{33267951-B936-4060-ADB4-6EF4FAFE667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A25AB8-0720-4843-8F6A-220BB5D9EB5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Yの対応だけを入れ替えると、同じ列の値でも関係が変わる。</a:t>
            </a:r>
          </a:p>
        </p:txBody>
      </p:sp>
      <p:sp>
        <p:nvSpPr>
          <p:cNvPr id="4" name="">
            <a:extLst xmlns:a="http://schemas.openxmlformats.org/drawingml/2006/main">
              <a:ext uri="{FF2B5EF4-FFF2-40B4-BE49-F238E27FC236}">
                <a16:creationId xmlns:a16="http://schemas.microsoft.com/office/drawing/2014/main" id="{B5A6741B-3E76-433B-BE71-E4E753E6207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B7A276B-32A4-44A4-ACCE-4C3762516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graphicFrame>
        <p:nvGraphicFramePr>
          <p:cNvPr id="6" name="Chart">
            <a:extLst xmlns:a="http://schemas.openxmlformats.org/drawingml/2006/main">
              <a:ext uri="{FF2B5EF4-FFF2-40B4-BE49-F238E27FC236}">
                <a16:creationId xmlns:a16="http://schemas.microsoft.com/office/drawing/2014/main" id="{61CDED14-E2EB-4A18-B805-1C3CAB42AA07}"/>
              </a:ext>
            </a:extLst>
          </p:cNvPr>
          <p:cNvGraphicFramePr/>
          <p:nvPr/>
        </p:nvGraphicFramePr>
        <p:xfrm>
          <a:off xmlns:a="http://schemas.openxmlformats.org/drawingml/2006/main" x="523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a051ed83fb6645cc"/>
          </a:graphicData>
        </a:graphic>
      </p:graphicFrame>
      <p:graphicFrame>
        <p:nvGraphicFramePr>
          <p:cNvPr id="7" name="Chart">
            <a:extLst xmlns:a="http://schemas.openxmlformats.org/drawingml/2006/main">
              <a:ext uri="{FF2B5EF4-FFF2-40B4-BE49-F238E27FC236}">
                <a16:creationId xmlns:a16="http://schemas.microsoft.com/office/drawing/2014/main" id="{CA65B3A9-E04D-466D-8183-6CE03674FEBE}"/>
              </a:ext>
            </a:extLst>
          </p:cNvPr>
          <p:cNvGraphicFramePr/>
          <p:nvPr/>
        </p:nvGraphicFramePr>
        <p:xfrm>
          <a:off xmlns:a="http://schemas.openxmlformats.org/drawingml/2006/main" x="6238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0abd901bf562462c"/>
          </a:graphicData>
        </a:graphic>
      </p:graphicFrame>
      <p:sp>
        <p:nvSpPr>
          <p:cNvPr id="8" name="">
            <a:extLst xmlns:a="http://schemas.openxmlformats.org/drawingml/2006/main">
              <a:ext uri="{FF2B5EF4-FFF2-40B4-BE49-F238E27FC236}">
                <a16:creationId xmlns:a16="http://schemas.microsoft.com/office/drawing/2014/main" id="{2BA3FD54-EB77-40E8-BCBC-1ECAD571F512}"/>
              </a:ext>
            </a:extLst>
          </p:cNvPr>
          <p:cNvSpPr>
            <a:spLocks xmlns:a="http://schemas.openxmlformats.org/drawingml/2006/main" noGrp="1"/>
          </p:cNvSpPr>
          <p:nvPr/>
        </p:nvSpPr>
        <p:spPr>
          <a:xfrm xmlns:a="http://schemas.openxmlformats.org/drawingml/2006/main">
            <a:off x="619125"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元の代表点：Y = X²</a:t>
            </a:r>
          </a:p>
        </p:txBody>
      </p:sp>
      <p:sp>
        <p:nvSpPr>
          <p:cNvPr id="9" name="">
            <a:extLst xmlns:a="http://schemas.openxmlformats.org/drawingml/2006/main">
              <a:ext uri="{FF2B5EF4-FFF2-40B4-BE49-F238E27FC236}">
                <a16:creationId xmlns:a16="http://schemas.microsoft.com/office/drawing/2014/main" id="{AFDB4BA1-1405-4650-A6AC-442892F1A8D9}"/>
              </a:ext>
            </a:extLst>
          </p:cNvPr>
          <p:cNvSpPr>
            <a:spLocks xmlns:a="http://schemas.openxmlformats.org/drawingml/2006/main" noGrp="1"/>
          </p:cNvSpPr>
          <p:nvPr/>
        </p:nvSpPr>
        <p:spPr>
          <a:xfrm xmlns:a="http://schemas.openxmlformats.org/drawingml/2006/main">
            <a:off x="628650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E0562B"/>
                </a:solidFill>
                <a:latin typeface="Noto Sans JP"/>
                <a:ea typeface="Noto Sans JP"/>
                <a:cs typeface="Noto Sans JP"/>
              </a:defRPr>
            </a:defPPr>
          </a:lstStyle>
          <a:p xmlns:a="http://schemas.openxmlformats.org/drawingml/2006/main">
            <a:pPr algn="l">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Yだけを並べ替えた例</a:t>
            </a:r>
          </a:p>
        </p:txBody>
      </p:sp>
      <p:sp>
        <p:nvSpPr>
          <p:cNvPr id="10" name="">
            <a:extLst xmlns:a="http://schemas.openxmlformats.org/drawingml/2006/main">
              <a:ext uri="{FF2B5EF4-FFF2-40B4-BE49-F238E27FC236}">
                <a16:creationId xmlns:a16="http://schemas.microsoft.com/office/drawing/2014/main" id="{AB805EFF-F5AC-4A0A-8E9A-29B3683262D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640DE2-5155-4F27-BA40-CDD830BCE3F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例えばX = 0にY = 0.25を対応させると、元の関係から外れる</a:t>
            </a:r>
          </a:p>
        </p:txBody>
      </p:sp>
    </p:spTree>
    <p:extLst>
      <p:ext uri="{BB962C8B-B14F-4D97-AF65-F5344CB8AC3E}">
        <p14:creationId xmlns:p14="http://schemas.microsoft.com/office/powerpoint/2010/main" val="1912751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EDD4EF-DB80-48B6-B7CA-78A21EDCDD5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Xの累積分布関数</a:t>
            </a:r>
          </a:p>
        </p:txBody>
      </p:sp>
      <p:sp>
        <p:nvSpPr>
          <p:cNvPr id="2" name="">
            <a:extLst xmlns:a="http://schemas.openxmlformats.org/drawingml/2006/main">
              <a:ext uri="{FF2B5EF4-FFF2-40B4-BE49-F238E27FC236}">
                <a16:creationId xmlns:a16="http://schemas.microsoft.com/office/drawing/2014/main" id="{D04FB059-3E48-4B1E-A570-B8D4017AE7C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BF0044-8D23-42BC-9854-E0040FCCFC2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累積分布関数は「その値以下になる確率」を表す。</a:t>
            </a:r>
          </a:p>
        </p:txBody>
      </p:sp>
      <p:sp>
        <p:nvSpPr>
          <p:cNvPr id="4" name="">
            <a:extLst xmlns:a="http://schemas.openxmlformats.org/drawingml/2006/main">
              <a:ext uri="{FF2B5EF4-FFF2-40B4-BE49-F238E27FC236}">
                <a16:creationId xmlns:a16="http://schemas.microsoft.com/office/drawing/2014/main" id="{20443F92-8829-4099-BFD6-1B8985C1F34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868C6E3-0A82-4A8B-93E1-B6EB1E84567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0EA5AAE2-830E-40C8-8168-2C067D48CF26}"/>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一様分布の累積分布関数（−1 ≤ x ≤ 1）</a:t>
            </a:r>
          </a:p>
        </p:txBody>
      </p:sp>
      <p:sp>
        <p:nvSpPr>
          <p:cNvPr id="7" name="">
            <a:extLst xmlns:a="http://schemas.openxmlformats.org/drawingml/2006/main">
              <a:ext uri="{FF2B5EF4-FFF2-40B4-BE49-F238E27FC236}">
                <a16:creationId xmlns:a16="http://schemas.microsoft.com/office/drawing/2014/main" id="{84FD989A-32A1-4BD0-9C68-05015F8A07B8}"/>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78B14E-FB4B-4C4B-8AE7-31CAF1F2E4DD}"/>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Fₓ(x) = P(X ≤ x) = (x + 1) / 2</a:t>
            </a:r>
          </a:p>
        </p:txBody>
      </p:sp>
      <p:sp>
        <p:nvSpPr>
          <p:cNvPr id="9" name="">
            <a:extLst xmlns:a="http://schemas.openxmlformats.org/drawingml/2006/main">
              <a:ext uri="{FF2B5EF4-FFF2-40B4-BE49-F238E27FC236}">
                <a16:creationId xmlns:a16="http://schemas.microsoft.com/office/drawing/2014/main" id="{B29424CF-68FC-4CE4-8F86-08BA64FF87D9}"/>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分母2：区間−1〜1の長さ。分子x+1：区間−1〜xの長さ。</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0.5なら、Fₓ(0.5) = 1.5 / 2 = 0.75。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母集団の75%が、X = 0.5以下に位置する。</a:t>
            </a:r>
          </a:p>
        </p:txBody>
      </p:sp>
      <p:sp>
        <p:nvSpPr>
          <p:cNvPr id="10" name="">
            <a:extLst xmlns:a="http://schemas.openxmlformats.org/drawingml/2006/main">
              <a:ext uri="{FF2B5EF4-FFF2-40B4-BE49-F238E27FC236}">
                <a16:creationId xmlns:a16="http://schemas.microsoft.com/office/drawing/2014/main" id="{0ACD0283-7B69-4178-ADEA-7FA579629D2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DF0092-9F68-4691-993B-4B6873AF010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この例の位置は、仮定した母集団のCDFから計算する</a:t>
            </a:r>
          </a:p>
        </p:txBody>
      </p:sp>
    </p:spTree>
    <p:extLst>
      <p:ext uri="{BB962C8B-B14F-4D97-AF65-F5344CB8AC3E}">
        <p14:creationId xmlns:p14="http://schemas.microsoft.com/office/powerpoint/2010/main" val="7287315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B90779-BD9A-423D-A388-106C491792A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Yの累積分布関数</a:t>
            </a:r>
          </a:p>
        </p:txBody>
      </p:sp>
      <p:sp>
        <p:nvSpPr>
          <p:cNvPr id="2" name="">
            <a:extLst xmlns:a="http://schemas.openxmlformats.org/drawingml/2006/main">
              <a:ext uri="{FF2B5EF4-FFF2-40B4-BE49-F238E27FC236}">
                <a16:creationId xmlns:a16="http://schemas.microsoft.com/office/drawing/2014/main" id="{7817B57B-317A-481F-BEF6-02D9A5338B8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26B6F4-1872-4F8B-9405-35DC9ECB32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 ≤ yの条件を、Xが入る区間に置き換える。</a:t>
            </a:r>
          </a:p>
        </p:txBody>
      </p:sp>
      <p:sp>
        <p:nvSpPr>
          <p:cNvPr id="4" name="">
            <a:extLst xmlns:a="http://schemas.openxmlformats.org/drawingml/2006/main">
              <a:ext uri="{FF2B5EF4-FFF2-40B4-BE49-F238E27FC236}">
                <a16:creationId xmlns:a16="http://schemas.microsoft.com/office/drawing/2014/main" id="{6D9034B8-AEC8-4701-A7BB-18F4CC7BD5A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3597A24A-4038-432B-84F7-623574121F2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C8FF46A1-849C-4770-B7CC-F6AD3E6BC44F}"/>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二乗した変数の累積分布関数（0 ≤ y ≤ 1）</a:t>
            </a:r>
          </a:p>
        </p:txBody>
      </p:sp>
      <p:sp>
        <p:nvSpPr>
          <p:cNvPr id="7" name="">
            <a:extLst xmlns:a="http://schemas.openxmlformats.org/drawingml/2006/main">
              <a:ext uri="{FF2B5EF4-FFF2-40B4-BE49-F238E27FC236}">
                <a16:creationId xmlns:a16="http://schemas.microsoft.com/office/drawing/2014/main" id="{EB2FCBBA-983E-4E2A-A9E5-9100F1AF765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AC065B-7B6E-46EA-8E45-13EF616D8F1D}"/>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Fᵧ(y) = P(−√y ≤ X ≤ √y) = √y</a:t>
            </a:r>
          </a:p>
        </p:txBody>
      </p:sp>
      <p:sp>
        <p:nvSpPr>
          <p:cNvPr id="9" name="">
            <a:extLst xmlns:a="http://schemas.openxmlformats.org/drawingml/2006/main">
              <a:ext uri="{FF2B5EF4-FFF2-40B4-BE49-F238E27FC236}">
                <a16:creationId xmlns:a16="http://schemas.microsoft.com/office/drawing/2014/main" id="{8C7F098E-4B14-4FA1-8701-1EB4C5D81156}"/>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Y = X²なので、Y ≤ yは−√y ≤ X ≤ √yと同じ条件。</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区間の長さ2√yを、全区間の長さ2で割る。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例：y = 0.25なら、−0.5 ≤ X ≤ 0.5。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Fᵧ(0.25) = 1 / 2 = 0.5。</a:t>
            </a:r>
          </a:p>
        </p:txBody>
      </p:sp>
      <p:sp>
        <p:nvSpPr>
          <p:cNvPr id="10" name="">
            <a:extLst xmlns:a="http://schemas.openxmlformats.org/drawingml/2006/main">
              <a:ext uri="{FF2B5EF4-FFF2-40B4-BE49-F238E27FC236}">
                <a16:creationId xmlns:a16="http://schemas.microsoft.com/office/drawing/2014/main" id="{D989705F-195E-463B-A181-FB53F100C55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9BBB95-D8D8-4F6F-897C-D65811F4CA7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Yの位置はXの位置と違うCDFで計算する</a:t>
            </a:r>
          </a:p>
        </p:txBody>
      </p:sp>
    </p:spTree>
    <p:extLst>
      <p:ext uri="{BB962C8B-B14F-4D97-AF65-F5344CB8AC3E}">
        <p14:creationId xmlns:p14="http://schemas.microsoft.com/office/powerpoint/2010/main" val="629493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A1B1AF-9FE4-437F-81EF-FCAB8D9D35E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値と確率位置の対応</a:t>
            </a:r>
          </a:p>
        </p:txBody>
      </p:sp>
      <p:sp>
        <p:nvSpPr>
          <p:cNvPr id="2" name="">
            <a:extLst xmlns:a="http://schemas.openxmlformats.org/drawingml/2006/main">
              <a:ext uri="{FF2B5EF4-FFF2-40B4-BE49-F238E27FC236}">
                <a16:creationId xmlns:a16="http://schemas.microsoft.com/office/drawing/2014/main" id="{4B55AF47-6BEC-45B1-A9CF-AEF47D9BC32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7F9EFE-DCBE-4D88-83ED-BB8B7E4CDA8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同じ代表点を、各列のCDFで0〜1の位置に変換する。</a:t>
            </a:r>
          </a:p>
        </p:txBody>
      </p:sp>
      <p:sp>
        <p:nvSpPr>
          <p:cNvPr id="4" name="">
            <a:extLst xmlns:a="http://schemas.openxmlformats.org/drawingml/2006/main">
              <a:ext uri="{FF2B5EF4-FFF2-40B4-BE49-F238E27FC236}">
                <a16:creationId xmlns:a16="http://schemas.microsoft.com/office/drawing/2014/main" id="{FD9FCEA6-1928-4F6B-B386-88F09A1140A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BAC1EE2-849D-4903-91E0-47938C575B4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6" name="">
            <a:extLst xmlns:a="http://schemas.openxmlformats.org/drawingml/2006/main">
              <a:ext uri="{FF2B5EF4-FFF2-40B4-BE49-F238E27FC236}">
                <a16:creationId xmlns:a16="http://schemas.microsoft.com/office/drawing/2014/main" id="{90267556-7A11-4D75-929A-E10B753DA1A4}"/>
              </a:ext>
            </a:extLst>
          </p:cNvPr>
          <p:cNvGraphicFramePr/>
          <p:nvPr/>
        </p:nvGraphicFramePr>
        <p:xfrm>
          <a:off xmlns:a="http://schemas.openxmlformats.org/drawingml/2006/main" x="514350" y="2000250"/>
          <a:ext xmlns:a="http://schemas.openxmlformats.org/drawingml/2006/main" cx="6667500" cy="3190875"/>
        </p:xfrm>
        <a:graphic xmlns:a="http://schemas.openxmlformats.org/drawingml/2006/main">
          <a:graphicData uri="http://schemas.openxmlformats.org/drawingml/2006/table">
            <a:tbl>
              <a:tblPr/>
              <a:tblGrid>
                <a:gridCol w="666750"/>
                <a:gridCol w="1238250"/>
                <a:gridCol w="1238250"/>
                <a:gridCol w="1762125"/>
                <a:gridCol w="1762125"/>
              </a:tblGrid>
              <a:tr h="531813">
                <a:tc>
                  <a:txBody>
                    <a:bodyPr/>
                    <a:lstStyle/>
                    <a:p>
                      <a:pPr algn="ctr"/>
                      <a:r>
                        <a:rPr sz="1875" b="1">
                          <a:solidFill>
                            <a:srgbClr val="2E7D5B"/>
                          </a:solidFill>
                          <a:latin typeface="Noto Sans JP"/>
                          <a:ea typeface="Noto Sans JP"/>
                          <a:cs typeface="Noto Sans JP"/>
                        </a:rPr>
                        <a:t>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Y</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U = Fₓ(X)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 = Fᵧ(Y)</a:t>
                      </a:r>
                    </a:p>
                  </a:txBody>
                  <a:tcPr marL="91440" marR="91440" marT="45720" marB="45720" anchor="ctr">
                    <a:solidFill>
                      <a:srgbClr val="E7F2EC"/>
                    </a:solidFill>
                  </a:tcPr>
                </a:tc>
              </a:tr>
              <a:tr h="531813">
                <a:tc>
                  <a:txBody>
                    <a:bodyPr/>
                    <a:lstStyle/>
                    <a:p>
                      <a:pPr algn="ctr"/>
                      <a:r>
                        <a:rPr sz="18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0.75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CEEC78C-A0A7-41F8-B562-7122FF57DD69}"/>
              </a:ext>
            </a:extLst>
          </p:cNvPr>
          <p:cNvSpPr>
            <a:spLocks xmlns:a="http://schemas.openxmlformats.org/drawingml/2006/main" noGrp="1"/>
          </p:cNvSpPr>
          <p:nvPr/>
        </p:nvSpPr>
        <p:spPr>
          <a:xfrm xmlns:a="http://schemas.openxmlformats.org/drawingml/2006/main">
            <a:off x="7524750" y="2000250"/>
            <a:ext cx="40005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Dの計算（X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(0.5 + 1) / 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√0.25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位置の組は (0.75, 0.5)。</a:t>
            </a:r>
          </a:p>
        </p:txBody>
      </p:sp>
      <p:sp>
        <p:nvSpPr>
          <p:cNvPr id="8" name="">
            <a:extLst xmlns:a="http://schemas.openxmlformats.org/drawingml/2006/main">
              <a:ext uri="{FF2B5EF4-FFF2-40B4-BE49-F238E27FC236}">
                <a16:creationId xmlns:a16="http://schemas.microsoft.com/office/drawing/2014/main" id="{A8672666-73ED-4495-9593-BD867C6EE95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E6FDA5-453A-4443-9A89-DBADA311E47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5点の順位割合ではなく、前の2枚で導出した母集団CDFを使う</a:t>
            </a:r>
          </a:p>
        </p:txBody>
      </p:sp>
    </p:spTree>
    <p:extLst>
      <p:ext uri="{BB962C8B-B14F-4D97-AF65-F5344CB8AC3E}">
        <p14:creationId xmlns:p14="http://schemas.microsoft.com/office/powerpoint/2010/main" val="915083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ED4757-79AE-4B16-A361-E31D72B0C06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確率積分変換後の依存</a:t>
            </a:r>
          </a:p>
        </p:txBody>
      </p:sp>
      <p:sp>
        <p:nvSpPr>
          <p:cNvPr id="2" name="">
            <a:extLst xmlns:a="http://schemas.openxmlformats.org/drawingml/2006/main">
              <a:ext uri="{FF2B5EF4-FFF2-40B4-BE49-F238E27FC236}">
                <a16:creationId xmlns:a16="http://schemas.microsoft.com/office/drawing/2014/main" id="{5D75F909-958F-4ADA-8695-F2D52FFA763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75492D-BF30-439D-95CF-3B174F06CD8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位置に変換した後も、非単調な関係が残る。</a:t>
            </a:r>
          </a:p>
        </p:txBody>
      </p:sp>
      <p:sp>
        <p:nvSpPr>
          <p:cNvPr id="4" name="">
            <a:extLst xmlns:a="http://schemas.openxmlformats.org/drawingml/2006/main">
              <a:ext uri="{FF2B5EF4-FFF2-40B4-BE49-F238E27FC236}">
                <a16:creationId xmlns:a16="http://schemas.microsoft.com/office/drawing/2014/main" id="{D8F43D21-60F6-4CD9-8984-9F25F4F13E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32B5CDE-4AA9-4C5A-B6EB-864D24D6C61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6" name="Chart">
            <a:extLst xmlns:a="http://schemas.openxmlformats.org/drawingml/2006/main">
              <a:ext uri="{FF2B5EF4-FFF2-40B4-BE49-F238E27FC236}">
                <a16:creationId xmlns:a16="http://schemas.microsoft.com/office/drawing/2014/main" id="{9956D934-4C7D-484F-A49D-32080F2184FD}"/>
              </a:ext>
            </a:extLst>
          </p:cNvPr>
          <p:cNvGraphicFramePr/>
          <p:nvPr/>
        </p:nvGraphicFramePr>
        <p:xfrm>
          <a:off xmlns:a="http://schemas.openxmlformats.org/drawingml/2006/main" x="514350" y="2028825"/>
          <a:ext xmlns:a="http://schemas.openxmlformats.org/drawingml/2006/main" cx="5905500" cy="3381375"/>
        </p:xfrm>
        <a:graphic xmlns:a="http://schemas.openxmlformats.org/drawingml/2006/main">
          <a:graphicData uri="http://schemas.openxmlformats.org/drawingml/2006/chart">
            <c:chart xmlns:r="http://schemas.openxmlformats.org/officeDocument/2006/relationships" xmlns:c="http://schemas.openxmlformats.org/drawingml/2006/chart" r:id="R3f953eaf846b4989"/>
          </a:graphicData>
        </a:graphic>
      </p:graphicFrame>
      <p:sp>
        <p:nvSpPr>
          <p:cNvPr id="7" name="">
            <a:extLst xmlns:a="http://schemas.openxmlformats.org/drawingml/2006/main">
              <a:ext uri="{FF2B5EF4-FFF2-40B4-BE49-F238E27FC236}">
                <a16:creationId xmlns:a16="http://schemas.microsoft.com/office/drawing/2014/main" id="{0A672927-AECB-4E07-95E2-27321B541C4D}"/>
              </a:ext>
            </a:extLst>
          </p:cNvPr>
          <p:cNvSpPr>
            <a:spLocks xmlns:a="http://schemas.openxmlformats.org/drawingml/2006/main" noGrp="1"/>
          </p:cNvSpPr>
          <p:nvPr/>
        </p:nvSpPr>
        <p:spPr>
          <a:xfrm xmlns:a="http://schemas.openxmlformats.org/drawingml/2006/main">
            <a:off x="6905625" y="2009775"/>
            <a:ext cx="4714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確率積分変換</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Fₓ(X),  V = Fᵧ(Y)</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X = 2U − 1なので</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√Y = |X|</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   = |2U − 1|</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位置の散布図もV字型になる。</a:t>
            </a:r>
          </a:p>
        </p:txBody>
      </p:sp>
      <p:sp>
        <p:nvSpPr>
          <p:cNvPr id="8" name="">
            <a:extLst xmlns:a="http://schemas.openxmlformats.org/drawingml/2006/main">
              <a:ext uri="{FF2B5EF4-FFF2-40B4-BE49-F238E27FC236}">
                <a16:creationId xmlns:a16="http://schemas.microsoft.com/office/drawing/2014/main" id="{6DC56B5D-648F-4A2A-8A29-E33BC17DBF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EF30B2-EBB1-4302-BC38-DB16C04B13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CDFへの変換は、非単調な依存を必ず直線に変える操作ではない</a:t>
            </a:r>
          </a:p>
        </p:txBody>
      </p:sp>
    </p:spTree>
    <p:extLst>
      <p:ext uri="{BB962C8B-B14F-4D97-AF65-F5344CB8AC3E}">
        <p14:creationId xmlns:p14="http://schemas.microsoft.com/office/powerpoint/2010/main" val="7993421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796C15-A5C8-4DED-ADDE-269455E83CB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コピュラの定義式</a:t>
            </a:r>
          </a:p>
        </p:txBody>
      </p:sp>
      <p:sp>
        <p:nvSpPr>
          <p:cNvPr id="2" name="">
            <a:extLst xmlns:a="http://schemas.openxmlformats.org/drawingml/2006/main">
              <a:ext uri="{FF2B5EF4-FFF2-40B4-BE49-F238E27FC236}">
                <a16:creationId xmlns:a16="http://schemas.microsoft.com/office/drawing/2014/main" id="{49573A66-9446-4F10-877C-A03AA3AD3CD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46A48E-4FF1-485C-9E01-397571D4D26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二つの位置が、指定範囲に同時に入る確率を表す。</a:t>
            </a:r>
          </a:p>
        </p:txBody>
      </p:sp>
      <p:sp>
        <p:nvSpPr>
          <p:cNvPr id="4" name="">
            <a:extLst xmlns:a="http://schemas.openxmlformats.org/drawingml/2006/main">
              <a:ext uri="{FF2B5EF4-FFF2-40B4-BE49-F238E27FC236}">
                <a16:creationId xmlns:a16="http://schemas.microsoft.com/office/drawing/2014/main" id="{8A6FBA12-B56B-4E1C-BC18-2FE6142023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E0AD305-8F4E-4995-B842-7ED07046ADF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sp>
        <p:nvSpPr>
          <p:cNvPr id="6" name="">
            <a:extLst xmlns:a="http://schemas.openxmlformats.org/drawingml/2006/main">
              <a:ext uri="{FF2B5EF4-FFF2-40B4-BE49-F238E27FC236}">
                <a16:creationId xmlns:a16="http://schemas.microsoft.com/office/drawing/2014/main" id="{27019BEF-1386-4D6F-8ABC-94ED70F5EB99}"/>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一様周辺を持つ同時累積分布関数</a:t>
            </a:r>
          </a:p>
        </p:txBody>
      </p:sp>
      <p:sp>
        <p:nvSpPr>
          <p:cNvPr id="7" name="">
            <a:extLst xmlns:a="http://schemas.openxmlformats.org/drawingml/2006/main">
              <a:ext uri="{FF2B5EF4-FFF2-40B4-BE49-F238E27FC236}">
                <a16:creationId xmlns:a16="http://schemas.microsoft.com/office/drawing/2014/main" id="{51B03BAB-C990-4E29-83BF-EB33451B53F9}"/>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A9DE4C-BA31-4124-8688-860EADAAB49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 v) = P(U ≤ u, V ≤ v)</a:t>
            </a:r>
          </a:p>
        </p:txBody>
      </p:sp>
      <p:sp>
        <p:nvSpPr>
          <p:cNvPr id="9" name="">
            <a:extLst xmlns:a="http://schemas.openxmlformats.org/drawingml/2006/main">
              <a:ext uri="{FF2B5EF4-FFF2-40B4-BE49-F238E27FC236}">
                <a16:creationId xmlns:a16="http://schemas.microsoft.com/office/drawing/2014/main" id="{56AF2E8D-7000-424A-BEEB-B983F04322C4}"/>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U・V：確率位置の変数。u・v：それぞれの位置の上限。</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例：C(0.75, 0.5)は、Uが0.75以下、かつ</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Vが0.5以下になる確率。条件付き確率とは区別する。</a:t>
            </a:r>
          </a:p>
        </p:txBody>
      </p:sp>
      <p:sp>
        <p:nvSpPr>
          <p:cNvPr id="10" name="">
            <a:extLst xmlns:a="http://schemas.openxmlformats.org/drawingml/2006/main">
              <a:ext uri="{FF2B5EF4-FFF2-40B4-BE49-F238E27FC236}">
                <a16:creationId xmlns:a16="http://schemas.microsoft.com/office/drawing/2014/main" id="{6BD2A6B7-78E1-47A1-B2F5-9C1AADD1635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BE4006-A923-41A2-AD72-0D5BA9B517B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このU字型の元データにも、依存を表すコピュラが存在する</a:t>
            </a:r>
          </a:p>
        </p:txBody>
      </p:sp>
    </p:spTree>
    <p:extLst>
      <p:ext uri="{BB962C8B-B14F-4D97-AF65-F5344CB8AC3E}">
        <p14:creationId xmlns:p14="http://schemas.microsoft.com/office/powerpoint/2010/main" val="6571310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04FD68-AF58-4BC3-9941-14DEBBEEF9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この例の同時確率</a:t>
            </a:r>
          </a:p>
        </p:txBody>
      </p:sp>
      <p:sp>
        <p:nvSpPr>
          <p:cNvPr id="2" name="">
            <a:extLst xmlns:a="http://schemas.openxmlformats.org/drawingml/2006/main">
              <a:ext uri="{FF2B5EF4-FFF2-40B4-BE49-F238E27FC236}">
                <a16:creationId xmlns:a16="http://schemas.microsoft.com/office/drawing/2014/main" id="{7BFCB8C3-DA63-4F8B-AAA2-ECDC1C5DCEC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C243C4-6324-415A-BF73-6BEA817DC5A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0.5を満たすUの範囲は、0.25〜0.75。</a:t>
            </a:r>
          </a:p>
        </p:txBody>
      </p:sp>
      <p:sp>
        <p:nvSpPr>
          <p:cNvPr id="4" name="">
            <a:extLst xmlns:a="http://schemas.openxmlformats.org/drawingml/2006/main">
              <a:ext uri="{FF2B5EF4-FFF2-40B4-BE49-F238E27FC236}">
                <a16:creationId xmlns:a16="http://schemas.microsoft.com/office/drawing/2014/main" id="{F4C350B2-D808-4A30-A039-B3F74C3E578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7F43A2E-6678-4ACC-B018-73C429ACA2E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6" name="Chart">
            <a:extLst xmlns:a="http://schemas.openxmlformats.org/drawingml/2006/main">
              <a:ext uri="{FF2B5EF4-FFF2-40B4-BE49-F238E27FC236}">
                <a16:creationId xmlns:a16="http://schemas.microsoft.com/office/drawing/2014/main" id="{1553A67E-6AF9-44E9-BCE8-0B75D94BBEC6}"/>
              </a:ext>
            </a:extLst>
          </p:cNvPr>
          <p:cNvGraphicFramePr/>
          <p:nvPr/>
        </p:nvGraphicFramePr>
        <p:xfrm>
          <a:off xmlns:a="http://schemas.openxmlformats.org/drawingml/2006/main" x="514350" y="2076450"/>
          <a:ext xmlns:a="http://schemas.openxmlformats.org/drawingml/2006/main" cx="5810250" cy="3286125"/>
        </p:xfrm>
        <a:graphic xmlns:a="http://schemas.openxmlformats.org/drawingml/2006/main">
          <a:graphicData uri="http://schemas.openxmlformats.org/drawingml/2006/chart">
            <c:chart xmlns:r="http://schemas.openxmlformats.org/officeDocument/2006/relationships" xmlns:c="http://schemas.openxmlformats.org/drawingml/2006/chart" r:id="R3ab9e93328684153"/>
          </a:graphicData>
        </a:graphic>
      </p:graphicFrame>
      <p:sp>
        <p:nvSpPr>
          <p:cNvPr id="7" name="">
            <a:extLst xmlns:a="http://schemas.openxmlformats.org/drawingml/2006/main">
              <a:ext uri="{FF2B5EF4-FFF2-40B4-BE49-F238E27FC236}">
                <a16:creationId xmlns:a16="http://schemas.microsoft.com/office/drawing/2014/main" id="{8F7B95C3-A2D1-431D-BCE9-8B9933DF5621}"/>
              </a:ext>
            </a:extLst>
          </p:cNvPr>
          <p:cNvSpPr>
            <a:spLocks xmlns:a="http://schemas.openxmlformats.org/drawingml/2006/main" noGrp="1"/>
          </p:cNvSpPr>
          <p:nvPr/>
        </p:nvSpPr>
        <p:spPr>
          <a:xfrm xmlns:a="http://schemas.openxmlformats.org/drawingml/2006/main">
            <a:off x="6762750" y="2000250"/>
            <a:ext cx="48577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|2U − 1|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0.25 ≤ U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さらにU ≤ 0.75を満たす区間は</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同じ0.25〜0.75。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C(0.75, 0.5) = 0.75 − 0.25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0.5</a:t>
            </a:r>
          </a:p>
        </p:txBody>
      </p:sp>
      <p:sp>
        <p:nvSpPr>
          <p:cNvPr id="8" name="">
            <a:extLst xmlns:a="http://schemas.openxmlformats.org/drawingml/2006/main">
              <a:ext uri="{FF2B5EF4-FFF2-40B4-BE49-F238E27FC236}">
                <a16:creationId xmlns:a16="http://schemas.microsoft.com/office/drawing/2014/main" id="{7FB06A08-16BA-4507-BA48-6B1BD0F5ED0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C20D8D-1755-4F97-B0DF-8A2294BF42D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Uは一様分布なので、区間の長さがそのまま確率になる</a:t>
            </a:r>
          </a:p>
        </p:txBody>
      </p:sp>
    </p:spTree>
    <p:extLst>
      <p:ext uri="{BB962C8B-B14F-4D97-AF65-F5344CB8AC3E}">
        <p14:creationId xmlns:p14="http://schemas.microsoft.com/office/powerpoint/2010/main" val="1571547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2C6F99-47E1-47D3-89EC-8D3C74F49D4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この例のコピュラの式</a:t>
            </a:r>
          </a:p>
        </p:txBody>
      </p:sp>
      <p:sp>
        <p:nvSpPr>
          <p:cNvPr id="2" name="">
            <a:extLst xmlns:a="http://schemas.openxmlformats.org/drawingml/2006/main">
              <a:ext uri="{FF2B5EF4-FFF2-40B4-BE49-F238E27FC236}">
                <a16:creationId xmlns:a16="http://schemas.microsoft.com/office/drawing/2014/main" id="{C450D580-035A-4DCC-ABF6-E49D950F627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8FA511-7D69-4992-BD3F-504C056292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vとなるUの区間と、U ≤ uの範囲を重ねる。</a:t>
            </a:r>
          </a:p>
        </p:txBody>
      </p:sp>
      <p:sp>
        <p:nvSpPr>
          <p:cNvPr id="4" name="">
            <a:extLst xmlns:a="http://schemas.openxmlformats.org/drawingml/2006/main">
              <a:ext uri="{FF2B5EF4-FFF2-40B4-BE49-F238E27FC236}">
                <a16:creationId xmlns:a16="http://schemas.microsoft.com/office/drawing/2014/main" id="{C9074A1C-BDE0-4C10-AFB6-FCE4C74C213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A701EB8-B311-4EF1-861E-434D0DD2E00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1BA0B0FD-12D0-4F59-8E3C-F8788073F092}"/>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U字型の例に対応するコピュラ（0 ≤ u, v ≤ 1）</a:t>
            </a:r>
          </a:p>
        </p:txBody>
      </p:sp>
      <p:sp>
        <p:nvSpPr>
          <p:cNvPr id="7" name="">
            <a:extLst xmlns:a="http://schemas.openxmlformats.org/drawingml/2006/main">
              <a:ext uri="{FF2B5EF4-FFF2-40B4-BE49-F238E27FC236}">
                <a16:creationId xmlns:a16="http://schemas.microsoft.com/office/drawing/2014/main" id="{FFC2EB29-E958-43E1-B8E3-1D957C605CB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3E2CD6-42DB-4F63-9E4E-59AE8250776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C(u,v) = max{0, min(u, (1+v)/2) − (1−v)/2}</a:t>
            </a:r>
          </a:p>
        </p:txBody>
      </p:sp>
      <p:sp>
        <p:nvSpPr>
          <p:cNvPr id="9" name="">
            <a:extLst xmlns:a="http://schemas.openxmlformats.org/drawingml/2006/main">
              <a:ext uri="{FF2B5EF4-FFF2-40B4-BE49-F238E27FC236}">
                <a16:creationId xmlns:a16="http://schemas.microsoft.com/office/drawing/2014/main" id="{0D8890F9-06F2-40A5-9EEE-833B2E8E1141}"/>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vを満たす区間：[(1−v)/2, (1+v)/2]。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min：区間の右端をuまでに制限する。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max：区間が重ならないとき、確率を0にする。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例：u = 0.75、v = 0.5なら、0.75 − 0.25 = 0.5。</a:t>
            </a:r>
          </a:p>
        </p:txBody>
      </p:sp>
      <p:sp>
        <p:nvSpPr>
          <p:cNvPr id="10" name="">
            <a:extLst xmlns:a="http://schemas.openxmlformats.org/drawingml/2006/main">
              <a:ext uri="{FF2B5EF4-FFF2-40B4-BE49-F238E27FC236}">
                <a16:creationId xmlns:a16="http://schemas.microsoft.com/office/drawing/2014/main" id="{254E670C-4A7B-4543-B281-2E3149D821A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9110EA-D0A5-45DB-8E5E-E2A7E223FC4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この式は、この説明用の関係から導出した専用のコピュラ</a:t>
            </a:r>
          </a:p>
        </p:txBody>
      </p:sp>
    </p:spTree>
    <p:extLst>
      <p:ext uri="{BB962C8B-B14F-4D97-AF65-F5344CB8AC3E}">
        <p14:creationId xmlns:p14="http://schemas.microsoft.com/office/powerpoint/2010/main" val="4518217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3B92FA-286E-481B-96F1-58702FB71E4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Sklarの定理</a:t>
            </a:r>
          </a:p>
        </p:txBody>
      </p:sp>
      <p:sp>
        <p:nvSpPr>
          <p:cNvPr id="2" name="">
            <a:extLst xmlns:a="http://schemas.openxmlformats.org/drawingml/2006/main">
              <a:ext uri="{FF2B5EF4-FFF2-40B4-BE49-F238E27FC236}">
                <a16:creationId xmlns:a16="http://schemas.microsoft.com/office/drawing/2014/main" id="{50AB42B9-A616-47D7-AB6B-111810F46DA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2A3D46-E592-43E5-BF9B-7251D12F7F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元の値での同時確率を、周辺CDFとコピュラで表す。</a:t>
            </a:r>
          </a:p>
        </p:txBody>
      </p:sp>
      <p:sp>
        <p:nvSpPr>
          <p:cNvPr id="4" name="">
            <a:extLst xmlns:a="http://schemas.openxmlformats.org/drawingml/2006/main">
              <a:ext uri="{FF2B5EF4-FFF2-40B4-BE49-F238E27FC236}">
                <a16:creationId xmlns:a16="http://schemas.microsoft.com/office/drawing/2014/main" id="{FB17A38F-5B35-4E5C-9CC3-4474800A866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0575BFE-96E5-4FD5-B8F6-3A6B14440EF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838003AC-2661-4ABD-A9D0-684505719F0E}"/>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Sklar（スクラー）の分解式</a:t>
            </a:r>
          </a:p>
        </p:txBody>
      </p:sp>
      <p:sp>
        <p:nvSpPr>
          <p:cNvPr id="7" name="">
            <a:extLst xmlns:a="http://schemas.openxmlformats.org/drawingml/2006/main">
              <a:ext uri="{FF2B5EF4-FFF2-40B4-BE49-F238E27FC236}">
                <a16:creationId xmlns:a16="http://schemas.microsoft.com/office/drawing/2014/main" id="{DC02F043-2D7E-42C4-A36E-B49DE3279A61}"/>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45F77E-B12D-48A6-8A2C-22744A728D6A}"/>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Fₓᵧ(x,y) = C(Fₓ(x), Fᵧ(y))</a:t>
            </a:r>
          </a:p>
        </p:txBody>
      </p:sp>
      <p:sp>
        <p:nvSpPr>
          <p:cNvPr id="9" name="">
            <a:extLst xmlns:a="http://schemas.openxmlformats.org/drawingml/2006/main">
              <a:ext uri="{FF2B5EF4-FFF2-40B4-BE49-F238E27FC236}">
                <a16:creationId xmlns:a16="http://schemas.microsoft.com/office/drawing/2014/main" id="{3CAB9290-A30B-4677-A4CE-8191AF45192C}"/>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Fₓᵧ：X ≤ xかつY ≤ yとなる同時累積確率。</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Fₓ・Fᵧ：各列の分布。C：確率位置どうしの依存。</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0.5、y = 0.25なら</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Fₓᵧ(0.5,0.25) = C(0.75,0.5) = 0.5。</a:t>
            </a:r>
          </a:p>
        </p:txBody>
      </p:sp>
      <p:sp>
        <p:nvSpPr>
          <p:cNvPr id="10" name="">
            <a:extLst xmlns:a="http://schemas.openxmlformats.org/drawingml/2006/main">
              <a:ext uri="{FF2B5EF4-FFF2-40B4-BE49-F238E27FC236}">
                <a16:creationId xmlns:a16="http://schemas.microsoft.com/office/drawing/2014/main" id="{39EC38A2-B7DC-4793-B451-66A93A2DD5E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BBF2ED-73B1-4FD6-8A71-A2FFA68C972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値の分布を扱う部分と、組合せの関係を扱う部分を分ける</a:t>
            </a:r>
          </a:p>
        </p:txBody>
      </p:sp>
    </p:spTree>
    <p:extLst>
      <p:ext uri="{BB962C8B-B14F-4D97-AF65-F5344CB8AC3E}">
        <p14:creationId xmlns:p14="http://schemas.microsoft.com/office/powerpoint/2010/main" val="8823577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0BC1CC-EFD4-4519-B04F-3A987056104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条件付き補完の具体例</a:t>
            </a:r>
          </a:p>
        </p:txBody>
      </p:sp>
      <p:sp>
        <p:nvSpPr>
          <p:cNvPr id="2" name="">
            <a:extLst xmlns:a="http://schemas.openxmlformats.org/drawingml/2006/main">
              <a:ext uri="{FF2B5EF4-FFF2-40B4-BE49-F238E27FC236}">
                <a16:creationId xmlns:a16="http://schemas.microsoft.com/office/drawing/2014/main" id="{CA0EE40C-A663-437C-BCB1-3F10A896F6B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E47DDA-6E72-4053-BDE4-2504FF70E87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 = 0.6を残し、マスクしたYを生成する。</a:t>
            </a:r>
          </a:p>
        </p:txBody>
      </p:sp>
      <p:sp>
        <p:nvSpPr>
          <p:cNvPr id="4" name="">
            <a:extLst xmlns:a="http://schemas.openxmlformats.org/drawingml/2006/main">
              <a:ext uri="{FF2B5EF4-FFF2-40B4-BE49-F238E27FC236}">
                <a16:creationId xmlns:a16="http://schemas.microsoft.com/office/drawing/2014/main" id="{786C3171-A014-4A6A-95D9-126534BAE2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9F8F0C2-CE32-49A9-9151-75C990D4E3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139AB7C5-4770-484F-A8F0-B38B75C4F76B}"/>
              </a:ext>
            </a:extLst>
          </p:cNvPr>
          <p:cNvSpPr>
            <a:spLocks xmlns:a="http://schemas.openxmlformats.org/drawingml/2006/main" noGrp="1"/>
          </p:cNvSpPr>
          <p:nvPr/>
        </p:nvSpPr>
        <p:spPr>
          <a:xfrm xmlns:a="http://schemas.openxmlformats.org/drawingml/2006/main">
            <a:off x="552450" y="20478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65BDFC9-B01B-4611-A5AA-5BED330D389B}"/>
              </a:ext>
            </a:extLst>
          </p:cNvPr>
          <p:cNvSpPr>
            <a:spLocks xmlns:a="http://schemas.openxmlformats.org/drawingml/2006/main" noGrp="1"/>
          </p:cNvSpPr>
          <p:nvPr/>
        </p:nvSpPr>
        <p:spPr>
          <a:xfrm xmlns:a="http://schemas.openxmlformats.org/drawingml/2006/main">
            <a:off x="1257300" y="20478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観測値を位置に変換：u = Fₓ(0.6) = (0.6 + 1) / 2 = 0.8</a:t>
            </a:r>
          </a:p>
        </p:txBody>
      </p:sp>
      <p:sp>
        <p:nvSpPr>
          <p:cNvPr id="8" name="">
            <a:extLst xmlns:a="http://schemas.openxmlformats.org/drawingml/2006/main">
              <a:ext uri="{FF2B5EF4-FFF2-40B4-BE49-F238E27FC236}">
                <a16:creationId xmlns:a16="http://schemas.microsoft.com/office/drawing/2014/main" id="{BEF5C9C5-1511-423B-B525-74A79AFB1AC2}"/>
              </a:ext>
            </a:extLst>
          </p:cNvPr>
          <p:cNvSpPr>
            <a:spLocks xmlns:a="http://schemas.openxmlformats.org/drawingml/2006/main" noGrp="1"/>
          </p:cNvSpPr>
          <p:nvPr/>
        </p:nvSpPr>
        <p:spPr>
          <a:xfrm xmlns:a="http://schemas.openxmlformats.org/drawingml/2006/main">
            <a:off x="552450" y="296862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EF23F91-665E-4FDB-B186-7634430BA332}"/>
              </a:ext>
            </a:extLst>
          </p:cNvPr>
          <p:cNvSpPr>
            <a:spLocks xmlns:a="http://schemas.openxmlformats.org/drawingml/2006/main" noGrp="1"/>
          </p:cNvSpPr>
          <p:nvPr/>
        </p:nvSpPr>
        <p:spPr>
          <a:xfrm xmlns:a="http://schemas.openxmlformats.org/drawingml/2006/main">
            <a:off x="1257300" y="296862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この例の条件付き位置：v = |2u − 1| = |1.6 − 1| = 0.6</a:t>
            </a:r>
          </a:p>
        </p:txBody>
      </p:sp>
      <p:sp>
        <p:nvSpPr>
          <p:cNvPr id="10" name="">
            <a:extLst xmlns:a="http://schemas.openxmlformats.org/drawingml/2006/main">
              <a:ext uri="{FF2B5EF4-FFF2-40B4-BE49-F238E27FC236}">
                <a16:creationId xmlns:a16="http://schemas.microsoft.com/office/drawing/2014/main" id="{85F2B2EE-B76E-40BF-9EED-3A76AED0FC6A}"/>
              </a:ext>
            </a:extLst>
          </p:cNvPr>
          <p:cNvSpPr>
            <a:spLocks xmlns:a="http://schemas.openxmlformats.org/drawingml/2006/main" noGrp="1"/>
          </p:cNvSpPr>
          <p:nvPr/>
        </p:nvSpPr>
        <p:spPr>
          <a:xfrm xmlns:a="http://schemas.openxmlformats.org/drawingml/2006/main">
            <a:off x="552450" y="38893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0A3056F-DFE2-4C26-A317-4E5B107C9A35}"/>
              </a:ext>
            </a:extLst>
          </p:cNvPr>
          <p:cNvSpPr>
            <a:spLocks xmlns:a="http://schemas.openxmlformats.org/drawingml/2006/main" noGrp="1"/>
          </p:cNvSpPr>
          <p:nvPr/>
        </p:nvSpPr>
        <p:spPr>
          <a:xfrm xmlns:a="http://schemas.openxmlformats.org/drawingml/2006/main">
            <a:off x="1257300" y="38893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逆CDFで値へ戻す：y = Fᵧ⁻¹(v) = v² = 0.6² = 0.36</a:t>
            </a:r>
          </a:p>
        </p:txBody>
      </p:sp>
      <p:sp>
        <p:nvSpPr>
          <p:cNvPr id="12" name="">
            <a:extLst xmlns:a="http://schemas.openxmlformats.org/drawingml/2006/main">
              <a:ext uri="{FF2B5EF4-FFF2-40B4-BE49-F238E27FC236}">
                <a16:creationId xmlns:a16="http://schemas.microsoft.com/office/drawing/2014/main" id="{B1588808-E93E-497C-B0DE-17190CDCEFB4}"/>
              </a:ext>
            </a:extLst>
          </p:cNvPr>
          <p:cNvSpPr>
            <a:spLocks xmlns:a="http://schemas.openxmlformats.org/drawingml/2006/main" noGrp="1"/>
          </p:cNvSpPr>
          <p:nvPr/>
        </p:nvSpPr>
        <p:spPr>
          <a:xfrm xmlns:a="http://schemas.openxmlformats.org/drawingml/2006/main">
            <a:off x="619125" y="49149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X = 0.6の行がなくても、推定した条件付きモデルで位置を求める。</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このノイズなしの理想例では、固定したXに対するYは一つに決まる。</a:t>
            </a:r>
          </a:p>
        </p:txBody>
      </p:sp>
      <p:sp>
        <p:nvSpPr>
          <p:cNvPr id="13" name="">
            <a:extLst xmlns:a="http://schemas.openxmlformats.org/drawingml/2006/main">
              <a:ext uri="{FF2B5EF4-FFF2-40B4-BE49-F238E27FC236}">
                <a16:creationId xmlns:a16="http://schemas.microsoft.com/office/drawing/2014/main" id="{83188763-905A-4DCC-87C4-252D1AD1AF5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786D6F-A603-4349-B5FF-4F40C0A4E4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この補完は専用の依存式を使う例で、Gaussianコピュラの補完ではない</a:t>
            </a:r>
          </a:p>
        </p:txBody>
      </p:sp>
    </p:spTree>
    <p:extLst>
      <p:ext uri="{BB962C8B-B14F-4D97-AF65-F5344CB8AC3E}">
        <p14:creationId xmlns:p14="http://schemas.microsoft.com/office/powerpoint/2010/main" val="6955899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776640-3D9A-432E-A67F-668C94D8DBD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独立と、この例の依存の違い</a:t>
            </a:r>
          </a:p>
        </p:txBody>
      </p:sp>
      <p:sp>
        <p:nvSpPr>
          <p:cNvPr id="2" name="">
            <a:extLst xmlns:a="http://schemas.openxmlformats.org/drawingml/2006/main">
              <a:ext uri="{FF2B5EF4-FFF2-40B4-BE49-F238E27FC236}">
                <a16:creationId xmlns:a16="http://schemas.microsoft.com/office/drawing/2014/main" id="{1FCB7B0B-5155-406A-B5D0-40AF79832D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670D02-A90C-43A3-81BA-186B3A4E036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同じ周辺分布でも、条件付きで生成できる位置が異なる。</a:t>
            </a:r>
          </a:p>
        </p:txBody>
      </p:sp>
      <p:sp>
        <p:nvSpPr>
          <p:cNvPr id="4" name="">
            <a:extLst xmlns:a="http://schemas.openxmlformats.org/drawingml/2006/main">
              <a:ext uri="{FF2B5EF4-FFF2-40B4-BE49-F238E27FC236}">
                <a16:creationId xmlns:a16="http://schemas.microsoft.com/office/drawing/2014/main" id="{B63EB9F2-6702-4866-ABE1-2A7540C2626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86F6D6C-AC19-4AE5-B9CF-13783AB3AEC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6" name="">
            <a:extLst xmlns:a="http://schemas.openxmlformats.org/drawingml/2006/main">
              <a:ext uri="{FF2B5EF4-FFF2-40B4-BE49-F238E27FC236}">
                <a16:creationId xmlns:a16="http://schemas.microsoft.com/office/drawing/2014/main" id="{4EC0A519-0373-41AB-9021-2F679941F1AB}"/>
              </a:ext>
            </a:extLst>
          </p:cNvPr>
          <p:cNvGraphicFramePr/>
          <p:nvPr/>
        </p:nvGraphicFramePr>
        <p:xfrm>
          <a:off xmlns:a="http://schemas.openxmlformats.org/drawingml/2006/main" x="514350" y="2095500"/>
          <a:ext xmlns:a="http://schemas.openxmlformats.org/drawingml/2006/main" cx="11163300" cy="3114675"/>
        </p:xfrm>
        <a:graphic xmlns:a="http://schemas.openxmlformats.org/drawingml/2006/main">
          <a:graphicData uri="http://schemas.openxmlformats.org/drawingml/2006/table">
            <a:tbl>
              <a:tblPr/>
              <a:tblGrid>
                <a:gridCol w="2667000"/>
                <a:gridCol w="8496300"/>
              </a:tblGrid>
              <a:tr h="778669">
                <a:tc>
                  <a:txBody>
                    <a:bodyPr/>
                    <a:lstStyle/>
                    <a:p>
                      <a:pPr algn="ctr"/>
                      <a:r>
                        <a:rPr sz="2025"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 = 0.6（U = 0.8）のとき</a:t>
                      </a:r>
                    </a:p>
                  </a:txBody>
                  <a:tcPr marL="91440" marR="91440" marT="45720" marB="45720" anchor="ctr">
                    <a:solidFill>
                      <a:srgbClr val="E7F2EC"/>
                    </a:solidFill>
                  </a:tcPr>
                </a:tc>
              </a:tr>
              <a:tr h="778669">
                <a:tc>
                  <a:txBody>
                    <a:bodyPr/>
                    <a:lstStyle/>
                    <a:p>
                      <a:pPr algn="ctr"/>
                      <a:r>
                        <a:rPr sz="2025" b="0">
                          <a:solidFill>
                            <a:srgbClr val="222222"/>
                          </a:solidFill>
                          <a:latin typeface="Noto Sans JP"/>
                          <a:ea typeface="Noto Sans JP"/>
                          <a:cs typeface="Noto Sans JP"/>
                        </a:rPr>
                        <a:t>独立：C(u,v) = 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Vは0〜1のどこからでも生成できる。</a:t>
                      </a:r>
                    </a:p>
                    <a:p>
                      <a:pPr algn="ctr"/>
                      <a:r>
                        <a:rPr sz="2025" b="0">
                          <a:solidFill>
                            <a:srgbClr val="222222"/>
                          </a:solidFill>
                          <a:latin typeface="Noto Sans JP"/>
                          <a:ea typeface="Noto Sans JP"/>
                          <a:cs typeface="Noto Sans JP"/>
                        </a:rPr>
                        <a:t>YもXに関係なく生成する。</a:t>
                      </a:r>
                    </a:p>
                  </a:txBody>
                  <a:tcPr marL="91440" marR="91440" marT="45720" marB="45720" anchor="ctr">
                    <a:solidFill>
                      <a:srgbClr val="FFFFFF"/>
                    </a:solidFill>
                  </a:tcPr>
                </a:tc>
              </a:tr>
              <a:tr h="778669">
                <a:tc>
                  <a:txBody>
                    <a:bodyPr/>
                    <a:lstStyle/>
                    <a:p>
                      <a:pPr algn="ctr"/>
                      <a:r>
                        <a:rPr sz="2025" b="0">
                          <a:solidFill>
                            <a:srgbClr val="222222"/>
                          </a:solidFill>
                          <a:latin typeface="Noto Sans JP"/>
                          <a:ea typeface="Noto Sans JP"/>
                          <a:cs typeface="Noto Sans JP"/>
                        </a:rPr>
                        <a:t>今回の非単調な依存</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V = |2 × 0.8 − 1| = 0.6に決まる。</a:t>
                      </a:r>
                    </a:p>
                    <a:p>
                      <a:pPr algn="ctr"/>
                      <a:r>
                        <a:rPr sz="2025" b="0">
                          <a:solidFill>
                            <a:srgbClr val="222222"/>
                          </a:solidFill>
                          <a:latin typeface="Noto Sans JP"/>
                          <a:ea typeface="Noto Sans JP"/>
                          <a:cs typeface="Noto Sans JP"/>
                        </a:rPr>
                        <a:t>Y = 0.36になる。</a:t>
                      </a:r>
                    </a:p>
                  </a:txBody>
                  <a:tcPr marL="91440" marR="91440" marT="45720" marB="45720" anchor="ctr">
                    <a:solidFill>
                      <a:srgbClr val="F6F6F6"/>
                    </a:solidFill>
                  </a:tcPr>
                </a:tc>
              </a:tr>
              <a:tr h="778669">
                <a:tc>
                  <a:txBody>
                    <a:bodyPr/>
                    <a:lstStyle/>
                    <a:p>
                      <a:pPr algn="ctr"/>
                      <a:r>
                        <a:rPr sz="2025" b="0">
                          <a:solidFill>
                            <a:srgbClr val="222222"/>
                          </a:solidFill>
                          <a:latin typeface="Noto Sans JP"/>
                          <a:ea typeface="Noto Sans JP"/>
                          <a:cs typeface="Noto Sans JP"/>
                        </a:rPr>
                        <a:t>完全同方向依存</a:t>
                      </a:r>
                    </a:p>
                    <a:p>
                      <a:pPr algn="ctr"/>
                      <a:r>
                        <a:rPr sz="2025" b="0">
                          <a:solidFill>
                            <a:srgbClr val="222222"/>
                          </a:solidFill>
                          <a:latin typeface="Noto Sans JP"/>
                          <a:ea typeface="Noto Sans JP"/>
                          <a:cs typeface="Noto Sans JP"/>
                        </a:rPr>
                        <a:t>C(u,v) = min(u,v)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U = Vが常に成り立つ関係。</a:t>
                      </a:r>
                    </a:p>
                    <a:p>
                      <a:pPr algn="ctr"/>
                      <a:r>
                        <a:rPr sz="2025" b="0">
                          <a:solidFill>
                            <a:srgbClr val="222222"/>
                          </a:solidFill>
                          <a:latin typeface="Noto Sans JP"/>
                          <a:ea typeface="Noto Sans JP"/>
                          <a:cs typeface="Noto Sans JP"/>
                        </a:rPr>
                        <a:t>今回のV字型の依存とは異なる。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14B563D-F572-4798-A98F-11A8B4EADA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244CAA-B19E-464C-ADC4-5F15C0ACB6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独立・完全同方向・今回の非単調な依存は、それぞれ異なる</a:t>
            </a:r>
          </a:p>
        </p:txBody>
      </p:sp>
    </p:spTree>
    <p:extLst>
      <p:ext uri="{BB962C8B-B14F-4D97-AF65-F5344CB8AC3E}">
        <p14:creationId xmlns:p14="http://schemas.microsoft.com/office/powerpoint/2010/main" val="382220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4F4758-F9C3-43F3-9D13-BFF13AE786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Gaussianコピュラの限界</a:t>
            </a:r>
          </a:p>
        </p:txBody>
      </p:sp>
      <p:sp>
        <p:nvSpPr>
          <p:cNvPr id="2" name="">
            <a:extLst xmlns:a="http://schemas.openxmlformats.org/drawingml/2006/main">
              <a:ext uri="{FF2B5EF4-FFF2-40B4-BE49-F238E27FC236}">
                <a16:creationId xmlns:a16="http://schemas.microsoft.com/office/drawing/2014/main" id="{B2AD03A0-03CD-4E36-AFA7-E363F4CAC01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F98E61-5B15-411A-91A7-E0CACF47C8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この対称なU字型では、相関が0でも強い依存がある。</a:t>
            </a:r>
          </a:p>
        </p:txBody>
      </p:sp>
      <p:sp>
        <p:nvSpPr>
          <p:cNvPr id="4" name="">
            <a:extLst xmlns:a="http://schemas.openxmlformats.org/drawingml/2006/main">
              <a:ext uri="{FF2B5EF4-FFF2-40B4-BE49-F238E27FC236}">
                <a16:creationId xmlns:a16="http://schemas.microsoft.com/office/drawing/2014/main" id="{74256164-846A-4389-9097-0998B928912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2CFE80F-3122-4C58-8142-F8472CE2975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BD81A975-1D6A-4188-8C86-439CFAE6E7B9}"/>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元の値のPearson相関は0。それでも、YはX²で完全に決まる。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潜在値 Zₓ = Φ⁻¹(U)、Zᵧ = Φ⁻¹(V)でも、</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対称性によって相関は0になる。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Gaussianコピュラは相関0を独立として扱うため、</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このU字型の依存を再現できない。</a:t>
            </a:r>
          </a:p>
        </p:txBody>
      </p:sp>
      <p:sp>
        <p:nvSpPr>
          <p:cNvPr id="7" name="">
            <a:extLst xmlns:a="http://schemas.openxmlformats.org/drawingml/2006/main">
              <a:ext uri="{FF2B5EF4-FFF2-40B4-BE49-F238E27FC236}">
                <a16:creationId xmlns:a16="http://schemas.microsoft.com/office/drawing/2014/main" id="{308B7CCC-C6A5-4673-A0AB-956649A661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FFF2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3EC22F-288B-4F25-9A16-570C2562475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E0562B"/>
                </a:solidFill>
                <a:latin typeface="Noto Sans JP"/>
                <a:ea typeface="Noto Sans JP"/>
                <a:cs typeface="Noto Sans JP"/>
              </a:defRPr>
            </a:defPPr>
          </a:lstStyle>
          <a:p xmlns:a="http://schemas.openxmlformats.org/drawingml/2006/main">
            <a:pPr algn="ctr">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「Gaussianコピュラで任意の非線形依存を保持できる」とは言えない</a:t>
            </a:r>
          </a:p>
        </p:txBody>
      </p:sp>
    </p:spTree>
    <p:extLst>
      <p:ext uri="{BB962C8B-B14F-4D97-AF65-F5344CB8AC3E}">
        <p14:creationId xmlns:p14="http://schemas.microsoft.com/office/powerpoint/2010/main" val="1620560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A4991B-763A-4C1C-860B-9C65B221FF4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Gaussian・Student-t コピュラ</a:t>
            </a:r>
          </a:p>
        </p:txBody>
      </p:sp>
      <p:sp>
        <p:nvSpPr>
          <p:cNvPr id="2" name="">
            <a:extLst xmlns:a="http://schemas.openxmlformats.org/drawingml/2006/main">
              <a:ext uri="{FF2B5EF4-FFF2-40B4-BE49-F238E27FC236}">
                <a16:creationId xmlns:a16="http://schemas.microsoft.com/office/drawing/2014/main" id="{4F168AA6-E79F-4611-A1FD-25DC9F979C7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CDE57D-A5CF-4970-8A46-DEB5AC45CD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多変量分布を使い、潜在空間の依存を表す。</a:t>
            </a:r>
          </a:p>
        </p:txBody>
      </p:sp>
      <p:sp>
        <p:nvSpPr>
          <p:cNvPr id="4" name="">
            <a:extLst xmlns:a="http://schemas.openxmlformats.org/drawingml/2006/main">
              <a:ext uri="{FF2B5EF4-FFF2-40B4-BE49-F238E27FC236}">
                <a16:creationId xmlns:a16="http://schemas.microsoft.com/office/drawing/2014/main" id="{2AA5ED8A-3DBE-4761-BE0F-9B8087DA9D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5BAA44C-1794-45AD-A40F-632B31D859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57A78D72-7EC6-4F27-BCFB-C6EB97AA972C}"/>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Gaussianコピュラの式</a:t>
            </a:r>
          </a:p>
        </p:txBody>
      </p:sp>
      <p:sp>
        <p:nvSpPr>
          <p:cNvPr id="7" name="">
            <a:extLst xmlns:a="http://schemas.openxmlformats.org/drawingml/2006/main">
              <a:ext uri="{FF2B5EF4-FFF2-40B4-BE49-F238E27FC236}">
                <a16:creationId xmlns:a16="http://schemas.microsoft.com/office/drawing/2014/main" id="{6A826849-A00A-4BE7-A5BB-DB28576246A2}"/>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A33CB6-C879-48C0-B2E7-6554FC3A9334}"/>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Cρ(u,v) = Φρ(Φ⁻¹(u), Φ⁻¹(v))</a:t>
            </a:r>
          </a:p>
        </p:txBody>
      </p:sp>
      <p:sp>
        <p:nvSpPr>
          <p:cNvPr id="9" name="">
            <a:extLst xmlns:a="http://schemas.openxmlformats.org/drawingml/2006/main">
              <a:ext uri="{FF2B5EF4-FFF2-40B4-BE49-F238E27FC236}">
                <a16:creationId xmlns:a16="http://schemas.microsoft.com/office/drawing/2014/main" id="{0D78F4E2-BF2E-4450-9960-F14022B36AA4}"/>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Φ：標準正規CDF。Φ⁻¹：位置を潜在値へ変換する逆CDF。</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Φρ：相関ρの二変量正規CDF。ρはデータから推定する。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Student-tはt分布を使い、両側の裾依存を扱える。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どちらも、今回のU字型をそのまま再現する保証はない。</a:t>
            </a:r>
          </a:p>
        </p:txBody>
      </p:sp>
      <p:sp>
        <p:nvSpPr>
          <p:cNvPr id="10" name="">
            <a:extLst xmlns:a="http://schemas.openxmlformats.org/drawingml/2006/main">
              <a:ext uri="{FF2B5EF4-FFF2-40B4-BE49-F238E27FC236}">
                <a16:creationId xmlns:a16="http://schemas.microsoft.com/office/drawing/2014/main" id="{061BA0D0-F598-407F-8386-AC5A3AD4211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587B1F-2FA3-4CD5-9BFF-45FDC3382B4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元の変数が正規分布である必要はないが、依存の形に制約がある</a:t>
            </a:r>
          </a:p>
        </p:txBody>
      </p:sp>
    </p:spTree>
    <p:extLst>
      <p:ext uri="{BB962C8B-B14F-4D97-AF65-F5344CB8AC3E}">
        <p14:creationId xmlns:p14="http://schemas.microsoft.com/office/powerpoint/2010/main" val="15388352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57E536-B53B-4CD3-8EC5-A15E75320B1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その他のコピュラの種類</a:t>
            </a:r>
          </a:p>
        </p:txBody>
      </p:sp>
      <p:sp>
        <p:nvSpPr>
          <p:cNvPr id="2" name="">
            <a:extLst xmlns:a="http://schemas.openxmlformats.org/drawingml/2006/main">
              <a:ext uri="{FF2B5EF4-FFF2-40B4-BE49-F238E27FC236}">
                <a16:creationId xmlns:a16="http://schemas.microsoft.com/office/drawing/2014/main" id="{5A848FCF-AB77-40E0-A373-3FF82C4F4C7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4AC49F-11ED-4EBE-8597-8F9B0CEBBA9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表したい依存の形に応じて、種類と推定方法を選ぶ。</a:t>
            </a:r>
          </a:p>
        </p:txBody>
      </p:sp>
      <p:sp>
        <p:nvSpPr>
          <p:cNvPr id="4" name="">
            <a:extLst xmlns:a="http://schemas.openxmlformats.org/drawingml/2006/main">
              <a:ext uri="{FF2B5EF4-FFF2-40B4-BE49-F238E27FC236}">
                <a16:creationId xmlns:a16="http://schemas.microsoft.com/office/drawing/2014/main" id="{A4555791-F578-41FF-A46B-8A8B76E7A8E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27E0528-5ADA-468B-8DB9-AB67DC5E738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graphicFrame>
        <p:nvGraphicFramePr>
          <p:cNvPr id="6" name="">
            <a:extLst xmlns:a="http://schemas.openxmlformats.org/drawingml/2006/main">
              <a:ext uri="{FF2B5EF4-FFF2-40B4-BE49-F238E27FC236}">
                <a16:creationId xmlns:a16="http://schemas.microsoft.com/office/drawing/2014/main" id="{B254A417-FD0D-441E-A764-5E1913D7695F}"/>
              </a:ext>
            </a:extLst>
          </p:cNvPr>
          <p:cNvGraphicFramePr/>
          <p:nvPr/>
        </p:nvGraphicFramePr>
        <p:xfrm>
          <a:off xmlns:a="http://schemas.openxmlformats.org/drawingml/2006/main" x="514350" y="2066925"/>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950" b="1">
                          <a:solidFill>
                            <a:srgbClr val="2E7D5B"/>
                          </a:solidFill>
                          <a:latin typeface="Noto Sans JP"/>
                          <a:ea typeface="Noto Sans JP"/>
                          <a:cs typeface="Noto Sans JP"/>
                        </a:rPr>
                        <a:t>種類・構成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主な特徴</a:t>
                      </a:r>
                    </a:p>
                  </a:txBody>
                  <a:tcPr marL="91440" marR="91440" marT="45720" marB="45720" anchor="ctr">
                    <a:solidFill>
                      <a:srgbClr val="E7F2EC"/>
                    </a:solidFill>
                  </a:tcPr>
                </a:tc>
              </a:tr>
              <a:tr h="653415">
                <a:tc>
                  <a:txBody>
                    <a:bodyPr/>
                    <a:lstStyle/>
                    <a:p>
                      <a:pPr algn="ctr"/>
                      <a:r>
                        <a:rPr sz="195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標準形は、下側または上側の裾依存を扱う。</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対称な依存。上下の裾依存係数は0。</a:t>
                      </a:r>
                    </a:p>
                  </a:txBody>
                  <a:tcPr marL="91440" marR="91440" marT="45720" marB="45720" anchor="ctr">
                    <a:solidFill>
                      <a:srgbClr val="F6F6F6"/>
                    </a:solidFill>
                  </a:tcPr>
                </a:tc>
              </a:tr>
              <a:tr h="653415">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ペアのコピュラを組み合わせる構成。</a:t>
                      </a:r>
                    </a:p>
                    <a:p>
                      <a:pPr algn="ctr"/>
                      <a:r>
                        <a:rPr sz="1950" b="0">
                          <a:solidFill>
                            <a:srgbClr val="222222"/>
                          </a:solidFill>
                          <a:latin typeface="Noto Sans JP"/>
                          <a:ea typeface="Noto Sans JP"/>
                          <a:cs typeface="Noto Sans JP"/>
                        </a:rPr>
                        <a:t>構成と各ペアのモデル選択が必要。</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ノンパラメトリック</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特定の一族に固定せず、依存を柔軟に推定。</a:t>
                      </a:r>
                    </a:p>
                    <a:p>
                      <a:pPr algn="ctr"/>
                      <a:r>
                        <a:rPr sz="1950" b="0">
                          <a:solidFill>
                            <a:srgbClr val="222222"/>
                          </a:solidFill>
                          <a:latin typeface="Noto Sans JP"/>
                          <a:ea typeface="Noto Sans JP"/>
                          <a:cs typeface="Noto Sans JP"/>
                        </a:rPr>
                        <a:t>平滑化・条件付き生成・高次元への対応が課題。</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75B8405-2130-4A42-9937-F30134E5387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1C1973-FBE9-409B-9ADE-1EF02DB3D31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非単調な関係では、その形を捉えられるモデルかを確認する</a:t>
            </a:r>
          </a:p>
        </p:txBody>
      </p:sp>
    </p:spTree>
    <p:extLst>
      <p:ext uri="{BB962C8B-B14F-4D97-AF65-F5344CB8AC3E}">
        <p14:creationId xmlns:p14="http://schemas.microsoft.com/office/powerpoint/2010/main" val="3368528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E5AEB0-154F-478C-83BE-C395F3C5D79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初期実験の条件付き生成</a:t>
            </a:r>
          </a:p>
        </p:txBody>
      </p:sp>
      <p:sp>
        <p:nvSpPr>
          <p:cNvPr id="2" name="">
            <a:extLst xmlns:a="http://schemas.openxmlformats.org/drawingml/2006/main">
              <a:ext uri="{FF2B5EF4-FFF2-40B4-BE49-F238E27FC236}">
                <a16:creationId xmlns:a16="http://schemas.microsoft.com/office/drawing/2014/main" id="{356D4B01-6E09-4A32-903E-E9FDC82825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34047C-0976-4A9F-AE74-DC29B27D24E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現在の実装ではGaussianコピュラを使用する。</a:t>
            </a:r>
          </a:p>
        </p:txBody>
      </p:sp>
      <p:sp>
        <p:nvSpPr>
          <p:cNvPr id="4" name="">
            <a:extLst xmlns:a="http://schemas.openxmlformats.org/drawingml/2006/main">
              <a:ext uri="{FF2B5EF4-FFF2-40B4-BE49-F238E27FC236}">
                <a16:creationId xmlns:a16="http://schemas.microsoft.com/office/drawing/2014/main" id="{A7747838-D991-415E-AA53-8A26117EC22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0CDD818-1993-42D2-9476-25BE2BCEB96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sp>
        <p:nvSpPr>
          <p:cNvPr id="6" name="">
            <a:extLst xmlns:a="http://schemas.openxmlformats.org/drawingml/2006/main">
              <a:ext uri="{FF2B5EF4-FFF2-40B4-BE49-F238E27FC236}">
                <a16:creationId xmlns:a16="http://schemas.microsoft.com/office/drawing/2014/main" id="{FAF7391A-085A-4A06-9190-9CEB432EF470}"/>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二変量の条件付き正規分布（平均と分散）</a:t>
            </a:r>
          </a:p>
        </p:txBody>
      </p:sp>
      <p:sp>
        <p:nvSpPr>
          <p:cNvPr id="7" name="">
            <a:extLst xmlns:a="http://schemas.openxmlformats.org/drawingml/2006/main">
              <a:ext uri="{FF2B5EF4-FFF2-40B4-BE49-F238E27FC236}">
                <a16:creationId xmlns:a16="http://schemas.microsoft.com/office/drawing/2014/main" id="{A5353601-C49B-4498-8ABC-AEEC1D5729AD}"/>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64B89A-4C10-4B32-9F20-44E996E6A1B5}"/>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Zᵧ | Zₓ = zₓ  ~  N(ρzₓ, 1 − ρ²)</a:t>
            </a:r>
          </a:p>
        </p:txBody>
      </p:sp>
      <p:sp>
        <p:nvSpPr>
          <p:cNvPr id="9" name="">
            <a:extLst xmlns:a="http://schemas.openxmlformats.org/drawingml/2006/main">
              <a:ext uri="{FF2B5EF4-FFF2-40B4-BE49-F238E27FC236}">
                <a16:creationId xmlns:a16="http://schemas.microsoft.com/office/drawing/2014/main" id="{5F86B532-C662-45DD-8362-4DD76ED5C9F6}"/>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Zₓ・Zᵧ：Φ⁻¹で変換した潜在値。N(平均, 分散)：正規分布。</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ρ：ラベルなしデータから推定する潜在相関。</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乱数でZᵧを生成し、V = Φ(Zᵧ)、Y = Fᵧ⁻¹(V)へ戻す。</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今回のU字型でρ = 0なら、Xを使わない生成になってしまう。</a:t>
            </a:r>
          </a:p>
        </p:txBody>
      </p:sp>
      <p:sp>
        <p:nvSpPr>
          <p:cNvPr id="10" name="">
            <a:extLst xmlns:a="http://schemas.openxmlformats.org/drawingml/2006/main">
              <a:ext uri="{FF2B5EF4-FFF2-40B4-BE49-F238E27FC236}">
                <a16:creationId xmlns:a16="http://schemas.microsoft.com/office/drawing/2014/main" id="{B3517B52-CB53-4C79-984A-6CBD45CA7F2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68EAA-7999-414C-88E0-385E59920A5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周辺の逆CDFは実装では経験分位点の線形補間を使う</a:t>
            </a:r>
          </a:p>
        </p:txBody>
      </p:sp>
    </p:spTree>
    <p:extLst>
      <p:ext uri="{BB962C8B-B14F-4D97-AF65-F5344CB8AC3E}">
        <p14:creationId xmlns:p14="http://schemas.microsoft.com/office/powerpoint/2010/main" val="6181639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663D75-4EB5-4DFE-96D5-052D2501838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研究で検証すること</a:t>
            </a:r>
          </a:p>
        </p:txBody>
      </p:sp>
      <p:sp>
        <p:nvSpPr>
          <p:cNvPr id="2" name="">
            <a:extLst xmlns:a="http://schemas.openxmlformats.org/drawingml/2006/main">
              <a:ext uri="{FF2B5EF4-FFF2-40B4-BE49-F238E27FC236}">
                <a16:creationId xmlns:a16="http://schemas.microsoft.com/office/drawing/2014/main" id="{1C83A83B-DF4E-4865-910C-0162B645C74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C6B710-AD21-4CD0-8A23-706CB53F596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依存の再現と、分類性能への効果を実験で確かめる。</a:t>
            </a:r>
          </a:p>
        </p:txBody>
      </p:sp>
      <p:sp>
        <p:nvSpPr>
          <p:cNvPr id="4" name="">
            <a:extLst xmlns:a="http://schemas.openxmlformats.org/drawingml/2006/main">
              <a:ext uri="{FF2B5EF4-FFF2-40B4-BE49-F238E27FC236}">
                <a16:creationId xmlns:a16="http://schemas.microsoft.com/office/drawing/2014/main" id="{C0B33CA3-FCB0-4708-BB68-16680CAB0A8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3D27A8F-2215-4A7F-8E2A-A0CBD591BF5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D3732839-1A90-4824-8FE0-A13D5985C63B}"/>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現在：Gaussianによる拡張と列置換を、同じ条件で比較する。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追加検証：U字型などの非単調な合成データで、</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生成後にも関係が残るかを調べる。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非単調な依存を保持できない場合は、</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柔軟なコピュラや別の条件付き生成器を検討する。</a:t>
            </a:r>
          </a:p>
        </p:txBody>
      </p:sp>
      <p:sp>
        <p:nvSpPr>
          <p:cNvPr id="7" name="">
            <a:extLst xmlns:a="http://schemas.openxmlformats.org/drawingml/2006/main">
              <a:ext uri="{FF2B5EF4-FFF2-40B4-BE49-F238E27FC236}">
                <a16:creationId xmlns:a16="http://schemas.microsoft.com/office/drawing/2014/main" id="{CFEF0DDA-D5F7-465B-A0E2-94289E7EB37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263C79-ED8C-4D34-BD9C-F2793C45AC6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非単調な依存を表せることと、現在のGaussian実装の能力を区別する</a:t>
            </a:r>
          </a:p>
        </p:txBody>
      </p:sp>
    </p:spTree>
    <p:extLst>
      <p:ext uri="{BB962C8B-B14F-4D97-AF65-F5344CB8AC3E}">
        <p14:creationId xmlns:p14="http://schemas.microsoft.com/office/powerpoint/2010/main" val="8810019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1F275F-36CE-4728-AB54-FC339C4A025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補足：実験環境</a:t>
            </a:r>
          </a:p>
        </p:txBody>
      </p:sp>
      <p:sp>
        <p:nvSpPr>
          <p:cNvPr id="2" name="">
            <a:extLst xmlns:a="http://schemas.openxmlformats.org/drawingml/2006/main">
              <a:ext uri="{FF2B5EF4-FFF2-40B4-BE49-F238E27FC236}">
                <a16:creationId xmlns:a16="http://schemas.microsoft.com/office/drawing/2014/main" id="{5759C84E-4D64-4945-9A52-CC553E9CBBF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FB71F7-8FCF-42B7-B1A6-D531D552E86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保存済みの2026年10月4日の実行記録に基づく。</a:t>
            </a:r>
          </a:p>
        </p:txBody>
      </p:sp>
      <p:sp>
        <p:nvSpPr>
          <p:cNvPr id="4" name="">
            <a:extLst xmlns:a="http://schemas.openxmlformats.org/drawingml/2006/main">
              <a:ext uri="{FF2B5EF4-FFF2-40B4-BE49-F238E27FC236}">
                <a16:creationId xmlns:a16="http://schemas.microsoft.com/office/drawing/2014/main" id="{9D0A7B87-506E-4127-8852-2737A1E66FE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6AECCE7-7CE6-4FB0-B328-E31577D887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graphicFrame>
        <p:nvGraphicFramePr>
          <p:cNvPr id="6" name="">
            <a:extLst xmlns:a="http://schemas.openxmlformats.org/drawingml/2006/main">
              <a:ext uri="{FF2B5EF4-FFF2-40B4-BE49-F238E27FC236}">
                <a16:creationId xmlns:a16="http://schemas.microsoft.com/office/drawing/2014/main" id="{76E161AC-F9B9-4971-AB0A-2682E3CD350B}"/>
              </a:ext>
            </a:extLst>
          </p:cNvPr>
          <p:cNvGraphicFramePr/>
          <p:nvPr/>
        </p:nvGraphicFramePr>
        <p:xfrm>
          <a:off xmlns:a="http://schemas.openxmlformats.org/drawingml/2006/main" x="514350" y="2095500"/>
          <a:ext xmlns:a="http://schemas.openxmlformats.org/drawingml/2006/main" cx="11163300" cy="3190875"/>
        </p:xfrm>
        <a:graphic xmlns:a="http://schemas.openxmlformats.org/drawingml/2006/main">
          <a:graphicData uri="http://schemas.openxmlformats.org/drawingml/2006/table">
            <a:tbl>
              <a:tblPr/>
              <a:tblGrid>
                <a:gridCol w="2667000"/>
                <a:gridCol w="8496300"/>
              </a:tblGrid>
              <a:tr h="638175">
                <a:tc>
                  <a:txBody>
                    <a:bodyPr/>
                    <a:lstStyle/>
                    <a:p>
                      <a:pPr algn="ctr"/>
                      <a:r>
                        <a:rPr sz="21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実行環境</a:t>
                      </a:r>
                    </a:p>
                  </a:txBody>
                  <a:tcPr marL="91440" marR="91440" marT="45720" marB="45720" anchor="ctr">
                    <a:solidFill>
                      <a:srgbClr val="E7F2EC"/>
                    </a:solidFill>
                  </a:tcPr>
                </a:tc>
              </a:tr>
              <a:tr h="638175">
                <a:tc>
                  <a:txBody>
                    <a:bodyPr/>
                    <a:lstStyle/>
                    <a:p>
                      <a:pPr algn="ctr"/>
                      <a:r>
                        <a:rPr sz="2100" b="0">
                          <a:solidFill>
                            <a:srgbClr val="222222"/>
                          </a:solidFill>
                          <a:latin typeface="Noto Sans JP"/>
                          <a:ea typeface="Noto Sans JP"/>
                          <a:cs typeface="Noto Sans JP"/>
                        </a:rPr>
                        <a:t>OS / CPU系統</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macOS 26.3.1 / arm64</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Python</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3.12.14</a:t>
                      </a:r>
                    </a:p>
                  </a:txBody>
                  <a:tcPr marL="91440" marR="91440" marT="45720" marB="45720" anchor="ctr">
                    <a:solidFill>
                      <a:srgbClr val="F6F6F6"/>
                    </a:solidFill>
                  </a:tcPr>
                </a:tc>
              </a:tr>
              <a:tr h="638175">
                <a:tc>
                  <a:txBody>
                    <a:bodyPr/>
                    <a:lstStyle/>
                    <a:p>
                      <a:pPr algn="ctr"/>
                      <a:r>
                        <a:rPr sz="2100" b="0">
                          <a:solidFill>
                            <a:srgbClr val="222222"/>
                          </a:solidFill>
                          <a:latin typeface="Noto Sans JP"/>
                          <a:ea typeface="Noto Sans JP"/>
                          <a:cs typeface="Noto Sans JP"/>
                        </a:rPr>
                        <a:t>主要ライブラリ</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NumPy 2.5.3 / SciPy 1.18.1</a:t>
                      </a:r>
                    </a:p>
                    <a:p>
                      <a:pPr algn="ctr"/>
                      <a:r>
                        <a:rPr sz="2100" b="0">
                          <a:solidFill>
                            <a:srgbClr val="222222"/>
                          </a:solidFill>
                          <a:latin typeface="Noto Sans JP"/>
                          <a:ea typeface="Noto Sans JP"/>
                          <a:cs typeface="Noto Sans JP"/>
                        </a:rPr>
                        <a:t>scikit-learn 1.9.1 / PyTorch 2.14.1</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計算デバイス</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CPU / PyTorchのスレッド数1</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5B9CB5E-457D-4BC2-A729-852DC910A05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36B63A-8D28-456F-A477-34FEA40F54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VIMEのPyTorch実装を用いた小規模な比較実験</a:t>
            </a:r>
          </a:p>
        </p:txBody>
      </p:sp>
    </p:spTree>
    <p:extLst>
      <p:ext uri="{BB962C8B-B14F-4D97-AF65-F5344CB8AC3E}">
        <p14:creationId xmlns:p14="http://schemas.microsoft.com/office/powerpoint/2010/main" val="1652093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B0DCF9-7185-4743-97D3-B4926A5C404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補足：使用するデータ</a:t>
            </a:r>
          </a:p>
        </p:txBody>
      </p:sp>
      <p:sp>
        <p:nvSpPr>
          <p:cNvPr id="2" name="">
            <a:extLst xmlns:a="http://schemas.openxmlformats.org/drawingml/2006/main">
              <a:ext uri="{FF2B5EF4-FFF2-40B4-BE49-F238E27FC236}">
                <a16:creationId xmlns:a16="http://schemas.microsoft.com/office/drawing/2014/main" id="{0CC7F2AC-4BFA-4227-9A93-CB5709BED01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A440BC-FE58-4EC0-9413-A764CC19F23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scikit-learnに付属する、数値特徴の分類データ。</a:t>
            </a:r>
          </a:p>
        </p:txBody>
      </p:sp>
      <p:sp>
        <p:nvSpPr>
          <p:cNvPr id="4" name="">
            <a:extLst xmlns:a="http://schemas.openxmlformats.org/drawingml/2006/main">
              <a:ext uri="{FF2B5EF4-FFF2-40B4-BE49-F238E27FC236}">
                <a16:creationId xmlns:a16="http://schemas.microsoft.com/office/drawing/2014/main" id="{A69E3FBC-6B17-4D14-AC15-B046C83FCFB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D7BA05C7-2B45-4B14-9C7B-AE0F854356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6" name="">
            <a:extLst xmlns:a="http://schemas.openxmlformats.org/drawingml/2006/main">
              <a:ext uri="{FF2B5EF4-FFF2-40B4-BE49-F238E27FC236}">
                <a16:creationId xmlns:a16="http://schemas.microsoft.com/office/drawing/2014/main" id="{8FED7C0E-7B12-47F9-A7B8-EEFCA4E4CBEE}"/>
              </a:ext>
            </a:extLst>
          </p:cNvPr>
          <p:cNvGraphicFramePr/>
          <p:nvPr/>
        </p:nvGraphicFramePr>
        <p:xfrm>
          <a:off xmlns:a="http://schemas.openxmlformats.org/drawingml/2006/main" x="514350" y="2038350"/>
          <a:ext xmlns:a="http://schemas.openxmlformats.org/drawingml/2006/main" cx="11163300" cy="3200400"/>
        </p:xfrm>
        <a:graphic xmlns:a="http://schemas.openxmlformats.org/drawingml/2006/main">
          <a:graphicData uri="http://schemas.openxmlformats.org/drawingml/2006/table">
            <a:tbl>
              <a:tblPr/>
              <a:tblGrid>
                <a:gridCol w="3721100"/>
                <a:gridCol w="3721100"/>
                <a:gridCol w="3721100"/>
              </a:tblGrid>
              <a:tr h="640080">
                <a:tc>
                  <a:txBody>
                    <a:bodyPr/>
                    <a:lstStyle/>
                    <a:p>
                      <a:pPr algn="ctr"/>
                      <a:r>
                        <a:rPr sz="195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Wine</a:t>
                      </a:r>
                    </a:p>
                  </a:txBody>
                  <a:tcPr marL="91440" marR="91440" marT="45720" marB="45720" anchor="ctr">
                    <a:solidFill>
                      <a:srgbClr val="E7F2EC"/>
                    </a:solidFill>
                  </a:tcPr>
                </a:tc>
              </a:tr>
              <a:tr h="640080">
                <a:tc>
                  <a:txBody>
                    <a:bodyPr/>
                    <a:lstStyle/>
                    <a:p>
                      <a:pPr algn="ctr"/>
                      <a:r>
                        <a:rPr sz="1950" b="0">
                          <a:solidFill>
                            <a:srgbClr val="222222"/>
                          </a:solidFill>
                          <a:latin typeface="Noto Sans JP"/>
                          <a:ea typeface="Noto Sans JP"/>
                          <a:cs typeface="Noto Sans JP"/>
                        </a:rPr>
                        <a:t>行数 / 特徴数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569行 / 30特徴</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178行 / 13特徴</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データの内容</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細胞核の大きさ・形状など</a:t>
                      </a:r>
                    </a:p>
                    <a:p>
                      <a:pPr algn="ctr"/>
                      <a:r>
                        <a:rPr sz="1950" b="0">
                          <a:solidFill>
                            <a:srgbClr val="222222"/>
                          </a:solidFill>
                          <a:latin typeface="Noto Sans JP"/>
                          <a:ea typeface="Noto Sans JP"/>
                          <a:cs typeface="Noto Sans JP"/>
                        </a:rPr>
                        <a:t>画像から求めた数値特徴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アルコール・酸・色など</a:t>
                      </a:r>
                    </a:p>
                    <a:p>
                      <a:pPr algn="ctr"/>
                      <a:r>
                        <a:rPr sz="1950" b="0">
                          <a:solidFill>
                            <a:srgbClr val="222222"/>
                          </a:solidFill>
                          <a:latin typeface="Noto Sans JP"/>
                          <a:ea typeface="Noto Sans JP"/>
                          <a:cs typeface="Noto Sans JP"/>
                        </a:rPr>
                        <a:t>ワインの化学分析値</a:t>
                      </a:r>
                    </a:p>
                  </a:txBody>
                  <a:tcPr marL="91440" marR="91440" marT="45720" marB="45720" anchor="ctr">
                    <a:solidFill>
                      <a:srgbClr val="F6F6F6"/>
                    </a:solidFill>
                  </a:tcPr>
                </a:tc>
              </a:tr>
              <a:tr h="640080">
                <a:tc>
                  <a:txBody>
                    <a:bodyPr/>
                    <a:lstStyle/>
                    <a:p>
                      <a:pPr algn="ctr"/>
                      <a:r>
                        <a:rPr sz="1950" b="0">
                          <a:solidFill>
                            <a:srgbClr val="222222"/>
                          </a:solidFill>
                          <a:latin typeface="Noto Sans JP"/>
                          <a:ea typeface="Noto Sans JP"/>
                          <a:cs typeface="Noto Sans JP"/>
                        </a:rPr>
                        <a:t>分類ラベル</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悪性 / 良性（2クラス）</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ワインの品種（3クラス）</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AB66EA3-51FE-4BF3-8358-9B64FE3F59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598F8B-5BE1-423D-8933-712B083856F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ラベルは分類の正解。コピュラの依存推定にはラベルを使わない</a:t>
            </a:r>
          </a:p>
        </p:txBody>
      </p:sp>
    </p:spTree>
    <p:extLst>
      <p:ext uri="{BB962C8B-B14F-4D97-AF65-F5344CB8AC3E}">
        <p14:creationId xmlns:p14="http://schemas.microsoft.com/office/powerpoint/2010/main" val="15776744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C831ED-085E-4484-A719-FE54B7A166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補足：ラベル付きデータの設定</a:t>
            </a:r>
          </a:p>
        </p:txBody>
      </p:sp>
      <p:sp>
        <p:nvSpPr>
          <p:cNvPr id="2" name="">
            <a:extLst xmlns:a="http://schemas.openxmlformats.org/drawingml/2006/main">
              <a:ext uri="{FF2B5EF4-FFF2-40B4-BE49-F238E27FC236}">
                <a16:creationId xmlns:a16="http://schemas.microsoft.com/office/drawing/2014/main" id="{8B8E4EEB-1566-434B-B62D-B2E3E149328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670707-4C39-4DC8-9D6C-795E014E4E9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全体を訓練80%・テスト20%に分け、訓練の30%にラベルを付ける。</a:t>
            </a:r>
          </a:p>
        </p:txBody>
      </p:sp>
      <p:sp>
        <p:nvSpPr>
          <p:cNvPr id="4" name="">
            <a:extLst xmlns:a="http://schemas.openxmlformats.org/drawingml/2006/main">
              <a:ext uri="{FF2B5EF4-FFF2-40B4-BE49-F238E27FC236}">
                <a16:creationId xmlns:a16="http://schemas.microsoft.com/office/drawing/2014/main" id="{D9768405-9DA9-4542-8E7A-F8812E14C0D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ABA4A723-08D8-4521-B10D-33933458881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graphicFrame>
        <p:nvGraphicFramePr>
          <p:cNvPr id="6" name="">
            <a:extLst xmlns:a="http://schemas.openxmlformats.org/drawingml/2006/main">
              <a:ext uri="{FF2B5EF4-FFF2-40B4-BE49-F238E27FC236}">
                <a16:creationId xmlns:a16="http://schemas.microsoft.com/office/drawing/2014/main" id="{9F251F9A-56E7-4166-8798-0FA42365A4E5}"/>
              </a:ext>
            </a:extLst>
          </p:cNvPr>
          <p:cNvGraphicFramePr/>
          <p:nvPr/>
        </p:nvGraphicFramePr>
        <p:xfrm>
          <a:off xmlns:a="http://schemas.openxmlformats.org/drawingml/2006/main" x="514350" y="2085975"/>
          <a:ext xmlns:a="http://schemas.openxmlformats.org/drawingml/2006/main" cx="11163300" cy="2962275"/>
        </p:xfrm>
        <a:graphic xmlns:a="http://schemas.openxmlformats.org/drawingml/2006/main">
          <a:graphicData uri="http://schemas.openxmlformats.org/drawingml/2006/table">
            <a:tbl>
              <a:tblPr/>
              <a:tblGrid>
                <a:gridCol w="3721100"/>
                <a:gridCol w="3721100"/>
                <a:gridCol w="3721100"/>
              </a:tblGrid>
              <a:tr h="592455">
                <a:tc>
                  <a:txBody>
                    <a:bodyPr/>
                    <a:lstStyle/>
                    <a:p>
                      <a:pPr algn="ctr"/>
                      <a:r>
                        <a:rPr sz="2100" b="1">
                          <a:solidFill>
                            <a:srgbClr val="2E7D5B"/>
                          </a:solidFill>
                          <a:latin typeface="Noto Sans JP"/>
                          <a:ea typeface="Noto Sans JP"/>
                          <a:cs typeface="Noto Sans JP"/>
                        </a:rPr>
                        <a:t>区分</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Wine</a:t>
                      </a:r>
                    </a:p>
                  </a:txBody>
                  <a:tcPr marL="91440" marR="91440" marT="45720" marB="45720" anchor="ctr">
                    <a:solidFill>
                      <a:srgbClr val="E7F2EC"/>
                    </a:solidFill>
                  </a:tcPr>
                </a:tc>
              </a:tr>
              <a:tr h="592455">
                <a:tc>
                  <a:txBody>
                    <a:bodyPr/>
                    <a:lstStyle/>
                    <a:p>
                      <a:pPr algn="ctr"/>
                      <a:r>
                        <a:rPr sz="2100" b="0">
                          <a:solidFill>
                            <a:srgbClr val="222222"/>
                          </a:solidFill>
                          <a:latin typeface="Noto Sans JP"/>
                          <a:ea typeface="Noto Sans JP"/>
                          <a:cs typeface="Noto Sans JP"/>
                        </a:rPr>
                        <a:t>ラベル付き訓練</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136件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ラベルなし訓練</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319件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100件</a:t>
                      </a:r>
                    </a:p>
                  </a:txBody>
                  <a:tcPr marL="91440" marR="91440" marT="45720" marB="45720" anchor="ctr">
                    <a:solidFill>
                      <a:srgbClr val="F6F6F6"/>
                    </a:solidFill>
                  </a:tcPr>
                </a:tc>
              </a:tr>
              <a:tr h="592455">
                <a:tc>
                  <a:txBody>
                    <a:bodyPr/>
                    <a:lstStyle/>
                    <a:p>
                      <a:pPr algn="ctr"/>
                      <a:r>
                        <a:rPr sz="2100" b="0">
                          <a:solidFill>
                            <a:srgbClr val="222222"/>
                          </a:solidFill>
                          <a:latin typeface="Noto Sans JP"/>
                          <a:ea typeface="Noto Sans JP"/>
                          <a:cs typeface="Noto Sans JP"/>
                        </a:rPr>
                        <a:t>訓練合計</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455件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テスト</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114件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36件</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84CA1A30-B171-4DF1-967F-4531EE7DDC34}"/>
              </a:ext>
            </a:extLst>
          </p:cNvPr>
          <p:cNvSpPr>
            <a:spLocks xmlns:a="http://schemas.openxmlformats.org/drawingml/2006/main" noGrp="1"/>
          </p:cNvSpPr>
          <p:nvPr/>
        </p:nvSpPr>
        <p:spPr>
          <a:xfrm xmlns:a="http://schemas.openxmlformats.org/drawingml/2006/main">
            <a:off x="619125" y="5191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クラス比を保つ層化分割。テストデータは学習や分布推定に使わない。</a:t>
            </a:r>
          </a:p>
        </p:txBody>
      </p:sp>
      <p:sp>
        <p:nvSpPr>
          <p:cNvPr id="8" name="">
            <a:extLst xmlns:a="http://schemas.openxmlformats.org/drawingml/2006/main">
              <a:ext uri="{FF2B5EF4-FFF2-40B4-BE49-F238E27FC236}">
                <a16:creationId xmlns:a16="http://schemas.microsoft.com/office/drawing/2014/main" id="{BAB58FD8-371E-441E-90C2-A4D16AD435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69EF9B-4C41-4586-A981-80B1A801D34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「30%」は全データに対する割合ではなく、訓練データ内の割合</a:t>
            </a:r>
          </a:p>
        </p:txBody>
      </p:sp>
    </p:spTree>
    <p:extLst>
      <p:ext uri="{BB962C8B-B14F-4D97-AF65-F5344CB8AC3E}">
        <p14:creationId xmlns:p14="http://schemas.microsoft.com/office/powerpoint/2010/main" val="8032237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AC9639-FCAD-44AB-931F-E0FF26DF93F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補足：使用するモデル</a:t>
            </a:r>
          </a:p>
        </p:txBody>
      </p:sp>
      <p:sp>
        <p:nvSpPr>
          <p:cNvPr id="2" name="">
            <a:extLst xmlns:a="http://schemas.openxmlformats.org/drawingml/2006/main">
              <a:ext uri="{FF2B5EF4-FFF2-40B4-BE49-F238E27FC236}">
                <a16:creationId xmlns:a16="http://schemas.microsoft.com/office/drawing/2014/main" id="{0670C6F1-5BF2-463C-BF79-C60DD2C96D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78BC15-035B-4501-A0A7-6C49A7A972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VIMEの学習枠組みで、置換器だけを変更して比較する。</a:t>
            </a:r>
          </a:p>
        </p:txBody>
      </p:sp>
      <p:sp>
        <p:nvSpPr>
          <p:cNvPr id="4" name="">
            <a:extLst xmlns:a="http://schemas.openxmlformats.org/drawingml/2006/main">
              <a:ext uri="{FF2B5EF4-FFF2-40B4-BE49-F238E27FC236}">
                <a16:creationId xmlns:a16="http://schemas.microsoft.com/office/drawing/2014/main" id="{8DA30E02-4201-42BB-9B35-A90D33600CB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59A26F4-8EF0-4342-8381-9C399151CD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6" name="">
            <a:extLst xmlns:a="http://schemas.openxmlformats.org/drawingml/2006/main">
              <a:ext uri="{FF2B5EF4-FFF2-40B4-BE49-F238E27FC236}">
                <a16:creationId xmlns:a16="http://schemas.microsoft.com/office/drawing/2014/main" id="{59C00BB3-218A-409F-A724-0F3207C073A5}"/>
              </a:ext>
            </a:extLst>
          </p:cNvPr>
          <p:cNvGraphicFramePr/>
          <p:nvPr/>
        </p:nvGraphicFramePr>
        <p:xfrm>
          <a:off xmlns:a="http://schemas.openxmlformats.org/drawingml/2006/main" x="514350" y="195262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今回の設定</a:t>
                      </a:r>
                    </a:p>
                  </a:txBody>
                  <a:tcPr marL="91440" marR="91440" marT="45720" marB="45720" anchor="ctr">
                    <a:solidFill>
                      <a:srgbClr val="E7F2EC"/>
                    </a:solidFill>
                  </a:tcPr>
                </a:tc>
              </a:tr>
              <a:tr h="555625">
                <a:tc>
                  <a:txBody>
                    <a:bodyPr/>
                    <a:lstStyle/>
                    <a:p>
                      <a:pPr algn="ctr"/>
                      <a:r>
                        <a:rPr sz="1950" b="0">
                          <a:solidFill>
                            <a:srgbClr val="222222"/>
                          </a:solidFill>
                          <a:latin typeface="Noto Sans JP"/>
                          <a:ea typeface="Noto Sans JP"/>
                          <a:cs typeface="Noto Sans JP"/>
                        </a:rPr>
                        <a:t>エンコーダ</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MLP：隠れ層4層、各層32ユニット</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自己教師あり学習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変更位置の推定（BCE）と元値の復元（MSE）</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分類器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エンコーダを固定し、隠れ幅32のMLPで分類</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半教師あり学習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ラベル付きの交差エントロピー</a:t>
                      </a:r>
                    </a:p>
                    <a:p>
                      <a:pPr algn="ctr"/>
                      <a:r>
                        <a:rPr sz="1950" b="0">
                          <a:solidFill>
                            <a:srgbClr val="222222"/>
                          </a:solidFill>
                          <a:latin typeface="Noto Sans JP"/>
                          <a:ea typeface="Noto Sans JP"/>
                          <a:cs typeface="Noto Sans JP"/>
                        </a:rPr>
                        <a:t>＋ラベルなしの3拡張の予測一貫性</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比較する置換器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列ごとの無作為置換 / Gaussian copula条件付き置換</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C923CB1-AA7D-45DE-93F0-3E4F1F4EBCD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6A3A74-4F1A-43A5-B801-CA3545788A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学習課題とモデルをそろえ、置換方法の違いを比較する</a:t>
            </a:r>
          </a:p>
        </p:txBody>
      </p:sp>
    </p:spTree>
    <p:extLst>
      <p:ext uri="{BB962C8B-B14F-4D97-AF65-F5344CB8AC3E}">
        <p14:creationId xmlns:p14="http://schemas.microsoft.com/office/powerpoint/2010/main" val="21401497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190AAB-A4C5-41A2-979C-83ED6B29D92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補足：学習条件と前処理</a:t>
            </a:r>
          </a:p>
        </p:txBody>
      </p:sp>
      <p:sp>
        <p:nvSpPr>
          <p:cNvPr id="2" name="">
            <a:extLst xmlns:a="http://schemas.openxmlformats.org/drawingml/2006/main">
              <a:ext uri="{FF2B5EF4-FFF2-40B4-BE49-F238E27FC236}">
                <a16:creationId xmlns:a16="http://schemas.microsoft.com/office/drawing/2014/main" id="{6A2CD140-C58D-4D1F-BC01-8C42CD06F39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E88345-1390-45DD-B3DC-573E4B5E230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同じデータ分割・乱数seed・学習予算で、2手法を比較する。</a:t>
            </a:r>
          </a:p>
        </p:txBody>
      </p:sp>
      <p:sp>
        <p:nvSpPr>
          <p:cNvPr id="4" name="">
            <a:extLst xmlns:a="http://schemas.openxmlformats.org/drawingml/2006/main">
              <a:ext uri="{FF2B5EF4-FFF2-40B4-BE49-F238E27FC236}">
                <a16:creationId xmlns:a16="http://schemas.microsoft.com/office/drawing/2014/main" id="{031AA590-5613-45F9-B2EC-6A9CF67B8FC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815C1B84-2B12-40D0-BAF4-EF0D0CF266C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6" name="">
            <a:extLst xmlns:a="http://schemas.openxmlformats.org/drawingml/2006/main">
              <a:ext uri="{FF2B5EF4-FFF2-40B4-BE49-F238E27FC236}">
                <a16:creationId xmlns:a16="http://schemas.microsoft.com/office/drawing/2014/main" id="{7AB58A29-58A7-44F0-BF93-3563A1E69CDA}"/>
              </a:ext>
            </a:extLst>
          </p:cNvPr>
          <p:cNvGraphicFramePr/>
          <p:nvPr/>
        </p:nvGraphicFramePr>
        <p:xfrm>
          <a:off xmlns:a="http://schemas.openxmlformats.org/drawingml/2006/main" x="514350" y="197167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2025"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共通設定</a:t>
                      </a:r>
                    </a:p>
                  </a:txBody>
                  <a:tcPr marL="91440" marR="91440" marT="45720" marB="45720" anchor="ctr">
                    <a:solidFill>
                      <a:srgbClr val="E7F2EC"/>
                    </a:solidFill>
                  </a:tcPr>
                </a:tc>
              </a:tr>
              <a:tr h="555625">
                <a:tc>
                  <a:txBody>
                    <a:bodyPr/>
                    <a:lstStyle/>
                    <a:p>
                      <a:pPr algn="ctr"/>
                      <a:r>
                        <a:rPr sz="2025" b="0">
                          <a:solidFill>
                            <a:srgbClr val="222222"/>
                          </a:solidFill>
                          <a:latin typeface="Noto Sans JP"/>
                          <a:ea typeface="Noto Sans JP"/>
                          <a:cs typeface="Noto Sans JP"/>
                        </a:rPr>
                        <a:t>前処理</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訓練データだけでMinMaxScalerを推定</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学習回数</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自己教師あり15 epoch / 半教師あり300反復</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拡張・batch</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各特徴のマスク確率0.4 / batch size 64</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損失重み</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復元MSE：2 / 予測一貫性：1</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seed = 11, 23, 37, 51, 67（5回）</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A54151B-3168-426C-8961-8E107AC5923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F76D85E-BD41-474E-A31E-B9C524E9874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コピュラの周辺分布と依存は、ラベルなし訓練データから推定する</a:t>
            </a:r>
          </a:p>
        </p:txBody>
      </p:sp>
    </p:spTree>
    <p:extLst>
      <p:ext uri="{BB962C8B-B14F-4D97-AF65-F5344CB8AC3E}">
        <p14:creationId xmlns:p14="http://schemas.microsoft.com/office/powerpoint/2010/main" val="13047212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F03631-CF8E-416D-BB80-FD64AAAE52A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補足：保存済みの初期実験結果</a:t>
            </a:r>
          </a:p>
        </p:txBody>
      </p:sp>
      <p:sp>
        <p:nvSpPr>
          <p:cNvPr id="2" name="">
            <a:extLst xmlns:a="http://schemas.openxmlformats.org/drawingml/2006/main">
              <a:ext uri="{FF2B5EF4-FFF2-40B4-BE49-F238E27FC236}">
                <a16:creationId xmlns:a16="http://schemas.microsoft.com/office/drawing/2014/main" id="{C4C763A0-2F9A-4E46-905A-92D3B16F351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50518A-F10E-4A26-B789-9ACA0758AFB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分類性能の平均差は小さく、改善の結論には追加検証が必要。</a:t>
            </a:r>
          </a:p>
        </p:txBody>
      </p:sp>
      <p:sp>
        <p:nvSpPr>
          <p:cNvPr id="4" name="">
            <a:extLst xmlns:a="http://schemas.openxmlformats.org/drawingml/2006/main">
              <a:ext uri="{FF2B5EF4-FFF2-40B4-BE49-F238E27FC236}">
                <a16:creationId xmlns:a16="http://schemas.microsoft.com/office/drawing/2014/main" id="{AF4BC6B3-9B47-4EC5-A5C0-D192FB72F7C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7FC1B8E1-B780-4F7E-9B02-F642A415C3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6" name="">
            <a:extLst xmlns:a="http://schemas.openxmlformats.org/drawingml/2006/main">
              <a:ext uri="{FF2B5EF4-FFF2-40B4-BE49-F238E27FC236}">
                <a16:creationId xmlns:a16="http://schemas.microsoft.com/office/drawing/2014/main" id="{6818C1D1-2FA8-40D5-A825-278637AF50C6}"/>
              </a:ext>
            </a:extLst>
          </p:cNvPr>
          <p:cNvGraphicFramePr/>
          <p:nvPr/>
        </p:nvGraphicFramePr>
        <p:xfrm>
          <a:off xmlns:a="http://schemas.openxmlformats.org/drawingml/2006/main" x="514350" y="2105025"/>
          <a:ext xmlns:a="http://schemas.openxmlformats.org/drawingml/2006/main" cx="11163300" cy="2190750"/>
        </p:xfrm>
        <a:graphic xmlns:a="http://schemas.openxmlformats.org/drawingml/2006/main">
          <a:graphicData uri="http://schemas.openxmlformats.org/drawingml/2006/table">
            <a:tbl>
              <a:tblPr/>
              <a:tblGrid>
                <a:gridCol w="3721100"/>
                <a:gridCol w="3721100"/>
                <a:gridCol w="3721100"/>
              </a:tblGrid>
              <a:tr h="730250">
                <a:tc>
                  <a:txBody>
                    <a:bodyPr/>
                    <a:lstStyle/>
                    <a:p>
                      <a:pPr algn="ctr"/>
                      <a:r>
                        <a:rPr sz="2100" b="1">
                          <a:solidFill>
                            <a:srgbClr val="2E7D5B"/>
                          </a:solidFill>
                          <a:latin typeface="Noto Sans JP"/>
                          <a:ea typeface="Noto Sans JP"/>
                          <a:cs typeface="Noto Sans JP"/>
                        </a:rPr>
                        <a:t>ROC-AUC：平均 ± SD</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Gaussian copula</a:t>
                      </a:r>
                    </a:p>
                  </a:txBody>
                  <a:tcPr marL="91440" marR="91440" marT="45720" marB="45720" anchor="ctr">
                    <a:solidFill>
                      <a:srgbClr val="E7F2EC"/>
                    </a:solidFill>
                  </a:tcPr>
                </a:tc>
              </a:tr>
              <a:tr h="730250">
                <a:tc>
                  <a:txBody>
                    <a:bodyPr/>
                    <a:lstStyle/>
                    <a:p>
                      <a:pPr algn="ctr"/>
                      <a:r>
                        <a:rPr sz="210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0.973 ± 0.017</a:t>
                      </a:r>
                    </a:p>
                  </a:txBody>
                  <a:tcPr marL="91440" marR="91440" marT="45720" marB="45720" anchor="ctr">
                    <a:solidFill>
                      <a:srgbClr val="FFFFFF"/>
                    </a:solidFill>
                  </a:tcPr>
                </a:tc>
              </a:tr>
              <a:tr h="730250">
                <a:tc>
                  <a:txBody>
                    <a:bodyPr/>
                    <a:lstStyle/>
                    <a:p>
                      <a:pPr algn="ctr"/>
                      <a:r>
                        <a:rPr sz="210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6610F4D-693D-4E69-BA6D-FF9697AC337B}"/>
              </a:ext>
            </a:extLst>
          </p:cNvPr>
          <p:cNvSpPr>
            <a:spLocks xmlns:a="http://schemas.openxmlformats.org/drawingml/2006/main" noGrp="1"/>
          </p:cNvSpPr>
          <p:nvPr/>
        </p:nvSpPr>
        <p:spPr>
          <a:xfrm xmlns:a="http://schemas.openxmlformats.org/drawingml/2006/main">
            <a:off x="619125" y="4524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222222"/>
                </a:solidFill>
                <a:latin typeface="Noto Sans JP"/>
                <a:ea typeface="Noto Sans JP"/>
                <a:cs typeface="Noto Sans JP"/>
              </a:defRPr>
            </a:defPPr>
          </a:lstStyle>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平均差の95%区間</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Breast Cancer：−0.005〜+0.011　Wine：−0.079〜+0.109</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両方とも0を含む。少数データ・5回の探索的な比較。</a:t>
            </a:r>
          </a:p>
        </p:txBody>
      </p:sp>
      <p:sp>
        <p:nvSpPr>
          <p:cNvPr id="8" name="">
            <a:extLst xmlns:a="http://schemas.openxmlformats.org/drawingml/2006/main">
              <a:ext uri="{FF2B5EF4-FFF2-40B4-BE49-F238E27FC236}">
                <a16:creationId xmlns:a16="http://schemas.microsoft.com/office/drawing/2014/main" id="{5F0C3840-8F05-4598-9A6D-BAE1BD21A4F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4FCAE1-9681-447A-88BA-D6FFA070EC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現在は探索的な結果。次ページの評価条件に沿って、追加検証する</a:t>
            </a:r>
          </a:p>
        </p:txBody>
      </p:sp>
    </p:spTree>
    <p:extLst>
      <p:ext uri="{BB962C8B-B14F-4D97-AF65-F5344CB8AC3E}">
        <p14:creationId xmlns:p14="http://schemas.microsoft.com/office/powerpoint/2010/main" val="1045704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FAB8E0-15F0-42DF-919A-BF1C7FC7055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補足：提案手法が優れていると言える条件</a:t>
            </a:r>
          </a:p>
        </p:txBody>
      </p:sp>
      <p:sp>
        <p:nvSpPr>
          <p:cNvPr id="2" name="">
            <a:extLst xmlns:a="http://schemas.openxmlformats.org/drawingml/2006/main">
              <a:ext uri="{FF2B5EF4-FFF2-40B4-BE49-F238E27FC236}">
                <a16:creationId xmlns:a16="http://schemas.microsoft.com/office/drawing/2014/main" id="{DF120478-8FCE-4DCF-9209-3D81434BEE4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88B9E3-1BFB-4A1F-A199-085B0373DF5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研究仮説：依存を考慮した拡張が、分類の学習に役立つか。</a:t>
            </a:r>
          </a:p>
        </p:txBody>
      </p:sp>
      <p:sp>
        <p:nvSpPr>
          <p:cNvPr id="4" name="">
            <a:extLst xmlns:a="http://schemas.openxmlformats.org/drawingml/2006/main">
              <a:ext uri="{FF2B5EF4-FFF2-40B4-BE49-F238E27FC236}">
                <a16:creationId xmlns:a16="http://schemas.microsoft.com/office/drawing/2014/main" id="{3907B8D3-7B20-4669-B232-17C3EE37EAF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E8E1AEC5-9579-4BF4-ACC8-94263D7AA85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6" name="">
            <a:extLst xmlns:a="http://schemas.openxmlformats.org/drawingml/2006/main">
              <a:ext uri="{FF2B5EF4-FFF2-40B4-BE49-F238E27FC236}">
                <a16:creationId xmlns:a16="http://schemas.microsoft.com/office/drawing/2014/main" id="{A0E6A133-50F7-4AA5-AB9E-86EAD4A8033B}"/>
              </a:ext>
            </a:extLst>
          </p:cNvPr>
          <p:cNvGraphicFramePr/>
          <p:nvPr/>
        </p:nvGraphicFramePr>
        <p:xfrm>
          <a:off xmlns:a="http://schemas.openxmlformats.org/drawingml/2006/main" x="514350" y="2095500"/>
          <a:ext xmlns:a="http://schemas.openxmlformats.org/drawingml/2006/main" cx="11163300" cy="2876550"/>
        </p:xfrm>
        <a:graphic xmlns:a="http://schemas.openxmlformats.org/drawingml/2006/main">
          <a:graphicData uri="http://schemas.openxmlformats.org/drawingml/2006/table">
            <a:tbl>
              <a:tblPr/>
              <a:tblGrid>
                <a:gridCol w="2667000"/>
                <a:gridCol w="8496300"/>
              </a:tblGrid>
              <a:tr h="719138">
                <a:tc>
                  <a:txBody>
                    <a:bodyPr/>
                    <a:lstStyle/>
                    <a:p>
                      <a:pPr algn="ctr"/>
                      <a:r>
                        <a:rPr sz="1950" b="1">
                          <a:solidFill>
                            <a:srgbClr val="2E7D5B"/>
                          </a:solidFill>
                          <a:latin typeface="Noto Sans JP"/>
                          <a:ea typeface="Noto Sans JP"/>
                          <a:cs typeface="Noto Sans JP"/>
                        </a:rPr>
                        <a:t>示したいこと</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優位性の根拠になる結果</a:t>
                      </a:r>
                    </a:p>
                  </a:txBody>
                  <a:tcPr marL="91440" marR="91440" marT="45720" marB="45720" anchor="ctr">
                    <a:solidFill>
                      <a:srgbClr val="E7F2EC"/>
                    </a:solidFill>
                  </a:tcPr>
                </a:tc>
              </a:tr>
              <a:tr h="719138">
                <a:tc>
                  <a:txBody>
                    <a:bodyPr/>
                    <a:lstStyle/>
                    <a:p>
                      <a:pPr algn="ctr"/>
                      <a:r>
                        <a:rPr sz="1950" b="0">
                          <a:solidFill>
                            <a:srgbClr val="222222"/>
                          </a:solidFill>
                          <a:latin typeface="Noto Sans JP"/>
                          <a:ea typeface="Noto Sans JP"/>
                          <a:cs typeface="Noto Sans JP"/>
                        </a:rPr>
                        <a:t>分類性能の改善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同じラベル数・利用データ・評価条件で、</a:t>
                      </a:r>
                    </a:p>
                    <a:p>
                      <a:pPr algn="ctr"/>
                      <a:r>
                        <a:rPr sz="1950" b="0">
                          <a:solidFill>
                            <a:srgbClr val="222222"/>
                          </a:solidFill>
                          <a:latin typeface="Noto Sans JP"/>
                          <a:ea typeface="Noto Sans JP"/>
                          <a:cs typeface="Noto Sans JP"/>
                        </a:rPr>
                        <a:t>既存の拡張よりテスト性能が安定して高い</a:t>
                      </a:r>
                    </a:p>
                  </a:txBody>
                  <a:tcPr marL="91440" marR="91440" marT="45720" marB="45720" anchor="ctr">
                    <a:solidFill>
                      <a:srgbClr val="FFFFFF"/>
                    </a:solidFill>
                  </a:tcPr>
                </a:tc>
              </a:tr>
              <a:tr h="719138">
                <a:tc>
                  <a:txBody>
                    <a:bodyPr/>
                    <a:lstStyle/>
                    <a:p>
                      <a:pPr algn="ctr"/>
                      <a:r>
                        <a:rPr sz="1950" b="0">
                          <a:solidFill>
                            <a:srgbClr val="222222"/>
                          </a:solidFill>
                          <a:latin typeface="Noto Sans JP"/>
                          <a:ea typeface="Noto Sans JP"/>
                          <a:cs typeface="Noto Sans JP"/>
                        </a:rPr>
                        <a:t>ラベル効率の改善</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同じ量のラベルなしデータを用いた比較で、</a:t>
                      </a:r>
                    </a:p>
                    <a:p>
                      <a:pPr algn="ctr"/>
                      <a:r>
                        <a:rPr sz="1950" b="0">
                          <a:solidFill>
                            <a:srgbClr val="222222"/>
                          </a:solidFill>
                          <a:latin typeface="Noto Sans JP"/>
                          <a:ea typeface="Noto Sans JP"/>
                          <a:cs typeface="Noto Sans JP"/>
                        </a:rPr>
                        <a:t>より少ないラベルから同等以上の性能を得る</a:t>
                      </a:r>
                    </a:p>
                  </a:txBody>
                  <a:tcPr marL="91440" marR="91440" marT="45720" marB="45720" anchor="ctr">
                    <a:solidFill>
                      <a:srgbClr val="F6F6F6"/>
                    </a:solidFill>
                  </a:tcPr>
                </a:tc>
              </a:tr>
              <a:tr h="719138">
                <a:tc>
                  <a:txBody>
                    <a:bodyPr/>
                    <a:lstStyle/>
                    <a:p>
                      <a:pPr algn="ctr"/>
                      <a:r>
                        <a:rPr sz="1950" b="0">
                          <a:solidFill>
                            <a:srgbClr val="222222"/>
                          </a:solidFill>
                          <a:latin typeface="Noto Sans JP"/>
                          <a:ea typeface="Noto Sans JP"/>
                          <a:cs typeface="Noto Sans JP"/>
                        </a:rPr>
                        <a:t>改善の仕組み</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依存を壊すアブレーションで性能が落ち、</a:t>
                      </a:r>
                    </a:p>
                    <a:p>
                      <a:pPr algn="ctr"/>
                      <a:r>
                        <a:rPr sz="1950" b="0">
                          <a:solidFill>
                            <a:srgbClr val="222222"/>
                          </a:solidFill>
                          <a:latin typeface="Noto Sans JP"/>
                          <a:ea typeface="Noto Sans JP"/>
                          <a:cs typeface="Noto Sans JP"/>
                        </a:rPr>
                        <a:t>生成の妥当性の改善と合わせて説明できる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CCDF121-C764-4E2E-BE19-9EFA59057A67}"/>
              </a:ext>
            </a:extLst>
          </p:cNvPr>
          <p:cNvSpPr>
            <a:spLocks xmlns:a="http://schemas.openxmlformats.org/drawingml/2006/main" noGrp="1"/>
          </p:cNvSpPr>
          <p:nvPr/>
        </p:nvSpPr>
        <p:spPr>
          <a:xfrm xmlns:a="http://schemas.openxmlformats.org/drawingml/2006/main">
            <a:off x="619125" y="5181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主要指標と意味のある改善幅を事前に決め、複数データ・反復で確認する。</a:t>
            </a:r>
          </a:p>
        </p:txBody>
      </p:sp>
      <p:sp>
        <p:nvSpPr>
          <p:cNvPr id="8" name="">
            <a:extLst xmlns:a="http://schemas.openxmlformats.org/drawingml/2006/main">
              <a:ext uri="{FF2B5EF4-FFF2-40B4-BE49-F238E27FC236}">
                <a16:creationId xmlns:a16="http://schemas.microsoft.com/office/drawing/2014/main" id="{CED0C97D-2034-4387-8E6E-DF4C4E2E520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E803B8-36CA-471C-8C5B-C1C5B8016A5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基本は同条件での分類改善。少ないラベルでの学習は、追加で示せる価値</a:t>
            </a:r>
          </a:p>
        </p:txBody>
      </p:sp>
    </p:spTree>
    <p:extLst>
      <p:ext uri="{BB962C8B-B14F-4D97-AF65-F5344CB8AC3E}">
        <p14:creationId xmlns:p14="http://schemas.microsoft.com/office/powerpoint/2010/main" val="569762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4E421-EB0E-431B-A8C3-5A447D955B8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補足：少ないデータで学習するとは</a:t>
            </a:r>
          </a:p>
        </p:txBody>
      </p:sp>
      <p:sp>
        <p:nvSpPr>
          <p:cNvPr id="2" name="">
            <a:extLst xmlns:a="http://schemas.openxmlformats.org/drawingml/2006/main">
              <a:ext uri="{FF2B5EF4-FFF2-40B4-BE49-F238E27FC236}">
                <a16:creationId xmlns:a16="http://schemas.microsoft.com/office/drawing/2014/main" id="{6E00F723-133F-4313-A990-B176725F42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4FEAD9-2DA9-41B5-BF3E-0D39680D9E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ラベル付きデータと、利用する総データ量を分けて考える。</a:t>
            </a:r>
          </a:p>
        </p:txBody>
      </p:sp>
      <p:sp>
        <p:nvSpPr>
          <p:cNvPr id="4" name="">
            <a:extLst xmlns:a="http://schemas.openxmlformats.org/drawingml/2006/main">
              <a:ext uri="{FF2B5EF4-FFF2-40B4-BE49-F238E27FC236}">
                <a16:creationId xmlns:a16="http://schemas.microsoft.com/office/drawing/2014/main" id="{832BDD7B-A041-48AF-8139-279E17A4BC5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5353D872-D26A-40D2-80D5-873CF8AF8D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575157C5-0E6D-4FEB-8953-DE7660DBA645}"/>
              </a:ext>
            </a:extLst>
          </p:cNvPr>
          <p:cNvSpPr>
            <a:spLocks xmlns:a="http://schemas.openxmlformats.org/drawingml/2006/main" noGrp="1"/>
          </p:cNvSpPr>
          <p:nvPr/>
        </p:nvSpPr>
        <p:spPr>
          <a:xfrm xmlns:a="http://schemas.openxmlformats.org/drawingml/2006/main">
            <a:off x="619125" y="19716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同じラベルなしデータを使い、ラベル数を段階的に変える。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例：5%・10%・20%・30%相当のラベル予算で学習曲線を比較。</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総データ量の効率を示す場合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ラベル付き・ラベルなしを含む利用総件数を変え、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同じ評価データで目標性能に必要な件数を比較する。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各設定で、すべてのクラスにラベルが含まれる件数を確保する。</a:t>
            </a:r>
          </a:p>
        </p:txBody>
      </p:sp>
      <p:sp>
        <p:nvSpPr>
          <p:cNvPr id="7" name="">
            <a:extLst xmlns:a="http://schemas.openxmlformats.org/drawingml/2006/main">
              <a:ext uri="{FF2B5EF4-FFF2-40B4-BE49-F238E27FC236}">
                <a16:creationId xmlns:a16="http://schemas.microsoft.com/office/drawing/2014/main" id="{8EA94EE6-6D59-451B-91D7-CD2458DF502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CF673F-0DD1-4368-9636-A900FDFA0A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コピュラの推定にもデータが必要。少ないデータで必ず勝つとは限らない</a:t>
            </a:r>
          </a:p>
        </p:txBody>
      </p:sp>
    </p:spTree>
    <p:extLst>
      <p:ext uri="{BB962C8B-B14F-4D97-AF65-F5344CB8AC3E}">
        <p14:creationId xmlns:p14="http://schemas.microsoft.com/office/powerpoint/2010/main" val="20734694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DCAE54-F350-45D4-9E5C-496903C04D0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補足：研究仮説を検証する比較実験</a:t>
            </a:r>
          </a:p>
        </p:txBody>
      </p:sp>
      <p:sp>
        <p:nvSpPr>
          <p:cNvPr id="2" name="">
            <a:extLst xmlns:a="http://schemas.openxmlformats.org/drawingml/2006/main">
              <a:ext uri="{FF2B5EF4-FFF2-40B4-BE49-F238E27FC236}">
                <a16:creationId xmlns:a16="http://schemas.microsoft.com/office/drawing/2014/main" id="{28A3C419-8572-4CDB-9EC9-5763B411DA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84481B-109A-45BD-ADDD-31C33E417C1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置換器の効果と、手法全体の性能を分けて調べる。</a:t>
            </a:r>
          </a:p>
        </p:txBody>
      </p:sp>
      <p:sp>
        <p:nvSpPr>
          <p:cNvPr id="4" name="">
            <a:extLst xmlns:a="http://schemas.openxmlformats.org/drawingml/2006/main">
              <a:ext uri="{FF2B5EF4-FFF2-40B4-BE49-F238E27FC236}">
                <a16:creationId xmlns:a16="http://schemas.microsoft.com/office/drawing/2014/main" id="{90E04EB1-12A6-477E-9491-0916AEEFC15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B8D529D8-2559-4F33-A2E8-6FF797D5F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graphicFrame>
        <p:nvGraphicFramePr>
          <p:cNvPr id="6" name="">
            <a:extLst xmlns:a="http://schemas.openxmlformats.org/drawingml/2006/main">
              <a:ext uri="{FF2B5EF4-FFF2-40B4-BE49-F238E27FC236}">
                <a16:creationId xmlns:a16="http://schemas.microsoft.com/office/drawing/2014/main" id="{88A62FE9-1270-464E-B5FB-82C602A63820}"/>
              </a:ext>
            </a:extLst>
          </p:cNvPr>
          <p:cNvGraphicFramePr/>
          <p:nvPr/>
        </p:nvGraphicFramePr>
        <p:xfrm>
          <a:off xmlns:a="http://schemas.openxmlformats.org/drawingml/2006/main" x="514350" y="2047875"/>
          <a:ext xmlns:a="http://schemas.openxmlformats.org/drawingml/2006/main" cx="11163300" cy="3219450"/>
        </p:xfrm>
        <a:graphic xmlns:a="http://schemas.openxmlformats.org/drawingml/2006/main">
          <a:graphicData uri="http://schemas.openxmlformats.org/drawingml/2006/table">
            <a:tbl>
              <a:tblPr/>
              <a:tblGrid>
                <a:gridCol w="2667000"/>
                <a:gridCol w="8496300"/>
              </a:tblGrid>
              <a:tr h="643890">
                <a:tc>
                  <a:txBody>
                    <a:bodyPr/>
                    <a:lstStyle/>
                    <a:p>
                      <a:pPr algn="ctr"/>
                      <a:r>
                        <a:rPr sz="1875" b="1">
                          <a:solidFill>
                            <a:srgbClr val="2E7D5B"/>
                          </a:solidFill>
                          <a:latin typeface="Noto Sans JP"/>
                          <a:ea typeface="Noto Sans JP"/>
                          <a:cs typeface="Noto Sans JP"/>
                        </a:rPr>
                        <a:t>比較・評価</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確認すること</a:t>
                      </a:r>
                    </a:p>
                  </a:txBody>
                  <a:tcPr marL="91440" marR="91440" marT="45720" marB="45720" anchor="ctr">
                    <a:solidFill>
                      <a:srgbClr val="E7F2EC"/>
                    </a:solidFill>
                  </a:tcPr>
                </a:tc>
              </a:tr>
              <a:tr h="643890">
                <a:tc>
                  <a:txBody>
                    <a:bodyPr/>
                    <a:lstStyle/>
                    <a:p>
                      <a:pPr algn="ctr"/>
                      <a:r>
                        <a:rPr sz="1875" b="0">
                          <a:solidFill>
                            <a:srgbClr val="222222"/>
                          </a:solidFill>
                          <a:latin typeface="Noto Sans JP"/>
                          <a:ea typeface="Noto Sans JP"/>
                          <a:cs typeface="Noto Sans JP"/>
                        </a:rPr>
                        <a:t>同じVIME内の比較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列置換 / 各列独立生成 / コピュラ条件付き生成</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既存手法との比較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拡張なし、先行研究1・2、近傍法などの分類性能</a:t>
                      </a:r>
                    </a:p>
                  </a:txBody>
                  <a:tcPr marL="91440" marR="91440" marT="45720" marB="45720" anchor="ctr">
                    <a:solidFill>
                      <a:srgbClr val="F6F6F6"/>
                    </a:solidFill>
                  </a:tcPr>
                </a:tc>
              </a:tr>
              <a:tr h="643890">
                <a:tc>
                  <a:txBody>
                    <a:bodyPr/>
                    <a:lstStyle/>
                    <a:p>
                      <a:pPr algn="ctr"/>
                      <a:r>
                        <a:rPr sz="1875" b="0">
                          <a:solidFill>
                            <a:srgbClr val="222222"/>
                          </a:solidFill>
                          <a:latin typeface="Noto Sans JP"/>
                          <a:ea typeface="Noto Sans JP"/>
                          <a:cs typeface="Noto Sans JP"/>
                        </a:rPr>
                        <a:t>評価条件の統一</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同じ分割・利用データ・モデル規模・調整予算。</a:t>
                      </a:r>
                    </a:p>
                    <a:p>
                      <a:pPr algn="ctr"/>
                      <a:r>
                        <a:rPr sz="1875" b="0">
                          <a:solidFill>
                            <a:srgbClr val="222222"/>
                          </a:solidFill>
                          <a:latin typeface="Noto Sans JP"/>
                          <a:ea typeface="Noto Sans JP"/>
                          <a:cs typeface="Noto Sans JP"/>
                        </a:rPr>
                        <a:t>複数データとseedで差と不確実性を報告</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生成品質の評価</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依存の再現、既知の制約違反、変更量・多様性、</a:t>
                      </a:r>
                    </a:p>
                    <a:p>
                      <a:pPr algn="ctr"/>
                      <a:r>
                        <a:rPr sz="1875" b="0">
                          <a:solidFill>
                            <a:srgbClr val="222222"/>
                          </a:solidFill>
                          <a:latin typeface="Noto Sans JP"/>
                          <a:ea typeface="Noto Sans JP"/>
                          <a:cs typeface="Noto Sans JP"/>
                        </a:rPr>
                        <a:t>ラベル付き検証データでのクラス保持の代理評価</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6356F3A7-06F2-46EE-86E1-E790DBE896E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86E4A6-A149-4697-8848-7D24F119AD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依存を保つだけでは、クラス保持や分類性能の向上は保証されない</a:t>
            </a:r>
          </a:p>
        </p:txBody>
      </p:sp>
    </p:spTree>
    <p:extLst>
      <p:ext uri="{BB962C8B-B14F-4D97-AF65-F5344CB8AC3E}">
        <p14:creationId xmlns:p14="http://schemas.microsoft.com/office/powerpoint/2010/main" val="1585944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2026-10-09T07:43:55.2910000Z</dcterms:created>
  <dcterms:modified xsi:type="dcterms:W3CDTF">2026-10-09T07:43:55.2910000Z</dcterms:modified>
</coreProperties>
</file>