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a6933b7dab4cf7" /><Relationship Type="http://schemas.openxmlformats.org/officeDocument/2006/relationships/extended-properties" Target="/docProps/app.xml" Id="R1ed4cdccd9d4458a" /><Relationship Type="http://schemas.openxmlformats.org/officeDocument/2006/relationships/officeDocument" Target="/ppt/presentation.xml" Id="R5e38b98a660c4cc7" /></Relationships>
</file>

<file path=ppt/presentation.xml><?xml version="1.0" encoding="utf-8"?>
<p:presentation xmlns:p="http://schemas.openxmlformats.org/presentationml/2006/main">
  <p:sldMasterIdLst>
    <p:sldMasterId xmlns:r="http://schemas.openxmlformats.org/officeDocument/2006/relationships" id="2147483648" r:id="R7f254bce9ed54972"/>
  </p:sldMasterIdLst>
  <p:notesMasterIdLst>
    <p:notesMasterId xmlns:r="http://schemas.openxmlformats.org/officeDocument/2006/relationships" r:id="Re94c66a46c504858"/>
  </p:notesMasterIdLst>
  <p:sldIdLst>
    <p:sldId xmlns:r="http://schemas.openxmlformats.org/officeDocument/2006/relationships" id="256" r:id="Rff8dc6bacaa7438a"/>
    <p:sldId xmlns:r="http://schemas.openxmlformats.org/officeDocument/2006/relationships" id="257" r:id="Rce088249ed2e44d8"/>
    <p:sldId xmlns:r="http://schemas.openxmlformats.org/officeDocument/2006/relationships" id="258" r:id="R310f75c7ef7240a1"/>
    <p:sldId xmlns:r="http://schemas.openxmlformats.org/officeDocument/2006/relationships" id="259" r:id="R20897d4b6b024014"/>
    <p:sldId xmlns:r="http://schemas.openxmlformats.org/officeDocument/2006/relationships" id="260" r:id="R3bbdba7c37994f40"/>
    <p:sldId xmlns:r="http://schemas.openxmlformats.org/officeDocument/2006/relationships" id="261" r:id="R17311422b4314433"/>
    <p:sldId xmlns:r="http://schemas.openxmlformats.org/officeDocument/2006/relationships" id="262" r:id="R4596b41a7f454b90"/>
    <p:sldId xmlns:r="http://schemas.openxmlformats.org/officeDocument/2006/relationships" id="263" r:id="Rf6bdcf0ca945499a"/>
    <p:sldId xmlns:r="http://schemas.openxmlformats.org/officeDocument/2006/relationships" id="264" r:id="R32ba99d9d3f2443e"/>
    <p:sldId xmlns:r="http://schemas.openxmlformats.org/officeDocument/2006/relationships" id="265" r:id="Rfc4039614d03497d"/>
    <p:sldId xmlns:r="http://schemas.openxmlformats.org/officeDocument/2006/relationships" id="266" r:id="R7ca0fe0d1e8243b8"/>
    <p:sldId xmlns:r="http://schemas.openxmlformats.org/officeDocument/2006/relationships" id="267" r:id="R5b03b2730a9c4ca5"/>
    <p:sldId xmlns:r="http://schemas.openxmlformats.org/officeDocument/2006/relationships" id="268" r:id="R2d26ee006810488a"/>
    <p:sldId xmlns:r="http://schemas.openxmlformats.org/officeDocument/2006/relationships" id="269" r:id="R14f86fe1d30c4d22"/>
    <p:sldId xmlns:r="http://schemas.openxmlformats.org/officeDocument/2006/relationships" id="270" r:id="R39f02f2e388e487e"/>
    <p:sldId xmlns:r="http://schemas.openxmlformats.org/officeDocument/2006/relationships" id="271" r:id="R24f6b7ad0f7b454e"/>
    <p:sldId xmlns:r="http://schemas.openxmlformats.org/officeDocument/2006/relationships" id="272" r:id="R69bf2f1642d94743"/>
    <p:sldId xmlns:r="http://schemas.openxmlformats.org/officeDocument/2006/relationships" id="273" r:id="R9b3cc375ad954ef0"/>
    <p:sldId xmlns:r="http://schemas.openxmlformats.org/officeDocument/2006/relationships" id="274" r:id="R8db4ca5662294528"/>
    <p:sldId xmlns:r="http://schemas.openxmlformats.org/officeDocument/2006/relationships" id="275" r:id="Rce7f5f6b50cf4a66"/>
    <p:sldId xmlns:r="http://schemas.openxmlformats.org/officeDocument/2006/relationships" id="276" r:id="Red2c0535d86a43a0"/>
    <p:sldId xmlns:r="http://schemas.openxmlformats.org/officeDocument/2006/relationships" id="277" r:id="Rbca830294ec34dca"/>
    <p:sldId xmlns:r="http://schemas.openxmlformats.org/officeDocument/2006/relationships" id="278" r:id="R9070083b11a44e12"/>
    <p:sldId xmlns:r="http://schemas.openxmlformats.org/officeDocument/2006/relationships" id="279" r:id="R7ea8d1cbee244d02"/>
    <p:sldId xmlns:r="http://schemas.openxmlformats.org/officeDocument/2006/relationships" id="280" r:id="R2b69d04b193441f7"/>
    <p:sldId xmlns:r="http://schemas.openxmlformats.org/officeDocument/2006/relationships" id="281" r:id="R4856cfa17a144cb4"/>
    <p:sldId xmlns:r="http://schemas.openxmlformats.org/officeDocument/2006/relationships" id="282" r:id="R9522f432fb9a4e05"/>
    <p:sldId xmlns:r="http://schemas.openxmlformats.org/officeDocument/2006/relationships" id="283" r:id="Rae8d92f332874c0f"/>
    <p:sldId xmlns:r="http://schemas.openxmlformats.org/officeDocument/2006/relationships" id="284" r:id="Rb8770692a685489a"/>
    <p:sldId xmlns:r="http://schemas.openxmlformats.org/officeDocument/2006/relationships" id="285" r:id="R3980d06a2e2f408e"/>
    <p:sldId xmlns:r="http://schemas.openxmlformats.org/officeDocument/2006/relationships" id="286" r:id="R82a6c375674446c0"/>
    <p:sldId xmlns:r="http://schemas.openxmlformats.org/officeDocument/2006/relationships" id="287" r:id="Rf019d40b8ea74125"/>
    <p:sldId xmlns:r="http://schemas.openxmlformats.org/officeDocument/2006/relationships" id="288" r:id="R62fca86a4a6147c7"/>
    <p:sldId xmlns:r="http://schemas.openxmlformats.org/officeDocument/2006/relationships" id="289" r:id="R56471ab120b14b4e"/>
    <p:sldId xmlns:r="http://schemas.openxmlformats.org/officeDocument/2006/relationships" id="290" r:id="Rf146ca8e0211482f"/>
    <p:sldId xmlns:r="http://schemas.openxmlformats.org/officeDocument/2006/relationships" id="291" r:id="R3844f9a469f64462"/>
    <p:sldId xmlns:r="http://schemas.openxmlformats.org/officeDocument/2006/relationships" id="292" r:id="R6496a2390da542d5"/>
    <p:sldId xmlns:r="http://schemas.openxmlformats.org/officeDocument/2006/relationships" id="293" r:id="R62cad5a016ec47c7"/>
    <p:sldId xmlns:r="http://schemas.openxmlformats.org/officeDocument/2006/relationships" id="294" r:id="R142321f1bba24822"/>
    <p:sldId xmlns:r="http://schemas.openxmlformats.org/officeDocument/2006/relationships" id="295" r:id="Rb1ae4967ba394a83"/>
    <p:sldId xmlns:r="http://schemas.openxmlformats.org/officeDocument/2006/relationships" id="296" r:id="Rc40e89c482ad484a"/>
    <p:sldId xmlns:r="http://schemas.openxmlformats.org/officeDocument/2006/relationships" id="297" r:id="Rf6d5f55f6a814fa6"/>
    <p:sldId xmlns:r="http://schemas.openxmlformats.org/officeDocument/2006/relationships" id="298" r:id="R89bf4dea4de14abb"/>
    <p:sldId xmlns:r="http://schemas.openxmlformats.org/officeDocument/2006/relationships" id="299" r:id="R188b432d3619415e"/>
    <p:sldId xmlns:r="http://schemas.openxmlformats.org/officeDocument/2006/relationships" id="300" r:id="R27fec2ba9b254676"/>
    <p:sldId xmlns:r="http://schemas.openxmlformats.org/officeDocument/2006/relationships" id="301" r:id="R80a241be300747e3"/>
    <p:sldId xmlns:r="http://schemas.openxmlformats.org/officeDocument/2006/relationships" id="302" r:id="R682bf8fb17044f8c"/>
    <p:sldId xmlns:r="http://schemas.openxmlformats.org/officeDocument/2006/relationships" id="303" r:id="R4407c2d402a2485c"/>
    <p:sldId xmlns:r="http://schemas.openxmlformats.org/officeDocument/2006/relationships" id="304" r:id="Rbb8ced754bf44373"/>
    <p:sldId xmlns:r="http://schemas.openxmlformats.org/officeDocument/2006/relationships" id="305" r:id="R8415002758a3492b"/>
    <p:sldId xmlns:r="http://schemas.openxmlformats.org/officeDocument/2006/relationships" id="306" r:id="R2782d3e225444663"/>
    <p:sldId xmlns:r="http://schemas.openxmlformats.org/officeDocument/2006/relationships" id="307" r:id="R8fad3364ae754fb7"/>
    <p:sldId xmlns:r="http://schemas.openxmlformats.org/officeDocument/2006/relationships" id="308" r:id="Reee19511afcb4388"/>
    <p:sldId xmlns:r="http://schemas.openxmlformats.org/officeDocument/2006/relationships" id="309" r:id="R61096dd71e3e4567"/>
    <p:sldId xmlns:r="http://schemas.openxmlformats.org/officeDocument/2006/relationships" id="310" r:id="Rd3990c22eee0406d"/>
    <p:sldId xmlns:r="http://schemas.openxmlformats.org/officeDocument/2006/relationships" id="311" r:id="R2024591397874505"/>
    <p:sldId xmlns:r="http://schemas.openxmlformats.org/officeDocument/2006/relationships" id="312" r:id="R1b71b1833460407f"/>
    <p:sldId xmlns:r="http://schemas.openxmlformats.org/officeDocument/2006/relationships" id="313" r:id="R9e4114851f6d4d89"/>
    <p:sldId xmlns:r="http://schemas.openxmlformats.org/officeDocument/2006/relationships" id="314" r:id="Rdbdb06a1bba64dcc"/>
    <p:sldId xmlns:r="http://schemas.openxmlformats.org/officeDocument/2006/relationships" id="315" r:id="R792312f1672245a6"/>
    <p:sldId xmlns:r="http://schemas.openxmlformats.org/officeDocument/2006/relationships" id="316" r:id="R806ca23333a343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52d57afb8a4966" /><Relationship Type="http://schemas.openxmlformats.org/officeDocument/2006/relationships/slideMaster" Target="/ppt/slideMasters/slideMaster1.xml" Id="R7f254bce9ed54972" /><Relationship Type="http://schemas.openxmlformats.org/officeDocument/2006/relationships/notesMaster" Target="/ppt/notesMasters/notesMaster1.xml" Id="Re94c66a46c504858" /><Relationship Type="http://schemas.openxmlformats.org/officeDocument/2006/relationships/presProps" Target="/ppt/presProps.xml" Id="Ra6046465ddc44c00" /><Relationship Type="http://schemas.openxmlformats.org/officeDocument/2006/relationships/tableStyles" Target="/ppt/tableStyles.xml" Id="R2a9d1d33541b4115" /><Relationship Type="http://schemas.openxmlformats.org/officeDocument/2006/relationships/slide" Target="/ppt/slides/slide1.xml" Id="Rff8dc6bacaa7438a" /><Relationship Type="http://schemas.openxmlformats.org/officeDocument/2006/relationships/slide" Target="/ppt/slides/slide2.xml" Id="Rce088249ed2e44d8" /><Relationship Type="http://schemas.openxmlformats.org/officeDocument/2006/relationships/slide" Target="/ppt/slides/slide3.xml" Id="R310f75c7ef7240a1" /><Relationship Type="http://schemas.openxmlformats.org/officeDocument/2006/relationships/slide" Target="/ppt/slides/slide4.xml" Id="R20897d4b6b024014" /><Relationship Type="http://schemas.openxmlformats.org/officeDocument/2006/relationships/slide" Target="/ppt/slides/slide5.xml" Id="R3bbdba7c37994f40" /><Relationship Type="http://schemas.openxmlformats.org/officeDocument/2006/relationships/slide" Target="/ppt/slides/slide6.xml" Id="R17311422b4314433" /><Relationship Type="http://schemas.openxmlformats.org/officeDocument/2006/relationships/slide" Target="/ppt/slides/slide7.xml" Id="R4596b41a7f454b90" /><Relationship Type="http://schemas.openxmlformats.org/officeDocument/2006/relationships/slide" Target="/ppt/slides/slide8.xml" Id="Rf6bdcf0ca945499a" /><Relationship Type="http://schemas.openxmlformats.org/officeDocument/2006/relationships/slide" Target="/ppt/slides/slide9.xml" Id="R32ba99d9d3f2443e" /><Relationship Type="http://schemas.openxmlformats.org/officeDocument/2006/relationships/slide" Target="/ppt/slides/slide10.xml" Id="Rfc4039614d03497d" /><Relationship Type="http://schemas.openxmlformats.org/officeDocument/2006/relationships/slide" Target="/ppt/slides/slide11.xml" Id="R7ca0fe0d1e8243b8" /><Relationship Type="http://schemas.openxmlformats.org/officeDocument/2006/relationships/slide" Target="/ppt/slides/slide12.xml" Id="R5b03b2730a9c4ca5" /><Relationship Type="http://schemas.openxmlformats.org/officeDocument/2006/relationships/slide" Target="/ppt/slides/slide13.xml" Id="R2d26ee006810488a" /><Relationship Type="http://schemas.openxmlformats.org/officeDocument/2006/relationships/slide" Target="/ppt/slides/slide14.xml" Id="R14f86fe1d30c4d22" /><Relationship Type="http://schemas.openxmlformats.org/officeDocument/2006/relationships/slide" Target="/ppt/slides/slide15.xml" Id="R39f02f2e388e487e" /><Relationship Type="http://schemas.openxmlformats.org/officeDocument/2006/relationships/slide" Target="/ppt/slides/slide16.xml" Id="R24f6b7ad0f7b454e" /><Relationship Type="http://schemas.openxmlformats.org/officeDocument/2006/relationships/slide" Target="/ppt/slides/slide17.xml" Id="R69bf2f1642d94743" /><Relationship Type="http://schemas.openxmlformats.org/officeDocument/2006/relationships/slide" Target="/ppt/slides/slide18.xml" Id="R9b3cc375ad954ef0" /><Relationship Type="http://schemas.openxmlformats.org/officeDocument/2006/relationships/slide" Target="/ppt/slides/slide19.xml" Id="R8db4ca5662294528" /><Relationship Type="http://schemas.openxmlformats.org/officeDocument/2006/relationships/slide" Target="/ppt/slides/slide20.xml" Id="Rce7f5f6b50cf4a66" /><Relationship Type="http://schemas.openxmlformats.org/officeDocument/2006/relationships/slide" Target="/ppt/slides/slide21.xml" Id="Red2c0535d86a43a0" /><Relationship Type="http://schemas.openxmlformats.org/officeDocument/2006/relationships/slide" Target="/ppt/slides/slide22.xml" Id="Rbca830294ec34dca" /><Relationship Type="http://schemas.openxmlformats.org/officeDocument/2006/relationships/slide" Target="/ppt/slides/slide23.xml" Id="R9070083b11a44e12" /><Relationship Type="http://schemas.openxmlformats.org/officeDocument/2006/relationships/slide" Target="/ppt/slides/slide24.xml" Id="R7ea8d1cbee244d02" /><Relationship Type="http://schemas.openxmlformats.org/officeDocument/2006/relationships/slide" Target="/ppt/slides/slide25.xml" Id="R2b69d04b193441f7" /><Relationship Type="http://schemas.openxmlformats.org/officeDocument/2006/relationships/slide" Target="/ppt/slides/slide26.xml" Id="R4856cfa17a144cb4" /><Relationship Type="http://schemas.openxmlformats.org/officeDocument/2006/relationships/slide" Target="/ppt/slides/slide27.xml" Id="R9522f432fb9a4e05" /><Relationship Type="http://schemas.openxmlformats.org/officeDocument/2006/relationships/slide" Target="/ppt/slides/slide28.xml" Id="Rae8d92f332874c0f" /><Relationship Type="http://schemas.openxmlformats.org/officeDocument/2006/relationships/slide" Target="/ppt/slides/slide29.xml" Id="Rb8770692a685489a" /><Relationship Type="http://schemas.openxmlformats.org/officeDocument/2006/relationships/slide" Target="/ppt/slides/slide30.xml" Id="R3980d06a2e2f408e" /><Relationship Type="http://schemas.openxmlformats.org/officeDocument/2006/relationships/slide" Target="/ppt/slides/slide31.xml" Id="R82a6c375674446c0" /><Relationship Type="http://schemas.openxmlformats.org/officeDocument/2006/relationships/slide" Target="/ppt/slides/slide32.xml" Id="Rf019d40b8ea74125" /><Relationship Type="http://schemas.openxmlformats.org/officeDocument/2006/relationships/slide" Target="/ppt/slides/slide33.xml" Id="R62fca86a4a6147c7" /><Relationship Type="http://schemas.openxmlformats.org/officeDocument/2006/relationships/slide" Target="/ppt/slides/slide34.xml" Id="R56471ab120b14b4e" /><Relationship Type="http://schemas.openxmlformats.org/officeDocument/2006/relationships/slide" Target="/ppt/slides/slide35.xml" Id="Rf146ca8e0211482f" /><Relationship Type="http://schemas.openxmlformats.org/officeDocument/2006/relationships/slide" Target="/ppt/slides/slide36.xml" Id="R3844f9a469f64462" /><Relationship Type="http://schemas.openxmlformats.org/officeDocument/2006/relationships/slide" Target="/ppt/slides/slide37.xml" Id="R6496a2390da542d5" /><Relationship Type="http://schemas.openxmlformats.org/officeDocument/2006/relationships/slide" Target="/ppt/slides/slide38.xml" Id="R62cad5a016ec47c7" /><Relationship Type="http://schemas.openxmlformats.org/officeDocument/2006/relationships/slide" Target="/ppt/slides/slide39.xml" Id="R142321f1bba24822" /><Relationship Type="http://schemas.openxmlformats.org/officeDocument/2006/relationships/slide" Target="/ppt/slides/slide40.xml" Id="Rb1ae4967ba394a83" /><Relationship Type="http://schemas.openxmlformats.org/officeDocument/2006/relationships/slide" Target="/ppt/slides/slide41.xml" Id="Rc40e89c482ad484a" /><Relationship Type="http://schemas.openxmlformats.org/officeDocument/2006/relationships/slide" Target="/ppt/slides/slide42.xml" Id="Rf6d5f55f6a814fa6" /><Relationship Type="http://schemas.openxmlformats.org/officeDocument/2006/relationships/slide" Target="/ppt/slides/slide43.xml" Id="R89bf4dea4de14abb" /><Relationship Type="http://schemas.openxmlformats.org/officeDocument/2006/relationships/slide" Target="/ppt/slides/slide44.xml" Id="R188b432d3619415e" /><Relationship Type="http://schemas.openxmlformats.org/officeDocument/2006/relationships/slide" Target="/ppt/slides/slide45.xml" Id="R27fec2ba9b254676" /><Relationship Type="http://schemas.openxmlformats.org/officeDocument/2006/relationships/slide" Target="/ppt/slides/slide46.xml" Id="R80a241be300747e3" /><Relationship Type="http://schemas.openxmlformats.org/officeDocument/2006/relationships/slide" Target="/ppt/slides/slide47.xml" Id="R682bf8fb17044f8c" /><Relationship Type="http://schemas.openxmlformats.org/officeDocument/2006/relationships/slide" Target="/ppt/slides/slide48.xml" Id="R4407c2d402a2485c" /><Relationship Type="http://schemas.openxmlformats.org/officeDocument/2006/relationships/slide" Target="/ppt/slides/slide49.xml" Id="Rbb8ced754bf44373" /><Relationship Type="http://schemas.openxmlformats.org/officeDocument/2006/relationships/slide" Target="/ppt/slides/slide50.xml" Id="R8415002758a3492b" /><Relationship Type="http://schemas.openxmlformats.org/officeDocument/2006/relationships/slide" Target="/ppt/slides/slide51.xml" Id="R2782d3e225444663" /><Relationship Type="http://schemas.openxmlformats.org/officeDocument/2006/relationships/slide" Target="/ppt/slides/slide52.xml" Id="R8fad3364ae754fb7" /><Relationship Type="http://schemas.openxmlformats.org/officeDocument/2006/relationships/slide" Target="/ppt/slides/slide53.xml" Id="Reee19511afcb4388" /><Relationship Type="http://schemas.openxmlformats.org/officeDocument/2006/relationships/slide" Target="/ppt/slides/slide54.xml" Id="R61096dd71e3e4567" /><Relationship Type="http://schemas.openxmlformats.org/officeDocument/2006/relationships/slide" Target="/ppt/slides/slide55.xml" Id="Rd3990c22eee0406d" /><Relationship Type="http://schemas.openxmlformats.org/officeDocument/2006/relationships/slide" Target="/ppt/slides/slide56.xml" Id="R2024591397874505" /><Relationship Type="http://schemas.openxmlformats.org/officeDocument/2006/relationships/slide" Target="/ppt/slides/slide57.xml" Id="R1b71b1833460407f" /><Relationship Type="http://schemas.openxmlformats.org/officeDocument/2006/relationships/slide" Target="/ppt/slides/slide58.xml" Id="R9e4114851f6d4d89" /><Relationship Type="http://schemas.openxmlformats.org/officeDocument/2006/relationships/slide" Target="/ppt/slides/slide59.xml" Id="Rdbdb06a1bba64dcc" /><Relationship Type="http://schemas.openxmlformats.org/officeDocument/2006/relationships/slide" Target="/ppt/slides/slide60.xml" Id="R792312f1672245a6" /><Relationship Type="http://schemas.openxmlformats.org/officeDocument/2006/relationships/slide" Target="/ppt/slides/slide61.xml" Id="R806ca23333a343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200333533f4bb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4803ceee3f490d" /><Relationship Type="http://schemas.openxmlformats.org/officeDocument/2006/relationships/notesMaster" Target="/ppt/notesMasters/notesMaster1.xml" Id="Ra1167cca7ac641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0e2ccf21824b16" /><Relationship Type="http://schemas.openxmlformats.org/officeDocument/2006/relationships/notesMaster" Target="/ppt/notesMasters/notesMaster1.xml" Id="Rb39cf67e9cff4b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6a4576078d41ec" /><Relationship Type="http://schemas.openxmlformats.org/officeDocument/2006/relationships/notesMaster" Target="/ppt/notesMasters/notesMaster1.xml" Id="R772f574efce545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6dc7a532d44814" /><Relationship Type="http://schemas.openxmlformats.org/officeDocument/2006/relationships/notesMaster" Target="/ppt/notesMasters/notesMaster1.xml" Id="Rf60799cee7c54b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a2ba46e7ed4b74" /><Relationship Type="http://schemas.openxmlformats.org/officeDocument/2006/relationships/notesMaster" Target="/ppt/notesMasters/notesMaster1.xml" Id="R0e70a3ee682841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d5688e94a84ae7" /><Relationship Type="http://schemas.openxmlformats.org/officeDocument/2006/relationships/notesMaster" Target="/ppt/notesMasters/notesMaster1.xml" Id="R9be49ca8f8cb42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27568bfad844a1" /><Relationship Type="http://schemas.openxmlformats.org/officeDocument/2006/relationships/notesMaster" Target="/ppt/notesMasters/notesMaster1.xml" Id="Rf12bd656f51d45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95cf03213c43bb" /><Relationship Type="http://schemas.openxmlformats.org/officeDocument/2006/relationships/notesMaster" Target="/ppt/notesMasters/notesMaster1.xml" Id="R29571bde98b745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727104837a4bf9" /><Relationship Type="http://schemas.openxmlformats.org/officeDocument/2006/relationships/notesMaster" Target="/ppt/notesMasters/notesMaster1.xml" Id="R2615d6db113f4b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912037d67e4f8f" /><Relationship Type="http://schemas.openxmlformats.org/officeDocument/2006/relationships/notesMaster" Target="/ppt/notesMasters/notesMaster1.xml" Id="Re13e7113422946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f11acd5fa24bcb" /><Relationship Type="http://schemas.openxmlformats.org/officeDocument/2006/relationships/notesMaster" Target="/ppt/notesMasters/notesMaster1.xml" Id="Reda7dcb83b104b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421e210ae2f4176" /><Relationship Type="http://schemas.openxmlformats.org/officeDocument/2006/relationships/notesMaster" Target="/ppt/notesMasters/notesMaster1.xml" Id="R895cadf6281146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1d6ced1b20496b" /><Relationship Type="http://schemas.openxmlformats.org/officeDocument/2006/relationships/notesMaster" Target="/ppt/notesMasters/notesMaster1.xml" Id="Rd921accb702442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0be909a513b4b86" /><Relationship Type="http://schemas.openxmlformats.org/officeDocument/2006/relationships/notesMaster" Target="/ppt/notesMasters/notesMaster1.xml" Id="Rb2b11b74103d46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a0f5ad06846479b" /><Relationship Type="http://schemas.openxmlformats.org/officeDocument/2006/relationships/notesMaster" Target="/ppt/notesMasters/notesMaster1.xml" Id="R8233fd51d515449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dd372b52bb4f71" /><Relationship Type="http://schemas.openxmlformats.org/officeDocument/2006/relationships/notesMaster" Target="/ppt/notesMasters/notesMaster1.xml" Id="R3ad7ffa53e92417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39f23915cd14e33" /><Relationship Type="http://schemas.openxmlformats.org/officeDocument/2006/relationships/notesMaster" Target="/ppt/notesMasters/notesMaster1.xml" Id="R153e1ce58fba48a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e97ea727ebf495a" /><Relationship Type="http://schemas.openxmlformats.org/officeDocument/2006/relationships/notesMaster" Target="/ppt/notesMasters/notesMaster1.xml" Id="R3ceafd8f37904f8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96c52da990b45cb" /><Relationship Type="http://schemas.openxmlformats.org/officeDocument/2006/relationships/notesMaster" Target="/ppt/notesMasters/notesMaster1.xml" Id="Rc13fa109fd75485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2a4fccd02764e99" /><Relationship Type="http://schemas.openxmlformats.org/officeDocument/2006/relationships/notesMaster" Target="/ppt/notesMasters/notesMaster1.xml" Id="R2cb2b8c23bf7471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0fbbb18c133468a" /><Relationship Type="http://schemas.openxmlformats.org/officeDocument/2006/relationships/notesMaster" Target="/ppt/notesMasters/notesMaster1.xml" Id="R24d1a2fe9010415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3eb7a5f6a74ba6" /><Relationship Type="http://schemas.openxmlformats.org/officeDocument/2006/relationships/notesMaster" Target="/ppt/notesMasters/notesMaster1.xml" Id="R1216418dca62455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1bd3dad1f7a4c30" /><Relationship Type="http://schemas.openxmlformats.org/officeDocument/2006/relationships/notesMaster" Target="/ppt/notesMasters/notesMaster1.xml" Id="R948c2c1cd96b420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22bfbb985e34c3f" /><Relationship Type="http://schemas.openxmlformats.org/officeDocument/2006/relationships/notesMaster" Target="/ppt/notesMasters/notesMaster1.xml" Id="R2a970ca4abd1420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34c366b6fb2486f" /><Relationship Type="http://schemas.openxmlformats.org/officeDocument/2006/relationships/notesMaster" Target="/ppt/notesMasters/notesMaster1.xml" Id="R0105346244924ac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e6581043cb24f12" /><Relationship Type="http://schemas.openxmlformats.org/officeDocument/2006/relationships/notesMaster" Target="/ppt/notesMasters/notesMaster1.xml" Id="R99f113f1f42144e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ea8925313264455" /><Relationship Type="http://schemas.openxmlformats.org/officeDocument/2006/relationships/notesMaster" Target="/ppt/notesMasters/notesMaster1.xml" Id="R6edc69b58393440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c3a381e1cb84b78" /><Relationship Type="http://schemas.openxmlformats.org/officeDocument/2006/relationships/notesMaster" Target="/ppt/notesMasters/notesMaster1.xml" Id="R8b372fb5824c4a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8b1ac1b0719488d" /><Relationship Type="http://schemas.openxmlformats.org/officeDocument/2006/relationships/notesMaster" Target="/ppt/notesMasters/notesMaster1.xml" Id="Re765f109298749d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842abc692d44e4b" /><Relationship Type="http://schemas.openxmlformats.org/officeDocument/2006/relationships/notesMaster" Target="/ppt/notesMasters/notesMaster1.xml" Id="R00da02f7ee2249c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04d7d7d120043a2" /><Relationship Type="http://schemas.openxmlformats.org/officeDocument/2006/relationships/notesMaster" Target="/ppt/notesMasters/notesMaster1.xml" Id="Rc528d624e5d04f5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799c1441684ea9" /><Relationship Type="http://schemas.openxmlformats.org/officeDocument/2006/relationships/notesMaster" Target="/ppt/notesMasters/notesMaster1.xml" Id="Rf469584aadbc43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bee05b268c94f23" /><Relationship Type="http://schemas.openxmlformats.org/officeDocument/2006/relationships/notesMaster" Target="/ppt/notesMasters/notesMaster1.xml" Id="Rc97b986b3737443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67791a7220548c4" /><Relationship Type="http://schemas.openxmlformats.org/officeDocument/2006/relationships/notesMaster" Target="/ppt/notesMasters/notesMaster1.xml" Id="R546841b73bf1429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efc177258dd4d55" /><Relationship Type="http://schemas.openxmlformats.org/officeDocument/2006/relationships/notesMaster" Target="/ppt/notesMasters/notesMaster1.xml" Id="R754f0b0418604a5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3131397c62b4700" /><Relationship Type="http://schemas.openxmlformats.org/officeDocument/2006/relationships/notesMaster" Target="/ppt/notesMasters/notesMaster1.xml" Id="R87f8699e3639467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1342a4ebe6a4a70" /><Relationship Type="http://schemas.openxmlformats.org/officeDocument/2006/relationships/notesMaster" Target="/ppt/notesMasters/notesMaster1.xml" Id="Rf7b0759692674e4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ff049d454a942ac" /><Relationship Type="http://schemas.openxmlformats.org/officeDocument/2006/relationships/notesMaster" Target="/ppt/notesMasters/notesMaster1.xml" Id="Rbff72df5a01c42b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c592a1e4308496b" /><Relationship Type="http://schemas.openxmlformats.org/officeDocument/2006/relationships/notesMaster" Target="/ppt/notesMasters/notesMaster1.xml" Id="Refc48af6bbfa498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c255c9d649b4e90" /><Relationship Type="http://schemas.openxmlformats.org/officeDocument/2006/relationships/notesMaster" Target="/ppt/notesMasters/notesMaster1.xml" Id="R495ed84a3b07491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62c1a780acb4adc" /><Relationship Type="http://schemas.openxmlformats.org/officeDocument/2006/relationships/notesMaster" Target="/ppt/notesMasters/notesMaster1.xml" Id="Rd9cc5a06e1bb432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8476e8b4b25425f" /><Relationship Type="http://schemas.openxmlformats.org/officeDocument/2006/relationships/notesMaster" Target="/ppt/notesMasters/notesMaster1.xml" Id="R6e79522a6d4d40b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0362663e7a14354" /><Relationship Type="http://schemas.openxmlformats.org/officeDocument/2006/relationships/notesMaster" Target="/ppt/notesMasters/notesMaster1.xml" Id="R74ec3fa0ba26424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bdd18acb1554a98" /><Relationship Type="http://schemas.openxmlformats.org/officeDocument/2006/relationships/notesMaster" Target="/ppt/notesMasters/notesMaster1.xml" Id="R3e4363a1d4a7456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e381607c9754051" /><Relationship Type="http://schemas.openxmlformats.org/officeDocument/2006/relationships/notesMaster" Target="/ppt/notesMasters/notesMaster1.xml" Id="Rab6219f523fd4b8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076ec15fb6a42f9" /><Relationship Type="http://schemas.openxmlformats.org/officeDocument/2006/relationships/notesMaster" Target="/ppt/notesMasters/notesMaster1.xml" Id="R32af0227ea58410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afe56b951be4486" /><Relationship Type="http://schemas.openxmlformats.org/officeDocument/2006/relationships/notesMaster" Target="/ppt/notesMasters/notesMaster1.xml" Id="Rf940102bda8c42b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0bae9420ebe4f6b" /><Relationship Type="http://schemas.openxmlformats.org/officeDocument/2006/relationships/notesMaster" Target="/ppt/notesMasters/notesMaster1.xml" Id="R988729e7d86045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9bd5e6484ab4fe0" /><Relationship Type="http://schemas.openxmlformats.org/officeDocument/2006/relationships/notesMaster" Target="/ppt/notesMasters/notesMaster1.xml" Id="R90988f71d381472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f54929aec944b45" /><Relationship Type="http://schemas.openxmlformats.org/officeDocument/2006/relationships/notesMaster" Target="/ppt/notesMasters/notesMaster1.xml" Id="R1a64504449e442d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a2881887de1487a" /><Relationship Type="http://schemas.openxmlformats.org/officeDocument/2006/relationships/notesMaster" Target="/ppt/notesMasters/notesMaster1.xml" Id="Re15dc25e150645e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4453ff7d7344707" /><Relationship Type="http://schemas.openxmlformats.org/officeDocument/2006/relationships/notesMaster" Target="/ppt/notesMasters/notesMaster1.xml" Id="R521466d5587b4c9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57e11cb73734bd9" /><Relationship Type="http://schemas.openxmlformats.org/officeDocument/2006/relationships/notesMaster" Target="/ppt/notesMasters/notesMaster1.xml" Id="R6d9538ce432344b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33d776fc2e64253" /><Relationship Type="http://schemas.openxmlformats.org/officeDocument/2006/relationships/notesMaster" Target="/ppt/notesMasters/notesMaster1.xml" Id="Ra60c5ba537194ba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6de02afa49c4e56" /><Relationship Type="http://schemas.openxmlformats.org/officeDocument/2006/relationships/notesMaster" Target="/ppt/notesMasters/notesMaster1.xml" Id="Rcaec079ebab244a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39ca56b6ec945c4" /><Relationship Type="http://schemas.openxmlformats.org/officeDocument/2006/relationships/notesMaster" Target="/ppt/notesMasters/notesMaster1.xml" Id="R803b39aae5e4482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4f0ffabd77c4f09" /><Relationship Type="http://schemas.openxmlformats.org/officeDocument/2006/relationships/notesMaster" Target="/ppt/notesMasters/notesMaster1.xml" Id="Rd57a3291bb8f401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743824b0f4a4787" /><Relationship Type="http://schemas.openxmlformats.org/officeDocument/2006/relationships/notesMaster" Target="/ppt/notesMasters/notesMaster1.xml" Id="Rf897c8a130f2451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843e725c0854596" /><Relationship Type="http://schemas.openxmlformats.org/officeDocument/2006/relationships/notesMaster" Target="/ppt/notesMasters/notesMaster1.xml" Id="R5c06e1a59a1246a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52f8bff0c294022" /><Relationship Type="http://schemas.openxmlformats.org/officeDocument/2006/relationships/notesMaster" Target="/ppt/notesMasters/notesMaster1.xml" Id="R55286eed81b2487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273a8207a2445bf" /><Relationship Type="http://schemas.openxmlformats.org/officeDocument/2006/relationships/notesMaster" Target="/ppt/notesMasters/notesMaster1.xml" Id="Rcea07aae8c8647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はコピュラを使う予定で終わりました。今日は何を学習し、どう条件付き生成を行い、どこに入れるかを説明します。まず直感、次に数式、最後に実装と探索的結果です。最初の4枚の主張は研究上の仮説を含み、今回の結果だけで実証済みとは言え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MEは自己教師ありマスク推定と元値復元、半教師あり一貫性学習を使います。クラス条件付き法はクラス内での置換を使います。本研究はまずVIME内の生成器だけを変える比較を行います。無条件生成が常に悪い、条件付きなら常にラベルを保つ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身長体重は説明用の架空データです。生物学的な正しさや体型の正常判定ではありません。列別の値の集合は同じです。それでも身長が高い人ほど体重が重いという関係は逆になります。これが周辺分布だけでは決まらない依存構造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けるとはデータの列を独立にすることではありません。元の同時分布を、周辺分布とコピュラの組で表すことです。どれくらいの身長が存在するかと、その高さの人の体重がどの位置に来るかを分けます。位置を生成して元の単位へ戻せば再び組合せ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人の説明用の経験分布です。170cm以下は150から170までの7人です。170cmそのものの割合1/10とは違います。累積は小さい側から足し上げることです。これは理論的な連続分布ではなく経験累積分布なので階段状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は身長をその周辺累積分布で変換した確率変数、uは一人の具体的な位置です。体重でも同様です。別の集団の累積分布を使えば同じ175cmでも位置は変わります。単位変更など狭義単調増加変換にはコピュラは不変ですが、非単調変換には一般に不変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ここは説明用の順位位置です。点の集合そのものと、点の分布を表す累積分布関数Cは区別します。右上や左下に点が集まるほど同じ方向の位置を取る傾向があります。コピュラはその確率分布を表します。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X,Yは抽出した人の身長体重という確率変数です。x,yはそれを比較するしきい値です。FX(x)=P(X≤x)です。U=FX(X)とV=FY(Y)は変数で、u,vは0から1のしきい値。RはGaussian copulaの潜在正規空間の相関行列です。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な周辺分布なら確率積分変換でU,Vは各々一様です。それぞれ一様なことは互いに独立なことを意味しません。Cは2変数の同時CDF。一般にはd個の一様周辺を持つd次元CDFです。経験分布や離散変数の場合、FX(X)が連続一様になるという説明はそのまま適用でき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縦軸体重の位置、横軸身長の位置として左下の長方形に入る確率です。点ちょうど一つの確率や条件付き確率P(V≤.5|U≤.8)ではありません。条件付きならC(.8,.5)/.8になります。一様独立では長方形の面積.4と一致しますが一般に面積そのもの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均等格子の説明用100点です。有限な離散例であり連続一様の標本や実データではありません。境界U=.8,V=.5の左下が40点。独立な連続一様での理論値も.4になります。この面積計算が一般copulaにも常に成立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完全逆方向V=1−UならU≤uかつ1−U≤v、つまり1−v≤U≤uです。区間の長さmax(u+v−1,0)です。.8+.5−1=.3。一様周辺から制限されるFréchet境界はこの範囲です。極端な2つを含め関係の違いがCに表れます。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x,y)=P(X≤x,Y≤y)です。Sklarの定理は任意の同時CDFにこの分解が存在すると述べます。周辺が連続ならCは一意です。離散では周辺の値域上のみ定まり、一意とは限りません。独立の仮定なしで分けて表す数学的根拠がここ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(U,V)~Cの組を生成し、一般化逆関数F^-1(u)=inf{x:F(x)≥u}で戻します。理論的に任意の周辺分布にコピュラを組み合わせられます。ただし有限データで推定する際は、コピュラの仮定と周辺推定の誤差が残ります。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裾は分布の端です。λUはq→1でP(V&gt;q|U&gt;q)の極限、λLはq→0でP(V≤q|U≤q)の極限です。高いPearson相関でもGaussian copulaは非退化ならλU=λL=0。一方有限q=.95では依存はあり得ます。ゼロ裾依存を極端事象が無関係と解釈しないこと。</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各周辺の形を正規に限定しません。各列を確率位置、さらに潜在標準正規へ変えた後、その同時分布に多変量正規を仮定します。4枚目の非線形や裾依存をすべてGaussianで捉えるという意味ではありません。一般コピュラの表現可能性と一つの家族の表現力を区別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平均順位を使ってu=(r−.5)/nとし、同値には同じ平均順位を与えます。端点0と1を避けるためです。説明で使ったFhat=人数/nと推定用の擬似観測は少し違います。コピュラ学習は現在コードではラベルなし訓練部分のみ。テストデータを混ぜない。位置が一様に近くても列同士の組合せは保た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Φ^-1は同じ累積確率位置にある標準正規の値を返します。各列の周辺を正規へ変えるだけなので同時正規性は自動的には成立しません。この後のGaussianという仮定を別に置きます。極端なuはクリップしています。潜在空間とはここではこの確率変換された空間であり、ニューラルencoder潜在とは別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全列のZを標準多変量正規N(0,R)と仮定します。Rは潜在正規値間の相関で元のcm/kgのPearson相関とは一般に異なります。有限サンプルでは行列が不安定になり得るので実装は縮小と固有値補正を使います。Gaussian copulaのCDFはΦR(Φ^-1u1,...,Φ^-1ud)です。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はマスクして置換する列、Oは観測して残す列。欠損値を扱っているのではなくデータ拡張の人工マスクです。身長値175cmは説明用周辺で80%位置という仮定で、前の4人順位表とは別の説明例です。独立だと体重位置は身長に影響されません。正の依存なら高い身長に合わせ体重の分布が高い方へ動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変量の標準多変量正規の公式です。ρ=.6、zX=.841621で平均.5049726、分散.64、標準偏差.8。ρ=0なら条件付けても標準正規のまま。ρが高いほど既知の身長から体重を絞れますが一点には決まりません。残差εがあるためです。潜在平均は元スケール平均とは一般に一致し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-1,0,1は手順を示す選んだ例で、等確率の3択という意味ではありません。実際には連続な標準正規乱数を引きます。ZY=.505+.8ε。さらにΦでVへ戻し、FY^-1でkgに戻します。補足としてY~N(65,10²)という説明用周辺を使うと62.05、70.05、78.05kgになります。これは実データの推定結果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正規周辺N(65,10²)の場合です。FY^-1(v)=65+10Φ^-1(v)なのでこの数値になります。実装では正規な体重を仮定せず訓練列の経験分位点を線形補間します。補間によって元の訓練値にない連続値が出ることがあります。一般に無条件周辺を利用するが生成結果は条件付き分布になるため、各行で周辺と同じ分布を要求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YとZwaistを条件付き共分散で一緒に引くことで置換列同士の依存も残します。各列を個別に引く方法と重要な違いがあります。高次元ではRの逆計算を直接するよりsolveを使う。詳細数式は補足。全列マスクなら無条件同時生成、マスクなしなら変更なし。</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VIMEのPyTorch再実装です。自己教師ありはマスク推定BCEと元特徴値復元MSE。半教師ありはラベルあり分類損失とラベルなし複数拡張への予測一貫性。比較では同じ予測器・エンコーダ・予算を使います。元論文の表を同じ実験環境で再現した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ベルなしで依存を学習すれば擬似ラベルへの依存は減らせますが、クラス意味を保つ保証はありません。混合クラスの全体分布では条件付き生成が別クラスへ移る可能性があります。強い条件付けで元に近すぎるとマスク推定課題が難しく/弱い復元信号になる、強い破壊でラベルを壊す、強度と難易度のトレードオフがあります。</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今回2026-10-04に既存corruption.pyを実行。Z1~N(0,1),Z2=.8Z1+.6εで2500行、seed20261004。第1列を残して第2列を全行マスク。corruption RNG314159、同じ入力とマスク。推定も生成も同じ合成データなので学習動作確認であって汎化評価ではありません。図は先頭180行、集計は2500行すべて。縮小0.05で依存を少し弱く推定します。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上Z2|Z1の条件平均は.8Z1、条件分散.36。指標は生成Z2と真の条件平均.8X1との差の二乗平均。元データの値は約.352で.36に近い、独立置換は約1.653、copulaは約.409。これは条件分布とのKL等ではなく残差二乗の簡単な指標であり、小さいほど常に良いわけではなく条件平均固定だと0になって多様性がなくなるため分散も見る必要がある。観測列は両法とも変更されないことをarray_equalで確認済み。</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新しい仮想環境で同じ既存VIMEClassifierを実行。分割や予算は保存結果のプロトコルと揃えたがライブラリバージョンとCPU threads1は異なる。保存値の完全再現ではありません。同一環境とはこの再実行内での2手法が同じ環境を使った意味。モデルと分割、学習予算を一致。差の区間はseed差のpercentile bootstrap1万回、95%。少ないseedで重なったholdoutなので探索的指標です。結果から万能な優位を主張しません。</a:t>
            </a:r>
          </a:p>
          <a:p xmlns:a="http://schemas.openxmlformats.org/drawingml/2006/main">
            <a:r>
              <a:t>実行環境：{"python":"3.12.14","numpy":"2.5.3","scipy":"1.18.1","sklearn":"1.9.1","torch":"2.14.1","platform":"macOS-26.3.1-arm64-arm-64bit","threads":1}</a:t>
            </a:r>
          </a:p>
          <a:p xmlns:a="http://schemas.openxmlformats.org/drawingml/2006/main">
            <a:r>
              <a:t>元結果：tmp/seminar_20261005/rerun_results.json</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5seedの新結果の数値と矛盾しない説明をします。区間0を含むかどうかは計算結果に基づくが、含まない場合も小標本の探索的実験で強い統計的主張はしない。保存済みの2手法のAUCは全seedで一致した。環境や乱数、条件の記録を維持し、さらにデータ数を増や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必要なのは生成器が何を改善したかの裏付けです。合成データでは既知の真の条件分布との誤差、実データでは近傍距離や特徴間制約逸脱を見ます。近傍距離だけだと元に近ければ有利なので元行からの変更量と併記。ラベル保持の評価は既知のラベルや妥当な参照モデルを使い、ラベルなしデータの真値と混同しない。コピュラ種類やマスク率は検証用分割のみで選択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までが発表の主線です。時間に合わせて種類詳細や数式を補足から説明できます。今回の貢献が確立したとは言いません。対象と比較の設計を具体化し、実装と保存済みの小規模結果を示した段階です。質疑では条件付き分布、ラベル保持、カテゴリ型、マスクの難易度、同時正規仮定を補足で答え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59e3c6dd01c4e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c9516667ec45d0" /><Relationship Type="http://schemas.openxmlformats.org/officeDocument/2006/relationships/slideLayout" Target="/ppt/slideLayouts/slideLayout1.xml" Id="R92cefb62a0f841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cefb62a0f841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c54ca8887da4d4e" /><Relationship Type="http://schemas.openxmlformats.org/officeDocument/2006/relationships/notesSlide" Target="/ppt/notesSlides/notesSlide1.xml" Id="Rb7952ec75aa345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645a3a34b44a5e" /><Relationship Type="http://schemas.openxmlformats.org/officeDocument/2006/relationships/notesSlide" Target="/ppt/notesSlides/notesSlide2.xml" Id="R4060873241bb4f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399cd8267f34fbe" /><Relationship Type="http://schemas.openxmlformats.org/officeDocument/2006/relationships/notesSlide" Target="/ppt/notesSlides/notesSlide3.xml" Id="Re18f21b2255145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964dedb4df4263" /><Relationship Type="http://schemas.openxmlformats.org/officeDocument/2006/relationships/notesSlide" Target="/ppt/notesSlides/notesSlide4.xml" Id="R43104387afdc46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380e77aa504c93" /><Relationship Type="http://schemas.openxmlformats.org/officeDocument/2006/relationships/notesSlide" Target="/ppt/notesSlides/notesSlide5.xml" Id="R317e6c6813d041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73be8c9a1d4d42" /><Relationship Type="http://schemas.openxmlformats.org/officeDocument/2006/relationships/notesSlide" Target="/ppt/notesSlides/notesSlide6.xml" Id="R76f8d7bccef3468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6b3da6ced74ba2" /><Relationship Type="http://schemas.openxmlformats.org/officeDocument/2006/relationships/chart" Target="/ppt/slides/charts/chart1.xml" Id="Rdc760c12cc3d4370" /><Relationship Type="http://schemas.openxmlformats.org/officeDocument/2006/relationships/notesSlide" Target="/ppt/notesSlides/notesSlide7.xml" Id="Ra01d13eccac94d8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3af6e19e584e17" /><Relationship Type="http://schemas.openxmlformats.org/officeDocument/2006/relationships/notesSlide" Target="/ppt/notesSlides/notesSlide8.xml" Id="R8f1fed4eb69446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bf6eaf07fd4485" /><Relationship Type="http://schemas.openxmlformats.org/officeDocument/2006/relationships/notesSlide" Target="/ppt/notesSlides/notesSlide9.xml" Id="R50b0ccfc99f8430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e217d44c9a4966" /><Relationship Type="http://schemas.openxmlformats.org/officeDocument/2006/relationships/notesSlide" Target="/ppt/notesSlides/notesSlide10.xml" Id="R4ad955b7f33f45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e97202cd0e244e8" /><Relationship Type="http://schemas.openxmlformats.org/officeDocument/2006/relationships/chart" Target="/ppt/slides/charts/chart2.xml" Id="R64308089171b49a3" /><Relationship Type="http://schemas.openxmlformats.org/officeDocument/2006/relationships/notesSlide" Target="/ppt/notesSlides/notesSlide11.xml" Id="R48e8de95e93a4ad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956f6a9edbe4dad" /><Relationship Type="http://schemas.openxmlformats.org/officeDocument/2006/relationships/notesSlide" Target="/ppt/notesSlides/notesSlide12.xml" Id="R1f55f413c87a47c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e06fb2eaaa84c19" /><Relationship Type="http://schemas.openxmlformats.org/officeDocument/2006/relationships/notesSlide" Target="/ppt/notesSlides/notesSlide13.xml" Id="R70beb65eb8d44f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8274fc8098c4844" /><Relationship Type="http://schemas.openxmlformats.org/officeDocument/2006/relationships/notesSlide" Target="/ppt/notesSlides/notesSlide14.xml" Id="Rb6325daddd264cb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e13fb33db3e480d" /><Relationship Type="http://schemas.openxmlformats.org/officeDocument/2006/relationships/notesSlide" Target="/ppt/notesSlides/notesSlide15.xml" Id="R87a629daf82e44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461eccc3fe94374" /><Relationship Type="http://schemas.openxmlformats.org/officeDocument/2006/relationships/notesSlide" Target="/ppt/notesSlides/notesSlide16.xml" Id="Rfcda68e666d541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a64fa4dd0614400" /><Relationship Type="http://schemas.openxmlformats.org/officeDocument/2006/relationships/notesSlide" Target="/ppt/notesSlides/notesSlide17.xml" Id="R08d1625888524c0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6b386d6a7248a0" /><Relationship Type="http://schemas.openxmlformats.org/officeDocument/2006/relationships/notesSlide" Target="/ppt/notesSlides/notesSlide18.xml" Id="R14132b11d02447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856ae24fd24410e" /><Relationship Type="http://schemas.openxmlformats.org/officeDocument/2006/relationships/notesSlide" Target="/ppt/notesSlides/notesSlide19.xml" Id="R0615e92b9be344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6bb2260f57c466e" /><Relationship Type="http://schemas.openxmlformats.org/officeDocument/2006/relationships/notesSlide" Target="/ppt/notesSlides/notesSlide20.xml" Id="Rae1cb55a16094f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c3394428ba4d41" /><Relationship Type="http://schemas.openxmlformats.org/officeDocument/2006/relationships/notesSlide" Target="/ppt/notesSlides/notesSlide21.xml" Id="Rd66a67ced383423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5ecf010da454faa" /><Relationship Type="http://schemas.openxmlformats.org/officeDocument/2006/relationships/notesSlide" Target="/ppt/notesSlides/notesSlide22.xml" Id="R57e3e09d32fd4e1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2859bc23f07434f" /><Relationship Type="http://schemas.openxmlformats.org/officeDocument/2006/relationships/notesSlide" Target="/ppt/notesSlides/notesSlide23.xml" Id="R4bab33165a6643a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b1d34ef7b464b04" /><Relationship Type="http://schemas.openxmlformats.org/officeDocument/2006/relationships/notesSlide" Target="/ppt/notesSlides/notesSlide24.xml" Id="R76aaabd1c75a44e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de3674ef1ae4854" /><Relationship Type="http://schemas.openxmlformats.org/officeDocument/2006/relationships/notesSlide" Target="/ppt/notesSlides/notesSlide25.xml" Id="Rda9837cb88924c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dc87b4d875c4c3b" /><Relationship Type="http://schemas.openxmlformats.org/officeDocument/2006/relationships/notesSlide" Target="/ppt/notesSlides/notesSlide26.xml" Id="R38ae8a5c425e433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1dafe34be7e40fb" /><Relationship Type="http://schemas.openxmlformats.org/officeDocument/2006/relationships/notesSlide" Target="/ppt/notesSlides/notesSlide27.xml" Id="R5585f608d8534c2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a597267805f4399" /><Relationship Type="http://schemas.openxmlformats.org/officeDocument/2006/relationships/notesSlide" Target="/ppt/notesSlides/notesSlide28.xml" Id="R451a6534a435441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b583adb548c4c9d" /><Relationship Type="http://schemas.openxmlformats.org/officeDocument/2006/relationships/notesSlide" Target="/ppt/notesSlides/notesSlide29.xml" Id="R6f34022359134c0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d50be73e8484094" /><Relationship Type="http://schemas.openxmlformats.org/officeDocument/2006/relationships/notesSlide" Target="/ppt/notesSlides/notesSlide30.xml" Id="R9cc63b5b39fa448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004ffe60d09418f" /><Relationship Type="http://schemas.openxmlformats.org/officeDocument/2006/relationships/notesSlide" Target="/ppt/notesSlides/notesSlide31.xml" Id="R5e6359626cfb430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af7ab24dca54654" /><Relationship Type="http://schemas.openxmlformats.org/officeDocument/2006/relationships/chart" Target="/ppt/slides/charts/chart3.xml" Id="Rdb4cd35b6e3547a4" /><Relationship Type="http://schemas.openxmlformats.org/officeDocument/2006/relationships/chart" Target="/ppt/slides/charts/chart4.xml" Id="R68546c1de8ac4a88" /><Relationship Type="http://schemas.openxmlformats.org/officeDocument/2006/relationships/chart" Target="/ppt/slides/charts/chart5.xml" Id="R340c1ed4e6b9498b" /><Relationship Type="http://schemas.openxmlformats.org/officeDocument/2006/relationships/notesSlide" Target="/ppt/notesSlides/notesSlide32.xml" Id="Rab709ea9e579448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88854223a3248bf" /><Relationship Type="http://schemas.openxmlformats.org/officeDocument/2006/relationships/notesSlide" Target="/ppt/notesSlides/notesSlide33.xml" Id="R1705e6045044463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ec613828e2e4c44" /><Relationship Type="http://schemas.openxmlformats.org/officeDocument/2006/relationships/notesSlide" Target="/ppt/notesSlides/notesSlide34.xml" Id="R806fd570287541f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292b9cb15dc84f38" /><Relationship Type="http://schemas.openxmlformats.org/officeDocument/2006/relationships/notesSlide" Target="/ppt/notesSlides/notesSlide35.xml" Id="Rc41410e6b15a4dc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80f9d711e2640f9" /><Relationship Type="http://schemas.openxmlformats.org/officeDocument/2006/relationships/notesSlide" Target="/ppt/notesSlides/notesSlide36.xml" Id="R1247b42542394cd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ea7b2fe052647e0" /><Relationship Type="http://schemas.openxmlformats.org/officeDocument/2006/relationships/notesSlide" Target="/ppt/notesSlides/notesSlide37.xml" Id="R6ceedbe96d7f4dd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8074f7348974c6e" /><Relationship Type="http://schemas.openxmlformats.org/officeDocument/2006/relationships/notesSlide" Target="/ppt/notesSlides/notesSlide38.xml" Id="R7e624023c7b3457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4522ca160014404" /><Relationship Type="http://schemas.openxmlformats.org/officeDocument/2006/relationships/notesSlide" Target="/ppt/notesSlides/notesSlide39.xml" Id="Rbc1a3e031e4b465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3279d6270ed410f" /><Relationship Type="http://schemas.openxmlformats.org/officeDocument/2006/relationships/notesSlide" Target="/ppt/notesSlides/notesSlide40.xml" Id="R021a811083d6486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aa56d5ce65f4cfa" /><Relationship Type="http://schemas.openxmlformats.org/officeDocument/2006/relationships/notesSlide" Target="/ppt/notesSlides/notesSlide41.xml" Id="R01e7b40ad917447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ef0380695824f20" /><Relationship Type="http://schemas.openxmlformats.org/officeDocument/2006/relationships/notesSlide" Target="/ppt/notesSlides/notesSlide42.xml" Id="R697f95dee4e5406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acb63b2280142a8" /><Relationship Type="http://schemas.openxmlformats.org/officeDocument/2006/relationships/notesSlide" Target="/ppt/notesSlides/notesSlide43.xml" Id="R1b0007fb32da43e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1ee59acc014402f" /><Relationship Type="http://schemas.openxmlformats.org/officeDocument/2006/relationships/notesSlide" Target="/ppt/notesSlides/notesSlide44.xml" Id="R57abf21b229e446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402cebe070494552" /><Relationship Type="http://schemas.openxmlformats.org/officeDocument/2006/relationships/notesSlide" Target="/ppt/notesSlides/notesSlide45.xml" Id="Rf6385216daf046c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f76937ecddb4907" /><Relationship Type="http://schemas.openxmlformats.org/officeDocument/2006/relationships/notesSlide" Target="/ppt/notesSlides/notesSlide46.xml" Id="R1c9f841455234fd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3ed033e89d04317" /><Relationship Type="http://schemas.openxmlformats.org/officeDocument/2006/relationships/notesSlide" Target="/ppt/notesSlides/notesSlide47.xml" Id="Rba781fee03854c6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258a868b1304ffb" /><Relationship Type="http://schemas.openxmlformats.org/officeDocument/2006/relationships/notesSlide" Target="/ppt/notesSlides/notesSlide48.xml" Id="Rec26486f2abb4d7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999f70a57f04070" /><Relationship Type="http://schemas.openxmlformats.org/officeDocument/2006/relationships/notesSlide" Target="/ppt/notesSlides/notesSlide49.xml" Id="R4f01049dba2a494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d05f9aa64604956" /><Relationship Type="http://schemas.openxmlformats.org/officeDocument/2006/relationships/notesSlide" Target="/ppt/notesSlides/notesSlide50.xml" Id="R73a8ff06c4e244b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b02087318f644601" /><Relationship Type="http://schemas.openxmlformats.org/officeDocument/2006/relationships/notesSlide" Target="/ppt/notesSlides/notesSlide51.xml" Id="Rc911191ae1b4483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f792eeab5bb47eb" /><Relationship Type="http://schemas.openxmlformats.org/officeDocument/2006/relationships/notesSlide" Target="/ppt/notesSlides/notesSlide52.xml" Id="R28e9a8b9e8e548f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e740e776a31449d" /><Relationship Type="http://schemas.openxmlformats.org/officeDocument/2006/relationships/notesSlide" Target="/ppt/notesSlides/notesSlide53.xml" Id="Rfc5bc95794c1491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09ac0fb2cb74b8d" /><Relationship Type="http://schemas.openxmlformats.org/officeDocument/2006/relationships/notesSlide" Target="/ppt/notesSlides/notesSlide54.xml" Id="R6eab2f9e459b458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ebc6fabb84c94523" /><Relationship Type="http://schemas.openxmlformats.org/officeDocument/2006/relationships/notesSlide" Target="/ppt/notesSlides/notesSlide55.xml" Id="R095e5b5608d8418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8278a91e73b4d1e" /><Relationship Type="http://schemas.openxmlformats.org/officeDocument/2006/relationships/notesSlide" Target="/ppt/notesSlides/notesSlide56.xml" Id="Ra99fce56df8249c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2971667f2b24831" /><Relationship Type="http://schemas.openxmlformats.org/officeDocument/2006/relationships/notesSlide" Target="/ppt/notesSlides/notesSlide57.xml" Id="R67e6cc51b6e14bf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828a0d1e3f14edf" /><Relationship Type="http://schemas.openxmlformats.org/officeDocument/2006/relationships/notesSlide" Target="/ppt/notesSlides/notesSlide58.xml" Id="R4c1fc617b63146b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f94faa4921049d2" /><Relationship Type="http://schemas.openxmlformats.org/officeDocument/2006/relationships/notesSlide" Target="/ppt/notesSlides/notesSlide59.xml" Id="Rfbaa104215aa483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1189cd9787742e8" /><Relationship Type="http://schemas.openxmlformats.org/officeDocument/2006/relationships/notesSlide" Target="/ppt/notesSlides/notesSlide60.xml" Id="Rdc43ef1aa64b48c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7df3d037149426c" /><Relationship Type="http://schemas.openxmlformats.org/officeDocument/2006/relationships/notesSlide" Target="/ppt/notesSlides/notesSlide61.xml" Id="Rd83ed9238f304a58" /></Relationships>
</file>

<file path=ppt/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9"/>
              <c:pt idx="0">
                <c:v>0.1</c:v>
              </c:pt>
              <c:pt idx="1">
                <c:v>0.2</c:v>
              </c:pt>
              <c:pt idx="2">
                <c:v>0.3</c:v>
              </c:pt>
              <c:pt idx="3">
                <c:v>0.4</c:v>
              </c:pt>
              <c:pt idx="4">
                <c:v>0.5</c:v>
              </c:pt>
              <c:pt idx="5">
                <c:v>0.6</c:v>
              </c:pt>
              <c:pt idx="6">
                <c:v>0.7</c:v>
              </c:pt>
              <c:pt idx="7">
                <c:v>0.8</c:v>
              </c:pt>
              <c:pt idx="8">
                <c:v>0.9</c:v>
              </c:pt>
            </c:numLit>
          </c:xVal>
          <c:yVal>
            <c:numLit>
              <c:formatCode>0.0</c:formatCode>
              <c:ptCount val="9"/>
              <c:pt idx="0">
                <c:v>0.15</c:v>
              </c:pt>
              <c:pt idx="1">
                <c:v>0.23</c:v>
              </c:pt>
              <c:pt idx="2">
                <c:v>0.2</c:v>
              </c:pt>
              <c:pt idx="3">
                <c:v>0.48</c:v>
              </c:pt>
              <c:pt idx="4">
                <c:v>0.42</c:v>
              </c:pt>
              <c:pt idx="5">
                <c:v>0.7</c:v>
              </c:pt>
              <c:pt idx="6">
                <c:v>0.62</c:v>
              </c:pt>
              <c:pt idx="7">
                <c:v>0.84</c:v>
              </c:pt>
              <c:pt idx="8">
                <c:v>0.91</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lineMarker"/>
        <c:ser>
          <c:idx val="0"/>
          <c:order val="0"/>
          <c:tx>
            <c:v>範囲の外</c:v>
          </c:tx>
          <c:spPr>
            <a:solidFill xmlns:a="http://schemas.openxmlformats.org/drawingml/2006/main">
              <a:srgbClr val="AAAAAA"/>
            </a:solidFill>
            <a:ln xmlns:a="http://schemas.openxmlformats.org/drawingml/2006/main" w="0">
              <a:noFill/>
            </a:ln>
          </c:spPr>
          <c:marker>
            <c:symbol val="circle"/>
            <c:size val="5"/>
            <c:spPr>
              <a:noFill xmlns:a="http://schemas.openxmlformats.org/drawingml/2006/main"/>
            </c:spPr>
          </c:marker>
          <c:xVal>
            <c:numLit>
              <c:formatCode>General</c:formatCode>
              <c:ptCount val="6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pt idx="40">
                <c:v>0.85</c:v>
              </c:pt>
              <c:pt idx="41">
                <c:v>0.85</c:v>
              </c:pt>
              <c:pt idx="42">
                <c:v>0.85</c:v>
              </c:pt>
              <c:pt idx="43">
                <c:v>0.85</c:v>
              </c:pt>
              <c:pt idx="44">
                <c:v>0.85</c:v>
              </c:pt>
              <c:pt idx="45">
                <c:v>0.85</c:v>
              </c:pt>
              <c:pt idx="46">
                <c:v>0.85</c:v>
              </c:pt>
              <c:pt idx="47">
                <c:v>0.85</c:v>
              </c:pt>
              <c:pt idx="48">
                <c:v>0.85</c:v>
              </c:pt>
              <c:pt idx="49">
                <c:v>0.85</c:v>
              </c:pt>
              <c:pt idx="50">
                <c:v>0.95</c:v>
              </c:pt>
              <c:pt idx="51">
                <c:v>0.95</c:v>
              </c:pt>
              <c:pt idx="52">
                <c:v>0.95</c:v>
              </c:pt>
              <c:pt idx="53">
                <c:v>0.95</c:v>
              </c:pt>
              <c:pt idx="54">
                <c:v>0.95</c:v>
              </c:pt>
              <c:pt idx="55">
                <c:v>0.95</c:v>
              </c:pt>
              <c:pt idx="56">
                <c:v>0.95</c:v>
              </c:pt>
              <c:pt idx="57">
                <c:v>0.95</c:v>
              </c:pt>
              <c:pt idx="58">
                <c:v>0.95</c:v>
              </c:pt>
              <c:pt idx="59">
                <c:v>0.95</c:v>
              </c:pt>
            </c:numLit>
          </c:xVal>
          <c:yVal>
            <c:numLit>
              <c:formatCode>0.0</c:formatCode>
              <c:ptCount val="60"/>
              <c:pt idx="0">
                <c:v>0.55</c:v>
              </c:pt>
              <c:pt idx="1">
                <c:v>0.65</c:v>
              </c:pt>
              <c:pt idx="2">
                <c:v>0.75</c:v>
              </c:pt>
              <c:pt idx="3">
                <c:v>0.85</c:v>
              </c:pt>
              <c:pt idx="4">
                <c:v>0.95</c:v>
              </c:pt>
              <c:pt idx="5">
                <c:v>0.55</c:v>
              </c:pt>
              <c:pt idx="6">
                <c:v>0.65</c:v>
              </c:pt>
              <c:pt idx="7">
                <c:v>0.75</c:v>
              </c:pt>
              <c:pt idx="8">
                <c:v>0.85</c:v>
              </c:pt>
              <c:pt idx="9">
                <c:v>0.95</c:v>
              </c:pt>
              <c:pt idx="10">
                <c:v>0.55</c:v>
              </c:pt>
              <c:pt idx="11">
                <c:v>0.65</c:v>
              </c:pt>
              <c:pt idx="12">
                <c:v>0.75</c:v>
              </c:pt>
              <c:pt idx="13">
                <c:v>0.85</c:v>
              </c:pt>
              <c:pt idx="14">
                <c:v>0.95</c:v>
              </c:pt>
              <c:pt idx="15">
                <c:v>0.55</c:v>
              </c:pt>
              <c:pt idx="16">
                <c:v>0.65</c:v>
              </c:pt>
              <c:pt idx="17">
                <c:v>0.75</c:v>
              </c:pt>
              <c:pt idx="18">
                <c:v>0.85</c:v>
              </c:pt>
              <c:pt idx="19">
                <c:v>0.95</c:v>
              </c:pt>
              <c:pt idx="20">
                <c:v>0.55</c:v>
              </c:pt>
              <c:pt idx="21">
                <c:v>0.65</c:v>
              </c:pt>
              <c:pt idx="22">
                <c:v>0.75</c:v>
              </c:pt>
              <c:pt idx="23">
                <c:v>0.85</c:v>
              </c:pt>
              <c:pt idx="24">
                <c:v>0.95</c:v>
              </c:pt>
              <c:pt idx="25">
                <c:v>0.55</c:v>
              </c:pt>
              <c:pt idx="26">
                <c:v>0.65</c:v>
              </c:pt>
              <c:pt idx="27">
                <c:v>0.75</c:v>
              </c:pt>
              <c:pt idx="28">
                <c:v>0.85</c:v>
              </c:pt>
              <c:pt idx="29">
                <c:v>0.95</c:v>
              </c:pt>
              <c:pt idx="30">
                <c:v>0.55</c:v>
              </c:pt>
              <c:pt idx="31">
                <c:v>0.65</c:v>
              </c:pt>
              <c:pt idx="32">
                <c:v>0.75</c:v>
              </c:pt>
              <c:pt idx="33">
                <c:v>0.85</c:v>
              </c:pt>
              <c:pt idx="34">
                <c:v>0.95</c:v>
              </c:pt>
              <c:pt idx="35">
                <c:v>0.55</c:v>
              </c:pt>
              <c:pt idx="36">
                <c:v>0.65</c:v>
              </c:pt>
              <c:pt idx="37">
                <c:v>0.75</c:v>
              </c:pt>
              <c:pt idx="38">
                <c:v>0.85</c:v>
              </c:pt>
              <c:pt idx="39">
                <c:v>0.95</c:v>
              </c:pt>
              <c:pt idx="40">
                <c:v>0.05</c:v>
              </c:pt>
              <c:pt idx="41">
                <c:v>0.15</c:v>
              </c:pt>
              <c:pt idx="42">
                <c:v>0.25</c:v>
              </c:pt>
              <c:pt idx="43">
                <c:v>0.35</c:v>
              </c:pt>
              <c:pt idx="44">
                <c:v>0.45</c:v>
              </c:pt>
              <c:pt idx="45">
                <c:v>0.55</c:v>
              </c:pt>
              <c:pt idx="46">
                <c:v>0.65</c:v>
              </c:pt>
              <c:pt idx="47">
                <c:v>0.75</c:v>
              </c:pt>
              <c:pt idx="48">
                <c:v>0.85</c:v>
              </c:pt>
              <c:pt idx="49">
                <c:v>0.95</c:v>
              </c:pt>
              <c:pt idx="50">
                <c:v>0.05</c:v>
              </c:pt>
              <c:pt idx="51">
                <c:v>0.15</c:v>
              </c:pt>
              <c:pt idx="52">
                <c:v>0.25</c:v>
              </c:pt>
              <c:pt idx="53">
                <c:v>0.35</c:v>
              </c:pt>
              <c:pt idx="54">
                <c:v>0.45</c:v>
              </c:pt>
              <c:pt idx="55">
                <c:v>0.55</c:v>
              </c:pt>
              <c:pt idx="56">
                <c:v>0.65</c:v>
              </c:pt>
              <c:pt idx="57">
                <c:v>0.75</c:v>
              </c:pt>
              <c:pt idx="58">
                <c:v>0.85</c:v>
              </c:pt>
              <c:pt idx="59">
                <c:v>0.95</c:v>
              </c:pt>
            </c:numLit>
          </c:yVal>
        </c:ser>
        <c:ser>
          <c:idx val="1"/>
          <c:order val="1"/>
          <c:tx>
            <c:v>両条件を満たす</c:v>
          </c:tx>
          <c:spPr>
            <a:solidFill xmlns:a="http://schemas.openxmlformats.org/drawingml/2006/main">
              <a:srgbClr val="2E7D5B"/>
            </a:solidFill>
            <a:ln xmlns:a="http://schemas.openxmlformats.org/drawingml/2006/main" w="0">
              <a:noFill/>
            </a:ln>
          </c:spPr>
          <c:marker>
            <c:symbol val="circle"/>
            <c:size val="6"/>
            <c:spPr>
              <a:noFill xmlns:a="http://schemas.openxmlformats.org/drawingml/2006/main"/>
            </c:spPr>
          </c:marker>
          <c:xVal>
            <c:numLit>
              <c:formatCode>General</c:formatCode>
              <c:ptCount val="4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numLit>
          </c:xVal>
          <c:yVal>
            <c:numLit>
              <c:formatCode>0.0</c:formatCode>
              <c:ptCount val="40"/>
              <c:pt idx="0">
                <c:v>0.05</c:v>
              </c:pt>
              <c:pt idx="1">
                <c:v>0.15</c:v>
              </c:pt>
              <c:pt idx="2">
                <c:v>0.25</c:v>
              </c:pt>
              <c:pt idx="3">
                <c:v>0.35</c:v>
              </c:pt>
              <c:pt idx="4">
                <c:v>0.45</c:v>
              </c:pt>
              <c:pt idx="5">
                <c:v>0.05</c:v>
              </c:pt>
              <c:pt idx="6">
                <c:v>0.15</c:v>
              </c:pt>
              <c:pt idx="7">
                <c:v>0.25</c:v>
              </c:pt>
              <c:pt idx="8">
                <c:v>0.35</c:v>
              </c:pt>
              <c:pt idx="9">
                <c:v>0.45</c:v>
              </c:pt>
              <c:pt idx="10">
                <c:v>0.05</c:v>
              </c:pt>
              <c:pt idx="11">
                <c:v>0.15</c:v>
              </c:pt>
              <c:pt idx="12">
                <c:v>0.25</c:v>
              </c:pt>
              <c:pt idx="13">
                <c:v>0.35</c:v>
              </c:pt>
              <c:pt idx="14">
                <c:v>0.45</c:v>
              </c:pt>
              <c:pt idx="15">
                <c:v>0.05</c:v>
              </c:pt>
              <c:pt idx="16">
                <c:v>0.15</c:v>
              </c:pt>
              <c:pt idx="17">
                <c:v>0.25</c:v>
              </c:pt>
              <c:pt idx="18">
                <c:v>0.35</c:v>
              </c:pt>
              <c:pt idx="19">
                <c:v>0.45</c:v>
              </c:pt>
              <c:pt idx="20">
                <c:v>0.05</c:v>
              </c:pt>
              <c:pt idx="21">
                <c:v>0.15</c:v>
              </c:pt>
              <c:pt idx="22">
                <c:v>0.25</c:v>
              </c:pt>
              <c:pt idx="23">
                <c:v>0.35</c:v>
              </c:pt>
              <c:pt idx="24">
                <c:v>0.45</c:v>
              </c:pt>
              <c:pt idx="25">
                <c:v>0.05</c:v>
              </c:pt>
              <c:pt idx="26">
                <c:v>0.15</c:v>
              </c:pt>
              <c:pt idx="27">
                <c:v>0.25</c:v>
              </c:pt>
              <c:pt idx="28">
                <c:v>0.35</c:v>
              </c:pt>
              <c:pt idx="29">
                <c:v>0.45</c:v>
              </c:pt>
              <c:pt idx="30">
                <c:v>0.05</c:v>
              </c:pt>
              <c:pt idx="31">
                <c:v>0.15</c:v>
              </c:pt>
              <c:pt idx="32">
                <c:v>0.25</c:v>
              </c:pt>
              <c:pt idx="33">
                <c:v>0.35</c:v>
              </c:pt>
              <c:pt idx="34">
                <c:v>0.45</c:v>
              </c:pt>
              <c:pt idx="35">
                <c:v>0.05</c:v>
              </c:pt>
              <c:pt idx="36">
                <c:v>0.15</c:v>
              </c:pt>
              <c:pt idx="37">
                <c:v>0.25</c:v>
              </c:pt>
              <c:pt idx="38">
                <c:v>0.35</c:v>
              </c:pt>
              <c:pt idx="39">
                <c:v>0.45</c:v>
              </c:pt>
            </c:numLit>
          </c:yVal>
        </c:ser>
        <c:ser>
          <c:idx val="2"/>
          <c:order val="2"/>
          <c:tx>
            <c:v>境界</c:v>
          </c:tx>
          <c:spPr>
            <a:solidFill xmlns:a="http://schemas.openxmlformats.org/drawingml/2006/main">
              <a:srgbClr val="2E7D5B"/>
            </a:solidFill>
            <a:ln xmlns:a="http://schemas.openxmlformats.org/drawingml/2006/main" w="19050">
              <a:solidFill>
                <a:srgbClr val="2E7D5B"/>
              </a:solidFill>
            </a:ln>
          </c:spPr>
          <c:marker>
            <c:symbol val="none"/>
          </c:marker>
          <c:xVal>
            <c:numLit>
              <c:formatCode>General</c:formatCode>
              <c:ptCount val="5"/>
              <c:pt idx="0">
                <c:v>0</c:v>
              </c:pt>
              <c:pt idx="1">
                <c:v>0.8</c:v>
              </c:pt>
              <c:pt idx="2">
                <c:v>0.8</c:v>
              </c:pt>
              <c:pt idx="3">
                <c:v>0</c:v>
              </c:pt>
              <c:pt idx="4">
                <c:v>0</c:v>
              </c:pt>
            </c:numLit>
          </c:xVal>
          <c:yVal>
            <c:numLit>
              <c:formatCode>0.0</c:formatCode>
              <c:ptCount val="5"/>
              <c:pt idx="0">
                <c:v>0</c:v>
              </c:pt>
              <c:pt idx="1">
                <c:v>0</c:v>
              </c:pt>
              <c:pt idx="2">
                <c:v>0.5</c:v>
              </c:pt>
              <c:pt idx="3">
                <c:v>0.5</c:v>
              </c:pt>
              <c:pt idx="4">
                <c:v>0</c:v>
              </c:pt>
            </c:numLit>
          </c:yVal>
        </c:ser>
        <c:axId val="48650112"/>
        <c:axId val="48672768"/>
      </c:scatterChart>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-0.210561</c:v>
              </c:pt>
              <c:pt idx="1">
                <c:v>-1.713056</c:v>
              </c:pt>
              <c:pt idx="2">
                <c:v>-0.624863</c:v>
              </c:pt>
              <c:pt idx="3">
                <c:v>0.700037</c:v>
              </c:pt>
              <c:pt idx="4">
                <c:v>-1.269596</c:v>
              </c:pt>
              <c:pt idx="5">
                <c:v>-0.01204</c:v>
              </c:pt>
              <c:pt idx="6">
                <c:v>0.133132</c:v>
              </c:pt>
              <c:pt idx="7">
                <c:v>0.437726</c:v>
              </c:pt>
              <c:pt idx="8">
                <c:v>2.036789</c:v>
              </c:pt>
              <c:pt idx="9">
                <c:v>-1.370433</c:v>
              </c:pt>
              <c:pt idx="10">
                <c:v>0.065495</c:v>
              </c:pt>
              <c:pt idx="11">
                <c:v>-0.862793</c:v>
              </c:pt>
              <c:pt idx="12">
                <c:v>1.453965</c:v>
              </c:pt>
              <c:pt idx="13">
                <c:v>1.306129</c:v>
              </c:pt>
              <c:pt idx="14">
                <c:v>-0.123963</c:v>
              </c:pt>
              <c:pt idx="15">
                <c:v>0.455768</c:v>
              </c:pt>
              <c:pt idx="16">
                <c:v>-1.035617</c:v>
              </c:pt>
              <c:pt idx="17">
                <c:v>-1.663404</c:v>
              </c:pt>
              <c:pt idx="18">
                <c:v>-2.516123</c:v>
              </c:pt>
              <c:pt idx="19">
                <c:v>0.694111</c:v>
              </c:pt>
              <c:pt idx="20">
                <c:v>-0.654308</c:v>
              </c:pt>
              <c:pt idx="21">
                <c:v>-0.218106</c:v>
              </c:pt>
              <c:pt idx="22">
                <c:v>-0.531666</c:v>
              </c:pt>
              <c:pt idx="23">
                <c:v>0.032668</c:v>
              </c:pt>
              <c:pt idx="24">
                <c:v>-0.025947</c:v>
              </c:pt>
              <c:pt idx="25">
                <c:v>-0.241011</c:v>
              </c:pt>
              <c:pt idx="26">
                <c:v>-1.10778</c:v>
              </c:pt>
              <c:pt idx="27">
                <c:v>0.288077</c:v>
              </c:pt>
              <c:pt idx="28">
                <c:v>-0.83871</c:v>
              </c:pt>
              <c:pt idx="29">
                <c:v>-0.29658</c:v>
              </c:pt>
              <c:pt idx="30">
                <c:v>-1.458526</c:v>
              </c:pt>
              <c:pt idx="31">
                <c:v>0.146215</c:v>
              </c:pt>
              <c:pt idx="32">
                <c:v>1.253883</c:v>
              </c:pt>
              <c:pt idx="33">
                <c:v>0.922958</c:v>
              </c:pt>
              <c:pt idx="34">
                <c:v>0.472563</c:v>
              </c:pt>
              <c:pt idx="35">
                <c:v>0.443993</c:v>
              </c:pt>
              <c:pt idx="36">
                <c:v>1.836666</c:v>
              </c:pt>
              <c:pt idx="37">
                <c:v>1.998814</c:v>
              </c:pt>
              <c:pt idx="38">
                <c:v>0.303016</c:v>
              </c:pt>
              <c:pt idx="39">
                <c:v>0.288125</c:v>
              </c:pt>
              <c:pt idx="40">
                <c:v>1.093635</c:v>
              </c:pt>
              <c:pt idx="41">
                <c:v>-0.619421</c:v>
              </c:pt>
              <c:pt idx="42">
                <c:v>-0.775727</c:v>
              </c:pt>
              <c:pt idx="43">
                <c:v>0.636762</c:v>
              </c:pt>
              <c:pt idx="44">
                <c:v>1.984869</c:v>
              </c:pt>
              <c:pt idx="45">
                <c:v>-0.50276</c:v>
              </c:pt>
              <c:pt idx="46">
                <c:v>0.473785</c:v>
              </c:pt>
              <c:pt idx="47">
                <c:v>-0.181957</c:v>
              </c:pt>
              <c:pt idx="48">
                <c:v>0.117176</c:v>
              </c:pt>
              <c:pt idx="49">
                <c:v>-0.104379</c:v>
              </c:pt>
              <c:pt idx="50">
                <c:v>-0.28131</c:v>
              </c:pt>
              <c:pt idx="51">
                <c:v>-1.22926</c:v>
              </c:pt>
              <c:pt idx="52">
                <c:v>0.787163</c:v>
              </c:pt>
              <c:pt idx="53">
                <c:v>-0.505629</c:v>
              </c:pt>
              <c:pt idx="54">
                <c:v>-1.456005</c:v>
              </c:pt>
              <c:pt idx="55">
                <c:v>0.038035</c:v>
              </c:pt>
              <c:pt idx="56">
                <c:v>-0.165187</c:v>
              </c:pt>
              <c:pt idx="57">
                <c:v>0.787543</c:v>
              </c:pt>
              <c:pt idx="58">
                <c:v>0.237884</c:v>
              </c:pt>
              <c:pt idx="59">
                <c:v>0.389573</c:v>
              </c:pt>
              <c:pt idx="60">
                <c:v>-0.416826</c:v>
              </c:pt>
              <c:pt idx="61">
                <c:v>0.19116</c:v>
              </c:pt>
              <c:pt idx="62">
                <c:v>-0.817319</c:v>
              </c:pt>
              <c:pt idx="63">
                <c:v>-1.305464</c:v>
              </c:pt>
              <c:pt idx="64">
                <c:v>1.361396</c:v>
              </c:pt>
              <c:pt idx="65">
                <c:v>0.520453</c:v>
              </c:pt>
              <c:pt idx="66">
                <c:v>-1.615519</c:v>
              </c:pt>
              <c:pt idx="67">
                <c:v>0.546359</c:v>
              </c:pt>
              <c:pt idx="68">
                <c:v>-1.656757</c:v>
              </c:pt>
              <c:pt idx="69">
                <c:v>-0.84341</c:v>
              </c:pt>
              <c:pt idx="70">
                <c:v>2.091688</c:v>
              </c:pt>
              <c:pt idx="71">
                <c:v>-0.222123</c:v>
              </c:pt>
              <c:pt idx="72">
                <c:v>0.614768</c:v>
              </c:pt>
              <c:pt idx="73">
                <c:v>0.863907</c:v>
              </c:pt>
              <c:pt idx="74">
                <c:v>-1.740884</c:v>
              </c:pt>
              <c:pt idx="75">
                <c:v>0.313218</c:v>
              </c:pt>
              <c:pt idx="76">
                <c:v>0.534711</c:v>
              </c:pt>
              <c:pt idx="77">
                <c:v>-1.480492</c:v>
              </c:pt>
              <c:pt idx="78">
                <c:v>-0.385907</c:v>
              </c:pt>
              <c:pt idx="79">
                <c:v>0.11407</c:v>
              </c:pt>
              <c:pt idx="80">
                <c:v>0.895041</c:v>
              </c:pt>
              <c:pt idx="81">
                <c:v>0.489411</c:v>
              </c:pt>
              <c:pt idx="82">
                <c:v>-0.73591</c:v>
              </c:pt>
              <c:pt idx="83">
                <c:v>0.233848</c:v>
              </c:pt>
              <c:pt idx="84">
                <c:v>0.408122</c:v>
              </c:pt>
              <c:pt idx="85">
                <c:v>-0.765441</c:v>
              </c:pt>
              <c:pt idx="86">
                <c:v>-1.570768</c:v>
              </c:pt>
              <c:pt idx="87">
                <c:v>0.357895</c:v>
              </c:pt>
              <c:pt idx="88">
                <c:v>0.909</c:v>
              </c:pt>
              <c:pt idx="89">
                <c:v>0.201396</c:v>
              </c:pt>
              <c:pt idx="90">
                <c:v>-0.070873</c:v>
              </c:pt>
              <c:pt idx="91">
                <c:v>1.546291</c:v>
              </c:pt>
              <c:pt idx="92">
                <c:v>1.296057</c:v>
              </c:pt>
              <c:pt idx="93">
                <c:v>0.615141</c:v>
              </c:pt>
              <c:pt idx="94">
                <c:v>-0.91846</c:v>
              </c:pt>
              <c:pt idx="95">
                <c:v>-0.719518</c:v>
              </c:pt>
              <c:pt idx="96">
                <c:v>-1.240074</c:v>
              </c:pt>
              <c:pt idx="97">
                <c:v>-0.694365</c:v>
              </c:pt>
              <c:pt idx="98">
                <c:v>0.476725</c:v>
              </c:pt>
              <c:pt idx="99">
                <c:v>0.348572</c:v>
              </c:pt>
              <c:pt idx="100">
                <c:v>-1.226755</c:v>
              </c:pt>
              <c:pt idx="101">
                <c:v>1.091137</c:v>
              </c:pt>
              <c:pt idx="102">
                <c:v>1.043307</c:v>
              </c:pt>
              <c:pt idx="103">
                <c:v>2.326211</c:v>
              </c:pt>
              <c:pt idx="104">
                <c:v>-0.718224</c:v>
              </c:pt>
              <c:pt idx="105">
                <c:v>0.611381</c:v>
              </c:pt>
              <c:pt idx="106">
                <c:v>2.069503</c:v>
              </c:pt>
              <c:pt idx="107">
                <c:v>0.357352</c:v>
              </c:pt>
              <c:pt idx="108">
                <c:v>1.278387</c:v>
              </c:pt>
              <c:pt idx="109">
                <c:v>0.334709</c:v>
              </c:pt>
              <c:pt idx="110">
                <c:v>-0.242152</c:v>
              </c:pt>
              <c:pt idx="111">
                <c:v>-1.047942</c:v>
              </c:pt>
              <c:pt idx="112">
                <c:v>0.074507</c:v>
              </c:pt>
              <c:pt idx="113">
                <c:v>-0.218564</c:v>
              </c:pt>
              <c:pt idx="114">
                <c:v>-1.560617</c:v>
              </c:pt>
              <c:pt idx="115">
                <c:v>-0.309118</c:v>
              </c:pt>
              <c:pt idx="116">
                <c:v>-1.057372</c:v>
              </c:pt>
              <c:pt idx="117">
                <c:v>-0.653348</c:v>
              </c:pt>
              <c:pt idx="118">
                <c:v>-0.49068</c:v>
              </c:pt>
              <c:pt idx="119">
                <c:v>0.998924</c:v>
              </c:pt>
              <c:pt idx="120">
                <c:v>1.025902</c:v>
              </c:pt>
              <c:pt idx="121">
                <c:v>0.157022</c:v>
              </c:pt>
              <c:pt idx="122">
                <c:v>-0.974692</c:v>
              </c:pt>
              <c:pt idx="123">
                <c:v>0.630976</c:v>
              </c:pt>
              <c:pt idx="124">
                <c:v>-1.414051</c:v>
              </c:pt>
              <c:pt idx="125">
                <c:v>-0.57502</c:v>
              </c:pt>
              <c:pt idx="126">
                <c:v>-0.540014</c:v>
              </c:pt>
              <c:pt idx="127">
                <c:v>0.64459</c:v>
              </c:pt>
              <c:pt idx="128">
                <c:v>-0.653106</c:v>
              </c:pt>
              <c:pt idx="129">
                <c:v>0.347963</c:v>
              </c:pt>
              <c:pt idx="130">
                <c:v>0.060361</c:v>
              </c:pt>
              <c:pt idx="131">
                <c:v>-0.342071</c:v>
              </c:pt>
              <c:pt idx="132">
                <c:v>-0.396855</c:v>
              </c:pt>
              <c:pt idx="133">
                <c:v>-0.751027</c:v>
              </c:pt>
              <c:pt idx="134">
                <c:v>0.279652</c:v>
              </c:pt>
              <c:pt idx="135">
                <c:v>0.249541</c:v>
              </c:pt>
              <c:pt idx="136">
                <c:v>1.452706</c:v>
              </c:pt>
              <c:pt idx="137">
                <c:v>0.772859</c:v>
              </c:pt>
              <c:pt idx="138">
                <c:v>0.495658</c:v>
              </c:pt>
              <c:pt idx="139">
                <c:v>0.347161</c:v>
              </c:pt>
              <c:pt idx="140">
                <c:v>0.37272</c:v>
              </c:pt>
              <c:pt idx="141">
                <c:v>2.16919</c:v>
              </c:pt>
              <c:pt idx="142">
                <c:v>1.594857</c:v>
              </c:pt>
              <c:pt idx="143">
                <c:v>1.235467</c:v>
              </c:pt>
              <c:pt idx="144">
                <c:v>0.486987</c:v>
              </c:pt>
              <c:pt idx="145">
                <c:v>-0.633328</c:v>
              </c:pt>
              <c:pt idx="146">
                <c:v>-1.143939</c:v>
              </c:pt>
              <c:pt idx="147">
                <c:v>1.387433</c:v>
              </c:pt>
              <c:pt idx="148">
                <c:v>-0.787109</c:v>
              </c:pt>
              <c:pt idx="149">
                <c:v>-0.53829</c:v>
              </c:pt>
              <c:pt idx="150">
                <c:v>0.722009</c:v>
              </c:pt>
              <c:pt idx="151">
                <c:v>-1.361264</c:v>
              </c:pt>
              <c:pt idx="152">
                <c:v>0.494698</c:v>
              </c:pt>
              <c:pt idx="153">
                <c:v>2.162272</c:v>
              </c:pt>
              <c:pt idx="154">
                <c:v>-0.287687</c:v>
              </c:pt>
              <c:pt idx="155">
                <c:v>0.795013</c:v>
              </c:pt>
              <c:pt idx="156">
                <c:v>-1.174578</c:v>
              </c:pt>
              <c:pt idx="157">
                <c:v>0.969031</c:v>
              </c:pt>
              <c:pt idx="158">
                <c:v>0.602076</c:v>
              </c:pt>
              <c:pt idx="159">
                <c:v>0.138562</c:v>
              </c:pt>
              <c:pt idx="160">
                <c:v>0.10879</c:v>
              </c:pt>
              <c:pt idx="161">
                <c:v>-0.112019</c:v>
              </c:pt>
              <c:pt idx="162">
                <c:v>-0.592551</c:v>
              </c:pt>
              <c:pt idx="163">
                <c:v>-0.317517</c:v>
              </c:pt>
              <c:pt idx="164">
                <c:v>-0.990106</c:v>
              </c:pt>
              <c:pt idx="165">
                <c:v>1.45095</c:v>
              </c:pt>
              <c:pt idx="166">
                <c:v>0.050371</c:v>
              </c:pt>
              <c:pt idx="167">
                <c:v>0.962529</c:v>
              </c:pt>
              <c:pt idx="168">
                <c:v>0.217266</c:v>
              </c:pt>
              <c:pt idx="169">
                <c:v>1.036899</c:v>
              </c:pt>
              <c:pt idx="170">
                <c:v>1.496596</c:v>
              </c:pt>
              <c:pt idx="171">
                <c:v>0.246041</c:v>
              </c:pt>
              <c:pt idx="172">
                <c:v>0.498105</c:v>
              </c:pt>
              <c:pt idx="173">
                <c:v>0.046019</c:v>
              </c:pt>
              <c:pt idx="174">
                <c:v>1.692766</c:v>
              </c:pt>
              <c:pt idx="175">
                <c:v>-0.356243</c:v>
              </c:pt>
              <c:pt idx="176">
                <c:v>0.229687</c:v>
              </c:pt>
              <c:pt idx="177">
                <c:v>0.811138</c:v>
              </c:pt>
              <c:pt idx="178">
                <c:v>0.005554</c:v>
              </c:pt>
              <c:pt idx="179">
                <c:v>0.32401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0.154852</c:v>
              </c:pt>
              <c:pt idx="1">
                <c:v>1.692766</c:v>
              </c:pt>
              <c:pt idx="2">
                <c:v>1.2041</c:v>
              </c:pt>
              <c:pt idx="3">
                <c:v>-0.165187</c:v>
              </c:pt>
              <c:pt idx="4">
                <c:v>-2.119382</c:v>
              </c:pt>
              <c:pt idx="5">
                <c:v>-1.316218</c:v>
              </c:pt>
              <c:pt idx="6">
                <c:v>1.530522</c:v>
              </c:pt>
              <c:pt idx="7">
                <c:v>0.688716</c:v>
              </c:pt>
              <c:pt idx="8">
                <c:v>1.711785</c:v>
              </c:pt>
              <c:pt idx="9">
                <c:v>-0.189384</c:v>
              </c:pt>
              <c:pt idx="10">
                <c:v>0.334709</c:v>
              </c:pt>
              <c:pt idx="11">
                <c:v>0.561395</c:v>
              </c:pt>
              <c:pt idx="12">
                <c:v>0.289951</c:v>
              </c:pt>
              <c:pt idx="13">
                <c:v>0.883718</c:v>
              </c:pt>
              <c:pt idx="14">
                <c:v>0.702595</c:v>
              </c:pt>
              <c:pt idx="15">
                <c:v>-0.022548</c:v>
              </c:pt>
              <c:pt idx="16">
                <c:v>-0.064899</c:v>
              </c:pt>
              <c:pt idx="17">
                <c:v>-0.049644</c:v>
              </c:pt>
              <c:pt idx="18">
                <c:v>0.156544</c:v>
              </c:pt>
              <c:pt idx="19">
                <c:v>-1.509061</c:v>
              </c:pt>
              <c:pt idx="20">
                <c:v>0.623168</c:v>
              </c:pt>
              <c:pt idx="21">
                <c:v>0.176928</c:v>
              </c:pt>
              <c:pt idx="22">
                <c:v>-0.411131</c:v>
              </c:pt>
              <c:pt idx="23">
                <c:v>-1.659642</c:v>
              </c:pt>
              <c:pt idx="24">
                <c:v>-0.773943</c:v>
              </c:pt>
              <c:pt idx="25">
                <c:v>-0.28131</c:v>
              </c:pt>
              <c:pt idx="26">
                <c:v>0.933047</c:v>
              </c:pt>
              <c:pt idx="27">
                <c:v>-1.044475</c:v>
              </c:pt>
              <c:pt idx="28">
                <c:v>-0.135962</c:v>
              </c:pt>
              <c:pt idx="29">
                <c:v>-0.387742</c:v>
              </c:pt>
              <c:pt idx="30">
                <c:v>-0.756091</c:v>
              </c:pt>
              <c:pt idx="31">
                <c:v>0.10879</c:v>
              </c:pt>
              <c:pt idx="32">
                <c:v>0.151379</c:v>
              </c:pt>
              <c:pt idx="33">
                <c:v>0.734898</c:v>
              </c:pt>
              <c:pt idx="34">
                <c:v>1.040196</c:v>
              </c:pt>
              <c:pt idx="35">
                <c:v>1.496904</c:v>
              </c:pt>
              <c:pt idx="36">
                <c:v>-1.869224</c:v>
              </c:pt>
              <c:pt idx="37">
                <c:v>1.211914</c:v>
              </c:pt>
              <c:pt idx="38">
                <c:v>0.479186</c:v>
              </c:pt>
              <c:pt idx="39">
                <c:v>0.419965</c:v>
              </c:pt>
              <c:pt idx="40">
                <c:v>0.313218</c:v>
              </c:pt>
              <c:pt idx="41">
                <c:v>0.486292</c:v>
              </c:pt>
              <c:pt idx="42">
                <c:v>-1.893808</c:v>
              </c:pt>
              <c:pt idx="43">
                <c:v>0.735796</c:v>
              </c:pt>
              <c:pt idx="44">
                <c:v>-0.00683</c:v>
              </c:pt>
              <c:pt idx="45">
                <c:v>-1.057372</c:v>
              </c:pt>
              <c:pt idx="46">
                <c:v>-0.802664</c:v>
              </c:pt>
              <c:pt idx="47">
                <c:v>-0.279013</c:v>
              </c:pt>
              <c:pt idx="48">
                <c:v>-0.84717</c:v>
              </c:pt>
              <c:pt idx="49">
                <c:v>-0.314709</c:v>
              </c:pt>
              <c:pt idx="50">
                <c:v>1.673556</c:v>
              </c:pt>
              <c:pt idx="51">
                <c:v>-1.72969</c:v>
              </c:pt>
              <c:pt idx="52">
                <c:v>0.370722</c:v>
              </c:pt>
              <c:pt idx="53">
                <c:v>-0.351058</c:v>
              </c:pt>
              <c:pt idx="54">
                <c:v>0.065495</c:v>
              </c:pt>
              <c:pt idx="55">
                <c:v>-0.309118</c:v>
              </c:pt>
              <c:pt idx="56">
                <c:v>0.257939</c:v>
              </c:pt>
              <c:pt idx="57">
                <c:v>0.263324</c:v>
              </c:pt>
              <c:pt idx="58">
                <c:v>0.368132</c:v>
              </c:pt>
              <c:pt idx="59">
                <c:v>-0.088227</c:v>
              </c:pt>
              <c:pt idx="60">
                <c:v>1.334336</c:v>
              </c:pt>
              <c:pt idx="61">
                <c:v>-0.380575</c:v>
              </c:pt>
              <c:pt idx="62">
                <c:v>-1.451974</c:v>
              </c:pt>
              <c:pt idx="63">
                <c:v>-0.889791</c:v>
              </c:pt>
              <c:pt idx="64">
                <c:v>-1.561402</c:v>
              </c:pt>
              <c:pt idx="65">
                <c:v>0.038035</c:v>
              </c:pt>
              <c:pt idx="66">
                <c:v>-0.024082</c:v>
              </c:pt>
              <c:pt idx="67">
                <c:v>-0.988527</c:v>
              </c:pt>
              <c:pt idx="68">
                <c:v>-1.323811</c:v>
              </c:pt>
              <c:pt idx="69">
                <c:v>1.373701</c:v>
              </c:pt>
              <c:pt idx="70">
                <c:v>0.72781</c:v>
              </c:pt>
              <c:pt idx="71">
                <c:v>-0.765441</c:v>
              </c:pt>
              <c:pt idx="72">
                <c:v>-0.540014</c:v>
              </c:pt>
              <c:pt idx="73">
                <c:v>0.610536</c:v>
              </c:pt>
              <c:pt idx="74">
                <c:v>0.032418</c:v>
              </c:pt>
              <c:pt idx="75">
                <c:v>0.297134</c:v>
              </c:pt>
              <c:pt idx="76">
                <c:v>0.791437</c:v>
              </c:pt>
              <c:pt idx="77">
                <c:v>0.096756</c:v>
              </c:pt>
              <c:pt idx="78">
                <c:v>-0.196929</c:v>
              </c:pt>
              <c:pt idx="79">
                <c:v>0.958014</c:v>
              </c:pt>
              <c:pt idx="80">
                <c:v>1.402107</c:v>
              </c:pt>
              <c:pt idx="81">
                <c:v>-1.04676</c:v>
              </c:pt>
              <c:pt idx="82">
                <c:v>0.694503</c:v>
              </c:pt>
              <c:pt idx="83">
                <c:v>0.437726</c:v>
              </c:pt>
              <c:pt idx="84">
                <c:v>0.791205</c:v>
              </c:pt>
              <c:pt idx="85">
                <c:v>-0.193767</c:v>
              </c:pt>
              <c:pt idx="86">
                <c:v>-0.953</c:v>
              </c:pt>
              <c:pt idx="87">
                <c:v>0.324699</c:v>
              </c:pt>
              <c:pt idx="88">
                <c:v>-0.254996</c:v>
              </c:pt>
              <c:pt idx="89">
                <c:v>0.543994</c:v>
              </c:pt>
              <c:pt idx="90">
                <c:v>1.396014</c:v>
              </c:pt>
              <c:pt idx="91">
                <c:v>1.307993</c:v>
              </c:pt>
              <c:pt idx="92">
                <c:v>-0.261602</c:v>
              </c:pt>
              <c:pt idx="93">
                <c:v>-0.770238</c:v>
              </c:pt>
              <c:pt idx="94">
                <c:v>0.498636</c:v>
              </c:pt>
              <c:pt idx="95">
                <c:v>-0.73591</c:v>
              </c:pt>
              <c:pt idx="96">
                <c:v>-1.211103</c:v>
              </c:pt>
              <c:pt idx="97">
                <c:v>-0.18509</c:v>
              </c:pt>
              <c:pt idx="98">
                <c:v>-0.516388</c:v>
              </c:pt>
              <c:pt idx="99">
                <c:v>0.114358</c:v>
              </c:pt>
              <c:pt idx="100">
                <c:v>1.66802</c:v>
              </c:pt>
              <c:pt idx="101">
                <c:v>1.639043</c:v>
              </c:pt>
              <c:pt idx="102">
                <c:v>-0.544429</c:v>
              </c:pt>
              <c:pt idx="103">
                <c:v>1.998814</c:v>
              </c:pt>
              <c:pt idx="104">
                <c:v>-0.865345</c:v>
              </c:pt>
              <c:pt idx="105">
                <c:v>-0.557361</c:v>
              </c:pt>
              <c:pt idx="106">
                <c:v>1.650099</c:v>
              </c:pt>
              <c:pt idx="107">
                <c:v>-1.103861</c:v>
              </c:pt>
              <c:pt idx="108">
                <c:v>1.05415</c:v>
              </c:pt>
              <c:pt idx="109">
                <c:v>-1.099749</c:v>
              </c:pt>
              <c:pt idx="110">
                <c:v>-2.264521</c:v>
              </c:pt>
              <c:pt idx="111">
                <c:v>-0.076407</c:v>
              </c:pt>
              <c:pt idx="112">
                <c:v>0.626669</c:v>
              </c:pt>
              <c:pt idx="113">
                <c:v>-0.667684</c:v>
              </c:pt>
              <c:pt idx="114">
                <c:v>-1.084337</c:v>
              </c:pt>
              <c:pt idx="115">
                <c:v>-1.019429</c:v>
              </c:pt>
              <c:pt idx="116">
                <c:v>-1.021514</c:v>
              </c:pt>
              <c:pt idx="117">
                <c:v>-1.547305</c:v>
              </c:pt>
              <c:pt idx="118">
                <c:v>0.936357</c:v>
              </c:pt>
              <c:pt idx="119">
                <c:v>-0.703806</c:v>
              </c:pt>
              <c:pt idx="120">
                <c:v>1.008951</c:v>
              </c:pt>
              <c:pt idx="121">
                <c:v>-0.345443</c:v>
              </c:pt>
              <c:pt idx="122">
                <c:v>-3.168357</c:v>
              </c:pt>
              <c:pt idx="123">
                <c:v>-0.980025</c:v>
              </c:pt>
              <c:pt idx="124">
                <c:v>1.284285</c:v>
              </c:pt>
              <c:pt idx="125">
                <c:v>-1.501302</c:v>
              </c:pt>
              <c:pt idx="126">
                <c:v>-1.789826</c:v>
              </c:pt>
              <c:pt idx="127">
                <c:v>-0.970874</c:v>
              </c:pt>
              <c:pt idx="128">
                <c:v>-1.373157</c:v>
              </c:pt>
              <c:pt idx="129">
                <c:v>-1.322447</c:v>
              </c:pt>
              <c:pt idx="130">
                <c:v>-1.19829</c:v>
              </c:pt>
              <c:pt idx="131">
                <c:v>0.727169</c:v>
              </c:pt>
              <c:pt idx="132">
                <c:v>-0.990349</c:v>
              </c:pt>
              <c:pt idx="133">
                <c:v>-0.429247</c:v>
              </c:pt>
              <c:pt idx="134">
                <c:v>0.088093</c:v>
              </c:pt>
              <c:pt idx="135">
                <c:v>0.23827</c:v>
              </c:pt>
              <c:pt idx="136">
                <c:v>-1.352049</c:v>
              </c:pt>
              <c:pt idx="137">
                <c:v>0.270667</c:v>
              </c:pt>
              <c:pt idx="138">
                <c:v>0.631655</c:v>
              </c:pt>
              <c:pt idx="139">
                <c:v>-0.984964</c:v>
              </c:pt>
              <c:pt idx="140">
                <c:v>-0.465059</c:v>
              </c:pt>
              <c:pt idx="141">
                <c:v>0.023637</c:v>
              </c:pt>
              <c:pt idx="142">
                <c:v>-0.30961</c:v>
              </c:pt>
              <c:pt idx="143">
                <c:v>0.103067</c:v>
              </c:pt>
              <c:pt idx="144">
                <c:v>0.489526</c:v>
              </c:pt>
              <c:pt idx="145">
                <c:v>-0.486709</c:v>
              </c:pt>
              <c:pt idx="146">
                <c:v>-0.390631</c:v>
              </c:pt>
              <c:pt idx="147">
                <c:v>-1.713056</c:v>
              </c:pt>
              <c:pt idx="148">
                <c:v>-0.932573</c:v>
              </c:pt>
              <c:pt idx="149">
                <c:v>1.047418</c:v>
              </c:pt>
              <c:pt idx="150">
                <c:v>-0.831799</c:v>
              </c:pt>
              <c:pt idx="151">
                <c:v>0.729138</c:v>
              </c:pt>
              <c:pt idx="152">
                <c:v>-1.188245</c:v>
              </c:pt>
              <c:pt idx="153">
                <c:v>0.573166</c:v>
              </c:pt>
              <c:pt idx="154">
                <c:v>-0.176346</c:v>
              </c:pt>
              <c:pt idx="155">
                <c:v>-0.838939</c:v>
              </c:pt>
              <c:pt idx="156">
                <c:v>-0.397515</c:v>
              </c:pt>
              <c:pt idx="157">
                <c:v>-1.343576</c:v>
              </c:pt>
              <c:pt idx="158">
                <c:v>1.429867</c:v>
              </c:pt>
              <c:pt idx="159">
                <c:v>-0.870907</c:v>
              </c:pt>
              <c:pt idx="160">
                <c:v>-1.539698</c:v>
              </c:pt>
              <c:pt idx="161">
                <c:v>-0.570847</c:v>
              </c:pt>
              <c:pt idx="162">
                <c:v>1.602503</c:v>
              </c:pt>
              <c:pt idx="163">
                <c:v>-0.776695</c:v>
              </c:pt>
              <c:pt idx="164">
                <c:v>0.166045</c:v>
              </c:pt>
              <c:pt idx="165">
                <c:v>-1.581756</c:v>
              </c:pt>
              <c:pt idx="166">
                <c:v>-0.804408</c:v>
              </c:pt>
              <c:pt idx="167">
                <c:v>-0.486435</c:v>
              </c:pt>
              <c:pt idx="168">
                <c:v>0.546359</c:v>
              </c:pt>
              <c:pt idx="169">
                <c:v>0.071947</c:v>
              </c:pt>
              <c:pt idx="170">
                <c:v>0.05505</c:v>
              </c:pt>
              <c:pt idx="171">
                <c:v>-0.152179</c:v>
              </c:pt>
              <c:pt idx="172">
                <c:v>-0.175767</c:v>
              </c:pt>
              <c:pt idx="173">
                <c:v>0.03749</c:v>
              </c:pt>
              <c:pt idx="174">
                <c:v>-1.230582</c:v>
              </c:pt>
              <c:pt idx="175">
                <c:v>0.011619</c:v>
              </c:pt>
              <c:pt idx="176">
                <c:v>0.401376</c:v>
              </c:pt>
              <c:pt idx="177">
                <c:v>1.984869</c:v>
              </c:pt>
              <c:pt idx="178">
                <c:v>-2.037904</c:v>
              </c:pt>
              <c:pt idx="179">
                <c:v>1.311426</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-1.207679</c:v>
              </c:pt>
              <c:pt idx="1">
                <c:v>0.064766</c:v>
              </c:pt>
              <c:pt idx="2">
                <c:v>-1.570259</c:v>
              </c:pt>
              <c:pt idx="3">
                <c:v>1.384693</c:v>
              </c:pt>
              <c:pt idx="4">
                <c:v>0.135435</c:v>
              </c:pt>
              <c:pt idx="5">
                <c:v>0.396892</c:v>
              </c:pt>
              <c:pt idx="6">
                <c:v>-0.730289</c:v>
              </c:pt>
              <c:pt idx="7">
                <c:v>-0.825686</c:v>
              </c:pt>
              <c:pt idx="8">
                <c:v>1.674796</c:v>
              </c:pt>
              <c:pt idx="9">
                <c:v>-1.352148</c:v>
              </c:pt>
              <c:pt idx="10">
                <c:v>0.42007</c:v>
              </c:pt>
              <c:pt idx="11">
                <c:v>-0.184197</c:v>
              </c:pt>
              <c:pt idx="12">
                <c:v>0.28811</c:v>
              </c:pt>
              <c:pt idx="13">
                <c:v>1.246442</c:v>
              </c:pt>
              <c:pt idx="14">
                <c:v>-0.09393</c:v>
              </c:pt>
              <c:pt idx="15">
                <c:v>1.246966</c:v>
              </c:pt>
              <c:pt idx="16">
                <c:v>0.795496</c:v>
              </c:pt>
              <c:pt idx="17">
                <c:v>-1.356663</c:v>
              </c:pt>
              <c:pt idx="18">
                <c:v>-0.769399</c:v>
              </c:pt>
              <c:pt idx="19">
                <c:v>0.947518</c:v>
              </c:pt>
              <c:pt idx="20">
                <c:v>-0.892739</c:v>
              </c:pt>
              <c:pt idx="21">
                <c:v>0.225308</c:v>
              </c:pt>
              <c:pt idx="22">
                <c:v>-1.247125</c:v>
              </c:pt>
              <c:pt idx="23">
                <c:v>1.434449</c:v>
              </c:pt>
              <c:pt idx="24">
                <c:v>0.054992</c:v>
              </c:pt>
              <c:pt idx="25">
                <c:v>0.813956</c:v>
              </c:pt>
              <c:pt idx="26">
                <c:v>-0.488947</c:v>
              </c:pt>
              <c:pt idx="27">
                <c:v>0.348582</c:v>
              </c:pt>
              <c:pt idx="28">
                <c:v>-1.215141</c:v>
              </c:pt>
              <c:pt idx="29">
                <c:v>-0.499056</c:v>
              </c:pt>
              <c:pt idx="30">
                <c:v>-0.974715</c:v>
              </c:pt>
              <c:pt idx="31">
                <c:v>0.302907</c:v>
              </c:pt>
              <c:pt idx="32">
                <c:v>1.292589</c:v>
              </c:pt>
              <c:pt idx="33">
                <c:v>-0.220465</c:v>
              </c:pt>
              <c:pt idx="34">
                <c:v>1.463912</c:v>
              </c:pt>
              <c:pt idx="35">
                <c:v>1.979694</c:v>
              </c:pt>
              <c:pt idx="36">
                <c:v>2.466763</c:v>
              </c:pt>
              <c:pt idx="37">
                <c:v>1.685241</c:v>
              </c:pt>
              <c:pt idx="38">
                <c:v>0.787442</c:v>
              </c:pt>
              <c:pt idx="39">
                <c:v>0.790908</c:v>
              </c:pt>
              <c:pt idx="40">
                <c:v>0.820316</c:v>
              </c:pt>
              <c:pt idx="41">
                <c:v>-0.618638</c:v>
              </c:pt>
              <c:pt idx="42">
                <c:v>0.308311</c:v>
              </c:pt>
              <c:pt idx="43">
                <c:v>0.703703</c:v>
              </c:pt>
              <c:pt idx="44">
                <c:v>-0.524314</c:v>
              </c:pt>
              <c:pt idx="45">
                <c:v>-0.138807</c:v>
              </c:pt>
              <c:pt idx="46">
                <c:v>-0.491427</c:v>
              </c:pt>
              <c:pt idx="47">
                <c:v>-0.972111</c:v>
              </c:pt>
              <c:pt idx="48">
                <c:v>-0.006774</c:v>
              </c:pt>
              <c:pt idx="49">
                <c:v>-0.189362</c:v>
              </c:pt>
              <c:pt idx="50">
                <c:v>1.509903</c:v>
              </c:pt>
              <c:pt idx="51">
                <c:v>-1.250143</c:v>
              </c:pt>
              <c:pt idx="52">
                <c:v>0.631667</c:v>
              </c:pt>
              <c:pt idx="53">
                <c:v>-1.688817</c:v>
              </c:pt>
              <c:pt idx="54">
                <c:v>-0.694026</c:v>
              </c:pt>
              <c:pt idx="55">
                <c:v>-1.48701</c:v>
              </c:pt>
              <c:pt idx="56">
                <c:v>-0.19868</c:v>
              </c:pt>
              <c:pt idx="57">
                <c:v>1.791275</c:v>
              </c:pt>
              <c:pt idx="58">
                <c:v>-1.243</c:v>
              </c:pt>
              <c:pt idx="59">
                <c:v>-0.898429</c:v>
              </c:pt>
              <c:pt idx="60">
                <c:v>-0.629558</c:v>
              </c:pt>
              <c:pt idx="61">
                <c:v>-0.616208</c:v>
              </c:pt>
              <c:pt idx="62">
                <c:v>1.007541</c:v>
              </c:pt>
              <c:pt idx="63">
                <c:v>-1.460317</c:v>
              </c:pt>
              <c:pt idx="64">
                <c:v>0.975727</c:v>
              </c:pt>
              <c:pt idx="65">
                <c:v>1.366773</c:v>
              </c:pt>
              <c:pt idx="66">
                <c:v>-0.681053</c:v>
              </c:pt>
              <c:pt idx="67">
                <c:v>0.993109</c:v>
              </c:pt>
              <c:pt idx="68">
                <c:v>-0.330262</c:v>
              </c:pt>
              <c:pt idx="69">
                <c:v>-0.430713</c:v>
              </c:pt>
              <c:pt idx="70">
                <c:v>1.293828</c:v>
              </c:pt>
              <c:pt idx="71">
                <c:v>0.024272</c:v>
              </c:pt>
              <c:pt idx="72">
                <c:v>0.659677</c:v>
              </c:pt>
              <c:pt idx="73">
                <c:v>-0.33779</c:v>
              </c:pt>
              <c:pt idx="74">
                <c:v>-1.213409</c:v>
              </c:pt>
              <c:pt idx="75">
                <c:v>0.165688</c:v>
              </c:pt>
              <c:pt idx="76">
                <c:v>-0.676667</c:v>
              </c:pt>
              <c:pt idx="77">
                <c:v>-1.544757</c:v>
              </c:pt>
              <c:pt idx="78">
                <c:v>-0.774826</c:v>
              </c:pt>
              <c:pt idx="79">
                <c:v>0.367864</c:v>
              </c:pt>
              <c:pt idx="80">
                <c:v>1.048536</c:v>
              </c:pt>
              <c:pt idx="81">
                <c:v>0.738652</c:v>
              </c:pt>
              <c:pt idx="82">
                <c:v>-0.476053</c:v>
              </c:pt>
              <c:pt idx="83">
                <c:v>0.162373</c:v>
              </c:pt>
              <c:pt idx="84">
                <c:v>0.658103</c:v>
              </c:pt>
              <c:pt idx="85">
                <c:v>-0.06447</c:v>
              </c:pt>
              <c:pt idx="86">
                <c:v>-0.410943</c:v>
              </c:pt>
              <c:pt idx="87">
                <c:v>-0.346004</c:v>
              </c:pt>
              <c:pt idx="88">
                <c:v>0.868093</c:v>
              </c:pt>
              <c:pt idx="89">
                <c:v>-0.886069</c:v>
              </c:pt>
              <c:pt idx="90">
                <c:v>-0.770308</c:v>
              </c:pt>
              <c:pt idx="91">
                <c:v>1.698136</c:v>
              </c:pt>
              <c:pt idx="92">
                <c:v>2.326309</c:v>
              </c:pt>
              <c:pt idx="93">
                <c:v>-0.686001</c:v>
              </c:pt>
              <c:pt idx="94">
                <c:v>-2.132552</c:v>
              </c:pt>
              <c:pt idx="95">
                <c:v>-0.200536</c:v>
              </c:pt>
              <c:pt idx="96">
                <c:v>-0.419482</c:v>
              </c:pt>
              <c:pt idx="97">
                <c:v>0.280446</c:v>
              </c:pt>
              <c:pt idx="98">
                <c:v>-0.891222</c:v>
              </c:pt>
              <c:pt idx="99">
                <c:v>-1.617071</c:v>
              </c:pt>
              <c:pt idx="100">
                <c:v>-1.210563</c:v>
              </c:pt>
              <c:pt idx="101">
                <c:v>0.629868</c:v>
              </c:pt>
              <c:pt idx="102">
                <c:v>1.536184</c:v>
              </c:pt>
              <c:pt idx="103">
                <c:v>2.328331</c:v>
              </c:pt>
              <c:pt idx="104">
                <c:v>0.66004</c:v>
              </c:pt>
              <c:pt idx="105">
                <c:v>1.364959</c:v>
              </c:pt>
              <c:pt idx="106">
                <c:v>0.828327</c:v>
              </c:pt>
              <c:pt idx="107">
                <c:v>0.42019</c:v>
              </c:pt>
              <c:pt idx="108">
                <c:v>-0.411046</c:v>
              </c:pt>
              <c:pt idx="109">
                <c:v>-0.282025</c:v>
              </c:pt>
              <c:pt idx="110">
                <c:v>-0.16105</c:v>
              </c:pt>
              <c:pt idx="111">
                <c:v>-0.921979</c:v>
              </c:pt>
              <c:pt idx="112">
                <c:v>0.160909</c:v>
              </c:pt>
              <c:pt idx="113">
                <c:v>-0.084663</c:v>
              </c:pt>
              <c:pt idx="114">
                <c:v>-1.133058</c:v>
              </c:pt>
              <c:pt idx="115">
                <c:v>-1.456001</c:v>
              </c:pt>
              <c:pt idx="116">
                <c:v>0.364198</c:v>
              </c:pt>
              <c:pt idx="117">
                <c:v>0.321771</c:v>
              </c:pt>
              <c:pt idx="118">
                <c:v>-0.090161</c:v>
              </c:pt>
              <c:pt idx="119">
                <c:v>-0.974607</c:v>
              </c:pt>
              <c:pt idx="120">
                <c:v>0.958443</c:v>
              </c:pt>
              <c:pt idx="121">
                <c:v>0.812339</c:v>
              </c:pt>
              <c:pt idx="122">
                <c:v>0.347138</c:v>
              </c:pt>
              <c:pt idx="123">
                <c:v>-1.729596</c:v>
              </c:pt>
              <c:pt idx="124">
                <c:v>-0.41609</c:v>
              </c:pt>
              <c:pt idx="125">
                <c:v>-1.124611</c:v>
              </c:pt>
              <c:pt idx="126">
                <c:v>-1.424591</c:v>
              </c:pt>
              <c:pt idx="127">
                <c:v>-0.227873</c:v>
              </c:pt>
              <c:pt idx="128">
                <c:v>0.009425</c:v>
              </c:pt>
              <c:pt idx="129">
                <c:v>0.294201</c:v>
              </c:pt>
              <c:pt idx="130">
                <c:v>-0.954002</c:v>
              </c:pt>
              <c:pt idx="131">
                <c:v>-0.643453</c:v>
              </c:pt>
              <c:pt idx="132">
                <c:v>-0.620035</c:v>
              </c:pt>
              <c:pt idx="133">
                <c:v>-0.119723</c:v>
              </c:pt>
              <c:pt idx="134">
                <c:v>-0.141193</c:v>
              </c:pt>
              <c:pt idx="135">
                <c:v>1.947863</c:v>
              </c:pt>
              <c:pt idx="136">
                <c:v>-0.17544</c:v>
              </c:pt>
              <c:pt idx="137">
                <c:v>0.229376</c:v>
              </c:pt>
              <c:pt idx="138">
                <c:v>0.110527</c:v>
              </c:pt>
              <c:pt idx="139">
                <c:v>0.759531</c:v>
              </c:pt>
              <c:pt idx="140">
                <c:v>-0.362518</c:v>
              </c:pt>
              <c:pt idx="141">
                <c:v>0.652581</c:v>
              </c:pt>
              <c:pt idx="142">
                <c:v>0.086383</c:v>
              </c:pt>
              <c:pt idx="143">
                <c:v>0.589134</c:v>
              </c:pt>
              <c:pt idx="144">
                <c:v>-1.418022</c:v>
              </c:pt>
              <c:pt idx="145">
                <c:v>0.59242</c:v>
              </c:pt>
              <c:pt idx="146">
                <c:v>-0.133603</c:v>
              </c:pt>
              <c:pt idx="147">
                <c:v>0.658893</c:v>
              </c:pt>
              <c:pt idx="148">
                <c:v>-0.279656</c:v>
              </c:pt>
              <c:pt idx="149">
                <c:v>-1.264674</c:v>
              </c:pt>
              <c:pt idx="150">
                <c:v>0.129999</c:v>
              </c:pt>
              <c:pt idx="151">
                <c:v>-2.310391</c:v>
              </c:pt>
              <c:pt idx="152">
                <c:v>0.244633</c:v>
              </c:pt>
              <c:pt idx="153">
                <c:v>1.75186</c:v>
              </c:pt>
              <c:pt idx="154">
                <c:v>-0.397619</c:v>
              </c:pt>
              <c:pt idx="155">
                <c:v>0.991293</c:v>
              </c:pt>
              <c:pt idx="156">
                <c:v>0.065839</c:v>
              </c:pt>
              <c:pt idx="157">
                <c:v>1.603367</c:v>
              </c:pt>
              <c:pt idx="158">
                <c:v>1.340417</c:v>
              </c:pt>
              <c:pt idx="159">
                <c:v>0.856541</c:v>
              </c:pt>
              <c:pt idx="160">
                <c:v>0.368811</c:v>
              </c:pt>
              <c:pt idx="161">
                <c:v>-0.379281</c:v>
              </c:pt>
              <c:pt idx="162">
                <c:v>-0.384054</c:v>
              </c:pt>
              <c:pt idx="163">
                <c:v>1.005433</c:v>
              </c:pt>
              <c:pt idx="164">
                <c:v>-0.75666</c:v>
              </c:pt>
              <c:pt idx="165">
                <c:v>0.951366</c:v>
              </c:pt>
              <c:pt idx="166">
                <c:v>-0.220448</c:v>
              </c:pt>
              <c:pt idx="167">
                <c:v>0.511093</c:v>
              </c:pt>
              <c:pt idx="168">
                <c:v>0.096636</c:v>
              </c:pt>
              <c:pt idx="169">
                <c:v>-0.448288</c:v>
              </c:pt>
              <c:pt idx="170">
                <c:v>1.480219</c:v>
              </c:pt>
              <c:pt idx="171">
                <c:v>-0.126432</c:v>
              </c:pt>
              <c:pt idx="172">
                <c:v>0.530964</c:v>
              </c:pt>
              <c:pt idx="173">
                <c:v>0.840949</c:v>
              </c:pt>
              <c:pt idx="174">
                <c:v>0.947136</c:v>
              </c:pt>
              <c:pt idx="175">
                <c:v>-0.735994</c:v>
              </c:pt>
              <c:pt idx="176">
                <c:v>0.166476</c:v>
              </c:pt>
              <c:pt idx="177">
                <c:v>1.400589</c:v>
              </c:pt>
              <c:pt idx="178">
                <c:v>1.668163</c:v>
              </c:pt>
              <c:pt idx="179">
                <c:v>0.332434</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C98430A-E424-48B7-B155-1CB75AC3E90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今回の進捗と発表の流れ</a:t>
            </a:r>
          </a:p>
        </p:txBody>
      </p:sp>
      <p:sp>
        <p:nvSpPr>
          <p:cNvPr id="2" name="">
            <a:extLst xmlns:a="http://schemas.openxmlformats.org/drawingml/2006/main">
              <a:ext uri="{FF2B5EF4-FFF2-40B4-BE49-F238E27FC236}">
                <a16:creationId xmlns:a16="http://schemas.microsoft.com/office/drawing/2014/main" id="{494A289B-8949-446D-A90E-6DE5B6A6528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18E9EEE-F2F1-49A8-86FE-E5180C362E3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前回決めた問題設定に対し、データ拡張の生成方法を具体化する。</a:t>
            </a:r>
          </a:p>
        </p:txBody>
      </p:sp>
      <p:sp>
        <p:nvSpPr>
          <p:cNvPr id="4" name="">
            <a:extLst xmlns:a="http://schemas.openxmlformats.org/drawingml/2006/main">
              <a:ext uri="{FF2B5EF4-FFF2-40B4-BE49-F238E27FC236}">
                <a16:creationId xmlns:a16="http://schemas.microsoft.com/office/drawing/2014/main" id="{B245C648-A638-478C-BAB7-DC03F7CD4DF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627EB669-F944-47D7-8DEE-85F38C0A449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F51EA10F-CC34-4862-98BB-B65343FAC19F}"/>
              </a:ext>
            </a:extLst>
          </p:cNvPr>
          <p:cNvSpPr>
            <a:spLocks xmlns:a="http://schemas.openxmlformats.org/drawingml/2006/main" noGrp="1"/>
          </p:cNvSpPr>
          <p:nvPr/>
        </p:nvSpPr>
        <p:spPr>
          <a:xfrm xmlns:a="http://schemas.openxmlformats.org/drawingml/2006/main">
            <a:off x="552450" y="193357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E2910448-D173-4381-90BA-ACC8F76DCA57}"/>
              </a:ext>
            </a:extLst>
          </p:cNvPr>
          <p:cNvSpPr>
            <a:spLocks xmlns:a="http://schemas.openxmlformats.org/drawingml/2006/main" noGrp="1"/>
          </p:cNvSpPr>
          <p:nvPr/>
        </p:nvSpPr>
        <p:spPr>
          <a:xfrm xmlns:a="http://schemas.openxmlformats.org/drawingml/2006/main">
            <a:off x="1257300" y="193357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具体例：列ごとの分布と、列どうしの関係を分ける</a:t>
            </a:r>
          </a:p>
        </p:txBody>
      </p:sp>
      <p:sp>
        <p:nvSpPr>
          <p:cNvPr id="8" name="">
            <a:extLst xmlns:a="http://schemas.openxmlformats.org/drawingml/2006/main">
              <a:ext uri="{FF2B5EF4-FFF2-40B4-BE49-F238E27FC236}">
                <a16:creationId xmlns:a16="http://schemas.microsoft.com/office/drawing/2014/main" id="{E8D5BE0D-B416-4223-8951-0B66CE0E22F6}"/>
              </a:ext>
            </a:extLst>
          </p:cNvPr>
          <p:cNvSpPr>
            <a:spLocks xmlns:a="http://schemas.openxmlformats.org/drawingml/2006/main" noGrp="1"/>
          </p:cNvSpPr>
          <p:nvPr/>
        </p:nvSpPr>
        <p:spPr>
          <a:xfrm xmlns:a="http://schemas.openxmlformats.org/drawingml/2006/main">
            <a:off x="552450" y="275510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A259CDE1-4EA7-4DCD-AC25-729493CB4F06}"/>
              </a:ext>
            </a:extLst>
          </p:cNvPr>
          <p:cNvSpPr>
            <a:spLocks xmlns:a="http://schemas.openxmlformats.org/drawingml/2006/main" noGrp="1"/>
          </p:cNvSpPr>
          <p:nvPr/>
        </p:nvSpPr>
        <p:spPr>
          <a:xfrm xmlns:a="http://schemas.openxmlformats.org/drawingml/2006/main">
            <a:off x="1257300" y="275510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定義と原理：累積確率・コピュラ・Sklarの定理</a:t>
            </a:r>
          </a:p>
        </p:txBody>
      </p:sp>
      <p:sp>
        <p:nvSpPr>
          <p:cNvPr id="10" name="">
            <a:extLst xmlns:a="http://schemas.openxmlformats.org/drawingml/2006/main">
              <a:ext uri="{FF2B5EF4-FFF2-40B4-BE49-F238E27FC236}">
                <a16:creationId xmlns:a16="http://schemas.microsoft.com/office/drawing/2014/main" id="{0D8F75F1-CAAA-4E17-9A44-A666A5C28CFA}"/>
              </a:ext>
            </a:extLst>
          </p:cNvPr>
          <p:cNvSpPr>
            <a:spLocks xmlns:a="http://schemas.openxmlformats.org/drawingml/2006/main" noGrp="1"/>
          </p:cNvSpPr>
          <p:nvPr/>
        </p:nvSpPr>
        <p:spPr>
          <a:xfrm xmlns:a="http://schemas.openxmlformats.org/drawingml/2006/main">
            <a:off x="552450" y="357663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C139B0A-576A-4D63-80D4-905CC1184F5D}"/>
              </a:ext>
            </a:extLst>
          </p:cNvPr>
          <p:cNvSpPr>
            <a:spLocks xmlns:a="http://schemas.openxmlformats.org/drawingml/2006/main" noGrp="1"/>
          </p:cNvSpPr>
          <p:nvPr/>
        </p:nvSpPr>
        <p:spPr>
          <a:xfrm xmlns:a="http://schemas.openxmlformats.org/drawingml/2006/main">
            <a:off x="1257300" y="357663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提案への接続：条件付き生成で、VIMEの置換を変更</a:t>
            </a:r>
          </a:p>
        </p:txBody>
      </p:sp>
      <p:sp>
        <p:nvSpPr>
          <p:cNvPr id="12" name="">
            <a:extLst xmlns:a="http://schemas.openxmlformats.org/drawingml/2006/main">
              <a:ext uri="{FF2B5EF4-FFF2-40B4-BE49-F238E27FC236}">
                <a16:creationId xmlns:a16="http://schemas.microsoft.com/office/drawing/2014/main" id="{E3709E01-12CA-4AC1-B931-ED6A9C3C9613}"/>
              </a:ext>
            </a:extLst>
          </p:cNvPr>
          <p:cNvSpPr>
            <a:spLocks xmlns:a="http://schemas.openxmlformats.org/drawingml/2006/main" noGrp="1"/>
          </p:cNvSpPr>
          <p:nvPr/>
        </p:nvSpPr>
        <p:spPr>
          <a:xfrm xmlns:a="http://schemas.openxmlformats.org/drawingml/2006/main">
            <a:off x="552450" y="439816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573FE29-28C7-4DA7-AD00-9FD53E0501E0}"/>
              </a:ext>
            </a:extLst>
          </p:cNvPr>
          <p:cNvSpPr>
            <a:spLocks xmlns:a="http://schemas.openxmlformats.org/drawingml/2006/main" noGrp="1"/>
          </p:cNvSpPr>
          <p:nvPr/>
        </p:nvSpPr>
        <p:spPr>
          <a:xfrm xmlns:a="http://schemas.openxmlformats.org/drawingml/2006/main">
            <a:off x="1257300" y="439816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現在の実装・探索的結果と、これから検証すること</a:t>
            </a:r>
          </a:p>
        </p:txBody>
      </p:sp>
      <p:sp>
        <p:nvSpPr>
          <p:cNvPr id="14" name="">
            <a:extLst xmlns:a="http://schemas.openxmlformats.org/drawingml/2006/main">
              <a:ext uri="{FF2B5EF4-FFF2-40B4-BE49-F238E27FC236}">
                <a16:creationId xmlns:a16="http://schemas.microsoft.com/office/drawing/2014/main" id="{C05E3304-BCC1-43A3-96D1-5E0C4334D72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BD55A01-8DEC-41A7-99A1-0CAF2150CC5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本日の中心：コピュラを使う理由と、生成の手順を理解する</a:t>
            </a:r>
          </a:p>
        </p:txBody>
      </p:sp>
    </p:spTree>
    <p:extLst>
      <p:ext uri="{BB962C8B-B14F-4D97-AF65-F5344CB8AC3E}">
        <p14:creationId xmlns:p14="http://schemas.microsoft.com/office/powerpoint/2010/main" val="17542042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FC5E9BC-5ECF-4DEE-AAB4-2925E48AD3F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本研究で変えたい部分</a:t>
            </a:r>
          </a:p>
        </p:txBody>
      </p:sp>
      <p:sp>
        <p:nvSpPr>
          <p:cNvPr id="2" name="">
            <a:extLst xmlns:a="http://schemas.openxmlformats.org/drawingml/2006/main">
              <a:ext uri="{FF2B5EF4-FFF2-40B4-BE49-F238E27FC236}">
                <a16:creationId xmlns:a16="http://schemas.microsoft.com/office/drawing/2014/main" id="{5FDF6DC8-C8D2-4624-81F1-A8FACB692F9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4A4A477-7CB5-4547-BB30-DE5D9D11167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変える対象は「どの値で、マスクした特徴を置き換えるか」。</a:t>
            </a:r>
          </a:p>
        </p:txBody>
      </p:sp>
      <p:sp>
        <p:nvSpPr>
          <p:cNvPr id="4" name="">
            <a:extLst xmlns:a="http://schemas.openxmlformats.org/drawingml/2006/main">
              <a:ext uri="{FF2B5EF4-FFF2-40B4-BE49-F238E27FC236}">
                <a16:creationId xmlns:a16="http://schemas.microsoft.com/office/drawing/2014/main" id="{B87AFD23-D09F-4B82-8EB5-0819156A4CF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36BF5088-999E-42F7-B304-23C818DA6FB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sp>
        <p:nvSpPr>
          <p:cNvPr id="6" name="">
            <a:extLst xmlns:a="http://schemas.openxmlformats.org/drawingml/2006/main">
              <a:ext uri="{FF2B5EF4-FFF2-40B4-BE49-F238E27FC236}">
                <a16:creationId xmlns:a16="http://schemas.microsoft.com/office/drawing/2014/main" id="{7FDAE2E6-9809-4DA3-8B61-4347018B2BAF}"/>
              </a:ext>
            </a:extLst>
          </p:cNvPr>
          <p:cNvSpPr>
            <a:spLocks xmlns:a="http://schemas.openxmlformats.org/drawingml/2006/main" noGrp="1"/>
          </p:cNvSpPr>
          <p:nvPr/>
        </p:nvSpPr>
        <p:spPr>
          <a:xfrm xmlns:a="http://schemas.openxmlformats.org/drawingml/2006/main">
            <a:off x="514350" y="19812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63E70C-2A39-4059-8C7E-D37F4371A2B4}"/>
              </a:ext>
            </a:extLst>
          </p:cNvPr>
          <p:cNvSpPr>
            <a:spLocks xmlns:a="http://schemas.openxmlformats.org/drawingml/2006/main" noGrp="1"/>
          </p:cNvSpPr>
          <p:nvPr/>
        </p:nvSpPr>
        <p:spPr>
          <a:xfrm xmlns:a="http://schemas.openxmlformats.org/drawingml/2006/main">
            <a:off x="704850" y="20955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既存の置換</a:t>
            </a:r>
          </a:p>
        </p:txBody>
      </p:sp>
      <p:sp>
        <p:nvSpPr>
          <p:cNvPr id="8" name="">
            <a:extLst xmlns:a="http://schemas.openxmlformats.org/drawingml/2006/main">
              <a:ext uri="{FF2B5EF4-FFF2-40B4-BE49-F238E27FC236}">
                <a16:creationId xmlns:a16="http://schemas.microsoft.com/office/drawing/2014/main" id="{2B5EBFCD-B2D4-446D-9686-9F107AC58B83}"/>
              </a:ext>
            </a:extLst>
          </p:cNvPr>
          <p:cNvSpPr>
            <a:spLocks xmlns:a="http://schemas.openxmlformats.org/drawingml/2006/main" noGrp="1"/>
          </p:cNvSpPr>
          <p:nvPr/>
        </p:nvSpPr>
        <p:spPr>
          <a:xfrm xmlns:a="http://schemas.openxmlformats.org/drawingml/2006/main">
            <a:off x="704850" y="26479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身長は元の人のまま</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体重だけ別の人から取る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列の値はもっともらしくても、</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組合せは不自然になり得る。</a:t>
            </a:r>
          </a:p>
        </p:txBody>
      </p:sp>
      <p:sp>
        <p:nvSpPr>
          <p:cNvPr id="9" name="">
            <a:extLst xmlns:a="http://schemas.openxmlformats.org/drawingml/2006/main">
              <a:ext uri="{FF2B5EF4-FFF2-40B4-BE49-F238E27FC236}">
                <a16:creationId xmlns:a16="http://schemas.microsoft.com/office/drawing/2014/main" id="{AFE996F5-A049-481F-948F-4CA1445E5463}"/>
              </a:ext>
            </a:extLst>
          </p:cNvPr>
          <p:cNvSpPr>
            <a:spLocks xmlns:a="http://schemas.openxmlformats.org/drawingml/2006/main" noGrp="1"/>
          </p:cNvSpPr>
          <p:nvPr/>
        </p:nvSpPr>
        <p:spPr>
          <a:xfrm xmlns:a="http://schemas.openxmlformats.org/drawingml/2006/main">
            <a:off x="6076950" y="19812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980E9C-DF1C-41AD-9BDC-36CEA39DA790}"/>
              </a:ext>
            </a:extLst>
          </p:cNvPr>
          <p:cNvSpPr>
            <a:spLocks xmlns:a="http://schemas.openxmlformats.org/drawingml/2006/main" noGrp="1"/>
          </p:cNvSpPr>
          <p:nvPr/>
        </p:nvSpPr>
        <p:spPr>
          <a:xfrm xmlns:a="http://schemas.openxmlformats.org/drawingml/2006/main">
            <a:off x="6267450" y="20955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今回の方針</a:t>
            </a:r>
          </a:p>
        </p:txBody>
      </p:sp>
      <p:sp>
        <p:nvSpPr>
          <p:cNvPr id="11" name="">
            <a:extLst xmlns:a="http://schemas.openxmlformats.org/drawingml/2006/main">
              <a:ext uri="{FF2B5EF4-FFF2-40B4-BE49-F238E27FC236}">
                <a16:creationId xmlns:a16="http://schemas.microsoft.com/office/drawing/2014/main" id="{079F7DE3-2674-4924-9D97-E2CC7461E447}"/>
              </a:ext>
            </a:extLst>
          </p:cNvPr>
          <p:cNvSpPr>
            <a:spLocks xmlns:a="http://schemas.openxmlformats.org/drawingml/2006/main" noGrp="1"/>
          </p:cNvSpPr>
          <p:nvPr/>
        </p:nvSpPr>
        <p:spPr>
          <a:xfrm xmlns:a="http://schemas.openxmlformats.org/drawingml/2006/main">
            <a:off x="6267450" y="26479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残す身長を条件にして、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それに合う体重の分布から取る。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ラベルなしの訓練データから</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変数間の関係を学習する。</a:t>
            </a:r>
          </a:p>
        </p:txBody>
      </p:sp>
      <p:sp>
        <p:nvSpPr>
          <p:cNvPr id="12" name="">
            <a:extLst xmlns:a="http://schemas.openxmlformats.org/drawingml/2006/main">
              <a:ext uri="{FF2B5EF4-FFF2-40B4-BE49-F238E27FC236}">
                <a16:creationId xmlns:a16="http://schemas.microsoft.com/office/drawing/2014/main" id="{20AF53C0-A244-4566-AA07-21FF14BF3E5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70A8865-42BB-48DE-84BC-605AFB9D045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検証する仮説：関係を考慮した置換が、表現学習に役立つか</a:t>
            </a:r>
          </a:p>
        </p:txBody>
      </p:sp>
    </p:spTree>
    <p:extLst>
      <p:ext uri="{BB962C8B-B14F-4D97-AF65-F5344CB8AC3E}">
        <p14:creationId xmlns:p14="http://schemas.microsoft.com/office/powerpoint/2010/main" val="19769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1ABB6A-493B-4C79-889A-EA3C003327B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例：値を並べ替えると何が変わる？</a:t>
            </a:r>
          </a:p>
        </p:txBody>
      </p:sp>
      <p:sp>
        <p:nvSpPr>
          <p:cNvPr id="2" name="">
            <a:extLst xmlns:a="http://schemas.openxmlformats.org/drawingml/2006/main">
              <a:ext uri="{FF2B5EF4-FFF2-40B4-BE49-F238E27FC236}">
                <a16:creationId xmlns:a16="http://schemas.microsoft.com/office/drawing/2014/main" id="{CDCC62BA-8743-4247-A6FC-5F017262401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C167A00-A938-44C6-8DE0-645DD91CB75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説明用の4人。同じ体重の値でも、身長との組合せで意味が変わる。</a:t>
            </a:r>
          </a:p>
        </p:txBody>
      </p:sp>
      <p:sp>
        <p:nvSpPr>
          <p:cNvPr id="4" name="">
            <a:extLst xmlns:a="http://schemas.openxmlformats.org/drawingml/2006/main">
              <a:ext uri="{FF2B5EF4-FFF2-40B4-BE49-F238E27FC236}">
                <a16:creationId xmlns:a16="http://schemas.microsoft.com/office/drawing/2014/main" id="{853E300B-EB6B-44D5-B046-A173AED984F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BFBE121-7CB6-4939-9331-0FB5721DB48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graphicFrame>
        <p:nvGraphicFramePr>
          <p:cNvPr id="14" name=""/>
          <p:cNvGraphicFramePr/>
          <p:nvPr/>
        </p:nvGraphicFramePr>
        <p:xfrm>
          <a:off xmlns:a="http://schemas.openxmlformats.org/drawingml/2006/main" x="514350" y="2076450"/>
          <a:ext xmlns:a="http://schemas.openxmlformats.org/drawingml/2006/main" cx="11163300" cy="3000375"/>
        </p:xfrm>
        <a:graphic xmlns:a="http://schemas.openxmlformats.org/drawingml/2006/main">
          <a:graphicData uri="http://schemas.openxmlformats.org/drawingml/2006/table">
            <a:tbl>
              <a:tblPr/>
              <a:tblGrid>
                <a:gridCol w="2790825"/>
                <a:gridCol w="2790825"/>
                <a:gridCol w="2790825"/>
                <a:gridCol w="2790825"/>
              </a:tblGrid>
              <a:tr h="600075">
                <a:tc>
                  <a:txBody>
                    <a:bodyPr/>
                    <a:lstStyle/>
                    <a:p>
                      <a:pPr algn="ctr"/>
                      <a:r>
                        <a:rPr sz="2175"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身長（cm）</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元の体重（kg）</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並べ替え後（kg）</a:t>
                      </a:r>
                    </a:p>
                  </a:txBody>
                  <a:tcPr marL="91440" marR="91440" marT="45720" marB="45720" anchor="ctr">
                    <a:solidFill>
                      <a:srgbClr val="E7F2EC"/>
                    </a:solidFill>
                  </a:tcPr>
                </a:tc>
              </a:tr>
              <a:tr h="600075">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6F6F6"/>
                    </a:solidFill>
                  </a:tcPr>
                </a:tc>
              </a:tr>
              <a:tr h="600075">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CF32E4F9-61CD-4277-8EA8-DD3A4D17188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314070-95F4-4A7F-9EDB-52F7D5DB4AB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各列の「値の集合」は同じでも、行の「組合せ」は違う</a:t>
            </a:r>
          </a:p>
        </p:txBody>
      </p:sp>
    </p:spTree>
    <p:extLst>
      <p:ext uri="{BB962C8B-B14F-4D97-AF65-F5344CB8AC3E}">
        <p14:creationId xmlns:p14="http://schemas.microsoft.com/office/powerpoint/2010/main" val="12245236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CDE3A9F-8BD0-4EA9-9FD3-40AAC9E13FA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「分けて表す」とは何か</a:t>
            </a:r>
          </a:p>
        </p:txBody>
      </p:sp>
      <p:sp>
        <p:nvSpPr>
          <p:cNvPr id="2" name="">
            <a:extLst xmlns:a="http://schemas.openxmlformats.org/drawingml/2006/main">
              <a:ext uri="{FF2B5EF4-FFF2-40B4-BE49-F238E27FC236}">
                <a16:creationId xmlns:a16="http://schemas.microsoft.com/office/drawing/2014/main" id="{CDDA1E96-8E43-4364-9E3C-585F15A1C7A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115137-A7D2-4CF5-A56F-8E5AA529312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別々に保管するのは、各列の値の分布と、位置どうしの組合せ。</a:t>
            </a:r>
          </a:p>
        </p:txBody>
      </p:sp>
      <p:sp>
        <p:nvSpPr>
          <p:cNvPr id="4" name="">
            <a:extLst xmlns:a="http://schemas.openxmlformats.org/drawingml/2006/main">
              <a:ext uri="{FF2B5EF4-FFF2-40B4-BE49-F238E27FC236}">
                <a16:creationId xmlns:a16="http://schemas.microsoft.com/office/drawing/2014/main" id="{DDB81857-6EA5-4340-828E-5D6085B00BB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97FBDC2-BB56-4AD1-9D48-AE05FF8C698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sp>
        <p:nvSpPr>
          <p:cNvPr id="6" name="">
            <a:extLst xmlns:a="http://schemas.openxmlformats.org/drawingml/2006/main">
              <a:ext uri="{FF2B5EF4-FFF2-40B4-BE49-F238E27FC236}">
                <a16:creationId xmlns:a16="http://schemas.microsoft.com/office/drawing/2014/main" id="{C3A4AA15-0028-4474-8F8F-06FF65D8A1FB}"/>
              </a:ext>
            </a:extLst>
          </p:cNvPr>
          <p:cNvSpPr>
            <a:spLocks xmlns:a="http://schemas.openxmlformats.org/drawingml/2006/main" noGrp="1"/>
          </p:cNvSpPr>
          <p:nvPr/>
        </p:nvSpPr>
        <p:spPr>
          <a:xfrm xmlns:a="http://schemas.openxmlformats.org/drawingml/2006/main">
            <a:off x="514350" y="2000250"/>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EEACD7-FD10-4748-8B7D-C4E9DB18A734}"/>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① 周辺分布</a:t>
            </a:r>
          </a:p>
        </p:txBody>
      </p:sp>
      <p:sp>
        <p:nvSpPr>
          <p:cNvPr id="8" name="">
            <a:extLst xmlns:a="http://schemas.openxmlformats.org/drawingml/2006/main">
              <a:ext uri="{FF2B5EF4-FFF2-40B4-BE49-F238E27FC236}">
                <a16:creationId xmlns:a16="http://schemas.microsoft.com/office/drawing/2014/main" id="{2FBE0EBE-AF26-4FF6-B630-2D5CB2788CE8}"/>
              </a:ext>
            </a:extLst>
          </p:cNvPr>
          <p:cNvSpPr>
            <a:spLocks xmlns:a="http://schemas.openxmlformats.org/drawingml/2006/main" noGrp="1"/>
          </p:cNvSpPr>
          <p:nvPr/>
        </p:nvSpPr>
        <p:spPr>
          <a:xfrm xmlns:a="http://schemas.openxmlformats.org/drawingml/2006/main">
            <a:off x="704850" y="2667000"/>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155、165、175、185 cm</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48、57、68、82 kg</a:t>
            </a:r>
          </a:p>
        </p:txBody>
      </p:sp>
      <p:sp>
        <p:nvSpPr>
          <p:cNvPr id="9" name="">
            <a:extLst xmlns:a="http://schemas.openxmlformats.org/drawingml/2006/main">
              <a:ext uri="{FF2B5EF4-FFF2-40B4-BE49-F238E27FC236}">
                <a16:creationId xmlns:a16="http://schemas.microsoft.com/office/drawing/2014/main" id="{3A50CBC6-E65D-4552-8EDE-3E2283A30FAA}"/>
              </a:ext>
            </a:extLst>
          </p:cNvPr>
          <p:cNvSpPr>
            <a:spLocks xmlns:a="http://schemas.openxmlformats.org/drawingml/2006/main" noGrp="1"/>
          </p:cNvSpPr>
          <p:nvPr/>
        </p:nvSpPr>
        <p:spPr>
          <a:xfrm xmlns:a="http://schemas.openxmlformats.org/drawingml/2006/main">
            <a:off x="6076950" y="2000250"/>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614C63C-B5CF-43C1-A56E-467E1271591B}"/>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② 依存構造</a:t>
            </a:r>
          </a:p>
        </p:txBody>
      </p:sp>
      <p:sp>
        <p:nvSpPr>
          <p:cNvPr id="11" name="">
            <a:extLst xmlns:a="http://schemas.openxmlformats.org/drawingml/2006/main">
              <a:ext uri="{FF2B5EF4-FFF2-40B4-BE49-F238E27FC236}">
                <a16:creationId xmlns:a16="http://schemas.microsoft.com/office/drawing/2014/main" id="{006B2117-30B3-422B-B8CE-7F6C89FF0822}"/>
              </a:ext>
            </a:extLst>
          </p:cNvPr>
          <p:cNvSpPr>
            <a:spLocks xmlns:a="http://schemas.openxmlformats.org/drawingml/2006/main" noGrp="1"/>
          </p:cNvSpPr>
          <p:nvPr/>
        </p:nvSpPr>
        <p:spPr>
          <a:xfrm xmlns:a="http://schemas.openxmlformats.org/drawingml/2006/main">
            <a:off x="6267450" y="2667000"/>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元の表：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身長の順位1 → 体重の順位1</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身長の順位4 → 体重の順位4</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逆の表：順位1 → 順位4</a:t>
            </a:r>
          </a:p>
        </p:txBody>
      </p:sp>
      <p:sp>
        <p:nvSpPr>
          <p:cNvPr id="12" name="">
            <a:extLst xmlns:a="http://schemas.openxmlformats.org/drawingml/2006/main">
              <a:ext uri="{FF2B5EF4-FFF2-40B4-BE49-F238E27FC236}">
                <a16:creationId xmlns:a16="http://schemas.microsoft.com/office/drawing/2014/main" id="{0CABA5D0-BF6D-4199-8A00-7849139779F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F8065F5-D866-4334-8977-E84E586CFF9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周辺分布が「値」を決め、コピュラが「位置の組合せ」を表す</a:t>
            </a:r>
          </a:p>
        </p:txBody>
      </p:sp>
    </p:spTree>
    <p:extLst>
      <p:ext uri="{BB962C8B-B14F-4D97-AF65-F5344CB8AC3E}">
        <p14:creationId xmlns:p14="http://schemas.microsoft.com/office/powerpoint/2010/main" val="30232413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720BB2-0A4E-4A78-A828-3F896C9BA13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累積確率：170 cmはどの位置？</a:t>
            </a:r>
          </a:p>
        </p:txBody>
      </p:sp>
      <p:sp>
        <p:nvSpPr>
          <p:cNvPr id="2" name="">
            <a:extLst xmlns:a="http://schemas.openxmlformats.org/drawingml/2006/main">
              <a:ext uri="{FF2B5EF4-FFF2-40B4-BE49-F238E27FC236}">
                <a16:creationId xmlns:a16="http://schemas.microsoft.com/office/drawing/2014/main" id="{47614A15-8E2F-418C-A895-52723DA6B99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D45D087-627B-4F5E-BADF-5D06677EF7D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「170 cm以下の人が、全体の何割いるか」を数える。</a:t>
            </a:r>
          </a:p>
        </p:txBody>
      </p:sp>
      <p:sp>
        <p:nvSpPr>
          <p:cNvPr id="4" name="">
            <a:extLst xmlns:a="http://schemas.openxmlformats.org/drawingml/2006/main">
              <a:ext uri="{FF2B5EF4-FFF2-40B4-BE49-F238E27FC236}">
                <a16:creationId xmlns:a16="http://schemas.microsoft.com/office/drawing/2014/main" id="{6A9F3648-B3E6-4D80-9EE0-756F09B80DC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0EED059-F6FD-452C-8304-9D07FB03B72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143125"/>
          <a:ext xmlns:a="http://schemas.openxmlformats.org/drawingml/2006/main" cx="11163300" cy="1381125"/>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0563">
                <a:tc>
                  <a:txBody>
                    <a:bodyPr/>
                    <a:lstStyle/>
                    <a:p>
                      <a:pPr algn="ctr"/>
                      <a:r>
                        <a:rPr sz="1800"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10</a:t>
                      </a:r>
                    </a:p>
                  </a:txBody>
                  <a:tcPr marL="91440" marR="91440" marT="45720" marB="45720" anchor="ctr">
                    <a:solidFill>
                      <a:srgbClr val="E7F2EC"/>
                    </a:solidFill>
                  </a:tcPr>
                </a:tc>
              </a:tr>
              <a:tr h="690563">
                <a:tc>
                  <a:txBody>
                    <a:bodyPr/>
                    <a:lstStyle/>
                    <a:p>
                      <a:pPr algn="ctr"/>
                      <a:r>
                        <a:rPr sz="1800" b="0">
                          <a:solidFill>
                            <a:srgbClr val="222222"/>
                          </a:solidFill>
                          <a:latin typeface="Noto Sans JP"/>
                          <a:ea typeface="Noto Sans JP"/>
                          <a:cs typeface="Noto Sans JP"/>
                        </a:rPr>
                        <a:t>身長 cm</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163</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168</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185</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0255821-0218-46E9-BAC7-7E9406E6C653}"/>
              </a:ext>
            </a:extLst>
          </p:cNvPr>
          <p:cNvSpPr>
            <a:spLocks xmlns:a="http://schemas.openxmlformats.org/drawingml/2006/main" noGrp="1"/>
          </p:cNvSpPr>
          <p:nvPr/>
        </p:nvSpPr>
        <p:spPr>
          <a:xfrm xmlns:a="http://schemas.openxmlformats.org/drawingml/2006/main">
            <a:off x="514350" y="37623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B2E907C-CB24-4170-BD17-9E073E23E77F}"/>
              </a:ext>
            </a:extLst>
          </p:cNvPr>
          <p:cNvSpPr>
            <a:spLocks xmlns:a="http://schemas.openxmlformats.org/drawingml/2006/main" noGrp="1"/>
          </p:cNvSpPr>
          <p:nvPr/>
        </p:nvSpPr>
        <p:spPr>
          <a:xfrm xmlns:a="http://schemas.openxmlformats.org/drawingml/2006/main">
            <a:off x="704850" y="38576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F̂ 身長(170) = 170 cm以下の人数 / 全人数 = 7 / 10 = 0.7</a:t>
            </a:r>
          </a:p>
        </p:txBody>
      </p:sp>
      <p:sp>
        <p:nvSpPr>
          <p:cNvPr id="9" name="">
            <a:extLst xmlns:a="http://schemas.openxmlformats.org/drawingml/2006/main">
              <a:ext uri="{FF2B5EF4-FFF2-40B4-BE49-F238E27FC236}">
                <a16:creationId xmlns:a16="http://schemas.microsoft.com/office/drawing/2014/main" id="{36C856F1-3EEC-4674-937F-6A00CBE6EF1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40AA70A-0754-4787-81E7-5C1E15CB1BF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0.7は「低い側から70%の位置」。170 cmになる確率ではない</a:t>
            </a:r>
          </a:p>
        </p:txBody>
      </p:sp>
    </p:spTree>
    <p:extLst>
      <p:ext uri="{BB962C8B-B14F-4D97-AF65-F5344CB8AC3E}">
        <p14:creationId xmlns:p14="http://schemas.microsoft.com/office/powerpoint/2010/main" val="8014425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C91C99-B687-4560-AA36-377634E2235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なぜ、確率の位置へ変えるのか</a:t>
            </a:r>
          </a:p>
        </p:txBody>
      </p:sp>
      <p:sp>
        <p:nvSpPr>
          <p:cNvPr id="2" name="">
            <a:extLst xmlns:a="http://schemas.openxmlformats.org/drawingml/2006/main">
              <a:ext uri="{FF2B5EF4-FFF2-40B4-BE49-F238E27FC236}">
                <a16:creationId xmlns:a16="http://schemas.microsoft.com/office/drawing/2014/main" id="{0A2BA527-B24B-4E0A-A00A-12E296A78A7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C1774C-3C48-41E1-B299-05DC338ADAA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単位や分布の形が違う列を、0〜1の共通のものさしで見る。</a:t>
            </a:r>
          </a:p>
        </p:txBody>
      </p:sp>
      <p:sp>
        <p:nvSpPr>
          <p:cNvPr id="4" name="">
            <a:extLst xmlns:a="http://schemas.openxmlformats.org/drawingml/2006/main">
              <a:ext uri="{FF2B5EF4-FFF2-40B4-BE49-F238E27FC236}">
                <a16:creationId xmlns:a16="http://schemas.microsoft.com/office/drawing/2014/main" id="{47861C40-D7CD-4EF2-A6DA-D96A84FFDB1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4D2F88FE-3668-43AC-80C9-9A25A1AFA69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57400"/>
          <a:ext xmlns:a="http://schemas.openxmlformats.org/drawingml/2006/main" cx="11163300" cy="2476500"/>
        </p:xfrm>
        <a:graphic xmlns:a="http://schemas.openxmlformats.org/drawingml/2006/main">
          <a:graphicData uri="http://schemas.openxmlformats.org/drawingml/2006/table">
            <a:tbl>
              <a:tblPr/>
              <a:tblGrid>
                <a:gridCol w="2790825"/>
                <a:gridCol w="2790825"/>
                <a:gridCol w="2790825"/>
                <a:gridCol w="2790825"/>
              </a:tblGrid>
              <a:tr h="825500">
                <a:tc>
                  <a:txBody>
                    <a:bodyPr/>
                    <a:lstStyle/>
                    <a:p>
                      <a:pPr algn="ctr"/>
                      <a:r>
                        <a:rPr sz="2175"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元の値（説明用）</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位置</a:t>
                      </a:r>
                    </a:p>
                  </a:txBody>
                  <a:tcPr marL="91440" marR="91440" marT="45720" marB="45720" anchor="ctr">
                    <a:solidFill>
                      <a:srgbClr val="E7F2EC"/>
                    </a:solidFill>
                  </a:tcPr>
                </a:tc>
              </a:tr>
              <a:tr h="825500">
                <a:tc>
                  <a:txBody>
                    <a:bodyPr/>
                    <a:lstStyle/>
                    <a:p>
                      <a:pPr algn="ctr"/>
                      <a:r>
                        <a:rPr sz="2175" b="0">
                          <a:solidFill>
                            <a:srgbClr val="222222"/>
                          </a:solidFill>
                          <a:latin typeface="Noto Sans JP"/>
                          <a:ea typeface="Noto Sans JP"/>
                          <a:cs typeface="Noto Sans JP"/>
                        </a:rPr>
                        <a:t>身長</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 cm</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u = 0.8</a:t>
                      </a:r>
                    </a:p>
                  </a:txBody>
                  <a:tcPr marL="91440" marR="91440" marT="45720" marB="45720" anchor="ctr">
                    <a:solidFill>
                      <a:srgbClr val="FFFFFF"/>
                    </a:solidFill>
                  </a:tcPr>
                </a:tc>
              </a:tr>
              <a:tr h="825500">
                <a:tc>
                  <a:txBody>
                    <a:bodyPr/>
                    <a:lstStyle/>
                    <a:p>
                      <a:pPr algn="ctr"/>
                      <a:r>
                        <a:rPr sz="2175" b="0">
                          <a:solidFill>
                            <a:srgbClr val="222222"/>
                          </a:solidFill>
                          <a:latin typeface="Noto Sans JP"/>
                          <a:ea typeface="Noto Sans JP"/>
                          <a:cs typeface="Noto Sans JP"/>
                        </a:rPr>
                        <a:t>体重</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60%</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v = 0.6</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61A98AB-9316-4E42-B24A-100EDA6E71C6}"/>
              </a:ext>
            </a:extLst>
          </p:cNvPr>
          <p:cNvSpPr>
            <a:spLocks xmlns:a="http://schemas.openxmlformats.org/drawingml/2006/main" noGrp="1"/>
          </p:cNvSpPr>
          <p:nvPr/>
        </p:nvSpPr>
        <p:spPr>
          <a:xfrm xmlns:a="http://schemas.openxmlformats.org/drawingml/2006/main">
            <a:off x="6667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この人は「身長は高い側・体重もやや高い側」にいる。</a:t>
            </a:r>
          </a:p>
        </p:txBody>
      </p:sp>
      <p:sp>
        <p:nvSpPr>
          <p:cNvPr id="8" name="">
            <a:extLst xmlns:a="http://schemas.openxmlformats.org/drawingml/2006/main">
              <a:ext uri="{FF2B5EF4-FFF2-40B4-BE49-F238E27FC236}">
                <a16:creationId xmlns:a16="http://schemas.microsoft.com/office/drawing/2014/main" id="{731059EC-B76B-4158-8480-84D0AADEE41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D2AA4-65D8-42B6-9522-FF6E90B916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位置は基準集団の分布で決まる。cmやkgを直接比較しない</a:t>
            </a:r>
          </a:p>
        </p:txBody>
      </p:sp>
    </p:spTree>
    <p:extLst>
      <p:ext uri="{BB962C8B-B14F-4D97-AF65-F5344CB8AC3E}">
        <p14:creationId xmlns:p14="http://schemas.microsoft.com/office/powerpoint/2010/main" val="15283652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A31782-078F-4D81-8BFA-104065D5960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コピュラが見るのは、位置の組</a:t>
            </a:r>
          </a:p>
        </p:txBody>
      </p:sp>
      <p:sp>
        <p:nvSpPr>
          <p:cNvPr id="2" name="">
            <a:extLst xmlns:a="http://schemas.openxmlformats.org/drawingml/2006/main">
              <a:ext uri="{FF2B5EF4-FFF2-40B4-BE49-F238E27FC236}">
                <a16:creationId xmlns:a16="http://schemas.microsoft.com/office/drawing/2014/main" id="{71564205-C3DE-4508-9EDA-70BB86DC269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13148BB-5D75-4254-9A82-DBFB30E27DC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同じ人の (u, v) を、多くの人について集める。</a:t>
            </a:r>
          </a:p>
        </p:txBody>
      </p:sp>
      <p:sp>
        <p:nvSpPr>
          <p:cNvPr id="4" name="">
            <a:extLst xmlns:a="http://schemas.openxmlformats.org/drawingml/2006/main">
              <a:ext uri="{FF2B5EF4-FFF2-40B4-BE49-F238E27FC236}">
                <a16:creationId xmlns:a16="http://schemas.microsoft.com/office/drawing/2014/main" id="{22490F57-BB66-4E5B-BF97-71BB10BC2C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03076DC-00BD-4B11-BD88-3BDDFAEAE9D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graphicFrame>
        <p:nvGraphicFramePr>
          <p:cNvPr id="17" name="Chart"/>
          <p:cNvGraphicFramePr/>
          <p:nvPr/>
        </p:nvGraphicFramePr>
        <p:xfrm>
          <a:off xmlns:a="http://schemas.openxmlformats.org/drawingml/2006/main" x="609600" y="2000250"/>
          <a:ext xmlns:a="http://schemas.openxmlformats.org/drawingml/2006/main" cx="5905500" cy="3333750"/>
        </p:xfrm>
        <a:graphic xmlns:a="http://schemas.openxmlformats.org/drawingml/2006/main">
          <a:graphicData uri="http://schemas.openxmlformats.org/drawingml/2006/chart">
            <c:chart xmlns:r="http://schemas.openxmlformats.org/officeDocument/2006/relationships" xmlns:c="http://schemas.openxmlformats.org/drawingml/2006/chart" r:id="Rdc760c12cc3d4370"/>
          </a:graphicData>
        </a:graphic>
      </p:graphicFrame>
      <p:sp>
        <p:nvSpPr>
          <p:cNvPr id="7" name="">
            <a:extLst xmlns:a="http://schemas.openxmlformats.org/drawingml/2006/main">
              <a:ext uri="{FF2B5EF4-FFF2-40B4-BE49-F238E27FC236}">
                <a16:creationId xmlns:a16="http://schemas.microsoft.com/office/drawing/2014/main" id="{A5FF63DA-FE95-439C-A19C-2B70732942F6}"/>
              </a:ext>
            </a:extLst>
          </p:cNvPr>
          <p:cNvSpPr>
            <a:spLocks xmlns:a="http://schemas.openxmlformats.org/drawingml/2006/main" noGrp="1"/>
          </p:cNvSpPr>
          <p:nvPr/>
        </p:nvSpPr>
        <p:spPr>
          <a:xfrm xmlns:a="http://schemas.openxmlformats.org/drawingml/2006/main">
            <a:off x="6838950" y="2095500"/>
            <a:ext cx="47625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8A7E75-6E02-4E64-A709-5BEC4A5BA31C}"/>
              </a:ext>
            </a:extLst>
          </p:cNvPr>
          <p:cNvSpPr>
            <a:spLocks xmlns:a="http://schemas.openxmlformats.org/drawingml/2006/main" noGrp="1"/>
          </p:cNvSpPr>
          <p:nvPr/>
        </p:nvSpPr>
        <p:spPr>
          <a:xfrm xmlns:a="http://schemas.openxmlformats.org/drawingml/2006/main">
            <a:off x="7029450" y="2209800"/>
            <a:ext cx="438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読み取る関係</a:t>
            </a:r>
          </a:p>
        </p:txBody>
      </p:sp>
      <p:sp>
        <p:nvSpPr>
          <p:cNvPr id="9" name="">
            <a:extLst xmlns:a="http://schemas.openxmlformats.org/drawingml/2006/main">
              <a:ext uri="{FF2B5EF4-FFF2-40B4-BE49-F238E27FC236}">
                <a16:creationId xmlns:a16="http://schemas.microsoft.com/office/drawing/2014/main" id="{E75FDC9E-5B8E-4A73-9422-C08743465443}"/>
              </a:ext>
            </a:extLst>
          </p:cNvPr>
          <p:cNvSpPr>
            <a:spLocks xmlns:a="http://schemas.openxmlformats.org/drawingml/2006/main" noGrp="1"/>
          </p:cNvSpPr>
          <p:nvPr/>
        </p:nvSpPr>
        <p:spPr>
          <a:xfrm xmlns:a="http://schemas.openxmlformats.org/drawingml/2006/main">
            <a:off x="7029450" y="2762250"/>
            <a:ext cx="4381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身長の位置が高いとき、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体重の位置も高いか。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値の単位を除いて、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どの位置の組が</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どれくらい現れるかを見る。</a:t>
            </a:r>
          </a:p>
        </p:txBody>
      </p:sp>
      <p:sp>
        <p:nvSpPr>
          <p:cNvPr id="10" name="">
            <a:extLst xmlns:a="http://schemas.openxmlformats.org/drawingml/2006/main">
              <a:ext uri="{FF2B5EF4-FFF2-40B4-BE49-F238E27FC236}">
                <a16:creationId xmlns:a16="http://schemas.microsoft.com/office/drawing/2014/main" id="{FE0C7CDB-8958-4292-AF26-E7774747937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016405-DC61-412F-AA61-8B6A647DB70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コピュラは、位置の「同時分布」を表す</a:t>
            </a:r>
          </a:p>
        </p:txBody>
      </p:sp>
    </p:spTree>
    <p:extLst>
      <p:ext uri="{BB962C8B-B14F-4D97-AF65-F5344CB8AC3E}">
        <p14:creationId xmlns:p14="http://schemas.microsoft.com/office/powerpoint/2010/main" val="8321053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E42FAD-13C5-4E6E-BFAA-DC7B0BE5043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数式を読むための記号</a:t>
            </a:r>
          </a:p>
        </p:txBody>
      </p:sp>
      <p:sp>
        <p:nvSpPr>
          <p:cNvPr id="2" name="">
            <a:extLst xmlns:a="http://schemas.openxmlformats.org/drawingml/2006/main">
              <a:ext uri="{FF2B5EF4-FFF2-40B4-BE49-F238E27FC236}">
                <a16:creationId xmlns:a16="http://schemas.microsoft.com/office/drawing/2014/main" id="{F118B991-8985-4344-8D83-2FDB3BFEE1E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3FE1703-ADFB-4F34-92FE-833679DEEC6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大文字は変数、小文字は境界や具体的な値。</a:t>
            </a:r>
          </a:p>
        </p:txBody>
      </p:sp>
      <p:sp>
        <p:nvSpPr>
          <p:cNvPr id="4" name="">
            <a:extLst xmlns:a="http://schemas.openxmlformats.org/drawingml/2006/main">
              <a:ext uri="{FF2B5EF4-FFF2-40B4-BE49-F238E27FC236}">
                <a16:creationId xmlns:a16="http://schemas.microsoft.com/office/drawing/2014/main" id="{421C268B-6145-47EE-A189-3069C67325A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7E739DC-B63B-4F53-9C9D-1D6D4E72620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graphicFrame>
        <p:nvGraphicFramePr>
          <p:cNvPr id="14" name=""/>
          <p:cNvGraphicFramePr/>
          <p:nvPr/>
        </p:nvGraphicFramePr>
        <p:xfrm>
          <a:off xmlns:a="http://schemas.openxmlformats.org/drawingml/2006/main" x="514350" y="1924050"/>
          <a:ext xmlns:a="http://schemas.openxmlformats.org/drawingml/2006/main" cx="11163300" cy="3381375"/>
        </p:xfrm>
        <a:graphic xmlns:a="http://schemas.openxmlformats.org/drawingml/2006/main">
          <a:graphicData uri="http://schemas.openxmlformats.org/drawingml/2006/table">
            <a:tbl>
              <a:tblPr/>
              <a:tblGrid>
                <a:gridCol w="3721100"/>
                <a:gridCol w="3721100"/>
                <a:gridCol w="3721100"/>
              </a:tblGrid>
              <a:tr h="676275">
                <a:tc>
                  <a:txBody>
                    <a:bodyPr/>
                    <a:lstStyle/>
                    <a:p>
                      <a:pPr algn="ctr"/>
                      <a:r>
                        <a:rPr sz="1950" b="1">
                          <a:solidFill>
                            <a:srgbClr val="2E7D5B"/>
                          </a:solidFill>
                          <a:latin typeface="Noto Sans JP"/>
                          <a:ea typeface="Noto Sans JP"/>
                          <a:cs typeface="Noto Sans JP"/>
                        </a:rPr>
                        <a:t>記号</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意味</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身長・体重の例</a:t>
                      </a:r>
                    </a:p>
                  </a:txBody>
                  <a:tcPr marL="91440" marR="91440" marT="45720" marB="45720" anchor="ctr">
                    <a:solidFill>
                      <a:srgbClr val="E7F2EC"/>
                    </a:solidFill>
                  </a:tcPr>
                </a:tc>
              </a:tr>
              <a:tr h="676275">
                <a:tc>
                  <a:txBody>
                    <a:bodyPr/>
                    <a:lstStyle/>
                    <a:p>
                      <a:pPr algn="ctr"/>
                      <a:r>
                        <a:rPr sz="1950" b="0">
                          <a:solidFill>
                            <a:srgbClr val="222222"/>
                          </a:solidFill>
                          <a:latin typeface="Noto Sans JP"/>
                          <a:ea typeface="Noto Sans JP"/>
                          <a:cs typeface="Noto Sans JP"/>
                        </a:rPr>
                        <a:t>X, 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元の値の確率変数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身長と体重</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Fₓ(x), Fᵧ(y)</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各列の累積分布関数</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その値以下になる確率</a:t>
                      </a:r>
                    </a:p>
                  </a:txBody>
                  <a:tcPr marL="91440" marR="91440" marT="45720" marB="45720" anchor="ctr">
                    <a:solidFill>
                      <a:srgbClr val="F6F6F6"/>
                    </a:solidFill>
                  </a:tcPr>
                </a:tc>
              </a:tr>
              <a:tr h="676275">
                <a:tc>
                  <a:txBody>
                    <a:bodyPr/>
                    <a:lstStyle/>
                    <a:p>
                      <a:pPr algn="ctr"/>
                      <a:r>
                        <a:rPr sz="1950" b="0">
                          <a:solidFill>
                            <a:srgbClr val="222222"/>
                          </a:solidFill>
                          <a:latin typeface="Noto Sans JP"/>
                          <a:ea typeface="Noto Sans JP"/>
                          <a:cs typeface="Noto Sans JP"/>
                        </a:rPr>
                        <a:t>U = Fₓ(X), V = Fᵧ(Y)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確率位置へ変換した変数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0〜1の位置</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C(u, v)</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位置の同時累積分布</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U ≤ u かつ V ≤ vの確率</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2DAE627A-ACF7-445D-9F8D-F762E5ADDE0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3186C2E-7AF1-40E9-808C-B802349E5A0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「≤」は、境界より小さい側をすべて含める</a:t>
            </a:r>
          </a:p>
        </p:txBody>
      </p:sp>
    </p:spTree>
    <p:extLst>
      <p:ext uri="{BB962C8B-B14F-4D97-AF65-F5344CB8AC3E}">
        <p14:creationId xmlns:p14="http://schemas.microsoft.com/office/powerpoint/2010/main" val="20847880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EA6448-9327-4E46-A74F-1DFF6FF3629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コピュラの定義</a:t>
            </a:r>
          </a:p>
        </p:txBody>
      </p:sp>
      <p:sp>
        <p:nvSpPr>
          <p:cNvPr id="2" name="">
            <a:extLst xmlns:a="http://schemas.openxmlformats.org/drawingml/2006/main">
              <a:ext uri="{FF2B5EF4-FFF2-40B4-BE49-F238E27FC236}">
                <a16:creationId xmlns:a16="http://schemas.microsoft.com/office/drawing/2014/main" id="{FD2264B0-EE4B-4CBA-B71A-C0A8B2003B2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514618-7DC8-4EE0-AA96-63B408A2BC0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各成分が0〜1の一様分布を持つ、同時累積分布関数。</a:t>
            </a:r>
          </a:p>
        </p:txBody>
      </p:sp>
      <p:sp>
        <p:nvSpPr>
          <p:cNvPr id="4" name="">
            <a:extLst xmlns:a="http://schemas.openxmlformats.org/drawingml/2006/main">
              <a:ext uri="{FF2B5EF4-FFF2-40B4-BE49-F238E27FC236}">
                <a16:creationId xmlns:a16="http://schemas.microsoft.com/office/drawing/2014/main" id="{0DB3EEAC-751F-488A-A63A-CE19D80DB4C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05EC8E86-C86D-4B63-BDF6-1250AF8672B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637309FC-2FC2-4DF5-AF2F-4FAD1C486CE0}"/>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E6142A-573A-4853-88EF-997431CF997A}"/>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450" b="1">
                <a:solidFill>
                  <a:srgbClr val="2B6777"/>
                </a:solidFill>
                <a:latin typeface="Noto Sans JP"/>
                <a:ea typeface="Noto Sans JP"/>
                <a:cs typeface="Noto Sans JP"/>
              </a:defRPr>
            </a:pPr>
            <a:r>
              <a:rPr sz="345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5C1268DB-E468-4FD6-81AE-E5C8F248569E}"/>
              </a:ext>
            </a:extLst>
          </p:cNvPr>
          <p:cNvSpPr>
            <a:spLocks xmlns:a="http://schemas.openxmlformats.org/drawingml/2006/main" noGrp="1"/>
          </p:cNvSpPr>
          <p:nvPr/>
        </p:nvSpPr>
        <p:spPr>
          <a:xfrm xmlns:a="http://schemas.openxmlformats.org/drawingml/2006/main">
            <a:off x="552450" y="328612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780DEA1A-5D52-46B0-BEE9-F7D02C056577}"/>
              </a:ext>
            </a:extLst>
          </p:cNvPr>
          <p:cNvSpPr>
            <a:spLocks xmlns:a="http://schemas.openxmlformats.org/drawingml/2006/main" noGrp="1"/>
          </p:cNvSpPr>
          <p:nvPr/>
        </p:nvSpPr>
        <p:spPr>
          <a:xfrm xmlns:a="http://schemas.openxmlformats.org/drawingml/2006/main">
            <a:off x="1257300" y="328612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V はそれぞれ Uniform(0, 1) に従う。</a:t>
            </a:r>
          </a:p>
        </p:txBody>
      </p:sp>
      <p:sp>
        <p:nvSpPr>
          <p:cNvPr id="10" name="">
            <a:extLst xmlns:a="http://schemas.openxmlformats.org/drawingml/2006/main">
              <a:ext uri="{FF2B5EF4-FFF2-40B4-BE49-F238E27FC236}">
                <a16:creationId xmlns:a16="http://schemas.microsoft.com/office/drawing/2014/main" id="{BF3FA4B4-280A-4D39-8187-5BB536BABA0B}"/>
              </a:ext>
            </a:extLst>
          </p:cNvPr>
          <p:cNvSpPr>
            <a:spLocks xmlns:a="http://schemas.openxmlformats.org/drawingml/2006/main" noGrp="1"/>
          </p:cNvSpPr>
          <p:nvPr/>
        </p:nvSpPr>
        <p:spPr>
          <a:xfrm xmlns:a="http://schemas.openxmlformats.org/drawingml/2006/main">
            <a:off x="552450" y="3968750"/>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4CB2FD4B-A74B-48BA-8FBE-5FA8DBDF901A}"/>
              </a:ext>
            </a:extLst>
          </p:cNvPr>
          <p:cNvSpPr>
            <a:spLocks xmlns:a="http://schemas.openxmlformats.org/drawingml/2006/main" noGrp="1"/>
          </p:cNvSpPr>
          <p:nvPr/>
        </p:nvSpPr>
        <p:spPr>
          <a:xfrm xmlns:a="http://schemas.openxmlformats.org/drawingml/2006/main">
            <a:off x="1257300" y="3968750"/>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ただし、U と V が独立とは限らない。</a:t>
            </a:r>
          </a:p>
        </p:txBody>
      </p:sp>
      <p:sp>
        <p:nvSpPr>
          <p:cNvPr id="12" name="">
            <a:extLst xmlns:a="http://schemas.openxmlformats.org/drawingml/2006/main">
              <a:ext uri="{FF2B5EF4-FFF2-40B4-BE49-F238E27FC236}">
                <a16:creationId xmlns:a16="http://schemas.microsoft.com/office/drawing/2014/main" id="{E9743EDE-D5EC-4430-8179-5116D0AB867D}"/>
              </a:ext>
            </a:extLst>
          </p:cNvPr>
          <p:cNvSpPr>
            <a:spLocks xmlns:a="http://schemas.openxmlformats.org/drawingml/2006/main" noGrp="1"/>
          </p:cNvSpPr>
          <p:nvPr/>
        </p:nvSpPr>
        <p:spPr>
          <a:xfrm xmlns:a="http://schemas.openxmlformats.org/drawingml/2006/main">
            <a:off x="552450" y="465137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12DA6234-954A-490B-BA51-C09A83CC6197}"/>
              </a:ext>
            </a:extLst>
          </p:cNvPr>
          <p:cNvSpPr>
            <a:spLocks xmlns:a="http://schemas.openxmlformats.org/drawingml/2006/main" noGrp="1"/>
          </p:cNvSpPr>
          <p:nvPr/>
        </p:nvSpPr>
        <p:spPr>
          <a:xfrm xmlns:a="http://schemas.openxmlformats.org/drawingml/2006/main">
            <a:off x="1257300" y="465137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 は「両方の条件を同時に満たす確率」。</a:t>
            </a:r>
          </a:p>
        </p:txBody>
      </p:sp>
      <p:sp>
        <p:nvSpPr>
          <p:cNvPr id="14" name="">
            <a:extLst xmlns:a="http://schemas.openxmlformats.org/drawingml/2006/main">
              <a:ext uri="{FF2B5EF4-FFF2-40B4-BE49-F238E27FC236}">
                <a16:creationId xmlns:a16="http://schemas.microsoft.com/office/drawing/2014/main" id="{A2540BCD-D319-4A8B-B0A9-170DDACFC33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2E51E8-D03B-4CE6-809A-AD9A41F8115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周辺が同じ一様分布でも、組合せの関係はCによって違う</a:t>
            </a:r>
          </a:p>
        </p:txBody>
      </p:sp>
    </p:spTree>
    <p:extLst>
      <p:ext uri="{BB962C8B-B14F-4D97-AF65-F5344CB8AC3E}">
        <p14:creationId xmlns:p14="http://schemas.microsoft.com/office/powerpoint/2010/main" val="14442555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2434BA-751B-4FBA-A141-487707B55C6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C(0.8, 0.5)は何を数える？</a:t>
            </a:r>
          </a:p>
        </p:txBody>
      </p:sp>
      <p:sp>
        <p:nvSpPr>
          <p:cNvPr id="2" name="">
            <a:extLst xmlns:a="http://schemas.openxmlformats.org/drawingml/2006/main">
              <a:ext uri="{FF2B5EF4-FFF2-40B4-BE49-F238E27FC236}">
                <a16:creationId xmlns:a16="http://schemas.microsoft.com/office/drawing/2014/main" id="{DCBA1F51-7BAF-4D27-A5B8-56CFE9648E1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68D7C0-1695-4B0F-8677-FB8C6F88BA6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身長の位置が0.8以下、かつ体重の位置が0.5以下の人の割合。</a:t>
            </a:r>
          </a:p>
        </p:txBody>
      </p:sp>
      <p:sp>
        <p:nvSpPr>
          <p:cNvPr id="4" name="">
            <a:extLst xmlns:a="http://schemas.openxmlformats.org/drawingml/2006/main">
              <a:ext uri="{FF2B5EF4-FFF2-40B4-BE49-F238E27FC236}">
                <a16:creationId xmlns:a16="http://schemas.microsoft.com/office/drawing/2014/main" id="{EE5DD474-964E-42DC-A24D-9C71B0DE6CF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815F8EC8-858F-4C48-A974-5A29E7B75B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21BD6C1A-5E57-4CEA-9BEB-27006854DC58}"/>
              </a:ext>
            </a:extLst>
          </p:cNvPr>
          <p:cNvSpPr>
            <a:spLocks xmlns:a="http://schemas.openxmlformats.org/drawingml/2006/main" noGrp="1"/>
          </p:cNvSpPr>
          <p:nvPr/>
        </p:nvSpPr>
        <p:spPr>
          <a:xfrm xmlns:a="http://schemas.openxmlformats.org/drawingml/2006/main">
            <a:off x="514350" y="2047875"/>
            <a:ext cx="531495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D3B8FC-7803-43FD-8884-9E4F2ABD9B81}"/>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二つの条件を重ねる</a:t>
            </a:r>
          </a:p>
        </p:txBody>
      </p:sp>
      <p:sp>
        <p:nvSpPr>
          <p:cNvPr id="8" name="">
            <a:extLst xmlns:a="http://schemas.openxmlformats.org/drawingml/2006/main">
              <a:ext uri="{FF2B5EF4-FFF2-40B4-BE49-F238E27FC236}">
                <a16:creationId xmlns:a16="http://schemas.microsoft.com/office/drawing/2014/main" id="{F02C9116-9299-4F16-AC62-905FE72CC3D1}"/>
              </a:ext>
            </a:extLst>
          </p:cNvPr>
          <p:cNvSpPr>
            <a:spLocks xmlns:a="http://schemas.openxmlformats.org/drawingml/2006/main" noGrp="1"/>
          </p:cNvSpPr>
          <p:nvPr/>
        </p:nvSpPr>
        <p:spPr>
          <a:xfrm xmlns:a="http://schemas.openxmlformats.org/drawingml/2006/main">
            <a:off x="704850" y="2714625"/>
            <a:ext cx="493395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条件1：U ≤ 0.8</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身長が低い側から80%まで</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条件2：V ≤ 0.5</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体重が軽い側から50%まで</a:t>
            </a:r>
          </a:p>
        </p:txBody>
      </p:sp>
      <p:sp>
        <p:nvSpPr>
          <p:cNvPr id="9" name="">
            <a:extLst xmlns:a="http://schemas.openxmlformats.org/drawingml/2006/main">
              <a:ext uri="{FF2B5EF4-FFF2-40B4-BE49-F238E27FC236}">
                <a16:creationId xmlns:a16="http://schemas.microsoft.com/office/drawing/2014/main" id="{A139B6FA-81E9-4204-B5EC-AC9DD1A93C80}"/>
              </a:ext>
            </a:extLst>
          </p:cNvPr>
          <p:cNvSpPr>
            <a:spLocks xmlns:a="http://schemas.openxmlformats.org/drawingml/2006/main" noGrp="1"/>
          </p:cNvSpPr>
          <p:nvPr/>
        </p:nvSpPr>
        <p:spPr>
          <a:xfrm xmlns:a="http://schemas.openxmlformats.org/drawingml/2006/main">
            <a:off x="6076950" y="2047875"/>
            <a:ext cx="560070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3577FFA-674D-423D-A421-0DDBDE5AA590}"/>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両方を満たす部分</a:t>
            </a:r>
          </a:p>
        </p:txBody>
      </p:sp>
      <p:sp>
        <p:nvSpPr>
          <p:cNvPr id="11" name="">
            <a:extLst xmlns:a="http://schemas.openxmlformats.org/drawingml/2006/main">
              <a:ext uri="{FF2B5EF4-FFF2-40B4-BE49-F238E27FC236}">
                <a16:creationId xmlns:a16="http://schemas.microsoft.com/office/drawing/2014/main" id="{E88F60D4-ACD9-411E-A160-7622FAF713C1}"/>
              </a:ext>
            </a:extLst>
          </p:cNvPr>
          <p:cNvSpPr>
            <a:spLocks xmlns:a="http://schemas.openxmlformats.org/drawingml/2006/main" noGrp="1"/>
          </p:cNvSpPr>
          <p:nvPr/>
        </p:nvSpPr>
        <p:spPr>
          <a:xfrm xmlns:a="http://schemas.openxmlformats.org/drawingml/2006/main">
            <a:off x="6267450" y="2714625"/>
            <a:ext cx="521970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「身長がこの範囲」かつ</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「体重もこの範囲」</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点の分布により割合が変わる。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ただ長方形の面積を計算する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とは限らない。</a:t>
            </a:r>
          </a:p>
        </p:txBody>
      </p:sp>
      <p:sp>
        <p:nvSpPr>
          <p:cNvPr id="12" name="">
            <a:extLst xmlns:a="http://schemas.openxmlformats.org/drawingml/2006/main">
              <a:ext uri="{FF2B5EF4-FFF2-40B4-BE49-F238E27FC236}">
                <a16:creationId xmlns:a16="http://schemas.microsoft.com/office/drawing/2014/main" id="{AF6A7DF9-4984-4CC0-8DB3-AED954D6F2E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551AD89-0B8E-4EE1-84D3-9640E3C2A39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Cは同時確率。条件付き確率とは区別する</a:t>
            </a:r>
          </a:p>
        </p:txBody>
      </p:sp>
    </p:spTree>
    <p:extLst>
      <p:ext uri="{BB962C8B-B14F-4D97-AF65-F5344CB8AC3E}">
        <p14:creationId xmlns:p14="http://schemas.microsoft.com/office/powerpoint/2010/main" val="20084763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25E8374-3E16-4394-A830-D6DE1BDABFB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同時確率を、図で見る</a:t>
            </a:r>
          </a:p>
        </p:txBody>
      </p:sp>
      <p:sp>
        <p:nvSpPr>
          <p:cNvPr id="2" name="">
            <a:extLst xmlns:a="http://schemas.openxmlformats.org/drawingml/2006/main">
              <a:ext uri="{FF2B5EF4-FFF2-40B4-BE49-F238E27FC236}">
                <a16:creationId xmlns:a16="http://schemas.microsoft.com/office/drawing/2014/main" id="{D58DF770-1328-401F-9AED-DDD077DBD13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3DB3B3-AA8A-4310-89EC-89B1186449D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独立の説明例：左下の範囲に入るのは100点中40点。</a:t>
            </a:r>
          </a:p>
        </p:txBody>
      </p:sp>
      <p:sp>
        <p:nvSpPr>
          <p:cNvPr id="4" name="">
            <a:extLst xmlns:a="http://schemas.openxmlformats.org/drawingml/2006/main">
              <a:ext uri="{FF2B5EF4-FFF2-40B4-BE49-F238E27FC236}">
                <a16:creationId xmlns:a16="http://schemas.microsoft.com/office/drawing/2014/main" id="{02E87009-1B3F-440E-BC84-964420DBABA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ED53D6F-8C88-43E8-AAD8-04BBE2BE603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graphicFrame>
        <p:nvGraphicFramePr>
          <p:cNvPr id="17" name="Chart"/>
          <p:cNvGraphicFramePr/>
          <p:nvPr/>
        </p:nvGraphicFramePr>
        <p:xfrm>
          <a:off xmlns:a="http://schemas.openxmlformats.org/drawingml/2006/main" x="609600" y="1952625"/>
          <a:ext xmlns:a="http://schemas.openxmlformats.org/drawingml/2006/main" cx="6191250" cy="3486150"/>
        </p:xfrm>
        <a:graphic xmlns:a="http://schemas.openxmlformats.org/drawingml/2006/main">
          <a:graphicData uri="http://schemas.openxmlformats.org/drawingml/2006/chart">
            <c:chart xmlns:r="http://schemas.openxmlformats.org/officeDocument/2006/relationships" xmlns:c="http://schemas.openxmlformats.org/drawingml/2006/chart" r:id="R64308089171b49a3"/>
          </a:graphicData>
        </a:graphic>
      </p:graphicFrame>
      <p:sp>
        <p:nvSpPr>
          <p:cNvPr id="7" name="">
            <a:extLst xmlns:a="http://schemas.openxmlformats.org/drawingml/2006/main">
              <a:ext uri="{FF2B5EF4-FFF2-40B4-BE49-F238E27FC236}">
                <a16:creationId xmlns:a16="http://schemas.microsoft.com/office/drawing/2014/main" id="{BA3E0E95-6AB9-4598-9DD6-62ABB84782A4}"/>
              </a:ext>
            </a:extLst>
          </p:cNvPr>
          <p:cNvSpPr>
            <a:spLocks xmlns:a="http://schemas.openxmlformats.org/drawingml/2006/main" noGrp="1"/>
          </p:cNvSpPr>
          <p:nvPr/>
        </p:nvSpPr>
        <p:spPr>
          <a:xfrm xmlns:a="http://schemas.openxmlformats.org/drawingml/2006/main">
            <a:off x="7086600" y="2095500"/>
            <a:ext cx="4552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89B3A8-8154-4D68-A982-6D258E71ED27}"/>
              </a:ext>
            </a:extLst>
          </p:cNvPr>
          <p:cNvSpPr>
            <a:spLocks xmlns:a="http://schemas.openxmlformats.org/drawingml/2006/main" noGrp="1"/>
          </p:cNvSpPr>
          <p:nvPr/>
        </p:nvSpPr>
        <p:spPr>
          <a:xfrm xmlns:a="http://schemas.openxmlformats.org/drawingml/2006/main">
            <a:off x="7277100" y="2209800"/>
            <a:ext cx="4171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緑の点を数える</a:t>
            </a:r>
          </a:p>
        </p:txBody>
      </p:sp>
      <p:sp>
        <p:nvSpPr>
          <p:cNvPr id="9" name="">
            <a:extLst xmlns:a="http://schemas.openxmlformats.org/drawingml/2006/main">
              <a:ext uri="{FF2B5EF4-FFF2-40B4-BE49-F238E27FC236}">
                <a16:creationId xmlns:a16="http://schemas.microsoft.com/office/drawing/2014/main" id="{4EA57A16-4D0B-4E16-ACB9-23E2C53654DF}"/>
              </a:ext>
            </a:extLst>
          </p:cNvPr>
          <p:cNvSpPr>
            <a:spLocks xmlns:a="http://schemas.openxmlformats.org/drawingml/2006/main" noGrp="1"/>
          </p:cNvSpPr>
          <p:nvPr/>
        </p:nvSpPr>
        <p:spPr>
          <a:xfrm xmlns:a="http://schemas.openxmlformats.org/drawingml/2006/main">
            <a:off x="7277100" y="2762250"/>
            <a:ext cx="4171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U ≤ 0.8 かつ V ≤ 0.5</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左下の範囲：40点</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全体：100点</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C(0.8, 0.5) = 0.4</a:t>
            </a:r>
          </a:p>
        </p:txBody>
      </p:sp>
      <p:sp>
        <p:nvSpPr>
          <p:cNvPr id="10" name="">
            <a:extLst xmlns:a="http://schemas.openxmlformats.org/drawingml/2006/main">
              <a:ext uri="{FF2B5EF4-FFF2-40B4-BE49-F238E27FC236}">
                <a16:creationId xmlns:a16="http://schemas.microsoft.com/office/drawing/2014/main" id="{E179E92F-9AAC-4B55-87C9-5F672DB8FB8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604A02-57AD-4B59-9078-79765C933DB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一般のCでは、同じ範囲でも点の集まり方で確率が変わる</a:t>
            </a:r>
          </a:p>
        </p:txBody>
      </p:sp>
    </p:spTree>
    <p:extLst>
      <p:ext uri="{BB962C8B-B14F-4D97-AF65-F5344CB8AC3E}">
        <p14:creationId xmlns:p14="http://schemas.microsoft.com/office/powerpoint/2010/main" val="14144519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E4C31A-98B9-4E7F-808F-73F262B3784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62939157-89C4-4E81-89BC-BCC45D2361F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7D9628A-E74C-4BB2-8D4B-128EBF16EEB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41A526FA-1C70-4475-BCFB-07A10801B59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6DCB3E9C-503D-4B83-AEF0-170221BFB60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sp>
        <p:nvSpPr>
          <p:cNvPr id="6" name="">
            <a:extLst xmlns:a="http://schemas.openxmlformats.org/drawingml/2006/main">
              <a:ext uri="{FF2B5EF4-FFF2-40B4-BE49-F238E27FC236}">
                <a16:creationId xmlns:a16="http://schemas.microsoft.com/office/drawing/2014/main" id="{A62A4839-ADF0-44B8-8D7E-513EF1BDFA3B}"/>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D29BE3-9767-47A7-B2F1-7301DDE24210}"/>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00B8BD88-6662-47FC-BBC6-7EC0AAD8C1C1}"/>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74FD4B05-1A6A-4ABD-AAB0-3004284C88E6}"/>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C01BC87F-3DEA-4839-91D6-EB041EFE26C6}"/>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51CB59E7-971A-4EAE-979D-455984451F8B}"/>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C4086268-6C3C-4795-9B73-A6BC8D05979B}"/>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13107195-20E8-42A8-9461-35837A8DFC8E}"/>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6C06E3E3-552C-4D58-96B6-7CF3B4F7D2F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7DDAA6-0526-4840-9526-EDAAC16E036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17482377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E318FF-5446-4E5F-8199-1F61BC29F63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168D703D-E6D3-41A9-B735-8CAA182D903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F3D221-0ECC-4DA7-8D50-E4D236C0FC0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2A37C479-F863-4707-844D-9E1A21CDEC7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B9C977D-D792-4D5F-BED1-5598C6A14DF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sp>
        <p:nvSpPr>
          <p:cNvPr id="6" name="">
            <a:extLst xmlns:a="http://schemas.openxmlformats.org/drawingml/2006/main">
              <a:ext uri="{FF2B5EF4-FFF2-40B4-BE49-F238E27FC236}">
                <a16:creationId xmlns:a16="http://schemas.microsoft.com/office/drawing/2014/main" id="{2E36C334-8DE0-423F-8C90-49DB5D428E58}"/>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7A9648-57E2-454C-9609-91C5F5B76CBF}"/>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C4DBAC3D-1241-400F-B7F3-6C476B9DD215}"/>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295AD837-9AD9-4282-B45F-022CAC9E2C46}"/>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60BC9542-936F-4DA9-9B72-07A89EE268A4}"/>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BCA58B27-5313-4EBE-BD7F-5EA29C2AAA8F}"/>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E45AE9B4-E0B2-48E4-A17D-A25209AD4C59}"/>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7E733EB-7A19-4759-B537-89C1B3A76953}"/>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14CFF45C-50FF-42BD-B18C-1C378B2D571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E2CFDE1-FF0A-4489-9874-86AC02C80B4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2822930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23F4B0-52CB-4978-9EFA-97DEB04FC76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5CABB8F5-1133-4ABA-AEA2-09C5D127212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8D77648-5645-4E30-A426-D1A89802FA5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7A6F20A8-D6EC-48FC-B99C-7F3B55B3BB1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D1A4552-EF44-4FB3-B748-2DC8158CA66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5C4FF48E-10F9-4191-9DC7-30DE39530099}"/>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67785A-E0D3-4E56-8E23-51C3D716E28B}"/>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B0DA43BC-D207-475C-B685-7A189649EFFD}"/>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F54D59B-6CD7-49B9-B10D-D249C594819F}"/>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A2AE279E-2E7B-455C-B2E0-F1B9BE31A527}"/>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0BFA0A57-A259-490B-B6BB-CDBC6A1FDE4B}"/>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E82D3795-B270-48E9-9B2B-2B96D8793477}"/>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16612B9-2BAC-440C-96F6-8EFA723BFD80}"/>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67C3728E-63F0-4E76-B365-E2ACBA55B33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27B3D35-E5CC-4884-A8B0-30BD9F53C22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14001367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6E1733-D932-43F7-B9B0-093FE6421D4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同じ周辺分布でも、同時確率は違う</a:t>
            </a:r>
          </a:p>
        </p:txBody>
      </p:sp>
      <p:sp>
        <p:nvSpPr>
          <p:cNvPr id="2" name="">
            <a:extLst xmlns:a="http://schemas.openxmlformats.org/drawingml/2006/main">
              <a:ext uri="{FF2B5EF4-FFF2-40B4-BE49-F238E27FC236}">
                <a16:creationId xmlns:a16="http://schemas.microsoft.com/office/drawing/2014/main" id="{3B0ED877-F6AC-4037-BE07-2F8BC697383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A522142-BA45-459A-87DF-8ABE924B702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どの場合も、身長・体重の位置はそれぞれ一様分布。</a:t>
            </a:r>
          </a:p>
        </p:txBody>
      </p:sp>
      <p:sp>
        <p:nvSpPr>
          <p:cNvPr id="4" name="">
            <a:extLst xmlns:a="http://schemas.openxmlformats.org/drawingml/2006/main">
              <a:ext uri="{FF2B5EF4-FFF2-40B4-BE49-F238E27FC236}">
                <a16:creationId xmlns:a16="http://schemas.microsoft.com/office/drawing/2014/main" id="{94C55412-A67F-42A9-BD87-B7C43916922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5C1B8BF-CA04-462D-8E5E-01BCF24E029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4" name=""/>
          <p:cNvGraphicFramePr/>
          <p:nvPr/>
        </p:nvGraphicFramePr>
        <p:xfrm>
          <a:off xmlns:a="http://schemas.openxmlformats.org/drawingml/2006/main" x="514350" y="2114550"/>
          <a:ext xmlns:a="http://schemas.openxmlformats.org/drawingml/2006/main" cx="11163300" cy="2762250"/>
        </p:xfrm>
        <a:graphic xmlns:a="http://schemas.openxmlformats.org/drawingml/2006/main">
          <a:graphicData uri="http://schemas.openxmlformats.org/drawingml/2006/table">
            <a:tbl>
              <a:tblPr/>
              <a:tblGrid>
                <a:gridCol w="3721100"/>
                <a:gridCol w="3721100"/>
                <a:gridCol w="3721100"/>
              </a:tblGrid>
              <a:tr h="690563">
                <a:tc>
                  <a:txBody>
                    <a:bodyPr/>
                    <a:lstStyle/>
                    <a:p>
                      <a:pPr algn="ctr"/>
                      <a:r>
                        <a:rPr sz="2100" b="1">
                          <a:solidFill>
                            <a:srgbClr val="2E7D5B"/>
                          </a:solidFill>
                          <a:latin typeface="Noto Sans JP"/>
                          <a:ea typeface="Noto Sans JP"/>
                          <a:cs typeface="Noto Sans JP"/>
                        </a:rPr>
                        <a:t>関係</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C(u, v)</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C(0.8, 0.5)</a:t>
                      </a:r>
                    </a:p>
                  </a:txBody>
                  <a:tcPr marL="91440" marR="91440" marT="45720" marB="45720" anchor="ctr">
                    <a:solidFill>
                      <a:srgbClr val="E7F2EC"/>
                    </a:solidFill>
                  </a:tcPr>
                </a:tc>
              </a:tr>
              <a:tr h="690563">
                <a:tc>
                  <a:txBody>
                    <a:bodyPr/>
                    <a:lstStyle/>
                    <a:p>
                      <a:pPr algn="ctr"/>
                      <a:r>
                        <a:rPr sz="2100" b="0">
                          <a:solidFill>
                            <a:srgbClr val="222222"/>
                          </a:solidFill>
                          <a:latin typeface="Noto Sans JP"/>
                          <a:ea typeface="Noto Sans JP"/>
                          <a:cs typeface="Noto Sans JP"/>
                        </a:rPr>
                        <a:t>独立</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uv</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0.4</a:t>
                      </a:r>
                    </a:p>
                  </a:txBody>
                  <a:tcPr marL="91440" marR="91440" marT="45720" marB="45720" anchor="ctr">
                    <a:solidFill>
                      <a:srgbClr val="FFFFFF"/>
                    </a:solidFill>
                  </a:tcPr>
                </a:tc>
              </a:tr>
              <a:tr h="690563">
                <a:tc>
                  <a:txBody>
                    <a:bodyPr/>
                    <a:lstStyle/>
                    <a:p>
                      <a:pPr algn="ctr"/>
                      <a:r>
                        <a:rPr sz="2100" b="0">
                          <a:solidFill>
                            <a:srgbClr val="222222"/>
                          </a:solidFill>
                          <a:latin typeface="Noto Sans JP"/>
                          <a:ea typeface="Noto Sans JP"/>
                          <a:cs typeface="Noto Sans JP"/>
                        </a:rPr>
                        <a:t>完全に同じ位置：V = 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min(u, v)</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a:t>
                      </a:r>
                    </a:p>
                  </a:txBody>
                  <a:tcPr marL="91440" marR="91440" marT="45720" marB="45720" anchor="ctr">
                    <a:solidFill>
                      <a:srgbClr val="F6F6F6"/>
                    </a:solidFill>
                  </a:tcPr>
                </a:tc>
              </a:tr>
              <a:tr h="690563">
                <a:tc>
                  <a:txBody>
                    <a:bodyPr/>
                    <a:lstStyle/>
                    <a:p>
                      <a:pPr algn="ctr"/>
                      <a:r>
                        <a:rPr sz="2100" b="0">
                          <a:solidFill>
                            <a:srgbClr val="222222"/>
                          </a:solidFill>
                          <a:latin typeface="Noto Sans JP"/>
                          <a:ea typeface="Noto Sans JP"/>
                          <a:cs typeface="Noto Sans JP"/>
                        </a:rPr>
                        <a:t>完全に逆の位置：V = 1 − U</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max(u + v − 1, 0)</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0.3</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264CA4C-9AA4-4978-A6BE-1CF9FCD8CD4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E676DA-69E0-4726-87BA-674D6561978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コピュラの役割：周辺分布だけでは決まらない同時確率を表す</a:t>
            </a:r>
          </a:p>
        </p:txBody>
      </p:sp>
    </p:spTree>
    <p:extLst>
      <p:ext uri="{BB962C8B-B14F-4D97-AF65-F5344CB8AC3E}">
        <p14:creationId xmlns:p14="http://schemas.microsoft.com/office/powerpoint/2010/main" val="8411619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0CE0E96-FEFC-475D-8B8C-BE7731422EC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元の値との接続：Sklarの定理</a:t>
            </a:r>
          </a:p>
        </p:txBody>
      </p:sp>
      <p:sp>
        <p:nvSpPr>
          <p:cNvPr id="2" name="">
            <a:extLst xmlns:a="http://schemas.openxmlformats.org/drawingml/2006/main">
              <a:ext uri="{FF2B5EF4-FFF2-40B4-BE49-F238E27FC236}">
                <a16:creationId xmlns:a16="http://schemas.microsoft.com/office/drawing/2014/main" id="{3001A389-D03C-4076-8D23-9FFBCB7D400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BBD671-7469-48B0-9DCA-3F99B8A9454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元の同時分布は「周辺分布」と「コピュラ」で表せる。</a:t>
            </a:r>
          </a:p>
        </p:txBody>
      </p:sp>
      <p:sp>
        <p:nvSpPr>
          <p:cNvPr id="4" name="">
            <a:extLst xmlns:a="http://schemas.openxmlformats.org/drawingml/2006/main">
              <a:ext uri="{FF2B5EF4-FFF2-40B4-BE49-F238E27FC236}">
                <a16:creationId xmlns:a16="http://schemas.microsoft.com/office/drawing/2014/main" id="{8943536A-76EE-48B1-B15C-624B08B98F8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3C50562C-E08A-48A8-8525-3AE168A3452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EC2ECA3B-36EC-431D-90DB-F8A2520348DB}"/>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EEA5047-F314-4231-963A-DD811432AA19}"/>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525" b="1">
                <a:solidFill>
                  <a:srgbClr val="2B6777"/>
                </a:solidFill>
                <a:latin typeface="Noto Sans JP"/>
                <a:ea typeface="Noto Sans JP"/>
                <a:cs typeface="Noto Sans JP"/>
              </a:defRPr>
            </a:pPr>
            <a:r>
              <a:rPr sz="3525" b="1">
                <a:solidFill>
                  <a:srgbClr val="2B6777"/>
                </a:solidFill>
                <a:latin typeface="Noto Sans JP"/>
                <a:ea typeface="Noto Sans JP"/>
                <a:cs typeface="Noto Sans JP"/>
              </a:rPr>
              <a:t>H(x, y) = C(Fₓ(x), Fᵧ(y))</a:t>
            </a:r>
          </a:p>
        </p:txBody>
      </p:sp>
      <p:sp>
        <p:nvSpPr>
          <p:cNvPr id="8" name="">
            <a:extLst xmlns:a="http://schemas.openxmlformats.org/drawingml/2006/main">
              <a:ext uri="{FF2B5EF4-FFF2-40B4-BE49-F238E27FC236}">
                <a16:creationId xmlns:a16="http://schemas.microsoft.com/office/drawing/2014/main" id="{8CEE6746-2E97-4B1F-8E02-3D4836197D0D}"/>
              </a:ext>
            </a:extLst>
          </p:cNvPr>
          <p:cNvSpPr>
            <a:spLocks xmlns:a="http://schemas.openxmlformats.org/drawingml/2006/main" noGrp="1"/>
          </p:cNvSpPr>
          <p:nvPr/>
        </p:nvSpPr>
        <p:spPr>
          <a:xfrm xmlns:a="http://schemas.openxmlformats.org/drawingml/2006/main">
            <a:off x="552450" y="333375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BA4AE6A9-962D-41E2-8E13-1AAFB8597FA6}"/>
              </a:ext>
            </a:extLst>
          </p:cNvPr>
          <p:cNvSpPr>
            <a:spLocks xmlns:a="http://schemas.openxmlformats.org/drawingml/2006/main" noGrp="1"/>
          </p:cNvSpPr>
          <p:nvPr/>
        </p:nvSpPr>
        <p:spPr>
          <a:xfrm xmlns:a="http://schemas.openxmlformats.org/drawingml/2006/main">
            <a:off x="1257300" y="333375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Fₓ(x)：身長の境界xを、位置uへ変える。</a:t>
            </a:r>
          </a:p>
        </p:txBody>
      </p:sp>
      <p:sp>
        <p:nvSpPr>
          <p:cNvPr id="10" name="">
            <a:extLst xmlns:a="http://schemas.openxmlformats.org/drawingml/2006/main">
              <a:ext uri="{FF2B5EF4-FFF2-40B4-BE49-F238E27FC236}">
                <a16:creationId xmlns:a16="http://schemas.microsoft.com/office/drawing/2014/main" id="{2116C00E-8CCB-45E5-9C5F-0CD92C655289}"/>
              </a:ext>
            </a:extLst>
          </p:cNvPr>
          <p:cNvSpPr>
            <a:spLocks xmlns:a="http://schemas.openxmlformats.org/drawingml/2006/main" noGrp="1"/>
          </p:cNvSpPr>
          <p:nvPr/>
        </p:nvSpPr>
        <p:spPr>
          <a:xfrm xmlns:a="http://schemas.openxmlformats.org/drawingml/2006/main">
            <a:off x="552450" y="4010025"/>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02FE433E-3889-42BF-933A-6293AD3E09DD}"/>
              </a:ext>
            </a:extLst>
          </p:cNvPr>
          <p:cNvSpPr>
            <a:spLocks xmlns:a="http://schemas.openxmlformats.org/drawingml/2006/main" noGrp="1"/>
          </p:cNvSpPr>
          <p:nvPr/>
        </p:nvSpPr>
        <p:spPr>
          <a:xfrm xmlns:a="http://schemas.openxmlformats.org/drawingml/2006/main">
            <a:off x="1257300" y="4010025"/>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Fᵧ(y)：体重の境界yを、位置vへ変える。</a:t>
            </a:r>
          </a:p>
        </p:txBody>
      </p:sp>
      <p:sp>
        <p:nvSpPr>
          <p:cNvPr id="12" name="">
            <a:extLst xmlns:a="http://schemas.openxmlformats.org/drawingml/2006/main">
              <a:ext uri="{FF2B5EF4-FFF2-40B4-BE49-F238E27FC236}">
                <a16:creationId xmlns:a16="http://schemas.microsoft.com/office/drawing/2014/main" id="{67883F2B-4E7C-49C0-8CCB-B9B7C4818120}"/>
              </a:ext>
            </a:extLst>
          </p:cNvPr>
          <p:cNvSpPr>
            <a:spLocks xmlns:a="http://schemas.openxmlformats.org/drawingml/2006/main" noGrp="1"/>
          </p:cNvSpPr>
          <p:nvPr/>
        </p:nvSpPr>
        <p:spPr>
          <a:xfrm xmlns:a="http://schemas.openxmlformats.org/drawingml/2006/main">
            <a:off x="552450" y="468630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9870218-4B5B-46EB-88E8-4A9159A8CC31}"/>
              </a:ext>
            </a:extLst>
          </p:cNvPr>
          <p:cNvSpPr>
            <a:spLocks xmlns:a="http://schemas.openxmlformats.org/drawingml/2006/main" noGrp="1"/>
          </p:cNvSpPr>
          <p:nvPr/>
        </p:nvSpPr>
        <p:spPr>
          <a:xfrm xmlns:a="http://schemas.openxmlformats.org/drawingml/2006/main">
            <a:off x="1257300" y="468630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C(u, v)：その二つを同時に満たす確率を返す。</a:t>
            </a:r>
          </a:p>
        </p:txBody>
      </p:sp>
      <p:sp>
        <p:nvSpPr>
          <p:cNvPr id="14" name="">
            <a:extLst xmlns:a="http://schemas.openxmlformats.org/drawingml/2006/main">
              <a:ext uri="{FF2B5EF4-FFF2-40B4-BE49-F238E27FC236}">
                <a16:creationId xmlns:a16="http://schemas.microsoft.com/office/drawing/2014/main" id="{DF559486-D120-4514-B474-29917E3C8D9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B83D80-0162-4250-A7F3-52A635DEF0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連続な周辺分布なら、このCは一意に決まる</a:t>
            </a:r>
          </a:p>
        </p:txBody>
      </p:sp>
    </p:spTree>
    <p:extLst>
      <p:ext uri="{BB962C8B-B14F-4D97-AF65-F5344CB8AC3E}">
        <p14:creationId xmlns:p14="http://schemas.microsoft.com/office/powerpoint/2010/main" val="167289475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B48B71-F87E-4B01-A2D8-5B16538CEC4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生成する場合は、逆向きに使う</a:t>
            </a:r>
          </a:p>
        </p:txBody>
      </p:sp>
      <p:sp>
        <p:nvSpPr>
          <p:cNvPr id="2" name="">
            <a:extLst xmlns:a="http://schemas.openxmlformats.org/drawingml/2006/main">
              <a:ext uri="{FF2B5EF4-FFF2-40B4-BE49-F238E27FC236}">
                <a16:creationId xmlns:a16="http://schemas.microsoft.com/office/drawing/2014/main" id="{C57FEE3D-1349-4A7E-A30B-DDD52485437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EC1A254-C82E-4AE5-B29F-53D04CD526D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位置の組を作ってから、各列の元の単位へ戻す。</a:t>
            </a:r>
          </a:p>
        </p:txBody>
      </p:sp>
      <p:sp>
        <p:nvSpPr>
          <p:cNvPr id="4" name="">
            <a:extLst xmlns:a="http://schemas.openxmlformats.org/drawingml/2006/main">
              <a:ext uri="{FF2B5EF4-FFF2-40B4-BE49-F238E27FC236}">
                <a16:creationId xmlns:a16="http://schemas.microsoft.com/office/drawing/2014/main" id="{EB7B1346-E769-4185-A18A-651755B9B69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C72A29D-47B5-44FB-80D4-BDBC4177844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B97E4C52-FDE9-4874-9535-A7A287630FC7}"/>
              </a:ext>
            </a:extLst>
          </p:cNvPr>
          <p:cNvSpPr>
            <a:spLocks xmlns:a="http://schemas.openxmlformats.org/drawingml/2006/main" noGrp="1"/>
          </p:cNvSpPr>
          <p:nvPr/>
        </p:nvSpPr>
        <p:spPr>
          <a:xfrm xmlns:a="http://schemas.openxmlformats.org/drawingml/2006/main">
            <a:off x="514350" y="20383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CBCDB3-00A2-4689-A3B3-E9673143516B}"/>
              </a:ext>
            </a:extLst>
          </p:cNvPr>
          <p:cNvSpPr>
            <a:spLocks xmlns:a="http://schemas.openxmlformats.org/drawingml/2006/main" noGrp="1"/>
          </p:cNvSpPr>
          <p:nvPr/>
        </p:nvSpPr>
        <p:spPr>
          <a:xfrm xmlns:a="http://schemas.openxmlformats.org/drawingml/2006/main">
            <a:off x="704850" y="21336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(U, V) ~ C  →  X = Fₓ⁻¹(U),  Y = Fᵧ⁻¹(V)</a:t>
            </a:r>
          </a:p>
        </p:txBody>
      </p:sp>
      <p:sp>
        <p:nvSpPr>
          <p:cNvPr id="8" name="">
            <a:extLst xmlns:a="http://schemas.openxmlformats.org/drawingml/2006/main">
              <a:ext uri="{FF2B5EF4-FFF2-40B4-BE49-F238E27FC236}">
                <a16:creationId xmlns:a16="http://schemas.microsoft.com/office/drawing/2014/main" id="{8750653D-A8E2-4E53-9174-D1966F0E1366}"/>
              </a:ext>
            </a:extLst>
          </p:cNvPr>
          <p:cNvSpPr>
            <a:spLocks xmlns:a="http://schemas.openxmlformats.org/drawingml/2006/main" noGrp="1"/>
          </p:cNvSpPr>
          <p:nvPr/>
        </p:nvSpPr>
        <p:spPr>
          <a:xfrm xmlns:a="http://schemas.openxmlformats.org/drawingml/2006/main">
            <a:off x="552450" y="33528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41F1958B-2ABB-4516-BB46-34A63C60BE37}"/>
              </a:ext>
            </a:extLst>
          </p:cNvPr>
          <p:cNvSpPr>
            <a:spLocks xmlns:a="http://schemas.openxmlformats.org/drawingml/2006/main" noGrp="1"/>
          </p:cNvSpPr>
          <p:nvPr/>
        </p:nvSpPr>
        <p:spPr>
          <a:xfrm xmlns:a="http://schemas.openxmlformats.org/drawingml/2006/main">
            <a:off x="1257300" y="33528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周辺分布：どんな身長・体重の値が存在するか。</a:t>
            </a:r>
          </a:p>
        </p:txBody>
      </p:sp>
      <p:sp>
        <p:nvSpPr>
          <p:cNvPr id="10" name="">
            <a:extLst xmlns:a="http://schemas.openxmlformats.org/drawingml/2006/main">
              <a:ext uri="{FF2B5EF4-FFF2-40B4-BE49-F238E27FC236}">
                <a16:creationId xmlns:a16="http://schemas.microsoft.com/office/drawing/2014/main" id="{0A908D81-7392-409B-B78A-D53B343808C3}"/>
              </a:ext>
            </a:extLst>
          </p:cNvPr>
          <p:cNvSpPr>
            <a:spLocks xmlns:a="http://schemas.openxmlformats.org/drawingml/2006/main" noGrp="1"/>
          </p:cNvSpPr>
          <p:nvPr/>
        </p:nvSpPr>
        <p:spPr>
          <a:xfrm xmlns:a="http://schemas.openxmlformats.org/drawingml/2006/main">
            <a:off x="552450" y="40132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7F3AD7D-5292-411D-95D7-B8781ABF1F7E}"/>
              </a:ext>
            </a:extLst>
          </p:cNvPr>
          <p:cNvSpPr>
            <a:spLocks xmlns:a="http://schemas.openxmlformats.org/drawingml/2006/main" noGrp="1"/>
          </p:cNvSpPr>
          <p:nvPr/>
        </p:nvSpPr>
        <p:spPr>
          <a:xfrm xmlns:a="http://schemas.openxmlformats.org/drawingml/2006/main">
            <a:off x="1257300" y="40132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コピュラ：どんな位置の組を一緒に作るか。</a:t>
            </a:r>
          </a:p>
        </p:txBody>
      </p:sp>
      <p:sp>
        <p:nvSpPr>
          <p:cNvPr id="12" name="">
            <a:extLst xmlns:a="http://schemas.openxmlformats.org/drawingml/2006/main">
              <a:ext uri="{FF2B5EF4-FFF2-40B4-BE49-F238E27FC236}">
                <a16:creationId xmlns:a16="http://schemas.microsoft.com/office/drawing/2014/main" id="{8B41194F-2E9E-4BBA-B49A-ED6F192D422C}"/>
              </a:ext>
            </a:extLst>
          </p:cNvPr>
          <p:cNvSpPr>
            <a:spLocks xmlns:a="http://schemas.openxmlformats.org/drawingml/2006/main" noGrp="1"/>
          </p:cNvSpPr>
          <p:nvPr/>
        </p:nvSpPr>
        <p:spPr>
          <a:xfrm xmlns:a="http://schemas.openxmlformats.org/drawingml/2006/main">
            <a:off x="552450" y="46736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3FEE911-2FDE-4B24-B1E5-C1659F4EE081}"/>
              </a:ext>
            </a:extLst>
          </p:cNvPr>
          <p:cNvSpPr>
            <a:spLocks xmlns:a="http://schemas.openxmlformats.org/drawingml/2006/main" noGrp="1"/>
          </p:cNvSpPr>
          <p:nvPr/>
        </p:nvSpPr>
        <p:spPr>
          <a:xfrm xmlns:a="http://schemas.openxmlformats.org/drawingml/2006/main">
            <a:off x="1257300" y="46736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逆累積分布：位置から、cm・kgへ戻す。</a:t>
            </a:r>
          </a:p>
        </p:txBody>
      </p:sp>
      <p:sp>
        <p:nvSpPr>
          <p:cNvPr id="14" name="">
            <a:extLst xmlns:a="http://schemas.openxmlformats.org/drawingml/2006/main">
              <a:ext uri="{FF2B5EF4-FFF2-40B4-BE49-F238E27FC236}">
                <a16:creationId xmlns:a16="http://schemas.microsoft.com/office/drawing/2014/main" id="{67F99197-52AD-4F9F-B2E0-C6E8460C62E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A3BC65B-25F3-470A-83F4-91174B536C3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本研究では「残した列の位置」を条件に、置換する列の位置を作る</a:t>
            </a:r>
          </a:p>
        </p:txBody>
      </p:sp>
    </p:spTree>
    <p:extLst>
      <p:ext uri="{BB962C8B-B14F-4D97-AF65-F5344CB8AC3E}">
        <p14:creationId xmlns:p14="http://schemas.microsoft.com/office/powerpoint/2010/main" val="145802208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49A08-4C1C-4D66-A680-E7FB59BEFB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FE25F311-1975-4F0E-9348-FA549193700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890D75E-ABEF-41F7-8E04-51533A5BE63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FA3FC8C5-1052-429B-9926-7EEDDFAB7FE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1BB9E1C-B51E-4CB1-841F-ED9B99CA43B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8BEE04F-4B44-4108-8EA5-F652DFCCE01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11025F-DBAA-4CBF-A927-D02493D5114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14021797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C725FF-2F3F-4E8B-AB60-C98F8D6DE9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「裾の依存」は、相関と何が違う？</a:t>
            </a:r>
          </a:p>
        </p:txBody>
      </p:sp>
      <p:sp>
        <p:nvSpPr>
          <p:cNvPr id="2" name="">
            <a:extLst xmlns:a="http://schemas.openxmlformats.org/drawingml/2006/main">
              <a:ext uri="{FF2B5EF4-FFF2-40B4-BE49-F238E27FC236}">
                <a16:creationId xmlns:a16="http://schemas.microsoft.com/office/drawing/2014/main" id="{7A8AB073-F494-49EF-97DA-8652A46094F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3F958BB-8C9B-43EF-88D9-37A3B3EB10F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各変数が極端に大きい／小さいとき、もう一方も極端かを見る。</a:t>
            </a:r>
          </a:p>
        </p:txBody>
      </p:sp>
      <p:sp>
        <p:nvSpPr>
          <p:cNvPr id="4" name="">
            <a:extLst xmlns:a="http://schemas.openxmlformats.org/drawingml/2006/main">
              <a:ext uri="{FF2B5EF4-FFF2-40B4-BE49-F238E27FC236}">
                <a16:creationId xmlns:a16="http://schemas.microsoft.com/office/drawing/2014/main" id="{57CACB17-CD6B-4352-B887-FDCDD559F67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454773D-E10B-4528-9787-C89FBE65CC4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0796D370-E47B-4C0A-A0A4-B6A820BC0191}"/>
              </a:ext>
            </a:extLst>
          </p:cNvPr>
          <p:cNvSpPr>
            <a:spLocks xmlns:a="http://schemas.openxmlformats.org/drawingml/2006/main" noGrp="1"/>
          </p:cNvSpPr>
          <p:nvPr/>
        </p:nvSpPr>
        <p:spPr>
          <a:xfrm xmlns:a="http://schemas.openxmlformats.org/drawingml/2006/main">
            <a:off x="514350" y="2095500"/>
            <a:ext cx="531495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89E666-F59D-4831-98A3-496C9D508604}"/>
              </a:ext>
            </a:extLst>
          </p:cNvPr>
          <p:cNvSpPr>
            <a:spLocks xmlns:a="http://schemas.openxmlformats.org/drawingml/2006/main" noGrp="1"/>
          </p:cNvSpPr>
          <p:nvPr/>
        </p:nvSpPr>
        <p:spPr>
          <a:xfrm xmlns:a="http://schemas.openxmlformats.org/drawingml/2006/main">
            <a:off x="704850" y="22098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上側の裾</a:t>
            </a:r>
          </a:p>
        </p:txBody>
      </p:sp>
      <p:sp>
        <p:nvSpPr>
          <p:cNvPr id="8" name="">
            <a:extLst xmlns:a="http://schemas.openxmlformats.org/drawingml/2006/main">
              <a:ext uri="{FF2B5EF4-FFF2-40B4-BE49-F238E27FC236}">
                <a16:creationId xmlns:a16="http://schemas.microsoft.com/office/drawing/2014/main" id="{C91B0FAC-FA49-4804-9FFE-25DA84189D0C}"/>
              </a:ext>
            </a:extLst>
          </p:cNvPr>
          <p:cNvSpPr>
            <a:spLocks xmlns:a="http://schemas.openxmlformats.org/drawingml/2006/main" noGrp="1"/>
          </p:cNvSpPr>
          <p:nvPr/>
        </p:nvSpPr>
        <p:spPr>
          <a:xfrm xmlns:a="http://schemas.openxmlformats.org/drawingml/2006/main">
            <a:off x="704850" y="2762250"/>
            <a:ext cx="49339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上位1%の大雨があるとき、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別地点も上位1%になりやすいか。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Gumbel・Joe：上側の依存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Student-t：上下両側</a:t>
            </a:r>
          </a:p>
        </p:txBody>
      </p:sp>
      <p:sp>
        <p:nvSpPr>
          <p:cNvPr id="9" name="">
            <a:extLst xmlns:a="http://schemas.openxmlformats.org/drawingml/2006/main">
              <a:ext uri="{FF2B5EF4-FFF2-40B4-BE49-F238E27FC236}">
                <a16:creationId xmlns:a16="http://schemas.microsoft.com/office/drawing/2014/main" id="{64A099B8-C241-43C2-BF05-71BA377D290C}"/>
              </a:ext>
            </a:extLst>
          </p:cNvPr>
          <p:cNvSpPr>
            <a:spLocks xmlns:a="http://schemas.openxmlformats.org/drawingml/2006/main" noGrp="1"/>
          </p:cNvSpPr>
          <p:nvPr/>
        </p:nvSpPr>
        <p:spPr>
          <a:xfrm xmlns:a="http://schemas.openxmlformats.org/drawingml/2006/main">
            <a:off x="6076950" y="2095500"/>
            <a:ext cx="56007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159E3C-D3CB-44C7-9D02-1237028194FB}"/>
              </a:ext>
            </a:extLst>
          </p:cNvPr>
          <p:cNvSpPr>
            <a:spLocks xmlns:a="http://schemas.openxmlformats.org/drawingml/2006/main" noGrp="1"/>
          </p:cNvSpPr>
          <p:nvPr/>
        </p:nvSpPr>
        <p:spPr>
          <a:xfrm xmlns:a="http://schemas.openxmlformats.org/drawingml/2006/main">
            <a:off x="6267450" y="22098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下側の裾</a:t>
            </a:r>
          </a:p>
        </p:txBody>
      </p:sp>
      <p:sp>
        <p:nvSpPr>
          <p:cNvPr id="11" name="">
            <a:extLst xmlns:a="http://schemas.openxmlformats.org/drawingml/2006/main">
              <a:ext uri="{FF2B5EF4-FFF2-40B4-BE49-F238E27FC236}">
                <a16:creationId xmlns:a16="http://schemas.microsoft.com/office/drawing/2014/main" id="{4D8F82B0-7861-460D-8D90-3AA2738F3A17}"/>
              </a:ext>
            </a:extLst>
          </p:cNvPr>
          <p:cNvSpPr>
            <a:spLocks xmlns:a="http://schemas.openxmlformats.org/drawingml/2006/main" noGrp="1"/>
          </p:cNvSpPr>
          <p:nvPr/>
        </p:nvSpPr>
        <p:spPr>
          <a:xfrm xmlns:a="http://schemas.openxmlformats.org/drawingml/2006/main">
            <a:off x="6267450" y="2762250"/>
            <a:ext cx="52197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下位1%の収益になるとき、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別の資産も下位1%か。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Clayton：下側の依存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Gaussian：漸近的な裾依存は0</a:t>
            </a:r>
          </a:p>
        </p:txBody>
      </p:sp>
      <p:sp>
        <p:nvSpPr>
          <p:cNvPr id="12" name="">
            <a:extLst xmlns:a="http://schemas.openxmlformats.org/drawingml/2006/main">
              <a:ext uri="{FF2B5EF4-FFF2-40B4-BE49-F238E27FC236}">
                <a16:creationId xmlns:a16="http://schemas.microsoft.com/office/drawing/2014/main" id="{17E8F0A7-13BF-4F65-B8E2-C8265E2D8EB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B941831-EE47-44FD-A1E0-FFF5DADD0C2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各列の裾が重いことと、列どうしの裾依存は別の性質</a:t>
            </a:r>
          </a:p>
        </p:txBody>
      </p:sp>
    </p:spTree>
    <p:extLst>
      <p:ext uri="{BB962C8B-B14F-4D97-AF65-F5344CB8AC3E}">
        <p14:creationId xmlns:p14="http://schemas.microsoft.com/office/powerpoint/2010/main" val="195445449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A24865-9F19-44F4-8FEF-464E21D3AE5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4D0865C6-00F8-4E4F-9AAC-4900F5F875A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0F8193-D4F2-4E80-81D6-767E3E8B0DE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条件付き分布を計算しやすく、置換器の比較を始めやすい。</a:t>
            </a:r>
          </a:p>
        </p:txBody>
      </p:sp>
      <p:sp>
        <p:nvSpPr>
          <p:cNvPr id="4" name="">
            <a:extLst xmlns:a="http://schemas.openxmlformats.org/drawingml/2006/main">
              <a:ext uri="{FF2B5EF4-FFF2-40B4-BE49-F238E27FC236}">
                <a16:creationId xmlns:a16="http://schemas.microsoft.com/office/drawing/2014/main" id="{0D86B8DD-5629-41CD-9312-3EAD5F45795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47B810D-9650-44CE-9493-DB3B8A828FE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sp>
        <p:nvSpPr>
          <p:cNvPr id="6" name="">
            <a:extLst xmlns:a="http://schemas.openxmlformats.org/drawingml/2006/main">
              <a:ext uri="{FF2B5EF4-FFF2-40B4-BE49-F238E27FC236}">
                <a16:creationId xmlns:a16="http://schemas.microsoft.com/office/drawing/2014/main" id="{3A603C11-AC19-4F4B-B345-C50615705AD0}"/>
              </a:ext>
            </a:extLst>
          </p:cNvPr>
          <p:cNvSpPr>
            <a:spLocks xmlns:a="http://schemas.openxmlformats.org/drawingml/2006/main" noGrp="1"/>
          </p:cNvSpPr>
          <p:nvPr/>
        </p:nvSpPr>
        <p:spPr>
          <a:xfrm xmlns:a="http://schemas.openxmlformats.org/drawingml/2006/main">
            <a:off x="514350" y="2047875"/>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6EBC6D-2048-41FA-AFDC-F189C095D51C}"/>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採用する理由</a:t>
            </a:r>
          </a:p>
        </p:txBody>
      </p:sp>
      <p:sp>
        <p:nvSpPr>
          <p:cNvPr id="8" name="">
            <a:extLst xmlns:a="http://schemas.openxmlformats.org/drawingml/2006/main">
              <a:ext uri="{FF2B5EF4-FFF2-40B4-BE49-F238E27FC236}">
                <a16:creationId xmlns:a16="http://schemas.microsoft.com/office/drawing/2014/main" id="{5F035B7E-B494-4481-BFF0-35B10525D514}"/>
              </a:ext>
            </a:extLst>
          </p:cNvPr>
          <p:cNvSpPr>
            <a:spLocks xmlns:a="http://schemas.openxmlformats.org/drawingml/2006/main" noGrp="1"/>
          </p:cNvSpPr>
          <p:nvPr/>
        </p:nvSpPr>
        <p:spPr>
          <a:xfrm xmlns:a="http://schemas.openxmlformats.org/drawingml/2006/main">
            <a:off x="704850" y="2714625"/>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相関行列Rで依存を表す。</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複数列を同時に条件付き生成。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訓練にクラスラベルが不要。</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既存コードに生成器として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組み込みやすい。</a:t>
            </a:r>
          </a:p>
        </p:txBody>
      </p:sp>
      <p:sp>
        <p:nvSpPr>
          <p:cNvPr id="9" name="">
            <a:extLst xmlns:a="http://schemas.openxmlformats.org/drawingml/2006/main">
              <a:ext uri="{FF2B5EF4-FFF2-40B4-BE49-F238E27FC236}">
                <a16:creationId xmlns:a16="http://schemas.microsoft.com/office/drawing/2014/main" id="{684D7C09-748B-4240-8AED-0B791DC575D0}"/>
              </a:ext>
            </a:extLst>
          </p:cNvPr>
          <p:cNvSpPr>
            <a:spLocks xmlns:a="http://schemas.openxmlformats.org/drawingml/2006/main" noGrp="1"/>
          </p:cNvSpPr>
          <p:nvPr/>
        </p:nvSpPr>
        <p:spPr>
          <a:xfrm xmlns:a="http://schemas.openxmlformats.org/drawingml/2006/main">
            <a:off x="6076950" y="2047875"/>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FE2759-487B-4CCC-8800-D6E8F862FDBC}"/>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表現できないこともある</a:t>
            </a:r>
          </a:p>
        </p:txBody>
      </p:sp>
      <p:sp>
        <p:nvSpPr>
          <p:cNvPr id="11" name="">
            <a:extLst xmlns:a="http://schemas.openxmlformats.org/drawingml/2006/main">
              <a:ext uri="{FF2B5EF4-FFF2-40B4-BE49-F238E27FC236}">
                <a16:creationId xmlns:a16="http://schemas.microsoft.com/office/drawing/2014/main" id="{BFA6CA21-F8AB-434F-B15E-701383A99512}"/>
              </a:ext>
            </a:extLst>
          </p:cNvPr>
          <p:cNvSpPr>
            <a:spLocks xmlns:a="http://schemas.openxmlformats.org/drawingml/2006/main" noGrp="1"/>
          </p:cNvSpPr>
          <p:nvPr/>
        </p:nvSpPr>
        <p:spPr>
          <a:xfrm xmlns:a="http://schemas.openxmlformats.org/drawingml/2006/main">
            <a:off x="6267450" y="2714625"/>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潜在空間のU字型・多峰性を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任意に表せるわけではない。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非退化なGaussian copulaは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上下の漸近的な裾依存が0。</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カテゴリ列への適用も要検討。</a:t>
            </a:r>
          </a:p>
        </p:txBody>
      </p:sp>
      <p:sp>
        <p:nvSpPr>
          <p:cNvPr id="12" name="">
            <a:extLst xmlns:a="http://schemas.openxmlformats.org/drawingml/2006/main">
              <a:ext uri="{FF2B5EF4-FFF2-40B4-BE49-F238E27FC236}">
                <a16:creationId xmlns:a16="http://schemas.microsoft.com/office/drawing/2014/main" id="{603E5D81-B19B-4D8E-9C44-29E896FD025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7BDFDA-ED95-42BC-96A9-5EC575A57B6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「コピュラなら何でも捉える」とは言わず、まず仮定を検証する</a:t>
            </a:r>
          </a:p>
        </p:txBody>
      </p:sp>
    </p:spTree>
    <p:extLst>
      <p:ext uri="{BB962C8B-B14F-4D97-AF65-F5344CB8AC3E}">
        <p14:creationId xmlns:p14="http://schemas.microsoft.com/office/powerpoint/2010/main" val="2801910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9A7CF2-F2AE-43B1-BA6A-FA818BA441A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学習手順①：値を位置へ変える</a:t>
            </a:r>
          </a:p>
        </p:txBody>
      </p:sp>
      <p:sp>
        <p:nvSpPr>
          <p:cNvPr id="2" name="">
            <a:extLst xmlns:a="http://schemas.openxmlformats.org/drawingml/2006/main">
              <a:ext uri="{FF2B5EF4-FFF2-40B4-BE49-F238E27FC236}">
                <a16:creationId xmlns:a16="http://schemas.microsoft.com/office/drawing/2014/main" id="{7B1B34EA-F1AA-404F-B6AE-D7D7C89927B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58D4C5-A328-4A6C-B365-9E9FBE07F2E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訓練データだけから、各列の経験的な周辺分布を推定する。</a:t>
            </a:r>
          </a:p>
        </p:txBody>
      </p:sp>
      <p:sp>
        <p:nvSpPr>
          <p:cNvPr id="4" name="">
            <a:extLst xmlns:a="http://schemas.openxmlformats.org/drawingml/2006/main">
              <a:ext uri="{FF2B5EF4-FFF2-40B4-BE49-F238E27FC236}">
                <a16:creationId xmlns:a16="http://schemas.microsoft.com/office/drawing/2014/main" id="{6E74746B-B87F-4614-90F5-811A836E705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AEFB3BD2-A83F-486D-B1F5-543DF1DB00D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sp>
        <p:nvSpPr>
          <p:cNvPr id="6" name="">
            <a:extLst xmlns:a="http://schemas.openxmlformats.org/drawingml/2006/main">
              <a:ext uri="{FF2B5EF4-FFF2-40B4-BE49-F238E27FC236}">
                <a16:creationId xmlns:a16="http://schemas.microsoft.com/office/drawing/2014/main" id="{7FEA7841-7459-4251-BDB7-734E5872DBEF}"/>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1E870C-C0F5-4848-926B-C1A5CE840605}"/>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uᵢⱼ = (rᵢⱼ − 0.5) / n</a:t>
            </a:r>
          </a:p>
        </p:txBody>
      </p:sp>
      <p:graphicFrame>
        <p:nvGraphicFramePr>
          <p:cNvPr id="18" name=""/>
          <p:cNvGraphicFramePr/>
          <p:nvPr/>
        </p:nvGraphicFramePr>
        <p:xfrm>
          <a:off xmlns:a="http://schemas.openxmlformats.org/drawingml/2006/main" x="514350" y="3448050"/>
          <a:ext xmlns:a="http://schemas.openxmlformats.org/drawingml/2006/main" cx="11163300" cy="1771650"/>
        </p:xfrm>
        <a:graphic xmlns:a="http://schemas.openxmlformats.org/drawingml/2006/main">
          <a:graphicData uri="http://schemas.openxmlformats.org/drawingml/2006/table">
            <a:tbl>
              <a:tblPr/>
              <a:tblGrid>
                <a:gridCol w="2232660"/>
                <a:gridCol w="2232660"/>
                <a:gridCol w="2232660"/>
                <a:gridCol w="2232660"/>
                <a:gridCol w="2232660"/>
              </a:tblGrid>
              <a:tr h="590550">
                <a:tc>
                  <a:txBody>
                    <a:bodyPr/>
                    <a:lstStyle/>
                    <a:p>
                      <a:pPr algn="ctr"/>
                      <a:r>
                        <a:rPr sz="2100" b="1">
                          <a:solidFill>
                            <a:srgbClr val="2E7D5B"/>
                          </a:solidFill>
                          <a:latin typeface="Noto Sans JP"/>
                          <a:ea typeface="Noto Sans JP"/>
                          <a:cs typeface="Noto Sans JP"/>
                        </a:rPr>
                        <a:t>身長：説明用4人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155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165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175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185</a:t>
                      </a:r>
                    </a:p>
                  </a:txBody>
                  <a:tcPr marL="91440" marR="91440" marT="45720" marB="45720" anchor="ctr">
                    <a:solidFill>
                      <a:srgbClr val="E7F2EC"/>
                    </a:solidFill>
                  </a:tcPr>
                </a:tc>
              </a:tr>
              <a:tr h="590550">
                <a:tc>
                  <a:txBody>
                    <a:bodyPr/>
                    <a:lstStyle/>
                    <a:p>
                      <a:pPr algn="ctr"/>
                      <a:r>
                        <a:rPr sz="2100" b="0">
                          <a:solidFill>
                            <a:srgbClr val="222222"/>
                          </a:solidFill>
                          <a:latin typeface="Noto Sans JP"/>
                          <a:ea typeface="Noto Sans JP"/>
                          <a:cs typeface="Noto Sans JP"/>
                        </a:rPr>
                        <a:t>順位r</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2</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3</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a:t>
                      </a:r>
                    </a:p>
                  </a:txBody>
                  <a:tcPr marL="91440" marR="91440" marT="45720" marB="45720" anchor="ctr">
                    <a:solidFill>
                      <a:srgbClr val="FFFFFF"/>
                    </a:solidFill>
                  </a:tcPr>
                </a:tc>
              </a:tr>
              <a:tr h="590550">
                <a:tc>
                  <a:txBody>
                    <a:bodyPr/>
                    <a:lstStyle/>
                    <a:p>
                      <a:pPr algn="ctr"/>
                      <a:r>
                        <a:rPr sz="2100" b="0">
                          <a:solidFill>
                            <a:srgbClr val="222222"/>
                          </a:solidFill>
                          <a:latin typeface="Noto Sans JP"/>
                          <a:ea typeface="Noto Sans JP"/>
                          <a:cs typeface="Noto Sans JP"/>
                        </a:rPr>
                        <a:t>推定用の位置u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0.125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0.375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0.625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0.875</a:t>
                      </a:r>
                    </a:p>
                  </a:txBody>
                  <a:tcPr marL="91440" marR="91440" marT="45720" marB="45720" anchor="ctr">
                    <a:solidFill>
                      <a:srgbClr val="F6F6F6"/>
                    </a:solidFill>
                  </a:tcPr>
                </a:tc>
              </a:tr>
            </a:tbl>
          </a:graphicData>
        </a:graphic>
      </p:graphicFrame>
      <p:sp>
        <p:nvSpPr>
          <p:cNvPr id="9" name="">
            <a:extLst xmlns:a="http://schemas.openxmlformats.org/drawingml/2006/main">
              <a:ext uri="{FF2B5EF4-FFF2-40B4-BE49-F238E27FC236}">
                <a16:creationId xmlns:a16="http://schemas.microsoft.com/office/drawing/2014/main" id="{C041A22E-8B67-4FAD-9363-25A03FE9890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499A45F-2D7C-474E-948F-33C28A675E2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0・1を避ける。逆正規変換で無限大になるのを防ぐ</a:t>
            </a:r>
          </a:p>
        </p:txBody>
      </p:sp>
    </p:spTree>
    <p:extLst>
      <p:ext uri="{BB962C8B-B14F-4D97-AF65-F5344CB8AC3E}">
        <p14:creationId xmlns:p14="http://schemas.microsoft.com/office/powerpoint/2010/main" val="78361640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056F6B-46BA-4FC5-B5D3-66BE871463A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学習手順②：位置を潜在正規へ</a:t>
            </a:r>
          </a:p>
        </p:txBody>
      </p:sp>
      <p:sp>
        <p:nvSpPr>
          <p:cNvPr id="2" name="">
            <a:extLst xmlns:a="http://schemas.openxmlformats.org/drawingml/2006/main">
              <a:ext uri="{FF2B5EF4-FFF2-40B4-BE49-F238E27FC236}">
                <a16:creationId xmlns:a16="http://schemas.microsoft.com/office/drawing/2014/main" id="{0AACB01C-497B-4DEC-88E7-71917A28A28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F7B0D83-EB85-4E41-AAB8-9C8CBD50B31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標準正規分布の累積分布Φを使って、位置を数値zへ写す。</a:t>
            </a:r>
          </a:p>
        </p:txBody>
      </p:sp>
      <p:sp>
        <p:nvSpPr>
          <p:cNvPr id="4" name="">
            <a:extLst xmlns:a="http://schemas.openxmlformats.org/drawingml/2006/main">
              <a:ext uri="{FF2B5EF4-FFF2-40B4-BE49-F238E27FC236}">
                <a16:creationId xmlns:a16="http://schemas.microsoft.com/office/drawing/2014/main" id="{FAC6E133-934F-4D72-9963-AD10FC8BBC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CF044DA3-3713-44B0-A6BF-B1319F51637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sp>
        <p:nvSpPr>
          <p:cNvPr id="6" name="">
            <a:extLst xmlns:a="http://schemas.openxmlformats.org/drawingml/2006/main">
              <a:ext uri="{FF2B5EF4-FFF2-40B4-BE49-F238E27FC236}">
                <a16:creationId xmlns:a16="http://schemas.microsoft.com/office/drawing/2014/main" id="{392F97EC-4A9C-4F99-91F7-630A4445A9E0}"/>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3F8D38-8147-4B7F-BE9A-E9E4E695592F}"/>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zᵢⱼ = Φ⁻¹(uᵢⱼ)</a:t>
            </a:r>
          </a:p>
        </p:txBody>
      </p:sp>
      <p:graphicFrame>
        <p:nvGraphicFramePr>
          <p:cNvPr id="19" name=""/>
          <p:cNvGraphicFramePr/>
          <p:nvPr/>
        </p:nvGraphicFramePr>
        <p:xfrm>
          <a:off xmlns:a="http://schemas.openxmlformats.org/drawingml/2006/main" x="514350" y="3419475"/>
          <a:ext xmlns:a="http://schemas.openxmlformats.org/drawingml/2006/main" cx="11163300" cy="1428750"/>
        </p:xfrm>
        <a:graphic xmlns:a="http://schemas.openxmlformats.org/drawingml/2006/main">
          <a:graphicData uri="http://schemas.openxmlformats.org/drawingml/2006/table">
            <a:tbl>
              <a:tblPr/>
              <a:tblGrid>
                <a:gridCol w="1860550"/>
                <a:gridCol w="1860550"/>
                <a:gridCol w="1860550"/>
                <a:gridCol w="1860550"/>
                <a:gridCol w="1860550"/>
                <a:gridCol w="1860550"/>
              </a:tblGrid>
              <a:tr h="714375">
                <a:tc>
                  <a:txBody>
                    <a:bodyPr/>
                    <a:lstStyle/>
                    <a:p>
                      <a:pPr algn="ctr"/>
                      <a:r>
                        <a:rPr sz="2175" b="1">
                          <a:solidFill>
                            <a:srgbClr val="2E7D5B"/>
                          </a:solidFill>
                          <a:latin typeface="Noto Sans JP"/>
                          <a:ea typeface="Noto Sans JP"/>
                          <a:cs typeface="Noto Sans JP"/>
                        </a:rPr>
                        <a:t>位置u</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0.1</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0.2</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0.5</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0.8</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0.9</a:t>
                      </a:r>
                    </a:p>
                  </a:txBody>
                  <a:tcPr marL="91440" marR="91440" marT="45720" marB="45720" anchor="ctr">
                    <a:solidFill>
                      <a:srgbClr val="E7F2EC"/>
                    </a:solidFill>
                  </a:tcPr>
                </a:tc>
              </a:tr>
              <a:tr h="714375">
                <a:tc>
                  <a:txBody>
                    <a:bodyPr/>
                    <a:lstStyle/>
                    <a:p>
                      <a:pPr algn="ctr"/>
                      <a:r>
                        <a:rPr sz="2175" b="0">
                          <a:solidFill>
                            <a:srgbClr val="222222"/>
                          </a:solidFill>
                          <a:latin typeface="Noto Sans JP"/>
                          <a:ea typeface="Noto Sans JP"/>
                          <a:cs typeface="Noto Sans JP"/>
                        </a:rPr>
                        <a:t>潜在値z</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0236B117-FF85-4E01-9D88-6154A963A970}"/>
              </a:ext>
            </a:extLst>
          </p:cNvPr>
          <p:cNvSpPr>
            <a:spLocks xmlns:a="http://schemas.openxmlformats.org/drawingml/2006/main" noGrp="1"/>
          </p:cNvSpPr>
          <p:nvPr/>
        </p:nvSpPr>
        <p:spPr>
          <a:xfrm xmlns:a="http://schemas.openxmlformats.org/drawingml/2006/main">
            <a:off x="723900" y="49815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高い位置は正のz、中央は0、低い位置は負のz。</a:t>
            </a:r>
          </a:p>
        </p:txBody>
      </p:sp>
      <p:sp>
        <p:nvSpPr>
          <p:cNvPr id="10" name="">
            <a:extLst xmlns:a="http://schemas.openxmlformats.org/drawingml/2006/main">
              <a:ext uri="{FF2B5EF4-FFF2-40B4-BE49-F238E27FC236}">
                <a16:creationId xmlns:a16="http://schemas.microsoft.com/office/drawing/2014/main" id="{8287CB92-219F-4E42-B8B4-77E2308D844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EEB60E-486D-4756-9E98-163535E821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Φは位置へ、Φ⁻¹は潜在正規の値へ変換する</a:t>
            </a:r>
          </a:p>
        </p:txBody>
      </p:sp>
    </p:spTree>
    <p:extLst>
      <p:ext uri="{BB962C8B-B14F-4D97-AF65-F5344CB8AC3E}">
        <p14:creationId xmlns:p14="http://schemas.microsoft.com/office/powerpoint/2010/main" val="183466896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D9992E-39FE-41C5-B643-EB874A0C727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学習手順③：依存をRとして推定</a:t>
            </a:r>
          </a:p>
        </p:txBody>
      </p:sp>
      <p:sp>
        <p:nvSpPr>
          <p:cNvPr id="2" name="">
            <a:extLst xmlns:a="http://schemas.openxmlformats.org/drawingml/2006/main">
              <a:ext uri="{FF2B5EF4-FFF2-40B4-BE49-F238E27FC236}">
                <a16:creationId xmlns:a16="http://schemas.microsoft.com/office/drawing/2014/main" id="{7E99332B-0C19-4C3D-905C-64B7483995E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0278F4-EFFD-41F0-B184-6827010FC99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同じ行の潜在値の組から相関行列Rを求める。</a:t>
            </a:r>
          </a:p>
        </p:txBody>
      </p:sp>
      <p:sp>
        <p:nvSpPr>
          <p:cNvPr id="4" name="">
            <a:extLst xmlns:a="http://schemas.openxmlformats.org/drawingml/2006/main">
              <a:ext uri="{FF2B5EF4-FFF2-40B4-BE49-F238E27FC236}">
                <a16:creationId xmlns:a16="http://schemas.microsoft.com/office/drawing/2014/main" id="{BA52B808-C296-41DE-A661-8B89F1575F5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3B9359F-C291-4978-AA98-5C63575401D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sp>
        <p:nvSpPr>
          <p:cNvPr id="6" name="">
            <a:extLst xmlns:a="http://schemas.openxmlformats.org/drawingml/2006/main">
              <a:ext uri="{FF2B5EF4-FFF2-40B4-BE49-F238E27FC236}">
                <a16:creationId xmlns:a16="http://schemas.microsoft.com/office/drawing/2014/main" id="{60012219-5E6E-4DF5-8371-8A7353D15AD6}"/>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FB8A81-05C8-4AA1-8FE8-4BA085E57F8C}"/>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Z = (Z₁, …, Z_d) ~ N(0, R)</a:t>
            </a:r>
          </a:p>
        </p:txBody>
      </p:sp>
      <p:sp>
        <p:nvSpPr>
          <p:cNvPr id="8" name="">
            <a:extLst xmlns:a="http://schemas.openxmlformats.org/drawingml/2006/main">
              <a:ext uri="{FF2B5EF4-FFF2-40B4-BE49-F238E27FC236}">
                <a16:creationId xmlns:a16="http://schemas.microsoft.com/office/drawing/2014/main" id="{C17F6E03-383C-42FC-93CB-AE5E101ADBD3}"/>
              </a:ext>
            </a:extLst>
          </p:cNvPr>
          <p:cNvSpPr>
            <a:spLocks xmlns:a="http://schemas.openxmlformats.org/drawingml/2006/main" noGrp="1"/>
          </p:cNvSpPr>
          <p:nvPr/>
        </p:nvSpPr>
        <p:spPr>
          <a:xfrm xmlns:a="http://schemas.openxmlformats.org/drawingml/2006/main">
            <a:off x="514350" y="3362325"/>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D0C852-5C9C-4224-88E7-8C01A4DF5194}"/>
              </a:ext>
            </a:extLst>
          </p:cNvPr>
          <p:cNvSpPr>
            <a:spLocks xmlns:a="http://schemas.openxmlformats.org/drawingml/2006/main" noGrp="1"/>
          </p:cNvSpPr>
          <p:nvPr/>
        </p:nvSpPr>
        <p:spPr>
          <a:xfrm xmlns:a="http://schemas.openxmlformats.org/drawingml/2006/main">
            <a:off x="704850" y="34766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Rが表すもの</a:t>
            </a:r>
          </a:p>
        </p:txBody>
      </p:sp>
      <p:sp>
        <p:nvSpPr>
          <p:cNvPr id="10" name="">
            <a:extLst xmlns:a="http://schemas.openxmlformats.org/drawingml/2006/main">
              <a:ext uri="{FF2B5EF4-FFF2-40B4-BE49-F238E27FC236}">
                <a16:creationId xmlns:a16="http://schemas.microsoft.com/office/drawing/2014/main" id="{92B7378A-EF26-4F1F-9A49-A3FD3BBFFAE4}"/>
              </a:ext>
            </a:extLst>
          </p:cNvPr>
          <p:cNvSpPr>
            <a:spLocks xmlns:a="http://schemas.openxmlformats.org/drawingml/2006/main" noGrp="1"/>
          </p:cNvSpPr>
          <p:nvPr/>
        </p:nvSpPr>
        <p:spPr>
          <a:xfrm xmlns:a="http://schemas.openxmlformats.org/drawingml/2006/main">
            <a:off x="704850" y="4029075"/>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列ごとの分布を揃えた後の、</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潜在値どうしの相関。</a:t>
            </a:r>
          </a:p>
        </p:txBody>
      </p:sp>
      <p:sp>
        <p:nvSpPr>
          <p:cNvPr id="11" name="">
            <a:extLst xmlns:a="http://schemas.openxmlformats.org/drawingml/2006/main">
              <a:ext uri="{FF2B5EF4-FFF2-40B4-BE49-F238E27FC236}">
                <a16:creationId xmlns:a16="http://schemas.microsoft.com/office/drawing/2014/main" id="{C06A82FD-06E7-4704-AB58-26D3CCF54D8C}"/>
              </a:ext>
            </a:extLst>
          </p:cNvPr>
          <p:cNvSpPr>
            <a:spLocks xmlns:a="http://schemas.openxmlformats.org/drawingml/2006/main" noGrp="1"/>
          </p:cNvSpPr>
          <p:nvPr/>
        </p:nvSpPr>
        <p:spPr>
          <a:xfrm xmlns:a="http://schemas.openxmlformats.org/drawingml/2006/main">
            <a:off x="6076950" y="3362325"/>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50A5EA6-6137-411E-8021-CF6BCC4DC6CC}"/>
              </a:ext>
            </a:extLst>
          </p:cNvPr>
          <p:cNvSpPr>
            <a:spLocks xmlns:a="http://schemas.openxmlformats.org/drawingml/2006/main" noGrp="1"/>
          </p:cNvSpPr>
          <p:nvPr/>
        </p:nvSpPr>
        <p:spPr>
          <a:xfrm xmlns:a="http://schemas.openxmlformats.org/drawingml/2006/main">
            <a:off x="6267450" y="34766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ここで置く仮定</a:t>
            </a:r>
          </a:p>
        </p:txBody>
      </p:sp>
      <p:sp>
        <p:nvSpPr>
          <p:cNvPr id="13" name="">
            <a:extLst xmlns:a="http://schemas.openxmlformats.org/drawingml/2006/main">
              <a:ext uri="{FF2B5EF4-FFF2-40B4-BE49-F238E27FC236}">
                <a16:creationId xmlns:a16="http://schemas.microsoft.com/office/drawing/2014/main" id="{61816E82-434A-4E00-AB06-0B87BCA13DA4}"/>
              </a:ext>
            </a:extLst>
          </p:cNvPr>
          <p:cNvSpPr>
            <a:spLocks xmlns:a="http://schemas.openxmlformats.org/drawingml/2006/main" noGrp="1"/>
          </p:cNvSpPr>
          <p:nvPr/>
        </p:nvSpPr>
        <p:spPr>
          <a:xfrm xmlns:a="http://schemas.openxmlformats.org/drawingml/2006/main">
            <a:off x="6267450" y="4029075"/>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各列が正規になっただけでは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同時正規とは限らない。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同時正規性はモデルの仮定。</a:t>
            </a:r>
          </a:p>
        </p:txBody>
      </p:sp>
      <p:sp>
        <p:nvSpPr>
          <p:cNvPr id="14" name="">
            <a:extLst xmlns:a="http://schemas.openxmlformats.org/drawingml/2006/main">
              <a:ext uri="{FF2B5EF4-FFF2-40B4-BE49-F238E27FC236}">
                <a16:creationId xmlns:a16="http://schemas.microsoft.com/office/drawing/2014/main" id="{6D33BC4A-CB9A-4F63-B832-F3C0EEE9338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C39BD8-0D87-4ED3-8A8C-631F6DF895B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周辺変換と「同時分布の仮定」は、別のステップ</a:t>
            </a:r>
          </a:p>
        </p:txBody>
      </p:sp>
    </p:spTree>
    <p:extLst>
      <p:ext uri="{BB962C8B-B14F-4D97-AF65-F5344CB8AC3E}">
        <p14:creationId xmlns:p14="http://schemas.microsoft.com/office/powerpoint/2010/main" val="157696492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D9BC316-0B89-480D-AFC6-0D5EC432AD7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生成手順：残す列を条件にする</a:t>
            </a:r>
          </a:p>
        </p:txBody>
      </p:sp>
      <p:sp>
        <p:nvSpPr>
          <p:cNvPr id="2" name="">
            <a:extLst xmlns:a="http://schemas.openxmlformats.org/drawingml/2006/main">
              <a:ext uri="{FF2B5EF4-FFF2-40B4-BE49-F238E27FC236}">
                <a16:creationId xmlns:a16="http://schemas.microsoft.com/office/drawing/2014/main" id="{D466832A-C673-4400-996A-8F2DF413766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01E5A90-3B4B-4D95-88DB-0EA623E92F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身長を固定し、体重だけを置換する例。</a:t>
            </a:r>
          </a:p>
        </p:txBody>
      </p:sp>
      <p:sp>
        <p:nvSpPr>
          <p:cNvPr id="4" name="">
            <a:extLst xmlns:a="http://schemas.openxmlformats.org/drawingml/2006/main">
              <a:ext uri="{FF2B5EF4-FFF2-40B4-BE49-F238E27FC236}">
                <a16:creationId xmlns:a16="http://schemas.microsoft.com/office/drawing/2014/main" id="{0C651E53-42C9-4BD4-869D-6AB680B2C76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ECB78A8D-AE5A-4A75-88CA-56B4229EB18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7C157751-F2F6-4E5D-AF09-2590ECDFCCC5}"/>
              </a:ext>
            </a:extLst>
          </p:cNvPr>
          <p:cNvSpPr>
            <a:spLocks xmlns:a="http://schemas.openxmlformats.org/drawingml/2006/main" noGrp="1"/>
          </p:cNvSpPr>
          <p:nvPr/>
        </p:nvSpPr>
        <p:spPr>
          <a:xfrm xmlns:a="http://schemas.openxmlformats.org/drawingml/2006/main">
            <a:off x="552450" y="195262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77A40DF7-3EDE-41E8-A04F-3B9D028C32E2}"/>
              </a:ext>
            </a:extLst>
          </p:cNvPr>
          <p:cNvSpPr>
            <a:spLocks xmlns:a="http://schemas.openxmlformats.org/drawingml/2006/main" noGrp="1"/>
          </p:cNvSpPr>
          <p:nvPr/>
        </p:nvSpPr>
        <p:spPr>
          <a:xfrm xmlns:a="http://schemas.openxmlformats.org/drawingml/2006/main">
            <a:off x="1257300" y="195262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元の行：身長175 cm、体重68 kg。体重をマスクする。</a:t>
            </a:r>
          </a:p>
        </p:txBody>
      </p:sp>
      <p:sp>
        <p:nvSpPr>
          <p:cNvPr id="8" name="">
            <a:extLst xmlns:a="http://schemas.openxmlformats.org/drawingml/2006/main">
              <a:ext uri="{FF2B5EF4-FFF2-40B4-BE49-F238E27FC236}">
                <a16:creationId xmlns:a16="http://schemas.microsoft.com/office/drawing/2014/main" id="{457C3CF1-1436-4FCD-AD36-618E7E068F10}"/>
              </a:ext>
            </a:extLst>
          </p:cNvPr>
          <p:cNvSpPr>
            <a:spLocks xmlns:a="http://schemas.openxmlformats.org/drawingml/2006/main" noGrp="1"/>
          </p:cNvSpPr>
          <p:nvPr/>
        </p:nvSpPr>
        <p:spPr>
          <a:xfrm xmlns:a="http://schemas.openxmlformats.org/drawingml/2006/main">
            <a:off x="552450" y="277415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42380DCA-0574-4C5D-B9D5-1D9464333C2A}"/>
              </a:ext>
            </a:extLst>
          </p:cNvPr>
          <p:cNvSpPr>
            <a:spLocks xmlns:a="http://schemas.openxmlformats.org/drawingml/2006/main" noGrp="1"/>
          </p:cNvSpPr>
          <p:nvPr/>
        </p:nvSpPr>
        <p:spPr>
          <a:xfrm xmlns:a="http://schemas.openxmlformats.org/drawingml/2006/main">
            <a:off x="1257300" y="277415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残る身長の位置：u = Fₓ(175) = 0.8。</a:t>
            </a:r>
          </a:p>
        </p:txBody>
      </p:sp>
      <p:sp>
        <p:nvSpPr>
          <p:cNvPr id="10" name="">
            <a:extLst xmlns:a="http://schemas.openxmlformats.org/drawingml/2006/main">
              <a:ext uri="{FF2B5EF4-FFF2-40B4-BE49-F238E27FC236}">
                <a16:creationId xmlns:a16="http://schemas.microsoft.com/office/drawing/2014/main" id="{5C54F4CB-4690-4C4C-B9B6-5DF04DFEB910}"/>
              </a:ext>
            </a:extLst>
          </p:cNvPr>
          <p:cNvSpPr>
            <a:spLocks xmlns:a="http://schemas.openxmlformats.org/drawingml/2006/main" noGrp="1"/>
          </p:cNvSpPr>
          <p:nvPr/>
        </p:nvSpPr>
        <p:spPr>
          <a:xfrm xmlns:a="http://schemas.openxmlformats.org/drawingml/2006/main">
            <a:off x="552450" y="359568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ED86140-9C35-4812-A4CC-F65085B138D2}"/>
              </a:ext>
            </a:extLst>
          </p:cNvPr>
          <p:cNvSpPr>
            <a:spLocks xmlns:a="http://schemas.openxmlformats.org/drawingml/2006/main" noGrp="1"/>
          </p:cNvSpPr>
          <p:nvPr/>
        </p:nvSpPr>
        <p:spPr>
          <a:xfrm xmlns:a="http://schemas.openxmlformats.org/drawingml/2006/main">
            <a:off x="1257300" y="359568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潜在値へ：zₓ = Φ⁻¹(0.8) ≈ 0.842。</a:t>
            </a:r>
          </a:p>
        </p:txBody>
      </p:sp>
      <p:sp>
        <p:nvSpPr>
          <p:cNvPr id="12" name="">
            <a:extLst xmlns:a="http://schemas.openxmlformats.org/drawingml/2006/main">
              <a:ext uri="{FF2B5EF4-FFF2-40B4-BE49-F238E27FC236}">
                <a16:creationId xmlns:a16="http://schemas.microsoft.com/office/drawing/2014/main" id="{923F27E6-8CC8-469A-9327-9093E5A602DB}"/>
              </a:ext>
            </a:extLst>
          </p:cNvPr>
          <p:cNvSpPr>
            <a:spLocks xmlns:a="http://schemas.openxmlformats.org/drawingml/2006/main" noGrp="1"/>
          </p:cNvSpPr>
          <p:nvPr/>
        </p:nvSpPr>
        <p:spPr>
          <a:xfrm xmlns:a="http://schemas.openxmlformats.org/drawingml/2006/main">
            <a:off x="552450" y="441721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4DFF208-F2D9-4DB8-9E3E-4F781A9A4D82}"/>
              </a:ext>
            </a:extLst>
          </p:cNvPr>
          <p:cNvSpPr>
            <a:spLocks xmlns:a="http://schemas.openxmlformats.org/drawingml/2006/main" noGrp="1"/>
          </p:cNvSpPr>
          <p:nvPr/>
        </p:nvSpPr>
        <p:spPr>
          <a:xfrm xmlns:a="http://schemas.openxmlformats.org/drawingml/2006/main">
            <a:off x="1257300" y="441721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zₓを条件に、体重側の潜在値zᵧをサンプリングする。</a:t>
            </a:r>
          </a:p>
        </p:txBody>
      </p:sp>
      <p:sp>
        <p:nvSpPr>
          <p:cNvPr id="14" name="">
            <a:extLst xmlns:a="http://schemas.openxmlformats.org/drawingml/2006/main">
              <a:ext uri="{FF2B5EF4-FFF2-40B4-BE49-F238E27FC236}">
                <a16:creationId xmlns:a16="http://schemas.microsoft.com/office/drawing/2014/main" id="{D7D0F19D-159E-4DD3-BA0C-40123AC8F79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33AEE4-EF56-425F-9CA3-ADEF554A3A0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生成した体重と元の身長を組にし、身長は変更しない</a:t>
            </a:r>
          </a:p>
        </p:txBody>
      </p:sp>
    </p:spTree>
    <p:extLst>
      <p:ext uri="{BB962C8B-B14F-4D97-AF65-F5344CB8AC3E}">
        <p14:creationId xmlns:p14="http://schemas.microsoft.com/office/powerpoint/2010/main" val="132290585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20FD56-B73A-4980-B28E-273AFE5956B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なぜ条件付き正規分布になるのか</a:t>
            </a:r>
          </a:p>
        </p:txBody>
      </p:sp>
      <p:sp>
        <p:nvSpPr>
          <p:cNvPr id="2" name="">
            <a:extLst xmlns:a="http://schemas.openxmlformats.org/drawingml/2006/main">
              <a:ext uri="{FF2B5EF4-FFF2-40B4-BE49-F238E27FC236}">
                <a16:creationId xmlns:a16="http://schemas.microsoft.com/office/drawing/2014/main" id="{EB7ADE24-14E8-44FB-AD59-D4EC1BCC253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03123FA-8825-4354-A48C-B608718E359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二つの潜在値を、相関ρのある標準正規としてモデル化したため。</a:t>
            </a:r>
          </a:p>
        </p:txBody>
      </p:sp>
      <p:sp>
        <p:nvSpPr>
          <p:cNvPr id="4" name="">
            <a:extLst xmlns:a="http://schemas.openxmlformats.org/drawingml/2006/main">
              <a:ext uri="{FF2B5EF4-FFF2-40B4-BE49-F238E27FC236}">
                <a16:creationId xmlns:a16="http://schemas.microsoft.com/office/drawing/2014/main" id="{5B58996A-EA38-45FD-A14D-B55A608C3CC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BBEA8D87-58E1-42A8-90AB-180FB6C717E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BF6D782D-3C00-4467-9A04-5FA6F96E5922}"/>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93684A-D321-47E9-AD03-182A8BE1F1A6}"/>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Zₓ = zₓ  ~  N(ρzₓ, 1 − ρ²)</a:t>
            </a:r>
          </a:p>
        </p:txBody>
      </p:sp>
      <p:graphicFrame>
        <p:nvGraphicFramePr>
          <p:cNvPr id="18" name=""/>
          <p:cNvGraphicFramePr/>
          <p:nvPr/>
        </p:nvGraphicFramePr>
        <p:xfrm>
          <a:off xmlns:a="http://schemas.openxmlformats.org/drawingml/2006/main" x="514350" y="3381375"/>
          <a:ext xmlns:a="http://schemas.openxmlformats.org/drawingml/2006/main" cx="11163300" cy="1962150"/>
        </p:xfrm>
        <a:graphic xmlns:a="http://schemas.openxmlformats.org/drawingml/2006/main">
          <a:graphicData uri="http://schemas.openxmlformats.org/drawingml/2006/table">
            <a:tbl>
              <a:tblPr/>
              <a:tblGrid>
                <a:gridCol w="3721100"/>
                <a:gridCol w="3721100"/>
                <a:gridCol w="3721100"/>
              </a:tblGrid>
              <a:tr h="490538">
                <a:tc>
                  <a:txBody>
                    <a:bodyPr/>
                    <a:lstStyle/>
                    <a:p>
                      <a:pPr algn="ctr"/>
                      <a:r>
                        <a:rPr sz="1875" b="1">
                          <a:solidFill>
                            <a:srgbClr val="2E7D5B"/>
                          </a:solidFill>
                          <a:latin typeface="Noto Sans JP"/>
                          <a:ea typeface="Noto Sans JP"/>
                          <a:cs typeface="Noto Sans JP"/>
                        </a:rPr>
                        <a:t>説明用の設定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計算</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意味</a:t>
                      </a:r>
                    </a:p>
                  </a:txBody>
                  <a:tcPr marL="91440" marR="91440" marT="45720" marB="45720" anchor="ctr">
                    <a:solidFill>
                      <a:srgbClr val="E7F2EC"/>
                    </a:solidFill>
                  </a:tcPr>
                </a:tc>
              </a:tr>
              <a:tr h="490538">
                <a:tc>
                  <a:txBody>
                    <a:bodyPr/>
                    <a:lstStyle/>
                    <a:p>
                      <a:pPr algn="ctr"/>
                      <a:r>
                        <a:rPr sz="1875" b="0">
                          <a:solidFill>
                            <a:srgbClr val="222222"/>
                          </a:solidFill>
                          <a:latin typeface="Noto Sans JP"/>
                          <a:ea typeface="Noto Sans JP"/>
                          <a:cs typeface="Noto Sans JP"/>
                        </a:rPr>
                        <a:t>ρ = 0.6, zₓ ≈ 0.842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 = 0.6 × 0.842 ≈ 0.505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高い側へ分布が動く</a:t>
                      </a:r>
                    </a:p>
                  </a:txBody>
                  <a:tcPr marL="91440" marR="91440" marT="45720" marB="45720" anchor="ctr">
                    <a:solidFill>
                      <a:srgbClr val="FFFFFF"/>
                    </a:solidFill>
                  </a:tcPr>
                </a:tc>
              </a:tr>
              <a:tr h="490538">
                <a:tc>
                  <a:txBody>
                    <a:bodyPr/>
                    <a:lstStyle/>
                    <a:p>
                      <a:pPr algn="ctr"/>
                      <a:r>
                        <a:rPr sz="1875" b="0">
                          <a:solidFill>
                            <a:srgbClr val="222222"/>
                          </a:solidFill>
                          <a:latin typeface="Noto Sans JP"/>
                          <a:ea typeface="Noto Sans JP"/>
                          <a:cs typeface="Noto Sans JP"/>
                        </a:rPr>
                        <a:t>条件付き分散</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1 − 0.6² = 0.64</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不確実性が残る</a:t>
                      </a:r>
                    </a:p>
                  </a:txBody>
                  <a:tcPr marL="91440" marR="91440" marT="45720" marB="45720" anchor="ctr">
                    <a:solidFill>
                      <a:srgbClr val="F6F6F6"/>
                    </a:solidFill>
                  </a:tcPr>
                </a:tc>
              </a:tr>
              <a:tr h="490538">
                <a:tc>
                  <a:txBody>
                    <a:bodyPr/>
                    <a:lstStyle/>
                    <a:p>
                      <a:pPr algn="ctr"/>
                      <a:r>
                        <a:rPr sz="1875" b="0">
                          <a:solidFill>
                            <a:srgbClr val="222222"/>
                          </a:solidFill>
                          <a:latin typeface="Noto Sans JP"/>
                          <a:ea typeface="Noto Sans JP"/>
                          <a:cs typeface="Noto Sans JP"/>
                        </a:rPr>
                        <a:t>条件付き標準偏差</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√0.64 = 0.8</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平均の周りから値を生成</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97785F54-2BE7-4F99-839D-CA76968F1A0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D57DEF-8EED-4A44-BB95-7D78CB3B479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「もっともらしい一つの値」へ固定せず、分布から生成する</a:t>
            </a:r>
          </a:p>
        </p:txBody>
      </p:sp>
    </p:spTree>
    <p:extLst>
      <p:ext uri="{BB962C8B-B14F-4D97-AF65-F5344CB8AC3E}">
        <p14:creationId xmlns:p14="http://schemas.microsoft.com/office/powerpoint/2010/main" val="119374762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F4456E-914C-4F08-8E94-9DD39A103A2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サンプリングを、数字で追う</a:t>
            </a:r>
          </a:p>
        </p:txBody>
      </p:sp>
      <p:sp>
        <p:nvSpPr>
          <p:cNvPr id="2" name="">
            <a:extLst xmlns:a="http://schemas.openxmlformats.org/drawingml/2006/main">
              <a:ext uri="{FF2B5EF4-FFF2-40B4-BE49-F238E27FC236}">
                <a16:creationId xmlns:a16="http://schemas.microsoft.com/office/drawing/2014/main" id="{0488CA92-02BE-4CB0-84D0-64A3EBA7981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4452AF-9805-4A8B-9305-A138587B00B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標準正規の乱数εを引き、平均と標準偏差で変換する。</a:t>
            </a:r>
          </a:p>
        </p:txBody>
      </p:sp>
      <p:sp>
        <p:nvSpPr>
          <p:cNvPr id="4" name="">
            <a:extLst xmlns:a="http://schemas.openxmlformats.org/drawingml/2006/main">
              <a:ext uri="{FF2B5EF4-FFF2-40B4-BE49-F238E27FC236}">
                <a16:creationId xmlns:a16="http://schemas.microsoft.com/office/drawing/2014/main" id="{5AEEB060-8E8A-4F32-B1F3-8447F70CB3B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7C6D516-A949-4F97-BB8C-F0E1B79D853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D6275EBC-2517-44A2-91BA-3DF0F30BE4AE}"/>
              </a:ext>
            </a:extLst>
          </p:cNvPr>
          <p:cNvSpPr>
            <a:spLocks xmlns:a="http://schemas.openxmlformats.org/drawingml/2006/main" noGrp="1"/>
          </p:cNvSpPr>
          <p:nvPr/>
        </p:nvSpPr>
        <p:spPr>
          <a:xfrm xmlns:a="http://schemas.openxmlformats.org/drawingml/2006/main">
            <a:off x="514350" y="1914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7C9B32-9BC5-4B65-9680-A457EC3E0CCF}"/>
              </a:ext>
            </a:extLst>
          </p:cNvPr>
          <p:cNvSpPr>
            <a:spLocks xmlns:a="http://schemas.openxmlformats.org/drawingml/2006/main" noGrp="1"/>
          </p:cNvSpPr>
          <p:nvPr/>
        </p:nvSpPr>
        <p:spPr>
          <a:xfrm xmlns:a="http://schemas.openxmlformats.org/drawingml/2006/main">
            <a:off x="704850" y="2009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0.505 + 0.8ε ,   ε ~ N(0, 1)</a:t>
            </a:r>
          </a:p>
        </p:txBody>
      </p:sp>
      <p:graphicFrame>
        <p:nvGraphicFramePr>
          <p:cNvPr id="18" name=""/>
          <p:cNvGraphicFramePr/>
          <p:nvPr/>
        </p:nvGraphicFramePr>
        <p:xfrm>
          <a:off xmlns:a="http://schemas.openxmlformats.org/drawingml/2006/main" x="514350" y="335280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511969">
                <a:tc>
                  <a:txBody>
                    <a:bodyPr/>
                    <a:lstStyle/>
                    <a:p>
                      <a:pPr algn="ctr"/>
                      <a:r>
                        <a:rPr sz="2100" b="1">
                          <a:solidFill>
                            <a:srgbClr val="2E7D5B"/>
                          </a:solidFill>
                          <a:latin typeface="Noto Sans JP"/>
                          <a:ea typeface="Noto Sans JP"/>
                          <a:cs typeface="Noto Sans JP"/>
                        </a:rPr>
                        <a:t>説明用のε</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潜在値zᵧ</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体重の位置 v = Φ(zᵧ)</a:t>
                      </a:r>
                    </a:p>
                  </a:txBody>
                  <a:tcPr marL="91440" marR="91440" marT="45720" marB="45720" anchor="ctr">
                    <a:solidFill>
                      <a:srgbClr val="E7F2EC"/>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−0.295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約0.384</a:t>
                      </a:r>
                    </a:p>
                  </a:txBody>
                  <a:tcPr marL="91440" marR="91440" marT="45720" marB="45720" anchor="ctr">
                    <a:solidFill>
                      <a:srgbClr val="FFFFFF"/>
                    </a:solidFill>
                  </a:tcPr>
                </a:tc>
              </a:tr>
              <a:tr h="511969">
                <a:tc>
                  <a:txBody>
                    <a:bodyPr/>
                    <a:lstStyle/>
                    <a:p>
                      <a:pPr algn="ctr"/>
                      <a:r>
                        <a:rPr sz="2100"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0.505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約0.693</a:t>
                      </a:r>
                    </a:p>
                  </a:txBody>
                  <a:tcPr marL="91440" marR="91440" marT="45720" marB="45720" anchor="ctr">
                    <a:solidFill>
                      <a:srgbClr val="F6F6F6"/>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1.305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約0.904</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921BBBAE-7858-4D45-B306-ECDDEC104F2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C29559B-E076-43F0-8A2E-B80BE8C1DB1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同じ身長でも、関係を反映しながら複数の体重を作れる</a:t>
            </a:r>
          </a:p>
        </p:txBody>
      </p:sp>
    </p:spTree>
    <p:extLst>
      <p:ext uri="{BB962C8B-B14F-4D97-AF65-F5344CB8AC3E}">
        <p14:creationId xmlns:p14="http://schemas.microsoft.com/office/powerpoint/2010/main" val="8208047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DEE8D2-3562-41CF-B471-6947D6F043E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最後に、位置を元の単位へ戻す</a:t>
            </a:r>
          </a:p>
        </p:txBody>
      </p:sp>
      <p:sp>
        <p:nvSpPr>
          <p:cNvPr id="2" name="">
            <a:extLst xmlns:a="http://schemas.openxmlformats.org/drawingml/2006/main">
              <a:ext uri="{FF2B5EF4-FFF2-40B4-BE49-F238E27FC236}">
                <a16:creationId xmlns:a16="http://schemas.microsoft.com/office/drawing/2014/main" id="{97E40A5F-4DD9-4AA9-A56B-54762AFBBC2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CD6EC4-45E6-4964-8D36-4F3E88C64EB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各列で覚えておいた逆累積分布を使う。</a:t>
            </a:r>
          </a:p>
        </p:txBody>
      </p:sp>
      <p:sp>
        <p:nvSpPr>
          <p:cNvPr id="4" name="">
            <a:extLst xmlns:a="http://schemas.openxmlformats.org/drawingml/2006/main">
              <a:ext uri="{FF2B5EF4-FFF2-40B4-BE49-F238E27FC236}">
                <a16:creationId xmlns:a16="http://schemas.microsoft.com/office/drawing/2014/main" id="{E8077BF7-4EC7-4DBB-9B19-283F6CE7C34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41EF21E-F199-4FEB-BBFE-8C0D2EAA225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A320A0A7-3579-4D02-B572-22B324EA5878}"/>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81F8C8-9342-4866-B695-AE751B5E8635}"/>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体重の生成値 y′ = Fᵧ⁻¹(v)</a:t>
            </a:r>
          </a:p>
        </p:txBody>
      </p:sp>
      <p:sp>
        <p:nvSpPr>
          <p:cNvPr id="8" name="">
            <a:extLst xmlns:a="http://schemas.openxmlformats.org/drawingml/2006/main">
              <a:ext uri="{FF2B5EF4-FFF2-40B4-BE49-F238E27FC236}">
                <a16:creationId xmlns:a16="http://schemas.microsoft.com/office/drawing/2014/main" id="{8FB72E72-95E0-4233-AA93-A404859FC1E8}"/>
              </a:ext>
            </a:extLst>
          </p:cNvPr>
          <p:cNvSpPr>
            <a:spLocks xmlns:a="http://schemas.openxmlformats.org/drawingml/2006/main" noGrp="1"/>
          </p:cNvSpPr>
          <p:nvPr/>
        </p:nvSpPr>
        <p:spPr>
          <a:xfrm xmlns:a="http://schemas.openxmlformats.org/drawingml/2006/main">
            <a:off x="628650" y="3076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説明用：Y ~ N(65, 10²) と仮定 → y′ = 65 + 10 Φ⁻¹(v)</a:t>
            </a:r>
          </a:p>
        </p:txBody>
      </p:sp>
      <p:graphicFrame>
        <p:nvGraphicFramePr>
          <p:cNvPr id="20" name=""/>
          <p:cNvGraphicFramePr/>
          <p:nvPr/>
        </p:nvGraphicFramePr>
        <p:xfrm>
          <a:off xmlns:a="http://schemas.openxmlformats.org/drawingml/2006/main" x="514350" y="3571875"/>
          <a:ext xmlns:a="http://schemas.openxmlformats.org/drawingml/2006/main" cx="11163300" cy="1781175"/>
        </p:xfrm>
        <a:graphic xmlns:a="http://schemas.openxmlformats.org/drawingml/2006/main">
          <a:graphicData uri="http://schemas.openxmlformats.org/drawingml/2006/table">
            <a:tbl>
              <a:tblPr/>
              <a:tblGrid>
                <a:gridCol w="3721100"/>
                <a:gridCol w="3721100"/>
                <a:gridCol w="3721100"/>
              </a:tblGrid>
              <a:tr h="445294">
                <a:tc>
                  <a:txBody>
                    <a:bodyPr/>
                    <a:lstStyle/>
                    <a:p>
                      <a:pPr algn="ctr"/>
                      <a:r>
                        <a:rPr sz="2025" b="1">
                          <a:solidFill>
                            <a:srgbClr val="2E7D5B"/>
                          </a:solidFill>
                          <a:latin typeface="Noto Sans JP"/>
                          <a:ea typeface="Noto Sans JP"/>
                          <a:cs typeface="Noto Sans JP"/>
                        </a:rPr>
                        <a:t>位置v</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説明用の体重分布から戻す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生成した行</a:t>
                      </a:r>
                    </a:p>
                  </a:txBody>
                  <a:tcPr marL="91440" marR="91440" marT="45720" marB="45720" anchor="ctr">
                    <a:solidFill>
                      <a:srgbClr val="E7F2EC"/>
                    </a:solidFill>
                  </a:tcPr>
                </a:tc>
              </a:tr>
              <a:tr h="445294">
                <a:tc>
                  <a:txBody>
                    <a:bodyPr/>
                    <a:lstStyle/>
                    <a:p>
                      <a:pPr algn="ctr"/>
                      <a:r>
                        <a:rPr sz="2025" b="0">
                          <a:solidFill>
                            <a:srgbClr val="222222"/>
                          </a:solidFill>
                          <a:latin typeface="Noto Sans JP"/>
                          <a:ea typeface="Noto Sans JP"/>
                          <a:cs typeface="Noto Sans JP"/>
                        </a:rPr>
                        <a:t>0.384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約62.0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62.0 kg</a:t>
                      </a:r>
                    </a:p>
                  </a:txBody>
                  <a:tcPr marL="91440" marR="91440" marT="45720" marB="45720" anchor="ctr">
                    <a:solidFill>
                      <a:srgbClr val="FFFFFF"/>
                    </a:solidFill>
                  </a:tcPr>
                </a:tc>
              </a:tr>
              <a:tr h="445294">
                <a:tc>
                  <a:txBody>
                    <a:bodyPr/>
                    <a:lstStyle/>
                    <a:p>
                      <a:pPr algn="ctr"/>
                      <a:r>
                        <a:rPr sz="2025" b="0">
                          <a:solidFill>
                            <a:srgbClr val="222222"/>
                          </a:solidFill>
                          <a:latin typeface="Noto Sans JP"/>
                          <a:ea typeface="Noto Sans JP"/>
                          <a:cs typeface="Noto Sans JP"/>
                        </a:rPr>
                        <a:t>0.693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約70.0 kg</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175 cm, 70.0 kg</a:t>
                      </a:r>
                    </a:p>
                  </a:txBody>
                  <a:tcPr marL="91440" marR="91440" marT="45720" marB="45720" anchor="ctr">
                    <a:solidFill>
                      <a:srgbClr val="F6F6F6"/>
                    </a:solidFill>
                  </a:tcPr>
                </a:tc>
              </a:tr>
              <a:tr h="445294">
                <a:tc>
                  <a:txBody>
                    <a:bodyPr/>
                    <a:lstStyle/>
                    <a:p>
                      <a:pPr algn="ctr"/>
                      <a:r>
                        <a:rPr sz="2025" b="0">
                          <a:solidFill>
                            <a:srgbClr val="222222"/>
                          </a:solidFill>
                          <a:latin typeface="Noto Sans JP"/>
                          <a:ea typeface="Noto Sans JP"/>
                          <a:cs typeface="Noto Sans JP"/>
                        </a:rPr>
                        <a:t>0.904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約78.0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78.0 kg</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CC111900-5744-4CAD-8985-E8E6EE40B51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D19442-A98A-48AF-8647-C3FBA2D8C78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実装では、ラベルなし訓練データの経験分位点で元スケールへ戻す</a:t>
            </a:r>
          </a:p>
        </p:txBody>
      </p:sp>
    </p:spTree>
    <p:extLst>
      <p:ext uri="{BB962C8B-B14F-4D97-AF65-F5344CB8AC3E}">
        <p14:creationId xmlns:p14="http://schemas.microsoft.com/office/powerpoint/2010/main" val="12837443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E8A83D-4B27-4B6C-8E9A-82905953E7E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複数のマスク列も、一緒に生成する</a:t>
            </a:r>
          </a:p>
        </p:txBody>
      </p:sp>
      <p:sp>
        <p:nvSpPr>
          <p:cNvPr id="2" name="">
            <a:extLst xmlns:a="http://schemas.openxmlformats.org/drawingml/2006/main">
              <a:ext uri="{FF2B5EF4-FFF2-40B4-BE49-F238E27FC236}">
                <a16:creationId xmlns:a16="http://schemas.microsoft.com/office/drawing/2014/main" id="{1BA04D8E-F4EB-4E0C-8503-901A1E38835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9DF5DEE-D96D-40AB-99DC-F1798949F36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身長を残し、体重と腹囲を置換するなら、2列を同時に引く。</a:t>
            </a:r>
          </a:p>
        </p:txBody>
      </p:sp>
      <p:sp>
        <p:nvSpPr>
          <p:cNvPr id="4" name="">
            <a:extLst xmlns:a="http://schemas.openxmlformats.org/drawingml/2006/main">
              <a:ext uri="{FF2B5EF4-FFF2-40B4-BE49-F238E27FC236}">
                <a16:creationId xmlns:a16="http://schemas.microsoft.com/office/drawing/2014/main" id="{D0402FA1-38F0-4620-AA6A-D8A6C3B7375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FFD862ED-C2B5-4433-939A-52EE6FAE536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011A113F-452B-459D-8C34-B40F00E9B7BB}"/>
              </a:ext>
            </a:extLst>
          </p:cNvPr>
          <p:cNvSpPr>
            <a:spLocks xmlns:a="http://schemas.openxmlformats.org/drawingml/2006/main" noGrp="1"/>
          </p:cNvSpPr>
          <p:nvPr/>
        </p:nvSpPr>
        <p:spPr>
          <a:xfrm xmlns:a="http://schemas.openxmlformats.org/drawingml/2006/main">
            <a:off x="514350" y="20193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A6F272-174A-452A-BB86-054727DA5159}"/>
              </a:ext>
            </a:extLst>
          </p:cNvPr>
          <p:cNvSpPr>
            <a:spLocks xmlns:a="http://schemas.openxmlformats.org/drawingml/2006/main" noGrp="1"/>
          </p:cNvSpPr>
          <p:nvPr/>
        </p:nvSpPr>
        <p:spPr>
          <a:xfrm xmlns:a="http://schemas.openxmlformats.org/drawingml/2006/main">
            <a:off x="704850" y="21336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個別に引くと</a:t>
            </a:r>
          </a:p>
        </p:txBody>
      </p:sp>
      <p:sp>
        <p:nvSpPr>
          <p:cNvPr id="8" name="">
            <a:extLst xmlns:a="http://schemas.openxmlformats.org/drawingml/2006/main">
              <a:ext uri="{FF2B5EF4-FFF2-40B4-BE49-F238E27FC236}">
                <a16:creationId xmlns:a16="http://schemas.microsoft.com/office/drawing/2014/main" id="{89768BC5-FC60-49FA-8591-5817921067CE}"/>
              </a:ext>
            </a:extLst>
          </p:cNvPr>
          <p:cNvSpPr>
            <a:spLocks xmlns:a="http://schemas.openxmlformats.org/drawingml/2006/main" noGrp="1"/>
          </p:cNvSpPr>
          <p:nvPr/>
        </p:nvSpPr>
        <p:spPr>
          <a:xfrm xmlns:a="http://schemas.openxmlformats.org/drawingml/2006/main">
            <a:off x="704850" y="26860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体重を生成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腹囲を生成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体重と腹囲の、残った依存を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無視することがある。</a:t>
            </a:r>
          </a:p>
        </p:txBody>
      </p:sp>
      <p:sp>
        <p:nvSpPr>
          <p:cNvPr id="9" name="">
            <a:extLst xmlns:a="http://schemas.openxmlformats.org/drawingml/2006/main">
              <a:ext uri="{FF2B5EF4-FFF2-40B4-BE49-F238E27FC236}">
                <a16:creationId xmlns:a16="http://schemas.microsoft.com/office/drawing/2014/main" id="{870B4414-82B4-4D2E-8EE9-E6D6F711D8C6}"/>
              </a:ext>
            </a:extLst>
          </p:cNvPr>
          <p:cNvSpPr>
            <a:spLocks xmlns:a="http://schemas.openxmlformats.org/drawingml/2006/main" noGrp="1"/>
          </p:cNvSpPr>
          <p:nvPr/>
        </p:nvSpPr>
        <p:spPr>
          <a:xfrm xmlns:a="http://schemas.openxmlformats.org/drawingml/2006/main">
            <a:off x="6076950" y="20193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D970EE-F469-470D-B75A-3BA9CB83D04D}"/>
              </a:ext>
            </a:extLst>
          </p:cNvPr>
          <p:cNvSpPr>
            <a:spLocks xmlns:a="http://schemas.openxmlformats.org/drawingml/2006/main" noGrp="1"/>
          </p:cNvSpPr>
          <p:nvPr/>
        </p:nvSpPr>
        <p:spPr>
          <a:xfrm xmlns:a="http://schemas.openxmlformats.org/drawingml/2006/main">
            <a:off x="6267450" y="21336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今回の生成</a:t>
            </a:r>
          </a:p>
        </p:txBody>
      </p:sp>
      <p:sp>
        <p:nvSpPr>
          <p:cNvPr id="11" name="">
            <a:extLst xmlns:a="http://schemas.openxmlformats.org/drawingml/2006/main">
              <a:ext uri="{FF2B5EF4-FFF2-40B4-BE49-F238E27FC236}">
                <a16:creationId xmlns:a16="http://schemas.microsoft.com/office/drawing/2014/main" id="{C60143F8-D65D-421C-B241-8F7A6E42D250}"/>
              </a:ext>
            </a:extLst>
          </p:cNvPr>
          <p:cNvSpPr>
            <a:spLocks xmlns:a="http://schemas.openxmlformats.org/drawingml/2006/main" noGrp="1"/>
          </p:cNvSpPr>
          <p:nvPr/>
        </p:nvSpPr>
        <p:spPr>
          <a:xfrm xmlns:a="http://schemas.openxmlformats.org/drawingml/2006/main">
            <a:off x="6267450" y="26860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身長を条件に、</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（体重・腹囲）の組を引く。</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条件付き平均だけでなく、</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条件付き共分散も使う。</a:t>
            </a:r>
          </a:p>
        </p:txBody>
      </p:sp>
      <p:sp>
        <p:nvSpPr>
          <p:cNvPr id="12" name="">
            <a:extLst xmlns:a="http://schemas.openxmlformats.org/drawingml/2006/main">
              <a:ext uri="{FF2B5EF4-FFF2-40B4-BE49-F238E27FC236}">
                <a16:creationId xmlns:a16="http://schemas.microsoft.com/office/drawing/2014/main" id="{1F1C8C75-C6FD-4BA4-8BFB-2D3BAE439FC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B5C20CD-8BCD-4225-AAC7-0BDA5B2EDB4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観測列との関係と、置換列どうしの関係を両方扱う</a:t>
            </a:r>
          </a:p>
        </p:txBody>
      </p:sp>
    </p:spTree>
    <p:extLst>
      <p:ext uri="{BB962C8B-B14F-4D97-AF65-F5344CB8AC3E}">
        <p14:creationId xmlns:p14="http://schemas.microsoft.com/office/powerpoint/2010/main" val="209987404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566CA65-1955-4E8C-828E-D88F04BAC8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VIMEのどこに組み込むか</a:t>
            </a:r>
          </a:p>
        </p:txBody>
      </p:sp>
      <p:sp>
        <p:nvSpPr>
          <p:cNvPr id="2" name="">
            <a:extLst xmlns:a="http://schemas.openxmlformats.org/drawingml/2006/main">
              <a:ext uri="{FF2B5EF4-FFF2-40B4-BE49-F238E27FC236}">
                <a16:creationId xmlns:a16="http://schemas.microsoft.com/office/drawing/2014/main" id="{BC40C056-D515-4B9D-AF4F-78E4F95000D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3D119BB-FDB7-45F8-A652-ADA9F42CC8F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学習課題を揃え、置換器だけを変更した比較を行う。</a:t>
            </a:r>
          </a:p>
        </p:txBody>
      </p:sp>
      <p:sp>
        <p:nvSpPr>
          <p:cNvPr id="4" name="">
            <a:extLst xmlns:a="http://schemas.openxmlformats.org/drawingml/2006/main">
              <a:ext uri="{FF2B5EF4-FFF2-40B4-BE49-F238E27FC236}">
                <a16:creationId xmlns:a16="http://schemas.microsoft.com/office/drawing/2014/main" id="{B85708F6-68DB-42CC-A04A-39B6EE0D1A2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C2F2813-2441-42D7-8DEB-2B841370CFC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sp>
        <p:nvSpPr>
          <p:cNvPr id="6" name="">
            <a:extLst xmlns:a="http://schemas.openxmlformats.org/drawingml/2006/main">
              <a:ext uri="{FF2B5EF4-FFF2-40B4-BE49-F238E27FC236}">
                <a16:creationId xmlns:a16="http://schemas.microsoft.com/office/drawing/2014/main" id="{66E8F3AB-C525-4B5E-87AA-BDFE75E8F13B}"/>
              </a:ext>
            </a:extLst>
          </p:cNvPr>
          <p:cNvSpPr>
            <a:spLocks xmlns:a="http://schemas.openxmlformats.org/drawingml/2006/main" noGrp="1"/>
          </p:cNvSpPr>
          <p:nvPr/>
        </p:nvSpPr>
        <p:spPr>
          <a:xfrm xmlns:a="http://schemas.openxmlformats.org/drawingml/2006/main">
            <a:off x="552450" y="1933575"/>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3AEFD87D-3CEF-49F1-A5D3-EF24F76F13DF}"/>
              </a:ext>
            </a:extLst>
          </p:cNvPr>
          <p:cNvSpPr>
            <a:spLocks xmlns:a="http://schemas.openxmlformats.org/drawingml/2006/main" noGrp="1"/>
          </p:cNvSpPr>
          <p:nvPr/>
        </p:nvSpPr>
        <p:spPr>
          <a:xfrm xmlns:a="http://schemas.openxmlformats.org/drawingml/2006/main">
            <a:off x="1257300" y="1933575"/>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準備：ラベルなし訓練データで周辺分布・Rを学習。</a:t>
            </a:r>
          </a:p>
        </p:txBody>
      </p:sp>
      <p:sp>
        <p:nvSpPr>
          <p:cNvPr id="8" name="">
            <a:extLst xmlns:a="http://schemas.openxmlformats.org/drawingml/2006/main">
              <a:ext uri="{FF2B5EF4-FFF2-40B4-BE49-F238E27FC236}">
                <a16:creationId xmlns:a16="http://schemas.microsoft.com/office/drawing/2014/main" id="{EF84F3D9-E64D-4D68-8AAB-EA5D85B224A5}"/>
              </a:ext>
            </a:extLst>
          </p:cNvPr>
          <p:cNvSpPr>
            <a:spLocks xmlns:a="http://schemas.openxmlformats.org/drawingml/2006/main" noGrp="1"/>
          </p:cNvSpPr>
          <p:nvPr/>
        </p:nvSpPr>
        <p:spPr>
          <a:xfrm xmlns:a="http://schemas.openxmlformats.org/drawingml/2006/main">
            <a:off x="552450" y="2767013"/>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09351E10-1059-46C1-BE5D-72835A9068F7}"/>
              </a:ext>
            </a:extLst>
          </p:cNvPr>
          <p:cNvSpPr>
            <a:spLocks xmlns:a="http://schemas.openxmlformats.org/drawingml/2006/main" noGrp="1"/>
          </p:cNvSpPr>
          <p:nvPr/>
        </p:nvSpPr>
        <p:spPr>
          <a:xfrm xmlns:a="http://schemas.openxmlformats.org/drawingml/2006/main">
            <a:off x="1257300" y="2767013"/>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自己教師あり：マスク → 条件付き置換 → マスク推定・元値復元。</a:t>
            </a:r>
          </a:p>
        </p:txBody>
      </p:sp>
      <p:sp>
        <p:nvSpPr>
          <p:cNvPr id="10" name="">
            <a:extLst xmlns:a="http://schemas.openxmlformats.org/drawingml/2006/main">
              <a:ext uri="{FF2B5EF4-FFF2-40B4-BE49-F238E27FC236}">
                <a16:creationId xmlns:a16="http://schemas.microsoft.com/office/drawing/2014/main" id="{DDCCD6F0-79BE-4E56-BAFD-B2EEA425BDEC}"/>
              </a:ext>
            </a:extLst>
          </p:cNvPr>
          <p:cNvSpPr>
            <a:spLocks xmlns:a="http://schemas.openxmlformats.org/drawingml/2006/main" noGrp="1"/>
          </p:cNvSpPr>
          <p:nvPr/>
        </p:nvSpPr>
        <p:spPr>
          <a:xfrm xmlns:a="http://schemas.openxmlformats.org/drawingml/2006/main">
            <a:off x="552450" y="3600450"/>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D75C8ABD-A4BA-4D30-87E3-2496156647E5}"/>
              </a:ext>
            </a:extLst>
          </p:cNvPr>
          <p:cNvSpPr>
            <a:spLocks xmlns:a="http://schemas.openxmlformats.org/drawingml/2006/main" noGrp="1"/>
          </p:cNvSpPr>
          <p:nvPr/>
        </p:nvSpPr>
        <p:spPr>
          <a:xfrm xmlns:a="http://schemas.openxmlformats.org/drawingml/2006/main">
            <a:off x="1257300" y="3600450"/>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半教師あり：同じ行の複数拡張に対する予測を揃える。</a:t>
            </a:r>
          </a:p>
        </p:txBody>
      </p:sp>
      <p:sp>
        <p:nvSpPr>
          <p:cNvPr id="12" name="">
            <a:extLst xmlns:a="http://schemas.openxmlformats.org/drawingml/2006/main">
              <a:ext uri="{FF2B5EF4-FFF2-40B4-BE49-F238E27FC236}">
                <a16:creationId xmlns:a16="http://schemas.microsoft.com/office/drawing/2014/main" id="{B1DACAF5-3E79-4463-B9A5-50637DCBD5D7}"/>
              </a:ext>
            </a:extLst>
          </p:cNvPr>
          <p:cNvSpPr>
            <a:spLocks xmlns:a="http://schemas.openxmlformats.org/drawingml/2006/main" noGrp="1"/>
          </p:cNvSpPr>
          <p:nvPr/>
        </p:nvSpPr>
        <p:spPr>
          <a:xfrm xmlns:a="http://schemas.openxmlformats.org/drawingml/2006/main">
            <a:off x="552450" y="4433888"/>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9B11B11-6745-4085-A68F-A0B8E5804C12}"/>
              </a:ext>
            </a:extLst>
          </p:cNvPr>
          <p:cNvSpPr>
            <a:spLocks xmlns:a="http://schemas.openxmlformats.org/drawingml/2006/main" noGrp="1"/>
          </p:cNvSpPr>
          <p:nvPr/>
        </p:nvSpPr>
        <p:spPr>
          <a:xfrm xmlns:a="http://schemas.openxmlformats.org/drawingml/2006/main">
            <a:off x="1257300" y="4433888"/>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最終評価：学習に未使用のテストデータで分類性能を測る。</a:t>
            </a:r>
          </a:p>
        </p:txBody>
      </p:sp>
      <p:sp>
        <p:nvSpPr>
          <p:cNvPr id="14" name="">
            <a:extLst xmlns:a="http://schemas.openxmlformats.org/drawingml/2006/main">
              <a:ext uri="{FF2B5EF4-FFF2-40B4-BE49-F238E27FC236}">
                <a16:creationId xmlns:a16="http://schemas.microsoft.com/office/drawing/2014/main" id="{957C1BA9-6DA4-4961-A381-05373DC975E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A8F33AD-D906-4C04-9FEB-7A6179E6D89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独立な列置換 → Gaussian copulaの条件付き置換へ変更</a:t>
            </a:r>
          </a:p>
        </p:txBody>
      </p:sp>
    </p:spTree>
    <p:extLst>
      <p:ext uri="{BB962C8B-B14F-4D97-AF65-F5344CB8AC3E}">
        <p14:creationId xmlns:p14="http://schemas.microsoft.com/office/powerpoint/2010/main" val="20229011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0B4A29-23E1-49CB-95C5-9A8C03C60A9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1ECF4007-7F42-4861-B521-1A4D60B6BDE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883487E-0540-4685-B5D4-A7944FB72F6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D1240E14-4DEE-493D-9E58-CE355D252F1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F47176DC-BEB3-4DC6-A3D5-E7E1370815C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7C0B385-8509-4BD0-8416-C103558CA12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692C26-0AEB-4C19-A644-5632BB452C1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2648602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7B6A111-784B-4E71-BB97-2E0CDD00BB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今の実装でできること・未解決なこと</a:t>
            </a:r>
          </a:p>
        </p:txBody>
      </p:sp>
      <p:sp>
        <p:nvSpPr>
          <p:cNvPr id="2" name="">
            <a:extLst xmlns:a="http://schemas.openxmlformats.org/drawingml/2006/main">
              <a:ext uri="{FF2B5EF4-FFF2-40B4-BE49-F238E27FC236}">
                <a16:creationId xmlns:a16="http://schemas.microsoft.com/office/drawing/2014/main" id="{F19A36CB-79F0-44B5-A4F2-5D6CD7B6897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6E9B4EA-E896-4A35-9D4F-A93188401DC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自然な特徴の組合せを作ることと、クラスを保つことは別。</a:t>
            </a:r>
          </a:p>
        </p:txBody>
      </p:sp>
      <p:sp>
        <p:nvSpPr>
          <p:cNvPr id="4" name="">
            <a:extLst xmlns:a="http://schemas.openxmlformats.org/drawingml/2006/main">
              <a:ext uri="{FF2B5EF4-FFF2-40B4-BE49-F238E27FC236}">
                <a16:creationId xmlns:a16="http://schemas.microsoft.com/office/drawing/2014/main" id="{C899BD60-9B15-497E-A850-48D24BDBCF0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235E2EB5-DC55-4A90-BF72-695496C2AC8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F706C43D-D4A0-4080-B528-90C3EFA4AE90}"/>
              </a:ext>
            </a:extLst>
          </p:cNvPr>
          <p:cNvSpPr>
            <a:spLocks xmlns:a="http://schemas.openxmlformats.org/drawingml/2006/main" noGrp="1"/>
          </p:cNvSpPr>
          <p:nvPr/>
        </p:nvSpPr>
        <p:spPr>
          <a:xfrm xmlns:a="http://schemas.openxmlformats.org/drawingml/2006/main">
            <a:off x="514350" y="1990725"/>
            <a:ext cx="531495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D2A62CD-52C0-4552-99AD-B88DCDD956D8}"/>
              </a:ext>
            </a:extLst>
          </p:cNvPr>
          <p:cNvSpPr>
            <a:spLocks xmlns:a="http://schemas.openxmlformats.org/drawingml/2006/main" noGrp="1"/>
          </p:cNvSpPr>
          <p:nvPr/>
        </p:nvSpPr>
        <p:spPr>
          <a:xfrm xmlns:a="http://schemas.openxmlformats.org/drawingml/2006/main">
            <a:off x="704850" y="21050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現在の対象</a:t>
            </a:r>
          </a:p>
        </p:txBody>
      </p:sp>
      <p:sp>
        <p:nvSpPr>
          <p:cNvPr id="8" name="">
            <a:extLst xmlns:a="http://schemas.openxmlformats.org/drawingml/2006/main">
              <a:ext uri="{FF2B5EF4-FFF2-40B4-BE49-F238E27FC236}">
                <a16:creationId xmlns:a16="http://schemas.microsoft.com/office/drawing/2014/main" id="{5465860E-BB55-473A-9325-79D793687E0F}"/>
              </a:ext>
            </a:extLst>
          </p:cNvPr>
          <p:cNvSpPr>
            <a:spLocks xmlns:a="http://schemas.openxmlformats.org/drawingml/2006/main" noGrp="1"/>
          </p:cNvSpPr>
          <p:nvPr/>
        </p:nvSpPr>
        <p:spPr>
          <a:xfrm xmlns:a="http://schemas.openxmlformats.org/drawingml/2006/main">
            <a:off x="704850" y="2657475"/>
            <a:ext cx="49339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有限値の連続特徴。</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残した特徴は変更しない。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マスク列は同時生成。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列置換との、同一条件比較を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実装済み。</a:t>
            </a:r>
          </a:p>
        </p:txBody>
      </p:sp>
      <p:sp>
        <p:nvSpPr>
          <p:cNvPr id="9" name="">
            <a:extLst xmlns:a="http://schemas.openxmlformats.org/drawingml/2006/main">
              <a:ext uri="{FF2B5EF4-FFF2-40B4-BE49-F238E27FC236}">
                <a16:creationId xmlns:a16="http://schemas.microsoft.com/office/drawing/2014/main" id="{833F9DA6-952D-4455-BA79-AFCA86D89681}"/>
              </a:ext>
            </a:extLst>
          </p:cNvPr>
          <p:cNvSpPr>
            <a:spLocks xmlns:a="http://schemas.openxmlformats.org/drawingml/2006/main" noGrp="1"/>
          </p:cNvSpPr>
          <p:nvPr/>
        </p:nvSpPr>
        <p:spPr>
          <a:xfrm xmlns:a="http://schemas.openxmlformats.org/drawingml/2006/main">
            <a:off x="6076950" y="1990725"/>
            <a:ext cx="560070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DBCAF5D-49EC-4796-99B4-53A7B6CF7DCF}"/>
              </a:ext>
            </a:extLst>
          </p:cNvPr>
          <p:cNvSpPr>
            <a:spLocks xmlns:a="http://schemas.openxmlformats.org/drawingml/2006/main" noGrp="1"/>
          </p:cNvSpPr>
          <p:nvPr/>
        </p:nvSpPr>
        <p:spPr>
          <a:xfrm xmlns:a="http://schemas.openxmlformats.org/drawingml/2006/main">
            <a:off x="6267450" y="21050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未解決の問い</a:t>
            </a:r>
          </a:p>
        </p:txBody>
      </p:sp>
      <p:sp>
        <p:nvSpPr>
          <p:cNvPr id="11" name="">
            <a:extLst xmlns:a="http://schemas.openxmlformats.org/drawingml/2006/main">
              <a:ext uri="{FF2B5EF4-FFF2-40B4-BE49-F238E27FC236}">
                <a16:creationId xmlns:a16="http://schemas.microsoft.com/office/drawing/2014/main" id="{392CF20B-5829-432F-80A7-87E0F9591622}"/>
              </a:ext>
            </a:extLst>
          </p:cNvPr>
          <p:cNvSpPr>
            <a:spLocks xmlns:a="http://schemas.openxmlformats.org/drawingml/2006/main" noGrp="1"/>
          </p:cNvSpPr>
          <p:nvPr/>
        </p:nvSpPr>
        <p:spPr>
          <a:xfrm xmlns:a="http://schemas.openxmlformats.org/drawingml/2006/main">
            <a:off x="6267450" y="2657475"/>
            <a:ext cx="52197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生成で正解クラスは保たれるか。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カテゴリ・順序列をどう扱うか。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非正規の依存はどこまで表せるか。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置換が弱すぎ／強すぎないか。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分類性能改善は、まだ仮説。</a:t>
            </a:r>
          </a:p>
        </p:txBody>
      </p:sp>
      <p:sp>
        <p:nvSpPr>
          <p:cNvPr id="12" name="">
            <a:extLst xmlns:a="http://schemas.openxmlformats.org/drawingml/2006/main">
              <a:ext uri="{FF2B5EF4-FFF2-40B4-BE49-F238E27FC236}">
                <a16:creationId xmlns:a16="http://schemas.microsoft.com/office/drawing/2014/main" id="{708B2049-1F71-4AF5-8C33-848D9EF29C2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483464-5E2B-48DD-A003-6E91D6AA08E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確証バイアスを「解決済み」とはせず、クラス保持も別に評価する</a:t>
            </a:r>
          </a:p>
        </p:txBody>
      </p:sp>
    </p:spTree>
    <p:extLst>
      <p:ext uri="{BB962C8B-B14F-4D97-AF65-F5344CB8AC3E}">
        <p14:creationId xmlns:p14="http://schemas.microsoft.com/office/powerpoint/2010/main" val="63919814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02E48CC-AC40-45E0-A771-8679352967A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動作確認：置換後の関係を図で見る</a:t>
            </a:r>
          </a:p>
        </p:txBody>
      </p:sp>
      <p:sp>
        <p:nvSpPr>
          <p:cNvPr id="2" name="">
            <a:extLst xmlns:a="http://schemas.openxmlformats.org/drawingml/2006/main">
              <a:ext uri="{FF2B5EF4-FFF2-40B4-BE49-F238E27FC236}">
                <a16:creationId xmlns:a16="http://schemas.microsoft.com/office/drawing/2014/main" id="{0FCEDBC9-C5E1-480E-9144-4FA84009ABD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5AAFDA9-51CC-4D1B-9658-947C186716D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既知の依存を持つ合成データで、同じ列を置換した。</a:t>
            </a:r>
          </a:p>
        </p:txBody>
      </p:sp>
      <p:sp>
        <p:nvSpPr>
          <p:cNvPr id="4" name="">
            <a:extLst xmlns:a="http://schemas.openxmlformats.org/drawingml/2006/main">
              <a:ext uri="{FF2B5EF4-FFF2-40B4-BE49-F238E27FC236}">
                <a16:creationId xmlns:a16="http://schemas.microsoft.com/office/drawing/2014/main" id="{244CD41C-44A5-4829-B88B-A6DB235CA5A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AA84C686-909C-436F-8795-F6079670E74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D1AC7061-8D3D-496C-ABAF-156D4F6048B1}"/>
              </a:ext>
            </a:extLst>
          </p:cNvPr>
          <p:cNvSpPr>
            <a:spLocks xmlns:a="http://schemas.openxmlformats.org/drawingml/2006/main" noGrp="1"/>
          </p:cNvSpPr>
          <p:nvPr/>
        </p:nvSpPr>
        <p:spPr>
          <a:xfrm xmlns:a="http://schemas.openxmlformats.org/drawingml/2006/main">
            <a:off x="51435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db4cd35b6e3547a4"/>
          </a:graphicData>
        </a:graphic>
      </p:graphicFrame>
      <p:sp>
        <p:nvSpPr>
          <p:cNvPr id="8" name="">
            <a:extLst xmlns:a="http://schemas.openxmlformats.org/drawingml/2006/main">
              <a:ext uri="{FF2B5EF4-FFF2-40B4-BE49-F238E27FC236}">
                <a16:creationId xmlns:a16="http://schemas.microsoft.com/office/drawing/2014/main" id="{3FA4FE9B-D7F8-46D9-9742-BEF7AA0C6B7D}"/>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D454040D-6738-44C3-85A6-C1DDE2149DBE}"/>
              </a:ext>
            </a:extLst>
          </p:cNvPr>
          <p:cNvSpPr>
            <a:spLocks xmlns:a="http://schemas.openxmlformats.org/drawingml/2006/main" noGrp="1"/>
          </p:cNvSpPr>
          <p:nvPr/>
        </p:nvSpPr>
        <p:spPr>
          <a:xfrm xmlns:a="http://schemas.openxmlformats.org/drawingml/2006/main">
            <a:off x="4295775"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68546c1de8ac4a88"/>
          </a:graphicData>
        </a:graphic>
      </p:graphicFrame>
      <p:sp>
        <p:nvSpPr>
          <p:cNvPr id="11" name="">
            <a:extLst xmlns:a="http://schemas.openxmlformats.org/drawingml/2006/main">
              <a:ext uri="{FF2B5EF4-FFF2-40B4-BE49-F238E27FC236}">
                <a16:creationId xmlns:a16="http://schemas.microsoft.com/office/drawing/2014/main" id="{91583800-15BB-46C1-A6A7-9BED756C842A}"/>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29F50872-6338-4F8D-B2C7-3239BA262B3B}"/>
              </a:ext>
            </a:extLst>
          </p:cNvPr>
          <p:cNvSpPr>
            <a:spLocks xmlns:a="http://schemas.openxmlformats.org/drawingml/2006/main" noGrp="1"/>
          </p:cNvSpPr>
          <p:nvPr/>
        </p:nvSpPr>
        <p:spPr>
          <a:xfrm xmlns:a="http://schemas.openxmlformats.org/drawingml/2006/main">
            <a:off x="807720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Gaussian copula</a:t>
            </a:r>
          </a:p>
        </p:txBody>
      </p:sp>
      <p:graphicFrame>
        <p:nvGraphicFramePr>
          <p:cNvPr id="29" name="Chart"/>
          <p:cNvGraphicFramePr/>
          <p:nvPr/>
        </p:nvGraphicFramePr>
        <p:xfrm>
          <a:off xmlns:a="http://schemas.openxmlformats.org/drawingml/2006/main" x="807720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340c1ed4e6b9498b"/>
          </a:graphicData>
        </a:graphic>
      </p:graphicFrame>
      <p:sp>
        <p:nvSpPr>
          <p:cNvPr id="14" name="">
            <a:extLst xmlns:a="http://schemas.openxmlformats.org/drawingml/2006/main">
              <a:ext uri="{FF2B5EF4-FFF2-40B4-BE49-F238E27FC236}">
                <a16:creationId xmlns:a16="http://schemas.microsoft.com/office/drawing/2014/main" id="{42462B47-0F9B-46EF-ABA0-AC3087E9B7AB}"/>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E3AD1097-BED0-4735-9EDC-66DE2A2AEF0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CD27AC7-A46D-4E31-AB02-00307212D31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この設定では、列置換で関係が崩れ、条件付き置換では関係が残る</a:t>
            </a:r>
          </a:p>
        </p:txBody>
      </p:sp>
    </p:spTree>
    <p:extLst>
      <p:ext uri="{BB962C8B-B14F-4D97-AF65-F5344CB8AC3E}">
        <p14:creationId xmlns:p14="http://schemas.microsoft.com/office/powerpoint/2010/main" val="20044973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284AAD-BC9C-4463-8593-9E3F43F45A7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合成データの確認で、何が分かるか</a:t>
            </a:r>
          </a:p>
        </p:txBody>
      </p:sp>
      <p:sp>
        <p:nvSpPr>
          <p:cNvPr id="2" name="">
            <a:extLst xmlns:a="http://schemas.openxmlformats.org/drawingml/2006/main">
              <a:ext uri="{FF2B5EF4-FFF2-40B4-BE49-F238E27FC236}">
                <a16:creationId xmlns:a16="http://schemas.microsoft.com/office/drawing/2014/main" id="{EB79D6C7-5A1B-4DBD-B636-DC664134DFE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28D351D-5416-44F0-9A22-8ACEAC43031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分類性能の証明ではなく、条件付き生成の動作を確認する実験。</a:t>
            </a:r>
          </a:p>
        </p:txBody>
      </p:sp>
      <p:sp>
        <p:nvSpPr>
          <p:cNvPr id="4" name="">
            <a:extLst xmlns:a="http://schemas.openxmlformats.org/drawingml/2006/main">
              <a:ext uri="{FF2B5EF4-FFF2-40B4-BE49-F238E27FC236}">
                <a16:creationId xmlns:a16="http://schemas.microsoft.com/office/drawing/2014/main" id="{F190B7C0-79EB-4427-95AA-129C0BBFB7D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B252B4FA-F2BC-49CC-9C91-E3FEABC08C2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graphicFrame>
        <p:nvGraphicFramePr>
          <p:cNvPr id="15" name=""/>
          <p:cNvGraphicFramePr/>
          <p:nvPr/>
        </p:nvGraphicFramePr>
        <p:xfrm>
          <a:off xmlns:a="http://schemas.openxmlformats.org/drawingml/2006/main" x="514350" y="2085975"/>
          <a:ext xmlns:a="http://schemas.openxmlformats.org/drawingml/2006/main" cx="11163300" cy="2533650"/>
        </p:xfrm>
        <a:graphic xmlns:a="http://schemas.openxmlformats.org/drawingml/2006/main">
          <a:graphicData uri="http://schemas.openxmlformats.org/drawingml/2006/table">
            <a:tbl>
              <a:tblPr/>
              <a:tblGrid>
                <a:gridCol w="3721100"/>
                <a:gridCol w="3721100"/>
                <a:gridCol w="3721100"/>
              </a:tblGrid>
              <a:tr h="633413">
                <a:tc>
                  <a:txBody>
                    <a:bodyPr/>
                    <a:lstStyle/>
                    <a:p>
                      <a:pPr algn="ctr"/>
                      <a:r>
                        <a:rPr sz="2175" b="1">
                          <a:solidFill>
                            <a:srgbClr val="2E7D5B"/>
                          </a:solidFill>
                          <a:latin typeface="Noto Sans JP"/>
                          <a:ea typeface="Noto Sans JP"/>
                          <a:cs typeface="Noto Sans JP"/>
                        </a:rPr>
                        <a:t>対象</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相関</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E[(X₂′ − 0.8 X₁)²]</a:t>
                      </a:r>
                    </a:p>
                  </a:txBody>
                  <a:tcPr marL="91440" marR="91440" marT="45720" marB="45720" anchor="ctr">
                    <a:solidFill>
                      <a:srgbClr val="E7F2EC"/>
                    </a:solidFill>
                  </a:tcPr>
                </a:tc>
              </a:tr>
              <a:tr h="633413">
                <a:tc>
                  <a:txBody>
                    <a:bodyPr/>
                    <a:lstStyle/>
                    <a:p>
                      <a:pPr algn="ctr"/>
                      <a:r>
                        <a:rPr sz="2175" b="0">
                          <a:solidFill>
                            <a:srgbClr val="222222"/>
                          </a:solidFill>
                          <a:latin typeface="Noto Sans JP"/>
                          <a:ea typeface="Noto Sans JP"/>
                          <a:cs typeface="Noto Sans JP"/>
                        </a:rPr>
                        <a:t>元データ</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0.805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0.352</a:t>
                      </a:r>
                    </a:p>
                  </a:txBody>
                  <a:tcPr marL="91440" marR="91440" marT="45720" marB="45720" anchor="ctr">
                    <a:solidFill>
                      <a:srgbClr val="FFFFFF"/>
                    </a:solidFill>
                  </a:tcPr>
                </a:tc>
              </a:tr>
              <a:tr h="633413">
                <a:tc>
                  <a:txBody>
                    <a:bodyPr/>
                    <a:lstStyle/>
                    <a:p>
                      <a:pPr algn="ctr"/>
                      <a:r>
                        <a:rPr sz="2175" b="0">
                          <a:solidFill>
                            <a:srgbClr val="222222"/>
                          </a:solidFill>
                          <a:latin typeface="Noto Sans JP"/>
                          <a:ea typeface="Noto Sans JP"/>
                          <a:cs typeface="Noto Sans JP"/>
                        </a:rPr>
                        <a:t>列置換</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-0.014</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1.653</a:t>
                      </a:r>
                    </a:p>
                  </a:txBody>
                  <a:tcPr marL="91440" marR="91440" marT="45720" marB="45720" anchor="ctr">
                    <a:solidFill>
                      <a:srgbClr val="F6F6F6"/>
                    </a:solidFill>
                  </a:tcPr>
                </a:tc>
              </a:tr>
              <a:tr h="633413">
                <a:tc>
                  <a:txBody>
                    <a:bodyPr/>
                    <a:lstStyle/>
                    <a:p>
                      <a:pPr algn="ctr"/>
                      <a:r>
                        <a:rPr sz="2175" b="0">
                          <a:solidFill>
                            <a:srgbClr val="222222"/>
                          </a:solidFill>
                          <a:latin typeface="Noto Sans JP"/>
                          <a:ea typeface="Noto Sans JP"/>
                          <a:cs typeface="Noto Sans JP"/>
                        </a:rPr>
                        <a:t>Gaussian copula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0.761</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0.409</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44CA669-0C64-48BD-8761-FC749B6386BD}"/>
              </a:ext>
            </a:extLst>
          </p:cNvPr>
          <p:cNvSpPr>
            <a:spLocks xmlns:a="http://schemas.openxmlformats.org/drawingml/2006/main" noGrp="1"/>
          </p:cNvSpPr>
          <p:nvPr/>
        </p:nvSpPr>
        <p:spPr>
          <a:xfrm xmlns:a="http://schemas.openxmlformats.org/drawingml/2006/main">
            <a:off x="619125" y="4867275"/>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右列は「真の条件付き平均0.8X₁からのずれ」の二乗平均。</a:t>
            </a:r>
          </a:p>
        </p:txBody>
      </p:sp>
      <p:sp>
        <p:nvSpPr>
          <p:cNvPr id="8" name="">
            <a:extLst xmlns:a="http://schemas.openxmlformats.org/drawingml/2006/main">
              <a:ext uri="{FF2B5EF4-FFF2-40B4-BE49-F238E27FC236}">
                <a16:creationId xmlns:a16="http://schemas.microsoft.com/office/drawing/2014/main" id="{D6D9D816-2A5E-4029-98D7-9D2049653F3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78E0E1-BC70-4C26-9201-3B2EA1B61E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Gaussianの仮定に合う例での確認。実データやクラス保持は別に検証する</a:t>
            </a:r>
          </a:p>
        </p:txBody>
      </p:sp>
    </p:spTree>
    <p:extLst>
      <p:ext uri="{BB962C8B-B14F-4D97-AF65-F5344CB8AC3E}">
        <p14:creationId xmlns:p14="http://schemas.microsoft.com/office/powerpoint/2010/main" val="206487022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984328-B22D-4575-A33D-C8DFB9B50E4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106277ED-E1C2-4165-827A-D8E49794DF7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AC88ECB-56D5-4D4A-85CB-C2999D08C22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VIMEの2手法で共通の条件。原論文の実験表の再現ではない。</a:t>
            </a:r>
          </a:p>
        </p:txBody>
      </p:sp>
      <p:sp>
        <p:nvSpPr>
          <p:cNvPr id="4" name="">
            <a:extLst xmlns:a="http://schemas.openxmlformats.org/drawingml/2006/main">
              <a:ext uri="{FF2B5EF4-FFF2-40B4-BE49-F238E27FC236}">
                <a16:creationId xmlns:a16="http://schemas.microsoft.com/office/drawing/2014/main" id="{4103BE09-771D-4988-AD0B-298751D26FA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1E38EB4-24E5-4F3F-B4E8-CF3D5829A5E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75FC625-8D18-4173-89C1-A3EFC106AF7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955AF0C-AFB5-419E-969E-6C33E6DB31C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63384405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D0D2F0-FE84-493F-BA6A-ACA9DE7794A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今回の再実行：同じ学習枠組みで比較</a:t>
            </a:r>
          </a:p>
        </p:txBody>
      </p:sp>
      <p:sp>
        <p:nvSpPr>
          <p:cNvPr id="2" name="">
            <a:extLst xmlns:a="http://schemas.openxmlformats.org/drawingml/2006/main">
              <a:ext uri="{FF2B5EF4-FFF2-40B4-BE49-F238E27FC236}">
                <a16:creationId xmlns:a16="http://schemas.microsoft.com/office/drawing/2014/main" id="{598512C5-1EC2-4BEA-974D-66F8A2D69C6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3073ED8-DB22-4700-A98F-0C5880A161A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2026/10/4実行。ROC-AUCの5 seed平均 ± 標準偏差。</a:t>
            </a:r>
          </a:p>
        </p:txBody>
      </p:sp>
      <p:sp>
        <p:nvSpPr>
          <p:cNvPr id="4" name="">
            <a:extLst xmlns:a="http://schemas.openxmlformats.org/drawingml/2006/main">
              <a:ext uri="{FF2B5EF4-FFF2-40B4-BE49-F238E27FC236}">
                <a16:creationId xmlns:a16="http://schemas.microsoft.com/office/drawing/2014/main" id="{C298839F-4E59-4311-94E2-6A4C5AAE3FC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35A2880-466E-4636-8721-C289553E630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809625">
                <a:tc>
                  <a:txBody>
                    <a:bodyPr/>
                    <a:lstStyle/>
                    <a:p>
                      <a:pPr algn="ctr"/>
                      <a:r>
                        <a:rPr sz="1950" b="1">
                          <a:solidFill>
                            <a:srgbClr val="2E7D5B"/>
                          </a:solidFill>
                          <a:latin typeface="Noto Sans JP"/>
                          <a:ea typeface="Noto Sans JP"/>
                          <a:cs typeface="Noto Sans JP"/>
                        </a:rPr>
                        <a:t>データ / ROC-AUC</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Gaussian copula</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差の95% CI</a:t>
                      </a:r>
                    </a:p>
                  </a:txBody>
                  <a:tcPr marL="91440" marR="91440" marT="45720" marB="45720" anchor="ctr">
                    <a:solidFill>
                      <a:srgbClr val="E7F2EC"/>
                    </a:solidFill>
                  </a:tcPr>
                </a:tc>
              </a:tr>
              <a:tr h="809625">
                <a:tc>
                  <a:txBody>
                    <a:bodyPr/>
                    <a:lstStyle/>
                    <a:p>
                      <a:pPr algn="ctr"/>
                      <a:r>
                        <a:rPr sz="1950"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[−0.005, +0.011]</a:t>
                      </a:r>
                    </a:p>
                  </a:txBody>
                  <a:tcPr marL="91440" marR="91440" marT="45720" marB="45720" anchor="ctr">
                    <a:solidFill>
                      <a:srgbClr val="FFFFFF"/>
                    </a:solidFill>
                  </a:tcPr>
                </a:tc>
              </a:tr>
              <a:tr h="809625">
                <a:tc>
                  <a:txBody>
                    <a:bodyPr/>
                    <a:lstStyle/>
                    <a:p>
                      <a:pPr algn="ctr"/>
                      <a:r>
                        <a:rPr sz="1950"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78D179F-D1BC-4704-93ED-C1360D6F6E32}"/>
              </a:ext>
            </a:extLst>
          </p:cNvPr>
          <p:cNvSpPr>
            <a:spLocks xmlns:a="http://schemas.openxmlformats.org/drawingml/2006/main" noGrp="1"/>
          </p:cNvSpPr>
          <p:nvPr/>
        </p:nvSpPr>
        <p:spPr>
          <a:xfrm xmlns:a="http://schemas.openxmlformats.org/drawingml/2006/main">
            <a:off x="619125" y="47815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平均差：Breast Cancer +0.003 / Wine +0.021</a:t>
            </a:r>
          </a:p>
        </p:txBody>
      </p:sp>
      <p:sp>
        <p:nvSpPr>
          <p:cNvPr id="8" name="">
            <a:extLst xmlns:a="http://schemas.openxmlformats.org/drawingml/2006/main">
              <a:ext uri="{FF2B5EF4-FFF2-40B4-BE49-F238E27FC236}">
                <a16:creationId xmlns:a16="http://schemas.microsoft.com/office/drawing/2014/main" id="{315D482E-00F0-42EF-B9FA-BCA65EF7BBD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79766B1-DD97-4493-AC7B-B54764E86C5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今回の比較だけで優位性は確定しない。再実行でもデータ・seedへの依存を確認</a:t>
            </a:r>
          </a:p>
        </p:txBody>
      </p:sp>
    </p:spTree>
    <p:extLst>
      <p:ext uri="{BB962C8B-B14F-4D97-AF65-F5344CB8AC3E}">
        <p14:creationId xmlns:p14="http://schemas.microsoft.com/office/powerpoint/2010/main" val="152427059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5B2F531-FB21-49C9-BC4D-D4B1A722018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再実行結果を、どう解釈するか</a:t>
            </a:r>
          </a:p>
        </p:txBody>
      </p:sp>
      <p:sp>
        <p:nvSpPr>
          <p:cNvPr id="2" name="">
            <a:extLst xmlns:a="http://schemas.openxmlformats.org/drawingml/2006/main">
              <a:ext uri="{FF2B5EF4-FFF2-40B4-BE49-F238E27FC236}">
                <a16:creationId xmlns:a16="http://schemas.microsoft.com/office/drawing/2014/main" id="{882EC80F-C114-4738-AAC5-E73E70DFA94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B898D0D-432B-420B-9F19-74EC30C80D8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置換器を変えた効果は、仮定・データ・拡張強度によって変わる。</a:t>
            </a:r>
          </a:p>
        </p:txBody>
      </p:sp>
      <p:sp>
        <p:nvSpPr>
          <p:cNvPr id="4" name="">
            <a:extLst xmlns:a="http://schemas.openxmlformats.org/drawingml/2006/main">
              <a:ext uri="{FF2B5EF4-FFF2-40B4-BE49-F238E27FC236}">
                <a16:creationId xmlns:a16="http://schemas.microsoft.com/office/drawing/2014/main" id="{2A007349-402C-4D51-BD04-FBC260D4B82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6252482-C17F-4C61-9311-AD0060E375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90FDCC08-8B0B-4793-8F31-9B49E51335B0}"/>
              </a:ext>
            </a:extLst>
          </p:cNvPr>
          <p:cNvSpPr>
            <a:spLocks xmlns:a="http://schemas.openxmlformats.org/drawingml/2006/main" noGrp="1"/>
          </p:cNvSpPr>
          <p:nvPr/>
        </p:nvSpPr>
        <p:spPr>
          <a:xfrm xmlns:a="http://schemas.openxmlformats.org/drawingml/2006/main">
            <a:off x="552450" y="19526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88591A65-AAE7-406F-9056-CDC653D2DF64}"/>
              </a:ext>
            </a:extLst>
          </p:cNvPr>
          <p:cNvSpPr>
            <a:spLocks xmlns:a="http://schemas.openxmlformats.org/drawingml/2006/main" noGrp="1"/>
          </p:cNvSpPr>
          <p:nvPr/>
        </p:nvSpPr>
        <p:spPr>
          <a:xfrm xmlns:a="http://schemas.openxmlformats.org/drawingml/2006/main">
            <a:off x="1257300" y="19526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2手法は、同じデータ分割・モデル・学習予算で比較した。</a:t>
            </a:r>
          </a:p>
        </p:txBody>
      </p:sp>
      <p:sp>
        <p:nvSpPr>
          <p:cNvPr id="8" name="">
            <a:extLst xmlns:a="http://schemas.openxmlformats.org/drawingml/2006/main">
              <a:ext uri="{FF2B5EF4-FFF2-40B4-BE49-F238E27FC236}">
                <a16:creationId xmlns:a16="http://schemas.microsoft.com/office/drawing/2014/main" id="{91236470-39EA-44B1-B210-F1D950A6070F}"/>
              </a:ext>
            </a:extLst>
          </p:cNvPr>
          <p:cNvSpPr>
            <a:spLocks xmlns:a="http://schemas.openxmlformats.org/drawingml/2006/main" noGrp="1"/>
          </p:cNvSpPr>
          <p:nvPr/>
        </p:nvSpPr>
        <p:spPr>
          <a:xfrm xmlns:a="http://schemas.openxmlformats.org/drawingml/2006/main">
            <a:off x="552450" y="27717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2781D1CF-EC5D-4304-8311-6699D644AFB6}"/>
              </a:ext>
            </a:extLst>
          </p:cNvPr>
          <p:cNvSpPr>
            <a:spLocks xmlns:a="http://schemas.openxmlformats.org/drawingml/2006/main" noGrp="1"/>
          </p:cNvSpPr>
          <p:nvPr/>
        </p:nvSpPr>
        <p:spPr>
          <a:xfrm xmlns:a="http://schemas.openxmlformats.org/drawingml/2006/main">
            <a:off x="1257300" y="27717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小さなデータではseedで結果が変わる。5回だけでは不十分。</a:t>
            </a:r>
          </a:p>
        </p:txBody>
      </p:sp>
      <p:sp>
        <p:nvSpPr>
          <p:cNvPr id="10" name="">
            <a:extLst xmlns:a="http://schemas.openxmlformats.org/drawingml/2006/main">
              <a:ext uri="{FF2B5EF4-FFF2-40B4-BE49-F238E27FC236}">
                <a16:creationId xmlns:a16="http://schemas.microsoft.com/office/drawing/2014/main" id="{2895BEF8-68F3-43E4-8D84-80748419E8FA}"/>
              </a:ext>
            </a:extLst>
          </p:cNvPr>
          <p:cNvSpPr>
            <a:spLocks xmlns:a="http://schemas.openxmlformats.org/drawingml/2006/main" noGrp="1"/>
          </p:cNvSpPr>
          <p:nvPr/>
        </p:nvSpPr>
        <p:spPr>
          <a:xfrm xmlns:a="http://schemas.openxmlformats.org/drawingml/2006/main">
            <a:off x="552450" y="35909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D5BC5DD-3D5D-470E-BE45-402DE6676024}"/>
              </a:ext>
            </a:extLst>
          </p:cNvPr>
          <p:cNvSpPr>
            <a:spLocks xmlns:a="http://schemas.openxmlformats.org/drawingml/2006/main" noGrp="1"/>
          </p:cNvSpPr>
          <p:nvPr/>
        </p:nvSpPr>
        <p:spPr>
          <a:xfrm xmlns:a="http://schemas.openxmlformats.org/drawingml/2006/main">
            <a:off x="1257300" y="35909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保存済みの2手法のAUCと、今回の再実行の値が一致した。</a:t>
            </a:r>
          </a:p>
        </p:txBody>
      </p:sp>
      <p:sp>
        <p:nvSpPr>
          <p:cNvPr id="12" name="">
            <a:extLst xmlns:a="http://schemas.openxmlformats.org/drawingml/2006/main">
              <a:ext uri="{FF2B5EF4-FFF2-40B4-BE49-F238E27FC236}">
                <a16:creationId xmlns:a16="http://schemas.microsoft.com/office/drawing/2014/main" id="{82F78E69-1560-4A3D-8E06-C5DC41FFD45F}"/>
              </a:ext>
            </a:extLst>
          </p:cNvPr>
          <p:cNvSpPr>
            <a:spLocks xmlns:a="http://schemas.openxmlformats.org/drawingml/2006/main" noGrp="1"/>
          </p:cNvSpPr>
          <p:nvPr/>
        </p:nvSpPr>
        <p:spPr>
          <a:xfrm xmlns:a="http://schemas.openxmlformats.org/drawingml/2006/main">
            <a:off x="552450" y="44100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D5B193C7-AC55-4C03-BC8C-6E8A3CCBA7DB}"/>
              </a:ext>
            </a:extLst>
          </p:cNvPr>
          <p:cNvSpPr>
            <a:spLocks xmlns:a="http://schemas.openxmlformats.org/drawingml/2006/main" noGrp="1"/>
          </p:cNvSpPr>
          <p:nvPr/>
        </p:nvSpPr>
        <p:spPr>
          <a:xfrm xmlns:a="http://schemas.openxmlformats.org/drawingml/2006/main">
            <a:off x="1257300" y="44100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生成の関係保持と、分類への効果は切り分けて検証する。</a:t>
            </a:r>
          </a:p>
        </p:txBody>
      </p:sp>
      <p:sp>
        <p:nvSpPr>
          <p:cNvPr id="14" name="">
            <a:extLst xmlns:a="http://schemas.openxmlformats.org/drawingml/2006/main">
              <a:ext uri="{FF2B5EF4-FFF2-40B4-BE49-F238E27FC236}">
                <a16:creationId xmlns:a16="http://schemas.microsoft.com/office/drawing/2014/main" id="{AD9BAAC9-A663-4A7F-B072-038CA1763B3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0A86FA-CD9C-487B-9EBE-7C118CC537F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次は、何を保ち何を変えた拡張が学習に役立つかを検証する</a:t>
            </a:r>
          </a:p>
        </p:txBody>
      </p:sp>
    </p:spTree>
    <p:extLst>
      <p:ext uri="{BB962C8B-B14F-4D97-AF65-F5344CB8AC3E}">
        <p14:creationId xmlns:p14="http://schemas.microsoft.com/office/powerpoint/2010/main" val="161188767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13128E-25DE-4BC1-AD99-F8108743227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次の検証：何が良くなれば研究になるか</a:t>
            </a:r>
          </a:p>
        </p:txBody>
      </p:sp>
      <p:sp>
        <p:nvSpPr>
          <p:cNvPr id="2" name="">
            <a:extLst xmlns:a="http://schemas.openxmlformats.org/drawingml/2006/main">
              <a:ext uri="{FF2B5EF4-FFF2-40B4-BE49-F238E27FC236}">
                <a16:creationId xmlns:a16="http://schemas.microsoft.com/office/drawing/2014/main" id="{F13EA355-E9EE-44DE-AFD7-D70F0A9EA8B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BE819-B78F-4516-9010-0BC88FED1DC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分類性能だけでなく、生成の妥当性と学習課題の強度を測る。</a:t>
            </a:r>
          </a:p>
        </p:txBody>
      </p:sp>
      <p:sp>
        <p:nvSpPr>
          <p:cNvPr id="4" name="">
            <a:extLst xmlns:a="http://schemas.openxmlformats.org/drawingml/2006/main">
              <a:ext uri="{FF2B5EF4-FFF2-40B4-BE49-F238E27FC236}">
                <a16:creationId xmlns:a16="http://schemas.microsoft.com/office/drawing/2014/main" id="{C9A05B1D-057F-47B7-AA18-4C8DDAA56EA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今後の検証</a:t>
            </a:r>
          </a:p>
        </p:txBody>
      </p:sp>
      <p:sp>
        <p:nvSpPr>
          <p:cNvPr id="5" name="">
            <a:extLst xmlns:a="http://schemas.openxmlformats.org/drawingml/2006/main">
              <a:ext uri="{FF2B5EF4-FFF2-40B4-BE49-F238E27FC236}">
                <a16:creationId xmlns:a16="http://schemas.microsoft.com/office/drawing/2014/main" id="{46364A53-DD0A-4E83-A5B3-9328147C69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46475EC3-035C-4512-A164-4188A872D6B7}"/>
              </a:ext>
            </a:extLst>
          </p:cNvPr>
          <p:cNvSpPr>
            <a:spLocks xmlns:a="http://schemas.openxmlformats.org/drawingml/2006/main" noGrp="1"/>
          </p:cNvSpPr>
          <p:nvPr/>
        </p:nvSpPr>
        <p:spPr>
          <a:xfrm xmlns:a="http://schemas.openxmlformats.org/drawingml/2006/main">
            <a:off x="552450" y="1943100"/>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432EED5E-AD99-4588-ADE9-C3ECE8673630}"/>
              </a:ext>
            </a:extLst>
          </p:cNvPr>
          <p:cNvSpPr>
            <a:spLocks xmlns:a="http://schemas.openxmlformats.org/drawingml/2006/main" noGrp="1"/>
          </p:cNvSpPr>
          <p:nvPr/>
        </p:nvSpPr>
        <p:spPr>
          <a:xfrm xmlns:a="http://schemas.openxmlformats.org/drawingml/2006/main">
            <a:off x="1257300" y="1943100"/>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生成品質：不自然な組合せ・近傍距離・変更量を確認。</a:t>
            </a:r>
          </a:p>
        </p:txBody>
      </p:sp>
      <p:sp>
        <p:nvSpPr>
          <p:cNvPr id="8" name="">
            <a:extLst xmlns:a="http://schemas.openxmlformats.org/drawingml/2006/main">
              <a:ext uri="{FF2B5EF4-FFF2-40B4-BE49-F238E27FC236}">
                <a16:creationId xmlns:a16="http://schemas.microsoft.com/office/drawing/2014/main" id="{D0E9BC32-E440-4209-9D0A-9B963FBAA4F6}"/>
              </a:ext>
            </a:extLst>
          </p:cNvPr>
          <p:cNvSpPr>
            <a:spLocks xmlns:a="http://schemas.openxmlformats.org/drawingml/2006/main" noGrp="1"/>
          </p:cNvSpPr>
          <p:nvPr/>
        </p:nvSpPr>
        <p:spPr>
          <a:xfrm xmlns:a="http://schemas.openxmlformats.org/drawingml/2006/main">
            <a:off x="552450" y="2764631"/>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C969D3F-4FE9-4E2B-BFE7-D49A9C66C93B}"/>
              </a:ext>
            </a:extLst>
          </p:cNvPr>
          <p:cNvSpPr>
            <a:spLocks xmlns:a="http://schemas.openxmlformats.org/drawingml/2006/main" noGrp="1"/>
          </p:cNvSpPr>
          <p:nvPr/>
        </p:nvSpPr>
        <p:spPr>
          <a:xfrm xmlns:a="http://schemas.openxmlformats.org/drawingml/2006/main">
            <a:off x="1257300" y="2764631"/>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クラス保持：生成で意味が変わらないか、別途調べる。</a:t>
            </a:r>
          </a:p>
        </p:txBody>
      </p:sp>
      <p:sp>
        <p:nvSpPr>
          <p:cNvPr id="10" name="">
            <a:extLst xmlns:a="http://schemas.openxmlformats.org/drawingml/2006/main">
              <a:ext uri="{FF2B5EF4-FFF2-40B4-BE49-F238E27FC236}">
                <a16:creationId xmlns:a16="http://schemas.microsoft.com/office/drawing/2014/main" id="{373C879B-1954-467B-9C70-305D8E608EB4}"/>
              </a:ext>
            </a:extLst>
          </p:cNvPr>
          <p:cNvSpPr>
            <a:spLocks xmlns:a="http://schemas.openxmlformats.org/drawingml/2006/main" noGrp="1"/>
          </p:cNvSpPr>
          <p:nvPr/>
        </p:nvSpPr>
        <p:spPr>
          <a:xfrm xmlns:a="http://schemas.openxmlformats.org/drawingml/2006/main">
            <a:off x="552450" y="3586163"/>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4AAC2773-F94E-4E22-862F-763A2B530930}"/>
              </a:ext>
            </a:extLst>
          </p:cNvPr>
          <p:cNvSpPr>
            <a:spLocks xmlns:a="http://schemas.openxmlformats.org/drawingml/2006/main" noGrp="1"/>
          </p:cNvSpPr>
          <p:nvPr/>
        </p:nvSpPr>
        <p:spPr>
          <a:xfrm xmlns:a="http://schemas.openxmlformats.org/drawingml/2006/main">
            <a:off x="1257300" y="3586163"/>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分類評価：データとseedを増やし、差の不確実性を見る。</a:t>
            </a:r>
          </a:p>
        </p:txBody>
      </p:sp>
      <p:sp>
        <p:nvSpPr>
          <p:cNvPr id="12" name="">
            <a:extLst xmlns:a="http://schemas.openxmlformats.org/drawingml/2006/main">
              <a:ext uri="{FF2B5EF4-FFF2-40B4-BE49-F238E27FC236}">
                <a16:creationId xmlns:a16="http://schemas.microsoft.com/office/drawing/2014/main" id="{718A5D11-7407-462C-ACA5-4E0573119C93}"/>
              </a:ext>
            </a:extLst>
          </p:cNvPr>
          <p:cNvSpPr>
            <a:spLocks xmlns:a="http://schemas.openxmlformats.org/drawingml/2006/main" noGrp="1"/>
          </p:cNvSpPr>
          <p:nvPr/>
        </p:nvSpPr>
        <p:spPr>
          <a:xfrm xmlns:a="http://schemas.openxmlformats.org/drawingml/2006/main">
            <a:off x="552450" y="4407694"/>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9D81857-5C20-4ACF-8968-D3166CBDF1E8}"/>
              </a:ext>
            </a:extLst>
          </p:cNvPr>
          <p:cNvSpPr>
            <a:spLocks xmlns:a="http://schemas.openxmlformats.org/drawingml/2006/main" noGrp="1"/>
          </p:cNvSpPr>
          <p:nvPr/>
        </p:nvSpPr>
        <p:spPr>
          <a:xfrm xmlns:a="http://schemas.openxmlformats.org/drawingml/2006/main">
            <a:off x="1257300" y="4407694"/>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モデル仮定：Gaussianとt等を比較し、複雑化の効果を確認。</a:t>
            </a:r>
          </a:p>
        </p:txBody>
      </p:sp>
      <p:sp>
        <p:nvSpPr>
          <p:cNvPr id="14" name="">
            <a:extLst xmlns:a="http://schemas.openxmlformats.org/drawingml/2006/main">
              <a:ext uri="{FF2B5EF4-FFF2-40B4-BE49-F238E27FC236}">
                <a16:creationId xmlns:a16="http://schemas.microsoft.com/office/drawing/2014/main" id="{B38394B0-33E0-4AED-A939-B1E40972232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9592B82-58D3-497E-BD2F-3DAE10ADD21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依存を使う → 生成が変わる → 学習が改善する、の各段階を検証</a:t>
            </a:r>
          </a:p>
        </p:txBody>
      </p:sp>
    </p:spTree>
    <p:extLst>
      <p:ext uri="{BB962C8B-B14F-4D97-AF65-F5344CB8AC3E}">
        <p14:creationId xmlns:p14="http://schemas.microsoft.com/office/powerpoint/2010/main" val="125618505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11C1AAD-FCB0-4B55-8DDA-71F64C5CD9D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今回の進捗のまとめ</a:t>
            </a:r>
          </a:p>
        </p:txBody>
      </p:sp>
      <p:sp>
        <p:nvSpPr>
          <p:cNvPr id="2" name="">
            <a:extLst xmlns:a="http://schemas.openxmlformats.org/drawingml/2006/main">
              <a:ext uri="{FF2B5EF4-FFF2-40B4-BE49-F238E27FC236}">
                <a16:creationId xmlns:a16="http://schemas.microsoft.com/office/drawing/2014/main" id="{9187A9AA-4A75-4F11-B870-48321C5227F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219F007-CDBE-40DE-B5A9-4BF6325D97B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「コピュラを使う予定」から、何を学びどう生成するかへ。</a:t>
            </a:r>
          </a:p>
        </p:txBody>
      </p:sp>
      <p:sp>
        <p:nvSpPr>
          <p:cNvPr id="4" name="">
            <a:extLst xmlns:a="http://schemas.openxmlformats.org/drawingml/2006/main">
              <a:ext uri="{FF2B5EF4-FFF2-40B4-BE49-F238E27FC236}">
                <a16:creationId xmlns:a16="http://schemas.microsoft.com/office/drawing/2014/main" id="{4B65BCC5-2C1F-48AB-AE2E-7E8F2E41AFE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まとめ</a:t>
            </a:r>
          </a:p>
        </p:txBody>
      </p:sp>
      <p:sp>
        <p:nvSpPr>
          <p:cNvPr id="5" name="">
            <a:extLst xmlns:a="http://schemas.openxmlformats.org/drawingml/2006/main">
              <a:ext uri="{FF2B5EF4-FFF2-40B4-BE49-F238E27FC236}">
                <a16:creationId xmlns:a16="http://schemas.microsoft.com/office/drawing/2014/main" id="{E32C3BB2-7787-4F9E-8E0A-CA3177AA493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sp>
        <p:nvSpPr>
          <p:cNvPr id="6" name="">
            <a:extLst xmlns:a="http://schemas.openxmlformats.org/drawingml/2006/main">
              <a:ext uri="{FF2B5EF4-FFF2-40B4-BE49-F238E27FC236}">
                <a16:creationId xmlns:a16="http://schemas.microsoft.com/office/drawing/2014/main" id="{A6ED350C-7DC4-4D5B-88D2-C1FB581369B0}"/>
              </a:ext>
            </a:extLst>
          </p:cNvPr>
          <p:cNvSpPr>
            <a:spLocks xmlns:a="http://schemas.openxmlformats.org/drawingml/2006/main" noGrp="1"/>
          </p:cNvSpPr>
          <p:nvPr/>
        </p:nvSpPr>
        <p:spPr>
          <a:xfrm xmlns:a="http://schemas.openxmlformats.org/drawingml/2006/main">
            <a:off x="552450" y="1952625"/>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0976020-BE78-4681-AE03-9367405F98A4}"/>
              </a:ext>
            </a:extLst>
          </p:cNvPr>
          <p:cNvSpPr>
            <a:spLocks xmlns:a="http://schemas.openxmlformats.org/drawingml/2006/main" noGrp="1"/>
          </p:cNvSpPr>
          <p:nvPr/>
        </p:nvSpPr>
        <p:spPr>
          <a:xfrm xmlns:a="http://schemas.openxmlformats.org/drawingml/2006/main">
            <a:off x="1257300" y="1952625"/>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コピュラ：各列の分布と、位置の依存を分けて表す。</a:t>
            </a:r>
          </a:p>
        </p:txBody>
      </p:sp>
      <p:sp>
        <p:nvSpPr>
          <p:cNvPr id="8" name="">
            <a:extLst xmlns:a="http://schemas.openxmlformats.org/drawingml/2006/main">
              <a:ext uri="{FF2B5EF4-FFF2-40B4-BE49-F238E27FC236}">
                <a16:creationId xmlns:a16="http://schemas.microsoft.com/office/drawing/2014/main" id="{6CDB8F38-9FCE-4E8A-B872-F5F3AAAE93FF}"/>
              </a:ext>
            </a:extLst>
          </p:cNvPr>
          <p:cNvSpPr>
            <a:spLocks xmlns:a="http://schemas.openxmlformats.org/drawingml/2006/main" noGrp="1"/>
          </p:cNvSpPr>
          <p:nvPr/>
        </p:nvSpPr>
        <p:spPr>
          <a:xfrm xmlns:a="http://schemas.openxmlformats.org/drawingml/2006/main">
            <a:off x="552450" y="2776538"/>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F81177CB-3019-4D2B-8425-BB64C37241E8}"/>
              </a:ext>
            </a:extLst>
          </p:cNvPr>
          <p:cNvSpPr>
            <a:spLocks xmlns:a="http://schemas.openxmlformats.org/drawingml/2006/main" noGrp="1"/>
          </p:cNvSpPr>
          <p:nvPr/>
        </p:nvSpPr>
        <p:spPr>
          <a:xfrm xmlns:a="http://schemas.openxmlformats.org/drawingml/2006/main">
            <a:off x="1257300" y="2776538"/>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Gaussian：位置を潜在正規へ変換し、相関Rを推定。</a:t>
            </a:r>
          </a:p>
        </p:txBody>
      </p:sp>
      <p:sp>
        <p:nvSpPr>
          <p:cNvPr id="10" name="">
            <a:extLst xmlns:a="http://schemas.openxmlformats.org/drawingml/2006/main">
              <a:ext uri="{FF2B5EF4-FFF2-40B4-BE49-F238E27FC236}">
                <a16:creationId xmlns:a16="http://schemas.microsoft.com/office/drawing/2014/main" id="{53335A5F-0440-4C46-BBD9-7C6C1A03B87B}"/>
              </a:ext>
            </a:extLst>
          </p:cNvPr>
          <p:cNvSpPr>
            <a:spLocks xmlns:a="http://schemas.openxmlformats.org/drawingml/2006/main" noGrp="1"/>
          </p:cNvSpPr>
          <p:nvPr/>
        </p:nvSpPr>
        <p:spPr>
          <a:xfrm xmlns:a="http://schemas.openxmlformats.org/drawingml/2006/main">
            <a:off x="552450" y="3600450"/>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D3EF5C93-2D4D-41B6-A688-E3A728A365F6}"/>
              </a:ext>
            </a:extLst>
          </p:cNvPr>
          <p:cNvSpPr>
            <a:spLocks xmlns:a="http://schemas.openxmlformats.org/drawingml/2006/main" noGrp="1"/>
          </p:cNvSpPr>
          <p:nvPr/>
        </p:nvSpPr>
        <p:spPr>
          <a:xfrm xmlns:a="http://schemas.openxmlformats.org/drawingml/2006/main">
            <a:off x="1257300" y="3600450"/>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拡張：残した列を条件に、マスク列を同時に生成。</a:t>
            </a:r>
          </a:p>
        </p:txBody>
      </p:sp>
      <p:sp>
        <p:nvSpPr>
          <p:cNvPr id="12" name="">
            <a:extLst xmlns:a="http://schemas.openxmlformats.org/drawingml/2006/main">
              <a:ext uri="{FF2B5EF4-FFF2-40B4-BE49-F238E27FC236}">
                <a16:creationId xmlns:a16="http://schemas.microsoft.com/office/drawing/2014/main" id="{C8A36167-66B9-4889-965D-53FE490C4B6C}"/>
              </a:ext>
            </a:extLst>
          </p:cNvPr>
          <p:cNvSpPr>
            <a:spLocks xmlns:a="http://schemas.openxmlformats.org/drawingml/2006/main" noGrp="1"/>
          </p:cNvSpPr>
          <p:nvPr/>
        </p:nvSpPr>
        <p:spPr>
          <a:xfrm xmlns:a="http://schemas.openxmlformats.org/drawingml/2006/main">
            <a:off x="552450" y="4424363"/>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C80EC189-F680-4514-B899-6A1834E1C739}"/>
              </a:ext>
            </a:extLst>
          </p:cNvPr>
          <p:cNvSpPr>
            <a:spLocks xmlns:a="http://schemas.openxmlformats.org/drawingml/2006/main" noGrp="1"/>
          </p:cNvSpPr>
          <p:nvPr/>
        </p:nvSpPr>
        <p:spPr>
          <a:xfrm xmlns:a="http://schemas.openxmlformats.org/drawingml/2006/main">
            <a:off x="1257300" y="4424363"/>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未検証：ラベル保持と、分類性能への継続的な効果。</a:t>
            </a:r>
          </a:p>
        </p:txBody>
      </p:sp>
      <p:sp>
        <p:nvSpPr>
          <p:cNvPr id="14" name="">
            <a:extLst xmlns:a="http://schemas.openxmlformats.org/drawingml/2006/main">
              <a:ext uri="{FF2B5EF4-FFF2-40B4-BE49-F238E27FC236}">
                <a16:creationId xmlns:a16="http://schemas.microsoft.com/office/drawing/2014/main" id="{B7F683C4-73E7-4DF8-B6F6-4E31FE3D29A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D690E7A-B92E-4D9D-8FEC-BA03DB8DA18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提案の中心：VIMEの置換を、依存に基づく条件付き生成へ</a:t>
            </a:r>
          </a:p>
        </p:txBody>
      </p:sp>
    </p:spTree>
    <p:extLst>
      <p:ext uri="{BB962C8B-B14F-4D97-AF65-F5344CB8AC3E}">
        <p14:creationId xmlns:p14="http://schemas.microsoft.com/office/powerpoint/2010/main" val="109557448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A8FB1B-FBA8-4397-9389-B4C4B06450A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補足：保存済み結果との一致</a:t>
            </a:r>
          </a:p>
        </p:txBody>
      </p:sp>
      <p:sp>
        <p:nvSpPr>
          <p:cNvPr id="2" name="">
            <a:extLst xmlns:a="http://schemas.openxmlformats.org/drawingml/2006/main">
              <a:ext uri="{FF2B5EF4-FFF2-40B4-BE49-F238E27FC236}">
                <a16:creationId xmlns:a16="http://schemas.microsoft.com/office/drawing/2014/main" id="{7A7A22BE-297F-4075-B35B-C99DC650635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2DE7F3-6BDA-48B3-9B09-D5AED782633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E1613ED9-CF4F-4EE6-B03A-424C825B3DF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8876F0AF-84E0-47CF-8394-E67C3F68B9D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985AFDC-325D-4BFD-8966-5890356CF277}"/>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8D80E1CF-7044-4A85-BA7D-0C00476F901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D32FB5-FBFD-4965-BCE4-874A8E04C4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178337606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044900-DF41-442F-8B10-F24397EC68E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8411EC35-FA67-4B0F-A041-B74E7A471E3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907D94E-AC66-45CC-84EE-DE49265F51B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E4AD459C-5633-46D9-BDCE-1AAF874B7C2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BED26FF-58B6-4AFD-B655-463EF81D09E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sp>
        <p:nvSpPr>
          <p:cNvPr id="6" name="">
            <a:extLst xmlns:a="http://schemas.openxmlformats.org/drawingml/2006/main">
              <a:ext uri="{FF2B5EF4-FFF2-40B4-BE49-F238E27FC236}">
                <a16:creationId xmlns:a16="http://schemas.microsoft.com/office/drawing/2014/main" id="{0734D6F9-8FAA-464A-A319-732BE7CF199F}"/>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A111754-55F2-4279-BC19-02B6E6F10AB7}"/>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9F595A36-3018-4002-A190-996626B2F7F2}"/>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9066EC40-D063-4284-9AC4-B277D6EDFF6E}"/>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896D54A-56F4-4352-AA16-537DDDAF948B}"/>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3C5BB619-C922-4510-B5BB-42155D113C2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BE1109-6143-4741-9BF6-D8608FE15B3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46990654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ABAF1D3-E47B-451A-BEB2-6D0F0A974E1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C8C87ED4-3AAC-4A17-98D3-47994CB02D1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BE9372-5C3A-4C00-AC25-EEAEA2743C2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B79DDD08-2463-4145-B4A9-FD6520BC998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D7CAFA6-C920-4CF4-A501-8DB47DC67D7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sp>
        <p:nvSpPr>
          <p:cNvPr id="6" name="">
            <a:extLst xmlns:a="http://schemas.openxmlformats.org/drawingml/2006/main">
              <a:ext uri="{FF2B5EF4-FFF2-40B4-BE49-F238E27FC236}">
                <a16:creationId xmlns:a16="http://schemas.microsoft.com/office/drawing/2014/main" id="{D8955CFE-AE1F-454C-9923-E922DD8B1BA3}"/>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7C899C-E536-4269-8A87-15A9958F73BE}"/>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F0F48B71-1AE4-4AB8-993A-186BDD695443}"/>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F1CA0A-0C41-4DA3-8BFD-FD0D2996DE85}"/>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CF232FD4-D7E5-4F1A-AC7D-DB86122183DA}"/>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B4936167-E095-40F3-A3AE-A8CD7809B48C}"/>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BE6D153-C9C5-4EB6-B345-BFF307A54A83}"/>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95B83DFE-EB12-4506-AE4B-136652CBE12D}"/>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6FD2410A-4581-42FB-9604-E0939D959E1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187C487-FDC5-4934-8870-74CB70CF991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63553399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C2C217-D536-4AD6-96AD-7BD331232F9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891BEF29-D00B-42E5-96D8-0DDB644CC79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0F2AEC-C62E-4843-9751-54691A721C2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855E3E39-DD2F-49AD-BB5C-EA0DF22D0B7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FB83E2D5-A42F-42B5-9415-6EAD38B5E52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12DF4034-4740-4B64-969E-46FF711A115A}"/>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486C198-827B-4A55-A1C8-01B280ECD622}"/>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0FFF41C3-6839-4878-9A01-9FE16F8C5086}"/>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F79E34-012E-4190-893D-F47A7652F8DF}"/>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9DC1E967-33C4-43DF-A5C5-25DF5D77817D}"/>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BF3F87-8D28-4D12-9C10-3B06BAB5B13A}"/>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3A58AFCB-ECE7-4BF9-B0DB-3E2997E4287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BAE4146-0679-44C4-8317-C46191041B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159894906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778723-9498-4B30-99D4-D00E4DE334D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4805E4C4-00EB-4632-99C8-5630F73F16C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34870D-5D46-4255-929E-5AEE35C2694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726405CD-48A4-44C8-BDCF-2F84EC2E1E7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9E637129-A862-4387-9250-579A1130DB7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sp>
        <p:nvSpPr>
          <p:cNvPr id="6" name="">
            <a:extLst xmlns:a="http://schemas.openxmlformats.org/drawingml/2006/main">
              <a:ext uri="{FF2B5EF4-FFF2-40B4-BE49-F238E27FC236}">
                <a16:creationId xmlns:a16="http://schemas.microsoft.com/office/drawing/2014/main" id="{00153B96-6E07-4D1A-9745-B054785C5A5C}"/>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93DCF0-3B52-4BAE-8EE6-62B4962B56DD}"/>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C_R(u₁, …, u_d) = Φ_R(Φ⁻¹(u₁), …, Φ⁻¹(u_d))</a:t>
            </a:r>
          </a:p>
        </p:txBody>
      </p:sp>
      <p:sp>
        <p:nvSpPr>
          <p:cNvPr id="8" name="">
            <a:extLst xmlns:a="http://schemas.openxmlformats.org/drawingml/2006/main">
              <a:ext uri="{FF2B5EF4-FFF2-40B4-BE49-F238E27FC236}">
                <a16:creationId xmlns:a16="http://schemas.microsoft.com/office/drawing/2014/main" id="{04718595-5022-46E7-B1E2-17183A09132D}"/>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343BBBBA-1D63-4D93-ABC4-5DE605D1C4FF}"/>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BFF1BC6D-66ED-4CAC-892A-7EE4D63DB62E}"/>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5F41D7AB-64C0-45E6-A476-CD15AD983258}"/>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多変量正規モデルで P(Z₁ ≤ z₁, …, Z_d ≤ z_d) を求める。</a:t>
            </a:r>
          </a:p>
        </p:txBody>
      </p:sp>
      <p:sp>
        <p:nvSpPr>
          <p:cNvPr id="12" name="">
            <a:extLst xmlns:a="http://schemas.openxmlformats.org/drawingml/2006/main">
              <a:ext uri="{FF2B5EF4-FFF2-40B4-BE49-F238E27FC236}">
                <a16:creationId xmlns:a16="http://schemas.microsoft.com/office/drawing/2014/main" id="{14E21EE7-E8AB-44C4-8A57-B46E80C44C78}"/>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20464BBB-76F5-4985-860F-844F6BDC547F}"/>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D55D7F0F-1CA3-43CB-88D6-10621DB84B0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1F1B7D9-1EB6-448A-9DB4-3B06A8A86D3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64926584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165B686-D6D9-405A-918C-69067F4D5DF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6E5B3B7F-E9DD-430F-A8BF-7259E58B7F9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FCA0223-7260-44B8-9535-750CE711C6D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DE3B2469-772B-47C3-A2F4-C72D22FB63F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6EFA0B7-8E27-4C72-B7AC-172BDC36E45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AC4903AE-DF88-4C64-B978-D7294B042344}"/>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78867F-9C2C-4D98-8DEF-367E3D176628}"/>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Z_M | Z_O = z_O ~ N(μ_M|O, Σ_M|O)</a:t>
            </a:r>
          </a:p>
        </p:txBody>
      </p:sp>
      <p:sp>
        <p:nvSpPr>
          <p:cNvPr id="8" name="">
            <a:extLst xmlns:a="http://schemas.openxmlformats.org/drawingml/2006/main">
              <a:ext uri="{FF2B5EF4-FFF2-40B4-BE49-F238E27FC236}">
                <a16:creationId xmlns:a16="http://schemas.microsoft.com/office/drawing/2014/main" id="{CAAC98E0-F9CF-4987-B822-03DA78CD3855}"/>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EAE2BA-B17F-4810-8547-C48BFCEE9F5A}"/>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μ_M|O = R_MO R_OO⁻¹ z_O</a:t>
            </a:r>
          </a:p>
        </p:txBody>
      </p:sp>
      <p:sp>
        <p:nvSpPr>
          <p:cNvPr id="10" name="">
            <a:extLst xmlns:a="http://schemas.openxmlformats.org/drawingml/2006/main">
              <a:ext uri="{FF2B5EF4-FFF2-40B4-BE49-F238E27FC236}">
                <a16:creationId xmlns:a16="http://schemas.microsoft.com/office/drawing/2014/main" id="{233599B0-CBB6-4454-8C67-EC15C52ABEA4}"/>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810E9A-4499-49E9-861C-4EB097CDCEDB}"/>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Σ_M|O = R_MM − R_MO R_OO⁻¹ R_OM</a:t>
            </a:r>
          </a:p>
        </p:txBody>
      </p:sp>
      <p:sp>
        <p:nvSpPr>
          <p:cNvPr id="12" name="">
            <a:extLst xmlns:a="http://schemas.openxmlformats.org/drawingml/2006/main">
              <a:ext uri="{FF2B5EF4-FFF2-40B4-BE49-F238E27FC236}">
                <a16:creationId xmlns:a16="http://schemas.microsoft.com/office/drawing/2014/main" id="{A5B46354-F763-4C2F-869F-384DF55A55D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7A69C99-44C8-4D6A-8298-D1CD16FC05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185049476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CD9F82-FA4C-44D7-A83B-7A4821308AF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202563E1-2F28-453C-9B69-4DA4ADFF1E2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002F50-6984-4A4A-BBC3-36525AFD94C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7EEACF8D-9D78-4D3D-9FC7-156C7E4B10D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DA315EEC-891C-4BC6-AC78-97D17A26F63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12F8880-19AA-407E-82C0-1D3D6DC90C1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A7614F7-1970-413C-BF08-D153B3EFAD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8677071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8D8B27B-3D74-4F5F-B957-D398817CF35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021A53E0-4B78-4E75-A834-7B519A23F82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EE1DCF6-2178-41CD-886F-8061BF70278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F1A4B0C5-5E32-48F1-9509-53480BC1D49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A721791D-00D6-4E3F-9DB3-B1872FE5897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50</a:t>
            </a:r>
          </a:p>
        </p:txBody>
      </p:sp>
      <p:sp>
        <p:nvSpPr>
          <p:cNvPr id="6" name="">
            <a:extLst xmlns:a="http://schemas.openxmlformats.org/drawingml/2006/main">
              <a:ext uri="{FF2B5EF4-FFF2-40B4-BE49-F238E27FC236}">
                <a16:creationId xmlns:a16="http://schemas.microsoft.com/office/drawing/2014/main" id="{019877F0-C180-4B3B-9743-15501174E5E5}"/>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BD98BF-D9FC-478F-AC15-5ABD910228DA}"/>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C_ν,R(u) = t_ν,R(t_ν⁻¹(u₁), …, t_ν⁻¹(u_d))</a:t>
            </a:r>
          </a:p>
        </p:txBody>
      </p:sp>
      <p:sp>
        <p:nvSpPr>
          <p:cNvPr id="8" name="">
            <a:extLst xmlns:a="http://schemas.openxmlformats.org/drawingml/2006/main">
              <a:ext uri="{FF2B5EF4-FFF2-40B4-BE49-F238E27FC236}">
                <a16:creationId xmlns:a16="http://schemas.microsoft.com/office/drawing/2014/main" id="{81A3375A-DB70-43F2-A4AA-1DA8427CA7FF}"/>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90C69C-4889-4F14-8A82-5126AAE2E98A}"/>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43E2DD84-E8FA-4291-9E44-C3C3FA0A9D7C}"/>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CFE81234-ABB6-4B83-92BD-36208B61BFE4}"/>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545663-F6F2-4A6A-BF9B-214169A11888}"/>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2193AC00-D87C-491D-A4EF-C9EF63C5C1B6}"/>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EDD4D823-BB97-4954-934B-86A66EF9909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BAD443-BEC4-406D-8D74-939568BB8D4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197449761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FB8EF7-4DE9-433D-B849-B6AEC5BEF47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78E93505-5586-4FF5-B2E4-A8A0F63D72B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E966F1-6AC6-4248-9F8D-B8316F85F55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A46F710D-EC64-4F9C-9E86-D284504F6B0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E711C45E-AA5D-4351-B693-18D2E7AF5EA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51</a:t>
            </a:r>
          </a:p>
        </p:txBody>
      </p:sp>
      <p:sp>
        <p:nvSpPr>
          <p:cNvPr id="6" name="">
            <a:extLst xmlns:a="http://schemas.openxmlformats.org/drawingml/2006/main">
              <a:ext uri="{FF2B5EF4-FFF2-40B4-BE49-F238E27FC236}">
                <a16:creationId xmlns:a16="http://schemas.microsoft.com/office/drawing/2014/main" id="{2E76B65D-B098-4981-AE79-7CA9A998DAF2}"/>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687DB6F-38EB-4102-AC4E-1ED77C12383D}"/>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C_θ(u,v) = (u⁻ᶿ + v⁻ᶿ − 1)^(−1/θ) ,  θ &gt; 0</a:t>
            </a:r>
          </a:p>
        </p:txBody>
      </p:sp>
      <p:sp>
        <p:nvSpPr>
          <p:cNvPr id="8" name="">
            <a:extLst xmlns:a="http://schemas.openxmlformats.org/drawingml/2006/main">
              <a:ext uri="{FF2B5EF4-FFF2-40B4-BE49-F238E27FC236}">
                <a16:creationId xmlns:a16="http://schemas.microsoft.com/office/drawing/2014/main" id="{D7D11D05-1651-4766-8865-D4E77D45CE7E}"/>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FEAB6918-EED4-4713-A896-1D27E85B3C3A}"/>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D33C7929-4530-46BB-80D7-775665D1D86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F7E08EE6-56E6-4F43-BB7B-1E7A5BF60B13}"/>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下側裾：λL = 2^(−1/θ)、上側裾：λU = 0。</a:t>
            </a:r>
          </a:p>
        </p:txBody>
      </p:sp>
      <p:sp>
        <p:nvSpPr>
          <p:cNvPr id="12" name="">
            <a:extLst xmlns:a="http://schemas.openxmlformats.org/drawingml/2006/main">
              <a:ext uri="{FF2B5EF4-FFF2-40B4-BE49-F238E27FC236}">
                <a16:creationId xmlns:a16="http://schemas.microsoft.com/office/drawing/2014/main" id="{25BE41D3-0FEA-4B62-887E-FEBC9DAA8C25}"/>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CA9FA6DC-54F9-423E-8A4E-A7A6F15DECB9}"/>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515013EF-37FF-4FF8-BE32-5495BCA0D4B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FB0A30-D95E-4C43-8A5E-7586B28ABA3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153431301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DC4E58-CC89-487D-9C59-C403814079A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60C6BE99-E974-4889-B992-8F6EF5865D3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60108DF-40D4-4E9B-9151-9558A4F3F0A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F6D5DA78-B5BB-4189-AF76-132FFC15AB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4D474B23-D59B-4966-AE47-879FD3F8503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52</a:t>
            </a:r>
          </a:p>
        </p:txBody>
      </p:sp>
      <p:sp>
        <p:nvSpPr>
          <p:cNvPr id="6" name="">
            <a:extLst xmlns:a="http://schemas.openxmlformats.org/drawingml/2006/main">
              <a:ext uri="{FF2B5EF4-FFF2-40B4-BE49-F238E27FC236}">
                <a16:creationId xmlns:a16="http://schemas.microsoft.com/office/drawing/2014/main" id="{F7645CCA-7A6D-4075-8937-70E77C63D64E}"/>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D051C6-08A3-495C-8C55-FC7156BEEEEF}"/>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C_θ(u,v) = exp{−[(−ln u)ᶿ + (−ln v)ᶿ]^(1/θ)}</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λU = 2 − 2^(1/θ)、λL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4D7EC6C1-85CF-40E0-B65A-52950E33716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CBDD60-9BDA-451B-BE15-B65CC20658F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35770828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425F32-5152-43E4-B1C3-1C737792F7E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9DCBDBF1-3BDA-439F-8DAF-C99BCF6DFE7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139A8A8-B407-4244-BC45-4D141472935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B0346FAA-0A53-4BAD-890C-C355CB3E2F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CBCF2EB1-C86A-4D75-B285-43F4B11099F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53</a:t>
            </a:r>
          </a:p>
        </p:txBody>
      </p:sp>
      <p:sp>
        <p:nvSpPr>
          <p:cNvPr id="6" name="">
            <a:extLst xmlns:a="http://schemas.openxmlformats.org/drawingml/2006/main">
              <a:ext uri="{FF2B5EF4-FFF2-40B4-BE49-F238E27FC236}">
                <a16:creationId xmlns:a16="http://schemas.microsoft.com/office/drawing/2014/main" id="{C6A980CD-E49C-421D-8498-1292538AA989}"/>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4C461B3-79CD-4AB0-89C2-B7D4B180D337}"/>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C_θ(u,v) = −(1/θ) ln[1 + (e^(−θu) − 1)(e^(−θv) − 1)/(e^(−θ) − 1)]</a:t>
            </a:r>
          </a:p>
        </p:txBody>
      </p:sp>
      <p:sp>
        <p:nvSpPr>
          <p:cNvPr id="8" name="">
            <a:extLst xmlns:a="http://schemas.openxmlformats.org/drawingml/2006/main">
              <a:ext uri="{FF2B5EF4-FFF2-40B4-BE49-F238E27FC236}">
                <a16:creationId xmlns:a16="http://schemas.microsoft.com/office/drawing/2014/main" id="{56C0E0E7-0AF3-45A6-A7F7-81E8FAC97688}"/>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F1F3DD9-79E6-49BA-898D-F28D381FB838}"/>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342C2B27-5999-4BDF-A4BD-D21896C57702}"/>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84FFC609-6108-43D2-B13E-6DCEE93FB2DD}"/>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00F4DFBB-46BA-4627-9849-B5E0B50350FC}"/>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2D4E6E8-FFF1-4E54-99E4-9BD8F9FA2EFD}"/>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38283E03-0073-4FA9-927B-1D651F35410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F827F9-8071-4F8B-B82B-593B032BC5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68816979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9344B8-B1A0-44AE-B86B-FB16FF384F9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B79E920C-93C5-4ADF-95BC-87C02426B55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93542C2-5A55-4631-ACED-72922CD5DE8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単一のモデルでは足りない関係を、別の構成で扱う。</a:t>
            </a:r>
          </a:p>
        </p:txBody>
      </p:sp>
      <p:sp>
        <p:nvSpPr>
          <p:cNvPr id="4" name="">
            <a:extLst xmlns:a="http://schemas.openxmlformats.org/drawingml/2006/main">
              <a:ext uri="{FF2B5EF4-FFF2-40B4-BE49-F238E27FC236}">
                <a16:creationId xmlns:a16="http://schemas.microsoft.com/office/drawing/2014/main" id="{F8502918-6C90-4E21-A357-C5675178798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C7FF9E31-07C4-437B-8457-63B3BB6E433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54</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ペアごとに別のコピュラを組合せる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構造・モデル選択と条件付き計算が複雑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D85D28A-185C-4D8B-8996-BAD0C5F32D4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A4DA04-E957-4BF4-B761-4D8A9E94A05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137450324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BD9076F-0359-447D-81AA-9AC4AF4675A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59C4094A-3325-4677-94A7-3DE83915382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5EB8BF-E7F5-46A6-B2FA-6319FD9CD50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CDB21AD1-E086-49A5-BC75-46801CF285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EFF9F8CB-2F16-4AF0-8C35-1389D81C7B2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55</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0097B4A-9CD7-4B46-9BEB-D0C47158FACE}"/>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2AB504C0-5C90-4FF8-9247-3E3763BB1F4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0F371C-8583-42E2-8C88-20D3269CD4F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116678284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025D1F5-1094-481D-B3BF-76E6802B7A5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EE5EBF59-335B-46E1-A20D-8D7FC5873AB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B45EE6A-5B5E-4DBD-A434-9249E7F263B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7E7F6B03-AA33-4B0E-9D0A-7522122C39B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E0126ADF-D133-40CE-87F3-B7BB2FDEE3C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56</a:t>
            </a:r>
          </a:p>
        </p:txBody>
      </p:sp>
      <p:sp>
        <p:nvSpPr>
          <p:cNvPr id="6" name="">
            <a:extLst xmlns:a="http://schemas.openxmlformats.org/drawingml/2006/main">
              <a:ext uri="{FF2B5EF4-FFF2-40B4-BE49-F238E27FC236}">
                <a16:creationId xmlns:a16="http://schemas.microsoft.com/office/drawing/2014/main" id="{789E9509-FA14-457E-8A9C-A7018BE1B9D4}"/>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1AACF6CF-39D5-4D33-8AEF-204BA6EB425D}"/>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4E2969C8-AFDA-45CC-94C0-9D61E8858549}"/>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C4D902FE-741C-43A5-956E-249212D3EB1D}"/>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0DBECBDF-4B47-4DD7-B8E5-40877187571A}"/>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E393C32-869B-414A-83CE-50C5D5A7E9E1}"/>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0E6E04BA-B63C-4B52-841C-6E3CF3AC8B56}"/>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2E593869-24F8-44E9-83F2-F188339A359E}"/>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583BF19D-8F13-4AEA-836C-E43421414C0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83E58E-E3FE-426F-9B88-65169CC012A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29694465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E41D9A-AF3B-473D-B2B8-1935A2A5C0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C3F96EA8-366D-4676-9EE2-F41E7075411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C0BBF8E-9782-4FA1-A7CB-6B800CA2DC4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DB0C42A9-7B1D-4476-B262-4EA1BE8B424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FD363DC9-1D2C-4593-9993-AB584598C3E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57</a:t>
            </a:r>
          </a:p>
        </p:txBody>
      </p:sp>
      <p:sp>
        <p:nvSpPr>
          <p:cNvPr id="6" name="">
            <a:extLst xmlns:a="http://schemas.openxmlformats.org/drawingml/2006/main">
              <a:ext uri="{FF2B5EF4-FFF2-40B4-BE49-F238E27FC236}">
                <a16:creationId xmlns:a16="http://schemas.microsoft.com/office/drawing/2014/main" id="{6862C338-F830-4980-8543-08D685F372DE}"/>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F2263733-DFF4-4A83-8974-74537FC0DDB0}"/>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C4C40225-68FF-4D06-85FD-12544D06BB8C}"/>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198100D0-C87B-45C3-AEE8-09ADEDEB1CA3}"/>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806C9AC3-F6E2-4CC0-81F3-0EA94A7EA2CD}"/>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351258B1-D986-476F-82AF-C1379A8E98B6}"/>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C993DF87-C2B6-4C01-A90F-6424CABA04E8}"/>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74BA6642-D957-4E6D-8BEA-F05D36EE94FE}"/>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42F31C0A-C0A9-4120-8F89-99DEFBFEFD9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7D86620-F737-4973-82DA-281CCADCC63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26249336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3E920C-C1C4-4615-B65D-16516625A31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63E13A46-7D14-4162-89C2-9799D2A1297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F49BFF-8C50-4CC8-BF91-DD775DC518B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CF0B32A2-FED7-46E2-B554-B0250D17A45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E74AC4E5-1558-4442-8C3B-E6DAC4484A5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58</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2103A9F-6C23-40AD-BAF3-775386E4A0C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861B10-CA4E-49B6-85FB-B08BB107352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179651735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8B40B4-6445-4376-B45D-3FE4BEAB85A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F975A980-BE1C-4FE7-94DD-9365ECBCBFC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F77AB9-FB00-478A-9413-AF7FC6E99E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B44224A6-E257-4CEC-92C5-80578320FFE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FA9CF889-D18F-48E5-8A87-B6B1A2A519C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59</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FF3B865-7ECE-481D-8D6B-34DF87885CF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C2A6D6-A9A9-4112-A65D-659E9FA3BD0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37475965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F522AA-2A19-4D05-AFFE-038BE5FFB0A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EB556609-F1F0-4048-8543-37A76F9AB49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D451D67-7E02-4E80-AC61-91B7599F57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A3F6F01C-049E-4A50-8AF3-C4C967EE4CF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DDC80CBE-4E8B-4D96-ABF9-B796A0447A5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60</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31B3E5EB-5281-4ACD-95FD-1B14830F14F0}"/>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B9947EB2-9939-4C07-BB47-E363C1CDC02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2A2B3E-DCA3-4025-BFBA-B774A0923C8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26974127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F1B104-8FAA-4C79-A9DF-89F431255A4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62CDCFCE-A483-4C26-87AD-AECF764B1CB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B08B19-A8F6-4509-86C5-D96F22B3A28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7ADC6D46-9618-4FEA-80FB-062E995C8C5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C873B529-504A-4BD9-84DF-44EEE478E47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61</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2C7A3FFA-50D4-40D1-9DA1-4E2298D3021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CBA940-5FC5-47B3-98D1-30CB6EFF4DF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92810454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02A9B0-C563-4AE9-A798-4CD56366EF7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6A66F418-0CA5-4D4D-8F19-B78F224A5D2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FD3BB3-95D8-44B3-AC33-0DFEC7940BC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4090BA0D-C89F-4FCD-9222-6374518DD7C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1DD7DB02-72EC-4249-9D84-CB2BABC42B8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62</a:t>
            </a:r>
          </a:p>
        </p:txBody>
      </p:sp>
      <p:sp>
        <p:nvSpPr>
          <p:cNvPr id="6" name="">
            <a:extLst xmlns:a="http://schemas.openxmlformats.org/drawingml/2006/main">
              <a:ext uri="{FF2B5EF4-FFF2-40B4-BE49-F238E27FC236}">
                <a16:creationId xmlns:a16="http://schemas.microsoft.com/office/drawing/2014/main" id="{24E0E52C-DC22-4E51-BC95-56AFED8250E3}"/>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F83758-4BE3-4D36-9560-14FD66C711D8}"/>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86054FE3-BE57-470A-8641-66BE408D72D7}"/>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CB9BC3-B737-4EB7-9FB1-631DFA538FBC}"/>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6B2749B5-BEF8-4FB5-85A3-4494FAB2D519}"/>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E68A7A32-1693-4AB7-AB33-7F0A3765F9C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54F07C-0406-41B0-8455-400A9D27437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64451021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89F300-CC90-4492-9462-49847E4B6D7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ED57F2FC-E0DD-42E1-A451-2CCE2600F4D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7FCA7D5-A8AE-4717-9F61-3F8F6FC3D70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894B3A8A-0F5F-416B-8ADB-AAD0A8DAAAE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CCC59E71-39F6-4F12-A1A4-885C973FCAE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63</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3EF02B7-E47B-452F-B99D-CE43779CF68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52A1FC2-330D-4289-962F-8D91406615B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205040328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22133F-6647-4F4A-A072-4C1AB33FA13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EB724F42-BB2D-48AE-978B-44BA62A338F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A6B7384-0E32-49BA-AF2E-A845BEB256B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E5A49E1E-5C9D-4A3E-AAAA-773440903CD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3341CC9B-01F9-4EC6-AB72-56FBEFEEE34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64</a:t>
            </a:r>
          </a:p>
        </p:txBody>
      </p:sp>
      <p:sp>
        <p:nvSpPr>
          <p:cNvPr id="6" name="">
            <a:extLst xmlns:a="http://schemas.openxmlformats.org/drawingml/2006/main">
              <a:ext uri="{FF2B5EF4-FFF2-40B4-BE49-F238E27FC236}">
                <a16:creationId xmlns:a16="http://schemas.microsoft.com/office/drawing/2014/main" id="{86370AB6-2061-48AF-B398-2511ACDA5337}"/>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F63F99-18F9-4901-9A69-913CBF0CF8C4}"/>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0E353FDB-1FEE-4C96-BF33-AAF52C39C427}"/>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0CBCD2FA-B725-462E-889D-E7A6379E653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D9ABFDF-77A5-4D99-B52C-53F34A02A70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51833434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05B990-215F-4C3F-BD09-9AECEF7145B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6B9F0535-7805-49E7-83EF-89250FE8685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1EB1E34-332C-4F07-A2B6-C23AEF29A6D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43980476-1970-4CF4-8D5F-5E294C01C2A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9715A4DA-C5E8-471A-AE49-0FD29C2340B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65</a:t>
            </a:r>
          </a:p>
        </p:txBody>
      </p:sp>
      <p:sp>
        <p:nvSpPr>
          <p:cNvPr id="6" name="">
            <a:extLst xmlns:a="http://schemas.openxmlformats.org/drawingml/2006/main">
              <a:ext uri="{FF2B5EF4-FFF2-40B4-BE49-F238E27FC236}">
                <a16:creationId xmlns:a16="http://schemas.microsoft.com/office/drawing/2014/main" id="{7BD075FC-1FCA-482B-AD32-17C10E725423}"/>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種類：Demarta &amp; McNeil (2005) ／ Czado &amp; Nagler (2022)</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応用：Zhao &amp; Udell (KDD 2020) ／ Aas et al. (2021)</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学習：Yoon et al., VIME (NeurIPS 2020) ／ Cui et al. (2024)</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実装：research-bench/src/tabular_research/corruption.py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比較：research-bench/scripts/quick_compare.py</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保存結果：research-bench/results/repeated_compare.json</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今回の再実行：比較実験/run_experiment.py・rerun_results.json</a:t>
            </a:r>
          </a:p>
        </p:txBody>
      </p:sp>
      <p:sp>
        <p:nvSpPr>
          <p:cNvPr id="7" name="">
            <a:extLst xmlns:a="http://schemas.openxmlformats.org/drawingml/2006/main">
              <a:ext uri="{FF2B5EF4-FFF2-40B4-BE49-F238E27FC236}">
                <a16:creationId xmlns:a16="http://schemas.microsoft.com/office/drawing/2014/main" id="{DCA17250-524A-478D-A910-E8479E84F6E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5773EFD-DA51-4C99-8388-846CF0F6F61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34378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2026-10-04T03:36:56.7630000Z</dcterms:created>
  <dcterms:modified xsi:type="dcterms:W3CDTF">2026-10-04T03:36:56.7630000Z</dcterms:modified>
</coreProperties>
</file>