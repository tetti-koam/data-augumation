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1.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2.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slides/charts/chart3.xml" ContentType="application/vnd.openxmlformats-officedocument.drawingml.chart+xml"/>
  <Override PartName="/ppt/slides/charts/chart4.xml" ContentType="application/vnd.openxmlformats-officedocument.drawingml.chart+xml"/>
  <Override PartName="/ppt/slides/charts/chart5.xml" ContentType="application/vnd.openxmlformats-officedocument.drawingml.chart+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75629648ea343d8" /><Relationship Type="http://schemas.openxmlformats.org/officeDocument/2006/relationships/extended-properties" Target="/docProps/app.xml" Id="Rbb8178fd60944221" /><Relationship Type="http://schemas.openxmlformats.org/officeDocument/2006/relationships/officeDocument" Target="/ppt/presentation.xml" Id="Rfccaacaa9b0044b6" /></Relationships>
</file>

<file path=ppt/presentation.xml><?xml version="1.0" encoding="utf-8"?>
<p:presentation xmlns:p="http://schemas.openxmlformats.org/presentationml/2006/main">
  <p:sldMasterIdLst>
    <p:sldMasterId xmlns:r="http://schemas.openxmlformats.org/officeDocument/2006/relationships" id="2147483648" r:id="R54d346d0428c44e5"/>
  </p:sldMasterIdLst>
  <p:notesMasterIdLst>
    <p:notesMasterId xmlns:r="http://schemas.openxmlformats.org/officeDocument/2006/relationships" r:id="Rb6220e8dca304299"/>
  </p:notesMasterIdLst>
  <p:sldIdLst>
    <p:sldId xmlns:r="http://schemas.openxmlformats.org/officeDocument/2006/relationships" id="256" r:id="Rd16ab316651a4754"/>
    <p:sldId xmlns:r="http://schemas.openxmlformats.org/officeDocument/2006/relationships" id="257" r:id="Redf3238eeb3c435b"/>
    <p:sldId xmlns:r="http://schemas.openxmlformats.org/officeDocument/2006/relationships" id="258" r:id="R7eac6a4162284924"/>
    <p:sldId xmlns:r="http://schemas.openxmlformats.org/officeDocument/2006/relationships" id="259" r:id="R601c20167924430f"/>
    <p:sldId xmlns:r="http://schemas.openxmlformats.org/officeDocument/2006/relationships" id="260" r:id="R00b61a25ab584f5c"/>
    <p:sldId xmlns:r="http://schemas.openxmlformats.org/officeDocument/2006/relationships" id="261" r:id="R318eba4039ba4612"/>
    <p:sldId xmlns:r="http://schemas.openxmlformats.org/officeDocument/2006/relationships" id="262" r:id="Ra781217ae43c4fa6"/>
    <p:sldId xmlns:r="http://schemas.openxmlformats.org/officeDocument/2006/relationships" id="263" r:id="R568639c26213431c"/>
    <p:sldId xmlns:r="http://schemas.openxmlformats.org/officeDocument/2006/relationships" id="264" r:id="Rfdeeaf0f3e504de6"/>
    <p:sldId xmlns:r="http://schemas.openxmlformats.org/officeDocument/2006/relationships" id="265" r:id="Rfdacdca2fa0b47c3"/>
    <p:sldId xmlns:r="http://schemas.openxmlformats.org/officeDocument/2006/relationships" id="266" r:id="R7ab0dc6c616d4815"/>
    <p:sldId xmlns:r="http://schemas.openxmlformats.org/officeDocument/2006/relationships" id="267" r:id="Rbf71eb7a00104f49"/>
    <p:sldId xmlns:r="http://schemas.openxmlformats.org/officeDocument/2006/relationships" id="268" r:id="R44fb40ca74244f4d"/>
    <p:sldId xmlns:r="http://schemas.openxmlformats.org/officeDocument/2006/relationships" id="269" r:id="Rac45c9f2e049479e"/>
    <p:sldId xmlns:r="http://schemas.openxmlformats.org/officeDocument/2006/relationships" id="270" r:id="R66a632bf2b1a4ae1"/>
    <p:sldId xmlns:r="http://schemas.openxmlformats.org/officeDocument/2006/relationships" id="271" r:id="Ra2fe673b9b7e4c26"/>
    <p:sldId xmlns:r="http://schemas.openxmlformats.org/officeDocument/2006/relationships" id="272" r:id="R9640ac5faa6a4067"/>
    <p:sldId xmlns:r="http://schemas.openxmlformats.org/officeDocument/2006/relationships" id="273" r:id="R6359bd3fe9f14d03"/>
    <p:sldId xmlns:r="http://schemas.openxmlformats.org/officeDocument/2006/relationships" id="274" r:id="R230079eeec614490"/>
    <p:sldId xmlns:r="http://schemas.openxmlformats.org/officeDocument/2006/relationships" id="275" r:id="Rf3eebf62e6e04b15"/>
    <p:sldId xmlns:r="http://schemas.openxmlformats.org/officeDocument/2006/relationships" id="276" r:id="R8865785a722f4cdc"/>
    <p:sldId xmlns:r="http://schemas.openxmlformats.org/officeDocument/2006/relationships" id="277" r:id="R1c8a4f01d5c4462b"/>
    <p:sldId xmlns:r="http://schemas.openxmlformats.org/officeDocument/2006/relationships" id="278" r:id="R1bbc88f31f9e40fa"/>
    <p:sldId xmlns:r="http://schemas.openxmlformats.org/officeDocument/2006/relationships" id="279" r:id="R98581c73bcc74c26"/>
    <p:sldId xmlns:r="http://schemas.openxmlformats.org/officeDocument/2006/relationships" id="280" r:id="Rcbb8458d454e4546"/>
    <p:sldId xmlns:r="http://schemas.openxmlformats.org/officeDocument/2006/relationships" id="281" r:id="R46a86743f85e435a"/>
    <p:sldId xmlns:r="http://schemas.openxmlformats.org/officeDocument/2006/relationships" id="282" r:id="Rdcba21921aa14d2b"/>
    <p:sldId xmlns:r="http://schemas.openxmlformats.org/officeDocument/2006/relationships" id="283" r:id="R33c9165fe51b4742"/>
    <p:sldId xmlns:r="http://schemas.openxmlformats.org/officeDocument/2006/relationships" id="284" r:id="R63cde0df3b9d41a0"/>
    <p:sldId xmlns:r="http://schemas.openxmlformats.org/officeDocument/2006/relationships" id="285" r:id="Rd0e606d1d8324408"/>
    <p:sldId xmlns:r="http://schemas.openxmlformats.org/officeDocument/2006/relationships" id="286" r:id="R5231df75a09f4f39"/>
    <p:sldId xmlns:r="http://schemas.openxmlformats.org/officeDocument/2006/relationships" id="287" r:id="Rcf9e77f5271848ce"/>
    <p:sldId xmlns:r="http://schemas.openxmlformats.org/officeDocument/2006/relationships" id="288" r:id="R82740f83df3347a3"/>
    <p:sldId xmlns:r="http://schemas.openxmlformats.org/officeDocument/2006/relationships" id="289" r:id="Reecc3825ee354f43"/>
    <p:sldId xmlns:r="http://schemas.openxmlformats.org/officeDocument/2006/relationships" id="290" r:id="R0ecf19971bb44d02"/>
    <p:sldId xmlns:r="http://schemas.openxmlformats.org/officeDocument/2006/relationships" id="291" r:id="Rde5128ab804c44db"/>
    <p:sldId xmlns:r="http://schemas.openxmlformats.org/officeDocument/2006/relationships" id="292" r:id="R4130ef222eeb4651"/>
    <p:sldId xmlns:r="http://schemas.openxmlformats.org/officeDocument/2006/relationships" id="293" r:id="R83e23080979d4e21"/>
    <p:sldId xmlns:r="http://schemas.openxmlformats.org/officeDocument/2006/relationships" id="294" r:id="R2fa3fbf0fbc94010"/>
    <p:sldId xmlns:r="http://schemas.openxmlformats.org/officeDocument/2006/relationships" id="295" r:id="R5ee659790fb044fe"/>
    <p:sldId xmlns:r="http://schemas.openxmlformats.org/officeDocument/2006/relationships" id="296" r:id="Recc52f175bb748a2"/>
    <p:sldId xmlns:r="http://schemas.openxmlformats.org/officeDocument/2006/relationships" id="297" r:id="R934693c1d30347bd"/>
    <p:sldId xmlns:r="http://schemas.openxmlformats.org/officeDocument/2006/relationships" id="298" r:id="R88bb8779f8074f8b"/>
    <p:sldId xmlns:r="http://schemas.openxmlformats.org/officeDocument/2006/relationships" id="299" r:id="R4136c485580141e1"/>
    <p:sldId xmlns:r="http://schemas.openxmlformats.org/officeDocument/2006/relationships" id="300" r:id="R8ac7f2fb520440f4"/>
    <p:sldId xmlns:r="http://schemas.openxmlformats.org/officeDocument/2006/relationships" id="301" r:id="R220eeeb5ff8b4eb3"/>
    <p:sldId xmlns:r="http://schemas.openxmlformats.org/officeDocument/2006/relationships" id="302" r:id="R2778a8e02ec645e3"/>
    <p:sldId xmlns:r="http://schemas.openxmlformats.org/officeDocument/2006/relationships" id="303" r:id="Re456ae587fc84673"/>
    <p:sldId xmlns:r="http://schemas.openxmlformats.org/officeDocument/2006/relationships" id="304" r:id="Rcc4078da2d784b8b"/>
    <p:sldId xmlns:r="http://schemas.openxmlformats.org/officeDocument/2006/relationships" id="305" r:id="R901cab42b0984a72"/>
    <p:sldId xmlns:r="http://schemas.openxmlformats.org/officeDocument/2006/relationships" id="306" r:id="R9771b61a08e54acb"/>
    <p:sldId xmlns:r="http://schemas.openxmlformats.org/officeDocument/2006/relationships" id="307" r:id="R930cd905b09b4525"/>
    <p:sldId xmlns:r="http://schemas.openxmlformats.org/officeDocument/2006/relationships" id="308" r:id="R90eb41e054934e12"/>
    <p:sldId xmlns:r="http://schemas.openxmlformats.org/officeDocument/2006/relationships" id="309" r:id="R31b334c18e474bc2"/>
    <p:sldId xmlns:r="http://schemas.openxmlformats.org/officeDocument/2006/relationships" id="310" r:id="R5ccecaf52a954d92"/>
    <p:sldId xmlns:r="http://schemas.openxmlformats.org/officeDocument/2006/relationships" id="311" r:id="Rbe6197f3114b4795"/>
    <p:sldId xmlns:r="http://schemas.openxmlformats.org/officeDocument/2006/relationships" id="312" r:id="Rda3719babe674be3"/>
    <p:sldId xmlns:r="http://schemas.openxmlformats.org/officeDocument/2006/relationships" id="313" r:id="R945d162aaa934628"/>
    <p:sldId xmlns:r="http://schemas.openxmlformats.org/officeDocument/2006/relationships" id="314" r:id="R7b7b7daaadb148f0"/>
    <p:sldId xmlns:r="http://schemas.openxmlformats.org/officeDocument/2006/relationships" id="315" r:id="R9c474dac04b045d4"/>
    <p:sldId xmlns:r="http://schemas.openxmlformats.org/officeDocument/2006/relationships" id="316" r:id="R84b7d56877a0481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54ca2bcb00f430a" /><Relationship Type="http://schemas.openxmlformats.org/officeDocument/2006/relationships/slideMaster" Target="/ppt/slideMasters/slideMaster1.xml" Id="R54d346d0428c44e5" /><Relationship Type="http://schemas.openxmlformats.org/officeDocument/2006/relationships/notesMaster" Target="/ppt/notesMasters/notesMaster1.xml" Id="Rb6220e8dca304299" /><Relationship Type="http://schemas.openxmlformats.org/officeDocument/2006/relationships/presProps" Target="/ppt/presProps.xml" Id="R4368223c0138483c" /><Relationship Type="http://schemas.openxmlformats.org/officeDocument/2006/relationships/tableStyles" Target="/ppt/tableStyles.xml" Id="Raeeac6d400724cf8" /><Relationship Type="http://schemas.openxmlformats.org/officeDocument/2006/relationships/slide" Target="/ppt/slides/slide1.xml" Id="Rd16ab316651a4754" /><Relationship Type="http://schemas.openxmlformats.org/officeDocument/2006/relationships/slide" Target="/ppt/slides/slide2.xml" Id="Redf3238eeb3c435b" /><Relationship Type="http://schemas.openxmlformats.org/officeDocument/2006/relationships/slide" Target="/ppt/slides/slide3.xml" Id="R7eac6a4162284924" /><Relationship Type="http://schemas.openxmlformats.org/officeDocument/2006/relationships/slide" Target="/ppt/slides/slide4.xml" Id="R601c20167924430f" /><Relationship Type="http://schemas.openxmlformats.org/officeDocument/2006/relationships/slide" Target="/ppt/slides/slide5.xml" Id="R00b61a25ab584f5c" /><Relationship Type="http://schemas.openxmlformats.org/officeDocument/2006/relationships/slide" Target="/ppt/slides/slide6.xml" Id="R318eba4039ba4612" /><Relationship Type="http://schemas.openxmlformats.org/officeDocument/2006/relationships/slide" Target="/ppt/slides/slide7.xml" Id="Ra781217ae43c4fa6" /><Relationship Type="http://schemas.openxmlformats.org/officeDocument/2006/relationships/slide" Target="/ppt/slides/slide8.xml" Id="R568639c26213431c" /><Relationship Type="http://schemas.openxmlformats.org/officeDocument/2006/relationships/slide" Target="/ppt/slides/slide9.xml" Id="Rfdeeaf0f3e504de6" /><Relationship Type="http://schemas.openxmlformats.org/officeDocument/2006/relationships/slide" Target="/ppt/slides/slide10.xml" Id="Rfdacdca2fa0b47c3" /><Relationship Type="http://schemas.openxmlformats.org/officeDocument/2006/relationships/slide" Target="/ppt/slides/slide11.xml" Id="R7ab0dc6c616d4815" /><Relationship Type="http://schemas.openxmlformats.org/officeDocument/2006/relationships/slide" Target="/ppt/slides/slide12.xml" Id="Rbf71eb7a00104f49" /><Relationship Type="http://schemas.openxmlformats.org/officeDocument/2006/relationships/slide" Target="/ppt/slides/slide13.xml" Id="R44fb40ca74244f4d" /><Relationship Type="http://schemas.openxmlformats.org/officeDocument/2006/relationships/slide" Target="/ppt/slides/slide14.xml" Id="Rac45c9f2e049479e" /><Relationship Type="http://schemas.openxmlformats.org/officeDocument/2006/relationships/slide" Target="/ppt/slides/slide15.xml" Id="R66a632bf2b1a4ae1" /><Relationship Type="http://schemas.openxmlformats.org/officeDocument/2006/relationships/slide" Target="/ppt/slides/slide16.xml" Id="Ra2fe673b9b7e4c26" /><Relationship Type="http://schemas.openxmlformats.org/officeDocument/2006/relationships/slide" Target="/ppt/slides/slide17.xml" Id="R9640ac5faa6a4067" /><Relationship Type="http://schemas.openxmlformats.org/officeDocument/2006/relationships/slide" Target="/ppt/slides/slide18.xml" Id="R6359bd3fe9f14d03" /><Relationship Type="http://schemas.openxmlformats.org/officeDocument/2006/relationships/slide" Target="/ppt/slides/slide19.xml" Id="R230079eeec614490" /><Relationship Type="http://schemas.openxmlformats.org/officeDocument/2006/relationships/slide" Target="/ppt/slides/slide20.xml" Id="Rf3eebf62e6e04b15" /><Relationship Type="http://schemas.openxmlformats.org/officeDocument/2006/relationships/slide" Target="/ppt/slides/slide21.xml" Id="R8865785a722f4cdc" /><Relationship Type="http://schemas.openxmlformats.org/officeDocument/2006/relationships/slide" Target="/ppt/slides/slide22.xml" Id="R1c8a4f01d5c4462b" /><Relationship Type="http://schemas.openxmlformats.org/officeDocument/2006/relationships/slide" Target="/ppt/slides/slide23.xml" Id="R1bbc88f31f9e40fa" /><Relationship Type="http://schemas.openxmlformats.org/officeDocument/2006/relationships/slide" Target="/ppt/slides/slide24.xml" Id="R98581c73bcc74c26" /><Relationship Type="http://schemas.openxmlformats.org/officeDocument/2006/relationships/slide" Target="/ppt/slides/slide25.xml" Id="Rcbb8458d454e4546" /><Relationship Type="http://schemas.openxmlformats.org/officeDocument/2006/relationships/slide" Target="/ppt/slides/slide26.xml" Id="R46a86743f85e435a" /><Relationship Type="http://schemas.openxmlformats.org/officeDocument/2006/relationships/slide" Target="/ppt/slides/slide27.xml" Id="Rdcba21921aa14d2b" /><Relationship Type="http://schemas.openxmlformats.org/officeDocument/2006/relationships/slide" Target="/ppt/slides/slide28.xml" Id="R33c9165fe51b4742" /><Relationship Type="http://schemas.openxmlformats.org/officeDocument/2006/relationships/slide" Target="/ppt/slides/slide29.xml" Id="R63cde0df3b9d41a0" /><Relationship Type="http://schemas.openxmlformats.org/officeDocument/2006/relationships/slide" Target="/ppt/slides/slide30.xml" Id="Rd0e606d1d8324408" /><Relationship Type="http://schemas.openxmlformats.org/officeDocument/2006/relationships/slide" Target="/ppt/slides/slide31.xml" Id="R5231df75a09f4f39" /><Relationship Type="http://schemas.openxmlformats.org/officeDocument/2006/relationships/slide" Target="/ppt/slides/slide32.xml" Id="Rcf9e77f5271848ce" /><Relationship Type="http://schemas.openxmlformats.org/officeDocument/2006/relationships/slide" Target="/ppt/slides/slide33.xml" Id="R82740f83df3347a3" /><Relationship Type="http://schemas.openxmlformats.org/officeDocument/2006/relationships/slide" Target="/ppt/slides/slide34.xml" Id="Reecc3825ee354f43" /><Relationship Type="http://schemas.openxmlformats.org/officeDocument/2006/relationships/slide" Target="/ppt/slides/slide35.xml" Id="R0ecf19971bb44d02" /><Relationship Type="http://schemas.openxmlformats.org/officeDocument/2006/relationships/slide" Target="/ppt/slides/slide36.xml" Id="Rde5128ab804c44db" /><Relationship Type="http://schemas.openxmlformats.org/officeDocument/2006/relationships/slide" Target="/ppt/slides/slide37.xml" Id="R4130ef222eeb4651" /><Relationship Type="http://schemas.openxmlformats.org/officeDocument/2006/relationships/slide" Target="/ppt/slides/slide38.xml" Id="R83e23080979d4e21" /><Relationship Type="http://schemas.openxmlformats.org/officeDocument/2006/relationships/slide" Target="/ppt/slides/slide39.xml" Id="R2fa3fbf0fbc94010" /><Relationship Type="http://schemas.openxmlformats.org/officeDocument/2006/relationships/slide" Target="/ppt/slides/slide40.xml" Id="R5ee659790fb044fe" /><Relationship Type="http://schemas.openxmlformats.org/officeDocument/2006/relationships/slide" Target="/ppt/slides/slide41.xml" Id="Recc52f175bb748a2" /><Relationship Type="http://schemas.openxmlformats.org/officeDocument/2006/relationships/slide" Target="/ppt/slides/slide42.xml" Id="R934693c1d30347bd" /><Relationship Type="http://schemas.openxmlformats.org/officeDocument/2006/relationships/slide" Target="/ppt/slides/slide43.xml" Id="R88bb8779f8074f8b" /><Relationship Type="http://schemas.openxmlformats.org/officeDocument/2006/relationships/slide" Target="/ppt/slides/slide44.xml" Id="R4136c485580141e1" /><Relationship Type="http://schemas.openxmlformats.org/officeDocument/2006/relationships/slide" Target="/ppt/slides/slide45.xml" Id="R8ac7f2fb520440f4" /><Relationship Type="http://schemas.openxmlformats.org/officeDocument/2006/relationships/slide" Target="/ppt/slides/slide46.xml" Id="R220eeeb5ff8b4eb3" /><Relationship Type="http://schemas.openxmlformats.org/officeDocument/2006/relationships/slide" Target="/ppt/slides/slide47.xml" Id="R2778a8e02ec645e3" /><Relationship Type="http://schemas.openxmlformats.org/officeDocument/2006/relationships/slide" Target="/ppt/slides/slide48.xml" Id="Re456ae587fc84673" /><Relationship Type="http://schemas.openxmlformats.org/officeDocument/2006/relationships/slide" Target="/ppt/slides/slide49.xml" Id="Rcc4078da2d784b8b" /><Relationship Type="http://schemas.openxmlformats.org/officeDocument/2006/relationships/slide" Target="/ppt/slides/slide50.xml" Id="R901cab42b0984a72" /><Relationship Type="http://schemas.openxmlformats.org/officeDocument/2006/relationships/slide" Target="/ppt/slides/slide51.xml" Id="R9771b61a08e54acb" /><Relationship Type="http://schemas.openxmlformats.org/officeDocument/2006/relationships/slide" Target="/ppt/slides/slide52.xml" Id="R930cd905b09b4525" /><Relationship Type="http://schemas.openxmlformats.org/officeDocument/2006/relationships/slide" Target="/ppt/slides/slide53.xml" Id="R90eb41e054934e12" /><Relationship Type="http://schemas.openxmlformats.org/officeDocument/2006/relationships/slide" Target="/ppt/slides/slide54.xml" Id="R31b334c18e474bc2" /><Relationship Type="http://schemas.openxmlformats.org/officeDocument/2006/relationships/slide" Target="/ppt/slides/slide55.xml" Id="R5ccecaf52a954d92" /><Relationship Type="http://schemas.openxmlformats.org/officeDocument/2006/relationships/slide" Target="/ppt/slides/slide56.xml" Id="Rbe6197f3114b4795" /><Relationship Type="http://schemas.openxmlformats.org/officeDocument/2006/relationships/slide" Target="/ppt/slides/slide57.xml" Id="Rda3719babe674be3" /><Relationship Type="http://schemas.openxmlformats.org/officeDocument/2006/relationships/slide" Target="/ppt/slides/slide58.xml" Id="R945d162aaa934628" /><Relationship Type="http://schemas.openxmlformats.org/officeDocument/2006/relationships/slide" Target="/ppt/slides/slide59.xml" Id="R7b7b7daaadb148f0" /><Relationship Type="http://schemas.openxmlformats.org/officeDocument/2006/relationships/slide" Target="/ppt/slides/slide60.xml" Id="R9c474dac04b045d4" /><Relationship Type="http://schemas.openxmlformats.org/officeDocument/2006/relationships/slide" Target="/ppt/slides/slide61.xml" Id="R84b7d56877a0481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62821bca8224fb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f32fa4abcf44d42" /><Relationship Type="http://schemas.openxmlformats.org/officeDocument/2006/relationships/notesMaster" Target="/ppt/notesMasters/notesMaster1.xml" Id="R476de21c803a4265" /></Relationships>
</file>

<file path=ppt/notesSlides/_rels/notesSlide2.xml.rels>&#65279;<?xml version="1.0" encoding="utf-8"?><Relationships xmlns="http://schemas.openxmlformats.org/package/2006/relationships"><Relationship Type="http://schemas.openxmlformats.org/officeDocument/2006/relationships/slide" Target="/ppt/slides/slide2.xml" Id="R442e567426ba4255" /><Relationship Type="http://schemas.openxmlformats.org/officeDocument/2006/relationships/notesMaster" Target="/ppt/notesMasters/notesMaster1.xml" Id="Rac310de823fc4ce5" /></Relationships>
</file>

<file path=ppt/notesSlides/_rels/notesSlide3.xml.rels>&#65279;<?xml version="1.0" encoding="utf-8"?><Relationships xmlns="http://schemas.openxmlformats.org/package/2006/relationships"><Relationship Type="http://schemas.openxmlformats.org/officeDocument/2006/relationships/slide" Target="/ppt/slides/slide3.xml" Id="R95195455a37742c0" /><Relationship Type="http://schemas.openxmlformats.org/officeDocument/2006/relationships/notesMaster" Target="/ppt/notesMasters/notesMaster1.xml" Id="Rbb82ccf7e3ee4010" /></Relationships>
</file>

<file path=ppt/notesSlides/_rels/notesSlide4.xml.rels>&#65279;<?xml version="1.0" encoding="utf-8"?><Relationships xmlns="http://schemas.openxmlformats.org/package/2006/relationships"><Relationship Type="http://schemas.openxmlformats.org/officeDocument/2006/relationships/slide" Target="/ppt/slides/slide4.xml" Id="R540979f9222a403a" /><Relationship Type="http://schemas.openxmlformats.org/officeDocument/2006/relationships/notesMaster" Target="/ppt/notesMasters/notesMaster1.xml" Id="Ra323ef8d10414709" /></Relationships>
</file>

<file path=ppt/notesSlides/_rels/notesSlide5.xml.rels>&#65279;<?xml version="1.0" encoding="utf-8"?><Relationships xmlns="http://schemas.openxmlformats.org/package/2006/relationships"><Relationship Type="http://schemas.openxmlformats.org/officeDocument/2006/relationships/slide" Target="/ppt/slides/slide5.xml" Id="R0e26554b61e645a5" /><Relationship Type="http://schemas.openxmlformats.org/officeDocument/2006/relationships/notesMaster" Target="/ppt/notesMasters/notesMaster1.xml" Id="R32b7cb751c75423f" /></Relationships>
</file>

<file path=ppt/notesSlides/_rels/notesSlide6.xml.rels>&#65279;<?xml version="1.0" encoding="utf-8"?><Relationships xmlns="http://schemas.openxmlformats.org/package/2006/relationships"><Relationship Type="http://schemas.openxmlformats.org/officeDocument/2006/relationships/slide" Target="/ppt/slides/slide6.xml" Id="Rf79c234af7e44455" /><Relationship Type="http://schemas.openxmlformats.org/officeDocument/2006/relationships/notesMaster" Target="/ppt/notesMasters/notesMaster1.xml" Id="Rd407d3021b9e4437" /></Relationships>
</file>

<file path=ppt/notesSlides/_rels/notesSlide7.xml.rels>&#65279;<?xml version="1.0" encoding="utf-8"?><Relationships xmlns="http://schemas.openxmlformats.org/package/2006/relationships"><Relationship Type="http://schemas.openxmlformats.org/officeDocument/2006/relationships/slide" Target="/ppt/slides/slide7.xml" Id="Rd4db63f0fd5b49dd" /><Relationship Type="http://schemas.openxmlformats.org/officeDocument/2006/relationships/notesMaster" Target="/ppt/notesMasters/notesMaster1.xml" Id="Rb7b50ff7cec54b0d" /></Relationships>
</file>

<file path=ppt/notesSlides/_rels/notesSlide8.xml.rels>&#65279;<?xml version="1.0" encoding="utf-8"?><Relationships xmlns="http://schemas.openxmlformats.org/package/2006/relationships"><Relationship Type="http://schemas.openxmlformats.org/officeDocument/2006/relationships/slide" Target="/ppt/slides/slide8.xml" Id="R3347db36f9964695" /><Relationship Type="http://schemas.openxmlformats.org/officeDocument/2006/relationships/notesMaster" Target="/ppt/notesMasters/notesMaster1.xml" Id="Rabf3882b922e4a99" /></Relationships>
</file>

<file path=ppt/notesSlides/_rels/notesSlide9.xml.rels>&#65279;<?xml version="1.0" encoding="utf-8"?><Relationships xmlns="http://schemas.openxmlformats.org/package/2006/relationships"><Relationship Type="http://schemas.openxmlformats.org/officeDocument/2006/relationships/slide" Target="/ppt/slides/slide9.xml" Id="Rfef7a6735d4f4f46" /><Relationship Type="http://schemas.openxmlformats.org/officeDocument/2006/relationships/notesMaster" Target="/ppt/notesMasters/notesMaster1.xml" Id="R32ed95cac444449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af7df74f0c24789" /><Relationship Type="http://schemas.openxmlformats.org/officeDocument/2006/relationships/notesMaster" Target="/ppt/notesMasters/notesMaster1.xml" Id="R2556b0e0a6e54d0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71c901f68414df1" /><Relationship Type="http://schemas.openxmlformats.org/officeDocument/2006/relationships/notesMaster" Target="/ppt/notesMasters/notesMaster1.xml" Id="Rb37f618989a543d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2f465a543cc47a9" /><Relationship Type="http://schemas.openxmlformats.org/officeDocument/2006/relationships/notesMaster" Target="/ppt/notesMasters/notesMaster1.xml" Id="R600043de13d04aa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3d1f03048a945de" /><Relationship Type="http://schemas.openxmlformats.org/officeDocument/2006/relationships/notesMaster" Target="/ppt/notesMasters/notesMaster1.xml" Id="Rcf60634a094b450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0cc173f92ca46f2" /><Relationship Type="http://schemas.openxmlformats.org/officeDocument/2006/relationships/notesMaster" Target="/ppt/notesMasters/notesMaster1.xml" Id="R9ac76ff38314493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9297b7b73a244eb" /><Relationship Type="http://schemas.openxmlformats.org/officeDocument/2006/relationships/notesMaster" Target="/ppt/notesMasters/notesMaster1.xml" Id="R9b5b7d2dfe994f0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7f37f7a79de4414" /><Relationship Type="http://schemas.openxmlformats.org/officeDocument/2006/relationships/notesMaster" Target="/ppt/notesMasters/notesMaster1.xml" Id="Rafebf9cdf2bb4b6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fd93bf7960a44d4" /><Relationship Type="http://schemas.openxmlformats.org/officeDocument/2006/relationships/notesMaster" Target="/ppt/notesMasters/notesMaster1.xml" Id="Rba53b17e56e8470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893a91566864403" /><Relationship Type="http://schemas.openxmlformats.org/officeDocument/2006/relationships/notesMaster" Target="/ppt/notesMasters/notesMaster1.xml" Id="Re70e91ac9bb246b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5171cfdcb3d42ab" /><Relationship Type="http://schemas.openxmlformats.org/officeDocument/2006/relationships/notesMaster" Target="/ppt/notesMasters/notesMaster1.xml" Id="Refc9c98b657a433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2868a27183e4da6" /><Relationship Type="http://schemas.openxmlformats.org/officeDocument/2006/relationships/notesMaster" Target="/ppt/notesMasters/notesMaster1.xml" Id="Reb365d52071c40c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e34de0f5922428a" /><Relationship Type="http://schemas.openxmlformats.org/officeDocument/2006/relationships/notesMaster" Target="/ppt/notesMasters/notesMaster1.xml" Id="Ra706f62792024117"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a93c2a760ec4648" /><Relationship Type="http://schemas.openxmlformats.org/officeDocument/2006/relationships/notesMaster" Target="/ppt/notesMasters/notesMaster1.xml" Id="R34fab341d9b74c31"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c213d36e916446c" /><Relationship Type="http://schemas.openxmlformats.org/officeDocument/2006/relationships/notesMaster" Target="/ppt/notesMasters/notesMaster1.xml" Id="Ra2f14584e8b44f8d"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2dcfa405e35942c9" /><Relationship Type="http://schemas.openxmlformats.org/officeDocument/2006/relationships/notesMaster" Target="/ppt/notesMasters/notesMaster1.xml" Id="Rfd5a4c1f78c7419d"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4e55b7673411407f" /><Relationship Type="http://schemas.openxmlformats.org/officeDocument/2006/relationships/notesMaster" Target="/ppt/notesMasters/notesMaster1.xml" Id="R2f63d5326eb7483f"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869ead10c3949da" /><Relationship Type="http://schemas.openxmlformats.org/officeDocument/2006/relationships/notesMaster" Target="/ppt/notesMasters/notesMaster1.xml" Id="Rb39f5687d97440df"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bb53f4c08a70488e" /><Relationship Type="http://schemas.openxmlformats.org/officeDocument/2006/relationships/notesMaster" Target="/ppt/notesMasters/notesMaster1.xml" Id="Rd7f9179c2e394cdc"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9be6270ccf2d4580" /><Relationship Type="http://schemas.openxmlformats.org/officeDocument/2006/relationships/notesMaster" Target="/ppt/notesMasters/notesMaster1.xml" Id="Racdd11b849f04664"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47a4f876685c4542" /><Relationship Type="http://schemas.openxmlformats.org/officeDocument/2006/relationships/notesMaster" Target="/ppt/notesMasters/notesMaster1.xml" Id="R14d2afbcd999438a"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7657cc16b81c4bbd" /><Relationship Type="http://schemas.openxmlformats.org/officeDocument/2006/relationships/notesMaster" Target="/ppt/notesMasters/notesMaster1.xml" Id="R3454023e15de48dc"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4cf53caf5b6749b2" /><Relationship Type="http://schemas.openxmlformats.org/officeDocument/2006/relationships/notesMaster" Target="/ppt/notesMasters/notesMaster1.xml" Id="R5b36d0f28fa54bbd"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1193d7ddb2f14d34" /><Relationship Type="http://schemas.openxmlformats.org/officeDocument/2006/relationships/notesMaster" Target="/ppt/notesMasters/notesMaster1.xml" Id="Rbfc9395b2e084b22"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b3b1e928acef4307" /><Relationship Type="http://schemas.openxmlformats.org/officeDocument/2006/relationships/notesMaster" Target="/ppt/notesMasters/notesMaster1.xml" Id="R69b7ad2e05404281"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f393462b143f4bcb" /><Relationship Type="http://schemas.openxmlformats.org/officeDocument/2006/relationships/notesMaster" Target="/ppt/notesMasters/notesMaster1.xml" Id="Rf67d080258c4471d"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b6e7815d39bd4ee7" /><Relationship Type="http://schemas.openxmlformats.org/officeDocument/2006/relationships/notesMaster" Target="/ppt/notesMasters/notesMaster1.xml" Id="Rcde55b46979241e8"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50c5409e6a814b30" /><Relationship Type="http://schemas.openxmlformats.org/officeDocument/2006/relationships/notesMaster" Target="/ppt/notesMasters/notesMaster1.xml" Id="R7e9a3474948d415b"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e39f3b387aa74873" /><Relationship Type="http://schemas.openxmlformats.org/officeDocument/2006/relationships/notesMaster" Target="/ppt/notesMasters/notesMaster1.xml" Id="R273cae2a16734c44"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74f6be8913fd4314" /><Relationship Type="http://schemas.openxmlformats.org/officeDocument/2006/relationships/notesMaster" Target="/ppt/notesMasters/notesMaster1.xml" Id="R42a73279147a4994"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f606d738f114414c" /><Relationship Type="http://schemas.openxmlformats.org/officeDocument/2006/relationships/notesMaster" Target="/ppt/notesMasters/notesMaster1.xml" Id="R08a0ef72b026416f"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2a13bea3b839410e" /><Relationship Type="http://schemas.openxmlformats.org/officeDocument/2006/relationships/notesMaster" Target="/ppt/notesMasters/notesMaster1.xml" Id="R206e8a342ed14b20"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ea37d8dcc3754381" /><Relationship Type="http://schemas.openxmlformats.org/officeDocument/2006/relationships/notesMaster" Target="/ppt/notesMasters/notesMaster1.xml" Id="Rf3ba4a9ed8164983"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954f63308083408a" /><Relationship Type="http://schemas.openxmlformats.org/officeDocument/2006/relationships/notesMaster" Target="/ppt/notesMasters/notesMaster1.xml" Id="R03bfeb9f0d034033"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10b178a63e454f59" /><Relationship Type="http://schemas.openxmlformats.org/officeDocument/2006/relationships/notesMaster" Target="/ppt/notesMasters/notesMaster1.xml" Id="R381b4e4be05142b4"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5e1b0e138ed64a7c" /><Relationship Type="http://schemas.openxmlformats.org/officeDocument/2006/relationships/notesMaster" Target="/ppt/notesMasters/notesMaster1.xml" Id="R2aeb99459f814dbb"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176ca21b3e5d43b7" /><Relationship Type="http://schemas.openxmlformats.org/officeDocument/2006/relationships/notesMaster" Target="/ppt/notesMasters/notesMaster1.xml" Id="R71b8e595f4c746f6"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3d8db6b635974eee" /><Relationship Type="http://schemas.openxmlformats.org/officeDocument/2006/relationships/notesMaster" Target="/ppt/notesMasters/notesMaster1.xml" Id="Recc4f1dbe5fd4d71"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1106ede4bde8468e" /><Relationship Type="http://schemas.openxmlformats.org/officeDocument/2006/relationships/notesMaster" Target="/ppt/notesMasters/notesMaster1.xml" Id="R63a1145347aa4bdb"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28a9933ec64b4c0a" /><Relationship Type="http://schemas.openxmlformats.org/officeDocument/2006/relationships/notesMaster" Target="/ppt/notesMasters/notesMaster1.xml" Id="R6d1975f917494c0a"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8ff2ca80af8a4002" /><Relationship Type="http://schemas.openxmlformats.org/officeDocument/2006/relationships/notesMaster" Target="/ppt/notesMasters/notesMaster1.xml" Id="Rf5aa59ec370b4f05"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b5ffd9f7679a40a6" /><Relationship Type="http://schemas.openxmlformats.org/officeDocument/2006/relationships/notesMaster" Target="/ppt/notesMasters/notesMaster1.xml" Id="Ra204acae43d04103"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86e0f21152294b88" /><Relationship Type="http://schemas.openxmlformats.org/officeDocument/2006/relationships/notesMaster" Target="/ppt/notesMasters/notesMaster1.xml" Id="R005927055fc844b9"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bed581c69cfb4d19" /><Relationship Type="http://schemas.openxmlformats.org/officeDocument/2006/relationships/notesMaster" Target="/ppt/notesMasters/notesMaster1.xml" Id="R2e78e2fe998c4d22"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87ceba6445224ee2" /><Relationship Type="http://schemas.openxmlformats.org/officeDocument/2006/relationships/notesMaster" Target="/ppt/notesMasters/notesMaster1.xml" Id="R071f07bf847a4b17"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c030a37ffb8f4f39" /><Relationship Type="http://schemas.openxmlformats.org/officeDocument/2006/relationships/notesMaster" Target="/ppt/notesMasters/notesMaster1.xml" Id="Ra2bd2eef88d844cd"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68dc68b39dc6422d" /><Relationship Type="http://schemas.openxmlformats.org/officeDocument/2006/relationships/notesMaster" Target="/ppt/notesMasters/notesMaster1.xml" Id="Rfb7d02f181f447cf"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f21caeeca5db427e" /><Relationship Type="http://schemas.openxmlformats.org/officeDocument/2006/relationships/notesMaster" Target="/ppt/notesMasters/notesMaster1.xml" Id="Re7284c74ff39425e"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1fe6e0c621784a87" /><Relationship Type="http://schemas.openxmlformats.org/officeDocument/2006/relationships/notesMaster" Target="/ppt/notesMasters/notesMaster1.xml" Id="Rf18977a31ce64d47"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db273a98a2c74aa2" /><Relationship Type="http://schemas.openxmlformats.org/officeDocument/2006/relationships/notesMaster" Target="/ppt/notesMasters/notesMaster1.xml" Id="R618a46f48c774be1"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2362334e7a224b2e" /><Relationship Type="http://schemas.openxmlformats.org/officeDocument/2006/relationships/notesMaster" Target="/ppt/notesMasters/notesMaster1.xml" Id="R8b2cf718fc614b22"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be5ed588519c4df0" /><Relationship Type="http://schemas.openxmlformats.org/officeDocument/2006/relationships/notesMaster" Target="/ppt/notesMasters/notesMaster1.xml" Id="R16f452fdc125404a"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8b9d455f6fb94e5e" /><Relationship Type="http://schemas.openxmlformats.org/officeDocument/2006/relationships/notesMaster" Target="/ppt/notesMasters/notesMaster1.xml" Id="R75c7d4b4601a448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前回はコピュラを使う予定で終わりました。今日は何を学習し、どう条件付き生成を行い、どこに入れるかを説明します。まず直感、次に数式、最後に実装と探索的結果です。最初の4枚の主張は研究上の仮説を含み、今回の結果だけで実証済みとは言えません。</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IMEは自己教師ありマスク推定と元値復元、半教師あり一貫性学習を使います。クラス条件付き法はクラス内での置換を使います。本研究はまずVIME内の生成器だけを変える比較を行います。無条件生成が常に悪い、条件付きなら常にラベルを保つという主張ではありません。</a:t>
            </a:r>
          </a:p>
          <a:p xmlns:a="http://schemas.openxmlformats.org/drawingml/2006/main">
            <a:r>
              <a:t/>
            </a:r>
          </a:p>
          <a:p xmlns:a="http://schemas.openxmlformats.org/drawingml/2006/main">
            <a:r>
              <a:t>出典・根拠</a:t>
            </a:r>
          </a:p>
          <a:p xmlns:a="http://schemas.openxmlformats.org/drawingml/2006/main">
            <a:r>
              <a:t>https://papers.nips.cc/paper/2020/hash/7d97667a3e056acab9aaf653807b4a03-Abstract.html</a:t>
            </a:r>
          </a:p>
          <a:p xmlns:a="http://schemas.openxmlformats.org/drawingml/2006/main">
            <a:r>
              <a:t>https://arxiv.org/abs/2404.17489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身長体重は説明用の架空データです。生物学的な正しさや体型の正常判定ではありません。列別の値の集合は同じです。それでも身長が高い人ほど体重が重いという関係は逆になります。これが周辺分布だけでは決まらない依存構造で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分けるとはデータの列を独立にすることではありません。元の同時分布を、周辺分布とコピュラの組で表すことです。どれくらいの身長が存在するかと、その高さの人の体重がどの位置に来るかを分けます。位置を生成して元の単位へ戻せば再び組合せになり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人の説明用の経験分布です。170cm以下は150から170までの7人です。170cmそのものの割合1/10とは違います。累積は小さい側から足し上げることです。これは理論的な連続分布ではなく経験累積分布なので階段状になり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は身長をその周辺累積分布で変換した確率変数、uは一人の具体的な位置です。体重でも同様です。別の集団の累積分布を使えば同じ175cmでも位置は変わります。単位変更など狭義単調増加変換にはコピュラは不変ですが、非単調変換には一般に不変ではあり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ここは説明用の順位位置です。点の集合そのものと、点の分布を表す累積分布関数Cは区別します。右上や左下に点が集まるほど同じ方向の位置を取る傾向があります。コピュラはその確率分布を表します。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X,Yは抽出した人の身長体重という確率変数です。x,yはそれを比較するしきい値です。FX(x)=P(X≤x)です。U=FX(X)とV=FY(Y)は変数で、u,vは0から1のしきい値。RはGaussian copulaの潜在正規空間の相関行列です。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連続な周辺分布なら確率積分変換でU,Vは各々一様です。それぞれ一様なことは互いに独立なことを意味しません。Cは2変数の同時CDF。一般にはd個の一様周辺を持つd次元CDFです。経験分布や離散変数の場合、FX(X)が連続一様になるという説明はそのまま適用でき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https://www.columbia.edu/~rf2283/Conference/1Fundamentals%20%281%29Seagers.pdf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縦軸体重の位置、横軸身長の位置として左下の長方形に入る確率です。点ちょうど一つの確率や条件付き確率P(V≤.5|U≤.8)ではありません。条件付きならC(.8,.5)/.8になります。一様独立では長方形の面積.4と一致しますが一般に面積そのものではあり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均等格子の説明用100点です。有限な離散例であり連続一様の標本や実データではありません。境界U=.8,V=.5の左下が40点。独立な連続一様での理論値も.4になります。この面積計算が一般copulaにも常に成立するわけではあり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Vは0から1なのでV≤1は必ず成立します。そのためU≤uかつV≤1はU≤uと同じ事象です。さらにUが一様分布なのでP(U≤u)=uです。ここには独立という仮定は不要です。C(1,v)=vも同じです。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独立の定義P(A∩B)=P(A)P(B)を使います。1000人という例は期待される割合の説明であり有限標本で必ずこの人数になるという保証ではありません。身長が80%範囲の800人でも体重下位50%の割合が50%のままなので約400人になり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同じ位置というのは身長cmと体重kgの数値が等しいことではありません。一つの位置Uに両方のしきい値を課すので厳しい方が残ります。U≤.8かつU≤.5はU≤.5です。一様性により確率.5。連続的な完全同方向依存は対角線に集中し通常の二次元密度を持ち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完全逆方向V=1−UならU≤uかつ1−U≤v、つまり1−v≤U≤uです。区間の長さmax(u+v−1,0)です。.8+.5−1=.3。一様周辺から制限されるFréchet境界はこの範囲です。極端な2つを含め関係の違いがCに表れます。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x,y)=P(X≤x,Y≤y)です。Sklarの定理は任意の同時CDFにこの分解が存在すると述べます。周辺が連続ならCは一意です。離散では周辺の値域上のみ定まり、一意とは限りません。独立の仮定なしで分けて表す数学的根拠がここで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https://www.columbia.edu/~rf2283/Conference/1Fundamentals%20%281%29Seagers.pdf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(U,V)~Cの組を生成し、一般化逆関数F^-1(u)=inf{x:F(x)≥u}で戻します。理論的に任意の周辺分布にコピュラを組み合わせられます。ただし有限データで推定する際は、コピュラの仮定と周辺推定の誤差が残ります。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優れているかは真の依存構造、次元、標本数、目的、推定の安定性に依存します。この表は適する可能性のある条件です。全種類の完全な列挙ではありません。Archimedeanという共通枠組みの家族としてClayton Gumbel Frank Joeがあり、Vineは異なる家族を組み合わせる構成法です。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https://people.math.ethz.ch/~embrecht/ftp/copulas.pdf</a:t>
            </a:r>
          </a:p>
          <a:p xmlns:a="http://schemas.openxmlformats.org/drawingml/2006/main">
            <a:r>
              <a:t>https://doi.org/10.1111/j.1751-5823.2005.tb00254.x</a:t>
            </a:r>
          </a:p>
          <a:p xmlns:a="http://schemas.openxmlformats.org/drawingml/2006/main">
            <a:r>
              <a:t>https://www.annualreviews.org/content/journals/10.1146/annurev-statistics-040220-101153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裾は分布の端です。λUはq→1でP(V&gt;q|U&gt;q)の極限、λLはq→0でP(V≤q|U≤q)の極限です。高いPearson相関でもGaussian copulaは非退化ならλU=λL=0。一方有限q=.95では依存はあり得ます。ゼロ裾依存を極端事象が無関係と解釈しないこと。</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https://doi.org/10.1111/j.1751-5823.2005.tb00254.x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Gaussian copulaは各周辺の形を正規に限定しません。各列を確率位置、さらに潜在標準正規へ変えた後、その同時分布に多変量正規を仮定します。4枚目の非線形や裾依存をすべてGaussianで捉えるという意味ではありません。一般コピュラの表現可能性と一つの家族の表現力を区別し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実装は平均順位を使ってu=(r−.5)/nとし、同値には同じ平均順位を与えます。端点0と1を避けるためです。説明で使ったFhat=人数/nと推定用の擬似観測は少し違います。コピュラ学習は現在コードではラベルなし訓練部分のみ。テストデータを混ぜない。位置が一様に近くても列同士の組合せは保たれ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Φ^-1は同じ累積確率位置にある標準正規の値を返します。各列の周辺を正規へ変えるだけなので同時正規性は自動的には成立しません。この後のGaussianという仮定を別に置きます。極端なuはクリップしています。潜在空間とはここではこの確率変換された空間であり、ニューラルencoder潜在とは別で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全列のZを標準多変量正規N(0,R)と仮定します。Rは潜在正規値間の相関で元のcm/kgのPearson相関とは一般に異なります。有限サンプルでは行列が不安定になり得るので実装は縮小と固有値補正を使います。Gaussian copulaのCDFはΦR(Φ^-1u1,...,Φ^-1ud)です。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はマスクして置換する列、Oは観測して残す列。欠損値を扱っているのではなくデータ拡張の人工マスクです。身長値175cmは説明用周辺で80%位置という仮定で、前の4人順位表とは別の説明例です。独立だと体重位置は身長に影響されません。正の依存なら高い身長に合わせ体重の分布が高い方へ動き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変量の標準多変量正規の公式です。ρ=.6、zX=.841621で平均.5049726、分散.64、標準偏差.8。ρ=0なら条件付けても標準正規のまま。ρが高いほど既知の身長から体重を絞れますが一点には決まりません。残差εがあるためです。潜在平均は元スケール平均とは一般に一致し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ε=-1,0,1は手順を示す選んだ例で、等確率の3択という意味ではありません。実際には連続な標準正規乱数を引きます。ZY=.505+.8ε。さらにΦでVへ戻し、FY^-1でkgに戻します。補足としてY~N(65,10²)という説明用周辺を使うと62.05、70.05、78.05kgになります。これは実データの推定結果ではあり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は説明用の正規周辺N(65,10²)の場合です。FY^-1(v)=65+10Φ^-1(v)なのでこの数値になります。実装では正規な体重を仮定せず訓練列の経験分位点を線形補間します。補間によって元の訓練値にない連続値が出ることがあります。一般に無条件周辺を利用するが生成結果は条件付き分布になるため、各行で周辺と同じ分布を要求するわけではあり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YとZwaistを条件付き共分散で一緒に引くことで置換列同士の依存も残します。各列を個別に引く方法と重要な違いがあります。高次元ではRの逆計算を直接するよりsolveを使う。詳細数式は補足。全列マスクなら無条件同時生成、マスクなしなら変更なし。</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実装はVIMEのPyTorch再実装です。自己教師ありはマスク推定BCEと元特徴値復元MSE。半教師ありはラベルあり分類損失とラベルなし複数拡張への予測一貫性。比較では同じ予測器・エンコーダ・予算を使います。元論文の表を同じ実験環境で再現したという主張ではありません。</a:t>
            </a:r>
          </a:p>
          <a:p xmlns:a="http://schemas.openxmlformats.org/drawingml/2006/main">
            <a:r>
              <a:t/>
            </a:r>
          </a:p>
          <a:p xmlns:a="http://schemas.openxmlformats.org/drawingml/2006/main">
            <a:r>
              <a:t>出典・根拠</a:t>
            </a:r>
          </a:p>
          <a:p xmlns:a="http://schemas.openxmlformats.org/drawingml/2006/main">
            <a:r>
              <a:t>https://papers.nips.cc/paper/2020/hash/7d97667a3e056acab9aaf653807b4a03-Abstract.html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潜在空間条件付きサンプリングは広い概念です。Gaussian copulaでは周辺CDFとΦ^-1による明示的変換を使い、Zの正規同時分布を仮定します。ニューラルencoderの学習表現を条件付き生成する手法は、一般に周辺が一様である制約やSklar分解を持ちません。両者は排他的ではなく、encoder潜在にcopulaを適用する設計も可能ですが現在実装してい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ラベルなしで依存を学習すれば擬似ラベルへの依存は減らせますが、クラス意味を保つ保証はありません。混合クラスの全体分布では条件付き生成が別クラスへ移る可能性があります。強い条件付けで元に近すぎるとマスク推定課題が難しく/弱い復元信号になる、強い破壊でラベルを壊す、強度と難易度のトレードオフがあります。</a:t>
            </a:r>
          </a:p>
          <a:p xmlns:a="http://schemas.openxmlformats.org/drawingml/2006/main">
            <a:r>
              <a:t/>
            </a:r>
          </a:p>
          <a:p xmlns:a="http://schemas.openxmlformats.org/drawingml/2006/main">
            <a:r>
              <a:t>出典・根拠</a:t>
            </a:r>
          </a:p>
          <a:p xmlns:a="http://schemas.openxmlformats.org/drawingml/2006/main">
            <a:r>
              <a:t>https://papers.nips.cc/paper/2020/hash/7d97667a3e056acab9aaf653807b4a03-Abstract.html</a:t>
            </a:r>
          </a:p>
          <a:p xmlns:a="http://schemas.openxmlformats.org/drawingml/2006/main">
            <a:r>
              <a:t>https://arxiv.org/abs/2404.17489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今回2026-10-04に既存corruption.pyを実行。Z1~N(0,1),Z2=.8Z1+.6εで2500行、seed20261004。第1列を残して第2列を全行マスク。corruption RNG314159、同じ入力とマスク。推定も生成も同じ合成データなので学習動作確認であって汎化評価ではありません。図は先頭180行、集計は2500行すべて。縮小0.05で依存を少し弱く推定します。</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理論上Z2|Z1の条件平均は.8Z1、条件分散.36。指標は生成Z2と真の条件平均.8X1との差の二乗平均。元データの値は約.352で.36に近い、独立置換は約1.653、copulaは約.409。これは条件分布とのKL等ではなく残差二乗の簡単な指標であり、小さいほど常に良いわけではなく条件平均固定だと0になって多様性がなくなるため分散も見る必要がある。観測列は両法とも変更されないことをarray_equalで確認済み。</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ソースはresearch-bench/scripts/quick_compare.pyとresults/repeated_compare.jsonです。列シャッフル版とGaussian版は同じVIME再実装内です。共通データ分割、ラベル比率、前処理、モデル、学習予算、初期seedを使う。方法ごとの乱数消費が違うので全学習過程で同じマスクを使うとまでは言いません。nviews3、λconsistency1、復元重み2、mask.4。テストはモデル選択に用いていません。</a:t>
            </a:r>
          </a:p>
          <a:p xmlns:a="http://schemas.openxmlformats.org/drawingml/2006/main">
            <a:r>
              <a:t/>
            </a:r>
          </a:p>
          <a:p xmlns:a="http://schemas.openxmlformats.org/drawingml/2006/main">
            <a:r>
              <a:t>出典・根拠</a:t>
            </a:r>
          </a:p>
          <a:p xmlns:a="http://schemas.openxmlformats.org/drawingml/2006/main">
            <a:r>
              <a:t>https://papers.nips.cc/paper/2020/hash/7d97667a3e056acab9aaf653807b4a03-Abstract.html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新しい仮想環境で同じ既存VIMEClassifierを実行。分割や予算は保存結果のプロトコルと揃えたがライブラリバージョンとCPU threads1は異なる。保存値の完全再現ではありません。同一環境とはこの再実行内での2手法が同じ環境を使った意味。モデルと分割、学習予算を一致。差の区間はseed差のpercentile bootstrap1万回、95%。少ないseedで重なったholdoutなので探索的指標です。結果から万能な優位を主張しません。</a:t>
            </a:r>
          </a:p>
          <a:p xmlns:a="http://schemas.openxmlformats.org/drawingml/2006/main">
            <a:r>
              <a:t>実行環境：{"python":"3.12.14","numpy":"2.5.3","scipy":"1.18.1","sklearn":"1.9.1","torch":"2.14.1","platform":"macOS-26.3.1-arm64-arm-64bit","threads":1}</a:t>
            </a:r>
          </a:p>
          <a:p xmlns:a="http://schemas.openxmlformats.org/drawingml/2006/main">
            <a:r>
              <a:t>元結果：tmp/seminar_20261005/rerun_results.json</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回5seedの新結果の数値と矛盾しない説明をします。区間0を含むかどうかは計算結果に基づくが、含まない場合も小標本の探索的実験で強い統計的主張はしない。保存済みの2手法のAUCは全seedで一致した。環境や乱数、条件の記録を維持し、さらにデータ数を増やす。</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必要なのは生成器が何を改善したかの裏付けです。合成データでは既知の真の条件分布との誤差、実データでは近傍距離や特徴間制約逸脱を見ます。近傍距離だけだと元に近ければ有利なので元行からの変更量と併記。ラベル保持の評価は既知のラベルや妥当な参照モデルを使い、ラベルなしデータの真値と混同しない。コピュラ種類やマスク率は検証用分割のみで選択します。</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までが発表の主線です。時間に合わせて種類詳細や数式を補足から説明できます。今回の貢献が確立したとは言いません。対象と比較の設計を具体化し、実装と保存済みの小規模結果を示した段階です。質疑では条件付き分布、ラベル保持、カテゴリ型、マスクの難易度、同時正規仮定を補足で答えます。</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eated_compare.jsonの保存結果です。差は同じseedに対応付けて計算した平均。95%CIはseed差のbootstrap。わずか5組の探索的比較で、繰り返しholdoutの訓練テストは重なり得る。95%CIには0が入り、改善実証や統計的優位を主張できません。wineは標準偏差が大きい。保存結果を今回再実行した結果と混同しません。</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[0,1]^2→[0,1]。境界条件と2-increasingでCDFを特徴付けます。矩形の確率の包含排除です。高次元では各直方体のCの交代和が非負というd-increasingに一般化します。これが単なる好きな曲線と確率分布を区別する条件です。</a:t>
            </a:r>
          </a:p>
          <a:p xmlns:a="http://schemas.openxmlformats.org/drawingml/2006/main">
            <a:r>
              <a:t/>
            </a:r>
          </a:p>
          <a:p xmlns:a="http://schemas.openxmlformats.org/drawingml/2006/main">
            <a:r>
              <a:t>出典・根拠</a:t>
            </a:r>
          </a:p>
          <a:p xmlns:a="http://schemas.openxmlformats.org/drawingml/2006/main">
            <a:r>
              <a:t>https://www.columbia.edu/~rf2283/Conference/1Fundamentals%20%281%29Seagers.pdf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FXが連続で狭義増加なら通常の逆関数で導出できます。単に連続の場合も一般化逆関数で定理成立。離散型ではPITは連続一様ではなく飛びがあります。ランダム化PIT U=F(X−)+W(F(X)−F(X−))などもあるが順序閾値潜在モデル等との目的違いに注意。実装の平均順位は一様性の近似で同値問題を完全解決するわけではありません。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https://www.columbia.edu/~rf2283/Conference/1Fundamentals%20%281%29Seagers.pdf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十分な絶対連続性と微分可能性を仮定します。c=∂²C/∂u∂v。連鎖律からjoint densityを得ます。fX(x)&gt;0で割ると条件密度。Vの条件CDFは∂C(u,v)/∂u、U=uに条件付ける意味は正則条件付き分布を使います。V=U等の特異コピュラに通常の密度はありません。</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の周辺は標準正規、相関行列は対角1で正定値（退化の場合半正定値）。多変量正規CDFで同時確率を計算します。パラメータRはd(d−1)/2個で、データが少なくdが大きければ正則化が必要です。Gaussianは変換後のPearsonでRを推定してい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をMとOの順へ並べるとブロック相関行列[[RMM,RMO],[ROM,ROO]]。ROO可逆を仮定。条件平均と共分散で一緒に引く。実装は逆行列を明示計算せずsolveを使い、正則化してCholeskyを取る。観測値が標準0でない場合にも式は平均0のjointモデルに対する条件式で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コードcorruption.pyを根拠に記載。平均順位(r−.5)/n、クリップ1e−6、R=.95R+.05I、固有値min jitter1e−6。条件計算ではROO+jitterIをsolve、cov symmetric+jitter。端点クリップと線形分位点補間のため、厳密に理論的経験周辺を完全保存するとは言わない。マスク推定actualmask=x≠corruptedなので同値置換の場合実際マスク率が変わります。</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νは1変量tCDF、tν,Rは多変量tCDF。自由度νとRを使う。λU=λL=2tν+1(−√((ν+1)(1−ρ)/(1+ρ)))。ν大でGaussianに近づく。ρ=0でも有限νでは共有スケールにより一般に独立ではない。周辺がtでないデータにもtコピュラを組み合わせられる。条件付きlatent tは自由度等が条件で変化するのでGaussian samplerを単に差し替えれば済む訳ではありません。</a:t>
            </a:r>
          </a:p>
          <a:p xmlns:a="http://schemas.openxmlformats.org/drawingml/2006/main">
            <a:r>
              <a:t/>
            </a:r>
          </a:p>
          <a:p xmlns:a="http://schemas.openxmlformats.org/drawingml/2006/main">
            <a:r>
              <a:t>出典・根拠</a:t>
            </a:r>
          </a:p>
          <a:p xmlns:a="http://schemas.openxmlformats.org/drawingml/2006/main">
            <a:r>
              <a:t>https://doi.org/10.1111/j.1751-5823.2005.tb00254.x</a:t>
            </a:r>
          </a:p>
          <a:p xmlns:a="http://schemas.openxmlformats.org/drawingml/2006/main">
            <a:r>
              <a:t>https://www.columbia.edu/~mh2078/QRM/Copulas_MasterSlides.pdf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はθ&gt;0の通常の正依存の場合に限定しています。二変量では負θも許す範囲があるがd次元では制約が変わります。λL=2^-1/θ、λU=0。θ→0で独立。θ高で強い同方向依存。上側の極端共発生には通常形は向かず180°回転で上側に変更でき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https://people.math.ethz.ch/~embrecht/ftp/copulas.pdf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Gumbelθ≥1、θ=1で独立、λU=2−2^(1/θ)、λL=0。Joe同じθ≥1と裾係数ですが内部の依存形が異なり同一copulaではありません。Joe C=1−[(1−u)^θ+(1−v)^θ−(1−u)^θ(1−v)^θ]^(1/θ)。単一パラメータ交換可能多変量の制限あり。</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https://people.math.ethz.ch/~embrecht/ftp/copulas.pdf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二変量θ∈R{0}で正負の依存を扱いθ→0で独立。高次元で負thetaの一般化は制約があるため表の正負は二変量に限定。裾依存0でも有限の確率域で依存がないという意味ではありません。Gaussianとは別の依存形です。数式の括弧と分子をノートで読む。</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https://people.math.ethz.ch/~embrecht/ftp/copulas.pdf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180°survival C=u+v−1+C(1−u,1−v)は上下の裾を交換。90/270で負依存のコーナーを扱います。Vineは条件付き2変量コピュラの積で多変量密度構成。simplifying assumptionは条件値によらず条件付きcopula一定であり条件付き独立ではない。経験/経験betaなどは柔軟だが高次元で条件付き推定が難しくなる。</a:t>
            </a:r>
          </a:p>
          <a:p xmlns:a="http://schemas.openxmlformats.org/drawingml/2006/main">
            <a:r>
              <a:t/>
            </a:r>
          </a:p>
          <a:p xmlns:a="http://schemas.openxmlformats.org/drawingml/2006/main">
            <a:r>
              <a:t>出典・根拠</a:t>
            </a:r>
          </a:p>
          <a:p xmlns:a="http://schemas.openxmlformats.org/drawingml/2006/main">
            <a:r>
              <a:t>https://www.annualreviews.org/content/journals/10.1146/annurev-statistics-040220-101153</a:t>
            </a:r>
          </a:p>
          <a:p xmlns:a="http://schemas.openxmlformats.org/drawingml/2006/main">
            <a:r>
              <a:t>https://arxiv.org/abs/1607.04430</a:t>
            </a:r>
          </a:p>
          <a:p xmlns:a="http://schemas.openxmlformats.org/drawingml/2006/main">
            <a:r>
              <a:t>https://people.math.ethz.ch/~embrecht/ftp/copulas.pdf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評価1〜5や低中高は順序カテゴリです。満足度5−4と2−1に同じ間隔を仮定できるとは限りません。名義変数は順番なし、連続変数は差に意味がある。順序Gaussian copulaは潜在連続Zを閾値で区切って観測カテゴリに対応させます。カテゴリを単なる連続順位として補間すると2.7など不適切な値が生じるため現在実装の対象外です。</a:t>
            </a:r>
          </a:p>
          <a:p xmlns:a="http://schemas.openxmlformats.org/drawingml/2006/main">
            <a:r>
              <a:t/>
            </a:r>
          </a:p>
          <a:p xmlns:a="http://schemas.openxmlformats.org/drawingml/2006/main">
            <a:r>
              <a:t>出典・根拠</a:t>
            </a:r>
          </a:p>
          <a:p xmlns:a="http://schemas.openxmlformats.org/drawingml/2006/main">
            <a:r>
              <a:t>https://arxiv.org/abs/1910.12845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Missing Value Imputation for Mixed Data via Gaussian Copula。混合型と欠損が現実の課題。各列の型を無視した一律距離や線形仮定への代わりに潜在Gaussian。順序値はZの区間、連続値は変換されたZ点。EMでRと条件期待を推定し逆変換。実験は合成/実データ、欠損補完誤差（連続NRMSE、順序MAE等条件に応じ）を比較。分類用拡張の優位を示す論文ではなく、本研究には型の扱いと条件分布設計が接続する。数値を未検証に引用せず、詳細実験は原論文参照。</a:t>
            </a:r>
          </a:p>
          <a:p xmlns:a="http://schemas.openxmlformats.org/drawingml/2006/main">
            <a:r>
              <a:t/>
            </a:r>
          </a:p>
          <a:p xmlns:a="http://schemas.openxmlformats.org/drawingml/2006/main">
            <a:r>
              <a:t>出典・根拠</a:t>
            </a:r>
          </a:p>
          <a:p xmlns:a="http://schemas.openxmlformats.org/drawingml/2006/main">
            <a:r>
              <a:t>https://arxiv.org/abs/1910.12845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Explaining individual predictions when features are dependent: More accurate approximations to Shapley values。KernelSHAP型の無条件周辺からの抽出は、残した特徴との依存を無視して不自然な入力を作り得る。論文はGaussian、Gaussian copula、empirical、hybrid conditional approximations。シミュレーションで基準Shapley値からのMAEと不自然入力を分析。銀行実データ28特徴ではhybridの使用。Gaussian copulaが常に勝つとは報告しない。本研究はP(XM|XO)を使う同じ生成問題に接続、目的は説明でなく学習拡張なので評価を改めて行う。</a:t>
            </a:r>
          </a:p>
          <a:p xmlns:a="http://schemas.openxmlformats.org/drawingml/2006/main">
            <a:r>
              <a:t/>
            </a:r>
          </a:p>
          <a:p xmlns:a="http://schemas.openxmlformats.org/drawingml/2006/main">
            <a:r>
              <a:t>出典・根拠</a:t>
            </a:r>
          </a:p>
          <a:p xmlns:a="http://schemas.openxmlformats.org/drawingml/2006/main">
            <a:r>
              <a:t>https://martinjullum.com/publication/aas-2021-explaining/aas-2021-explaining.pdf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Cui et al.2024は対照学習、擬似ラベルとクラス内corruption、特徴相関ベースmaskなど。公式コードの比較はrand_featsマスクなので完全な提案設定の再現とは言わない。今回のVIMEとの比較では目的関数などが異なるためcopula効果の因果分離はできません。単独の置換器比較はVIME2版を優先します。確認バイアスを本論文が不可逆と実証したとの断定は避けます。</a:t>
            </a:r>
          </a:p>
          <a:p xmlns:a="http://schemas.openxmlformats.org/drawingml/2006/main">
            <a:r>
              <a:t/>
            </a:r>
          </a:p>
          <a:p xmlns:a="http://schemas.openxmlformats.org/drawingml/2006/main">
            <a:r>
              <a:t>出典・根拠</a:t>
            </a:r>
          </a:p>
          <a:p xmlns:a="http://schemas.openxmlformats.org/drawingml/2006/main">
            <a:r>
              <a:t>https://arxiv.org/abs/2404.17489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主指標macroROC AUC OVRは多クラスで各クラスvs残りAUCの単純平均。二値は陽性クラスのAUC（両クラス対称では同じ）。balanced accuracyは各クラスrecallの平均、macroF1は各クラスF1の平均、accuracyは全体正解率。テスト20%でwine36件と小さく不安定。5 seedsは独立サンプル5個とは異なる再分割。少標本CI過信しない。</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データと分割・幅とepoch予算は合わせるがself-supervised objective、optimizer、pseudo-label bootstrap等は異なる。論文全設定の再現ではない。VIME vs copulaの2行差からのみ置換器変更の効果を検討し、第三法の勝敗はアルゴリズム一式の小規模参考比較です。</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各答えは研究者の設計意図か確立した数学的事実かを分けます。なぜGaussian=まず安定し扱いやすいconditional、なぜコピーでなく生成=observed valuesに連続調整し多様性を出せるが既知制約保証はない、なぜラベルなし=依存の推定にラベルは要らないがlabel invarianceとは別、なぜ性能不確定=小規模結果と仮定・強度が未検証。</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qは確率位置のしきい値。上下で極限をとる方向が異なる。λL=limq→0 C(q,q)/q、λU=limq→1 (1−2q+C(q,q))/(1−q)。Gaussianの非退化ρ∈(−1,1)は両方0、完全同方向ρ=1は1。有限qでは依存がある場合がある。</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https://doi.org/10.1111/j.1751-5823.2005.tb00254.x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回の実装：自己教師ありL=BCE(mask_hat,actualmask)+2MSE(x_hat,x)。actualmask=(x!=x_corrupted)。エンコーダは前学習後freeze、予測器をラベルありCEとラベルなし拡張3viewのlogit分散の一貫性で学習。λconsistency1。原論文はマスク推定復元と半教師ありregularizationの枠組みを提案、現在のPyTorch版の実装選択とは区別。ソースvime_torch.py。</a:t>
            </a:r>
          </a:p>
          <a:p xmlns:a="http://schemas.openxmlformats.org/drawingml/2006/main">
            <a:r>
              <a:t/>
            </a:r>
          </a:p>
          <a:p xmlns:a="http://schemas.openxmlformats.org/drawingml/2006/main">
            <a:r>
              <a:t>出典・根拠</a:t>
            </a:r>
          </a:p>
          <a:p xmlns:a="http://schemas.openxmlformats.org/drawingml/2006/main">
            <a:r>
              <a:t>https://papers.nips.cc/paper/2020/hash/7d97667a3e056acab9aaf653807b4a03-Abstract.html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実際のCorruptor APIは__call__です。GaussianCopulaCorruptor().fit(x_u)後にcopula(x,mask,rng)。VIMEClassifierはpretrain内部でfitを呼びます。maskはTrueの列を置換。実験run_experiment.pyとrun_toy.pyから実行。ここはコード概念でなく現在APIに対応した抜粋。ラベルなし訓練のみfit、テスト禁止。</a:t>
            </a:r>
          </a:p>
          <a:p xmlns:a="http://schemas.openxmlformats.org/drawingml/2006/main">
            <a:r>
              <a:t/>
            </a:r>
          </a:p>
          <a:p xmlns:a="http://schemas.openxmlformats.org/drawingml/2006/main">
            <a:r>
              <a:t>出典・根拠</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各スライドのノートには対応する原資料URLまたはローカル実装を記載しています。このスライドは主要出典の一覧です。公式文書・原論文中心。データや数学の説明例は説明用で、引用結果と区別しています。</a:t>
            </a:r>
          </a:p>
          <a:p xmlns:a="http://schemas.openxmlformats.org/drawingml/2006/main">
            <a:r>
              <a:t/>
            </a:r>
          </a:p>
          <a:p xmlns:a="http://schemas.openxmlformats.org/drawingml/2006/main">
            <a:r>
              <a:t>出典・根拠</a:t>
            </a:r>
          </a:p>
          <a:p xmlns:a="http://schemas.openxmlformats.org/drawingml/2006/main">
            <a:r>
              <a:t>https://www.columbia.edu/~mh2078/QRM/Copulas_MasterSlides.pdf</a:t>
            </a:r>
          </a:p>
          <a:p xmlns:a="http://schemas.openxmlformats.org/drawingml/2006/main">
            <a:r>
              <a:t>https://www.columbia.edu/~rf2283/Conference/1Fundamentals%20%281%29Seagers.pdf</a:t>
            </a:r>
          </a:p>
          <a:p xmlns:a="http://schemas.openxmlformats.org/drawingml/2006/main">
            <a:r>
              <a:t>https://doi.org/10.1111/j.1751-5823.2005.tb00254.x</a:t>
            </a:r>
          </a:p>
          <a:p xmlns:a="http://schemas.openxmlformats.org/drawingml/2006/main">
            <a:r>
              <a:t>https://www.annualreviews.org/content/journals/10.1146/annurev-statistics-040220-101153</a:t>
            </a:r>
          </a:p>
          <a:p xmlns:a="http://schemas.openxmlformats.org/drawingml/2006/main">
            <a:r>
              <a:t>https://arxiv.org/abs/1910.12845</a:t>
            </a:r>
          </a:p>
          <a:p xmlns:a="http://schemas.openxmlformats.org/drawingml/2006/main">
            <a:r>
              <a:t>https://martinjullum.com/publication/aas-2021-explaining/aas-2021-explaining.pdf</a:t>
            </a:r>
          </a:p>
          <a:p xmlns:a="http://schemas.openxmlformats.org/drawingml/2006/main">
            <a:r>
              <a:t>https://papers.nips.cc/paper/2020/hash/7d97667a3e056acab9aaf653807b4a03-Abstract.html</a:t>
            </a:r>
          </a:p>
          <a:p xmlns:a="http://schemas.openxmlformats.org/drawingml/2006/main">
            <a:r>
              <a:t>https://arxiv.org/abs/2404.17489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c98e1500c874b6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78c7a6a604346b9" /><Relationship Type="http://schemas.openxmlformats.org/officeDocument/2006/relationships/slideLayout" Target="/ppt/slideLayouts/slideLayout1.xml" Id="R7472123877d84f3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472123877d84f3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e361ad01fcf411c" /><Relationship Type="http://schemas.openxmlformats.org/officeDocument/2006/relationships/notesSlide" Target="/ppt/notesSlides/notesSlide1.xml" Id="Rc410904a8a00450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2c91ba8df2a4cad" /><Relationship Type="http://schemas.openxmlformats.org/officeDocument/2006/relationships/notesSlide" Target="/ppt/notesSlides/notesSlide2.xml" Id="Rdd460edaba724d6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b2741b60fa440dc" /><Relationship Type="http://schemas.openxmlformats.org/officeDocument/2006/relationships/notesSlide" Target="/ppt/notesSlides/notesSlide3.xml" Id="Re53edda9cde044e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116b86bdde549a7" /><Relationship Type="http://schemas.openxmlformats.org/officeDocument/2006/relationships/notesSlide" Target="/ppt/notesSlides/notesSlide4.xml" Id="R6fa9854efe3c446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21bb2003b8b4fa6" /><Relationship Type="http://schemas.openxmlformats.org/officeDocument/2006/relationships/notesSlide" Target="/ppt/notesSlides/notesSlide5.xml" Id="R0cffdf205cf2486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6265bd9b323475a" /><Relationship Type="http://schemas.openxmlformats.org/officeDocument/2006/relationships/notesSlide" Target="/ppt/notesSlides/notesSlide6.xml" Id="Rc06195211e55421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ca3445d859d408d" /><Relationship Type="http://schemas.openxmlformats.org/officeDocument/2006/relationships/chart" Target="/ppt/slides/charts/chart1.xml" Id="R2c5dfb9afe3d4dc7" /><Relationship Type="http://schemas.openxmlformats.org/officeDocument/2006/relationships/notesSlide" Target="/ppt/notesSlides/notesSlide7.xml" Id="Rfb974653760748a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1c4a359d71d4f99" /><Relationship Type="http://schemas.openxmlformats.org/officeDocument/2006/relationships/notesSlide" Target="/ppt/notesSlides/notesSlide8.xml" Id="R268ffc9fdb7f437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217582430e8d42a0" /><Relationship Type="http://schemas.openxmlformats.org/officeDocument/2006/relationships/notesSlide" Target="/ppt/notesSlides/notesSlide9.xml" Id="R378a3c36ccad420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6d544975f0746ce" /><Relationship Type="http://schemas.openxmlformats.org/officeDocument/2006/relationships/notesSlide" Target="/ppt/notesSlides/notesSlide10.xml" Id="Rf833a8aa35f54d2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7b6860a09db4f83" /><Relationship Type="http://schemas.openxmlformats.org/officeDocument/2006/relationships/chart" Target="/ppt/slides/charts/chart2.xml" Id="R1e2d4137c4b14d0c" /><Relationship Type="http://schemas.openxmlformats.org/officeDocument/2006/relationships/notesSlide" Target="/ppt/notesSlides/notesSlide11.xml" Id="Rd832ddd2aafd4a9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51e85124e99040e8" /><Relationship Type="http://schemas.openxmlformats.org/officeDocument/2006/relationships/notesSlide" Target="/ppt/notesSlides/notesSlide12.xml" Id="R13607ea056334fd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4a58a581c59b4b96" /><Relationship Type="http://schemas.openxmlformats.org/officeDocument/2006/relationships/notesSlide" Target="/ppt/notesSlides/notesSlide13.xml" Id="R4f540e608b1c4c0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ec9c11c12c734ca1" /><Relationship Type="http://schemas.openxmlformats.org/officeDocument/2006/relationships/notesSlide" Target="/ppt/notesSlides/notesSlide14.xml" Id="Rab3347e915f84c2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3c12bfcb21004b43" /><Relationship Type="http://schemas.openxmlformats.org/officeDocument/2006/relationships/notesSlide" Target="/ppt/notesSlides/notesSlide15.xml" Id="Ra0666691d1a54f3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c91f600dcdd94b47" /><Relationship Type="http://schemas.openxmlformats.org/officeDocument/2006/relationships/notesSlide" Target="/ppt/notesSlides/notesSlide16.xml" Id="Reeb9a1a21af04f5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f3e58e0782d14286" /><Relationship Type="http://schemas.openxmlformats.org/officeDocument/2006/relationships/notesSlide" Target="/ppt/notesSlides/notesSlide17.xml" Id="R89912dfdc5ec4c2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af56dc36053b4a4e" /><Relationship Type="http://schemas.openxmlformats.org/officeDocument/2006/relationships/notesSlide" Target="/ppt/notesSlides/notesSlide18.xml" Id="R24b1d149eeaf413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42cfb81c551d4685" /><Relationship Type="http://schemas.openxmlformats.org/officeDocument/2006/relationships/notesSlide" Target="/ppt/notesSlides/notesSlide19.xml" Id="R7812aa1e1df24b4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79c79255f6854ed4" /><Relationship Type="http://schemas.openxmlformats.org/officeDocument/2006/relationships/notesSlide" Target="/ppt/notesSlides/notesSlide20.xml" Id="R1fe799071f634ba3"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e919b97354f7433a" /><Relationship Type="http://schemas.openxmlformats.org/officeDocument/2006/relationships/notesSlide" Target="/ppt/notesSlides/notesSlide21.xml" Id="Rd396f2f518564a6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e66453e85296427d" /><Relationship Type="http://schemas.openxmlformats.org/officeDocument/2006/relationships/notesSlide" Target="/ppt/notesSlides/notesSlide22.xml" Id="Re6a761b978e744eb"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38647d73dd0d42d3" /><Relationship Type="http://schemas.openxmlformats.org/officeDocument/2006/relationships/notesSlide" Target="/ppt/notesSlides/notesSlide23.xml" Id="Rfb016dd09f9247a5"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0e3d235bbfcb4fba" /><Relationship Type="http://schemas.openxmlformats.org/officeDocument/2006/relationships/notesSlide" Target="/ppt/notesSlides/notesSlide24.xml" Id="R54962c16e3364aa0"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6dac5608e8b449fa" /><Relationship Type="http://schemas.openxmlformats.org/officeDocument/2006/relationships/notesSlide" Target="/ppt/notesSlides/notesSlide25.xml" Id="R44f6eb2895094708"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670d8b4ccc704cda" /><Relationship Type="http://schemas.openxmlformats.org/officeDocument/2006/relationships/notesSlide" Target="/ppt/notesSlides/notesSlide26.xml" Id="Rf1b6caab1bc14555"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d8d996c873354b57" /><Relationship Type="http://schemas.openxmlformats.org/officeDocument/2006/relationships/notesSlide" Target="/ppt/notesSlides/notesSlide27.xml" Id="R1410ea32573041a1"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7b84ac7b48474ab5" /><Relationship Type="http://schemas.openxmlformats.org/officeDocument/2006/relationships/notesSlide" Target="/ppt/notesSlides/notesSlide28.xml" Id="R7910469ca9b949d4"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c1c6d818806644da" /><Relationship Type="http://schemas.openxmlformats.org/officeDocument/2006/relationships/notesSlide" Target="/ppt/notesSlides/notesSlide29.xml" Id="R7ee90d5b777c4340"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04047db356bf4522" /><Relationship Type="http://schemas.openxmlformats.org/officeDocument/2006/relationships/notesSlide" Target="/ppt/notesSlides/notesSlide30.xml" Id="R6d4b001cf03e4712"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b3acc0daa8f04754" /><Relationship Type="http://schemas.openxmlformats.org/officeDocument/2006/relationships/notesSlide" Target="/ppt/notesSlides/notesSlide31.xml" Id="R2eb09ce6bc544ed7"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61460e6363da4ee4" /><Relationship Type="http://schemas.openxmlformats.org/officeDocument/2006/relationships/chart" Target="/ppt/slides/charts/chart3.xml" Id="Rf68b04a34b5545d4" /><Relationship Type="http://schemas.openxmlformats.org/officeDocument/2006/relationships/chart" Target="/ppt/slides/charts/chart4.xml" Id="Rf36e53ca241a4b59" /><Relationship Type="http://schemas.openxmlformats.org/officeDocument/2006/relationships/chart" Target="/ppt/slides/charts/chart5.xml" Id="Rf912ffc0024c464b" /><Relationship Type="http://schemas.openxmlformats.org/officeDocument/2006/relationships/notesSlide" Target="/ppt/notesSlides/notesSlide32.xml" Id="Rd249207e22cf44ed"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3b1ef482c00f460d" /><Relationship Type="http://schemas.openxmlformats.org/officeDocument/2006/relationships/notesSlide" Target="/ppt/notesSlides/notesSlide33.xml" Id="R33c6e8f5574c4c6a"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04ccd32639c44f6b" /><Relationship Type="http://schemas.openxmlformats.org/officeDocument/2006/relationships/notesSlide" Target="/ppt/notesSlides/notesSlide34.xml" Id="R2521c67a84074f7b"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77ea81705bf34a4b" /><Relationship Type="http://schemas.openxmlformats.org/officeDocument/2006/relationships/notesSlide" Target="/ppt/notesSlides/notesSlide35.xml" Id="R2e65a84428394d55"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47ec86fa98944e2d" /><Relationship Type="http://schemas.openxmlformats.org/officeDocument/2006/relationships/notesSlide" Target="/ppt/notesSlides/notesSlide36.xml" Id="Rc12f4f7108e7410b"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34711c93c7f6453d" /><Relationship Type="http://schemas.openxmlformats.org/officeDocument/2006/relationships/notesSlide" Target="/ppt/notesSlides/notesSlide37.xml" Id="R19b357678e9f4694"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218ab20c2944438d" /><Relationship Type="http://schemas.openxmlformats.org/officeDocument/2006/relationships/notesSlide" Target="/ppt/notesSlides/notesSlide38.xml" Id="R34c9e0e4c19b4c22"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f62d6d1a13ab44c6" /><Relationship Type="http://schemas.openxmlformats.org/officeDocument/2006/relationships/notesSlide" Target="/ppt/notesSlides/notesSlide39.xml" Id="Rcd7972fa402c45a2"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b9f282794040404d" /><Relationship Type="http://schemas.openxmlformats.org/officeDocument/2006/relationships/notesSlide" Target="/ppt/notesSlides/notesSlide40.xml" Id="R21ac3a08b1d545c6"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613986f98c4c4d7d" /><Relationship Type="http://schemas.openxmlformats.org/officeDocument/2006/relationships/notesSlide" Target="/ppt/notesSlides/notesSlide41.xml" Id="Rc40d52e444ac4e2c"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92f034df34134767" /><Relationship Type="http://schemas.openxmlformats.org/officeDocument/2006/relationships/notesSlide" Target="/ppt/notesSlides/notesSlide42.xml" Id="R12f5bf31639047bd"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d36c094408554cb6" /><Relationship Type="http://schemas.openxmlformats.org/officeDocument/2006/relationships/notesSlide" Target="/ppt/notesSlides/notesSlide43.xml" Id="R62621c32cb744941"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54100140f22c48c2" /><Relationship Type="http://schemas.openxmlformats.org/officeDocument/2006/relationships/notesSlide" Target="/ppt/notesSlides/notesSlide44.xml" Id="Rdef2364ff2834fc5"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0f5e3abf12f94cb8" /><Relationship Type="http://schemas.openxmlformats.org/officeDocument/2006/relationships/notesSlide" Target="/ppt/notesSlides/notesSlide45.xml" Id="Rff0d6ca36ac0452e"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e8d8b593f18d4f64" /><Relationship Type="http://schemas.openxmlformats.org/officeDocument/2006/relationships/notesSlide" Target="/ppt/notesSlides/notesSlide46.xml" Id="Ree26929527fa4dd9"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eb917b4a9898409d" /><Relationship Type="http://schemas.openxmlformats.org/officeDocument/2006/relationships/notesSlide" Target="/ppt/notesSlides/notesSlide47.xml" Id="R2d0be84df83b4581"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3d7544b38efa42a9" /><Relationship Type="http://schemas.openxmlformats.org/officeDocument/2006/relationships/notesSlide" Target="/ppt/notesSlides/notesSlide48.xml" Id="R246f532c38a4460f"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18f0fdd4ade94777" /><Relationship Type="http://schemas.openxmlformats.org/officeDocument/2006/relationships/notesSlide" Target="/ppt/notesSlides/notesSlide49.xml" Id="R185bb31593f447bc"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0db25fd101624d90" /><Relationship Type="http://schemas.openxmlformats.org/officeDocument/2006/relationships/notesSlide" Target="/ppt/notesSlides/notesSlide50.xml" Id="Rdb4ec805e63444a5"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97ea84adcd2842fd" /><Relationship Type="http://schemas.openxmlformats.org/officeDocument/2006/relationships/notesSlide" Target="/ppt/notesSlides/notesSlide51.xml" Id="R223faafb1f1649da"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3837055294e8460b" /><Relationship Type="http://schemas.openxmlformats.org/officeDocument/2006/relationships/notesSlide" Target="/ppt/notesSlides/notesSlide52.xml" Id="R1552b3a59bc74393"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6408bb8cc85b4651" /><Relationship Type="http://schemas.openxmlformats.org/officeDocument/2006/relationships/notesSlide" Target="/ppt/notesSlides/notesSlide53.xml" Id="Rf862157ebc66423f"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81d42ab62f8b4af3" /><Relationship Type="http://schemas.openxmlformats.org/officeDocument/2006/relationships/notesSlide" Target="/ppt/notesSlides/notesSlide54.xml" Id="R1f7d123121ed41de"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b7eb01d009804e86" /><Relationship Type="http://schemas.openxmlformats.org/officeDocument/2006/relationships/notesSlide" Target="/ppt/notesSlides/notesSlide55.xml" Id="R2195d0b15706414d"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2d823ee7a4d24b24" /><Relationship Type="http://schemas.openxmlformats.org/officeDocument/2006/relationships/notesSlide" Target="/ppt/notesSlides/notesSlide56.xml" Id="R7ddb67c4ac42485e"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016784112f694d15" /><Relationship Type="http://schemas.openxmlformats.org/officeDocument/2006/relationships/notesSlide" Target="/ppt/notesSlides/notesSlide57.xml" Id="R8a3a3a58ceb344a2"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91730a4d2dfa41c9" /><Relationship Type="http://schemas.openxmlformats.org/officeDocument/2006/relationships/notesSlide" Target="/ppt/notesSlides/notesSlide58.xml" Id="R3c3d2650ceec42c9"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4dbefa8700cb4894" /><Relationship Type="http://schemas.openxmlformats.org/officeDocument/2006/relationships/notesSlide" Target="/ppt/notesSlides/notesSlide59.xml" Id="Rab3a7baaefd64528"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39d7b0a7fe4c4098" /><Relationship Type="http://schemas.openxmlformats.org/officeDocument/2006/relationships/notesSlide" Target="/ppt/notesSlides/notesSlide60.xml" Id="Re6ec268342a340f3"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d1e7cc030a6e40a2" /><Relationship Type="http://schemas.openxmlformats.org/officeDocument/2006/relationships/notesSlide" Target="/ppt/notesSlides/notesSlide61.xml" Id="Rc841e838c0fc4791" /></Relationships>
</file>

<file path=ppt/slides/charts/chart1.xml><?xml version="1.0" encoding="utf-8"?>
<c:chartSpace xmlns:c="http://schemas.openxmlformats.org/drawingml/2006/chart">
  <c:lang val="en-US"/>
  <c:chart>
    <c:plotArea>
      <c:scatterChart>
        <c:scatterStyle val="marker"/>
        <c:ser>
          <c:idx val="0"/>
          <c:order val="0"/>
          <c:tx>
            <c:v>説明用データ</c:v>
          </c:tx>
          <c:spPr>
            <a:solidFill xmlns:a="http://schemas.openxmlformats.org/drawingml/2006/main">
              <a:srgbClr val="2B6777"/>
            </a:solidFill>
            <a:ln xmlns:a="http://schemas.openxmlformats.org/drawingml/2006/main" w="0">
              <a:noFill/>
            </a:ln>
          </c:spPr>
          <c:marker>
            <c:symbol val="circle"/>
            <c:size val="5"/>
            <c:spPr>
              <a:noFill xmlns:a="http://schemas.openxmlformats.org/drawingml/2006/main"/>
            </c:spPr>
          </c:marker>
          <c:xVal>
            <c:numLit>
              <c:formatCode>General</c:formatCode>
              <c:ptCount val="9"/>
              <c:pt idx="0">
                <c:v>0.1</c:v>
              </c:pt>
              <c:pt idx="1">
                <c:v>0.2</c:v>
              </c:pt>
              <c:pt idx="2">
                <c:v>0.3</c:v>
              </c:pt>
              <c:pt idx="3">
                <c:v>0.4</c:v>
              </c:pt>
              <c:pt idx="4">
                <c:v>0.5</c:v>
              </c:pt>
              <c:pt idx="5">
                <c:v>0.6</c:v>
              </c:pt>
              <c:pt idx="6">
                <c:v>0.7</c:v>
              </c:pt>
              <c:pt idx="7">
                <c:v>0.8</c:v>
              </c:pt>
              <c:pt idx="8">
                <c:v>0.9</c:v>
              </c:pt>
            </c:numLit>
          </c:xVal>
          <c:yVal>
            <c:numLit>
              <c:formatCode>0.0</c:formatCode>
              <c:ptCount val="9"/>
              <c:pt idx="0">
                <c:v>0.15</c:v>
              </c:pt>
              <c:pt idx="1">
                <c:v>0.23</c:v>
              </c:pt>
              <c:pt idx="2">
                <c:v>0.2</c:v>
              </c:pt>
              <c:pt idx="3">
                <c:v>0.48</c:v>
              </c:pt>
              <c:pt idx="4">
                <c:v>0.42</c:v>
              </c:pt>
              <c:pt idx="5">
                <c:v>0.7</c:v>
              </c:pt>
              <c:pt idx="6">
                <c:v>0.62</c:v>
              </c:pt>
              <c:pt idx="7">
                <c:v>0.84</c:v>
              </c:pt>
              <c:pt idx="8">
                <c:v>0.91</c:v>
              </c:pt>
            </c:numLit>
          </c:yVal>
        </c:ser>
        <c:axId val="48650112"/>
        <c:axId val="48672768"/>
      </c:scatterChart>
      <c:valAx>
        <c:axId val="48672768"/>
        <c:scaling>
          <c:orientation val="minMax"/>
          <c:max val="1"/>
          <c:min val="0"/>
        </c:scaling>
        <c:delete val="0"/>
        <c:axPos val="l"/>
        <c:majorGridlines>
          <c:spPr>
            <a:ln xmlns:a="http://schemas.openxmlformats.org/drawingml/2006/main" w="9525">
              <a:solidFill>
                <a:srgbClr val="E0E0E0"/>
              </a:solidFill>
            </a:ln>
          </c:spPr>
        </c:majorGridlines>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V：体重の位置</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50112"/>
      </c:valAx>
      <c:valAx>
        <c:axId val="48650112"/>
        <c:scaling>
          <c:orientation val="minMax"/>
          <c:max val="1"/>
          <c:min val="0"/>
        </c:scaling>
        <c:delete val="0"/>
        <c:axPos val="b"/>
        <c:majorGridlines>
          <c:spPr>
            <a:ln xmlns:a="http://schemas.openxmlformats.org/drawingml/2006/main" w="9525">
              <a:solidFill>
                <a:srgbClr val="E0E0E0"/>
              </a:solidFill>
            </a:ln>
          </c:spPr>
        </c:majorGridlines>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U：身長の位置</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72768"/>
      </c:valAx>
      <c:spPr>
        <a:solidFill xmlns:a="http://schemas.openxmlformats.org/drawingml/2006/main">
          <a:srgbClr val="F6F6F6"/>
        </a:solidFill>
      </c:spPr>
    </c:plotArea>
    <c:plotVisOnly val="1"/>
  </c:chart>
  <c:spPr>
    <a:solidFill xmlns:a="http://schemas.openxmlformats.org/drawingml/2006/main">
      <a:srgbClr val="FFFFFF"/>
    </a:solidFill>
  </c:spPr>
</c:chartSpace>
</file>

<file path=ppt/slides/charts/chart2.xml><?xml version="1.0" encoding="utf-8"?>
<c:chartSpace xmlns:c="http://schemas.openxmlformats.org/drawingml/2006/chart">
  <c:lang val="en-US"/>
  <c:chart>
    <c:plotArea>
      <c:scatterChart>
        <c:scatterStyle val="lineMarker"/>
        <c:ser>
          <c:idx val="0"/>
          <c:order val="0"/>
          <c:tx>
            <c:v>範囲の外</c:v>
          </c:tx>
          <c:spPr>
            <a:solidFill xmlns:a="http://schemas.openxmlformats.org/drawingml/2006/main">
              <a:srgbClr val="AAAAAA"/>
            </a:solidFill>
            <a:ln xmlns:a="http://schemas.openxmlformats.org/drawingml/2006/main" w="0">
              <a:noFill/>
            </a:ln>
          </c:spPr>
          <c:marker>
            <c:symbol val="circle"/>
            <c:size val="5"/>
            <c:spPr>
              <a:noFill xmlns:a="http://schemas.openxmlformats.org/drawingml/2006/main"/>
            </c:spPr>
          </c:marker>
          <c:xVal>
            <c:numLit>
              <c:formatCode>General</c:formatCode>
              <c:ptCount val="60"/>
              <c:pt idx="0">
                <c:v>0.05</c:v>
              </c:pt>
              <c:pt idx="1">
                <c:v>0.05</c:v>
              </c:pt>
              <c:pt idx="2">
                <c:v>0.05</c:v>
              </c:pt>
              <c:pt idx="3">
                <c:v>0.05</c:v>
              </c:pt>
              <c:pt idx="4">
                <c:v>0.05</c:v>
              </c:pt>
              <c:pt idx="5">
                <c:v>0.15</c:v>
              </c:pt>
              <c:pt idx="6">
                <c:v>0.15</c:v>
              </c:pt>
              <c:pt idx="7">
                <c:v>0.15</c:v>
              </c:pt>
              <c:pt idx="8">
                <c:v>0.15</c:v>
              </c:pt>
              <c:pt idx="9">
                <c:v>0.15</c:v>
              </c:pt>
              <c:pt idx="10">
                <c:v>0.25</c:v>
              </c:pt>
              <c:pt idx="11">
                <c:v>0.25</c:v>
              </c:pt>
              <c:pt idx="12">
                <c:v>0.25</c:v>
              </c:pt>
              <c:pt idx="13">
                <c:v>0.25</c:v>
              </c:pt>
              <c:pt idx="14">
                <c:v>0.25</c:v>
              </c:pt>
              <c:pt idx="15">
                <c:v>0.35</c:v>
              </c:pt>
              <c:pt idx="16">
                <c:v>0.35</c:v>
              </c:pt>
              <c:pt idx="17">
                <c:v>0.35</c:v>
              </c:pt>
              <c:pt idx="18">
                <c:v>0.35</c:v>
              </c:pt>
              <c:pt idx="19">
                <c:v>0.35</c:v>
              </c:pt>
              <c:pt idx="20">
                <c:v>0.45</c:v>
              </c:pt>
              <c:pt idx="21">
                <c:v>0.45</c:v>
              </c:pt>
              <c:pt idx="22">
                <c:v>0.45</c:v>
              </c:pt>
              <c:pt idx="23">
                <c:v>0.45</c:v>
              </c:pt>
              <c:pt idx="24">
                <c:v>0.45</c:v>
              </c:pt>
              <c:pt idx="25">
                <c:v>0.55</c:v>
              </c:pt>
              <c:pt idx="26">
                <c:v>0.55</c:v>
              </c:pt>
              <c:pt idx="27">
                <c:v>0.55</c:v>
              </c:pt>
              <c:pt idx="28">
                <c:v>0.55</c:v>
              </c:pt>
              <c:pt idx="29">
                <c:v>0.55</c:v>
              </c:pt>
              <c:pt idx="30">
                <c:v>0.65</c:v>
              </c:pt>
              <c:pt idx="31">
                <c:v>0.65</c:v>
              </c:pt>
              <c:pt idx="32">
                <c:v>0.65</c:v>
              </c:pt>
              <c:pt idx="33">
                <c:v>0.65</c:v>
              </c:pt>
              <c:pt idx="34">
                <c:v>0.65</c:v>
              </c:pt>
              <c:pt idx="35">
                <c:v>0.75</c:v>
              </c:pt>
              <c:pt idx="36">
                <c:v>0.75</c:v>
              </c:pt>
              <c:pt idx="37">
                <c:v>0.75</c:v>
              </c:pt>
              <c:pt idx="38">
                <c:v>0.75</c:v>
              </c:pt>
              <c:pt idx="39">
                <c:v>0.75</c:v>
              </c:pt>
              <c:pt idx="40">
                <c:v>0.85</c:v>
              </c:pt>
              <c:pt idx="41">
                <c:v>0.85</c:v>
              </c:pt>
              <c:pt idx="42">
                <c:v>0.85</c:v>
              </c:pt>
              <c:pt idx="43">
                <c:v>0.85</c:v>
              </c:pt>
              <c:pt idx="44">
                <c:v>0.85</c:v>
              </c:pt>
              <c:pt idx="45">
                <c:v>0.85</c:v>
              </c:pt>
              <c:pt idx="46">
                <c:v>0.85</c:v>
              </c:pt>
              <c:pt idx="47">
                <c:v>0.85</c:v>
              </c:pt>
              <c:pt idx="48">
                <c:v>0.85</c:v>
              </c:pt>
              <c:pt idx="49">
                <c:v>0.85</c:v>
              </c:pt>
              <c:pt idx="50">
                <c:v>0.95</c:v>
              </c:pt>
              <c:pt idx="51">
                <c:v>0.95</c:v>
              </c:pt>
              <c:pt idx="52">
                <c:v>0.95</c:v>
              </c:pt>
              <c:pt idx="53">
                <c:v>0.95</c:v>
              </c:pt>
              <c:pt idx="54">
                <c:v>0.95</c:v>
              </c:pt>
              <c:pt idx="55">
                <c:v>0.95</c:v>
              </c:pt>
              <c:pt idx="56">
                <c:v>0.95</c:v>
              </c:pt>
              <c:pt idx="57">
                <c:v>0.95</c:v>
              </c:pt>
              <c:pt idx="58">
                <c:v>0.95</c:v>
              </c:pt>
              <c:pt idx="59">
                <c:v>0.95</c:v>
              </c:pt>
            </c:numLit>
          </c:xVal>
          <c:yVal>
            <c:numLit>
              <c:formatCode>0.0</c:formatCode>
              <c:ptCount val="60"/>
              <c:pt idx="0">
                <c:v>0.55</c:v>
              </c:pt>
              <c:pt idx="1">
                <c:v>0.65</c:v>
              </c:pt>
              <c:pt idx="2">
                <c:v>0.75</c:v>
              </c:pt>
              <c:pt idx="3">
                <c:v>0.85</c:v>
              </c:pt>
              <c:pt idx="4">
                <c:v>0.95</c:v>
              </c:pt>
              <c:pt idx="5">
                <c:v>0.55</c:v>
              </c:pt>
              <c:pt idx="6">
                <c:v>0.65</c:v>
              </c:pt>
              <c:pt idx="7">
                <c:v>0.75</c:v>
              </c:pt>
              <c:pt idx="8">
                <c:v>0.85</c:v>
              </c:pt>
              <c:pt idx="9">
                <c:v>0.95</c:v>
              </c:pt>
              <c:pt idx="10">
                <c:v>0.55</c:v>
              </c:pt>
              <c:pt idx="11">
                <c:v>0.65</c:v>
              </c:pt>
              <c:pt idx="12">
                <c:v>0.75</c:v>
              </c:pt>
              <c:pt idx="13">
                <c:v>0.85</c:v>
              </c:pt>
              <c:pt idx="14">
                <c:v>0.95</c:v>
              </c:pt>
              <c:pt idx="15">
                <c:v>0.55</c:v>
              </c:pt>
              <c:pt idx="16">
                <c:v>0.65</c:v>
              </c:pt>
              <c:pt idx="17">
                <c:v>0.75</c:v>
              </c:pt>
              <c:pt idx="18">
                <c:v>0.85</c:v>
              </c:pt>
              <c:pt idx="19">
                <c:v>0.95</c:v>
              </c:pt>
              <c:pt idx="20">
                <c:v>0.55</c:v>
              </c:pt>
              <c:pt idx="21">
                <c:v>0.65</c:v>
              </c:pt>
              <c:pt idx="22">
                <c:v>0.75</c:v>
              </c:pt>
              <c:pt idx="23">
                <c:v>0.85</c:v>
              </c:pt>
              <c:pt idx="24">
                <c:v>0.95</c:v>
              </c:pt>
              <c:pt idx="25">
                <c:v>0.55</c:v>
              </c:pt>
              <c:pt idx="26">
                <c:v>0.65</c:v>
              </c:pt>
              <c:pt idx="27">
                <c:v>0.75</c:v>
              </c:pt>
              <c:pt idx="28">
                <c:v>0.85</c:v>
              </c:pt>
              <c:pt idx="29">
                <c:v>0.95</c:v>
              </c:pt>
              <c:pt idx="30">
                <c:v>0.55</c:v>
              </c:pt>
              <c:pt idx="31">
                <c:v>0.65</c:v>
              </c:pt>
              <c:pt idx="32">
                <c:v>0.75</c:v>
              </c:pt>
              <c:pt idx="33">
                <c:v>0.85</c:v>
              </c:pt>
              <c:pt idx="34">
                <c:v>0.95</c:v>
              </c:pt>
              <c:pt idx="35">
                <c:v>0.55</c:v>
              </c:pt>
              <c:pt idx="36">
                <c:v>0.65</c:v>
              </c:pt>
              <c:pt idx="37">
                <c:v>0.75</c:v>
              </c:pt>
              <c:pt idx="38">
                <c:v>0.85</c:v>
              </c:pt>
              <c:pt idx="39">
                <c:v>0.95</c:v>
              </c:pt>
              <c:pt idx="40">
                <c:v>0.05</c:v>
              </c:pt>
              <c:pt idx="41">
                <c:v>0.15</c:v>
              </c:pt>
              <c:pt idx="42">
                <c:v>0.25</c:v>
              </c:pt>
              <c:pt idx="43">
                <c:v>0.35</c:v>
              </c:pt>
              <c:pt idx="44">
                <c:v>0.45</c:v>
              </c:pt>
              <c:pt idx="45">
                <c:v>0.55</c:v>
              </c:pt>
              <c:pt idx="46">
                <c:v>0.65</c:v>
              </c:pt>
              <c:pt idx="47">
                <c:v>0.75</c:v>
              </c:pt>
              <c:pt idx="48">
                <c:v>0.85</c:v>
              </c:pt>
              <c:pt idx="49">
                <c:v>0.95</c:v>
              </c:pt>
              <c:pt idx="50">
                <c:v>0.05</c:v>
              </c:pt>
              <c:pt idx="51">
                <c:v>0.15</c:v>
              </c:pt>
              <c:pt idx="52">
                <c:v>0.25</c:v>
              </c:pt>
              <c:pt idx="53">
                <c:v>0.35</c:v>
              </c:pt>
              <c:pt idx="54">
                <c:v>0.45</c:v>
              </c:pt>
              <c:pt idx="55">
                <c:v>0.55</c:v>
              </c:pt>
              <c:pt idx="56">
                <c:v>0.65</c:v>
              </c:pt>
              <c:pt idx="57">
                <c:v>0.75</c:v>
              </c:pt>
              <c:pt idx="58">
                <c:v>0.85</c:v>
              </c:pt>
              <c:pt idx="59">
                <c:v>0.95</c:v>
              </c:pt>
            </c:numLit>
          </c:yVal>
        </c:ser>
        <c:ser>
          <c:idx val="1"/>
          <c:order val="1"/>
          <c:tx>
            <c:v>両条件を満たす</c:v>
          </c:tx>
          <c:spPr>
            <a:solidFill xmlns:a="http://schemas.openxmlformats.org/drawingml/2006/main">
              <a:srgbClr val="2E7D5B"/>
            </a:solidFill>
            <a:ln xmlns:a="http://schemas.openxmlformats.org/drawingml/2006/main" w="0">
              <a:noFill/>
            </a:ln>
          </c:spPr>
          <c:marker>
            <c:symbol val="circle"/>
            <c:size val="6"/>
            <c:spPr>
              <a:noFill xmlns:a="http://schemas.openxmlformats.org/drawingml/2006/main"/>
            </c:spPr>
          </c:marker>
          <c:xVal>
            <c:numLit>
              <c:formatCode>General</c:formatCode>
              <c:ptCount val="40"/>
              <c:pt idx="0">
                <c:v>0.05</c:v>
              </c:pt>
              <c:pt idx="1">
                <c:v>0.05</c:v>
              </c:pt>
              <c:pt idx="2">
                <c:v>0.05</c:v>
              </c:pt>
              <c:pt idx="3">
                <c:v>0.05</c:v>
              </c:pt>
              <c:pt idx="4">
                <c:v>0.05</c:v>
              </c:pt>
              <c:pt idx="5">
                <c:v>0.15</c:v>
              </c:pt>
              <c:pt idx="6">
                <c:v>0.15</c:v>
              </c:pt>
              <c:pt idx="7">
                <c:v>0.15</c:v>
              </c:pt>
              <c:pt idx="8">
                <c:v>0.15</c:v>
              </c:pt>
              <c:pt idx="9">
                <c:v>0.15</c:v>
              </c:pt>
              <c:pt idx="10">
                <c:v>0.25</c:v>
              </c:pt>
              <c:pt idx="11">
                <c:v>0.25</c:v>
              </c:pt>
              <c:pt idx="12">
                <c:v>0.25</c:v>
              </c:pt>
              <c:pt idx="13">
                <c:v>0.25</c:v>
              </c:pt>
              <c:pt idx="14">
                <c:v>0.25</c:v>
              </c:pt>
              <c:pt idx="15">
                <c:v>0.35</c:v>
              </c:pt>
              <c:pt idx="16">
                <c:v>0.35</c:v>
              </c:pt>
              <c:pt idx="17">
                <c:v>0.35</c:v>
              </c:pt>
              <c:pt idx="18">
                <c:v>0.35</c:v>
              </c:pt>
              <c:pt idx="19">
                <c:v>0.35</c:v>
              </c:pt>
              <c:pt idx="20">
                <c:v>0.45</c:v>
              </c:pt>
              <c:pt idx="21">
                <c:v>0.45</c:v>
              </c:pt>
              <c:pt idx="22">
                <c:v>0.45</c:v>
              </c:pt>
              <c:pt idx="23">
                <c:v>0.45</c:v>
              </c:pt>
              <c:pt idx="24">
                <c:v>0.45</c:v>
              </c:pt>
              <c:pt idx="25">
                <c:v>0.55</c:v>
              </c:pt>
              <c:pt idx="26">
                <c:v>0.55</c:v>
              </c:pt>
              <c:pt idx="27">
                <c:v>0.55</c:v>
              </c:pt>
              <c:pt idx="28">
                <c:v>0.55</c:v>
              </c:pt>
              <c:pt idx="29">
                <c:v>0.55</c:v>
              </c:pt>
              <c:pt idx="30">
                <c:v>0.65</c:v>
              </c:pt>
              <c:pt idx="31">
                <c:v>0.65</c:v>
              </c:pt>
              <c:pt idx="32">
                <c:v>0.65</c:v>
              </c:pt>
              <c:pt idx="33">
                <c:v>0.65</c:v>
              </c:pt>
              <c:pt idx="34">
                <c:v>0.65</c:v>
              </c:pt>
              <c:pt idx="35">
                <c:v>0.75</c:v>
              </c:pt>
              <c:pt idx="36">
                <c:v>0.75</c:v>
              </c:pt>
              <c:pt idx="37">
                <c:v>0.75</c:v>
              </c:pt>
              <c:pt idx="38">
                <c:v>0.75</c:v>
              </c:pt>
              <c:pt idx="39">
                <c:v>0.75</c:v>
              </c:pt>
            </c:numLit>
          </c:xVal>
          <c:yVal>
            <c:numLit>
              <c:formatCode>0.0</c:formatCode>
              <c:ptCount val="40"/>
              <c:pt idx="0">
                <c:v>0.05</c:v>
              </c:pt>
              <c:pt idx="1">
                <c:v>0.15</c:v>
              </c:pt>
              <c:pt idx="2">
                <c:v>0.25</c:v>
              </c:pt>
              <c:pt idx="3">
                <c:v>0.35</c:v>
              </c:pt>
              <c:pt idx="4">
                <c:v>0.45</c:v>
              </c:pt>
              <c:pt idx="5">
                <c:v>0.05</c:v>
              </c:pt>
              <c:pt idx="6">
                <c:v>0.15</c:v>
              </c:pt>
              <c:pt idx="7">
                <c:v>0.25</c:v>
              </c:pt>
              <c:pt idx="8">
                <c:v>0.35</c:v>
              </c:pt>
              <c:pt idx="9">
                <c:v>0.45</c:v>
              </c:pt>
              <c:pt idx="10">
                <c:v>0.05</c:v>
              </c:pt>
              <c:pt idx="11">
                <c:v>0.15</c:v>
              </c:pt>
              <c:pt idx="12">
                <c:v>0.25</c:v>
              </c:pt>
              <c:pt idx="13">
                <c:v>0.35</c:v>
              </c:pt>
              <c:pt idx="14">
                <c:v>0.45</c:v>
              </c:pt>
              <c:pt idx="15">
                <c:v>0.05</c:v>
              </c:pt>
              <c:pt idx="16">
                <c:v>0.15</c:v>
              </c:pt>
              <c:pt idx="17">
                <c:v>0.25</c:v>
              </c:pt>
              <c:pt idx="18">
                <c:v>0.35</c:v>
              </c:pt>
              <c:pt idx="19">
                <c:v>0.45</c:v>
              </c:pt>
              <c:pt idx="20">
                <c:v>0.05</c:v>
              </c:pt>
              <c:pt idx="21">
                <c:v>0.15</c:v>
              </c:pt>
              <c:pt idx="22">
                <c:v>0.25</c:v>
              </c:pt>
              <c:pt idx="23">
                <c:v>0.35</c:v>
              </c:pt>
              <c:pt idx="24">
                <c:v>0.45</c:v>
              </c:pt>
              <c:pt idx="25">
                <c:v>0.05</c:v>
              </c:pt>
              <c:pt idx="26">
                <c:v>0.15</c:v>
              </c:pt>
              <c:pt idx="27">
                <c:v>0.25</c:v>
              </c:pt>
              <c:pt idx="28">
                <c:v>0.35</c:v>
              </c:pt>
              <c:pt idx="29">
                <c:v>0.45</c:v>
              </c:pt>
              <c:pt idx="30">
                <c:v>0.05</c:v>
              </c:pt>
              <c:pt idx="31">
                <c:v>0.15</c:v>
              </c:pt>
              <c:pt idx="32">
                <c:v>0.25</c:v>
              </c:pt>
              <c:pt idx="33">
                <c:v>0.35</c:v>
              </c:pt>
              <c:pt idx="34">
                <c:v>0.45</c:v>
              </c:pt>
              <c:pt idx="35">
                <c:v>0.05</c:v>
              </c:pt>
              <c:pt idx="36">
                <c:v>0.15</c:v>
              </c:pt>
              <c:pt idx="37">
                <c:v>0.25</c:v>
              </c:pt>
              <c:pt idx="38">
                <c:v>0.35</c:v>
              </c:pt>
              <c:pt idx="39">
                <c:v>0.45</c:v>
              </c:pt>
            </c:numLit>
          </c:yVal>
        </c:ser>
        <c:ser>
          <c:idx val="2"/>
          <c:order val="2"/>
          <c:tx>
            <c:v>境界</c:v>
          </c:tx>
          <c:spPr>
            <a:solidFill xmlns:a="http://schemas.openxmlformats.org/drawingml/2006/main">
              <a:srgbClr val="2E7D5B"/>
            </a:solidFill>
            <a:ln xmlns:a="http://schemas.openxmlformats.org/drawingml/2006/main" w="19050">
              <a:solidFill>
                <a:srgbClr val="2E7D5B"/>
              </a:solidFill>
            </a:ln>
          </c:spPr>
          <c:marker>
            <c:symbol val="none"/>
          </c:marker>
          <c:xVal>
            <c:numLit>
              <c:formatCode>General</c:formatCode>
              <c:ptCount val="5"/>
              <c:pt idx="0">
                <c:v>0</c:v>
              </c:pt>
              <c:pt idx="1">
                <c:v>0.8</c:v>
              </c:pt>
              <c:pt idx="2">
                <c:v>0.8</c:v>
              </c:pt>
              <c:pt idx="3">
                <c:v>0</c:v>
              </c:pt>
              <c:pt idx="4">
                <c:v>0</c:v>
              </c:pt>
            </c:numLit>
          </c:xVal>
          <c:yVal>
            <c:numLit>
              <c:formatCode>0.0</c:formatCode>
              <c:ptCount val="5"/>
              <c:pt idx="0">
                <c:v>0</c:v>
              </c:pt>
              <c:pt idx="1">
                <c:v>0</c:v>
              </c:pt>
              <c:pt idx="2">
                <c:v>0.5</c:v>
              </c:pt>
              <c:pt idx="3">
                <c:v>0.5</c:v>
              </c:pt>
              <c:pt idx="4">
                <c:v>0</c:v>
              </c:pt>
            </c:numLit>
          </c:yVal>
        </c:ser>
        <c:axId val="48650112"/>
        <c:axId val="48672768"/>
      </c:scatterChart>
      <c:valAx>
        <c:axId val="48672768"/>
        <c:scaling>
          <c:orientation val="minMax"/>
          <c:max val="1"/>
          <c:min val="0"/>
        </c:scaling>
        <c:delete val="0"/>
        <c:axPos val="l"/>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V：体重の位置</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50112"/>
      </c:valAx>
      <c:valAx>
        <c:axId val="48650112"/>
        <c:scaling>
          <c:orientation val="minMax"/>
          <c:max val="1"/>
          <c:min val="0"/>
        </c:scaling>
        <c:delete val="0"/>
        <c:axPos val="b"/>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U：身長の位置</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72768"/>
      </c:valAx>
      <c:spPr>
        <a:solidFill xmlns:a="http://schemas.openxmlformats.org/drawingml/2006/main">
          <a:srgbClr val="F6F6F6"/>
        </a:solidFill>
      </c:spPr>
    </c:plotArea>
    <c:plotVisOnly val="1"/>
  </c:chart>
  <c:spPr>
    <a:solidFill xmlns:a="http://schemas.openxmlformats.org/drawingml/2006/main">
      <a:srgbClr val="FFFFFF"/>
    </a:solidFill>
  </c:spPr>
</c:chartSpace>
</file>

<file path=ppt/slides/charts/chart3.xml><?xml version="1.0" encoding="utf-8"?>
<c:chartSpace xmlns:c="http://schemas.openxmlformats.org/drawingml/2006/chart">
  <c:lang val="en-US"/>
  <c:chart>
    <c:plotArea>
      <c:scatterChart>
        <c:scatterStyle val="marker"/>
        <c:ser>
          <c:idx val="0"/>
          <c:order val="0"/>
          <c:tx>
            <c:v>説明用データ</c:v>
          </c:tx>
          <c:spPr>
            <a:solidFill xmlns:a="http://schemas.openxmlformats.org/drawingml/2006/main">
              <a:srgbClr val="2B6777"/>
            </a:solidFill>
            <a:ln xmlns:a="http://schemas.openxmlformats.org/drawingml/2006/main" w="0">
              <a:noFill/>
            </a:ln>
          </c:spPr>
          <c:marker>
            <c:symbol val="circle"/>
            <c:size val="5"/>
            <c:spPr>
              <a:noFill xmlns:a="http://schemas.openxmlformats.org/drawingml/2006/main"/>
            </c:spPr>
          </c:marker>
          <c:xVal>
            <c:numLit>
              <c:formatCode>General</c:formatCode>
              <c:ptCount val="180"/>
              <c:pt idx="0">
                <c:v>-0.964737</c:v>
              </c:pt>
              <c:pt idx="1">
                <c:v>-0.685523</c:v>
              </c:pt>
              <c:pt idx="2">
                <c:v>-1.792758</c:v>
              </c:pt>
              <c:pt idx="3">
                <c:v>1.118067</c:v>
              </c:pt>
              <c:pt idx="4">
                <c:v>-1.27751</c:v>
              </c:pt>
              <c:pt idx="5">
                <c:v>0.42376</c:v>
              </c:pt>
              <c:pt idx="6">
                <c:v>-0.090051</c:v>
              </c:pt>
              <c:pt idx="7">
                <c:v>0.502384</c:v>
              </c:pt>
              <c:pt idx="8">
                <c:v>1.512725</c:v>
              </c:pt>
              <c:pt idx="9">
                <c:v>-0.70615</c:v>
              </c:pt>
              <c:pt idx="10">
                <c:v>-0.084481</c:v>
              </c:pt>
              <c:pt idx="11">
                <c:v>-0.674366</c:v>
              </c:pt>
              <c:pt idx="12">
                <c:v>1.037276</c:v>
              </c:pt>
              <c:pt idx="13">
                <c:v>1.769364</c:v>
              </c:pt>
              <c:pt idx="14">
                <c:v>0.653606</c:v>
              </c:pt>
              <c:pt idx="15">
                <c:v>1.331206</c:v>
              </c:pt>
              <c:pt idx="16">
                <c:v>-0.162944</c:v>
              </c:pt>
              <c:pt idx="17">
                <c:v>-2.028587</c:v>
              </c:pt>
              <c:pt idx="18">
                <c:v>-1.894807</c:v>
              </c:pt>
              <c:pt idx="19">
                <c:v>-0.224342</c:v>
              </c:pt>
              <c:pt idx="20">
                <c:v>-0.727864</c:v>
              </c:pt>
              <c:pt idx="21">
                <c:v>-0.051989</c:v>
              </c:pt>
              <c:pt idx="22">
                <c:v>-1.020888</c:v>
              </c:pt>
              <c:pt idx="23">
                <c:v>0.504533</c:v>
              </c:pt>
              <c:pt idx="24">
                <c:v>-0.142917</c:v>
              </c:pt>
              <c:pt idx="25">
                <c:v>0.120616</c:v>
              </c:pt>
              <c:pt idx="26">
                <c:v>-0.161109</c:v>
              </c:pt>
              <c:pt idx="27">
                <c:v>0.549847</c:v>
              </c:pt>
              <c:pt idx="28">
                <c:v>-0.377124</c:v>
              </c:pt>
              <c:pt idx="29">
                <c:v>-0.2352</c:v>
              </c:pt>
              <c:pt idx="30">
                <c:v>-1.668056</c:v>
              </c:pt>
              <c:pt idx="31">
                <c:v>-0.307283</c:v>
              </c:pt>
              <c:pt idx="32">
                <c:v>0.613796</c:v>
              </c:pt>
              <c:pt idx="33">
                <c:v>0.780404</c:v>
              </c:pt>
              <c:pt idx="34">
                <c:v>1.130832</c:v>
              </c:pt>
              <c:pt idx="35">
                <c:v>1.226219</c:v>
              </c:pt>
              <c:pt idx="36">
                <c:v>2.230704</c:v>
              </c:pt>
              <c:pt idx="37">
                <c:v>2.112629</c:v>
              </c:pt>
              <c:pt idx="38">
                <c:v>-0.013101</c:v>
              </c:pt>
              <c:pt idx="39">
                <c:v>1.009634</c:v>
              </c:pt>
              <c:pt idx="40">
                <c:v>0.186001</c:v>
              </c:pt>
              <c:pt idx="41">
                <c:v>-0.277091</c:v>
              </c:pt>
              <c:pt idx="42">
                <c:v>0.662209</c:v>
              </c:pt>
              <c:pt idx="43">
                <c:v>1.303807</c:v>
              </c:pt>
              <c:pt idx="44">
                <c:v>1.141296</c:v>
              </c:pt>
              <c:pt idx="45">
                <c:v>-0.63783</c:v>
              </c:pt>
              <c:pt idx="46">
                <c:v>-0.410707</c:v>
              </c:pt>
              <c:pt idx="47">
                <c:v>0.076815</c:v>
              </c:pt>
              <c:pt idx="48">
                <c:v>0.222679</c:v>
              </c:pt>
              <c:pt idx="49">
                <c:v>0.273338</c:v>
              </c:pt>
              <c:pt idx="50">
                <c:v>0.941804</c:v>
              </c:pt>
              <c:pt idx="51">
                <c:v>-1.572288</c:v>
              </c:pt>
              <c:pt idx="52">
                <c:v>0.369959</c:v>
              </c:pt>
              <c:pt idx="53">
                <c:v>-0.945094</c:v>
              </c:pt>
              <c:pt idx="54">
                <c:v>-1.133268</c:v>
              </c:pt>
              <c:pt idx="55">
                <c:v>0.219075</c:v>
              </c:pt>
              <c:pt idx="56">
                <c:v>0.028555</c:v>
              </c:pt>
              <c:pt idx="57">
                <c:v>0.813782</c:v>
              </c:pt>
              <c:pt idx="58">
                <c:v>0.283186</c:v>
              </c:pt>
              <c:pt idx="59">
                <c:v>-0.908656</c:v>
              </c:pt>
              <c:pt idx="60">
                <c:v>0.057258</c:v>
              </c:pt>
              <c:pt idx="61">
                <c:v>-0.215737</c:v>
              </c:pt>
              <c:pt idx="62">
                <c:v>0.584788</c:v>
              </c:pt>
              <c:pt idx="63">
                <c:v>-1.12573</c:v>
              </c:pt>
              <c:pt idx="64">
                <c:v>0.984108</c:v>
              </c:pt>
              <c:pt idx="65">
                <c:v>0.425171</c:v>
              </c:pt>
              <c:pt idx="66">
                <c:v>-0.8201</c:v>
              </c:pt>
              <c:pt idx="67">
                <c:v>1.317465</c:v>
              </c:pt>
              <c:pt idx="68">
                <c:v>-0.633456</c:v>
              </c:pt>
              <c:pt idx="69">
                <c:v>-0.407901</c:v>
              </c:pt>
              <c:pt idx="70">
                <c:v>1.197913</c:v>
              </c:pt>
              <c:pt idx="71">
                <c:v>0.286897</c:v>
              </c:pt>
              <c:pt idx="72">
                <c:v>0.870457</c:v>
              </c:pt>
              <c:pt idx="73">
                <c:v>1.408735</c:v>
              </c:pt>
              <c:pt idx="74">
                <c:v>-1.675171</c:v>
              </c:pt>
              <c:pt idx="75">
                <c:v>0.255864</c:v>
              </c:pt>
              <c:pt idx="76">
                <c:v>0.508106</c:v>
              </c:pt>
              <c:pt idx="77">
                <c:v>-1.313651</c:v>
              </c:pt>
              <c:pt idx="78">
                <c:v>-0.990097</c:v>
              </c:pt>
              <c:pt idx="79">
                <c:v>-0.568813</c:v>
              </c:pt>
              <c:pt idx="80">
                <c:v>1.526273</c:v>
              </c:pt>
              <c:pt idx="81">
                <c:v>0.972972</c:v>
              </c:pt>
              <c:pt idx="82">
                <c:v>-0.836034</c:v>
              </c:pt>
              <c:pt idx="83">
                <c:v>-1.078385</c:v>
              </c:pt>
              <c:pt idx="84">
                <c:v>0.685447</c:v>
              </c:pt>
              <c:pt idx="85">
                <c:v>-0.164052</c:v>
              </c:pt>
              <c:pt idx="86">
                <c:v>-0.752642</c:v>
              </c:pt>
              <c:pt idx="87">
                <c:v>-0.472211</c:v>
              </c:pt>
              <c:pt idx="88">
                <c:v>1.601215</c:v>
              </c:pt>
              <c:pt idx="89">
                <c:v>0.214002</c:v>
              </c:pt>
              <c:pt idx="90">
                <c:v>-0.278752</c:v>
              </c:pt>
              <c:pt idx="91">
                <c:v>1.234263</c:v>
              </c:pt>
              <c:pt idx="92">
                <c:v>1.92473</c:v>
              </c:pt>
              <c:pt idx="93">
                <c:v>0.843673</c:v>
              </c:pt>
              <c:pt idx="94">
                <c:v>-2.034829</c:v>
              </c:pt>
              <c:pt idx="95">
                <c:v>-0.478459</c:v>
              </c:pt>
              <c:pt idx="96">
                <c:v>-0.814649</c:v>
              </c:pt>
              <c:pt idx="97">
                <c:v>0.127463</c:v>
              </c:pt>
              <c:pt idx="98">
                <c:v>-0.459837</c:v>
              </c:pt>
              <c:pt idx="99">
                <c:v>0.390206</c:v>
              </c:pt>
              <c:pt idx="100">
                <c:v>-1.20313</c:v>
              </c:pt>
              <c:pt idx="101">
                <c:v>1.283847</c:v>
              </c:pt>
              <c:pt idx="102">
                <c:v>2.424427</c:v>
              </c:pt>
              <c:pt idx="103">
                <c:v>2.189515</c:v>
              </c:pt>
              <c:pt idx="104">
                <c:v>-0.028805</c:v>
              </c:pt>
              <c:pt idx="105">
                <c:v>0.73606</c:v>
              </c:pt>
              <c:pt idx="106">
                <c:v>1.549079</c:v>
              </c:pt>
              <c:pt idx="107">
                <c:v>0.067017</c:v>
              </c:pt>
              <c:pt idx="108">
                <c:v>1.281344</c:v>
              </c:pt>
              <c:pt idx="109">
                <c:v>-0.170186</c:v>
              </c:pt>
              <c:pt idx="110">
                <c:v>-1.016311</c:v>
              </c:pt>
              <c:pt idx="111">
                <c:v>-0.443433</c:v>
              </c:pt>
              <c:pt idx="112">
                <c:v>-0.373239</c:v>
              </c:pt>
              <c:pt idx="113">
                <c:v>0.010513</c:v>
              </c:pt>
              <c:pt idx="114">
                <c:v>-1.690876</c:v>
              </c:pt>
              <c:pt idx="115">
                <c:v>-0.03426</c:v>
              </c:pt>
              <c:pt idx="116">
                <c:v>-0.509897</c:v>
              </c:pt>
              <c:pt idx="117">
                <c:v>-1.226315</c:v>
              </c:pt>
              <c:pt idx="118">
                <c:v>0.710369</c:v>
              </c:pt>
              <c:pt idx="119">
                <c:v>0.113212</c:v>
              </c:pt>
              <c:pt idx="120">
                <c:v>0.449654</c:v>
              </c:pt>
              <c:pt idx="121">
                <c:v>0.122708</c:v>
              </c:pt>
              <c:pt idx="122">
                <c:v>-0.033254</c:v>
              </c:pt>
              <c:pt idx="123">
                <c:v>-0.854602</c:v>
              </c:pt>
              <c:pt idx="124">
                <c:v>-1.096321</c:v>
              </c:pt>
              <c:pt idx="125">
                <c:v>-0.791231</c:v>
              </c:pt>
              <c:pt idx="126">
                <c:v>-1.215564</c:v>
              </c:pt>
              <c:pt idx="127">
                <c:v>-0.552292</c:v>
              </c:pt>
              <c:pt idx="128">
                <c:v>-0.997034</c:v>
              </c:pt>
              <c:pt idx="129">
                <c:v>0.382873</c:v>
              </c:pt>
              <c:pt idx="130">
                <c:v>-0.776463</c:v>
              </c:pt>
              <c:pt idx="131">
                <c:v>-0.251258</c:v>
              </c:pt>
              <c:pt idx="132">
                <c:v>-0.665515</c:v>
              </c:pt>
              <c:pt idx="133">
                <c:v>0.565422</c:v>
              </c:pt>
              <c:pt idx="134">
                <c:v>-0.552297</c:v>
              </c:pt>
              <c:pt idx="135">
                <c:v>2.221928</c:v>
              </c:pt>
              <c:pt idx="136">
                <c:v>0.493764</c:v>
              </c:pt>
              <c:pt idx="137">
                <c:v>0.408449</c:v>
              </c:pt>
              <c:pt idx="138">
                <c:v>0.500988</c:v>
              </c:pt>
              <c:pt idx="139">
                <c:v>0.04588</c:v>
              </c:pt>
              <c:pt idx="140">
                <c:v>0.467626</c:v>
              </c:pt>
              <c:pt idx="141">
                <c:v>1.081339</c:v>
              </c:pt>
              <c:pt idx="142">
                <c:v>0.089481</c:v>
              </c:pt>
              <c:pt idx="143">
                <c:v>0.249266</c:v>
              </c:pt>
              <c:pt idx="144">
                <c:v>0.311052</c:v>
              </c:pt>
              <c:pt idx="145">
                <c:v>-0.379915</c:v>
              </c:pt>
              <c:pt idx="146">
                <c:v>-0.773705</c:v>
              </c:pt>
              <c:pt idx="147">
                <c:v>1.450531</c:v>
              </c:pt>
              <c:pt idx="148">
                <c:v>-0.501182</c:v>
              </c:pt>
              <c:pt idx="149">
                <c:v>-0.691778</c:v>
              </c:pt>
              <c:pt idx="150">
                <c:v>-0.311987</c:v>
              </c:pt>
              <c:pt idx="151">
                <c:v>-1.4942</c:v>
              </c:pt>
              <c:pt idx="152">
                <c:v>0.739239</c:v>
              </c:pt>
              <c:pt idx="153">
                <c:v>1.432132</c:v>
              </c:pt>
              <c:pt idx="154">
                <c:v>-0.721068</c:v>
              </c:pt>
              <c:pt idx="155">
                <c:v>0.209718</c:v>
              </c:pt>
              <c:pt idx="156">
                <c:v>-0.535907</c:v>
              </c:pt>
              <c:pt idx="157">
                <c:v>1.769635</c:v>
              </c:pt>
              <c:pt idx="158">
                <c:v>1.354479</c:v>
              </c:pt>
              <c:pt idx="159">
                <c:v>0.21633</c:v>
              </c:pt>
              <c:pt idx="160">
                <c:v>0.100431</c:v>
              </c:pt>
              <c:pt idx="161">
                <c:v>-0.137746</c:v>
              </c:pt>
              <c:pt idx="162">
                <c:v>-0.314014</c:v>
              </c:pt>
              <c:pt idx="163">
                <c:v>-0.224873</c:v>
              </c:pt>
              <c:pt idx="164">
                <c:v>-0.983698</c:v>
              </c:pt>
              <c:pt idx="165">
                <c:v>1.766961</c:v>
              </c:pt>
              <c:pt idx="166">
                <c:v>-0.197007</c:v>
              </c:pt>
              <c:pt idx="167">
                <c:v>1.622803</c:v>
              </c:pt>
              <c:pt idx="168">
                <c:v>-0.101622</c:v>
              </c:pt>
              <c:pt idx="169">
                <c:v>0.125381</c:v>
              </c:pt>
              <c:pt idx="170">
                <c:v>0.837147</c:v>
              </c:pt>
              <c:pt idx="171">
                <c:v>0.076562</c:v>
              </c:pt>
              <c:pt idx="172">
                <c:v>1.477819</c:v>
              </c:pt>
              <c:pt idx="173">
                <c:v>-0.111524</c:v>
              </c:pt>
              <c:pt idx="174">
                <c:v>1.988519</c:v>
              </c:pt>
              <c:pt idx="175">
                <c:v>-0.64339</c:v>
              </c:pt>
              <c:pt idx="176">
                <c:v>0.765569</c:v>
              </c:pt>
              <c:pt idx="177">
                <c:v>2.098938</c:v>
              </c:pt>
              <c:pt idx="178">
                <c:v>0.123359</c:v>
              </c:pt>
              <c:pt idx="179">
                <c:v>0.442992</c:v>
              </c:pt>
            </c:numLit>
          </c:xVal>
          <c:yVal>
            <c:numLit>
              <c:formatCode>0.0</c:formatCode>
              <c:ptCount val="180"/>
              <c:pt idx="0">
                <c:v>-0.210561</c:v>
              </c:pt>
              <c:pt idx="1">
                <c:v>-1.713056</c:v>
              </c:pt>
              <c:pt idx="2">
                <c:v>-0.624863</c:v>
              </c:pt>
              <c:pt idx="3">
                <c:v>0.700037</c:v>
              </c:pt>
              <c:pt idx="4">
                <c:v>-1.269596</c:v>
              </c:pt>
              <c:pt idx="5">
                <c:v>-0.01204</c:v>
              </c:pt>
              <c:pt idx="6">
                <c:v>0.133132</c:v>
              </c:pt>
              <c:pt idx="7">
                <c:v>0.437726</c:v>
              </c:pt>
              <c:pt idx="8">
                <c:v>2.036789</c:v>
              </c:pt>
              <c:pt idx="9">
                <c:v>-1.370433</c:v>
              </c:pt>
              <c:pt idx="10">
                <c:v>0.065495</c:v>
              </c:pt>
              <c:pt idx="11">
                <c:v>-0.862793</c:v>
              </c:pt>
              <c:pt idx="12">
                <c:v>1.453965</c:v>
              </c:pt>
              <c:pt idx="13">
                <c:v>1.306129</c:v>
              </c:pt>
              <c:pt idx="14">
                <c:v>-0.123963</c:v>
              </c:pt>
              <c:pt idx="15">
                <c:v>0.455768</c:v>
              </c:pt>
              <c:pt idx="16">
                <c:v>-1.035617</c:v>
              </c:pt>
              <c:pt idx="17">
                <c:v>-1.663404</c:v>
              </c:pt>
              <c:pt idx="18">
                <c:v>-2.516123</c:v>
              </c:pt>
              <c:pt idx="19">
                <c:v>0.694111</c:v>
              </c:pt>
              <c:pt idx="20">
                <c:v>-0.654308</c:v>
              </c:pt>
              <c:pt idx="21">
                <c:v>-0.218106</c:v>
              </c:pt>
              <c:pt idx="22">
                <c:v>-0.531666</c:v>
              </c:pt>
              <c:pt idx="23">
                <c:v>0.032668</c:v>
              </c:pt>
              <c:pt idx="24">
                <c:v>-0.025947</c:v>
              </c:pt>
              <c:pt idx="25">
                <c:v>-0.241011</c:v>
              </c:pt>
              <c:pt idx="26">
                <c:v>-1.10778</c:v>
              </c:pt>
              <c:pt idx="27">
                <c:v>0.288077</c:v>
              </c:pt>
              <c:pt idx="28">
                <c:v>-0.83871</c:v>
              </c:pt>
              <c:pt idx="29">
                <c:v>-0.29658</c:v>
              </c:pt>
              <c:pt idx="30">
                <c:v>-1.458526</c:v>
              </c:pt>
              <c:pt idx="31">
                <c:v>0.146215</c:v>
              </c:pt>
              <c:pt idx="32">
                <c:v>1.253883</c:v>
              </c:pt>
              <c:pt idx="33">
                <c:v>0.922958</c:v>
              </c:pt>
              <c:pt idx="34">
                <c:v>0.472563</c:v>
              </c:pt>
              <c:pt idx="35">
                <c:v>0.443993</c:v>
              </c:pt>
              <c:pt idx="36">
                <c:v>1.836666</c:v>
              </c:pt>
              <c:pt idx="37">
                <c:v>1.998814</c:v>
              </c:pt>
              <c:pt idx="38">
                <c:v>0.303016</c:v>
              </c:pt>
              <c:pt idx="39">
                <c:v>0.288125</c:v>
              </c:pt>
              <c:pt idx="40">
                <c:v>1.093635</c:v>
              </c:pt>
              <c:pt idx="41">
                <c:v>-0.619421</c:v>
              </c:pt>
              <c:pt idx="42">
                <c:v>-0.775727</c:v>
              </c:pt>
              <c:pt idx="43">
                <c:v>0.636762</c:v>
              </c:pt>
              <c:pt idx="44">
                <c:v>1.984869</c:v>
              </c:pt>
              <c:pt idx="45">
                <c:v>-0.50276</c:v>
              </c:pt>
              <c:pt idx="46">
                <c:v>0.473785</c:v>
              </c:pt>
              <c:pt idx="47">
                <c:v>-0.181957</c:v>
              </c:pt>
              <c:pt idx="48">
                <c:v>0.117176</c:v>
              </c:pt>
              <c:pt idx="49">
                <c:v>-0.104379</c:v>
              </c:pt>
              <c:pt idx="50">
                <c:v>-0.28131</c:v>
              </c:pt>
              <c:pt idx="51">
                <c:v>-1.22926</c:v>
              </c:pt>
              <c:pt idx="52">
                <c:v>0.787163</c:v>
              </c:pt>
              <c:pt idx="53">
                <c:v>-0.505629</c:v>
              </c:pt>
              <c:pt idx="54">
                <c:v>-1.456005</c:v>
              </c:pt>
              <c:pt idx="55">
                <c:v>0.038035</c:v>
              </c:pt>
              <c:pt idx="56">
                <c:v>-0.165187</c:v>
              </c:pt>
              <c:pt idx="57">
                <c:v>0.787543</c:v>
              </c:pt>
              <c:pt idx="58">
                <c:v>0.237884</c:v>
              </c:pt>
              <c:pt idx="59">
                <c:v>0.389573</c:v>
              </c:pt>
              <c:pt idx="60">
                <c:v>-0.416826</c:v>
              </c:pt>
              <c:pt idx="61">
                <c:v>0.19116</c:v>
              </c:pt>
              <c:pt idx="62">
                <c:v>-0.817319</c:v>
              </c:pt>
              <c:pt idx="63">
                <c:v>-1.305464</c:v>
              </c:pt>
              <c:pt idx="64">
                <c:v>1.361396</c:v>
              </c:pt>
              <c:pt idx="65">
                <c:v>0.520453</c:v>
              </c:pt>
              <c:pt idx="66">
                <c:v>-1.615519</c:v>
              </c:pt>
              <c:pt idx="67">
                <c:v>0.546359</c:v>
              </c:pt>
              <c:pt idx="68">
                <c:v>-1.656757</c:v>
              </c:pt>
              <c:pt idx="69">
                <c:v>-0.84341</c:v>
              </c:pt>
              <c:pt idx="70">
                <c:v>2.091688</c:v>
              </c:pt>
              <c:pt idx="71">
                <c:v>-0.222123</c:v>
              </c:pt>
              <c:pt idx="72">
                <c:v>0.614768</c:v>
              </c:pt>
              <c:pt idx="73">
                <c:v>0.863907</c:v>
              </c:pt>
              <c:pt idx="74">
                <c:v>-1.740884</c:v>
              </c:pt>
              <c:pt idx="75">
                <c:v>0.313218</c:v>
              </c:pt>
              <c:pt idx="76">
                <c:v>0.534711</c:v>
              </c:pt>
              <c:pt idx="77">
                <c:v>-1.480492</c:v>
              </c:pt>
              <c:pt idx="78">
                <c:v>-0.385907</c:v>
              </c:pt>
              <c:pt idx="79">
                <c:v>0.11407</c:v>
              </c:pt>
              <c:pt idx="80">
                <c:v>0.895041</c:v>
              </c:pt>
              <c:pt idx="81">
                <c:v>0.489411</c:v>
              </c:pt>
              <c:pt idx="82">
                <c:v>-0.73591</c:v>
              </c:pt>
              <c:pt idx="83">
                <c:v>0.233848</c:v>
              </c:pt>
              <c:pt idx="84">
                <c:v>0.408122</c:v>
              </c:pt>
              <c:pt idx="85">
                <c:v>-0.765441</c:v>
              </c:pt>
              <c:pt idx="86">
                <c:v>-1.570768</c:v>
              </c:pt>
              <c:pt idx="87">
                <c:v>0.357895</c:v>
              </c:pt>
              <c:pt idx="88">
                <c:v>0.909</c:v>
              </c:pt>
              <c:pt idx="89">
                <c:v>0.201396</c:v>
              </c:pt>
              <c:pt idx="90">
                <c:v>-0.070873</c:v>
              </c:pt>
              <c:pt idx="91">
                <c:v>1.546291</c:v>
              </c:pt>
              <c:pt idx="92">
                <c:v>1.296057</c:v>
              </c:pt>
              <c:pt idx="93">
                <c:v>0.615141</c:v>
              </c:pt>
              <c:pt idx="94">
                <c:v>-0.91846</c:v>
              </c:pt>
              <c:pt idx="95">
                <c:v>-0.719518</c:v>
              </c:pt>
              <c:pt idx="96">
                <c:v>-1.240074</c:v>
              </c:pt>
              <c:pt idx="97">
                <c:v>-0.694365</c:v>
              </c:pt>
              <c:pt idx="98">
                <c:v>0.476725</c:v>
              </c:pt>
              <c:pt idx="99">
                <c:v>0.348572</c:v>
              </c:pt>
              <c:pt idx="100">
                <c:v>-1.226755</c:v>
              </c:pt>
              <c:pt idx="101">
                <c:v>1.091137</c:v>
              </c:pt>
              <c:pt idx="102">
                <c:v>1.043307</c:v>
              </c:pt>
              <c:pt idx="103">
                <c:v>2.326211</c:v>
              </c:pt>
              <c:pt idx="104">
                <c:v>-0.718224</c:v>
              </c:pt>
              <c:pt idx="105">
                <c:v>0.611381</c:v>
              </c:pt>
              <c:pt idx="106">
                <c:v>2.069503</c:v>
              </c:pt>
              <c:pt idx="107">
                <c:v>0.357352</c:v>
              </c:pt>
              <c:pt idx="108">
                <c:v>1.278387</c:v>
              </c:pt>
              <c:pt idx="109">
                <c:v>0.334709</c:v>
              </c:pt>
              <c:pt idx="110">
                <c:v>-0.242152</c:v>
              </c:pt>
              <c:pt idx="111">
                <c:v>-1.047942</c:v>
              </c:pt>
              <c:pt idx="112">
                <c:v>0.074507</c:v>
              </c:pt>
              <c:pt idx="113">
                <c:v>-0.218564</c:v>
              </c:pt>
              <c:pt idx="114">
                <c:v>-1.560617</c:v>
              </c:pt>
              <c:pt idx="115">
                <c:v>-0.309118</c:v>
              </c:pt>
              <c:pt idx="116">
                <c:v>-1.057372</c:v>
              </c:pt>
              <c:pt idx="117">
                <c:v>-0.653348</c:v>
              </c:pt>
              <c:pt idx="118">
                <c:v>-0.49068</c:v>
              </c:pt>
              <c:pt idx="119">
                <c:v>0.998924</c:v>
              </c:pt>
              <c:pt idx="120">
                <c:v>1.025902</c:v>
              </c:pt>
              <c:pt idx="121">
                <c:v>0.157022</c:v>
              </c:pt>
              <c:pt idx="122">
                <c:v>-0.974692</c:v>
              </c:pt>
              <c:pt idx="123">
                <c:v>0.630976</c:v>
              </c:pt>
              <c:pt idx="124">
                <c:v>-1.414051</c:v>
              </c:pt>
              <c:pt idx="125">
                <c:v>-0.57502</c:v>
              </c:pt>
              <c:pt idx="126">
                <c:v>-0.540014</c:v>
              </c:pt>
              <c:pt idx="127">
                <c:v>0.64459</c:v>
              </c:pt>
              <c:pt idx="128">
                <c:v>-0.653106</c:v>
              </c:pt>
              <c:pt idx="129">
                <c:v>0.347963</c:v>
              </c:pt>
              <c:pt idx="130">
                <c:v>0.060361</c:v>
              </c:pt>
              <c:pt idx="131">
                <c:v>-0.342071</c:v>
              </c:pt>
              <c:pt idx="132">
                <c:v>-0.396855</c:v>
              </c:pt>
              <c:pt idx="133">
                <c:v>-0.751027</c:v>
              </c:pt>
              <c:pt idx="134">
                <c:v>0.279652</c:v>
              </c:pt>
              <c:pt idx="135">
                <c:v>0.249541</c:v>
              </c:pt>
              <c:pt idx="136">
                <c:v>1.452706</c:v>
              </c:pt>
              <c:pt idx="137">
                <c:v>0.772859</c:v>
              </c:pt>
              <c:pt idx="138">
                <c:v>0.495658</c:v>
              </c:pt>
              <c:pt idx="139">
                <c:v>0.347161</c:v>
              </c:pt>
              <c:pt idx="140">
                <c:v>0.37272</c:v>
              </c:pt>
              <c:pt idx="141">
                <c:v>2.16919</c:v>
              </c:pt>
              <c:pt idx="142">
                <c:v>1.594857</c:v>
              </c:pt>
              <c:pt idx="143">
                <c:v>1.235467</c:v>
              </c:pt>
              <c:pt idx="144">
                <c:v>0.486987</c:v>
              </c:pt>
              <c:pt idx="145">
                <c:v>-0.633328</c:v>
              </c:pt>
              <c:pt idx="146">
                <c:v>-1.143939</c:v>
              </c:pt>
              <c:pt idx="147">
                <c:v>1.387433</c:v>
              </c:pt>
              <c:pt idx="148">
                <c:v>-0.787109</c:v>
              </c:pt>
              <c:pt idx="149">
                <c:v>-0.53829</c:v>
              </c:pt>
              <c:pt idx="150">
                <c:v>0.722009</c:v>
              </c:pt>
              <c:pt idx="151">
                <c:v>-1.361264</c:v>
              </c:pt>
              <c:pt idx="152">
                <c:v>0.494698</c:v>
              </c:pt>
              <c:pt idx="153">
                <c:v>2.162272</c:v>
              </c:pt>
              <c:pt idx="154">
                <c:v>-0.287687</c:v>
              </c:pt>
              <c:pt idx="155">
                <c:v>0.795013</c:v>
              </c:pt>
              <c:pt idx="156">
                <c:v>-1.174578</c:v>
              </c:pt>
              <c:pt idx="157">
                <c:v>0.969031</c:v>
              </c:pt>
              <c:pt idx="158">
                <c:v>0.602076</c:v>
              </c:pt>
              <c:pt idx="159">
                <c:v>0.138562</c:v>
              </c:pt>
              <c:pt idx="160">
                <c:v>0.10879</c:v>
              </c:pt>
              <c:pt idx="161">
                <c:v>-0.112019</c:v>
              </c:pt>
              <c:pt idx="162">
                <c:v>-0.592551</c:v>
              </c:pt>
              <c:pt idx="163">
                <c:v>-0.317517</c:v>
              </c:pt>
              <c:pt idx="164">
                <c:v>-0.990106</c:v>
              </c:pt>
              <c:pt idx="165">
                <c:v>1.45095</c:v>
              </c:pt>
              <c:pt idx="166">
                <c:v>0.050371</c:v>
              </c:pt>
              <c:pt idx="167">
                <c:v>0.962529</c:v>
              </c:pt>
              <c:pt idx="168">
                <c:v>0.217266</c:v>
              </c:pt>
              <c:pt idx="169">
                <c:v>1.036899</c:v>
              </c:pt>
              <c:pt idx="170">
                <c:v>1.496596</c:v>
              </c:pt>
              <c:pt idx="171">
                <c:v>0.246041</c:v>
              </c:pt>
              <c:pt idx="172">
                <c:v>0.498105</c:v>
              </c:pt>
              <c:pt idx="173">
                <c:v>0.046019</c:v>
              </c:pt>
              <c:pt idx="174">
                <c:v>1.692766</c:v>
              </c:pt>
              <c:pt idx="175">
                <c:v>-0.356243</c:v>
              </c:pt>
              <c:pt idx="176">
                <c:v>0.229687</c:v>
              </c:pt>
              <c:pt idx="177">
                <c:v>0.811138</c:v>
              </c:pt>
              <c:pt idx="178">
                <c:v>0.005554</c:v>
              </c:pt>
              <c:pt idx="179">
                <c:v>0.32401</c:v>
              </c:pt>
            </c:numLit>
          </c:yVal>
        </c:ser>
        <c:axId val="48650112"/>
        <c:axId val="48672768"/>
      </c:scatterChart>
      <c:valAx>
        <c:axId val="48672768"/>
        <c:scaling>
          <c:orientation val="minMax"/>
          <c:max val="4"/>
          <c:min val="-4"/>
        </c:scaling>
        <c:delete val="0"/>
        <c:axPos val="l"/>
        <c:majorGridlines>
          <c:spPr>
            <a:ln xmlns:a="http://schemas.openxmlformats.org/drawingml/2006/main" w="9525">
              <a:solidFill>
                <a:srgbClr val="E0E0E0"/>
              </a:solidFill>
            </a:ln>
          </c:spPr>
        </c:majorGridlines>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置換する特徴 X₂</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50112"/>
      </c:valAx>
      <c:valAx>
        <c:axId val="48650112"/>
        <c:scaling>
          <c:orientation val="minMax"/>
          <c:max val="4"/>
          <c:min val="-4"/>
        </c:scaling>
        <c:delete val="0"/>
        <c:axPos val="b"/>
        <c:majorGridlines>
          <c:spPr>
            <a:ln xmlns:a="http://schemas.openxmlformats.org/drawingml/2006/main" w="9525">
              <a:solidFill>
                <a:srgbClr val="E0E0E0"/>
              </a:solidFill>
            </a:ln>
          </c:spPr>
        </c:majorGridlines>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残す特徴 X₁</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72768"/>
      </c:valAx>
      <c:spPr>
        <a:solidFill xmlns:a="http://schemas.openxmlformats.org/drawingml/2006/main">
          <a:srgbClr val="F6F6F6"/>
        </a:solidFill>
      </c:spPr>
    </c:plotArea>
    <c:plotVisOnly val="1"/>
  </c:chart>
  <c:spPr>
    <a:solidFill xmlns:a="http://schemas.openxmlformats.org/drawingml/2006/main">
      <a:srgbClr val="FFFFFF"/>
    </a:solidFill>
  </c:spPr>
</c:chartSpace>
</file>

<file path=ppt/slides/charts/chart4.xml><?xml version="1.0" encoding="utf-8"?>
<c:chartSpace xmlns:c="http://schemas.openxmlformats.org/drawingml/2006/chart">
  <c:lang val="en-US"/>
  <c:chart>
    <c:plotArea>
      <c:scatterChart>
        <c:scatterStyle val="marker"/>
        <c:ser>
          <c:idx val="0"/>
          <c:order val="0"/>
          <c:tx>
            <c:v>説明用データ</c:v>
          </c:tx>
          <c:spPr>
            <a:solidFill xmlns:a="http://schemas.openxmlformats.org/drawingml/2006/main">
              <a:srgbClr val="2B6777"/>
            </a:solidFill>
            <a:ln xmlns:a="http://schemas.openxmlformats.org/drawingml/2006/main" w="0">
              <a:noFill/>
            </a:ln>
          </c:spPr>
          <c:marker>
            <c:symbol val="circle"/>
            <c:size val="5"/>
            <c:spPr>
              <a:noFill xmlns:a="http://schemas.openxmlformats.org/drawingml/2006/main"/>
            </c:spPr>
          </c:marker>
          <c:xVal>
            <c:numLit>
              <c:formatCode>General</c:formatCode>
              <c:ptCount val="180"/>
              <c:pt idx="0">
                <c:v>-0.964737</c:v>
              </c:pt>
              <c:pt idx="1">
                <c:v>-0.685523</c:v>
              </c:pt>
              <c:pt idx="2">
                <c:v>-1.792758</c:v>
              </c:pt>
              <c:pt idx="3">
                <c:v>1.118067</c:v>
              </c:pt>
              <c:pt idx="4">
                <c:v>-1.27751</c:v>
              </c:pt>
              <c:pt idx="5">
                <c:v>0.42376</c:v>
              </c:pt>
              <c:pt idx="6">
                <c:v>-0.090051</c:v>
              </c:pt>
              <c:pt idx="7">
                <c:v>0.502384</c:v>
              </c:pt>
              <c:pt idx="8">
                <c:v>1.512725</c:v>
              </c:pt>
              <c:pt idx="9">
                <c:v>-0.70615</c:v>
              </c:pt>
              <c:pt idx="10">
                <c:v>-0.084481</c:v>
              </c:pt>
              <c:pt idx="11">
                <c:v>-0.674366</c:v>
              </c:pt>
              <c:pt idx="12">
                <c:v>1.037276</c:v>
              </c:pt>
              <c:pt idx="13">
                <c:v>1.769364</c:v>
              </c:pt>
              <c:pt idx="14">
                <c:v>0.653606</c:v>
              </c:pt>
              <c:pt idx="15">
                <c:v>1.331206</c:v>
              </c:pt>
              <c:pt idx="16">
                <c:v>-0.162944</c:v>
              </c:pt>
              <c:pt idx="17">
                <c:v>-2.028587</c:v>
              </c:pt>
              <c:pt idx="18">
                <c:v>-1.894807</c:v>
              </c:pt>
              <c:pt idx="19">
                <c:v>-0.224342</c:v>
              </c:pt>
              <c:pt idx="20">
                <c:v>-0.727864</c:v>
              </c:pt>
              <c:pt idx="21">
                <c:v>-0.051989</c:v>
              </c:pt>
              <c:pt idx="22">
                <c:v>-1.020888</c:v>
              </c:pt>
              <c:pt idx="23">
                <c:v>0.504533</c:v>
              </c:pt>
              <c:pt idx="24">
                <c:v>-0.142917</c:v>
              </c:pt>
              <c:pt idx="25">
                <c:v>0.120616</c:v>
              </c:pt>
              <c:pt idx="26">
                <c:v>-0.161109</c:v>
              </c:pt>
              <c:pt idx="27">
                <c:v>0.549847</c:v>
              </c:pt>
              <c:pt idx="28">
                <c:v>-0.377124</c:v>
              </c:pt>
              <c:pt idx="29">
                <c:v>-0.2352</c:v>
              </c:pt>
              <c:pt idx="30">
                <c:v>-1.668056</c:v>
              </c:pt>
              <c:pt idx="31">
                <c:v>-0.307283</c:v>
              </c:pt>
              <c:pt idx="32">
                <c:v>0.613796</c:v>
              </c:pt>
              <c:pt idx="33">
                <c:v>0.780404</c:v>
              </c:pt>
              <c:pt idx="34">
                <c:v>1.130832</c:v>
              </c:pt>
              <c:pt idx="35">
                <c:v>1.226219</c:v>
              </c:pt>
              <c:pt idx="36">
                <c:v>2.230704</c:v>
              </c:pt>
              <c:pt idx="37">
                <c:v>2.112629</c:v>
              </c:pt>
              <c:pt idx="38">
                <c:v>-0.013101</c:v>
              </c:pt>
              <c:pt idx="39">
                <c:v>1.009634</c:v>
              </c:pt>
              <c:pt idx="40">
                <c:v>0.186001</c:v>
              </c:pt>
              <c:pt idx="41">
                <c:v>-0.277091</c:v>
              </c:pt>
              <c:pt idx="42">
                <c:v>0.662209</c:v>
              </c:pt>
              <c:pt idx="43">
                <c:v>1.303807</c:v>
              </c:pt>
              <c:pt idx="44">
                <c:v>1.141296</c:v>
              </c:pt>
              <c:pt idx="45">
                <c:v>-0.63783</c:v>
              </c:pt>
              <c:pt idx="46">
                <c:v>-0.410707</c:v>
              </c:pt>
              <c:pt idx="47">
                <c:v>0.076815</c:v>
              </c:pt>
              <c:pt idx="48">
                <c:v>0.222679</c:v>
              </c:pt>
              <c:pt idx="49">
                <c:v>0.273338</c:v>
              </c:pt>
              <c:pt idx="50">
                <c:v>0.941804</c:v>
              </c:pt>
              <c:pt idx="51">
                <c:v>-1.572288</c:v>
              </c:pt>
              <c:pt idx="52">
                <c:v>0.369959</c:v>
              </c:pt>
              <c:pt idx="53">
                <c:v>-0.945094</c:v>
              </c:pt>
              <c:pt idx="54">
                <c:v>-1.133268</c:v>
              </c:pt>
              <c:pt idx="55">
                <c:v>0.219075</c:v>
              </c:pt>
              <c:pt idx="56">
                <c:v>0.028555</c:v>
              </c:pt>
              <c:pt idx="57">
                <c:v>0.813782</c:v>
              </c:pt>
              <c:pt idx="58">
                <c:v>0.283186</c:v>
              </c:pt>
              <c:pt idx="59">
                <c:v>-0.908656</c:v>
              </c:pt>
              <c:pt idx="60">
                <c:v>0.057258</c:v>
              </c:pt>
              <c:pt idx="61">
                <c:v>-0.215737</c:v>
              </c:pt>
              <c:pt idx="62">
                <c:v>0.584788</c:v>
              </c:pt>
              <c:pt idx="63">
                <c:v>-1.12573</c:v>
              </c:pt>
              <c:pt idx="64">
                <c:v>0.984108</c:v>
              </c:pt>
              <c:pt idx="65">
                <c:v>0.425171</c:v>
              </c:pt>
              <c:pt idx="66">
                <c:v>-0.8201</c:v>
              </c:pt>
              <c:pt idx="67">
                <c:v>1.317465</c:v>
              </c:pt>
              <c:pt idx="68">
                <c:v>-0.633456</c:v>
              </c:pt>
              <c:pt idx="69">
                <c:v>-0.407901</c:v>
              </c:pt>
              <c:pt idx="70">
                <c:v>1.197913</c:v>
              </c:pt>
              <c:pt idx="71">
                <c:v>0.286897</c:v>
              </c:pt>
              <c:pt idx="72">
                <c:v>0.870457</c:v>
              </c:pt>
              <c:pt idx="73">
                <c:v>1.408735</c:v>
              </c:pt>
              <c:pt idx="74">
                <c:v>-1.675171</c:v>
              </c:pt>
              <c:pt idx="75">
                <c:v>0.255864</c:v>
              </c:pt>
              <c:pt idx="76">
                <c:v>0.508106</c:v>
              </c:pt>
              <c:pt idx="77">
                <c:v>-1.313651</c:v>
              </c:pt>
              <c:pt idx="78">
                <c:v>-0.990097</c:v>
              </c:pt>
              <c:pt idx="79">
                <c:v>-0.568813</c:v>
              </c:pt>
              <c:pt idx="80">
                <c:v>1.526273</c:v>
              </c:pt>
              <c:pt idx="81">
                <c:v>0.972972</c:v>
              </c:pt>
              <c:pt idx="82">
                <c:v>-0.836034</c:v>
              </c:pt>
              <c:pt idx="83">
                <c:v>-1.078385</c:v>
              </c:pt>
              <c:pt idx="84">
                <c:v>0.685447</c:v>
              </c:pt>
              <c:pt idx="85">
                <c:v>-0.164052</c:v>
              </c:pt>
              <c:pt idx="86">
                <c:v>-0.752642</c:v>
              </c:pt>
              <c:pt idx="87">
                <c:v>-0.472211</c:v>
              </c:pt>
              <c:pt idx="88">
                <c:v>1.601215</c:v>
              </c:pt>
              <c:pt idx="89">
                <c:v>0.214002</c:v>
              </c:pt>
              <c:pt idx="90">
                <c:v>-0.278752</c:v>
              </c:pt>
              <c:pt idx="91">
                <c:v>1.234263</c:v>
              </c:pt>
              <c:pt idx="92">
                <c:v>1.92473</c:v>
              </c:pt>
              <c:pt idx="93">
                <c:v>0.843673</c:v>
              </c:pt>
              <c:pt idx="94">
                <c:v>-2.034829</c:v>
              </c:pt>
              <c:pt idx="95">
                <c:v>-0.478459</c:v>
              </c:pt>
              <c:pt idx="96">
                <c:v>-0.814649</c:v>
              </c:pt>
              <c:pt idx="97">
                <c:v>0.127463</c:v>
              </c:pt>
              <c:pt idx="98">
                <c:v>-0.459837</c:v>
              </c:pt>
              <c:pt idx="99">
                <c:v>0.390206</c:v>
              </c:pt>
              <c:pt idx="100">
                <c:v>-1.20313</c:v>
              </c:pt>
              <c:pt idx="101">
                <c:v>1.283847</c:v>
              </c:pt>
              <c:pt idx="102">
                <c:v>2.424427</c:v>
              </c:pt>
              <c:pt idx="103">
                <c:v>2.189515</c:v>
              </c:pt>
              <c:pt idx="104">
                <c:v>-0.028805</c:v>
              </c:pt>
              <c:pt idx="105">
                <c:v>0.73606</c:v>
              </c:pt>
              <c:pt idx="106">
                <c:v>1.549079</c:v>
              </c:pt>
              <c:pt idx="107">
                <c:v>0.067017</c:v>
              </c:pt>
              <c:pt idx="108">
                <c:v>1.281344</c:v>
              </c:pt>
              <c:pt idx="109">
                <c:v>-0.170186</c:v>
              </c:pt>
              <c:pt idx="110">
                <c:v>-1.016311</c:v>
              </c:pt>
              <c:pt idx="111">
                <c:v>-0.443433</c:v>
              </c:pt>
              <c:pt idx="112">
                <c:v>-0.373239</c:v>
              </c:pt>
              <c:pt idx="113">
                <c:v>0.010513</c:v>
              </c:pt>
              <c:pt idx="114">
                <c:v>-1.690876</c:v>
              </c:pt>
              <c:pt idx="115">
                <c:v>-0.03426</c:v>
              </c:pt>
              <c:pt idx="116">
                <c:v>-0.509897</c:v>
              </c:pt>
              <c:pt idx="117">
                <c:v>-1.226315</c:v>
              </c:pt>
              <c:pt idx="118">
                <c:v>0.710369</c:v>
              </c:pt>
              <c:pt idx="119">
                <c:v>0.113212</c:v>
              </c:pt>
              <c:pt idx="120">
                <c:v>0.449654</c:v>
              </c:pt>
              <c:pt idx="121">
                <c:v>0.122708</c:v>
              </c:pt>
              <c:pt idx="122">
                <c:v>-0.033254</c:v>
              </c:pt>
              <c:pt idx="123">
                <c:v>-0.854602</c:v>
              </c:pt>
              <c:pt idx="124">
                <c:v>-1.096321</c:v>
              </c:pt>
              <c:pt idx="125">
                <c:v>-0.791231</c:v>
              </c:pt>
              <c:pt idx="126">
                <c:v>-1.215564</c:v>
              </c:pt>
              <c:pt idx="127">
                <c:v>-0.552292</c:v>
              </c:pt>
              <c:pt idx="128">
                <c:v>-0.997034</c:v>
              </c:pt>
              <c:pt idx="129">
                <c:v>0.382873</c:v>
              </c:pt>
              <c:pt idx="130">
                <c:v>-0.776463</c:v>
              </c:pt>
              <c:pt idx="131">
                <c:v>-0.251258</c:v>
              </c:pt>
              <c:pt idx="132">
                <c:v>-0.665515</c:v>
              </c:pt>
              <c:pt idx="133">
                <c:v>0.565422</c:v>
              </c:pt>
              <c:pt idx="134">
                <c:v>-0.552297</c:v>
              </c:pt>
              <c:pt idx="135">
                <c:v>2.221928</c:v>
              </c:pt>
              <c:pt idx="136">
                <c:v>0.493764</c:v>
              </c:pt>
              <c:pt idx="137">
                <c:v>0.408449</c:v>
              </c:pt>
              <c:pt idx="138">
                <c:v>0.500988</c:v>
              </c:pt>
              <c:pt idx="139">
                <c:v>0.04588</c:v>
              </c:pt>
              <c:pt idx="140">
                <c:v>0.467626</c:v>
              </c:pt>
              <c:pt idx="141">
                <c:v>1.081339</c:v>
              </c:pt>
              <c:pt idx="142">
                <c:v>0.089481</c:v>
              </c:pt>
              <c:pt idx="143">
                <c:v>0.249266</c:v>
              </c:pt>
              <c:pt idx="144">
                <c:v>0.311052</c:v>
              </c:pt>
              <c:pt idx="145">
                <c:v>-0.379915</c:v>
              </c:pt>
              <c:pt idx="146">
                <c:v>-0.773705</c:v>
              </c:pt>
              <c:pt idx="147">
                <c:v>1.450531</c:v>
              </c:pt>
              <c:pt idx="148">
                <c:v>-0.501182</c:v>
              </c:pt>
              <c:pt idx="149">
                <c:v>-0.691778</c:v>
              </c:pt>
              <c:pt idx="150">
                <c:v>-0.311987</c:v>
              </c:pt>
              <c:pt idx="151">
                <c:v>-1.4942</c:v>
              </c:pt>
              <c:pt idx="152">
                <c:v>0.739239</c:v>
              </c:pt>
              <c:pt idx="153">
                <c:v>1.432132</c:v>
              </c:pt>
              <c:pt idx="154">
                <c:v>-0.721068</c:v>
              </c:pt>
              <c:pt idx="155">
                <c:v>0.209718</c:v>
              </c:pt>
              <c:pt idx="156">
                <c:v>-0.535907</c:v>
              </c:pt>
              <c:pt idx="157">
                <c:v>1.769635</c:v>
              </c:pt>
              <c:pt idx="158">
                <c:v>1.354479</c:v>
              </c:pt>
              <c:pt idx="159">
                <c:v>0.21633</c:v>
              </c:pt>
              <c:pt idx="160">
                <c:v>0.100431</c:v>
              </c:pt>
              <c:pt idx="161">
                <c:v>-0.137746</c:v>
              </c:pt>
              <c:pt idx="162">
                <c:v>-0.314014</c:v>
              </c:pt>
              <c:pt idx="163">
                <c:v>-0.224873</c:v>
              </c:pt>
              <c:pt idx="164">
                <c:v>-0.983698</c:v>
              </c:pt>
              <c:pt idx="165">
                <c:v>1.766961</c:v>
              </c:pt>
              <c:pt idx="166">
                <c:v>-0.197007</c:v>
              </c:pt>
              <c:pt idx="167">
                <c:v>1.622803</c:v>
              </c:pt>
              <c:pt idx="168">
                <c:v>-0.101622</c:v>
              </c:pt>
              <c:pt idx="169">
                <c:v>0.125381</c:v>
              </c:pt>
              <c:pt idx="170">
                <c:v>0.837147</c:v>
              </c:pt>
              <c:pt idx="171">
                <c:v>0.076562</c:v>
              </c:pt>
              <c:pt idx="172">
                <c:v>1.477819</c:v>
              </c:pt>
              <c:pt idx="173">
                <c:v>-0.111524</c:v>
              </c:pt>
              <c:pt idx="174">
                <c:v>1.988519</c:v>
              </c:pt>
              <c:pt idx="175">
                <c:v>-0.64339</c:v>
              </c:pt>
              <c:pt idx="176">
                <c:v>0.765569</c:v>
              </c:pt>
              <c:pt idx="177">
                <c:v>2.098938</c:v>
              </c:pt>
              <c:pt idx="178">
                <c:v>0.123359</c:v>
              </c:pt>
              <c:pt idx="179">
                <c:v>0.442992</c:v>
              </c:pt>
            </c:numLit>
          </c:xVal>
          <c:yVal>
            <c:numLit>
              <c:formatCode>0.0</c:formatCode>
              <c:ptCount val="180"/>
              <c:pt idx="0">
                <c:v>0.154852</c:v>
              </c:pt>
              <c:pt idx="1">
                <c:v>1.692766</c:v>
              </c:pt>
              <c:pt idx="2">
                <c:v>1.2041</c:v>
              </c:pt>
              <c:pt idx="3">
                <c:v>-0.165187</c:v>
              </c:pt>
              <c:pt idx="4">
                <c:v>-2.119382</c:v>
              </c:pt>
              <c:pt idx="5">
                <c:v>-1.316218</c:v>
              </c:pt>
              <c:pt idx="6">
                <c:v>1.530522</c:v>
              </c:pt>
              <c:pt idx="7">
                <c:v>0.688716</c:v>
              </c:pt>
              <c:pt idx="8">
                <c:v>1.711785</c:v>
              </c:pt>
              <c:pt idx="9">
                <c:v>-0.189384</c:v>
              </c:pt>
              <c:pt idx="10">
                <c:v>0.334709</c:v>
              </c:pt>
              <c:pt idx="11">
                <c:v>0.561395</c:v>
              </c:pt>
              <c:pt idx="12">
                <c:v>0.289951</c:v>
              </c:pt>
              <c:pt idx="13">
                <c:v>0.883718</c:v>
              </c:pt>
              <c:pt idx="14">
                <c:v>0.702595</c:v>
              </c:pt>
              <c:pt idx="15">
                <c:v>-0.022548</c:v>
              </c:pt>
              <c:pt idx="16">
                <c:v>-0.064899</c:v>
              </c:pt>
              <c:pt idx="17">
                <c:v>-0.049644</c:v>
              </c:pt>
              <c:pt idx="18">
                <c:v>0.156544</c:v>
              </c:pt>
              <c:pt idx="19">
                <c:v>-1.509061</c:v>
              </c:pt>
              <c:pt idx="20">
                <c:v>0.623168</c:v>
              </c:pt>
              <c:pt idx="21">
                <c:v>0.176928</c:v>
              </c:pt>
              <c:pt idx="22">
                <c:v>-0.411131</c:v>
              </c:pt>
              <c:pt idx="23">
                <c:v>-1.659642</c:v>
              </c:pt>
              <c:pt idx="24">
                <c:v>-0.773943</c:v>
              </c:pt>
              <c:pt idx="25">
                <c:v>-0.28131</c:v>
              </c:pt>
              <c:pt idx="26">
                <c:v>0.933047</c:v>
              </c:pt>
              <c:pt idx="27">
                <c:v>-1.044475</c:v>
              </c:pt>
              <c:pt idx="28">
                <c:v>-0.135962</c:v>
              </c:pt>
              <c:pt idx="29">
                <c:v>-0.387742</c:v>
              </c:pt>
              <c:pt idx="30">
                <c:v>-0.756091</c:v>
              </c:pt>
              <c:pt idx="31">
                <c:v>0.10879</c:v>
              </c:pt>
              <c:pt idx="32">
                <c:v>0.151379</c:v>
              </c:pt>
              <c:pt idx="33">
                <c:v>0.734898</c:v>
              </c:pt>
              <c:pt idx="34">
                <c:v>1.040196</c:v>
              </c:pt>
              <c:pt idx="35">
                <c:v>1.496904</c:v>
              </c:pt>
              <c:pt idx="36">
                <c:v>-1.869224</c:v>
              </c:pt>
              <c:pt idx="37">
                <c:v>1.211914</c:v>
              </c:pt>
              <c:pt idx="38">
                <c:v>0.479186</c:v>
              </c:pt>
              <c:pt idx="39">
                <c:v>0.419965</c:v>
              </c:pt>
              <c:pt idx="40">
                <c:v>0.313218</c:v>
              </c:pt>
              <c:pt idx="41">
                <c:v>0.486292</c:v>
              </c:pt>
              <c:pt idx="42">
                <c:v>-1.893808</c:v>
              </c:pt>
              <c:pt idx="43">
                <c:v>0.735796</c:v>
              </c:pt>
              <c:pt idx="44">
                <c:v>-0.00683</c:v>
              </c:pt>
              <c:pt idx="45">
                <c:v>-1.057372</c:v>
              </c:pt>
              <c:pt idx="46">
                <c:v>-0.802664</c:v>
              </c:pt>
              <c:pt idx="47">
                <c:v>-0.279013</c:v>
              </c:pt>
              <c:pt idx="48">
                <c:v>-0.84717</c:v>
              </c:pt>
              <c:pt idx="49">
                <c:v>-0.314709</c:v>
              </c:pt>
              <c:pt idx="50">
                <c:v>1.673556</c:v>
              </c:pt>
              <c:pt idx="51">
                <c:v>-1.72969</c:v>
              </c:pt>
              <c:pt idx="52">
                <c:v>0.370722</c:v>
              </c:pt>
              <c:pt idx="53">
                <c:v>-0.351058</c:v>
              </c:pt>
              <c:pt idx="54">
                <c:v>0.065495</c:v>
              </c:pt>
              <c:pt idx="55">
                <c:v>-0.309118</c:v>
              </c:pt>
              <c:pt idx="56">
                <c:v>0.257939</c:v>
              </c:pt>
              <c:pt idx="57">
                <c:v>0.263324</c:v>
              </c:pt>
              <c:pt idx="58">
                <c:v>0.368132</c:v>
              </c:pt>
              <c:pt idx="59">
                <c:v>-0.088227</c:v>
              </c:pt>
              <c:pt idx="60">
                <c:v>1.334336</c:v>
              </c:pt>
              <c:pt idx="61">
                <c:v>-0.380575</c:v>
              </c:pt>
              <c:pt idx="62">
                <c:v>-1.451974</c:v>
              </c:pt>
              <c:pt idx="63">
                <c:v>-0.889791</c:v>
              </c:pt>
              <c:pt idx="64">
                <c:v>-1.561402</c:v>
              </c:pt>
              <c:pt idx="65">
                <c:v>0.038035</c:v>
              </c:pt>
              <c:pt idx="66">
                <c:v>-0.024082</c:v>
              </c:pt>
              <c:pt idx="67">
                <c:v>-0.988527</c:v>
              </c:pt>
              <c:pt idx="68">
                <c:v>-1.323811</c:v>
              </c:pt>
              <c:pt idx="69">
                <c:v>1.373701</c:v>
              </c:pt>
              <c:pt idx="70">
                <c:v>0.72781</c:v>
              </c:pt>
              <c:pt idx="71">
                <c:v>-0.765441</c:v>
              </c:pt>
              <c:pt idx="72">
                <c:v>-0.540014</c:v>
              </c:pt>
              <c:pt idx="73">
                <c:v>0.610536</c:v>
              </c:pt>
              <c:pt idx="74">
                <c:v>0.032418</c:v>
              </c:pt>
              <c:pt idx="75">
                <c:v>0.297134</c:v>
              </c:pt>
              <c:pt idx="76">
                <c:v>0.791437</c:v>
              </c:pt>
              <c:pt idx="77">
                <c:v>0.096756</c:v>
              </c:pt>
              <c:pt idx="78">
                <c:v>-0.196929</c:v>
              </c:pt>
              <c:pt idx="79">
                <c:v>0.958014</c:v>
              </c:pt>
              <c:pt idx="80">
                <c:v>1.402107</c:v>
              </c:pt>
              <c:pt idx="81">
                <c:v>-1.04676</c:v>
              </c:pt>
              <c:pt idx="82">
                <c:v>0.694503</c:v>
              </c:pt>
              <c:pt idx="83">
                <c:v>0.437726</c:v>
              </c:pt>
              <c:pt idx="84">
                <c:v>0.791205</c:v>
              </c:pt>
              <c:pt idx="85">
                <c:v>-0.193767</c:v>
              </c:pt>
              <c:pt idx="86">
                <c:v>-0.953</c:v>
              </c:pt>
              <c:pt idx="87">
                <c:v>0.324699</c:v>
              </c:pt>
              <c:pt idx="88">
                <c:v>-0.254996</c:v>
              </c:pt>
              <c:pt idx="89">
                <c:v>0.543994</c:v>
              </c:pt>
              <c:pt idx="90">
                <c:v>1.396014</c:v>
              </c:pt>
              <c:pt idx="91">
                <c:v>1.307993</c:v>
              </c:pt>
              <c:pt idx="92">
                <c:v>-0.261602</c:v>
              </c:pt>
              <c:pt idx="93">
                <c:v>-0.770238</c:v>
              </c:pt>
              <c:pt idx="94">
                <c:v>0.498636</c:v>
              </c:pt>
              <c:pt idx="95">
                <c:v>-0.73591</c:v>
              </c:pt>
              <c:pt idx="96">
                <c:v>-1.211103</c:v>
              </c:pt>
              <c:pt idx="97">
                <c:v>-0.18509</c:v>
              </c:pt>
              <c:pt idx="98">
                <c:v>-0.516388</c:v>
              </c:pt>
              <c:pt idx="99">
                <c:v>0.114358</c:v>
              </c:pt>
              <c:pt idx="100">
                <c:v>1.66802</c:v>
              </c:pt>
              <c:pt idx="101">
                <c:v>1.639043</c:v>
              </c:pt>
              <c:pt idx="102">
                <c:v>-0.544429</c:v>
              </c:pt>
              <c:pt idx="103">
                <c:v>1.998814</c:v>
              </c:pt>
              <c:pt idx="104">
                <c:v>-0.865345</c:v>
              </c:pt>
              <c:pt idx="105">
                <c:v>-0.557361</c:v>
              </c:pt>
              <c:pt idx="106">
                <c:v>1.650099</c:v>
              </c:pt>
              <c:pt idx="107">
                <c:v>-1.103861</c:v>
              </c:pt>
              <c:pt idx="108">
                <c:v>1.05415</c:v>
              </c:pt>
              <c:pt idx="109">
                <c:v>-1.099749</c:v>
              </c:pt>
              <c:pt idx="110">
                <c:v>-2.264521</c:v>
              </c:pt>
              <c:pt idx="111">
                <c:v>-0.076407</c:v>
              </c:pt>
              <c:pt idx="112">
                <c:v>0.626669</c:v>
              </c:pt>
              <c:pt idx="113">
                <c:v>-0.667684</c:v>
              </c:pt>
              <c:pt idx="114">
                <c:v>-1.084337</c:v>
              </c:pt>
              <c:pt idx="115">
                <c:v>-1.019429</c:v>
              </c:pt>
              <c:pt idx="116">
                <c:v>-1.021514</c:v>
              </c:pt>
              <c:pt idx="117">
                <c:v>-1.547305</c:v>
              </c:pt>
              <c:pt idx="118">
                <c:v>0.936357</c:v>
              </c:pt>
              <c:pt idx="119">
                <c:v>-0.703806</c:v>
              </c:pt>
              <c:pt idx="120">
                <c:v>1.008951</c:v>
              </c:pt>
              <c:pt idx="121">
                <c:v>-0.345443</c:v>
              </c:pt>
              <c:pt idx="122">
                <c:v>-3.168357</c:v>
              </c:pt>
              <c:pt idx="123">
                <c:v>-0.980025</c:v>
              </c:pt>
              <c:pt idx="124">
                <c:v>1.284285</c:v>
              </c:pt>
              <c:pt idx="125">
                <c:v>-1.501302</c:v>
              </c:pt>
              <c:pt idx="126">
                <c:v>-1.789826</c:v>
              </c:pt>
              <c:pt idx="127">
                <c:v>-0.970874</c:v>
              </c:pt>
              <c:pt idx="128">
                <c:v>-1.373157</c:v>
              </c:pt>
              <c:pt idx="129">
                <c:v>-1.322447</c:v>
              </c:pt>
              <c:pt idx="130">
                <c:v>-1.19829</c:v>
              </c:pt>
              <c:pt idx="131">
                <c:v>0.727169</c:v>
              </c:pt>
              <c:pt idx="132">
                <c:v>-0.990349</c:v>
              </c:pt>
              <c:pt idx="133">
                <c:v>-0.429247</c:v>
              </c:pt>
              <c:pt idx="134">
                <c:v>0.088093</c:v>
              </c:pt>
              <c:pt idx="135">
                <c:v>0.23827</c:v>
              </c:pt>
              <c:pt idx="136">
                <c:v>-1.352049</c:v>
              </c:pt>
              <c:pt idx="137">
                <c:v>0.270667</c:v>
              </c:pt>
              <c:pt idx="138">
                <c:v>0.631655</c:v>
              </c:pt>
              <c:pt idx="139">
                <c:v>-0.984964</c:v>
              </c:pt>
              <c:pt idx="140">
                <c:v>-0.465059</c:v>
              </c:pt>
              <c:pt idx="141">
                <c:v>0.023637</c:v>
              </c:pt>
              <c:pt idx="142">
                <c:v>-0.30961</c:v>
              </c:pt>
              <c:pt idx="143">
                <c:v>0.103067</c:v>
              </c:pt>
              <c:pt idx="144">
                <c:v>0.489526</c:v>
              </c:pt>
              <c:pt idx="145">
                <c:v>-0.486709</c:v>
              </c:pt>
              <c:pt idx="146">
                <c:v>-0.390631</c:v>
              </c:pt>
              <c:pt idx="147">
                <c:v>-1.713056</c:v>
              </c:pt>
              <c:pt idx="148">
                <c:v>-0.932573</c:v>
              </c:pt>
              <c:pt idx="149">
                <c:v>1.047418</c:v>
              </c:pt>
              <c:pt idx="150">
                <c:v>-0.831799</c:v>
              </c:pt>
              <c:pt idx="151">
                <c:v>0.729138</c:v>
              </c:pt>
              <c:pt idx="152">
                <c:v>-1.188245</c:v>
              </c:pt>
              <c:pt idx="153">
                <c:v>0.573166</c:v>
              </c:pt>
              <c:pt idx="154">
                <c:v>-0.176346</c:v>
              </c:pt>
              <c:pt idx="155">
                <c:v>-0.838939</c:v>
              </c:pt>
              <c:pt idx="156">
                <c:v>-0.397515</c:v>
              </c:pt>
              <c:pt idx="157">
                <c:v>-1.343576</c:v>
              </c:pt>
              <c:pt idx="158">
                <c:v>1.429867</c:v>
              </c:pt>
              <c:pt idx="159">
                <c:v>-0.870907</c:v>
              </c:pt>
              <c:pt idx="160">
                <c:v>-1.539698</c:v>
              </c:pt>
              <c:pt idx="161">
                <c:v>-0.570847</c:v>
              </c:pt>
              <c:pt idx="162">
                <c:v>1.602503</c:v>
              </c:pt>
              <c:pt idx="163">
                <c:v>-0.776695</c:v>
              </c:pt>
              <c:pt idx="164">
                <c:v>0.166045</c:v>
              </c:pt>
              <c:pt idx="165">
                <c:v>-1.581756</c:v>
              </c:pt>
              <c:pt idx="166">
                <c:v>-0.804408</c:v>
              </c:pt>
              <c:pt idx="167">
                <c:v>-0.486435</c:v>
              </c:pt>
              <c:pt idx="168">
                <c:v>0.546359</c:v>
              </c:pt>
              <c:pt idx="169">
                <c:v>0.071947</c:v>
              </c:pt>
              <c:pt idx="170">
                <c:v>0.05505</c:v>
              </c:pt>
              <c:pt idx="171">
                <c:v>-0.152179</c:v>
              </c:pt>
              <c:pt idx="172">
                <c:v>-0.175767</c:v>
              </c:pt>
              <c:pt idx="173">
                <c:v>0.03749</c:v>
              </c:pt>
              <c:pt idx="174">
                <c:v>-1.230582</c:v>
              </c:pt>
              <c:pt idx="175">
                <c:v>0.011619</c:v>
              </c:pt>
              <c:pt idx="176">
                <c:v>0.401376</c:v>
              </c:pt>
              <c:pt idx="177">
                <c:v>1.984869</c:v>
              </c:pt>
              <c:pt idx="178">
                <c:v>-2.037904</c:v>
              </c:pt>
              <c:pt idx="179">
                <c:v>1.311426</c:v>
              </c:pt>
            </c:numLit>
          </c:yVal>
        </c:ser>
        <c:axId val="48650112"/>
        <c:axId val="48672768"/>
      </c:scatterChart>
      <c:valAx>
        <c:axId val="48672768"/>
        <c:scaling>
          <c:orientation val="minMax"/>
          <c:max val="4"/>
          <c:min val="-4"/>
        </c:scaling>
        <c:delete val="0"/>
        <c:axPos val="l"/>
        <c:majorGridlines>
          <c:spPr>
            <a:ln xmlns:a="http://schemas.openxmlformats.org/drawingml/2006/main" w="9525">
              <a:solidFill>
                <a:srgbClr val="E0E0E0"/>
              </a:solidFill>
            </a:ln>
          </c:spPr>
        </c:majorGridlines>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置換する特徴 X₂</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50112"/>
      </c:valAx>
      <c:valAx>
        <c:axId val="48650112"/>
        <c:scaling>
          <c:orientation val="minMax"/>
          <c:max val="4"/>
          <c:min val="-4"/>
        </c:scaling>
        <c:delete val="0"/>
        <c:axPos val="b"/>
        <c:majorGridlines>
          <c:spPr>
            <a:ln xmlns:a="http://schemas.openxmlformats.org/drawingml/2006/main" w="9525">
              <a:solidFill>
                <a:srgbClr val="E0E0E0"/>
              </a:solidFill>
            </a:ln>
          </c:spPr>
        </c:majorGridlines>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残す特徴 X₁</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72768"/>
      </c:valAx>
      <c:spPr>
        <a:solidFill xmlns:a="http://schemas.openxmlformats.org/drawingml/2006/main">
          <a:srgbClr val="F6F6F6"/>
        </a:solidFill>
      </c:spPr>
    </c:plotArea>
    <c:plotVisOnly val="1"/>
  </c:chart>
  <c:spPr>
    <a:solidFill xmlns:a="http://schemas.openxmlformats.org/drawingml/2006/main">
      <a:srgbClr val="FFFFFF"/>
    </a:solidFill>
  </c:spPr>
</c:chartSpace>
</file>

<file path=ppt/slides/charts/chart5.xml><?xml version="1.0" encoding="utf-8"?>
<c:chartSpace xmlns:c="http://schemas.openxmlformats.org/drawingml/2006/chart">
  <c:lang val="en-US"/>
  <c:chart>
    <c:plotArea>
      <c:scatterChart>
        <c:scatterStyle val="marker"/>
        <c:ser>
          <c:idx val="0"/>
          <c:order val="0"/>
          <c:tx>
            <c:v>説明用データ</c:v>
          </c:tx>
          <c:spPr>
            <a:solidFill xmlns:a="http://schemas.openxmlformats.org/drawingml/2006/main">
              <a:srgbClr val="2E7D5B"/>
            </a:solidFill>
            <a:ln xmlns:a="http://schemas.openxmlformats.org/drawingml/2006/main" w="0">
              <a:noFill/>
            </a:ln>
          </c:spPr>
          <c:marker>
            <c:symbol val="circle"/>
            <c:size val="5"/>
            <c:spPr>
              <a:noFill xmlns:a="http://schemas.openxmlformats.org/drawingml/2006/main"/>
            </c:spPr>
          </c:marker>
          <c:xVal>
            <c:numLit>
              <c:formatCode>General</c:formatCode>
              <c:ptCount val="180"/>
              <c:pt idx="0">
                <c:v>-0.964737</c:v>
              </c:pt>
              <c:pt idx="1">
                <c:v>-0.685523</c:v>
              </c:pt>
              <c:pt idx="2">
                <c:v>-1.792758</c:v>
              </c:pt>
              <c:pt idx="3">
                <c:v>1.118067</c:v>
              </c:pt>
              <c:pt idx="4">
                <c:v>-1.27751</c:v>
              </c:pt>
              <c:pt idx="5">
                <c:v>0.42376</c:v>
              </c:pt>
              <c:pt idx="6">
                <c:v>-0.090051</c:v>
              </c:pt>
              <c:pt idx="7">
                <c:v>0.502384</c:v>
              </c:pt>
              <c:pt idx="8">
                <c:v>1.512725</c:v>
              </c:pt>
              <c:pt idx="9">
                <c:v>-0.70615</c:v>
              </c:pt>
              <c:pt idx="10">
                <c:v>-0.084481</c:v>
              </c:pt>
              <c:pt idx="11">
                <c:v>-0.674366</c:v>
              </c:pt>
              <c:pt idx="12">
                <c:v>1.037276</c:v>
              </c:pt>
              <c:pt idx="13">
                <c:v>1.769364</c:v>
              </c:pt>
              <c:pt idx="14">
                <c:v>0.653606</c:v>
              </c:pt>
              <c:pt idx="15">
                <c:v>1.331206</c:v>
              </c:pt>
              <c:pt idx="16">
                <c:v>-0.162944</c:v>
              </c:pt>
              <c:pt idx="17">
                <c:v>-2.028587</c:v>
              </c:pt>
              <c:pt idx="18">
                <c:v>-1.894807</c:v>
              </c:pt>
              <c:pt idx="19">
                <c:v>-0.224342</c:v>
              </c:pt>
              <c:pt idx="20">
                <c:v>-0.727864</c:v>
              </c:pt>
              <c:pt idx="21">
                <c:v>-0.051989</c:v>
              </c:pt>
              <c:pt idx="22">
                <c:v>-1.020888</c:v>
              </c:pt>
              <c:pt idx="23">
                <c:v>0.504533</c:v>
              </c:pt>
              <c:pt idx="24">
                <c:v>-0.142917</c:v>
              </c:pt>
              <c:pt idx="25">
                <c:v>0.120616</c:v>
              </c:pt>
              <c:pt idx="26">
                <c:v>-0.161109</c:v>
              </c:pt>
              <c:pt idx="27">
                <c:v>0.549847</c:v>
              </c:pt>
              <c:pt idx="28">
                <c:v>-0.377124</c:v>
              </c:pt>
              <c:pt idx="29">
                <c:v>-0.2352</c:v>
              </c:pt>
              <c:pt idx="30">
                <c:v>-1.668056</c:v>
              </c:pt>
              <c:pt idx="31">
                <c:v>-0.307283</c:v>
              </c:pt>
              <c:pt idx="32">
                <c:v>0.613796</c:v>
              </c:pt>
              <c:pt idx="33">
                <c:v>0.780404</c:v>
              </c:pt>
              <c:pt idx="34">
                <c:v>1.130832</c:v>
              </c:pt>
              <c:pt idx="35">
                <c:v>1.226219</c:v>
              </c:pt>
              <c:pt idx="36">
                <c:v>2.230704</c:v>
              </c:pt>
              <c:pt idx="37">
                <c:v>2.112629</c:v>
              </c:pt>
              <c:pt idx="38">
                <c:v>-0.013101</c:v>
              </c:pt>
              <c:pt idx="39">
                <c:v>1.009634</c:v>
              </c:pt>
              <c:pt idx="40">
                <c:v>0.186001</c:v>
              </c:pt>
              <c:pt idx="41">
                <c:v>-0.277091</c:v>
              </c:pt>
              <c:pt idx="42">
                <c:v>0.662209</c:v>
              </c:pt>
              <c:pt idx="43">
                <c:v>1.303807</c:v>
              </c:pt>
              <c:pt idx="44">
                <c:v>1.141296</c:v>
              </c:pt>
              <c:pt idx="45">
                <c:v>-0.63783</c:v>
              </c:pt>
              <c:pt idx="46">
                <c:v>-0.410707</c:v>
              </c:pt>
              <c:pt idx="47">
                <c:v>0.076815</c:v>
              </c:pt>
              <c:pt idx="48">
                <c:v>0.222679</c:v>
              </c:pt>
              <c:pt idx="49">
                <c:v>0.273338</c:v>
              </c:pt>
              <c:pt idx="50">
                <c:v>0.941804</c:v>
              </c:pt>
              <c:pt idx="51">
                <c:v>-1.572288</c:v>
              </c:pt>
              <c:pt idx="52">
                <c:v>0.369959</c:v>
              </c:pt>
              <c:pt idx="53">
                <c:v>-0.945094</c:v>
              </c:pt>
              <c:pt idx="54">
                <c:v>-1.133268</c:v>
              </c:pt>
              <c:pt idx="55">
                <c:v>0.219075</c:v>
              </c:pt>
              <c:pt idx="56">
                <c:v>0.028555</c:v>
              </c:pt>
              <c:pt idx="57">
                <c:v>0.813782</c:v>
              </c:pt>
              <c:pt idx="58">
                <c:v>0.283186</c:v>
              </c:pt>
              <c:pt idx="59">
                <c:v>-0.908656</c:v>
              </c:pt>
              <c:pt idx="60">
                <c:v>0.057258</c:v>
              </c:pt>
              <c:pt idx="61">
                <c:v>-0.215737</c:v>
              </c:pt>
              <c:pt idx="62">
                <c:v>0.584788</c:v>
              </c:pt>
              <c:pt idx="63">
                <c:v>-1.12573</c:v>
              </c:pt>
              <c:pt idx="64">
                <c:v>0.984108</c:v>
              </c:pt>
              <c:pt idx="65">
                <c:v>0.425171</c:v>
              </c:pt>
              <c:pt idx="66">
                <c:v>-0.8201</c:v>
              </c:pt>
              <c:pt idx="67">
                <c:v>1.317465</c:v>
              </c:pt>
              <c:pt idx="68">
                <c:v>-0.633456</c:v>
              </c:pt>
              <c:pt idx="69">
                <c:v>-0.407901</c:v>
              </c:pt>
              <c:pt idx="70">
                <c:v>1.197913</c:v>
              </c:pt>
              <c:pt idx="71">
                <c:v>0.286897</c:v>
              </c:pt>
              <c:pt idx="72">
                <c:v>0.870457</c:v>
              </c:pt>
              <c:pt idx="73">
                <c:v>1.408735</c:v>
              </c:pt>
              <c:pt idx="74">
                <c:v>-1.675171</c:v>
              </c:pt>
              <c:pt idx="75">
                <c:v>0.255864</c:v>
              </c:pt>
              <c:pt idx="76">
                <c:v>0.508106</c:v>
              </c:pt>
              <c:pt idx="77">
                <c:v>-1.313651</c:v>
              </c:pt>
              <c:pt idx="78">
                <c:v>-0.990097</c:v>
              </c:pt>
              <c:pt idx="79">
                <c:v>-0.568813</c:v>
              </c:pt>
              <c:pt idx="80">
                <c:v>1.526273</c:v>
              </c:pt>
              <c:pt idx="81">
                <c:v>0.972972</c:v>
              </c:pt>
              <c:pt idx="82">
                <c:v>-0.836034</c:v>
              </c:pt>
              <c:pt idx="83">
                <c:v>-1.078385</c:v>
              </c:pt>
              <c:pt idx="84">
                <c:v>0.685447</c:v>
              </c:pt>
              <c:pt idx="85">
                <c:v>-0.164052</c:v>
              </c:pt>
              <c:pt idx="86">
                <c:v>-0.752642</c:v>
              </c:pt>
              <c:pt idx="87">
                <c:v>-0.472211</c:v>
              </c:pt>
              <c:pt idx="88">
                <c:v>1.601215</c:v>
              </c:pt>
              <c:pt idx="89">
                <c:v>0.214002</c:v>
              </c:pt>
              <c:pt idx="90">
                <c:v>-0.278752</c:v>
              </c:pt>
              <c:pt idx="91">
                <c:v>1.234263</c:v>
              </c:pt>
              <c:pt idx="92">
                <c:v>1.92473</c:v>
              </c:pt>
              <c:pt idx="93">
                <c:v>0.843673</c:v>
              </c:pt>
              <c:pt idx="94">
                <c:v>-2.034829</c:v>
              </c:pt>
              <c:pt idx="95">
                <c:v>-0.478459</c:v>
              </c:pt>
              <c:pt idx="96">
                <c:v>-0.814649</c:v>
              </c:pt>
              <c:pt idx="97">
                <c:v>0.127463</c:v>
              </c:pt>
              <c:pt idx="98">
                <c:v>-0.459837</c:v>
              </c:pt>
              <c:pt idx="99">
                <c:v>0.390206</c:v>
              </c:pt>
              <c:pt idx="100">
                <c:v>-1.20313</c:v>
              </c:pt>
              <c:pt idx="101">
                <c:v>1.283847</c:v>
              </c:pt>
              <c:pt idx="102">
                <c:v>2.424427</c:v>
              </c:pt>
              <c:pt idx="103">
                <c:v>2.189515</c:v>
              </c:pt>
              <c:pt idx="104">
                <c:v>-0.028805</c:v>
              </c:pt>
              <c:pt idx="105">
                <c:v>0.73606</c:v>
              </c:pt>
              <c:pt idx="106">
                <c:v>1.549079</c:v>
              </c:pt>
              <c:pt idx="107">
                <c:v>0.067017</c:v>
              </c:pt>
              <c:pt idx="108">
                <c:v>1.281344</c:v>
              </c:pt>
              <c:pt idx="109">
                <c:v>-0.170186</c:v>
              </c:pt>
              <c:pt idx="110">
                <c:v>-1.016311</c:v>
              </c:pt>
              <c:pt idx="111">
                <c:v>-0.443433</c:v>
              </c:pt>
              <c:pt idx="112">
                <c:v>-0.373239</c:v>
              </c:pt>
              <c:pt idx="113">
                <c:v>0.010513</c:v>
              </c:pt>
              <c:pt idx="114">
                <c:v>-1.690876</c:v>
              </c:pt>
              <c:pt idx="115">
                <c:v>-0.03426</c:v>
              </c:pt>
              <c:pt idx="116">
                <c:v>-0.509897</c:v>
              </c:pt>
              <c:pt idx="117">
                <c:v>-1.226315</c:v>
              </c:pt>
              <c:pt idx="118">
                <c:v>0.710369</c:v>
              </c:pt>
              <c:pt idx="119">
                <c:v>0.113212</c:v>
              </c:pt>
              <c:pt idx="120">
                <c:v>0.449654</c:v>
              </c:pt>
              <c:pt idx="121">
                <c:v>0.122708</c:v>
              </c:pt>
              <c:pt idx="122">
                <c:v>-0.033254</c:v>
              </c:pt>
              <c:pt idx="123">
                <c:v>-0.854602</c:v>
              </c:pt>
              <c:pt idx="124">
                <c:v>-1.096321</c:v>
              </c:pt>
              <c:pt idx="125">
                <c:v>-0.791231</c:v>
              </c:pt>
              <c:pt idx="126">
                <c:v>-1.215564</c:v>
              </c:pt>
              <c:pt idx="127">
                <c:v>-0.552292</c:v>
              </c:pt>
              <c:pt idx="128">
                <c:v>-0.997034</c:v>
              </c:pt>
              <c:pt idx="129">
                <c:v>0.382873</c:v>
              </c:pt>
              <c:pt idx="130">
                <c:v>-0.776463</c:v>
              </c:pt>
              <c:pt idx="131">
                <c:v>-0.251258</c:v>
              </c:pt>
              <c:pt idx="132">
                <c:v>-0.665515</c:v>
              </c:pt>
              <c:pt idx="133">
                <c:v>0.565422</c:v>
              </c:pt>
              <c:pt idx="134">
                <c:v>-0.552297</c:v>
              </c:pt>
              <c:pt idx="135">
                <c:v>2.221928</c:v>
              </c:pt>
              <c:pt idx="136">
                <c:v>0.493764</c:v>
              </c:pt>
              <c:pt idx="137">
                <c:v>0.408449</c:v>
              </c:pt>
              <c:pt idx="138">
                <c:v>0.500988</c:v>
              </c:pt>
              <c:pt idx="139">
                <c:v>0.04588</c:v>
              </c:pt>
              <c:pt idx="140">
                <c:v>0.467626</c:v>
              </c:pt>
              <c:pt idx="141">
                <c:v>1.081339</c:v>
              </c:pt>
              <c:pt idx="142">
                <c:v>0.089481</c:v>
              </c:pt>
              <c:pt idx="143">
                <c:v>0.249266</c:v>
              </c:pt>
              <c:pt idx="144">
                <c:v>0.311052</c:v>
              </c:pt>
              <c:pt idx="145">
                <c:v>-0.379915</c:v>
              </c:pt>
              <c:pt idx="146">
                <c:v>-0.773705</c:v>
              </c:pt>
              <c:pt idx="147">
                <c:v>1.450531</c:v>
              </c:pt>
              <c:pt idx="148">
                <c:v>-0.501182</c:v>
              </c:pt>
              <c:pt idx="149">
                <c:v>-0.691778</c:v>
              </c:pt>
              <c:pt idx="150">
                <c:v>-0.311987</c:v>
              </c:pt>
              <c:pt idx="151">
                <c:v>-1.4942</c:v>
              </c:pt>
              <c:pt idx="152">
                <c:v>0.739239</c:v>
              </c:pt>
              <c:pt idx="153">
                <c:v>1.432132</c:v>
              </c:pt>
              <c:pt idx="154">
                <c:v>-0.721068</c:v>
              </c:pt>
              <c:pt idx="155">
                <c:v>0.209718</c:v>
              </c:pt>
              <c:pt idx="156">
                <c:v>-0.535907</c:v>
              </c:pt>
              <c:pt idx="157">
                <c:v>1.769635</c:v>
              </c:pt>
              <c:pt idx="158">
                <c:v>1.354479</c:v>
              </c:pt>
              <c:pt idx="159">
                <c:v>0.21633</c:v>
              </c:pt>
              <c:pt idx="160">
                <c:v>0.100431</c:v>
              </c:pt>
              <c:pt idx="161">
                <c:v>-0.137746</c:v>
              </c:pt>
              <c:pt idx="162">
                <c:v>-0.314014</c:v>
              </c:pt>
              <c:pt idx="163">
                <c:v>-0.224873</c:v>
              </c:pt>
              <c:pt idx="164">
                <c:v>-0.983698</c:v>
              </c:pt>
              <c:pt idx="165">
                <c:v>1.766961</c:v>
              </c:pt>
              <c:pt idx="166">
                <c:v>-0.197007</c:v>
              </c:pt>
              <c:pt idx="167">
                <c:v>1.622803</c:v>
              </c:pt>
              <c:pt idx="168">
                <c:v>-0.101622</c:v>
              </c:pt>
              <c:pt idx="169">
                <c:v>0.125381</c:v>
              </c:pt>
              <c:pt idx="170">
                <c:v>0.837147</c:v>
              </c:pt>
              <c:pt idx="171">
                <c:v>0.076562</c:v>
              </c:pt>
              <c:pt idx="172">
                <c:v>1.477819</c:v>
              </c:pt>
              <c:pt idx="173">
                <c:v>-0.111524</c:v>
              </c:pt>
              <c:pt idx="174">
                <c:v>1.988519</c:v>
              </c:pt>
              <c:pt idx="175">
                <c:v>-0.64339</c:v>
              </c:pt>
              <c:pt idx="176">
                <c:v>0.765569</c:v>
              </c:pt>
              <c:pt idx="177">
                <c:v>2.098938</c:v>
              </c:pt>
              <c:pt idx="178">
                <c:v>0.123359</c:v>
              </c:pt>
              <c:pt idx="179">
                <c:v>0.442992</c:v>
              </c:pt>
            </c:numLit>
          </c:xVal>
          <c:yVal>
            <c:numLit>
              <c:formatCode>0.0</c:formatCode>
              <c:ptCount val="180"/>
              <c:pt idx="0">
                <c:v>-1.207679</c:v>
              </c:pt>
              <c:pt idx="1">
                <c:v>0.064766</c:v>
              </c:pt>
              <c:pt idx="2">
                <c:v>-1.570259</c:v>
              </c:pt>
              <c:pt idx="3">
                <c:v>1.384693</c:v>
              </c:pt>
              <c:pt idx="4">
                <c:v>0.135435</c:v>
              </c:pt>
              <c:pt idx="5">
                <c:v>0.396892</c:v>
              </c:pt>
              <c:pt idx="6">
                <c:v>-0.730289</c:v>
              </c:pt>
              <c:pt idx="7">
                <c:v>-0.825686</c:v>
              </c:pt>
              <c:pt idx="8">
                <c:v>1.674796</c:v>
              </c:pt>
              <c:pt idx="9">
                <c:v>-1.352148</c:v>
              </c:pt>
              <c:pt idx="10">
                <c:v>0.42007</c:v>
              </c:pt>
              <c:pt idx="11">
                <c:v>-0.184197</c:v>
              </c:pt>
              <c:pt idx="12">
                <c:v>0.28811</c:v>
              </c:pt>
              <c:pt idx="13">
                <c:v>1.246442</c:v>
              </c:pt>
              <c:pt idx="14">
                <c:v>-0.09393</c:v>
              </c:pt>
              <c:pt idx="15">
                <c:v>1.246966</c:v>
              </c:pt>
              <c:pt idx="16">
                <c:v>0.795496</c:v>
              </c:pt>
              <c:pt idx="17">
                <c:v>-1.356663</c:v>
              </c:pt>
              <c:pt idx="18">
                <c:v>-0.769399</c:v>
              </c:pt>
              <c:pt idx="19">
                <c:v>0.947518</c:v>
              </c:pt>
              <c:pt idx="20">
                <c:v>-0.892739</c:v>
              </c:pt>
              <c:pt idx="21">
                <c:v>0.225308</c:v>
              </c:pt>
              <c:pt idx="22">
                <c:v>-1.247125</c:v>
              </c:pt>
              <c:pt idx="23">
                <c:v>1.434449</c:v>
              </c:pt>
              <c:pt idx="24">
                <c:v>0.054992</c:v>
              </c:pt>
              <c:pt idx="25">
                <c:v>0.813956</c:v>
              </c:pt>
              <c:pt idx="26">
                <c:v>-0.488947</c:v>
              </c:pt>
              <c:pt idx="27">
                <c:v>0.348582</c:v>
              </c:pt>
              <c:pt idx="28">
                <c:v>-1.215141</c:v>
              </c:pt>
              <c:pt idx="29">
                <c:v>-0.499056</c:v>
              </c:pt>
              <c:pt idx="30">
                <c:v>-0.974715</c:v>
              </c:pt>
              <c:pt idx="31">
                <c:v>0.302907</c:v>
              </c:pt>
              <c:pt idx="32">
                <c:v>1.292589</c:v>
              </c:pt>
              <c:pt idx="33">
                <c:v>-0.220465</c:v>
              </c:pt>
              <c:pt idx="34">
                <c:v>1.463912</c:v>
              </c:pt>
              <c:pt idx="35">
                <c:v>1.979694</c:v>
              </c:pt>
              <c:pt idx="36">
                <c:v>2.466763</c:v>
              </c:pt>
              <c:pt idx="37">
                <c:v>1.685241</c:v>
              </c:pt>
              <c:pt idx="38">
                <c:v>0.787442</c:v>
              </c:pt>
              <c:pt idx="39">
                <c:v>0.790908</c:v>
              </c:pt>
              <c:pt idx="40">
                <c:v>0.820316</c:v>
              </c:pt>
              <c:pt idx="41">
                <c:v>-0.618638</c:v>
              </c:pt>
              <c:pt idx="42">
                <c:v>0.308311</c:v>
              </c:pt>
              <c:pt idx="43">
                <c:v>0.703703</c:v>
              </c:pt>
              <c:pt idx="44">
                <c:v>-0.524314</c:v>
              </c:pt>
              <c:pt idx="45">
                <c:v>-0.138807</c:v>
              </c:pt>
              <c:pt idx="46">
                <c:v>-0.491427</c:v>
              </c:pt>
              <c:pt idx="47">
                <c:v>-0.972111</c:v>
              </c:pt>
              <c:pt idx="48">
                <c:v>-0.006774</c:v>
              </c:pt>
              <c:pt idx="49">
                <c:v>-0.189362</c:v>
              </c:pt>
              <c:pt idx="50">
                <c:v>1.509903</c:v>
              </c:pt>
              <c:pt idx="51">
                <c:v>-1.250143</c:v>
              </c:pt>
              <c:pt idx="52">
                <c:v>0.631667</c:v>
              </c:pt>
              <c:pt idx="53">
                <c:v>-1.688817</c:v>
              </c:pt>
              <c:pt idx="54">
                <c:v>-0.694026</c:v>
              </c:pt>
              <c:pt idx="55">
                <c:v>-1.48701</c:v>
              </c:pt>
              <c:pt idx="56">
                <c:v>-0.19868</c:v>
              </c:pt>
              <c:pt idx="57">
                <c:v>1.791275</c:v>
              </c:pt>
              <c:pt idx="58">
                <c:v>-1.243</c:v>
              </c:pt>
              <c:pt idx="59">
                <c:v>-0.898429</c:v>
              </c:pt>
              <c:pt idx="60">
                <c:v>-0.629558</c:v>
              </c:pt>
              <c:pt idx="61">
                <c:v>-0.616208</c:v>
              </c:pt>
              <c:pt idx="62">
                <c:v>1.007541</c:v>
              </c:pt>
              <c:pt idx="63">
                <c:v>-1.460317</c:v>
              </c:pt>
              <c:pt idx="64">
                <c:v>0.975727</c:v>
              </c:pt>
              <c:pt idx="65">
                <c:v>1.366773</c:v>
              </c:pt>
              <c:pt idx="66">
                <c:v>-0.681053</c:v>
              </c:pt>
              <c:pt idx="67">
                <c:v>0.993109</c:v>
              </c:pt>
              <c:pt idx="68">
                <c:v>-0.330262</c:v>
              </c:pt>
              <c:pt idx="69">
                <c:v>-0.430713</c:v>
              </c:pt>
              <c:pt idx="70">
                <c:v>1.293828</c:v>
              </c:pt>
              <c:pt idx="71">
                <c:v>0.024272</c:v>
              </c:pt>
              <c:pt idx="72">
                <c:v>0.659677</c:v>
              </c:pt>
              <c:pt idx="73">
                <c:v>-0.33779</c:v>
              </c:pt>
              <c:pt idx="74">
                <c:v>-1.213409</c:v>
              </c:pt>
              <c:pt idx="75">
                <c:v>0.165688</c:v>
              </c:pt>
              <c:pt idx="76">
                <c:v>-0.676667</c:v>
              </c:pt>
              <c:pt idx="77">
                <c:v>-1.544757</c:v>
              </c:pt>
              <c:pt idx="78">
                <c:v>-0.774826</c:v>
              </c:pt>
              <c:pt idx="79">
                <c:v>0.367864</c:v>
              </c:pt>
              <c:pt idx="80">
                <c:v>1.048536</c:v>
              </c:pt>
              <c:pt idx="81">
                <c:v>0.738652</c:v>
              </c:pt>
              <c:pt idx="82">
                <c:v>-0.476053</c:v>
              </c:pt>
              <c:pt idx="83">
                <c:v>0.162373</c:v>
              </c:pt>
              <c:pt idx="84">
                <c:v>0.658103</c:v>
              </c:pt>
              <c:pt idx="85">
                <c:v>-0.06447</c:v>
              </c:pt>
              <c:pt idx="86">
                <c:v>-0.410943</c:v>
              </c:pt>
              <c:pt idx="87">
                <c:v>-0.346004</c:v>
              </c:pt>
              <c:pt idx="88">
                <c:v>0.868093</c:v>
              </c:pt>
              <c:pt idx="89">
                <c:v>-0.886069</c:v>
              </c:pt>
              <c:pt idx="90">
                <c:v>-0.770308</c:v>
              </c:pt>
              <c:pt idx="91">
                <c:v>1.698136</c:v>
              </c:pt>
              <c:pt idx="92">
                <c:v>2.326309</c:v>
              </c:pt>
              <c:pt idx="93">
                <c:v>-0.686001</c:v>
              </c:pt>
              <c:pt idx="94">
                <c:v>-2.132552</c:v>
              </c:pt>
              <c:pt idx="95">
                <c:v>-0.200536</c:v>
              </c:pt>
              <c:pt idx="96">
                <c:v>-0.419482</c:v>
              </c:pt>
              <c:pt idx="97">
                <c:v>0.280446</c:v>
              </c:pt>
              <c:pt idx="98">
                <c:v>-0.891222</c:v>
              </c:pt>
              <c:pt idx="99">
                <c:v>-1.617071</c:v>
              </c:pt>
              <c:pt idx="100">
                <c:v>-1.210563</c:v>
              </c:pt>
              <c:pt idx="101">
                <c:v>0.629868</c:v>
              </c:pt>
              <c:pt idx="102">
                <c:v>1.536184</c:v>
              </c:pt>
              <c:pt idx="103">
                <c:v>2.328331</c:v>
              </c:pt>
              <c:pt idx="104">
                <c:v>0.66004</c:v>
              </c:pt>
              <c:pt idx="105">
                <c:v>1.364959</c:v>
              </c:pt>
              <c:pt idx="106">
                <c:v>0.828327</c:v>
              </c:pt>
              <c:pt idx="107">
                <c:v>0.42019</c:v>
              </c:pt>
              <c:pt idx="108">
                <c:v>-0.411046</c:v>
              </c:pt>
              <c:pt idx="109">
                <c:v>-0.282025</c:v>
              </c:pt>
              <c:pt idx="110">
                <c:v>-0.16105</c:v>
              </c:pt>
              <c:pt idx="111">
                <c:v>-0.921979</c:v>
              </c:pt>
              <c:pt idx="112">
                <c:v>0.160909</c:v>
              </c:pt>
              <c:pt idx="113">
                <c:v>-0.084663</c:v>
              </c:pt>
              <c:pt idx="114">
                <c:v>-1.133058</c:v>
              </c:pt>
              <c:pt idx="115">
                <c:v>-1.456001</c:v>
              </c:pt>
              <c:pt idx="116">
                <c:v>0.364198</c:v>
              </c:pt>
              <c:pt idx="117">
                <c:v>0.321771</c:v>
              </c:pt>
              <c:pt idx="118">
                <c:v>-0.090161</c:v>
              </c:pt>
              <c:pt idx="119">
                <c:v>-0.974607</c:v>
              </c:pt>
              <c:pt idx="120">
                <c:v>0.958443</c:v>
              </c:pt>
              <c:pt idx="121">
                <c:v>0.812339</c:v>
              </c:pt>
              <c:pt idx="122">
                <c:v>0.347138</c:v>
              </c:pt>
              <c:pt idx="123">
                <c:v>-1.729596</c:v>
              </c:pt>
              <c:pt idx="124">
                <c:v>-0.41609</c:v>
              </c:pt>
              <c:pt idx="125">
                <c:v>-1.124611</c:v>
              </c:pt>
              <c:pt idx="126">
                <c:v>-1.424591</c:v>
              </c:pt>
              <c:pt idx="127">
                <c:v>-0.227873</c:v>
              </c:pt>
              <c:pt idx="128">
                <c:v>0.009425</c:v>
              </c:pt>
              <c:pt idx="129">
                <c:v>0.294201</c:v>
              </c:pt>
              <c:pt idx="130">
                <c:v>-0.954002</c:v>
              </c:pt>
              <c:pt idx="131">
                <c:v>-0.643453</c:v>
              </c:pt>
              <c:pt idx="132">
                <c:v>-0.620035</c:v>
              </c:pt>
              <c:pt idx="133">
                <c:v>-0.119723</c:v>
              </c:pt>
              <c:pt idx="134">
                <c:v>-0.141193</c:v>
              </c:pt>
              <c:pt idx="135">
                <c:v>1.947863</c:v>
              </c:pt>
              <c:pt idx="136">
                <c:v>-0.17544</c:v>
              </c:pt>
              <c:pt idx="137">
                <c:v>0.229376</c:v>
              </c:pt>
              <c:pt idx="138">
                <c:v>0.110527</c:v>
              </c:pt>
              <c:pt idx="139">
                <c:v>0.759531</c:v>
              </c:pt>
              <c:pt idx="140">
                <c:v>-0.362518</c:v>
              </c:pt>
              <c:pt idx="141">
                <c:v>0.652581</c:v>
              </c:pt>
              <c:pt idx="142">
                <c:v>0.086383</c:v>
              </c:pt>
              <c:pt idx="143">
                <c:v>0.589134</c:v>
              </c:pt>
              <c:pt idx="144">
                <c:v>-1.418022</c:v>
              </c:pt>
              <c:pt idx="145">
                <c:v>0.59242</c:v>
              </c:pt>
              <c:pt idx="146">
                <c:v>-0.133603</c:v>
              </c:pt>
              <c:pt idx="147">
                <c:v>0.658893</c:v>
              </c:pt>
              <c:pt idx="148">
                <c:v>-0.279656</c:v>
              </c:pt>
              <c:pt idx="149">
                <c:v>-1.264674</c:v>
              </c:pt>
              <c:pt idx="150">
                <c:v>0.129999</c:v>
              </c:pt>
              <c:pt idx="151">
                <c:v>-2.310391</c:v>
              </c:pt>
              <c:pt idx="152">
                <c:v>0.244633</c:v>
              </c:pt>
              <c:pt idx="153">
                <c:v>1.75186</c:v>
              </c:pt>
              <c:pt idx="154">
                <c:v>-0.397619</c:v>
              </c:pt>
              <c:pt idx="155">
                <c:v>0.991293</c:v>
              </c:pt>
              <c:pt idx="156">
                <c:v>0.065839</c:v>
              </c:pt>
              <c:pt idx="157">
                <c:v>1.603367</c:v>
              </c:pt>
              <c:pt idx="158">
                <c:v>1.340417</c:v>
              </c:pt>
              <c:pt idx="159">
                <c:v>0.856541</c:v>
              </c:pt>
              <c:pt idx="160">
                <c:v>0.368811</c:v>
              </c:pt>
              <c:pt idx="161">
                <c:v>-0.379281</c:v>
              </c:pt>
              <c:pt idx="162">
                <c:v>-0.384054</c:v>
              </c:pt>
              <c:pt idx="163">
                <c:v>1.005433</c:v>
              </c:pt>
              <c:pt idx="164">
                <c:v>-0.75666</c:v>
              </c:pt>
              <c:pt idx="165">
                <c:v>0.951366</c:v>
              </c:pt>
              <c:pt idx="166">
                <c:v>-0.220448</c:v>
              </c:pt>
              <c:pt idx="167">
                <c:v>0.511093</c:v>
              </c:pt>
              <c:pt idx="168">
                <c:v>0.096636</c:v>
              </c:pt>
              <c:pt idx="169">
                <c:v>-0.448288</c:v>
              </c:pt>
              <c:pt idx="170">
                <c:v>1.480219</c:v>
              </c:pt>
              <c:pt idx="171">
                <c:v>-0.126432</c:v>
              </c:pt>
              <c:pt idx="172">
                <c:v>0.530964</c:v>
              </c:pt>
              <c:pt idx="173">
                <c:v>0.840949</c:v>
              </c:pt>
              <c:pt idx="174">
                <c:v>0.947136</c:v>
              </c:pt>
              <c:pt idx="175">
                <c:v>-0.735994</c:v>
              </c:pt>
              <c:pt idx="176">
                <c:v>0.166476</c:v>
              </c:pt>
              <c:pt idx="177">
                <c:v>1.400589</c:v>
              </c:pt>
              <c:pt idx="178">
                <c:v>1.668163</c:v>
              </c:pt>
              <c:pt idx="179">
                <c:v>0.332434</c:v>
              </c:pt>
            </c:numLit>
          </c:yVal>
        </c:ser>
        <c:axId val="48650112"/>
        <c:axId val="48672768"/>
      </c:scatterChart>
      <c:valAx>
        <c:axId val="48672768"/>
        <c:scaling>
          <c:orientation val="minMax"/>
          <c:max val="4"/>
          <c:min val="-4"/>
        </c:scaling>
        <c:delete val="0"/>
        <c:axPos val="l"/>
        <c:majorGridlines>
          <c:spPr>
            <a:ln xmlns:a="http://schemas.openxmlformats.org/drawingml/2006/main" w="9525">
              <a:solidFill>
                <a:srgbClr val="E0E0E0"/>
              </a:solidFill>
            </a:ln>
          </c:spPr>
        </c:majorGridlines>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置換する特徴 X₂</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50112"/>
      </c:valAx>
      <c:valAx>
        <c:axId val="48650112"/>
        <c:scaling>
          <c:orientation val="minMax"/>
          <c:max val="4"/>
          <c:min val="-4"/>
        </c:scaling>
        <c:delete val="0"/>
        <c:axPos val="b"/>
        <c:majorGridlines>
          <c:spPr>
            <a:ln xmlns:a="http://schemas.openxmlformats.org/drawingml/2006/main" w="9525">
              <a:solidFill>
                <a:srgbClr val="E0E0E0"/>
              </a:solidFill>
            </a:ln>
          </c:spPr>
        </c:majorGridlines>
        <c:title>
          <c:tx>
            <c:rich>
              <a:bodyPr xmlns:a="http://schemas.openxmlformats.org/drawingml/2006/main"/>
              <a:lstStyle xmlns:a="http://schemas.openxmlformats.org/drawingml/2006/main"/>
              <a:p xmlns:a="http://schemas.openxmlformats.org/drawingml/2006/main">
                <a:r>
                  <a:rPr sz="1350">
                    <a:latin typeface="Noto Sans JP"/>
                    <a:ea typeface="Noto Sans JP"/>
                    <a:cs typeface="Noto Sans JP"/>
                  </a:rPr>
                  <a:t>残す特徴 X₁</a:t>
                </a:r>
              </a:p>
            </c:rich>
          </c:tx>
          <c:overlay val="0"/>
          <c:txPr>
            <a:bodyPr xmlns:a="http://schemas.openxmlformats.org/drawingml/2006/main" anchorCtr="1"/>
            <a:lstStyle xmlns:a="http://schemas.openxmlformats.org/drawingml/2006/main"/>
            <a:p xmlns:a="http://schemas.openxmlformats.org/drawingml/2006/main">
              <a:pPr>
                <a:defRPr sz="1350">
                  <a:latin typeface="Noto Sans JP"/>
                  <a:ea typeface="Noto Sans JP"/>
                  <a:cs typeface="Noto Sans JP"/>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Noto Sans JP"/>
                <a:ea typeface="Noto Sans JP"/>
                <a:cs typeface="Noto Sans JP"/>
              </a:defRPr>
            </a:pPr>
          </a:p>
        </c:txPr>
        <c:crossAx val="48672768"/>
      </c:valAx>
      <c:spPr>
        <a:solidFill xmlns:a="http://schemas.openxmlformats.org/drawingml/2006/main">
          <a:srgbClr val="F6F6F6"/>
        </a:solidFill>
      </c:spPr>
    </c:plotArea>
    <c:plotVisOnly val="1"/>
  </c:chart>
  <c:spPr>
    <a:solidFill xmlns:a="http://schemas.openxmlformats.org/drawingml/2006/main">
      <a:srgbClr val="FFFFFF"/>
    </a:solidFill>
  </c:spPr>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431D0C0-1D00-4D2F-8446-6DA76AA29730}"/>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今回の進捗と発表の流れ</a:t>
            </a:r>
          </a:p>
        </p:txBody>
      </p:sp>
      <p:sp>
        <p:nvSpPr>
          <p:cNvPr id="2" name="">
            <a:extLst xmlns:a="http://schemas.openxmlformats.org/drawingml/2006/main">
              <a:ext uri="{FF2B5EF4-FFF2-40B4-BE49-F238E27FC236}">
                <a16:creationId xmlns:a16="http://schemas.microsoft.com/office/drawing/2014/main" id="{8D48F942-F1C7-437A-AD49-AB34A6C33275}"/>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58B4B2A-5504-446E-A844-97E23585B567}"/>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前回決めた問題設定に対し、データ拡張の生成方法を具体化する。</a:t>
            </a:r>
          </a:p>
        </p:txBody>
      </p:sp>
      <p:sp>
        <p:nvSpPr>
          <p:cNvPr id="4" name="">
            <a:extLst xmlns:a="http://schemas.openxmlformats.org/drawingml/2006/main">
              <a:ext uri="{FF2B5EF4-FFF2-40B4-BE49-F238E27FC236}">
                <a16:creationId xmlns:a16="http://schemas.microsoft.com/office/drawing/2014/main" id="{8E93C285-2857-4762-B3E3-F973F98995EE}"/>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研究の位置づけ</a:t>
            </a:r>
          </a:p>
        </p:txBody>
      </p:sp>
      <p:sp>
        <p:nvSpPr>
          <p:cNvPr id="5" name="">
            <a:extLst xmlns:a="http://schemas.openxmlformats.org/drawingml/2006/main">
              <a:ext uri="{FF2B5EF4-FFF2-40B4-BE49-F238E27FC236}">
                <a16:creationId xmlns:a16="http://schemas.microsoft.com/office/drawing/2014/main" id="{0AE93446-CE11-4CA0-BCA6-A3F623D60B5E}"/>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a:t>
            </a:r>
          </a:p>
        </p:txBody>
      </p:sp>
      <p:sp>
        <p:nvSpPr>
          <p:cNvPr id="6" name="">
            <a:extLst xmlns:a="http://schemas.openxmlformats.org/drawingml/2006/main">
              <a:ext uri="{FF2B5EF4-FFF2-40B4-BE49-F238E27FC236}">
                <a16:creationId xmlns:a16="http://schemas.microsoft.com/office/drawing/2014/main" id="{C0AA839D-7301-45ED-BAEF-A20E16D3C96A}"/>
              </a:ext>
            </a:extLst>
          </p:cNvPr>
          <p:cNvSpPr>
            <a:spLocks xmlns:a="http://schemas.openxmlformats.org/drawingml/2006/main" noGrp="1"/>
          </p:cNvSpPr>
          <p:nvPr/>
        </p:nvSpPr>
        <p:spPr>
          <a:xfrm xmlns:a="http://schemas.openxmlformats.org/drawingml/2006/main">
            <a:off x="552450" y="1933575"/>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7" name="">
            <a:extLst xmlns:a="http://schemas.openxmlformats.org/drawingml/2006/main">
              <a:ext uri="{FF2B5EF4-FFF2-40B4-BE49-F238E27FC236}">
                <a16:creationId xmlns:a16="http://schemas.microsoft.com/office/drawing/2014/main" id="{EAA88881-857E-4B01-83C4-E1F0C8E2006E}"/>
              </a:ext>
            </a:extLst>
          </p:cNvPr>
          <p:cNvSpPr>
            <a:spLocks xmlns:a="http://schemas.openxmlformats.org/drawingml/2006/main" noGrp="1"/>
          </p:cNvSpPr>
          <p:nvPr/>
        </p:nvSpPr>
        <p:spPr>
          <a:xfrm xmlns:a="http://schemas.openxmlformats.org/drawingml/2006/main">
            <a:off x="1257300" y="1933575"/>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具体例：列ごとの分布と、列どうしの関係を分ける</a:t>
            </a:r>
          </a:p>
        </p:txBody>
      </p:sp>
      <p:sp>
        <p:nvSpPr>
          <p:cNvPr id="8" name="">
            <a:extLst xmlns:a="http://schemas.openxmlformats.org/drawingml/2006/main">
              <a:ext uri="{FF2B5EF4-FFF2-40B4-BE49-F238E27FC236}">
                <a16:creationId xmlns:a16="http://schemas.microsoft.com/office/drawing/2014/main" id="{869CF355-2799-4E82-9854-B93410785143}"/>
              </a:ext>
            </a:extLst>
          </p:cNvPr>
          <p:cNvSpPr>
            <a:spLocks xmlns:a="http://schemas.openxmlformats.org/drawingml/2006/main" noGrp="1"/>
          </p:cNvSpPr>
          <p:nvPr/>
        </p:nvSpPr>
        <p:spPr>
          <a:xfrm xmlns:a="http://schemas.openxmlformats.org/drawingml/2006/main">
            <a:off x="552450" y="2755106"/>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9" name="">
            <a:extLst xmlns:a="http://schemas.openxmlformats.org/drawingml/2006/main">
              <a:ext uri="{FF2B5EF4-FFF2-40B4-BE49-F238E27FC236}">
                <a16:creationId xmlns:a16="http://schemas.microsoft.com/office/drawing/2014/main" id="{2A290035-9D32-49AA-98C3-6B9A1DF8AEDC}"/>
              </a:ext>
            </a:extLst>
          </p:cNvPr>
          <p:cNvSpPr>
            <a:spLocks xmlns:a="http://schemas.openxmlformats.org/drawingml/2006/main" noGrp="1"/>
          </p:cNvSpPr>
          <p:nvPr/>
        </p:nvSpPr>
        <p:spPr>
          <a:xfrm xmlns:a="http://schemas.openxmlformats.org/drawingml/2006/main">
            <a:off x="1257300" y="2755106"/>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定義と原理：累積確率・コピュラ・Sklarの定理</a:t>
            </a:r>
          </a:p>
        </p:txBody>
      </p:sp>
      <p:sp>
        <p:nvSpPr>
          <p:cNvPr id="10" name="">
            <a:extLst xmlns:a="http://schemas.openxmlformats.org/drawingml/2006/main">
              <a:ext uri="{FF2B5EF4-FFF2-40B4-BE49-F238E27FC236}">
                <a16:creationId xmlns:a16="http://schemas.microsoft.com/office/drawing/2014/main" id="{114F58AD-58D5-42C6-982C-7732B934C8FD}"/>
              </a:ext>
            </a:extLst>
          </p:cNvPr>
          <p:cNvSpPr>
            <a:spLocks xmlns:a="http://schemas.openxmlformats.org/drawingml/2006/main" noGrp="1"/>
          </p:cNvSpPr>
          <p:nvPr/>
        </p:nvSpPr>
        <p:spPr>
          <a:xfrm xmlns:a="http://schemas.openxmlformats.org/drawingml/2006/main">
            <a:off x="552450" y="3576638"/>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1" name="">
            <a:extLst xmlns:a="http://schemas.openxmlformats.org/drawingml/2006/main">
              <a:ext uri="{FF2B5EF4-FFF2-40B4-BE49-F238E27FC236}">
                <a16:creationId xmlns:a16="http://schemas.microsoft.com/office/drawing/2014/main" id="{7E24A166-E3E3-4E07-958E-BB08EBD97ECA}"/>
              </a:ext>
            </a:extLst>
          </p:cNvPr>
          <p:cNvSpPr>
            <a:spLocks xmlns:a="http://schemas.openxmlformats.org/drawingml/2006/main" noGrp="1"/>
          </p:cNvSpPr>
          <p:nvPr/>
        </p:nvSpPr>
        <p:spPr>
          <a:xfrm xmlns:a="http://schemas.openxmlformats.org/drawingml/2006/main">
            <a:off x="1257300" y="3576638"/>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提案への接続：条件付き生成で、VIMEの置換を変更</a:t>
            </a:r>
          </a:p>
        </p:txBody>
      </p:sp>
      <p:sp>
        <p:nvSpPr>
          <p:cNvPr id="12" name="">
            <a:extLst xmlns:a="http://schemas.openxmlformats.org/drawingml/2006/main">
              <a:ext uri="{FF2B5EF4-FFF2-40B4-BE49-F238E27FC236}">
                <a16:creationId xmlns:a16="http://schemas.microsoft.com/office/drawing/2014/main" id="{1037F253-5873-4910-90EE-8E59689CDD83}"/>
              </a:ext>
            </a:extLst>
          </p:cNvPr>
          <p:cNvSpPr>
            <a:spLocks xmlns:a="http://schemas.openxmlformats.org/drawingml/2006/main" noGrp="1"/>
          </p:cNvSpPr>
          <p:nvPr/>
        </p:nvSpPr>
        <p:spPr>
          <a:xfrm xmlns:a="http://schemas.openxmlformats.org/drawingml/2006/main">
            <a:off x="552450" y="4398169"/>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4</a:t>
            </a:r>
          </a:p>
        </p:txBody>
      </p:sp>
      <p:sp>
        <p:nvSpPr>
          <p:cNvPr id="13" name="">
            <a:extLst xmlns:a="http://schemas.openxmlformats.org/drawingml/2006/main">
              <a:ext uri="{FF2B5EF4-FFF2-40B4-BE49-F238E27FC236}">
                <a16:creationId xmlns:a16="http://schemas.microsoft.com/office/drawing/2014/main" id="{0D382859-46EC-404C-8C5D-31E322B83159}"/>
              </a:ext>
            </a:extLst>
          </p:cNvPr>
          <p:cNvSpPr>
            <a:spLocks xmlns:a="http://schemas.openxmlformats.org/drawingml/2006/main" noGrp="1"/>
          </p:cNvSpPr>
          <p:nvPr/>
        </p:nvSpPr>
        <p:spPr>
          <a:xfrm xmlns:a="http://schemas.openxmlformats.org/drawingml/2006/main">
            <a:off x="1257300" y="4398169"/>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現在の実装・探索的結果と、これから検証すること</a:t>
            </a:r>
          </a:p>
        </p:txBody>
      </p:sp>
      <p:sp>
        <p:nvSpPr>
          <p:cNvPr id="14" name="">
            <a:extLst xmlns:a="http://schemas.openxmlformats.org/drawingml/2006/main">
              <a:ext uri="{FF2B5EF4-FFF2-40B4-BE49-F238E27FC236}">
                <a16:creationId xmlns:a16="http://schemas.microsoft.com/office/drawing/2014/main" id="{365EC615-2DA8-42B4-A663-1A2F85F8166D}"/>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1A508033-36BA-4F48-9A83-7663352B9855}"/>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本日の中心：コピュラを使う理由と、生成の手順を理解する</a:t>
            </a:r>
          </a:p>
        </p:txBody>
      </p:sp>
    </p:spTree>
    <p:extLst>
      <p:ext uri="{BB962C8B-B14F-4D97-AF65-F5344CB8AC3E}">
        <p14:creationId xmlns:p14="http://schemas.microsoft.com/office/powerpoint/2010/main" val="119929664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F8458589-90F6-4548-9739-DDD0A96284A3}"/>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本研究で変えたい部分</a:t>
            </a:r>
          </a:p>
        </p:txBody>
      </p:sp>
      <p:sp>
        <p:nvSpPr>
          <p:cNvPr id="2" name="">
            <a:extLst xmlns:a="http://schemas.openxmlformats.org/drawingml/2006/main">
              <a:ext uri="{FF2B5EF4-FFF2-40B4-BE49-F238E27FC236}">
                <a16:creationId xmlns:a16="http://schemas.microsoft.com/office/drawing/2014/main" id="{13B09378-0FCB-4600-8C73-2E22B7CD4CC6}"/>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27918EDC-50F6-4E00-A365-C7D3D581BCAA}"/>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変える対象は「どの値で、マスクした特徴を置き換えるか」。</a:t>
            </a:r>
          </a:p>
        </p:txBody>
      </p:sp>
      <p:sp>
        <p:nvSpPr>
          <p:cNvPr id="4" name="">
            <a:extLst xmlns:a="http://schemas.openxmlformats.org/drawingml/2006/main">
              <a:ext uri="{FF2B5EF4-FFF2-40B4-BE49-F238E27FC236}">
                <a16:creationId xmlns:a16="http://schemas.microsoft.com/office/drawing/2014/main" id="{126FD9DC-9D71-4CE0-982C-3BE4EB5BBB70}"/>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研究の位置づけ</a:t>
            </a:r>
          </a:p>
        </p:txBody>
      </p:sp>
      <p:sp>
        <p:nvSpPr>
          <p:cNvPr id="5" name="">
            <a:extLst xmlns:a="http://schemas.openxmlformats.org/drawingml/2006/main">
              <a:ext uri="{FF2B5EF4-FFF2-40B4-BE49-F238E27FC236}">
                <a16:creationId xmlns:a16="http://schemas.microsoft.com/office/drawing/2014/main" id="{66353114-9B5C-4A38-8894-99ECE15C5FDD}"/>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6</a:t>
            </a:r>
          </a:p>
        </p:txBody>
      </p:sp>
      <p:sp>
        <p:nvSpPr>
          <p:cNvPr id="6" name="">
            <a:extLst xmlns:a="http://schemas.openxmlformats.org/drawingml/2006/main">
              <a:ext uri="{FF2B5EF4-FFF2-40B4-BE49-F238E27FC236}">
                <a16:creationId xmlns:a16="http://schemas.microsoft.com/office/drawing/2014/main" id="{83267CF8-B3AE-42BE-B98C-AEB9A5AB1604}"/>
              </a:ext>
            </a:extLst>
          </p:cNvPr>
          <p:cNvSpPr>
            <a:spLocks xmlns:a="http://schemas.openxmlformats.org/drawingml/2006/main" noGrp="1"/>
          </p:cNvSpPr>
          <p:nvPr/>
        </p:nvSpPr>
        <p:spPr>
          <a:xfrm xmlns:a="http://schemas.openxmlformats.org/drawingml/2006/main">
            <a:off x="514350" y="1981200"/>
            <a:ext cx="5314950" cy="314325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7561ECB-E6DC-4980-8982-2C3F97EC755E}"/>
              </a:ext>
            </a:extLst>
          </p:cNvPr>
          <p:cNvSpPr>
            <a:spLocks xmlns:a="http://schemas.openxmlformats.org/drawingml/2006/main" noGrp="1"/>
          </p:cNvSpPr>
          <p:nvPr/>
        </p:nvSpPr>
        <p:spPr>
          <a:xfrm xmlns:a="http://schemas.openxmlformats.org/drawingml/2006/main">
            <a:off x="704850" y="2095500"/>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既存の置換</a:t>
            </a:r>
          </a:p>
        </p:txBody>
      </p:sp>
      <p:sp>
        <p:nvSpPr>
          <p:cNvPr id="8" name="">
            <a:extLst xmlns:a="http://schemas.openxmlformats.org/drawingml/2006/main">
              <a:ext uri="{FF2B5EF4-FFF2-40B4-BE49-F238E27FC236}">
                <a16:creationId xmlns:a16="http://schemas.microsoft.com/office/drawing/2014/main" id="{B909B731-833D-4D50-BBA7-00053B866811}"/>
              </a:ext>
            </a:extLst>
          </p:cNvPr>
          <p:cNvSpPr>
            <a:spLocks xmlns:a="http://schemas.openxmlformats.org/drawingml/2006/main" noGrp="1"/>
          </p:cNvSpPr>
          <p:nvPr/>
        </p:nvSpPr>
        <p:spPr>
          <a:xfrm xmlns:a="http://schemas.openxmlformats.org/drawingml/2006/main">
            <a:off x="704850" y="2647950"/>
            <a:ext cx="493395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身長は元の人のまま</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体重だけ別の人から取る</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列の値はもっともらしくても、</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組合せは不自然になり得る。</a:t>
            </a:r>
          </a:p>
        </p:txBody>
      </p:sp>
      <p:sp>
        <p:nvSpPr>
          <p:cNvPr id="9" name="">
            <a:extLst xmlns:a="http://schemas.openxmlformats.org/drawingml/2006/main">
              <a:ext uri="{FF2B5EF4-FFF2-40B4-BE49-F238E27FC236}">
                <a16:creationId xmlns:a16="http://schemas.microsoft.com/office/drawing/2014/main" id="{E7D9A99F-2FE2-4EB9-AFEF-31E0B567B8BB}"/>
              </a:ext>
            </a:extLst>
          </p:cNvPr>
          <p:cNvSpPr>
            <a:spLocks xmlns:a="http://schemas.openxmlformats.org/drawingml/2006/main" noGrp="1"/>
          </p:cNvSpPr>
          <p:nvPr/>
        </p:nvSpPr>
        <p:spPr>
          <a:xfrm xmlns:a="http://schemas.openxmlformats.org/drawingml/2006/main">
            <a:off x="6076950" y="1981200"/>
            <a:ext cx="5600700" cy="314325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EC8FB93-6768-408E-A452-A73BFF588074}"/>
              </a:ext>
            </a:extLst>
          </p:cNvPr>
          <p:cNvSpPr>
            <a:spLocks xmlns:a="http://schemas.openxmlformats.org/drawingml/2006/main" noGrp="1"/>
          </p:cNvSpPr>
          <p:nvPr/>
        </p:nvSpPr>
        <p:spPr>
          <a:xfrm xmlns:a="http://schemas.openxmlformats.org/drawingml/2006/main">
            <a:off x="6267450" y="2095500"/>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今回の方針</a:t>
            </a:r>
          </a:p>
        </p:txBody>
      </p:sp>
      <p:sp>
        <p:nvSpPr>
          <p:cNvPr id="11" name="">
            <a:extLst xmlns:a="http://schemas.openxmlformats.org/drawingml/2006/main">
              <a:ext uri="{FF2B5EF4-FFF2-40B4-BE49-F238E27FC236}">
                <a16:creationId xmlns:a16="http://schemas.microsoft.com/office/drawing/2014/main" id="{8C8B8EA0-377C-4875-814C-760C6FA55109}"/>
              </a:ext>
            </a:extLst>
          </p:cNvPr>
          <p:cNvSpPr>
            <a:spLocks xmlns:a="http://schemas.openxmlformats.org/drawingml/2006/main" noGrp="1"/>
          </p:cNvSpPr>
          <p:nvPr/>
        </p:nvSpPr>
        <p:spPr>
          <a:xfrm xmlns:a="http://schemas.openxmlformats.org/drawingml/2006/main">
            <a:off x="6267450" y="2647950"/>
            <a:ext cx="521970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残す身長を条件にして、</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それに合う体重の分布から取る。</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ラベルなしの訓練データから</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変数間の関係を学習する。</a:t>
            </a:r>
          </a:p>
        </p:txBody>
      </p:sp>
      <p:sp>
        <p:nvSpPr>
          <p:cNvPr id="12" name="">
            <a:extLst xmlns:a="http://schemas.openxmlformats.org/drawingml/2006/main">
              <a:ext uri="{FF2B5EF4-FFF2-40B4-BE49-F238E27FC236}">
                <a16:creationId xmlns:a16="http://schemas.microsoft.com/office/drawing/2014/main" id="{5516C703-DE5D-4EDB-A0EF-61108F0823DD}"/>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CE28923-062E-467D-A9C0-44BE69DF4327}"/>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検証する仮説：関係を考慮した置換が、表現学習に役立つか</a:t>
            </a:r>
          </a:p>
        </p:txBody>
      </p:sp>
    </p:spTree>
    <p:extLst>
      <p:ext uri="{BB962C8B-B14F-4D97-AF65-F5344CB8AC3E}">
        <p14:creationId xmlns:p14="http://schemas.microsoft.com/office/powerpoint/2010/main" val="139842917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6422169-C74E-4E4C-90DA-9D0E1DC93ED5}"/>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例：値を並べ替えると何が変わる？</a:t>
            </a:r>
          </a:p>
        </p:txBody>
      </p:sp>
      <p:sp>
        <p:nvSpPr>
          <p:cNvPr id="2" name="">
            <a:extLst xmlns:a="http://schemas.openxmlformats.org/drawingml/2006/main">
              <a:ext uri="{FF2B5EF4-FFF2-40B4-BE49-F238E27FC236}">
                <a16:creationId xmlns:a16="http://schemas.microsoft.com/office/drawing/2014/main" id="{1D20E6C0-7771-4DAF-8B9D-33F2964CB415}"/>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6B73141-D328-4D9A-89AF-0A1AB6AA0889}"/>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説明用の4人。同じ体重の値でも、身長との組合せで意味が変わる。</a:t>
            </a:r>
          </a:p>
        </p:txBody>
      </p:sp>
      <p:sp>
        <p:nvSpPr>
          <p:cNvPr id="4" name="">
            <a:extLst xmlns:a="http://schemas.openxmlformats.org/drawingml/2006/main">
              <a:ext uri="{FF2B5EF4-FFF2-40B4-BE49-F238E27FC236}">
                <a16:creationId xmlns:a16="http://schemas.microsoft.com/office/drawing/2014/main" id="{34DCA3C7-923C-4642-979D-7A74F00F3CDA}"/>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B4867E62-A428-436F-B55D-2473A35B8718}"/>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7</a:t>
            </a:r>
          </a:p>
        </p:txBody>
      </p:sp>
      <p:graphicFrame>
        <p:nvGraphicFramePr>
          <p:cNvPr id="14" name=""/>
          <p:cNvGraphicFramePr/>
          <p:nvPr/>
        </p:nvGraphicFramePr>
        <p:xfrm>
          <a:off xmlns:a="http://schemas.openxmlformats.org/drawingml/2006/main" x="514350" y="2076450"/>
          <a:ext xmlns:a="http://schemas.openxmlformats.org/drawingml/2006/main" cx="11163300" cy="3000375"/>
        </p:xfrm>
        <a:graphic xmlns:a="http://schemas.openxmlformats.org/drawingml/2006/main">
          <a:graphicData uri="http://schemas.openxmlformats.org/drawingml/2006/table">
            <a:tbl>
              <a:tblPr/>
              <a:tblGrid>
                <a:gridCol w="2790825"/>
                <a:gridCol w="2790825"/>
                <a:gridCol w="2790825"/>
                <a:gridCol w="2790825"/>
              </a:tblGrid>
              <a:tr h="600075">
                <a:tc>
                  <a:txBody>
                    <a:bodyPr/>
                    <a:lstStyle/>
                    <a:p>
                      <a:pPr algn="ctr"/>
                      <a:r>
                        <a:rPr sz="2175" b="1">
                          <a:solidFill>
                            <a:srgbClr val="2E7D5B"/>
                          </a:solidFill>
                          <a:latin typeface="Noto Sans JP"/>
                          <a:ea typeface="Noto Sans JP"/>
                          <a:cs typeface="Noto Sans JP"/>
                        </a:rPr>
                        <a:t>人</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身長（cm）</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元の体重（kg）</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並べ替え後（kg）</a:t>
                      </a:r>
                    </a:p>
                  </a:txBody>
                  <a:tcPr marL="91440" marR="91440" marT="45720" marB="45720" anchor="ctr">
                    <a:solidFill>
                      <a:srgbClr val="E7F2EC"/>
                    </a:solidFill>
                  </a:tcPr>
                </a:tc>
              </a:tr>
              <a:tr h="600075">
                <a:tc>
                  <a:txBody>
                    <a:bodyPr/>
                    <a:lstStyle/>
                    <a:p>
                      <a:pPr algn="ctr"/>
                      <a:r>
                        <a:rPr sz="2175" b="0">
                          <a:solidFill>
                            <a:srgbClr val="222222"/>
                          </a:solidFill>
                          <a:latin typeface="Noto Sans JP"/>
                          <a:ea typeface="Noto Sans JP"/>
                          <a:cs typeface="Noto Sans JP"/>
                        </a:rPr>
                        <a:t>A</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155</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48</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82</a:t>
                      </a:r>
                    </a:p>
                  </a:txBody>
                  <a:tcPr marL="91440" marR="91440" marT="45720" marB="45720" anchor="ctr">
                    <a:solidFill>
                      <a:srgbClr val="FFFFFF"/>
                    </a:solidFill>
                  </a:tcPr>
                </a:tc>
              </a:tr>
              <a:tr h="600075">
                <a:tc>
                  <a:txBody>
                    <a:bodyPr/>
                    <a:lstStyle/>
                    <a:p>
                      <a:pPr algn="ctr"/>
                      <a:r>
                        <a:rPr sz="2175" b="0">
                          <a:solidFill>
                            <a:srgbClr val="222222"/>
                          </a:solidFill>
                          <a:latin typeface="Noto Sans JP"/>
                          <a:ea typeface="Noto Sans JP"/>
                          <a:cs typeface="Noto Sans JP"/>
                        </a:rPr>
                        <a:t>B</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165</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57</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68</a:t>
                      </a:r>
                    </a:p>
                  </a:txBody>
                  <a:tcPr marL="91440" marR="91440" marT="45720" marB="45720" anchor="ctr">
                    <a:solidFill>
                      <a:srgbClr val="F6F6F6"/>
                    </a:solidFill>
                  </a:tcPr>
                </a:tc>
              </a:tr>
              <a:tr h="600075">
                <a:tc>
                  <a:txBody>
                    <a:bodyPr/>
                    <a:lstStyle/>
                    <a:p>
                      <a:pPr algn="ctr"/>
                      <a:r>
                        <a:rPr sz="2175" b="0">
                          <a:solidFill>
                            <a:srgbClr val="222222"/>
                          </a:solidFill>
                          <a:latin typeface="Noto Sans JP"/>
                          <a:ea typeface="Noto Sans JP"/>
                          <a:cs typeface="Noto Sans JP"/>
                        </a:rPr>
                        <a:t>C</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175</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68</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57</a:t>
                      </a:r>
                    </a:p>
                  </a:txBody>
                  <a:tcPr marL="91440" marR="91440" marT="45720" marB="45720" anchor="ctr">
                    <a:solidFill>
                      <a:srgbClr val="FFFFFF"/>
                    </a:solidFill>
                  </a:tcPr>
                </a:tc>
              </a:tr>
              <a:tr h="600075">
                <a:tc>
                  <a:txBody>
                    <a:bodyPr/>
                    <a:lstStyle/>
                    <a:p>
                      <a:pPr algn="ctr"/>
                      <a:r>
                        <a:rPr sz="2175" b="0">
                          <a:solidFill>
                            <a:srgbClr val="222222"/>
                          </a:solidFill>
                          <a:latin typeface="Noto Sans JP"/>
                          <a:ea typeface="Noto Sans JP"/>
                          <a:cs typeface="Noto Sans JP"/>
                        </a:rPr>
                        <a:t>D</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185</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82</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48</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7167C9D0-7055-4A9E-9971-9A5CD771FD22}"/>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0457D52-3F26-4154-9CFF-7BB81722D827}"/>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各列の「値の集合」は同じでも、行の「組合せ」は違う</a:t>
            </a:r>
          </a:p>
        </p:txBody>
      </p:sp>
    </p:spTree>
    <p:extLst>
      <p:ext uri="{BB962C8B-B14F-4D97-AF65-F5344CB8AC3E}">
        <p14:creationId xmlns:p14="http://schemas.microsoft.com/office/powerpoint/2010/main" val="206095330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BC8F1F44-EF54-4BD2-8B4F-4012DA1A665D}"/>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「分けて表す」とは何か</a:t>
            </a:r>
          </a:p>
        </p:txBody>
      </p:sp>
      <p:sp>
        <p:nvSpPr>
          <p:cNvPr id="2" name="">
            <a:extLst xmlns:a="http://schemas.openxmlformats.org/drawingml/2006/main">
              <a:ext uri="{FF2B5EF4-FFF2-40B4-BE49-F238E27FC236}">
                <a16:creationId xmlns:a16="http://schemas.microsoft.com/office/drawing/2014/main" id="{5BDC4028-9D27-4E82-A884-C7A224C60916}"/>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CAAE02C7-CFBC-4A2E-95B2-CCDB56B0AFAC}"/>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別々に保管するのは、各列の値の分布と、位置どうしの組合せ。</a:t>
            </a:r>
          </a:p>
        </p:txBody>
      </p:sp>
      <p:sp>
        <p:nvSpPr>
          <p:cNvPr id="4" name="">
            <a:extLst xmlns:a="http://schemas.openxmlformats.org/drawingml/2006/main">
              <a:ext uri="{FF2B5EF4-FFF2-40B4-BE49-F238E27FC236}">
                <a16:creationId xmlns:a16="http://schemas.microsoft.com/office/drawing/2014/main" id="{0889496C-3C67-48F3-96C6-0DEEC0E33009}"/>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244CE018-2C66-4FFB-A340-6BFAE8F4B094}"/>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8</a:t>
            </a:r>
          </a:p>
        </p:txBody>
      </p:sp>
      <p:sp>
        <p:nvSpPr>
          <p:cNvPr id="6" name="">
            <a:extLst xmlns:a="http://schemas.openxmlformats.org/drawingml/2006/main">
              <a:ext uri="{FF2B5EF4-FFF2-40B4-BE49-F238E27FC236}">
                <a16:creationId xmlns:a16="http://schemas.microsoft.com/office/drawing/2014/main" id="{E3E08010-DED5-4443-BE44-51E705C67C88}"/>
              </a:ext>
            </a:extLst>
          </p:cNvPr>
          <p:cNvSpPr>
            <a:spLocks xmlns:a="http://schemas.openxmlformats.org/drawingml/2006/main" noGrp="1"/>
          </p:cNvSpPr>
          <p:nvPr/>
        </p:nvSpPr>
        <p:spPr>
          <a:xfrm xmlns:a="http://schemas.openxmlformats.org/drawingml/2006/main">
            <a:off x="514350" y="2000250"/>
            <a:ext cx="5314950" cy="30956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6B90E87-2B66-4E90-9D00-E695BB930C3D}"/>
              </a:ext>
            </a:extLst>
          </p:cNvPr>
          <p:cNvSpPr>
            <a:spLocks xmlns:a="http://schemas.openxmlformats.org/drawingml/2006/main" noGrp="1"/>
          </p:cNvSpPr>
          <p:nvPr/>
        </p:nvSpPr>
        <p:spPr>
          <a:xfrm xmlns:a="http://schemas.openxmlformats.org/drawingml/2006/main">
            <a:off x="704850" y="2114550"/>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B6777"/>
                </a:solidFill>
                <a:latin typeface="Noto Sans JP"/>
                <a:ea typeface="Noto Sans JP"/>
                <a:cs typeface="Noto Sans JP"/>
              </a:defRPr>
            </a:pPr>
            <a:r>
              <a:rPr sz="2175" b="1">
                <a:solidFill>
                  <a:srgbClr val="2B6777"/>
                </a:solidFill>
                <a:latin typeface="Noto Sans JP"/>
                <a:ea typeface="Noto Sans JP"/>
                <a:cs typeface="Noto Sans JP"/>
              </a:rPr>
              <a:t>① 周辺分布</a:t>
            </a:r>
          </a:p>
        </p:txBody>
      </p:sp>
      <p:sp>
        <p:nvSpPr>
          <p:cNvPr id="8" name="">
            <a:extLst xmlns:a="http://schemas.openxmlformats.org/drawingml/2006/main">
              <a:ext uri="{FF2B5EF4-FFF2-40B4-BE49-F238E27FC236}">
                <a16:creationId xmlns:a16="http://schemas.microsoft.com/office/drawing/2014/main" id="{EB65251E-4800-43F9-803D-43AC88F2AC6D}"/>
              </a:ext>
            </a:extLst>
          </p:cNvPr>
          <p:cNvSpPr>
            <a:spLocks xmlns:a="http://schemas.openxmlformats.org/drawingml/2006/main" noGrp="1"/>
          </p:cNvSpPr>
          <p:nvPr/>
        </p:nvSpPr>
        <p:spPr>
          <a:xfrm xmlns:a="http://schemas.openxmlformats.org/drawingml/2006/main">
            <a:off x="704850" y="2667000"/>
            <a:ext cx="493395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身長の値の分布</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155、165、175、185 cm</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体重の値の分布</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48、57、68、82 kg</a:t>
            </a:r>
          </a:p>
        </p:txBody>
      </p:sp>
      <p:sp>
        <p:nvSpPr>
          <p:cNvPr id="9" name="">
            <a:extLst xmlns:a="http://schemas.openxmlformats.org/drawingml/2006/main">
              <a:ext uri="{FF2B5EF4-FFF2-40B4-BE49-F238E27FC236}">
                <a16:creationId xmlns:a16="http://schemas.microsoft.com/office/drawing/2014/main" id="{7DC8EB16-82B6-4A1D-A399-E5D80B0FCE3F}"/>
              </a:ext>
            </a:extLst>
          </p:cNvPr>
          <p:cNvSpPr>
            <a:spLocks xmlns:a="http://schemas.openxmlformats.org/drawingml/2006/main" noGrp="1"/>
          </p:cNvSpPr>
          <p:nvPr/>
        </p:nvSpPr>
        <p:spPr>
          <a:xfrm xmlns:a="http://schemas.openxmlformats.org/drawingml/2006/main">
            <a:off x="6076950" y="2000250"/>
            <a:ext cx="5600700" cy="30956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01A99970-B6AF-4289-AD6E-665E6F4EA919}"/>
              </a:ext>
            </a:extLst>
          </p:cNvPr>
          <p:cNvSpPr>
            <a:spLocks xmlns:a="http://schemas.openxmlformats.org/drawingml/2006/main" noGrp="1"/>
          </p:cNvSpPr>
          <p:nvPr/>
        </p:nvSpPr>
        <p:spPr>
          <a:xfrm xmlns:a="http://schemas.openxmlformats.org/drawingml/2006/main">
            <a:off x="6267450" y="2114550"/>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② 依存構造</a:t>
            </a:r>
          </a:p>
        </p:txBody>
      </p:sp>
      <p:sp>
        <p:nvSpPr>
          <p:cNvPr id="11" name="">
            <a:extLst xmlns:a="http://schemas.openxmlformats.org/drawingml/2006/main">
              <a:ext uri="{FF2B5EF4-FFF2-40B4-BE49-F238E27FC236}">
                <a16:creationId xmlns:a16="http://schemas.microsoft.com/office/drawing/2014/main" id="{4F480D80-3683-4BB3-A5E4-53A5BAC376E9}"/>
              </a:ext>
            </a:extLst>
          </p:cNvPr>
          <p:cNvSpPr>
            <a:spLocks xmlns:a="http://schemas.openxmlformats.org/drawingml/2006/main" noGrp="1"/>
          </p:cNvSpPr>
          <p:nvPr/>
        </p:nvSpPr>
        <p:spPr>
          <a:xfrm xmlns:a="http://schemas.openxmlformats.org/drawingml/2006/main">
            <a:off x="6267450" y="2667000"/>
            <a:ext cx="521970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元の表：</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身長の順位1 → 体重の順位1</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身長の順位4 → 体重の順位4</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逆の表：順位1 → 順位4</a:t>
            </a:r>
          </a:p>
        </p:txBody>
      </p:sp>
      <p:sp>
        <p:nvSpPr>
          <p:cNvPr id="12" name="">
            <a:extLst xmlns:a="http://schemas.openxmlformats.org/drawingml/2006/main">
              <a:ext uri="{FF2B5EF4-FFF2-40B4-BE49-F238E27FC236}">
                <a16:creationId xmlns:a16="http://schemas.microsoft.com/office/drawing/2014/main" id="{9FE19373-6E7B-4F6F-B0AA-ADD893C0EC8F}"/>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669E3CA3-35A1-4FB5-A647-5DB177C9B84F}"/>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周辺分布が「値」を決め、コピュラが「位置の組合せ」を表す</a:t>
            </a:r>
          </a:p>
        </p:txBody>
      </p:sp>
    </p:spTree>
    <p:extLst>
      <p:ext uri="{BB962C8B-B14F-4D97-AF65-F5344CB8AC3E}">
        <p14:creationId xmlns:p14="http://schemas.microsoft.com/office/powerpoint/2010/main" val="28123224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AEBE85E-84DF-4FB2-8BE9-EAFE0374A6C8}"/>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累積確率：170 cmはどの位置？</a:t>
            </a:r>
          </a:p>
        </p:txBody>
      </p:sp>
      <p:sp>
        <p:nvSpPr>
          <p:cNvPr id="2" name="">
            <a:extLst xmlns:a="http://schemas.openxmlformats.org/drawingml/2006/main">
              <a:ext uri="{FF2B5EF4-FFF2-40B4-BE49-F238E27FC236}">
                <a16:creationId xmlns:a16="http://schemas.microsoft.com/office/drawing/2014/main" id="{3E517898-3600-4C3D-8CBF-06F426A17B50}"/>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688D9677-86EC-4725-8995-2FD9346B1591}"/>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「170 cm以下の人が、全体の何割いるか」を数える。</a:t>
            </a:r>
          </a:p>
        </p:txBody>
      </p:sp>
      <p:sp>
        <p:nvSpPr>
          <p:cNvPr id="4" name="">
            <a:extLst xmlns:a="http://schemas.openxmlformats.org/drawingml/2006/main">
              <a:ext uri="{FF2B5EF4-FFF2-40B4-BE49-F238E27FC236}">
                <a16:creationId xmlns:a16="http://schemas.microsoft.com/office/drawing/2014/main" id="{9A2A2720-2FFC-442E-BC08-EE13664DA654}"/>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2DBAE56F-314B-413C-BE4B-19863D7811FC}"/>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9</a:t>
            </a:r>
          </a:p>
        </p:txBody>
      </p:sp>
      <p:graphicFrame>
        <p:nvGraphicFramePr>
          <p:cNvPr id="16" name=""/>
          <p:cNvGraphicFramePr/>
          <p:nvPr/>
        </p:nvGraphicFramePr>
        <p:xfrm>
          <a:off xmlns:a="http://schemas.openxmlformats.org/drawingml/2006/main" x="514350" y="2143125"/>
          <a:ext xmlns:a="http://schemas.openxmlformats.org/drawingml/2006/main" cx="11163300" cy="1381125"/>
        </p:xfrm>
        <a:graphic xmlns:a="http://schemas.openxmlformats.org/drawingml/2006/main">
          <a:graphicData uri="http://schemas.openxmlformats.org/drawingml/2006/table">
            <a:tbl>
              <a:tblPr/>
              <a:tblGrid>
                <a:gridCol w="1014845"/>
                <a:gridCol w="1014845"/>
                <a:gridCol w="1014845"/>
                <a:gridCol w="1014845"/>
                <a:gridCol w="1014845"/>
                <a:gridCol w="1014845"/>
                <a:gridCol w="1014845"/>
                <a:gridCol w="1014845"/>
                <a:gridCol w="1014845"/>
                <a:gridCol w="1014845"/>
                <a:gridCol w="1014845"/>
              </a:tblGrid>
              <a:tr h="690563">
                <a:tc>
                  <a:txBody>
                    <a:bodyPr/>
                    <a:lstStyle/>
                    <a:p>
                      <a:pPr algn="ctr"/>
                      <a:r>
                        <a:rPr sz="1800" b="1">
                          <a:solidFill>
                            <a:srgbClr val="2E7D5B"/>
                          </a:solidFill>
                          <a:latin typeface="Noto Sans JP"/>
                          <a:ea typeface="Noto Sans JP"/>
                          <a:cs typeface="Noto Sans JP"/>
                        </a:rPr>
                        <a:t>小さい順</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1</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2</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3</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4</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5</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6</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7</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8</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9</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10</a:t>
                      </a:r>
                    </a:p>
                  </a:txBody>
                  <a:tcPr marL="91440" marR="91440" marT="45720" marB="45720" anchor="ctr">
                    <a:solidFill>
                      <a:srgbClr val="E7F2EC"/>
                    </a:solidFill>
                  </a:tcPr>
                </a:tc>
              </a:tr>
              <a:tr h="690563">
                <a:tc>
                  <a:txBody>
                    <a:bodyPr/>
                    <a:lstStyle/>
                    <a:p>
                      <a:pPr algn="ctr"/>
                      <a:r>
                        <a:rPr sz="1800" b="0">
                          <a:solidFill>
                            <a:srgbClr val="222222"/>
                          </a:solidFill>
                          <a:latin typeface="Noto Sans JP"/>
                          <a:ea typeface="Noto Sans JP"/>
                          <a:cs typeface="Noto Sans JP"/>
                        </a:rPr>
                        <a:t>身長 cm</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150</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155</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160</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163</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165</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168</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170</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175</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180</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185</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98CB0EEF-F58F-44FD-A82A-EB2EB4F9F1A9}"/>
              </a:ext>
            </a:extLst>
          </p:cNvPr>
          <p:cNvSpPr>
            <a:spLocks xmlns:a="http://schemas.openxmlformats.org/drawingml/2006/main" noGrp="1"/>
          </p:cNvSpPr>
          <p:nvPr/>
        </p:nvSpPr>
        <p:spPr>
          <a:xfrm xmlns:a="http://schemas.openxmlformats.org/drawingml/2006/main">
            <a:off x="514350" y="376237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0AEA87A-6EA8-4A89-80B3-9A74993B1547}"/>
              </a:ext>
            </a:extLst>
          </p:cNvPr>
          <p:cNvSpPr>
            <a:spLocks xmlns:a="http://schemas.openxmlformats.org/drawingml/2006/main" noGrp="1"/>
          </p:cNvSpPr>
          <p:nvPr/>
        </p:nvSpPr>
        <p:spPr>
          <a:xfrm xmlns:a="http://schemas.openxmlformats.org/drawingml/2006/main">
            <a:off x="704850" y="385762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325" b="1">
                <a:solidFill>
                  <a:srgbClr val="2B6777"/>
                </a:solidFill>
                <a:latin typeface="Noto Sans JP"/>
                <a:ea typeface="Noto Sans JP"/>
                <a:cs typeface="Noto Sans JP"/>
              </a:defRPr>
            </a:pPr>
            <a:r>
              <a:rPr sz="2325" b="1">
                <a:solidFill>
                  <a:srgbClr val="2B6777"/>
                </a:solidFill>
                <a:latin typeface="Noto Sans JP"/>
                <a:ea typeface="Noto Sans JP"/>
                <a:cs typeface="Noto Sans JP"/>
              </a:rPr>
              <a:t>F̂ 身長(170) = 170 cm以下の人数 / 全人数 = 7 / 10 = 0.7</a:t>
            </a:r>
          </a:p>
        </p:txBody>
      </p:sp>
      <p:sp>
        <p:nvSpPr>
          <p:cNvPr id="9" name="">
            <a:extLst xmlns:a="http://schemas.openxmlformats.org/drawingml/2006/main">
              <a:ext uri="{FF2B5EF4-FFF2-40B4-BE49-F238E27FC236}">
                <a16:creationId xmlns:a16="http://schemas.microsoft.com/office/drawing/2014/main" id="{4A6FFEC1-8A16-4D4A-A4F8-8D68FCBD7AC9}"/>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D2BE3F77-66A1-4E36-8973-8B6CA746BEA4}"/>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0.7は「低い側から70%の位置」。170 cmになる確率ではない</a:t>
            </a:r>
          </a:p>
        </p:txBody>
      </p:sp>
    </p:spTree>
    <p:extLst>
      <p:ext uri="{BB962C8B-B14F-4D97-AF65-F5344CB8AC3E}">
        <p14:creationId xmlns:p14="http://schemas.microsoft.com/office/powerpoint/2010/main" val="103908087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C3F79FF-4F74-4149-B7D5-675C31742705}"/>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なぜ、確率の位置へ変えるのか</a:t>
            </a:r>
          </a:p>
        </p:txBody>
      </p:sp>
      <p:sp>
        <p:nvSpPr>
          <p:cNvPr id="2" name="">
            <a:extLst xmlns:a="http://schemas.openxmlformats.org/drawingml/2006/main">
              <a:ext uri="{FF2B5EF4-FFF2-40B4-BE49-F238E27FC236}">
                <a16:creationId xmlns:a16="http://schemas.microsoft.com/office/drawing/2014/main" id="{C07BC5A5-D4D8-4A11-B214-29559F8B5673}"/>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CF12624-5B8A-4EE8-AB95-E67C34EF34A7}"/>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単位や分布の形が違う列を、0〜1の共通のものさしで見る。</a:t>
            </a:r>
          </a:p>
        </p:txBody>
      </p:sp>
      <p:sp>
        <p:nvSpPr>
          <p:cNvPr id="4" name="">
            <a:extLst xmlns:a="http://schemas.openxmlformats.org/drawingml/2006/main">
              <a:ext uri="{FF2B5EF4-FFF2-40B4-BE49-F238E27FC236}">
                <a16:creationId xmlns:a16="http://schemas.microsoft.com/office/drawing/2014/main" id="{F6B67BEA-2D29-4234-8194-536F746A6C5C}"/>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C8B1D480-CD39-4AD9-97D8-50FF1FD03559}"/>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10</a:t>
            </a:r>
          </a:p>
        </p:txBody>
      </p:sp>
      <p:graphicFrame>
        <p:nvGraphicFramePr>
          <p:cNvPr id="15" name=""/>
          <p:cNvGraphicFramePr/>
          <p:nvPr/>
        </p:nvGraphicFramePr>
        <p:xfrm>
          <a:off xmlns:a="http://schemas.openxmlformats.org/drawingml/2006/main" x="514350" y="2057400"/>
          <a:ext xmlns:a="http://schemas.openxmlformats.org/drawingml/2006/main" cx="11163300" cy="2476500"/>
        </p:xfrm>
        <a:graphic xmlns:a="http://schemas.openxmlformats.org/drawingml/2006/main">
          <a:graphicData uri="http://schemas.openxmlformats.org/drawingml/2006/table">
            <a:tbl>
              <a:tblPr/>
              <a:tblGrid>
                <a:gridCol w="2790825"/>
                <a:gridCol w="2790825"/>
                <a:gridCol w="2790825"/>
                <a:gridCol w="2790825"/>
              </a:tblGrid>
              <a:tr h="825500">
                <a:tc>
                  <a:txBody>
                    <a:bodyPr/>
                    <a:lstStyle/>
                    <a:p>
                      <a:pPr algn="ctr"/>
                      <a:r>
                        <a:rPr sz="2175" b="1">
                          <a:solidFill>
                            <a:srgbClr val="2E7D5B"/>
                          </a:solidFill>
                          <a:latin typeface="Noto Sans JP"/>
                          <a:ea typeface="Noto Sans JP"/>
                          <a:cs typeface="Noto Sans JP"/>
                        </a:rPr>
                        <a:t>特徴</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元の値（説明用）</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その値以下の割合</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位置</a:t>
                      </a:r>
                    </a:p>
                  </a:txBody>
                  <a:tcPr marL="91440" marR="91440" marT="45720" marB="45720" anchor="ctr">
                    <a:solidFill>
                      <a:srgbClr val="E7F2EC"/>
                    </a:solidFill>
                  </a:tcPr>
                </a:tc>
              </a:tr>
              <a:tr h="825500">
                <a:tc>
                  <a:txBody>
                    <a:bodyPr/>
                    <a:lstStyle/>
                    <a:p>
                      <a:pPr algn="ctr"/>
                      <a:r>
                        <a:rPr sz="2175" b="0">
                          <a:solidFill>
                            <a:srgbClr val="222222"/>
                          </a:solidFill>
                          <a:latin typeface="Noto Sans JP"/>
                          <a:ea typeface="Noto Sans JP"/>
                          <a:cs typeface="Noto Sans JP"/>
                        </a:rPr>
                        <a:t>身長</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175 cm</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80%</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u = 0.8</a:t>
                      </a:r>
                    </a:p>
                  </a:txBody>
                  <a:tcPr marL="91440" marR="91440" marT="45720" marB="45720" anchor="ctr">
                    <a:solidFill>
                      <a:srgbClr val="FFFFFF"/>
                    </a:solidFill>
                  </a:tcPr>
                </a:tc>
              </a:tr>
              <a:tr h="825500">
                <a:tc>
                  <a:txBody>
                    <a:bodyPr/>
                    <a:lstStyle/>
                    <a:p>
                      <a:pPr algn="ctr"/>
                      <a:r>
                        <a:rPr sz="2175" b="0">
                          <a:solidFill>
                            <a:srgbClr val="222222"/>
                          </a:solidFill>
                          <a:latin typeface="Noto Sans JP"/>
                          <a:ea typeface="Noto Sans JP"/>
                          <a:cs typeface="Noto Sans JP"/>
                        </a:rPr>
                        <a:t>体重</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68 kg</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60%</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v = 0.6</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A34478C3-E727-4C6B-BD80-E74B5503A134}"/>
              </a:ext>
            </a:extLst>
          </p:cNvPr>
          <p:cNvSpPr>
            <a:spLocks xmlns:a="http://schemas.openxmlformats.org/drawingml/2006/main" noGrp="1"/>
          </p:cNvSpPr>
          <p:nvPr/>
        </p:nvSpPr>
        <p:spPr>
          <a:xfrm xmlns:a="http://schemas.openxmlformats.org/drawingml/2006/main">
            <a:off x="666750" y="476250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22222"/>
                </a:solidFill>
                <a:latin typeface="Noto Sans JP"/>
                <a:ea typeface="Noto Sans JP"/>
                <a:cs typeface="Noto Sans JP"/>
              </a:defRPr>
            </a:pPr>
            <a:r>
              <a:rPr sz="2175" b="1">
                <a:solidFill>
                  <a:srgbClr val="222222"/>
                </a:solidFill>
                <a:latin typeface="Noto Sans JP"/>
                <a:ea typeface="Noto Sans JP"/>
                <a:cs typeface="Noto Sans JP"/>
              </a:rPr>
              <a:t>この人は「身長は高い側・体重もやや高い側」にいる。</a:t>
            </a:r>
          </a:p>
        </p:txBody>
      </p:sp>
      <p:sp>
        <p:nvSpPr>
          <p:cNvPr id="8" name="">
            <a:extLst xmlns:a="http://schemas.openxmlformats.org/drawingml/2006/main">
              <a:ext uri="{FF2B5EF4-FFF2-40B4-BE49-F238E27FC236}">
                <a16:creationId xmlns:a16="http://schemas.microsoft.com/office/drawing/2014/main" id="{B6FDE835-E22C-4F96-A3F1-189FFAA23C07}"/>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3F5F035-7BC1-4C44-B447-B249A3AD24DD}"/>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位置は基準集団の分布で決まる。cmやkgを直接比較しない</a:t>
            </a:r>
          </a:p>
        </p:txBody>
      </p:sp>
    </p:spTree>
    <p:extLst>
      <p:ext uri="{BB962C8B-B14F-4D97-AF65-F5344CB8AC3E}">
        <p14:creationId xmlns:p14="http://schemas.microsoft.com/office/powerpoint/2010/main" val="30790950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920054E-B3AD-49C5-9342-6250071A23CA}"/>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コピュラが見るのは、位置の組</a:t>
            </a:r>
          </a:p>
        </p:txBody>
      </p:sp>
      <p:sp>
        <p:nvSpPr>
          <p:cNvPr id="2" name="">
            <a:extLst xmlns:a="http://schemas.openxmlformats.org/drawingml/2006/main">
              <a:ext uri="{FF2B5EF4-FFF2-40B4-BE49-F238E27FC236}">
                <a16:creationId xmlns:a16="http://schemas.microsoft.com/office/drawing/2014/main" id="{6A521B89-4A4A-43FA-9670-41C660C651BC}"/>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B0B90C7C-A419-4109-9B5E-F1DD9A263F4A}"/>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同じ人の (u, v) を、多くの人について集める。</a:t>
            </a:r>
          </a:p>
        </p:txBody>
      </p:sp>
      <p:sp>
        <p:nvSpPr>
          <p:cNvPr id="4" name="">
            <a:extLst xmlns:a="http://schemas.openxmlformats.org/drawingml/2006/main">
              <a:ext uri="{FF2B5EF4-FFF2-40B4-BE49-F238E27FC236}">
                <a16:creationId xmlns:a16="http://schemas.microsoft.com/office/drawing/2014/main" id="{DFEFB078-3787-4BF4-AA53-4F7CD23351B4}"/>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A22BEE12-FD0C-4A67-B66A-626C6F3CBD08}"/>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11</a:t>
            </a:r>
          </a:p>
        </p:txBody>
      </p:sp>
      <p:graphicFrame>
        <p:nvGraphicFramePr>
          <p:cNvPr id="17" name="Chart"/>
          <p:cNvGraphicFramePr/>
          <p:nvPr/>
        </p:nvGraphicFramePr>
        <p:xfrm>
          <a:off xmlns:a="http://schemas.openxmlformats.org/drawingml/2006/main" x="609600" y="2000250"/>
          <a:ext xmlns:a="http://schemas.openxmlformats.org/drawingml/2006/main" cx="5905500" cy="3333750"/>
        </p:xfrm>
        <a:graphic xmlns:a="http://schemas.openxmlformats.org/drawingml/2006/main">
          <a:graphicData uri="http://schemas.openxmlformats.org/drawingml/2006/chart">
            <c:chart xmlns:r="http://schemas.openxmlformats.org/officeDocument/2006/relationships" xmlns:c="http://schemas.openxmlformats.org/drawingml/2006/chart" r:id="R2c5dfb9afe3d4dc7"/>
          </a:graphicData>
        </a:graphic>
      </p:graphicFrame>
      <p:sp>
        <p:nvSpPr>
          <p:cNvPr id="7" name="">
            <a:extLst xmlns:a="http://schemas.openxmlformats.org/drawingml/2006/main">
              <a:ext uri="{FF2B5EF4-FFF2-40B4-BE49-F238E27FC236}">
                <a16:creationId xmlns:a16="http://schemas.microsoft.com/office/drawing/2014/main" id="{568FEDD9-D011-4405-B9A4-B16A66F38196}"/>
              </a:ext>
            </a:extLst>
          </p:cNvPr>
          <p:cNvSpPr>
            <a:spLocks xmlns:a="http://schemas.openxmlformats.org/drawingml/2006/main" noGrp="1"/>
          </p:cNvSpPr>
          <p:nvPr/>
        </p:nvSpPr>
        <p:spPr>
          <a:xfrm xmlns:a="http://schemas.openxmlformats.org/drawingml/2006/main">
            <a:off x="6838950" y="2095500"/>
            <a:ext cx="4762500" cy="304800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345F51D-8BFA-4C64-B1E5-A2DD9767F3AF}"/>
              </a:ext>
            </a:extLst>
          </p:cNvPr>
          <p:cNvSpPr>
            <a:spLocks xmlns:a="http://schemas.openxmlformats.org/drawingml/2006/main" noGrp="1"/>
          </p:cNvSpPr>
          <p:nvPr/>
        </p:nvSpPr>
        <p:spPr>
          <a:xfrm xmlns:a="http://schemas.openxmlformats.org/drawingml/2006/main">
            <a:off x="7029450" y="2209800"/>
            <a:ext cx="4381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読み取る関係</a:t>
            </a:r>
          </a:p>
        </p:txBody>
      </p:sp>
      <p:sp>
        <p:nvSpPr>
          <p:cNvPr id="9" name="">
            <a:extLst xmlns:a="http://schemas.openxmlformats.org/drawingml/2006/main">
              <a:ext uri="{FF2B5EF4-FFF2-40B4-BE49-F238E27FC236}">
                <a16:creationId xmlns:a16="http://schemas.microsoft.com/office/drawing/2014/main" id="{7D52A151-0C1B-4F03-A093-DD7DCC43E21F}"/>
              </a:ext>
            </a:extLst>
          </p:cNvPr>
          <p:cNvSpPr>
            <a:spLocks xmlns:a="http://schemas.openxmlformats.org/drawingml/2006/main" noGrp="1"/>
          </p:cNvSpPr>
          <p:nvPr/>
        </p:nvSpPr>
        <p:spPr>
          <a:xfrm xmlns:a="http://schemas.openxmlformats.org/drawingml/2006/main">
            <a:off x="7029450" y="2762250"/>
            <a:ext cx="43815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身長の位置が高いとき、</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体重の位置も高いか。</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値の単位を除いて、</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どの位置の組が</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どれくらい現れるかを見る。</a:t>
            </a:r>
          </a:p>
        </p:txBody>
      </p:sp>
      <p:sp>
        <p:nvSpPr>
          <p:cNvPr id="10" name="">
            <a:extLst xmlns:a="http://schemas.openxmlformats.org/drawingml/2006/main">
              <a:ext uri="{FF2B5EF4-FFF2-40B4-BE49-F238E27FC236}">
                <a16:creationId xmlns:a16="http://schemas.microsoft.com/office/drawing/2014/main" id="{D5D2FA5A-F8FE-4781-9123-2EEC91DDF760}"/>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11B4577-2D81-4938-8515-9B036C7870D8}"/>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コピュラは、位置の「同時分布」を表す</a:t>
            </a:r>
          </a:p>
        </p:txBody>
      </p:sp>
    </p:spTree>
    <p:extLst>
      <p:ext uri="{BB962C8B-B14F-4D97-AF65-F5344CB8AC3E}">
        <p14:creationId xmlns:p14="http://schemas.microsoft.com/office/powerpoint/2010/main" val="164411151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94C7C31-41E8-4185-8E1D-4FF7AC319C24}"/>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数式を読むための記号</a:t>
            </a:r>
          </a:p>
        </p:txBody>
      </p:sp>
      <p:sp>
        <p:nvSpPr>
          <p:cNvPr id="2" name="">
            <a:extLst xmlns:a="http://schemas.openxmlformats.org/drawingml/2006/main">
              <a:ext uri="{FF2B5EF4-FFF2-40B4-BE49-F238E27FC236}">
                <a16:creationId xmlns:a16="http://schemas.microsoft.com/office/drawing/2014/main" id="{A1279C3C-3B74-475A-AB38-BC5D0FED3C5F}"/>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520DE888-DEEB-43BC-BAE3-633830902B51}"/>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大文字は変数、小文字は境界や具体的な値。</a:t>
            </a:r>
          </a:p>
        </p:txBody>
      </p:sp>
      <p:sp>
        <p:nvSpPr>
          <p:cNvPr id="4" name="">
            <a:extLst xmlns:a="http://schemas.openxmlformats.org/drawingml/2006/main">
              <a:ext uri="{FF2B5EF4-FFF2-40B4-BE49-F238E27FC236}">
                <a16:creationId xmlns:a16="http://schemas.microsoft.com/office/drawing/2014/main" id="{8AC0F2F3-CCE8-4D4E-A759-FBCE4136AC7B}"/>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AC038897-2CF8-400F-ACA3-5D8CE706A766}"/>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12</a:t>
            </a:r>
          </a:p>
        </p:txBody>
      </p:sp>
      <p:graphicFrame>
        <p:nvGraphicFramePr>
          <p:cNvPr id="14" name=""/>
          <p:cNvGraphicFramePr/>
          <p:nvPr/>
        </p:nvGraphicFramePr>
        <p:xfrm>
          <a:off xmlns:a="http://schemas.openxmlformats.org/drawingml/2006/main" x="514350" y="1924050"/>
          <a:ext xmlns:a="http://schemas.openxmlformats.org/drawingml/2006/main" cx="11163300" cy="3381375"/>
        </p:xfrm>
        <a:graphic xmlns:a="http://schemas.openxmlformats.org/drawingml/2006/main">
          <a:graphicData uri="http://schemas.openxmlformats.org/drawingml/2006/table">
            <a:tbl>
              <a:tblPr/>
              <a:tblGrid>
                <a:gridCol w="3721100"/>
                <a:gridCol w="3721100"/>
                <a:gridCol w="3721100"/>
              </a:tblGrid>
              <a:tr h="676275">
                <a:tc>
                  <a:txBody>
                    <a:bodyPr/>
                    <a:lstStyle/>
                    <a:p>
                      <a:pPr algn="ctr"/>
                      <a:r>
                        <a:rPr sz="1950" b="1">
                          <a:solidFill>
                            <a:srgbClr val="2E7D5B"/>
                          </a:solidFill>
                          <a:latin typeface="Noto Sans JP"/>
                          <a:ea typeface="Noto Sans JP"/>
                          <a:cs typeface="Noto Sans JP"/>
                        </a:rPr>
                        <a:t>記号</a:t>
                      </a:r>
                    </a:p>
                  </a:txBody>
                  <a:tcPr marL="91440" marR="91440" marT="45720" marB="45720" anchor="ctr">
                    <a:solidFill>
                      <a:srgbClr val="E7F2EC"/>
                    </a:solidFill>
                  </a:tcPr>
                </a:tc>
                <a:tc>
                  <a:txBody>
                    <a:bodyPr/>
                    <a:lstStyle/>
                    <a:p>
                      <a:pPr algn="ctr"/>
                      <a:r>
                        <a:rPr sz="1950" b="1">
                          <a:solidFill>
                            <a:srgbClr val="2E7D5B"/>
                          </a:solidFill>
                          <a:latin typeface="Noto Sans JP"/>
                          <a:ea typeface="Noto Sans JP"/>
                          <a:cs typeface="Noto Sans JP"/>
                        </a:rPr>
                        <a:t>意味</a:t>
                      </a:r>
                    </a:p>
                  </a:txBody>
                  <a:tcPr marL="91440" marR="91440" marT="45720" marB="45720" anchor="ctr">
                    <a:solidFill>
                      <a:srgbClr val="E7F2EC"/>
                    </a:solidFill>
                  </a:tcPr>
                </a:tc>
                <a:tc>
                  <a:txBody>
                    <a:bodyPr/>
                    <a:lstStyle/>
                    <a:p>
                      <a:pPr algn="ctr"/>
                      <a:r>
                        <a:rPr sz="1950" b="1">
                          <a:solidFill>
                            <a:srgbClr val="2E7D5B"/>
                          </a:solidFill>
                          <a:latin typeface="Noto Sans JP"/>
                          <a:ea typeface="Noto Sans JP"/>
                          <a:cs typeface="Noto Sans JP"/>
                        </a:rPr>
                        <a:t>身長・体重の例</a:t>
                      </a:r>
                    </a:p>
                  </a:txBody>
                  <a:tcPr marL="91440" marR="91440" marT="45720" marB="45720" anchor="ctr">
                    <a:solidFill>
                      <a:srgbClr val="E7F2EC"/>
                    </a:solidFill>
                  </a:tcPr>
                </a:tc>
              </a:tr>
              <a:tr h="676275">
                <a:tc>
                  <a:txBody>
                    <a:bodyPr/>
                    <a:lstStyle/>
                    <a:p>
                      <a:pPr algn="ctr"/>
                      <a:r>
                        <a:rPr sz="1950" b="0">
                          <a:solidFill>
                            <a:srgbClr val="222222"/>
                          </a:solidFill>
                          <a:latin typeface="Noto Sans JP"/>
                          <a:ea typeface="Noto Sans JP"/>
                          <a:cs typeface="Noto Sans JP"/>
                        </a:rPr>
                        <a:t>X, Y</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元の値の確率変数</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身長と体重</a:t>
                      </a:r>
                    </a:p>
                  </a:txBody>
                  <a:tcPr marL="91440" marR="91440" marT="45720" marB="45720" anchor="ctr">
                    <a:solidFill>
                      <a:srgbClr val="FFFFFF"/>
                    </a:solidFill>
                  </a:tcPr>
                </a:tc>
              </a:tr>
              <a:tr h="676275">
                <a:tc>
                  <a:txBody>
                    <a:bodyPr/>
                    <a:lstStyle/>
                    <a:p>
                      <a:pPr algn="ctr"/>
                      <a:r>
                        <a:rPr sz="1950" b="0">
                          <a:solidFill>
                            <a:srgbClr val="222222"/>
                          </a:solidFill>
                          <a:latin typeface="Noto Sans JP"/>
                          <a:ea typeface="Noto Sans JP"/>
                          <a:cs typeface="Noto Sans JP"/>
                        </a:rPr>
                        <a:t>Fₓ(x), Fᵧ(y)</a:t>
                      </a:r>
                    </a:p>
                  </a:txBody>
                  <a:tcPr marL="91440" marR="91440" marT="45720" marB="45720" anchor="ctr">
                    <a:solidFill>
                      <a:srgbClr val="F6F6F6"/>
                    </a:solidFill>
                  </a:tcPr>
                </a:tc>
                <a:tc>
                  <a:txBody>
                    <a:bodyPr/>
                    <a:lstStyle/>
                    <a:p>
                      <a:pPr algn="ctr"/>
                      <a:r>
                        <a:rPr sz="1950" b="0">
                          <a:solidFill>
                            <a:srgbClr val="222222"/>
                          </a:solidFill>
                          <a:latin typeface="Noto Sans JP"/>
                          <a:ea typeface="Noto Sans JP"/>
                          <a:cs typeface="Noto Sans JP"/>
                        </a:rPr>
                        <a:t>各列の累積分布関数</a:t>
                      </a:r>
                    </a:p>
                  </a:txBody>
                  <a:tcPr marL="91440" marR="91440" marT="45720" marB="45720" anchor="ctr">
                    <a:solidFill>
                      <a:srgbClr val="F6F6F6"/>
                    </a:solidFill>
                  </a:tcPr>
                </a:tc>
                <a:tc>
                  <a:txBody>
                    <a:bodyPr/>
                    <a:lstStyle/>
                    <a:p>
                      <a:pPr algn="ctr"/>
                      <a:r>
                        <a:rPr sz="1950" b="0">
                          <a:solidFill>
                            <a:srgbClr val="222222"/>
                          </a:solidFill>
                          <a:latin typeface="Noto Sans JP"/>
                          <a:ea typeface="Noto Sans JP"/>
                          <a:cs typeface="Noto Sans JP"/>
                        </a:rPr>
                        <a:t>その値以下になる確率</a:t>
                      </a:r>
                    </a:p>
                  </a:txBody>
                  <a:tcPr marL="91440" marR="91440" marT="45720" marB="45720" anchor="ctr">
                    <a:solidFill>
                      <a:srgbClr val="F6F6F6"/>
                    </a:solidFill>
                  </a:tcPr>
                </a:tc>
              </a:tr>
              <a:tr h="676275">
                <a:tc>
                  <a:txBody>
                    <a:bodyPr/>
                    <a:lstStyle/>
                    <a:p>
                      <a:pPr algn="ctr"/>
                      <a:r>
                        <a:rPr sz="1950" b="0">
                          <a:solidFill>
                            <a:srgbClr val="222222"/>
                          </a:solidFill>
                          <a:latin typeface="Noto Sans JP"/>
                          <a:ea typeface="Noto Sans JP"/>
                          <a:cs typeface="Noto Sans JP"/>
                        </a:rPr>
                        <a:t>U = Fₓ(X), V = Fᵧ(Y)</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確率位置へ変換した変数</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0〜1の位置</a:t>
                      </a:r>
                    </a:p>
                  </a:txBody>
                  <a:tcPr marL="91440" marR="91440" marT="45720" marB="45720" anchor="ctr">
                    <a:solidFill>
                      <a:srgbClr val="FFFFFF"/>
                    </a:solidFill>
                  </a:tcPr>
                </a:tc>
              </a:tr>
              <a:tr h="676275">
                <a:tc>
                  <a:txBody>
                    <a:bodyPr/>
                    <a:lstStyle/>
                    <a:p>
                      <a:pPr algn="ctr"/>
                      <a:r>
                        <a:rPr sz="1950" b="0">
                          <a:solidFill>
                            <a:srgbClr val="222222"/>
                          </a:solidFill>
                          <a:latin typeface="Noto Sans JP"/>
                          <a:ea typeface="Noto Sans JP"/>
                          <a:cs typeface="Noto Sans JP"/>
                        </a:rPr>
                        <a:t>C(u, v)</a:t>
                      </a:r>
                    </a:p>
                  </a:txBody>
                  <a:tcPr marL="91440" marR="91440" marT="45720" marB="45720" anchor="ctr">
                    <a:solidFill>
                      <a:srgbClr val="F6F6F6"/>
                    </a:solidFill>
                  </a:tcPr>
                </a:tc>
                <a:tc>
                  <a:txBody>
                    <a:bodyPr/>
                    <a:lstStyle/>
                    <a:p>
                      <a:pPr algn="ctr"/>
                      <a:r>
                        <a:rPr sz="1950" b="0">
                          <a:solidFill>
                            <a:srgbClr val="222222"/>
                          </a:solidFill>
                          <a:latin typeface="Noto Sans JP"/>
                          <a:ea typeface="Noto Sans JP"/>
                          <a:cs typeface="Noto Sans JP"/>
                        </a:rPr>
                        <a:t>位置の同時累積分布</a:t>
                      </a:r>
                    </a:p>
                  </a:txBody>
                  <a:tcPr marL="91440" marR="91440" marT="45720" marB="45720" anchor="ctr">
                    <a:solidFill>
                      <a:srgbClr val="F6F6F6"/>
                    </a:solidFill>
                  </a:tcPr>
                </a:tc>
                <a:tc>
                  <a:txBody>
                    <a:bodyPr/>
                    <a:lstStyle/>
                    <a:p>
                      <a:pPr algn="ctr"/>
                      <a:r>
                        <a:rPr sz="1950" b="0">
                          <a:solidFill>
                            <a:srgbClr val="222222"/>
                          </a:solidFill>
                          <a:latin typeface="Noto Sans JP"/>
                          <a:ea typeface="Noto Sans JP"/>
                          <a:cs typeface="Noto Sans JP"/>
                        </a:rPr>
                        <a:t>U ≤ u かつ V ≤ vの確率</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CB8F4220-101F-4C1A-853F-F23D78C29389}"/>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42E5778-5B6C-4151-AB56-CBC7E349191B}"/>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「≤」は、境界より小さい側をすべて含める</a:t>
            </a:r>
          </a:p>
        </p:txBody>
      </p:sp>
    </p:spTree>
    <p:extLst>
      <p:ext uri="{BB962C8B-B14F-4D97-AF65-F5344CB8AC3E}">
        <p14:creationId xmlns:p14="http://schemas.microsoft.com/office/powerpoint/2010/main" val="131964274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0B9DB63-3D8F-4C63-A67B-DD7286AE718B}"/>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コピュラの定義</a:t>
            </a:r>
          </a:p>
        </p:txBody>
      </p:sp>
      <p:sp>
        <p:nvSpPr>
          <p:cNvPr id="2" name="">
            <a:extLst xmlns:a="http://schemas.openxmlformats.org/drawingml/2006/main">
              <a:ext uri="{FF2B5EF4-FFF2-40B4-BE49-F238E27FC236}">
                <a16:creationId xmlns:a16="http://schemas.microsoft.com/office/drawing/2014/main" id="{FF8A33A4-28D6-478B-8441-EBFF7F66F109}"/>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8BF9751C-70E6-4E2A-9271-CF2030215084}"/>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各成分が0〜1の一様分布を持つ、同時累積分布関数。</a:t>
            </a:r>
          </a:p>
        </p:txBody>
      </p:sp>
      <p:sp>
        <p:nvSpPr>
          <p:cNvPr id="4" name="">
            <a:extLst xmlns:a="http://schemas.openxmlformats.org/drawingml/2006/main">
              <a:ext uri="{FF2B5EF4-FFF2-40B4-BE49-F238E27FC236}">
                <a16:creationId xmlns:a16="http://schemas.microsoft.com/office/drawing/2014/main" id="{2790F5AA-F90E-4593-B1FD-6B748FE32F1E}"/>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58B0A2D5-DA9E-4ABD-9EC0-6C255F761657}"/>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13</a:t>
            </a:r>
          </a:p>
        </p:txBody>
      </p:sp>
      <p:sp>
        <p:nvSpPr>
          <p:cNvPr id="6" name="">
            <a:extLst xmlns:a="http://schemas.openxmlformats.org/drawingml/2006/main">
              <a:ext uri="{FF2B5EF4-FFF2-40B4-BE49-F238E27FC236}">
                <a16:creationId xmlns:a16="http://schemas.microsoft.com/office/drawing/2014/main" id="{C3474BDA-77B0-4AE1-9826-D589C181B22B}"/>
              </a:ext>
            </a:extLst>
          </p:cNvPr>
          <p:cNvSpPr>
            <a:spLocks xmlns:a="http://schemas.openxmlformats.org/drawingml/2006/main" noGrp="1"/>
          </p:cNvSpPr>
          <p:nvPr/>
        </p:nvSpPr>
        <p:spPr>
          <a:xfrm xmlns:a="http://schemas.openxmlformats.org/drawingml/2006/main">
            <a:off x="514350" y="19621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DF06324-3A0C-43ED-91E3-771DE86AC77E}"/>
              </a:ext>
            </a:extLst>
          </p:cNvPr>
          <p:cNvSpPr>
            <a:spLocks xmlns:a="http://schemas.openxmlformats.org/drawingml/2006/main" noGrp="1"/>
          </p:cNvSpPr>
          <p:nvPr/>
        </p:nvSpPr>
        <p:spPr>
          <a:xfrm xmlns:a="http://schemas.openxmlformats.org/drawingml/2006/main">
            <a:off x="704850" y="20574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450" b="1">
                <a:solidFill>
                  <a:srgbClr val="2B6777"/>
                </a:solidFill>
                <a:latin typeface="Noto Sans JP"/>
                <a:ea typeface="Noto Sans JP"/>
                <a:cs typeface="Noto Sans JP"/>
              </a:defRPr>
            </a:pPr>
            <a:r>
              <a:rPr sz="3450" b="1">
                <a:solidFill>
                  <a:srgbClr val="2B6777"/>
                </a:solidFill>
                <a:latin typeface="Noto Sans JP"/>
                <a:ea typeface="Noto Sans JP"/>
                <a:cs typeface="Noto Sans JP"/>
              </a:rPr>
              <a:t>C(u, v) = P(U ≤ u, V ≤ v)</a:t>
            </a:r>
          </a:p>
        </p:txBody>
      </p:sp>
      <p:sp>
        <p:nvSpPr>
          <p:cNvPr id="8" name="">
            <a:extLst xmlns:a="http://schemas.openxmlformats.org/drawingml/2006/main">
              <a:ext uri="{FF2B5EF4-FFF2-40B4-BE49-F238E27FC236}">
                <a16:creationId xmlns:a16="http://schemas.microsoft.com/office/drawing/2014/main" id="{6DD69396-8202-4229-8148-286B639CE520}"/>
              </a:ext>
            </a:extLst>
          </p:cNvPr>
          <p:cNvSpPr>
            <a:spLocks xmlns:a="http://schemas.openxmlformats.org/drawingml/2006/main" noGrp="1"/>
          </p:cNvSpPr>
          <p:nvPr/>
        </p:nvSpPr>
        <p:spPr>
          <a:xfrm xmlns:a="http://schemas.openxmlformats.org/drawingml/2006/main">
            <a:off x="552450" y="3286125"/>
            <a:ext cx="476250" cy="606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9" name="">
            <a:extLst xmlns:a="http://schemas.openxmlformats.org/drawingml/2006/main">
              <a:ext uri="{FF2B5EF4-FFF2-40B4-BE49-F238E27FC236}">
                <a16:creationId xmlns:a16="http://schemas.microsoft.com/office/drawing/2014/main" id="{488C2E70-A345-4B26-B723-D46494A8F754}"/>
              </a:ext>
            </a:extLst>
          </p:cNvPr>
          <p:cNvSpPr>
            <a:spLocks xmlns:a="http://schemas.openxmlformats.org/drawingml/2006/main" noGrp="1"/>
          </p:cNvSpPr>
          <p:nvPr/>
        </p:nvSpPr>
        <p:spPr>
          <a:xfrm xmlns:a="http://schemas.openxmlformats.org/drawingml/2006/main">
            <a:off x="1257300" y="3286125"/>
            <a:ext cx="10191750" cy="606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U, V はそれぞれ Uniform(0, 1) に従う。</a:t>
            </a:r>
          </a:p>
        </p:txBody>
      </p:sp>
      <p:sp>
        <p:nvSpPr>
          <p:cNvPr id="10" name="">
            <a:extLst xmlns:a="http://schemas.openxmlformats.org/drawingml/2006/main">
              <a:ext uri="{FF2B5EF4-FFF2-40B4-BE49-F238E27FC236}">
                <a16:creationId xmlns:a16="http://schemas.microsoft.com/office/drawing/2014/main" id="{BA11DC58-099B-4ECE-93FB-EDB89A154D5A}"/>
              </a:ext>
            </a:extLst>
          </p:cNvPr>
          <p:cNvSpPr>
            <a:spLocks xmlns:a="http://schemas.openxmlformats.org/drawingml/2006/main" noGrp="1"/>
          </p:cNvSpPr>
          <p:nvPr/>
        </p:nvSpPr>
        <p:spPr>
          <a:xfrm xmlns:a="http://schemas.openxmlformats.org/drawingml/2006/main">
            <a:off x="552450" y="3968750"/>
            <a:ext cx="476250" cy="606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11" name="">
            <a:extLst xmlns:a="http://schemas.openxmlformats.org/drawingml/2006/main">
              <a:ext uri="{FF2B5EF4-FFF2-40B4-BE49-F238E27FC236}">
                <a16:creationId xmlns:a16="http://schemas.microsoft.com/office/drawing/2014/main" id="{685A194B-78ED-4487-919F-399CA0E28DE0}"/>
              </a:ext>
            </a:extLst>
          </p:cNvPr>
          <p:cNvSpPr>
            <a:spLocks xmlns:a="http://schemas.openxmlformats.org/drawingml/2006/main" noGrp="1"/>
          </p:cNvSpPr>
          <p:nvPr/>
        </p:nvSpPr>
        <p:spPr>
          <a:xfrm xmlns:a="http://schemas.openxmlformats.org/drawingml/2006/main">
            <a:off x="1257300" y="3968750"/>
            <a:ext cx="10191750" cy="606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ただし、U と V が独立とは限らない。</a:t>
            </a:r>
          </a:p>
        </p:txBody>
      </p:sp>
      <p:sp>
        <p:nvSpPr>
          <p:cNvPr id="12" name="">
            <a:extLst xmlns:a="http://schemas.openxmlformats.org/drawingml/2006/main">
              <a:ext uri="{FF2B5EF4-FFF2-40B4-BE49-F238E27FC236}">
                <a16:creationId xmlns:a16="http://schemas.microsoft.com/office/drawing/2014/main" id="{61AFBAD2-8D09-4F18-A85D-4861906589FA}"/>
              </a:ext>
            </a:extLst>
          </p:cNvPr>
          <p:cNvSpPr>
            <a:spLocks xmlns:a="http://schemas.openxmlformats.org/drawingml/2006/main" noGrp="1"/>
          </p:cNvSpPr>
          <p:nvPr/>
        </p:nvSpPr>
        <p:spPr>
          <a:xfrm xmlns:a="http://schemas.openxmlformats.org/drawingml/2006/main">
            <a:off x="552450" y="4651375"/>
            <a:ext cx="476250" cy="606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3" name="">
            <a:extLst xmlns:a="http://schemas.openxmlformats.org/drawingml/2006/main">
              <a:ext uri="{FF2B5EF4-FFF2-40B4-BE49-F238E27FC236}">
                <a16:creationId xmlns:a16="http://schemas.microsoft.com/office/drawing/2014/main" id="{3F21262E-7BF6-4DFF-86A2-B3E15389F0FA}"/>
              </a:ext>
            </a:extLst>
          </p:cNvPr>
          <p:cNvSpPr>
            <a:spLocks xmlns:a="http://schemas.openxmlformats.org/drawingml/2006/main" noGrp="1"/>
          </p:cNvSpPr>
          <p:nvPr/>
        </p:nvSpPr>
        <p:spPr>
          <a:xfrm xmlns:a="http://schemas.openxmlformats.org/drawingml/2006/main">
            <a:off x="1257300" y="4651375"/>
            <a:ext cx="10191750" cy="606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C は「両方の条件を同時に満たす確率」。</a:t>
            </a:r>
          </a:p>
        </p:txBody>
      </p:sp>
      <p:sp>
        <p:nvSpPr>
          <p:cNvPr id="14" name="">
            <a:extLst xmlns:a="http://schemas.openxmlformats.org/drawingml/2006/main">
              <a:ext uri="{FF2B5EF4-FFF2-40B4-BE49-F238E27FC236}">
                <a16:creationId xmlns:a16="http://schemas.microsoft.com/office/drawing/2014/main" id="{73E3D1EE-1D82-483E-BC83-5EE291053E14}"/>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CA3E5ABC-C3FA-4546-B7B4-F59D70022FC7}"/>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周辺が同じ一様分布でも、組合せの関係はCによって違う</a:t>
            </a:r>
          </a:p>
        </p:txBody>
      </p:sp>
    </p:spTree>
    <p:extLst>
      <p:ext uri="{BB962C8B-B14F-4D97-AF65-F5344CB8AC3E}">
        <p14:creationId xmlns:p14="http://schemas.microsoft.com/office/powerpoint/2010/main" val="138985932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DEF44EA-6D21-4A6C-B7DE-D5A0FD8BB8B3}"/>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C(0.8, 0.5)は何を数える？</a:t>
            </a:r>
          </a:p>
        </p:txBody>
      </p:sp>
      <p:sp>
        <p:nvSpPr>
          <p:cNvPr id="2" name="">
            <a:extLst xmlns:a="http://schemas.openxmlformats.org/drawingml/2006/main">
              <a:ext uri="{FF2B5EF4-FFF2-40B4-BE49-F238E27FC236}">
                <a16:creationId xmlns:a16="http://schemas.microsoft.com/office/drawing/2014/main" id="{ACF8BE3E-EEF9-4F35-BD47-1F98902F9D8C}"/>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8F15EBF4-E159-4B71-B4AA-48C4BF23C9CD}"/>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身長の位置が0.8以下、かつ体重の位置が0.5以下の人の割合。</a:t>
            </a:r>
          </a:p>
        </p:txBody>
      </p:sp>
      <p:sp>
        <p:nvSpPr>
          <p:cNvPr id="4" name="">
            <a:extLst xmlns:a="http://schemas.openxmlformats.org/drawingml/2006/main">
              <a:ext uri="{FF2B5EF4-FFF2-40B4-BE49-F238E27FC236}">
                <a16:creationId xmlns:a16="http://schemas.microsoft.com/office/drawing/2014/main" id="{815C80AF-50D3-42AB-8004-112165C6A96D}"/>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AD4D89BD-9D75-4A00-B14C-B9431A635DDC}"/>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14</a:t>
            </a:r>
          </a:p>
        </p:txBody>
      </p:sp>
      <p:sp>
        <p:nvSpPr>
          <p:cNvPr id="6" name="">
            <a:extLst xmlns:a="http://schemas.openxmlformats.org/drawingml/2006/main">
              <a:ext uri="{FF2B5EF4-FFF2-40B4-BE49-F238E27FC236}">
                <a16:creationId xmlns:a16="http://schemas.microsoft.com/office/drawing/2014/main" id="{FABD7334-1C1E-483B-ACA9-133FFD9F3008}"/>
              </a:ext>
            </a:extLst>
          </p:cNvPr>
          <p:cNvSpPr>
            <a:spLocks xmlns:a="http://schemas.openxmlformats.org/drawingml/2006/main" noGrp="1"/>
          </p:cNvSpPr>
          <p:nvPr/>
        </p:nvSpPr>
        <p:spPr>
          <a:xfrm xmlns:a="http://schemas.openxmlformats.org/drawingml/2006/main">
            <a:off x="514350" y="2047875"/>
            <a:ext cx="5314950" cy="311467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ED3D044-769E-4307-BB51-24AB67D69BEA}"/>
              </a:ext>
            </a:extLst>
          </p:cNvPr>
          <p:cNvSpPr>
            <a:spLocks xmlns:a="http://schemas.openxmlformats.org/drawingml/2006/main" noGrp="1"/>
          </p:cNvSpPr>
          <p:nvPr/>
        </p:nvSpPr>
        <p:spPr>
          <a:xfrm xmlns:a="http://schemas.openxmlformats.org/drawingml/2006/main">
            <a:off x="704850" y="2162175"/>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B6777"/>
                </a:solidFill>
                <a:latin typeface="Noto Sans JP"/>
                <a:ea typeface="Noto Sans JP"/>
                <a:cs typeface="Noto Sans JP"/>
              </a:defRPr>
            </a:pPr>
            <a:r>
              <a:rPr sz="2175" b="1">
                <a:solidFill>
                  <a:srgbClr val="2B6777"/>
                </a:solidFill>
                <a:latin typeface="Noto Sans JP"/>
                <a:ea typeface="Noto Sans JP"/>
                <a:cs typeface="Noto Sans JP"/>
              </a:rPr>
              <a:t>二つの条件を重ねる</a:t>
            </a:r>
          </a:p>
        </p:txBody>
      </p:sp>
      <p:sp>
        <p:nvSpPr>
          <p:cNvPr id="8" name="">
            <a:extLst xmlns:a="http://schemas.openxmlformats.org/drawingml/2006/main">
              <a:ext uri="{FF2B5EF4-FFF2-40B4-BE49-F238E27FC236}">
                <a16:creationId xmlns:a16="http://schemas.microsoft.com/office/drawing/2014/main" id="{F5F1AEC8-EACD-4CC9-B8F7-6CEA3E3A5734}"/>
              </a:ext>
            </a:extLst>
          </p:cNvPr>
          <p:cNvSpPr>
            <a:spLocks xmlns:a="http://schemas.openxmlformats.org/drawingml/2006/main" noGrp="1"/>
          </p:cNvSpPr>
          <p:nvPr/>
        </p:nvSpPr>
        <p:spPr>
          <a:xfrm xmlns:a="http://schemas.openxmlformats.org/drawingml/2006/main">
            <a:off x="704850" y="2714625"/>
            <a:ext cx="4933950" cy="2352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条件1：U ≤ 0.8</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身長が低い側から80%まで</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条件2：V ≤ 0.5</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体重が軽い側から50%まで</a:t>
            </a:r>
          </a:p>
        </p:txBody>
      </p:sp>
      <p:sp>
        <p:nvSpPr>
          <p:cNvPr id="9" name="">
            <a:extLst xmlns:a="http://schemas.openxmlformats.org/drawingml/2006/main">
              <a:ext uri="{FF2B5EF4-FFF2-40B4-BE49-F238E27FC236}">
                <a16:creationId xmlns:a16="http://schemas.microsoft.com/office/drawing/2014/main" id="{6B613AEF-0040-4E6B-A368-A04E3DAC485E}"/>
              </a:ext>
            </a:extLst>
          </p:cNvPr>
          <p:cNvSpPr>
            <a:spLocks xmlns:a="http://schemas.openxmlformats.org/drawingml/2006/main" noGrp="1"/>
          </p:cNvSpPr>
          <p:nvPr/>
        </p:nvSpPr>
        <p:spPr>
          <a:xfrm xmlns:a="http://schemas.openxmlformats.org/drawingml/2006/main">
            <a:off x="6076950" y="2047875"/>
            <a:ext cx="5600700" cy="311467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5594C127-77C8-431A-B883-E228AA27FFB2}"/>
              </a:ext>
            </a:extLst>
          </p:cNvPr>
          <p:cNvSpPr>
            <a:spLocks xmlns:a="http://schemas.openxmlformats.org/drawingml/2006/main" noGrp="1"/>
          </p:cNvSpPr>
          <p:nvPr/>
        </p:nvSpPr>
        <p:spPr>
          <a:xfrm xmlns:a="http://schemas.openxmlformats.org/drawingml/2006/main">
            <a:off x="6267450" y="2162175"/>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両方を満たす部分</a:t>
            </a:r>
          </a:p>
        </p:txBody>
      </p:sp>
      <p:sp>
        <p:nvSpPr>
          <p:cNvPr id="11" name="">
            <a:extLst xmlns:a="http://schemas.openxmlformats.org/drawingml/2006/main">
              <a:ext uri="{FF2B5EF4-FFF2-40B4-BE49-F238E27FC236}">
                <a16:creationId xmlns:a16="http://schemas.microsoft.com/office/drawing/2014/main" id="{6EFDEDB4-E690-4D4C-9EAC-AAB52FF891AF}"/>
              </a:ext>
            </a:extLst>
          </p:cNvPr>
          <p:cNvSpPr>
            <a:spLocks xmlns:a="http://schemas.openxmlformats.org/drawingml/2006/main" noGrp="1"/>
          </p:cNvSpPr>
          <p:nvPr/>
        </p:nvSpPr>
        <p:spPr>
          <a:xfrm xmlns:a="http://schemas.openxmlformats.org/drawingml/2006/main">
            <a:off x="6267450" y="2714625"/>
            <a:ext cx="5219700" cy="2352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「身長がこの範囲」かつ</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「体重もこの範囲」</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点の分布により割合が変わる。</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ただ長方形の面積を計算する</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とは限らない。</a:t>
            </a:r>
          </a:p>
        </p:txBody>
      </p:sp>
      <p:sp>
        <p:nvSpPr>
          <p:cNvPr id="12" name="">
            <a:extLst xmlns:a="http://schemas.openxmlformats.org/drawingml/2006/main">
              <a:ext uri="{FF2B5EF4-FFF2-40B4-BE49-F238E27FC236}">
                <a16:creationId xmlns:a16="http://schemas.microsoft.com/office/drawing/2014/main" id="{FAEBDD23-CDB1-4BAB-AC29-BB0E364BA3AD}"/>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4A7EFB3-C9AD-4112-BD44-58F422BB937A}"/>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Cは同時確率。条件付き確率とは区別する</a:t>
            </a:r>
          </a:p>
        </p:txBody>
      </p:sp>
    </p:spTree>
    <p:extLst>
      <p:ext uri="{BB962C8B-B14F-4D97-AF65-F5344CB8AC3E}">
        <p14:creationId xmlns:p14="http://schemas.microsoft.com/office/powerpoint/2010/main" val="166313522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C91D26A-F187-4B0B-9243-2AB0CE8AD777}"/>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同時確率を、図で見る</a:t>
            </a:r>
          </a:p>
        </p:txBody>
      </p:sp>
      <p:sp>
        <p:nvSpPr>
          <p:cNvPr id="2" name="">
            <a:extLst xmlns:a="http://schemas.openxmlformats.org/drawingml/2006/main">
              <a:ext uri="{FF2B5EF4-FFF2-40B4-BE49-F238E27FC236}">
                <a16:creationId xmlns:a16="http://schemas.microsoft.com/office/drawing/2014/main" id="{08E26097-DB1E-4EC6-A3E6-5187D36D7D69}"/>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8C86391D-9BAA-429D-9792-6D422A3B341A}"/>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独立の説明例：左下の範囲に入るのは100点中40点。</a:t>
            </a:r>
          </a:p>
        </p:txBody>
      </p:sp>
      <p:sp>
        <p:nvSpPr>
          <p:cNvPr id="4" name="">
            <a:extLst xmlns:a="http://schemas.openxmlformats.org/drawingml/2006/main">
              <a:ext uri="{FF2B5EF4-FFF2-40B4-BE49-F238E27FC236}">
                <a16:creationId xmlns:a16="http://schemas.microsoft.com/office/drawing/2014/main" id="{CE13499B-3674-4D89-AF10-B7049BD51E6C}"/>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D2BA9280-B0D8-49D1-A13B-0AA2A2268468}"/>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15</a:t>
            </a:r>
          </a:p>
        </p:txBody>
      </p:sp>
      <p:graphicFrame>
        <p:nvGraphicFramePr>
          <p:cNvPr id="17" name="Chart"/>
          <p:cNvGraphicFramePr/>
          <p:nvPr/>
        </p:nvGraphicFramePr>
        <p:xfrm>
          <a:off xmlns:a="http://schemas.openxmlformats.org/drawingml/2006/main" x="609600" y="1952625"/>
          <a:ext xmlns:a="http://schemas.openxmlformats.org/drawingml/2006/main" cx="6191250" cy="3486150"/>
        </p:xfrm>
        <a:graphic xmlns:a="http://schemas.openxmlformats.org/drawingml/2006/main">
          <a:graphicData uri="http://schemas.openxmlformats.org/drawingml/2006/chart">
            <c:chart xmlns:r="http://schemas.openxmlformats.org/officeDocument/2006/relationships" xmlns:c="http://schemas.openxmlformats.org/drawingml/2006/chart" r:id="R1e2d4137c4b14d0c"/>
          </a:graphicData>
        </a:graphic>
      </p:graphicFrame>
      <p:sp>
        <p:nvSpPr>
          <p:cNvPr id="7" name="">
            <a:extLst xmlns:a="http://schemas.openxmlformats.org/drawingml/2006/main">
              <a:ext uri="{FF2B5EF4-FFF2-40B4-BE49-F238E27FC236}">
                <a16:creationId xmlns:a16="http://schemas.microsoft.com/office/drawing/2014/main" id="{78962F9F-BBAF-4952-AEE0-C65CBF3FD0BD}"/>
              </a:ext>
            </a:extLst>
          </p:cNvPr>
          <p:cNvSpPr>
            <a:spLocks xmlns:a="http://schemas.openxmlformats.org/drawingml/2006/main" noGrp="1"/>
          </p:cNvSpPr>
          <p:nvPr/>
        </p:nvSpPr>
        <p:spPr>
          <a:xfrm xmlns:a="http://schemas.openxmlformats.org/drawingml/2006/main">
            <a:off x="7086600" y="2095500"/>
            <a:ext cx="4552950" cy="314325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B79B866-FC4D-4610-882A-B6AD26629E19}"/>
              </a:ext>
            </a:extLst>
          </p:cNvPr>
          <p:cNvSpPr>
            <a:spLocks xmlns:a="http://schemas.openxmlformats.org/drawingml/2006/main" noGrp="1"/>
          </p:cNvSpPr>
          <p:nvPr/>
        </p:nvSpPr>
        <p:spPr>
          <a:xfrm xmlns:a="http://schemas.openxmlformats.org/drawingml/2006/main">
            <a:off x="7277100" y="2209800"/>
            <a:ext cx="4171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緑の点を数える</a:t>
            </a:r>
          </a:p>
        </p:txBody>
      </p:sp>
      <p:sp>
        <p:nvSpPr>
          <p:cNvPr id="9" name="">
            <a:extLst xmlns:a="http://schemas.openxmlformats.org/drawingml/2006/main">
              <a:ext uri="{FF2B5EF4-FFF2-40B4-BE49-F238E27FC236}">
                <a16:creationId xmlns:a16="http://schemas.microsoft.com/office/drawing/2014/main" id="{C85ED30F-CBF7-4CD4-A68A-512E2CA87F0B}"/>
              </a:ext>
            </a:extLst>
          </p:cNvPr>
          <p:cNvSpPr>
            <a:spLocks xmlns:a="http://schemas.openxmlformats.org/drawingml/2006/main" noGrp="1"/>
          </p:cNvSpPr>
          <p:nvPr/>
        </p:nvSpPr>
        <p:spPr>
          <a:xfrm xmlns:a="http://schemas.openxmlformats.org/drawingml/2006/main">
            <a:off x="7277100" y="2762250"/>
            <a:ext cx="417195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U ≤ 0.8 かつ V ≤ 0.5</a:t>
            </a:r>
          </a:p>
          <a:p xmlns:a="http://schemas.openxmlformats.org/drawingml/2006/main">
            <a:r>
              <a:t/>
            </a:r>
          </a:p>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左下の範囲：40点</a:t>
            </a:r>
          </a:p>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全体：100点</a:t>
            </a:r>
          </a:p>
          <a:p xmlns:a="http://schemas.openxmlformats.org/drawingml/2006/main">
            <a:r>
              <a:t/>
            </a:r>
          </a:p>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C(0.8, 0.5) = 0.4</a:t>
            </a:r>
          </a:p>
        </p:txBody>
      </p:sp>
      <p:sp>
        <p:nvSpPr>
          <p:cNvPr id="10" name="">
            <a:extLst xmlns:a="http://schemas.openxmlformats.org/drawingml/2006/main">
              <a:ext uri="{FF2B5EF4-FFF2-40B4-BE49-F238E27FC236}">
                <a16:creationId xmlns:a16="http://schemas.microsoft.com/office/drawing/2014/main" id="{4E88C732-D0F1-42AB-904D-CA2306FE52CB}"/>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1041932-E011-41E2-B2DF-2EFF5283D4A1}"/>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一般のCでは、同じ範囲でも点の集まり方で確率が変わる</a:t>
            </a:r>
          </a:p>
        </p:txBody>
      </p:sp>
    </p:spTree>
    <p:extLst>
      <p:ext uri="{BB962C8B-B14F-4D97-AF65-F5344CB8AC3E}">
        <p14:creationId xmlns:p14="http://schemas.microsoft.com/office/powerpoint/2010/main" val="62908880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ECB256B-4BC7-4031-92F0-3DB2C1DCE40C}"/>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なぜ C(u, 1) = u なのか</a:t>
            </a:r>
          </a:p>
        </p:txBody>
      </p:sp>
      <p:sp>
        <p:nvSpPr>
          <p:cNvPr id="2" name="">
            <a:extLst xmlns:a="http://schemas.openxmlformats.org/drawingml/2006/main">
              <a:ext uri="{FF2B5EF4-FFF2-40B4-BE49-F238E27FC236}">
                <a16:creationId xmlns:a16="http://schemas.microsoft.com/office/drawing/2014/main" id="{7ADCA07D-1811-429D-BEA2-8B2D03BBD09F}"/>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4B1E5622-B883-43AE-94A7-AA91964F8551}"/>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体重側の条件を全範囲へ広げると、誰も除外されなくなる。</a:t>
            </a:r>
          </a:p>
        </p:txBody>
      </p:sp>
      <p:sp>
        <p:nvSpPr>
          <p:cNvPr id="4" name="">
            <a:extLst xmlns:a="http://schemas.openxmlformats.org/drawingml/2006/main">
              <a:ext uri="{FF2B5EF4-FFF2-40B4-BE49-F238E27FC236}">
                <a16:creationId xmlns:a16="http://schemas.microsoft.com/office/drawing/2014/main" id="{80B7EEC3-2262-4C63-8365-34899A1BB184}"/>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D67C3ACA-CEF6-40C9-886D-9F610DB9F5EB}"/>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16</a:t>
            </a:r>
          </a:p>
        </p:txBody>
      </p:sp>
      <p:sp>
        <p:nvSpPr>
          <p:cNvPr id="6" name="">
            <a:extLst xmlns:a="http://schemas.openxmlformats.org/drawingml/2006/main">
              <a:ext uri="{FF2B5EF4-FFF2-40B4-BE49-F238E27FC236}">
                <a16:creationId xmlns:a16="http://schemas.microsoft.com/office/drawing/2014/main" id="{3CD7AC5A-E416-4E12-9036-0A6EE76E7FCE}"/>
              </a:ext>
            </a:extLst>
          </p:cNvPr>
          <p:cNvSpPr>
            <a:spLocks xmlns:a="http://schemas.openxmlformats.org/drawingml/2006/main" noGrp="1"/>
          </p:cNvSpPr>
          <p:nvPr/>
        </p:nvSpPr>
        <p:spPr>
          <a:xfrm xmlns:a="http://schemas.openxmlformats.org/drawingml/2006/main">
            <a:off x="514350" y="20002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D3B599E-DF17-4076-B57E-70332153A1DC}"/>
              </a:ext>
            </a:extLst>
          </p:cNvPr>
          <p:cNvSpPr>
            <a:spLocks xmlns:a="http://schemas.openxmlformats.org/drawingml/2006/main" noGrp="1"/>
          </p:cNvSpPr>
          <p:nvPr/>
        </p:nvSpPr>
        <p:spPr>
          <a:xfrm xmlns:a="http://schemas.openxmlformats.org/drawingml/2006/main">
            <a:off x="704850" y="20955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C(u, 1) = P(U ≤ u, V ≤ 1) = P(U ≤ u) = u</a:t>
            </a:r>
          </a:p>
        </p:txBody>
      </p:sp>
      <p:sp>
        <p:nvSpPr>
          <p:cNvPr id="8" name="">
            <a:extLst xmlns:a="http://schemas.openxmlformats.org/drawingml/2006/main">
              <a:ext uri="{FF2B5EF4-FFF2-40B4-BE49-F238E27FC236}">
                <a16:creationId xmlns:a16="http://schemas.microsoft.com/office/drawing/2014/main" id="{56EC1B10-C9F3-48F0-B22B-27EB739B052F}"/>
              </a:ext>
            </a:extLst>
          </p:cNvPr>
          <p:cNvSpPr>
            <a:spLocks xmlns:a="http://schemas.openxmlformats.org/drawingml/2006/main" noGrp="1"/>
          </p:cNvSpPr>
          <p:nvPr/>
        </p:nvSpPr>
        <p:spPr>
          <a:xfrm xmlns:a="http://schemas.openxmlformats.org/drawingml/2006/main">
            <a:off x="552450" y="3333750"/>
            <a:ext cx="4762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9" name="">
            <a:extLst xmlns:a="http://schemas.openxmlformats.org/drawingml/2006/main">
              <a:ext uri="{FF2B5EF4-FFF2-40B4-BE49-F238E27FC236}">
                <a16:creationId xmlns:a16="http://schemas.microsoft.com/office/drawing/2014/main" id="{4E89C514-6B99-49A6-8F1C-1D8549617C53}"/>
              </a:ext>
            </a:extLst>
          </p:cNvPr>
          <p:cNvSpPr>
            <a:spLocks xmlns:a="http://schemas.openxmlformats.org/drawingml/2006/main" noGrp="1"/>
          </p:cNvSpPr>
          <p:nvPr/>
        </p:nvSpPr>
        <p:spPr>
          <a:xfrm xmlns:a="http://schemas.openxmlformats.org/drawingml/2006/main">
            <a:off x="1257300" y="3333750"/>
            <a:ext cx="101917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V ≤ 1：体重の位置は必ず0〜1。全員が条件を満たす。</a:t>
            </a:r>
          </a:p>
        </p:txBody>
      </p:sp>
      <p:sp>
        <p:nvSpPr>
          <p:cNvPr id="10" name="">
            <a:extLst xmlns:a="http://schemas.openxmlformats.org/drawingml/2006/main">
              <a:ext uri="{FF2B5EF4-FFF2-40B4-BE49-F238E27FC236}">
                <a16:creationId xmlns:a16="http://schemas.microsoft.com/office/drawing/2014/main" id="{9CC0898A-F3BF-439C-B971-20F652C61920}"/>
              </a:ext>
            </a:extLst>
          </p:cNvPr>
          <p:cNvSpPr>
            <a:spLocks xmlns:a="http://schemas.openxmlformats.org/drawingml/2006/main" noGrp="1"/>
          </p:cNvSpPr>
          <p:nvPr/>
        </p:nvSpPr>
        <p:spPr>
          <a:xfrm xmlns:a="http://schemas.openxmlformats.org/drawingml/2006/main">
            <a:off x="552450" y="3994150"/>
            <a:ext cx="4762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11" name="">
            <a:extLst xmlns:a="http://schemas.openxmlformats.org/drawingml/2006/main">
              <a:ext uri="{FF2B5EF4-FFF2-40B4-BE49-F238E27FC236}">
                <a16:creationId xmlns:a16="http://schemas.microsoft.com/office/drawing/2014/main" id="{50D31EC8-BE98-4E66-B02C-E55311901FC5}"/>
              </a:ext>
            </a:extLst>
          </p:cNvPr>
          <p:cNvSpPr>
            <a:spLocks xmlns:a="http://schemas.openxmlformats.org/drawingml/2006/main" noGrp="1"/>
          </p:cNvSpPr>
          <p:nvPr/>
        </p:nvSpPr>
        <p:spPr>
          <a:xfrm xmlns:a="http://schemas.openxmlformats.org/drawingml/2006/main">
            <a:off x="1257300" y="3994150"/>
            <a:ext cx="101917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残る条件は U ≤ u だけ。</a:t>
            </a:r>
          </a:p>
        </p:txBody>
      </p:sp>
      <p:sp>
        <p:nvSpPr>
          <p:cNvPr id="12" name="">
            <a:extLst xmlns:a="http://schemas.openxmlformats.org/drawingml/2006/main">
              <a:ext uri="{FF2B5EF4-FFF2-40B4-BE49-F238E27FC236}">
                <a16:creationId xmlns:a16="http://schemas.microsoft.com/office/drawing/2014/main" id="{4AB51F56-A3BD-41D0-A322-B968EA0F79C0}"/>
              </a:ext>
            </a:extLst>
          </p:cNvPr>
          <p:cNvSpPr>
            <a:spLocks xmlns:a="http://schemas.openxmlformats.org/drawingml/2006/main" noGrp="1"/>
          </p:cNvSpPr>
          <p:nvPr/>
        </p:nvSpPr>
        <p:spPr>
          <a:xfrm xmlns:a="http://schemas.openxmlformats.org/drawingml/2006/main">
            <a:off x="552450" y="4654550"/>
            <a:ext cx="4762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3" name="">
            <a:extLst xmlns:a="http://schemas.openxmlformats.org/drawingml/2006/main">
              <a:ext uri="{FF2B5EF4-FFF2-40B4-BE49-F238E27FC236}">
                <a16:creationId xmlns:a16="http://schemas.microsoft.com/office/drawing/2014/main" id="{53961FAF-BB47-4BDF-8649-383333ABB82C}"/>
              </a:ext>
            </a:extLst>
          </p:cNvPr>
          <p:cNvSpPr>
            <a:spLocks xmlns:a="http://schemas.openxmlformats.org/drawingml/2006/main" noGrp="1"/>
          </p:cNvSpPr>
          <p:nvPr/>
        </p:nvSpPr>
        <p:spPr>
          <a:xfrm xmlns:a="http://schemas.openxmlformats.org/drawingml/2006/main">
            <a:off x="1257300" y="4654550"/>
            <a:ext cx="101917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U は一様分布なので、U ≤ 0.8 の割合は0.8。</a:t>
            </a:r>
          </a:p>
        </p:txBody>
      </p:sp>
      <p:sp>
        <p:nvSpPr>
          <p:cNvPr id="14" name="">
            <a:extLst xmlns:a="http://schemas.openxmlformats.org/drawingml/2006/main">
              <a:ext uri="{FF2B5EF4-FFF2-40B4-BE49-F238E27FC236}">
                <a16:creationId xmlns:a16="http://schemas.microsoft.com/office/drawing/2014/main" id="{721CD0BF-3B0B-468A-824D-9A25B3873572}"/>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EE86FB0-553E-4885-82CE-4A792CCC8986}"/>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どんな依存関係でも C(0.8, 1) = 0.8</a:t>
            </a:r>
          </a:p>
        </p:txBody>
      </p:sp>
    </p:spTree>
    <p:extLst>
      <p:ext uri="{BB962C8B-B14F-4D97-AF65-F5344CB8AC3E}">
        <p14:creationId xmlns:p14="http://schemas.microsoft.com/office/powerpoint/2010/main" val="176495164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6AA926C-279B-40B3-B5DB-8B6D53FFA972}"/>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独立なら、なぜ C(u, v) = uv？</a:t>
            </a:r>
          </a:p>
        </p:txBody>
      </p:sp>
      <p:sp>
        <p:nvSpPr>
          <p:cNvPr id="2" name="">
            <a:extLst xmlns:a="http://schemas.openxmlformats.org/drawingml/2006/main">
              <a:ext uri="{FF2B5EF4-FFF2-40B4-BE49-F238E27FC236}">
                <a16:creationId xmlns:a16="http://schemas.microsoft.com/office/drawing/2014/main" id="{19CB5004-01BF-4191-991A-5B7CB01FB520}"/>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7891A1E9-699C-4318-AB92-EB4392651810}"/>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身長の位置で絞っても、体重の位置の分布が変わらない。</a:t>
            </a:r>
          </a:p>
        </p:txBody>
      </p:sp>
      <p:sp>
        <p:nvSpPr>
          <p:cNvPr id="4" name="">
            <a:extLst xmlns:a="http://schemas.openxmlformats.org/drawingml/2006/main">
              <a:ext uri="{FF2B5EF4-FFF2-40B4-BE49-F238E27FC236}">
                <a16:creationId xmlns:a16="http://schemas.microsoft.com/office/drawing/2014/main" id="{4544BB7E-C3CD-42BE-AB1D-8CC548C7ADDF}"/>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102D8AB3-DFB4-4489-84CA-5C8F85BA4ABF}"/>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17</a:t>
            </a:r>
          </a:p>
        </p:txBody>
      </p:sp>
      <p:sp>
        <p:nvSpPr>
          <p:cNvPr id="6" name="">
            <a:extLst xmlns:a="http://schemas.openxmlformats.org/drawingml/2006/main">
              <a:ext uri="{FF2B5EF4-FFF2-40B4-BE49-F238E27FC236}">
                <a16:creationId xmlns:a16="http://schemas.microsoft.com/office/drawing/2014/main" id="{6D493A14-8ADE-4AF5-9A85-6AE9C7E773E0}"/>
              </a:ext>
            </a:extLst>
          </p:cNvPr>
          <p:cNvSpPr>
            <a:spLocks xmlns:a="http://schemas.openxmlformats.org/drawingml/2006/main" noGrp="1"/>
          </p:cNvSpPr>
          <p:nvPr/>
        </p:nvSpPr>
        <p:spPr>
          <a:xfrm xmlns:a="http://schemas.openxmlformats.org/drawingml/2006/main">
            <a:off x="514350" y="19621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060A1E8-E72C-4B89-99B4-02B1988B8B95}"/>
              </a:ext>
            </a:extLst>
          </p:cNvPr>
          <p:cNvSpPr>
            <a:spLocks xmlns:a="http://schemas.openxmlformats.org/drawingml/2006/main" noGrp="1"/>
          </p:cNvSpPr>
          <p:nvPr/>
        </p:nvSpPr>
        <p:spPr>
          <a:xfrm xmlns:a="http://schemas.openxmlformats.org/drawingml/2006/main">
            <a:off x="704850" y="20574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700" b="1">
                <a:solidFill>
                  <a:srgbClr val="2B6777"/>
                </a:solidFill>
                <a:latin typeface="Noto Sans JP"/>
                <a:ea typeface="Noto Sans JP"/>
                <a:cs typeface="Noto Sans JP"/>
              </a:defRPr>
            </a:pPr>
            <a:r>
              <a:rPr sz="2700" b="1">
                <a:solidFill>
                  <a:srgbClr val="2B6777"/>
                </a:solidFill>
                <a:latin typeface="Noto Sans JP"/>
                <a:ea typeface="Noto Sans JP"/>
                <a:cs typeface="Noto Sans JP"/>
              </a:rPr>
              <a:t>C(u, v) = P(U ≤ u) × P(V ≤ v) = u × v</a:t>
            </a:r>
          </a:p>
        </p:txBody>
      </p:sp>
      <p:sp>
        <p:nvSpPr>
          <p:cNvPr id="8" name="">
            <a:extLst xmlns:a="http://schemas.openxmlformats.org/drawingml/2006/main">
              <a:ext uri="{FF2B5EF4-FFF2-40B4-BE49-F238E27FC236}">
                <a16:creationId xmlns:a16="http://schemas.microsoft.com/office/drawing/2014/main" id="{43B76EDE-7464-48FE-8C54-3205C4E76709}"/>
              </a:ext>
            </a:extLst>
          </p:cNvPr>
          <p:cNvSpPr>
            <a:spLocks xmlns:a="http://schemas.openxmlformats.org/drawingml/2006/main" noGrp="1"/>
          </p:cNvSpPr>
          <p:nvPr/>
        </p:nvSpPr>
        <p:spPr>
          <a:xfrm xmlns:a="http://schemas.openxmlformats.org/drawingml/2006/main">
            <a:off x="552450" y="3286125"/>
            <a:ext cx="476250" cy="61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9" name="">
            <a:extLst xmlns:a="http://schemas.openxmlformats.org/drawingml/2006/main">
              <a:ext uri="{FF2B5EF4-FFF2-40B4-BE49-F238E27FC236}">
                <a16:creationId xmlns:a16="http://schemas.microsoft.com/office/drawing/2014/main" id="{AE1537D0-CA65-43C9-96EA-CD422FEB8791}"/>
              </a:ext>
            </a:extLst>
          </p:cNvPr>
          <p:cNvSpPr>
            <a:spLocks xmlns:a="http://schemas.openxmlformats.org/drawingml/2006/main" noGrp="1"/>
          </p:cNvSpPr>
          <p:nvPr/>
        </p:nvSpPr>
        <p:spPr>
          <a:xfrm xmlns:a="http://schemas.openxmlformats.org/drawingml/2006/main">
            <a:off x="1257300" y="3286125"/>
            <a:ext cx="10191750" cy="61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例：身長の位置0.8以下 → 全体の80%。</a:t>
            </a:r>
          </a:p>
        </p:txBody>
      </p:sp>
      <p:sp>
        <p:nvSpPr>
          <p:cNvPr id="10" name="">
            <a:extLst xmlns:a="http://schemas.openxmlformats.org/drawingml/2006/main">
              <a:ext uri="{FF2B5EF4-FFF2-40B4-BE49-F238E27FC236}">
                <a16:creationId xmlns:a16="http://schemas.microsoft.com/office/drawing/2014/main" id="{D3D0D7C6-A1E8-4CE4-9E4E-9D9A8AB6EA64}"/>
              </a:ext>
            </a:extLst>
          </p:cNvPr>
          <p:cNvSpPr>
            <a:spLocks xmlns:a="http://schemas.openxmlformats.org/drawingml/2006/main" noGrp="1"/>
          </p:cNvSpPr>
          <p:nvPr/>
        </p:nvSpPr>
        <p:spPr>
          <a:xfrm xmlns:a="http://schemas.openxmlformats.org/drawingml/2006/main">
            <a:off x="552450" y="3978275"/>
            <a:ext cx="476250" cy="61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11" name="">
            <a:extLst xmlns:a="http://schemas.openxmlformats.org/drawingml/2006/main">
              <a:ext uri="{FF2B5EF4-FFF2-40B4-BE49-F238E27FC236}">
                <a16:creationId xmlns:a16="http://schemas.microsoft.com/office/drawing/2014/main" id="{1BE136A2-F661-4722-AD32-F2BDAC24FBAC}"/>
              </a:ext>
            </a:extLst>
          </p:cNvPr>
          <p:cNvSpPr>
            <a:spLocks xmlns:a="http://schemas.openxmlformats.org/drawingml/2006/main" noGrp="1"/>
          </p:cNvSpPr>
          <p:nvPr/>
        </p:nvSpPr>
        <p:spPr>
          <a:xfrm xmlns:a="http://schemas.openxmlformats.org/drawingml/2006/main">
            <a:off x="1257300" y="3978275"/>
            <a:ext cx="10191750" cy="61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その集団でも、体重の位置0.5以下 → 50%。</a:t>
            </a:r>
          </a:p>
        </p:txBody>
      </p:sp>
      <p:sp>
        <p:nvSpPr>
          <p:cNvPr id="12" name="">
            <a:extLst xmlns:a="http://schemas.openxmlformats.org/drawingml/2006/main">
              <a:ext uri="{FF2B5EF4-FFF2-40B4-BE49-F238E27FC236}">
                <a16:creationId xmlns:a16="http://schemas.microsoft.com/office/drawing/2014/main" id="{98C09234-0DB6-4AF7-BCE4-82213E6AA563}"/>
              </a:ext>
            </a:extLst>
          </p:cNvPr>
          <p:cNvSpPr>
            <a:spLocks xmlns:a="http://schemas.openxmlformats.org/drawingml/2006/main" noGrp="1"/>
          </p:cNvSpPr>
          <p:nvPr/>
        </p:nvSpPr>
        <p:spPr>
          <a:xfrm xmlns:a="http://schemas.openxmlformats.org/drawingml/2006/main">
            <a:off x="552450" y="4670425"/>
            <a:ext cx="476250" cy="61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3" name="">
            <a:extLst xmlns:a="http://schemas.openxmlformats.org/drawingml/2006/main">
              <a:ext uri="{FF2B5EF4-FFF2-40B4-BE49-F238E27FC236}">
                <a16:creationId xmlns:a16="http://schemas.microsoft.com/office/drawing/2014/main" id="{B2878414-E5DD-45F8-81E7-099BC874806B}"/>
              </a:ext>
            </a:extLst>
          </p:cNvPr>
          <p:cNvSpPr>
            <a:spLocks xmlns:a="http://schemas.openxmlformats.org/drawingml/2006/main" noGrp="1"/>
          </p:cNvSpPr>
          <p:nvPr/>
        </p:nvSpPr>
        <p:spPr>
          <a:xfrm xmlns:a="http://schemas.openxmlformats.org/drawingml/2006/main">
            <a:off x="1257300" y="4670425"/>
            <a:ext cx="10191750" cy="61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両方を満たす割合 → 0.8 × 0.5 = 0.4。</a:t>
            </a:r>
          </a:p>
        </p:txBody>
      </p:sp>
      <p:sp>
        <p:nvSpPr>
          <p:cNvPr id="14" name="">
            <a:extLst xmlns:a="http://schemas.openxmlformats.org/drawingml/2006/main">
              <a:ext uri="{FF2B5EF4-FFF2-40B4-BE49-F238E27FC236}">
                <a16:creationId xmlns:a16="http://schemas.microsoft.com/office/drawing/2014/main" id="{3CBD8961-AB9F-4EC1-B618-967D31407133}"/>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FB6B5841-C955-47FA-B305-22C873224827}"/>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独立の意味：一方を知っても、もう一方の分布は変わらない</a:t>
            </a:r>
          </a:p>
        </p:txBody>
      </p:sp>
    </p:spTree>
    <p:extLst>
      <p:ext uri="{BB962C8B-B14F-4D97-AF65-F5344CB8AC3E}">
        <p14:creationId xmlns:p14="http://schemas.microsoft.com/office/powerpoint/2010/main" val="129082060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3480C49-A141-4962-8314-13D2C3EAB3DE}"/>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完全に同じ位置なら、なぜ min？</a:t>
            </a:r>
          </a:p>
        </p:txBody>
      </p:sp>
      <p:sp>
        <p:nvSpPr>
          <p:cNvPr id="2" name="">
            <a:extLst xmlns:a="http://schemas.openxmlformats.org/drawingml/2006/main">
              <a:ext uri="{FF2B5EF4-FFF2-40B4-BE49-F238E27FC236}">
                <a16:creationId xmlns:a16="http://schemas.microsoft.com/office/drawing/2014/main" id="{278023BD-1131-45F3-BC46-209480F33E67}"/>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84CEBA57-58FC-4750-99B8-0484A7BDBEAA}"/>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V = U：身長と体重の「順位位置」がいつも一致する場合。</a:t>
            </a:r>
          </a:p>
        </p:txBody>
      </p:sp>
      <p:sp>
        <p:nvSpPr>
          <p:cNvPr id="4" name="">
            <a:extLst xmlns:a="http://schemas.openxmlformats.org/drawingml/2006/main">
              <a:ext uri="{FF2B5EF4-FFF2-40B4-BE49-F238E27FC236}">
                <a16:creationId xmlns:a16="http://schemas.microsoft.com/office/drawing/2014/main" id="{C4965EC9-997B-4697-9F39-EED20199CA7C}"/>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519CE583-756E-4454-8C0A-09F5F02246BE}"/>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18</a:t>
            </a:r>
          </a:p>
        </p:txBody>
      </p:sp>
      <p:sp>
        <p:nvSpPr>
          <p:cNvPr id="6" name="">
            <a:extLst xmlns:a="http://schemas.openxmlformats.org/drawingml/2006/main">
              <a:ext uri="{FF2B5EF4-FFF2-40B4-BE49-F238E27FC236}">
                <a16:creationId xmlns:a16="http://schemas.microsoft.com/office/drawing/2014/main" id="{EAFD74E2-238D-4CA5-865B-8007CC141414}"/>
              </a:ext>
            </a:extLst>
          </p:cNvPr>
          <p:cNvSpPr>
            <a:spLocks xmlns:a="http://schemas.openxmlformats.org/drawingml/2006/main" noGrp="1"/>
          </p:cNvSpPr>
          <p:nvPr/>
        </p:nvSpPr>
        <p:spPr>
          <a:xfrm xmlns:a="http://schemas.openxmlformats.org/drawingml/2006/main">
            <a:off x="514350" y="195262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6206F72-7754-4998-B66D-74DC17ABFF23}"/>
              </a:ext>
            </a:extLst>
          </p:cNvPr>
          <p:cNvSpPr>
            <a:spLocks xmlns:a="http://schemas.openxmlformats.org/drawingml/2006/main" noGrp="1"/>
          </p:cNvSpPr>
          <p:nvPr/>
        </p:nvSpPr>
        <p:spPr>
          <a:xfrm xmlns:a="http://schemas.openxmlformats.org/drawingml/2006/main">
            <a:off x="704850" y="204787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325" b="1">
                <a:solidFill>
                  <a:srgbClr val="2B6777"/>
                </a:solidFill>
                <a:latin typeface="Noto Sans JP"/>
                <a:ea typeface="Noto Sans JP"/>
                <a:cs typeface="Noto Sans JP"/>
              </a:defRPr>
            </a:pPr>
            <a:r>
              <a:rPr sz="2325" b="1">
                <a:solidFill>
                  <a:srgbClr val="2B6777"/>
                </a:solidFill>
                <a:latin typeface="Noto Sans JP"/>
                <a:ea typeface="Noto Sans JP"/>
                <a:cs typeface="Noto Sans JP"/>
              </a:rPr>
              <a:t>C(u, v) = P(U ≤ u, U ≤ v) = P(U ≤ min(u, v))</a:t>
            </a:r>
          </a:p>
        </p:txBody>
      </p:sp>
      <p:sp>
        <p:nvSpPr>
          <p:cNvPr id="8" name="">
            <a:extLst xmlns:a="http://schemas.openxmlformats.org/drawingml/2006/main">
              <a:ext uri="{FF2B5EF4-FFF2-40B4-BE49-F238E27FC236}">
                <a16:creationId xmlns:a16="http://schemas.microsoft.com/office/drawing/2014/main" id="{FD4C5642-5559-49E8-B8DD-0CD4E7A53002}"/>
              </a:ext>
            </a:extLst>
          </p:cNvPr>
          <p:cNvSpPr>
            <a:spLocks xmlns:a="http://schemas.openxmlformats.org/drawingml/2006/main" noGrp="1"/>
          </p:cNvSpPr>
          <p:nvPr/>
        </p:nvSpPr>
        <p:spPr>
          <a:xfrm xmlns:a="http://schemas.openxmlformats.org/drawingml/2006/main">
            <a:off x="552450" y="3314700"/>
            <a:ext cx="476250" cy="60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9" name="">
            <a:extLst xmlns:a="http://schemas.openxmlformats.org/drawingml/2006/main">
              <a:ext uri="{FF2B5EF4-FFF2-40B4-BE49-F238E27FC236}">
                <a16:creationId xmlns:a16="http://schemas.microsoft.com/office/drawing/2014/main" id="{6B888474-7C84-47CB-83D2-EE1E3FB7D448}"/>
              </a:ext>
            </a:extLst>
          </p:cNvPr>
          <p:cNvSpPr>
            <a:spLocks xmlns:a="http://schemas.openxmlformats.org/drawingml/2006/main" noGrp="1"/>
          </p:cNvSpPr>
          <p:nvPr/>
        </p:nvSpPr>
        <p:spPr>
          <a:xfrm xmlns:a="http://schemas.openxmlformats.org/drawingml/2006/main">
            <a:off x="1257300" y="3314700"/>
            <a:ext cx="10191750" cy="60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例：U ≤ 0.8 かつ U ≤ 0.5。</a:t>
            </a:r>
          </a:p>
        </p:txBody>
      </p:sp>
      <p:sp>
        <p:nvSpPr>
          <p:cNvPr id="10" name="">
            <a:extLst xmlns:a="http://schemas.openxmlformats.org/drawingml/2006/main">
              <a:ext uri="{FF2B5EF4-FFF2-40B4-BE49-F238E27FC236}">
                <a16:creationId xmlns:a16="http://schemas.microsoft.com/office/drawing/2014/main" id="{B490E642-3138-49CA-B967-8D3C8B3276DE}"/>
              </a:ext>
            </a:extLst>
          </p:cNvPr>
          <p:cNvSpPr>
            <a:spLocks xmlns:a="http://schemas.openxmlformats.org/drawingml/2006/main" noGrp="1"/>
          </p:cNvSpPr>
          <p:nvPr/>
        </p:nvSpPr>
        <p:spPr>
          <a:xfrm xmlns:a="http://schemas.openxmlformats.org/drawingml/2006/main">
            <a:off x="552450" y="3994150"/>
            <a:ext cx="476250" cy="60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11" name="">
            <a:extLst xmlns:a="http://schemas.openxmlformats.org/drawingml/2006/main">
              <a:ext uri="{FF2B5EF4-FFF2-40B4-BE49-F238E27FC236}">
                <a16:creationId xmlns:a16="http://schemas.microsoft.com/office/drawing/2014/main" id="{66F2768D-B934-4B68-BFAC-C8FFAB70A119}"/>
              </a:ext>
            </a:extLst>
          </p:cNvPr>
          <p:cNvSpPr>
            <a:spLocks xmlns:a="http://schemas.openxmlformats.org/drawingml/2006/main" noGrp="1"/>
          </p:cNvSpPr>
          <p:nvPr/>
        </p:nvSpPr>
        <p:spPr>
          <a:xfrm xmlns:a="http://schemas.openxmlformats.org/drawingml/2006/main">
            <a:off x="1257300" y="3994150"/>
            <a:ext cx="10191750" cy="60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両方を満たすのは U ≤ 0.5。</a:t>
            </a:r>
          </a:p>
        </p:txBody>
      </p:sp>
      <p:sp>
        <p:nvSpPr>
          <p:cNvPr id="12" name="">
            <a:extLst xmlns:a="http://schemas.openxmlformats.org/drawingml/2006/main">
              <a:ext uri="{FF2B5EF4-FFF2-40B4-BE49-F238E27FC236}">
                <a16:creationId xmlns:a16="http://schemas.microsoft.com/office/drawing/2014/main" id="{A21CD33F-E24C-43CC-B144-F0B0065AE5DD}"/>
              </a:ext>
            </a:extLst>
          </p:cNvPr>
          <p:cNvSpPr>
            <a:spLocks xmlns:a="http://schemas.openxmlformats.org/drawingml/2006/main" noGrp="1"/>
          </p:cNvSpPr>
          <p:nvPr/>
        </p:nvSpPr>
        <p:spPr>
          <a:xfrm xmlns:a="http://schemas.openxmlformats.org/drawingml/2006/main">
            <a:off x="552450" y="4673600"/>
            <a:ext cx="476250" cy="60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3" name="">
            <a:extLst xmlns:a="http://schemas.openxmlformats.org/drawingml/2006/main">
              <a:ext uri="{FF2B5EF4-FFF2-40B4-BE49-F238E27FC236}">
                <a16:creationId xmlns:a16="http://schemas.microsoft.com/office/drawing/2014/main" id="{E57BEA37-59DE-4573-AFE4-99E2A1FDCCC5}"/>
              </a:ext>
            </a:extLst>
          </p:cNvPr>
          <p:cNvSpPr>
            <a:spLocks xmlns:a="http://schemas.openxmlformats.org/drawingml/2006/main" noGrp="1"/>
          </p:cNvSpPr>
          <p:nvPr/>
        </p:nvSpPr>
        <p:spPr>
          <a:xfrm xmlns:a="http://schemas.openxmlformats.org/drawingml/2006/main">
            <a:off x="1257300" y="4673600"/>
            <a:ext cx="10191750" cy="60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したがって C(0.8, 0.5) = 0.5 = min(0.8, 0.5)。</a:t>
            </a:r>
          </a:p>
        </p:txBody>
      </p:sp>
      <p:sp>
        <p:nvSpPr>
          <p:cNvPr id="14" name="">
            <a:extLst xmlns:a="http://schemas.openxmlformats.org/drawingml/2006/main">
              <a:ext uri="{FF2B5EF4-FFF2-40B4-BE49-F238E27FC236}">
                <a16:creationId xmlns:a16="http://schemas.microsoft.com/office/drawing/2014/main" id="{8867AC22-BA0B-4381-9AAA-A8A64A6C230B}"/>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563617B-8B81-47AA-A4CD-A8C9D61EFF78}"/>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同じ位置に二つの条件をかけるため、小さい境界が残る</a:t>
            </a:r>
          </a:p>
        </p:txBody>
      </p:sp>
    </p:spTree>
    <p:extLst>
      <p:ext uri="{BB962C8B-B14F-4D97-AF65-F5344CB8AC3E}">
        <p14:creationId xmlns:p14="http://schemas.microsoft.com/office/powerpoint/2010/main" val="172782298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0B8232A-938B-4D68-B18B-A014454F4DC6}"/>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同じ周辺分布でも、同時確率は違う</a:t>
            </a:r>
          </a:p>
        </p:txBody>
      </p:sp>
      <p:sp>
        <p:nvSpPr>
          <p:cNvPr id="2" name="">
            <a:extLst xmlns:a="http://schemas.openxmlformats.org/drawingml/2006/main">
              <a:ext uri="{FF2B5EF4-FFF2-40B4-BE49-F238E27FC236}">
                <a16:creationId xmlns:a16="http://schemas.microsoft.com/office/drawing/2014/main" id="{0169A7E0-09F0-4B1B-84AB-50EE4B9C00AE}"/>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2C35F40B-36F9-4C93-A421-B59172BB227A}"/>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どの場合も、身長・体重の位置はそれぞれ一様分布。</a:t>
            </a:r>
          </a:p>
        </p:txBody>
      </p:sp>
      <p:sp>
        <p:nvSpPr>
          <p:cNvPr id="4" name="">
            <a:extLst xmlns:a="http://schemas.openxmlformats.org/drawingml/2006/main">
              <a:ext uri="{FF2B5EF4-FFF2-40B4-BE49-F238E27FC236}">
                <a16:creationId xmlns:a16="http://schemas.microsoft.com/office/drawing/2014/main" id="{2D400075-36AE-4D10-8960-54EBAD2AE37D}"/>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59A3A123-9471-47BA-A785-0C78C1C5CD91}"/>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19</a:t>
            </a:r>
          </a:p>
        </p:txBody>
      </p:sp>
      <p:graphicFrame>
        <p:nvGraphicFramePr>
          <p:cNvPr id="14" name=""/>
          <p:cNvGraphicFramePr/>
          <p:nvPr/>
        </p:nvGraphicFramePr>
        <p:xfrm>
          <a:off xmlns:a="http://schemas.openxmlformats.org/drawingml/2006/main" x="514350" y="2114550"/>
          <a:ext xmlns:a="http://schemas.openxmlformats.org/drawingml/2006/main" cx="11163300" cy="2762250"/>
        </p:xfrm>
        <a:graphic xmlns:a="http://schemas.openxmlformats.org/drawingml/2006/main">
          <a:graphicData uri="http://schemas.openxmlformats.org/drawingml/2006/table">
            <a:tbl>
              <a:tblPr/>
              <a:tblGrid>
                <a:gridCol w="3721100"/>
                <a:gridCol w="3721100"/>
                <a:gridCol w="3721100"/>
              </a:tblGrid>
              <a:tr h="690563">
                <a:tc>
                  <a:txBody>
                    <a:bodyPr/>
                    <a:lstStyle/>
                    <a:p>
                      <a:pPr algn="ctr"/>
                      <a:r>
                        <a:rPr sz="2100" b="1">
                          <a:solidFill>
                            <a:srgbClr val="2E7D5B"/>
                          </a:solidFill>
                          <a:latin typeface="Noto Sans JP"/>
                          <a:ea typeface="Noto Sans JP"/>
                          <a:cs typeface="Noto Sans JP"/>
                        </a:rPr>
                        <a:t>関係</a:t>
                      </a:r>
                    </a:p>
                  </a:txBody>
                  <a:tcPr marL="91440" marR="91440" marT="45720" marB="45720" anchor="ctr">
                    <a:solidFill>
                      <a:srgbClr val="E7F2EC"/>
                    </a:solidFill>
                  </a:tcPr>
                </a:tc>
                <a:tc>
                  <a:txBody>
                    <a:bodyPr/>
                    <a:lstStyle/>
                    <a:p>
                      <a:pPr algn="ctr"/>
                      <a:r>
                        <a:rPr sz="2100" b="1">
                          <a:solidFill>
                            <a:srgbClr val="2E7D5B"/>
                          </a:solidFill>
                          <a:latin typeface="Noto Sans JP"/>
                          <a:ea typeface="Noto Sans JP"/>
                          <a:cs typeface="Noto Sans JP"/>
                        </a:rPr>
                        <a:t>C(u, v)</a:t>
                      </a:r>
                    </a:p>
                  </a:txBody>
                  <a:tcPr marL="91440" marR="91440" marT="45720" marB="45720" anchor="ctr">
                    <a:solidFill>
                      <a:srgbClr val="E7F2EC"/>
                    </a:solidFill>
                  </a:tcPr>
                </a:tc>
                <a:tc>
                  <a:txBody>
                    <a:bodyPr/>
                    <a:lstStyle/>
                    <a:p>
                      <a:pPr algn="ctr"/>
                      <a:r>
                        <a:rPr sz="2100" b="1">
                          <a:solidFill>
                            <a:srgbClr val="2E7D5B"/>
                          </a:solidFill>
                          <a:latin typeface="Noto Sans JP"/>
                          <a:ea typeface="Noto Sans JP"/>
                          <a:cs typeface="Noto Sans JP"/>
                        </a:rPr>
                        <a:t>C(0.8, 0.5)</a:t>
                      </a:r>
                    </a:p>
                  </a:txBody>
                  <a:tcPr marL="91440" marR="91440" marT="45720" marB="45720" anchor="ctr">
                    <a:solidFill>
                      <a:srgbClr val="E7F2EC"/>
                    </a:solidFill>
                  </a:tcPr>
                </a:tc>
              </a:tr>
              <a:tr h="690563">
                <a:tc>
                  <a:txBody>
                    <a:bodyPr/>
                    <a:lstStyle/>
                    <a:p>
                      <a:pPr algn="ctr"/>
                      <a:r>
                        <a:rPr sz="2100" b="0">
                          <a:solidFill>
                            <a:srgbClr val="222222"/>
                          </a:solidFill>
                          <a:latin typeface="Noto Sans JP"/>
                          <a:ea typeface="Noto Sans JP"/>
                          <a:cs typeface="Noto Sans JP"/>
                        </a:rPr>
                        <a:t>独立</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uv</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0.4</a:t>
                      </a:r>
                    </a:p>
                  </a:txBody>
                  <a:tcPr marL="91440" marR="91440" marT="45720" marB="45720" anchor="ctr">
                    <a:solidFill>
                      <a:srgbClr val="FFFFFF"/>
                    </a:solidFill>
                  </a:tcPr>
                </a:tc>
              </a:tr>
              <a:tr h="690563">
                <a:tc>
                  <a:txBody>
                    <a:bodyPr/>
                    <a:lstStyle/>
                    <a:p>
                      <a:pPr algn="ctr"/>
                      <a:r>
                        <a:rPr sz="2100" b="0">
                          <a:solidFill>
                            <a:srgbClr val="222222"/>
                          </a:solidFill>
                          <a:latin typeface="Noto Sans JP"/>
                          <a:ea typeface="Noto Sans JP"/>
                          <a:cs typeface="Noto Sans JP"/>
                        </a:rPr>
                        <a:t>完全に同じ位置：V = U</a:t>
                      </a:r>
                    </a:p>
                  </a:txBody>
                  <a:tcPr marL="91440" marR="91440" marT="45720" marB="45720" anchor="ctr">
                    <a:solidFill>
                      <a:srgbClr val="F6F6F6"/>
                    </a:solidFill>
                  </a:tcPr>
                </a:tc>
                <a:tc>
                  <a:txBody>
                    <a:bodyPr/>
                    <a:lstStyle/>
                    <a:p>
                      <a:pPr algn="ctr"/>
                      <a:r>
                        <a:rPr sz="2100" b="0">
                          <a:solidFill>
                            <a:srgbClr val="222222"/>
                          </a:solidFill>
                          <a:latin typeface="Noto Sans JP"/>
                          <a:ea typeface="Noto Sans JP"/>
                          <a:cs typeface="Noto Sans JP"/>
                        </a:rPr>
                        <a:t>min(u, v)</a:t>
                      </a:r>
                    </a:p>
                  </a:txBody>
                  <a:tcPr marL="91440" marR="91440" marT="45720" marB="45720" anchor="ctr">
                    <a:solidFill>
                      <a:srgbClr val="F6F6F6"/>
                    </a:solidFill>
                  </a:tcPr>
                </a:tc>
                <a:tc>
                  <a:txBody>
                    <a:bodyPr/>
                    <a:lstStyle/>
                    <a:p>
                      <a:pPr algn="ctr"/>
                      <a:r>
                        <a:rPr sz="2100" b="0">
                          <a:solidFill>
                            <a:srgbClr val="222222"/>
                          </a:solidFill>
                          <a:latin typeface="Noto Sans JP"/>
                          <a:ea typeface="Noto Sans JP"/>
                          <a:cs typeface="Noto Sans JP"/>
                        </a:rPr>
                        <a:t>0.5</a:t>
                      </a:r>
                    </a:p>
                  </a:txBody>
                  <a:tcPr marL="91440" marR="91440" marT="45720" marB="45720" anchor="ctr">
                    <a:solidFill>
                      <a:srgbClr val="F6F6F6"/>
                    </a:solidFill>
                  </a:tcPr>
                </a:tc>
              </a:tr>
              <a:tr h="690563">
                <a:tc>
                  <a:txBody>
                    <a:bodyPr/>
                    <a:lstStyle/>
                    <a:p>
                      <a:pPr algn="ctr"/>
                      <a:r>
                        <a:rPr sz="2100" b="0">
                          <a:solidFill>
                            <a:srgbClr val="222222"/>
                          </a:solidFill>
                          <a:latin typeface="Noto Sans JP"/>
                          <a:ea typeface="Noto Sans JP"/>
                          <a:cs typeface="Noto Sans JP"/>
                        </a:rPr>
                        <a:t>完全に逆の位置：V = 1 − U</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max(u + v − 1, 0)</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0.3</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3A65E3FD-2ECE-473A-96E5-E91DB21891F2}"/>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8CED89F-1164-42B1-8221-4536CB9E3FD6}"/>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コピュラの役割：周辺分布だけでは決まらない同時確率を表す</a:t>
            </a:r>
          </a:p>
        </p:txBody>
      </p:sp>
    </p:spTree>
    <p:extLst>
      <p:ext uri="{BB962C8B-B14F-4D97-AF65-F5344CB8AC3E}">
        <p14:creationId xmlns:p14="http://schemas.microsoft.com/office/powerpoint/2010/main" val="176592449"/>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1FE99C1-A786-46B6-9EC1-3FD124519B4B}"/>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元の値との接続：Sklarの定理</a:t>
            </a:r>
          </a:p>
        </p:txBody>
      </p:sp>
      <p:sp>
        <p:nvSpPr>
          <p:cNvPr id="2" name="">
            <a:extLst xmlns:a="http://schemas.openxmlformats.org/drawingml/2006/main">
              <a:ext uri="{FF2B5EF4-FFF2-40B4-BE49-F238E27FC236}">
                <a16:creationId xmlns:a16="http://schemas.microsoft.com/office/drawing/2014/main" id="{6ED0DED9-8777-4D95-8F45-90FC10BF1F62}"/>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4E4C64E6-5362-4004-A3F2-380977998F48}"/>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元の同時分布は「周辺分布」と「コピュラ」で表せる。</a:t>
            </a:r>
          </a:p>
        </p:txBody>
      </p:sp>
      <p:sp>
        <p:nvSpPr>
          <p:cNvPr id="4" name="">
            <a:extLst xmlns:a="http://schemas.openxmlformats.org/drawingml/2006/main">
              <a:ext uri="{FF2B5EF4-FFF2-40B4-BE49-F238E27FC236}">
                <a16:creationId xmlns:a16="http://schemas.microsoft.com/office/drawing/2014/main" id="{692548AE-6C3A-40C3-98B0-3188A8613E82}"/>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97EAC571-3781-4528-9684-68D45C06E030}"/>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20</a:t>
            </a:r>
          </a:p>
        </p:txBody>
      </p:sp>
      <p:sp>
        <p:nvSpPr>
          <p:cNvPr id="6" name="">
            <a:extLst xmlns:a="http://schemas.openxmlformats.org/drawingml/2006/main">
              <a:ext uri="{FF2B5EF4-FFF2-40B4-BE49-F238E27FC236}">
                <a16:creationId xmlns:a16="http://schemas.microsoft.com/office/drawing/2014/main" id="{5E0D13A8-521E-4373-B59E-98BAE8D651B5}"/>
              </a:ext>
            </a:extLst>
          </p:cNvPr>
          <p:cNvSpPr>
            <a:spLocks xmlns:a="http://schemas.openxmlformats.org/drawingml/2006/main" noGrp="1"/>
          </p:cNvSpPr>
          <p:nvPr/>
        </p:nvSpPr>
        <p:spPr>
          <a:xfrm xmlns:a="http://schemas.openxmlformats.org/drawingml/2006/main">
            <a:off x="514350" y="198120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B2DA848-82A4-4A54-B46D-043B701B876B}"/>
              </a:ext>
            </a:extLst>
          </p:cNvPr>
          <p:cNvSpPr>
            <a:spLocks xmlns:a="http://schemas.openxmlformats.org/drawingml/2006/main" noGrp="1"/>
          </p:cNvSpPr>
          <p:nvPr/>
        </p:nvSpPr>
        <p:spPr>
          <a:xfrm xmlns:a="http://schemas.openxmlformats.org/drawingml/2006/main">
            <a:off x="704850" y="207645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525" b="1">
                <a:solidFill>
                  <a:srgbClr val="2B6777"/>
                </a:solidFill>
                <a:latin typeface="Noto Sans JP"/>
                <a:ea typeface="Noto Sans JP"/>
                <a:cs typeface="Noto Sans JP"/>
              </a:defRPr>
            </a:pPr>
            <a:r>
              <a:rPr sz="3525" b="1">
                <a:solidFill>
                  <a:srgbClr val="2B6777"/>
                </a:solidFill>
                <a:latin typeface="Noto Sans JP"/>
                <a:ea typeface="Noto Sans JP"/>
                <a:cs typeface="Noto Sans JP"/>
              </a:rPr>
              <a:t>H(x, y) = C(Fₓ(x), Fᵧ(y))</a:t>
            </a:r>
          </a:p>
        </p:txBody>
      </p:sp>
      <p:sp>
        <p:nvSpPr>
          <p:cNvPr id="8" name="">
            <a:extLst xmlns:a="http://schemas.openxmlformats.org/drawingml/2006/main">
              <a:ext uri="{FF2B5EF4-FFF2-40B4-BE49-F238E27FC236}">
                <a16:creationId xmlns:a16="http://schemas.microsoft.com/office/drawing/2014/main" id="{115E1276-74B2-481D-BE7D-E0E28D843E1D}"/>
              </a:ext>
            </a:extLst>
          </p:cNvPr>
          <p:cNvSpPr>
            <a:spLocks xmlns:a="http://schemas.openxmlformats.org/drawingml/2006/main" noGrp="1"/>
          </p:cNvSpPr>
          <p:nvPr/>
        </p:nvSpPr>
        <p:spPr>
          <a:xfrm xmlns:a="http://schemas.openxmlformats.org/drawingml/2006/main">
            <a:off x="552450" y="3333750"/>
            <a:ext cx="4762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9" name="">
            <a:extLst xmlns:a="http://schemas.openxmlformats.org/drawingml/2006/main">
              <a:ext uri="{FF2B5EF4-FFF2-40B4-BE49-F238E27FC236}">
                <a16:creationId xmlns:a16="http://schemas.microsoft.com/office/drawing/2014/main" id="{B1E3EDBF-6430-409C-BC25-4C296A646131}"/>
              </a:ext>
            </a:extLst>
          </p:cNvPr>
          <p:cNvSpPr>
            <a:spLocks xmlns:a="http://schemas.openxmlformats.org/drawingml/2006/main" noGrp="1"/>
          </p:cNvSpPr>
          <p:nvPr/>
        </p:nvSpPr>
        <p:spPr>
          <a:xfrm xmlns:a="http://schemas.openxmlformats.org/drawingml/2006/main">
            <a:off x="1257300" y="3333750"/>
            <a:ext cx="10191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Fₓ(x)：身長の境界xを、位置uへ変える。</a:t>
            </a:r>
          </a:p>
        </p:txBody>
      </p:sp>
      <p:sp>
        <p:nvSpPr>
          <p:cNvPr id="10" name="">
            <a:extLst xmlns:a="http://schemas.openxmlformats.org/drawingml/2006/main">
              <a:ext uri="{FF2B5EF4-FFF2-40B4-BE49-F238E27FC236}">
                <a16:creationId xmlns:a16="http://schemas.microsoft.com/office/drawing/2014/main" id="{7BAF912D-2E97-4531-A6AD-4CCF830A10A3}"/>
              </a:ext>
            </a:extLst>
          </p:cNvPr>
          <p:cNvSpPr>
            <a:spLocks xmlns:a="http://schemas.openxmlformats.org/drawingml/2006/main" noGrp="1"/>
          </p:cNvSpPr>
          <p:nvPr/>
        </p:nvSpPr>
        <p:spPr>
          <a:xfrm xmlns:a="http://schemas.openxmlformats.org/drawingml/2006/main">
            <a:off x="552450" y="4010025"/>
            <a:ext cx="4762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11" name="">
            <a:extLst xmlns:a="http://schemas.openxmlformats.org/drawingml/2006/main">
              <a:ext uri="{FF2B5EF4-FFF2-40B4-BE49-F238E27FC236}">
                <a16:creationId xmlns:a16="http://schemas.microsoft.com/office/drawing/2014/main" id="{A9B1B5AB-8DDA-4FD1-9673-C9B3CCD3A934}"/>
              </a:ext>
            </a:extLst>
          </p:cNvPr>
          <p:cNvSpPr>
            <a:spLocks xmlns:a="http://schemas.openxmlformats.org/drawingml/2006/main" noGrp="1"/>
          </p:cNvSpPr>
          <p:nvPr/>
        </p:nvSpPr>
        <p:spPr>
          <a:xfrm xmlns:a="http://schemas.openxmlformats.org/drawingml/2006/main">
            <a:off x="1257300" y="4010025"/>
            <a:ext cx="10191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Fᵧ(y)：体重の境界yを、位置vへ変える。</a:t>
            </a:r>
          </a:p>
        </p:txBody>
      </p:sp>
      <p:sp>
        <p:nvSpPr>
          <p:cNvPr id="12" name="">
            <a:extLst xmlns:a="http://schemas.openxmlformats.org/drawingml/2006/main">
              <a:ext uri="{FF2B5EF4-FFF2-40B4-BE49-F238E27FC236}">
                <a16:creationId xmlns:a16="http://schemas.microsoft.com/office/drawing/2014/main" id="{B768BD3F-72A8-4327-B658-B9025837F615}"/>
              </a:ext>
            </a:extLst>
          </p:cNvPr>
          <p:cNvSpPr>
            <a:spLocks xmlns:a="http://schemas.openxmlformats.org/drawingml/2006/main" noGrp="1"/>
          </p:cNvSpPr>
          <p:nvPr/>
        </p:nvSpPr>
        <p:spPr>
          <a:xfrm xmlns:a="http://schemas.openxmlformats.org/drawingml/2006/main">
            <a:off x="552450" y="4686300"/>
            <a:ext cx="4762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3" name="">
            <a:extLst xmlns:a="http://schemas.openxmlformats.org/drawingml/2006/main">
              <a:ext uri="{FF2B5EF4-FFF2-40B4-BE49-F238E27FC236}">
                <a16:creationId xmlns:a16="http://schemas.microsoft.com/office/drawing/2014/main" id="{8950E5CF-572C-41F9-A70C-C9E91708E6A4}"/>
              </a:ext>
            </a:extLst>
          </p:cNvPr>
          <p:cNvSpPr>
            <a:spLocks xmlns:a="http://schemas.openxmlformats.org/drawingml/2006/main" noGrp="1"/>
          </p:cNvSpPr>
          <p:nvPr/>
        </p:nvSpPr>
        <p:spPr>
          <a:xfrm xmlns:a="http://schemas.openxmlformats.org/drawingml/2006/main">
            <a:off x="1257300" y="4686300"/>
            <a:ext cx="10191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C(u, v)：その二つを同時に満たす確率を返す。</a:t>
            </a:r>
          </a:p>
        </p:txBody>
      </p:sp>
      <p:sp>
        <p:nvSpPr>
          <p:cNvPr id="14" name="">
            <a:extLst xmlns:a="http://schemas.openxmlformats.org/drawingml/2006/main">
              <a:ext uri="{FF2B5EF4-FFF2-40B4-BE49-F238E27FC236}">
                <a16:creationId xmlns:a16="http://schemas.microsoft.com/office/drawing/2014/main" id="{7754C6ED-97C8-4129-A643-DAA2ACFB9068}"/>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67C15B1-C67C-40BD-9117-704080D4FA42}"/>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連続な周辺分布なら、このCは一意に決まる</a:t>
            </a:r>
          </a:p>
        </p:txBody>
      </p:sp>
    </p:spTree>
    <p:extLst>
      <p:ext uri="{BB962C8B-B14F-4D97-AF65-F5344CB8AC3E}">
        <p14:creationId xmlns:p14="http://schemas.microsoft.com/office/powerpoint/2010/main" val="38237343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C49DEB7-8B9F-44C9-90BF-60E6C98AFE47}"/>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生成する場合は、逆向きに使う</a:t>
            </a:r>
          </a:p>
        </p:txBody>
      </p:sp>
      <p:sp>
        <p:nvSpPr>
          <p:cNvPr id="2" name="">
            <a:extLst xmlns:a="http://schemas.openxmlformats.org/drawingml/2006/main">
              <a:ext uri="{FF2B5EF4-FFF2-40B4-BE49-F238E27FC236}">
                <a16:creationId xmlns:a16="http://schemas.microsoft.com/office/drawing/2014/main" id="{2E757558-ED78-4540-AFAD-ABAE578BD474}"/>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869467D5-5C18-4339-9203-F94662D53F50}"/>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位置の組を作ってから、各列の元の単位へ戻す。</a:t>
            </a:r>
          </a:p>
        </p:txBody>
      </p:sp>
      <p:sp>
        <p:nvSpPr>
          <p:cNvPr id="4" name="">
            <a:extLst xmlns:a="http://schemas.openxmlformats.org/drawingml/2006/main">
              <a:ext uri="{FF2B5EF4-FFF2-40B4-BE49-F238E27FC236}">
                <a16:creationId xmlns:a16="http://schemas.microsoft.com/office/drawing/2014/main" id="{DD7D1EBF-C29E-4970-A9F3-AB23E31BF9AF}"/>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BB31A3C7-E312-45EE-B3D4-4945FC754070}"/>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21</a:t>
            </a:r>
          </a:p>
        </p:txBody>
      </p:sp>
      <p:sp>
        <p:nvSpPr>
          <p:cNvPr id="6" name="">
            <a:extLst xmlns:a="http://schemas.openxmlformats.org/drawingml/2006/main">
              <a:ext uri="{FF2B5EF4-FFF2-40B4-BE49-F238E27FC236}">
                <a16:creationId xmlns:a16="http://schemas.microsoft.com/office/drawing/2014/main" id="{0DFE2032-F033-45B6-B159-102D19DC030A}"/>
              </a:ext>
            </a:extLst>
          </p:cNvPr>
          <p:cNvSpPr>
            <a:spLocks xmlns:a="http://schemas.openxmlformats.org/drawingml/2006/main" noGrp="1"/>
          </p:cNvSpPr>
          <p:nvPr/>
        </p:nvSpPr>
        <p:spPr>
          <a:xfrm xmlns:a="http://schemas.openxmlformats.org/drawingml/2006/main">
            <a:off x="514350" y="20383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544D1E2-1B85-4B1F-A586-D48CA98B520F}"/>
              </a:ext>
            </a:extLst>
          </p:cNvPr>
          <p:cNvSpPr>
            <a:spLocks xmlns:a="http://schemas.openxmlformats.org/drawingml/2006/main" noGrp="1"/>
          </p:cNvSpPr>
          <p:nvPr/>
        </p:nvSpPr>
        <p:spPr>
          <a:xfrm xmlns:a="http://schemas.openxmlformats.org/drawingml/2006/main">
            <a:off x="704850" y="21336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925" b="1">
                <a:solidFill>
                  <a:srgbClr val="2B6777"/>
                </a:solidFill>
                <a:latin typeface="Noto Sans JP"/>
                <a:ea typeface="Noto Sans JP"/>
                <a:cs typeface="Noto Sans JP"/>
              </a:defRPr>
            </a:pPr>
            <a:r>
              <a:rPr sz="2925" b="1">
                <a:solidFill>
                  <a:srgbClr val="2B6777"/>
                </a:solidFill>
                <a:latin typeface="Noto Sans JP"/>
                <a:ea typeface="Noto Sans JP"/>
                <a:cs typeface="Noto Sans JP"/>
              </a:rPr>
              <a:t>(U, V) ~ C  →  X = Fₓ⁻¹(U),  Y = Fᵧ⁻¹(V)</a:t>
            </a:r>
          </a:p>
        </p:txBody>
      </p:sp>
      <p:sp>
        <p:nvSpPr>
          <p:cNvPr id="8" name="">
            <a:extLst xmlns:a="http://schemas.openxmlformats.org/drawingml/2006/main">
              <a:ext uri="{FF2B5EF4-FFF2-40B4-BE49-F238E27FC236}">
                <a16:creationId xmlns:a16="http://schemas.microsoft.com/office/drawing/2014/main" id="{3CABBC75-B403-4E33-AAFF-0E2C989DEEB9}"/>
              </a:ext>
            </a:extLst>
          </p:cNvPr>
          <p:cNvSpPr>
            <a:spLocks xmlns:a="http://schemas.openxmlformats.org/drawingml/2006/main" noGrp="1"/>
          </p:cNvSpPr>
          <p:nvPr/>
        </p:nvSpPr>
        <p:spPr>
          <a:xfrm xmlns:a="http://schemas.openxmlformats.org/drawingml/2006/main">
            <a:off x="552450" y="3352800"/>
            <a:ext cx="4762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9" name="">
            <a:extLst xmlns:a="http://schemas.openxmlformats.org/drawingml/2006/main">
              <a:ext uri="{FF2B5EF4-FFF2-40B4-BE49-F238E27FC236}">
                <a16:creationId xmlns:a16="http://schemas.microsoft.com/office/drawing/2014/main" id="{AAC4D9BF-9AE0-452E-9B08-9CB647E99A4A}"/>
              </a:ext>
            </a:extLst>
          </p:cNvPr>
          <p:cNvSpPr>
            <a:spLocks xmlns:a="http://schemas.openxmlformats.org/drawingml/2006/main" noGrp="1"/>
          </p:cNvSpPr>
          <p:nvPr/>
        </p:nvSpPr>
        <p:spPr>
          <a:xfrm xmlns:a="http://schemas.openxmlformats.org/drawingml/2006/main">
            <a:off x="1257300" y="3352800"/>
            <a:ext cx="101917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周辺分布：どんな身長・体重の値が存在するか。</a:t>
            </a:r>
          </a:p>
        </p:txBody>
      </p:sp>
      <p:sp>
        <p:nvSpPr>
          <p:cNvPr id="10" name="">
            <a:extLst xmlns:a="http://schemas.openxmlformats.org/drawingml/2006/main">
              <a:ext uri="{FF2B5EF4-FFF2-40B4-BE49-F238E27FC236}">
                <a16:creationId xmlns:a16="http://schemas.microsoft.com/office/drawing/2014/main" id="{22C1EAE2-40CF-42EE-9C06-8324D3A625D9}"/>
              </a:ext>
            </a:extLst>
          </p:cNvPr>
          <p:cNvSpPr>
            <a:spLocks xmlns:a="http://schemas.openxmlformats.org/drawingml/2006/main" noGrp="1"/>
          </p:cNvSpPr>
          <p:nvPr/>
        </p:nvSpPr>
        <p:spPr>
          <a:xfrm xmlns:a="http://schemas.openxmlformats.org/drawingml/2006/main">
            <a:off x="552450" y="4013200"/>
            <a:ext cx="4762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11" name="">
            <a:extLst xmlns:a="http://schemas.openxmlformats.org/drawingml/2006/main">
              <a:ext uri="{FF2B5EF4-FFF2-40B4-BE49-F238E27FC236}">
                <a16:creationId xmlns:a16="http://schemas.microsoft.com/office/drawing/2014/main" id="{ACEAB89A-12F9-4024-96A5-1B57374F44B4}"/>
              </a:ext>
            </a:extLst>
          </p:cNvPr>
          <p:cNvSpPr>
            <a:spLocks xmlns:a="http://schemas.openxmlformats.org/drawingml/2006/main" noGrp="1"/>
          </p:cNvSpPr>
          <p:nvPr/>
        </p:nvSpPr>
        <p:spPr>
          <a:xfrm xmlns:a="http://schemas.openxmlformats.org/drawingml/2006/main">
            <a:off x="1257300" y="4013200"/>
            <a:ext cx="101917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コピュラ：どんな位置の組を一緒に作るか。</a:t>
            </a:r>
          </a:p>
        </p:txBody>
      </p:sp>
      <p:sp>
        <p:nvSpPr>
          <p:cNvPr id="12" name="">
            <a:extLst xmlns:a="http://schemas.openxmlformats.org/drawingml/2006/main">
              <a:ext uri="{FF2B5EF4-FFF2-40B4-BE49-F238E27FC236}">
                <a16:creationId xmlns:a16="http://schemas.microsoft.com/office/drawing/2014/main" id="{232DD764-798E-423E-AA88-7DDA2AF4CD08}"/>
              </a:ext>
            </a:extLst>
          </p:cNvPr>
          <p:cNvSpPr>
            <a:spLocks xmlns:a="http://schemas.openxmlformats.org/drawingml/2006/main" noGrp="1"/>
          </p:cNvSpPr>
          <p:nvPr/>
        </p:nvSpPr>
        <p:spPr>
          <a:xfrm xmlns:a="http://schemas.openxmlformats.org/drawingml/2006/main">
            <a:off x="552450" y="4673600"/>
            <a:ext cx="4762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3" name="">
            <a:extLst xmlns:a="http://schemas.openxmlformats.org/drawingml/2006/main">
              <a:ext uri="{FF2B5EF4-FFF2-40B4-BE49-F238E27FC236}">
                <a16:creationId xmlns:a16="http://schemas.microsoft.com/office/drawing/2014/main" id="{6C51C5DA-FCF2-4016-BA10-467024F267E8}"/>
              </a:ext>
            </a:extLst>
          </p:cNvPr>
          <p:cNvSpPr>
            <a:spLocks xmlns:a="http://schemas.openxmlformats.org/drawingml/2006/main" noGrp="1"/>
          </p:cNvSpPr>
          <p:nvPr/>
        </p:nvSpPr>
        <p:spPr>
          <a:xfrm xmlns:a="http://schemas.openxmlformats.org/drawingml/2006/main">
            <a:off x="1257300" y="4673600"/>
            <a:ext cx="10191750" cy="58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逆累積分布：位置から、cm・kgへ戻す。</a:t>
            </a:r>
          </a:p>
        </p:txBody>
      </p:sp>
      <p:sp>
        <p:nvSpPr>
          <p:cNvPr id="14" name="">
            <a:extLst xmlns:a="http://schemas.openxmlformats.org/drawingml/2006/main">
              <a:ext uri="{FF2B5EF4-FFF2-40B4-BE49-F238E27FC236}">
                <a16:creationId xmlns:a16="http://schemas.microsoft.com/office/drawing/2014/main" id="{F41A4B1D-5871-434F-A204-730514023712}"/>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FCB190B6-D99E-43F0-A825-84C4AB9FC547}"/>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本研究では「残した列の位置」を条件に、置換する列の位置を作る</a:t>
            </a:r>
          </a:p>
        </p:txBody>
      </p:sp>
    </p:spTree>
    <p:extLst>
      <p:ext uri="{BB962C8B-B14F-4D97-AF65-F5344CB8AC3E}">
        <p14:creationId xmlns:p14="http://schemas.microsoft.com/office/powerpoint/2010/main" val="73306476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D790C77-692C-4B70-B4D4-7E86910EB85B}"/>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コピュラの種類と選ぶ観点</a:t>
            </a:r>
          </a:p>
        </p:txBody>
      </p:sp>
      <p:sp>
        <p:nvSpPr>
          <p:cNvPr id="2" name="">
            <a:extLst xmlns:a="http://schemas.openxmlformats.org/drawingml/2006/main">
              <a:ext uri="{FF2B5EF4-FFF2-40B4-BE49-F238E27FC236}">
                <a16:creationId xmlns:a16="http://schemas.microsoft.com/office/drawing/2014/main" id="{5AF4C9E3-E997-4D67-9BD7-F279772EDC5F}"/>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4213F92F-3AE1-4C17-AE87-FA29091C1EB3}"/>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どの関係を重視するかによって、適したモデルが変わる。</a:t>
            </a:r>
          </a:p>
        </p:txBody>
      </p:sp>
      <p:sp>
        <p:nvSpPr>
          <p:cNvPr id="4" name="">
            <a:extLst xmlns:a="http://schemas.openxmlformats.org/drawingml/2006/main">
              <a:ext uri="{FF2B5EF4-FFF2-40B4-BE49-F238E27FC236}">
                <a16:creationId xmlns:a16="http://schemas.microsoft.com/office/drawing/2014/main" id="{A6EF6806-A0FB-4198-B38D-E63DDB34F3EE}"/>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AE73FC53-C7E5-4E2A-83B0-6ED5C1DAB08A}"/>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22</a:t>
            </a:r>
          </a:p>
        </p:txBody>
      </p:sp>
      <p:graphicFrame>
        <p:nvGraphicFramePr>
          <p:cNvPr id="14" name=""/>
          <p:cNvGraphicFramePr/>
          <p:nvPr/>
        </p:nvGraphicFramePr>
        <p:xfrm>
          <a:off xmlns:a="http://schemas.openxmlformats.org/drawingml/2006/main" x="514350" y="1885950"/>
          <a:ext xmlns:a="http://schemas.openxmlformats.org/drawingml/2006/main" cx="11163300" cy="3524250"/>
        </p:xfrm>
        <a:graphic xmlns:a="http://schemas.openxmlformats.org/drawingml/2006/main">
          <a:graphicData uri="http://schemas.openxmlformats.org/drawingml/2006/table">
            <a:tbl>
              <a:tblPr/>
              <a:tblGrid>
                <a:gridCol w="3721100"/>
                <a:gridCol w="3721100"/>
                <a:gridCol w="3721100"/>
              </a:tblGrid>
              <a:tr h="587375">
                <a:tc>
                  <a:txBody>
                    <a:bodyPr/>
                    <a:lstStyle/>
                    <a:p>
                      <a:pPr algn="ctr"/>
                      <a:r>
                        <a:rPr sz="1800" b="1">
                          <a:solidFill>
                            <a:srgbClr val="2E7D5B"/>
                          </a:solidFill>
                          <a:latin typeface="Noto Sans JP"/>
                          <a:ea typeface="Noto Sans JP"/>
                          <a:cs typeface="Noto Sans JP"/>
                        </a:rPr>
                        <a:t>種類</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表せる主な関係</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検討するデータ・条件</a:t>
                      </a:r>
                    </a:p>
                  </a:txBody>
                  <a:tcPr marL="91440" marR="91440" marT="45720" marB="45720" anchor="ctr">
                    <a:solidFill>
                      <a:srgbClr val="E7F2EC"/>
                    </a:solidFill>
                  </a:tcPr>
                </a:tc>
              </a:tr>
              <a:tr h="587375">
                <a:tc>
                  <a:txBody>
                    <a:bodyPr/>
                    <a:lstStyle/>
                    <a:p>
                      <a:pPr algn="ctr"/>
                      <a:r>
                        <a:rPr sz="1800" b="0">
                          <a:solidFill>
                            <a:srgbClr val="222222"/>
                          </a:solidFill>
                          <a:latin typeface="Noto Sans JP"/>
                          <a:ea typeface="Noto Sans JP"/>
                          <a:cs typeface="Noto Sans JP"/>
                        </a:rPr>
                        <a:t>Gaussian</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潜在正規空間の相関</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まず安定した多変量の条件付き生成</a:t>
                      </a:r>
                    </a:p>
                  </a:txBody>
                  <a:tcPr marL="91440" marR="91440" marT="45720" marB="45720" anchor="ctr">
                    <a:solidFill>
                      <a:srgbClr val="FFFFFF"/>
                    </a:solidFill>
                  </a:tcPr>
                </a:tc>
              </a:tr>
              <a:tr h="587375">
                <a:tc>
                  <a:txBody>
                    <a:bodyPr/>
                    <a:lstStyle/>
                    <a:p>
                      <a:pPr algn="ctr"/>
                      <a:r>
                        <a:rPr sz="1800" b="0">
                          <a:solidFill>
                            <a:srgbClr val="222222"/>
                          </a:solidFill>
                          <a:latin typeface="Noto Sans JP"/>
                          <a:ea typeface="Noto Sans JP"/>
                          <a:cs typeface="Noto Sans JP"/>
                        </a:rPr>
                        <a:t>Student-t</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両側の極端値が同時に起こる</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上下の裾で共発生が重要</a:t>
                      </a:r>
                    </a:p>
                  </a:txBody>
                  <a:tcPr marL="91440" marR="91440" marT="45720" marB="45720" anchor="ctr">
                    <a:solidFill>
                      <a:srgbClr val="F6F6F6"/>
                    </a:solidFill>
                  </a:tcPr>
                </a:tc>
              </a:tr>
              <a:tr h="587375">
                <a:tc>
                  <a:txBody>
                    <a:bodyPr/>
                    <a:lstStyle/>
                    <a:p>
                      <a:pPr algn="ctr"/>
                      <a:r>
                        <a:rPr sz="1800" b="0">
                          <a:solidFill>
                            <a:srgbClr val="222222"/>
                          </a:solidFill>
                          <a:latin typeface="Noto Sans JP"/>
                          <a:ea typeface="Noto Sans JP"/>
                          <a:cs typeface="Noto Sans JP"/>
                        </a:rPr>
                        <a:t>Clayton / Gumbel / Joe</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片側の裾で強い依存</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小さい側 / 大きい側の共発生</a:t>
                      </a:r>
                    </a:p>
                  </a:txBody>
                  <a:tcPr marL="91440" marR="91440" marT="45720" marB="45720" anchor="ctr">
                    <a:solidFill>
                      <a:srgbClr val="FFFFFF"/>
                    </a:solidFill>
                  </a:tcPr>
                </a:tc>
              </a:tr>
              <a:tr h="587375">
                <a:tc>
                  <a:txBody>
                    <a:bodyPr/>
                    <a:lstStyle/>
                    <a:p>
                      <a:pPr algn="ctr"/>
                      <a:r>
                        <a:rPr sz="1800" b="0">
                          <a:solidFill>
                            <a:srgbClr val="222222"/>
                          </a:solidFill>
                          <a:latin typeface="Noto Sans JP"/>
                          <a:ea typeface="Noto Sans JP"/>
                          <a:cs typeface="Noto Sans JP"/>
                        </a:rPr>
                        <a:t>Frank</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両裾の依存係数は0</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中央のなめらかな依存</a:t>
                      </a:r>
                    </a:p>
                  </a:txBody>
                  <a:tcPr marL="91440" marR="91440" marT="45720" marB="45720" anchor="ctr">
                    <a:solidFill>
                      <a:srgbClr val="F6F6F6"/>
                    </a:solidFill>
                  </a:tcPr>
                </a:tc>
              </a:tr>
              <a:tr h="587375">
                <a:tc>
                  <a:txBody>
                    <a:bodyPr/>
                    <a:lstStyle/>
                    <a:p>
                      <a:pPr algn="ctr"/>
                      <a:r>
                        <a:rPr sz="1800" b="0">
                          <a:solidFill>
                            <a:srgbClr val="222222"/>
                          </a:solidFill>
                          <a:latin typeface="Noto Sans JP"/>
                          <a:ea typeface="Noto Sans JP"/>
                          <a:cs typeface="Noto Sans JP"/>
                        </a:rPr>
                        <a:t>Vine / ノンパラメトリック</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ペアごとの差 / 柔軟な形</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十分なデータとモデル選択の余裕</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9929A385-4656-4F4C-B102-DE57E9761071}"/>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71F29A2-7D99-463C-B969-98293B089BC3}"/>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種類を増やすほど、推定・選択・条件付き生成も複雑になる</a:t>
            </a:r>
          </a:p>
        </p:txBody>
      </p:sp>
    </p:spTree>
    <p:extLst>
      <p:ext uri="{BB962C8B-B14F-4D97-AF65-F5344CB8AC3E}">
        <p14:creationId xmlns:p14="http://schemas.microsoft.com/office/powerpoint/2010/main" val="1834531231"/>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6E3CBB6-37D7-4CB9-B19F-00EBB71EB9E3}"/>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「裾の依存」は、相関と何が違う？</a:t>
            </a:r>
          </a:p>
        </p:txBody>
      </p:sp>
      <p:sp>
        <p:nvSpPr>
          <p:cNvPr id="2" name="">
            <a:extLst xmlns:a="http://schemas.openxmlformats.org/drawingml/2006/main">
              <a:ext uri="{FF2B5EF4-FFF2-40B4-BE49-F238E27FC236}">
                <a16:creationId xmlns:a16="http://schemas.microsoft.com/office/drawing/2014/main" id="{412880A7-B695-4A0E-A53B-9F4EE4861EDB}"/>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6C1B8FCB-3AC5-48B1-AB04-B05E3EE721E3}"/>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各変数が極端に大きい／小さいとき、もう一方も極端かを見る。</a:t>
            </a:r>
          </a:p>
        </p:txBody>
      </p:sp>
      <p:sp>
        <p:nvSpPr>
          <p:cNvPr id="4" name="">
            <a:extLst xmlns:a="http://schemas.openxmlformats.org/drawingml/2006/main">
              <a:ext uri="{FF2B5EF4-FFF2-40B4-BE49-F238E27FC236}">
                <a16:creationId xmlns:a16="http://schemas.microsoft.com/office/drawing/2014/main" id="{836DF9CB-AA86-4EF3-9CE3-4D103BB5D3AF}"/>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コピュラの基礎</a:t>
            </a:r>
          </a:p>
        </p:txBody>
      </p:sp>
      <p:sp>
        <p:nvSpPr>
          <p:cNvPr id="5" name="">
            <a:extLst xmlns:a="http://schemas.openxmlformats.org/drawingml/2006/main">
              <a:ext uri="{FF2B5EF4-FFF2-40B4-BE49-F238E27FC236}">
                <a16:creationId xmlns:a16="http://schemas.microsoft.com/office/drawing/2014/main" id="{4B23FDFE-41CD-4641-9888-54FBAE49339B}"/>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23</a:t>
            </a:r>
          </a:p>
        </p:txBody>
      </p:sp>
      <p:sp>
        <p:nvSpPr>
          <p:cNvPr id="6" name="">
            <a:extLst xmlns:a="http://schemas.openxmlformats.org/drawingml/2006/main">
              <a:ext uri="{FF2B5EF4-FFF2-40B4-BE49-F238E27FC236}">
                <a16:creationId xmlns:a16="http://schemas.microsoft.com/office/drawing/2014/main" id="{9560ED5F-5729-4EA5-89A3-45E68C00D4B1}"/>
              </a:ext>
            </a:extLst>
          </p:cNvPr>
          <p:cNvSpPr>
            <a:spLocks xmlns:a="http://schemas.openxmlformats.org/drawingml/2006/main" noGrp="1"/>
          </p:cNvSpPr>
          <p:nvPr/>
        </p:nvSpPr>
        <p:spPr>
          <a:xfrm xmlns:a="http://schemas.openxmlformats.org/drawingml/2006/main">
            <a:off x="514350" y="2095500"/>
            <a:ext cx="5314950" cy="304800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2888B83-7DB1-4C77-B958-7FF679600E6D}"/>
              </a:ext>
            </a:extLst>
          </p:cNvPr>
          <p:cNvSpPr>
            <a:spLocks xmlns:a="http://schemas.openxmlformats.org/drawingml/2006/main" noGrp="1"/>
          </p:cNvSpPr>
          <p:nvPr/>
        </p:nvSpPr>
        <p:spPr>
          <a:xfrm xmlns:a="http://schemas.openxmlformats.org/drawingml/2006/main">
            <a:off x="704850" y="2209800"/>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上側の裾</a:t>
            </a:r>
          </a:p>
        </p:txBody>
      </p:sp>
      <p:sp>
        <p:nvSpPr>
          <p:cNvPr id="8" name="">
            <a:extLst xmlns:a="http://schemas.openxmlformats.org/drawingml/2006/main">
              <a:ext uri="{FF2B5EF4-FFF2-40B4-BE49-F238E27FC236}">
                <a16:creationId xmlns:a16="http://schemas.microsoft.com/office/drawing/2014/main" id="{36F11C62-35F3-46B0-8AE1-38E124772552}"/>
              </a:ext>
            </a:extLst>
          </p:cNvPr>
          <p:cNvSpPr>
            <a:spLocks xmlns:a="http://schemas.openxmlformats.org/drawingml/2006/main" noGrp="1"/>
          </p:cNvSpPr>
          <p:nvPr/>
        </p:nvSpPr>
        <p:spPr>
          <a:xfrm xmlns:a="http://schemas.openxmlformats.org/drawingml/2006/main">
            <a:off x="704850" y="2762250"/>
            <a:ext cx="493395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上位1%の大雨があるとき、</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別地点も上位1%になりやすいか。</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Gumbel・Joe：上側の依存</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Student-t：上下両側</a:t>
            </a:r>
          </a:p>
        </p:txBody>
      </p:sp>
      <p:sp>
        <p:nvSpPr>
          <p:cNvPr id="9" name="">
            <a:extLst xmlns:a="http://schemas.openxmlformats.org/drawingml/2006/main">
              <a:ext uri="{FF2B5EF4-FFF2-40B4-BE49-F238E27FC236}">
                <a16:creationId xmlns:a16="http://schemas.microsoft.com/office/drawing/2014/main" id="{83E4B949-DB30-4DEE-8DC4-31B1BA6BEB2D}"/>
              </a:ext>
            </a:extLst>
          </p:cNvPr>
          <p:cNvSpPr>
            <a:spLocks xmlns:a="http://schemas.openxmlformats.org/drawingml/2006/main" noGrp="1"/>
          </p:cNvSpPr>
          <p:nvPr/>
        </p:nvSpPr>
        <p:spPr>
          <a:xfrm xmlns:a="http://schemas.openxmlformats.org/drawingml/2006/main">
            <a:off x="6076950" y="2095500"/>
            <a:ext cx="5600700" cy="304800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8DDCBF08-E02C-4CA6-8DAB-7FA9B299FD09}"/>
              </a:ext>
            </a:extLst>
          </p:cNvPr>
          <p:cNvSpPr>
            <a:spLocks xmlns:a="http://schemas.openxmlformats.org/drawingml/2006/main" noGrp="1"/>
          </p:cNvSpPr>
          <p:nvPr/>
        </p:nvSpPr>
        <p:spPr>
          <a:xfrm xmlns:a="http://schemas.openxmlformats.org/drawingml/2006/main">
            <a:off x="6267450" y="2209800"/>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B6777"/>
                </a:solidFill>
                <a:latin typeface="Noto Sans JP"/>
                <a:ea typeface="Noto Sans JP"/>
                <a:cs typeface="Noto Sans JP"/>
              </a:defRPr>
            </a:pPr>
            <a:r>
              <a:rPr sz="2175" b="1">
                <a:solidFill>
                  <a:srgbClr val="2B6777"/>
                </a:solidFill>
                <a:latin typeface="Noto Sans JP"/>
                <a:ea typeface="Noto Sans JP"/>
                <a:cs typeface="Noto Sans JP"/>
              </a:rPr>
              <a:t>下側の裾</a:t>
            </a:r>
          </a:p>
        </p:txBody>
      </p:sp>
      <p:sp>
        <p:nvSpPr>
          <p:cNvPr id="11" name="">
            <a:extLst xmlns:a="http://schemas.openxmlformats.org/drawingml/2006/main">
              <a:ext uri="{FF2B5EF4-FFF2-40B4-BE49-F238E27FC236}">
                <a16:creationId xmlns:a16="http://schemas.microsoft.com/office/drawing/2014/main" id="{C74B30BC-B4AA-4E99-8884-B762395388CB}"/>
              </a:ext>
            </a:extLst>
          </p:cNvPr>
          <p:cNvSpPr>
            <a:spLocks xmlns:a="http://schemas.openxmlformats.org/drawingml/2006/main" noGrp="1"/>
          </p:cNvSpPr>
          <p:nvPr/>
        </p:nvSpPr>
        <p:spPr>
          <a:xfrm xmlns:a="http://schemas.openxmlformats.org/drawingml/2006/main">
            <a:off x="6267450" y="2762250"/>
            <a:ext cx="52197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下位1%の収益になるとき、</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別の資産も下位1%か。</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Clayton：下側の依存</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Gaussian：漸近的な裾依存は0</a:t>
            </a:r>
          </a:p>
        </p:txBody>
      </p:sp>
      <p:sp>
        <p:nvSpPr>
          <p:cNvPr id="12" name="">
            <a:extLst xmlns:a="http://schemas.openxmlformats.org/drawingml/2006/main">
              <a:ext uri="{FF2B5EF4-FFF2-40B4-BE49-F238E27FC236}">
                <a16:creationId xmlns:a16="http://schemas.microsoft.com/office/drawing/2014/main" id="{31073B9F-B397-4085-A3B6-7DCA256DC056}"/>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D40F443-9800-4291-AD7C-3E9332D0A5D3}"/>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各列の裾が重いことと、列どうしの裾依存は別の性質</a:t>
            </a:r>
          </a:p>
        </p:txBody>
      </p:sp>
    </p:spTree>
    <p:extLst>
      <p:ext uri="{BB962C8B-B14F-4D97-AF65-F5344CB8AC3E}">
        <p14:creationId xmlns:p14="http://schemas.microsoft.com/office/powerpoint/2010/main" val="1467089954"/>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34C26141-51A6-4010-A547-6F61EA7B3B35}"/>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今回はGaussian copulaから始める</a:t>
            </a:r>
          </a:p>
        </p:txBody>
      </p:sp>
      <p:sp>
        <p:nvSpPr>
          <p:cNvPr id="2" name="">
            <a:extLst xmlns:a="http://schemas.openxmlformats.org/drawingml/2006/main">
              <a:ext uri="{FF2B5EF4-FFF2-40B4-BE49-F238E27FC236}">
                <a16:creationId xmlns:a16="http://schemas.microsoft.com/office/drawing/2014/main" id="{27694D5E-7879-479F-B3F2-5A3E71702DC8}"/>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5C0F706-D7FF-4186-9A11-600CB4EBDD4D}"/>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条件付き分布を計算しやすく、置換器だけの比較を始められる。</a:t>
            </a:r>
          </a:p>
        </p:txBody>
      </p:sp>
      <p:sp>
        <p:nvSpPr>
          <p:cNvPr id="4" name="">
            <a:extLst xmlns:a="http://schemas.openxmlformats.org/drawingml/2006/main">
              <a:ext uri="{FF2B5EF4-FFF2-40B4-BE49-F238E27FC236}">
                <a16:creationId xmlns:a16="http://schemas.microsoft.com/office/drawing/2014/main" id="{1B74B156-B79F-4EF0-8CD5-02FE1D93B9E3}"/>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提案手法の原理</a:t>
            </a:r>
          </a:p>
        </p:txBody>
      </p:sp>
      <p:sp>
        <p:nvSpPr>
          <p:cNvPr id="5" name="">
            <a:extLst xmlns:a="http://schemas.openxmlformats.org/drawingml/2006/main">
              <a:ext uri="{FF2B5EF4-FFF2-40B4-BE49-F238E27FC236}">
                <a16:creationId xmlns:a16="http://schemas.microsoft.com/office/drawing/2014/main" id="{1AD53053-1002-406F-B20F-008F99F9CFC0}"/>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24</a:t>
            </a:r>
          </a:p>
        </p:txBody>
      </p:sp>
      <p:sp>
        <p:nvSpPr>
          <p:cNvPr id="6" name="">
            <a:extLst xmlns:a="http://schemas.openxmlformats.org/drawingml/2006/main">
              <a:ext uri="{FF2B5EF4-FFF2-40B4-BE49-F238E27FC236}">
                <a16:creationId xmlns:a16="http://schemas.microsoft.com/office/drawing/2014/main" id="{E52C6495-7A55-41AB-B5F4-BE15FF06E4D4}"/>
              </a:ext>
            </a:extLst>
          </p:cNvPr>
          <p:cNvSpPr>
            <a:spLocks xmlns:a="http://schemas.openxmlformats.org/drawingml/2006/main" noGrp="1"/>
          </p:cNvSpPr>
          <p:nvPr/>
        </p:nvSpPr>
        <p:spPr>
          <a:xfrm xmlns:a="http://schemas.openxmlformats.org/drawingml/2006/main">
            <a:off x="514350" y="2047875"/>
            <a:ext cx="5314950" cy="30956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62DD7A9-1720-4F3C-8201-ADF0F5F40B2D}"/>
              </a:ext>
            </a:extLst>
          </p:cNvPr>
          <p:cNvSpPr>
            <a:spLocks xmlns:a="http://schemas.openxmlformats.org/drawingml/2006/main" noGrp="1"/>
          </p:cNvSpPr>
          <p:nvPr/>
        </p:nvSpPr>
        <p:spPr>
          <a:xfrm xmlns:a="http://schemas.openxmlformats.org/drawingml/2006/main">
            <a:off x="704850" y="2162175"/>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採用する理由</a:t>
            </a:r>
          </a:p>
        </p:txBody>
      </p:sp>
      <p:sp>
        <p:nvSpPr>
          <p:cNvPr id="8" name="">
            <a:extLst xmlns:a="http://schemas.openxmlformats.org/drawingml/2006/main">
              <a:ext uri="{FF2B5EF4-FFF2-40B4-BE49-F238E27FC236}">
                <a16:creationId xmlns:a16="http://schemas.microsoft.com/office/drawing/2014/main" id="{619331EC-CDA6-4234-83C4-6470F526BF05}"/>
              </a:ext>
            </a:extLst>
          </p:cNvPr>
          <p:cNvSpPr>
            <a:spLocks xmlns:a="http://schemas.openxmlformats.org/drawingml/2006/main" noGrp="1"/>
          </p:cNvSpPr>
          <p:nvPr/>
        </p:nvSpPr>
        <p:spPr>
          <a:xfrm xmlns:a="http://schemas.openxmlformats.org/drawingml/2006/main">
            <a:off x="704850" y="2714625"/>
            <a:ext cx="493395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相関行列Rで依存を表す。</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複数列を同時に条件付き生成。</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訓練にクラスラベルが不要。</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既存コードに生成器として</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組み込みやすい。</a:t>
            </a:r>
          </a:p>
        </p:txBody>
      </p:sp>
      <p:sp>
        <p:nvSpPr>
          <p:cNvPr id="9" name="">
            <a:extLst xmlns:a="http://schemas.openxmlformats.org/drawingml/2006/main">
              <a:ext uri="{FF2B5EF4-FFF2-40B4-BE49-F238E27FC236}">
                <a16:creationId xmlns:a16="http://schemas.microsoft.com/office/drawing/2014/main" id="{8EEE5680-AD49-4BEA-872F-0327DDB1B2AF}"/>
              </a:ext>
            </a:extLst>
          </p:cNvPr>
          <p:cNvSpPr>
            <a:spLocks xmlns:a="http://schemas.openxmlformats.org/drawingml/2006/main" noGrp="1"/>
          </p:cNvSpPr>
          <p:nvPr/>
        </p:nvSpPr>
        <p:spPr>
          <a:xfrm xmlns:a="http://schemas.openxmlformats.org/drawingml/2006/main">
            <a:off x="6076950" y="2047875"/>
            <a:ext cx="5600700" cy="30956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0F989B42-F63B-438C-B4F9-6094B228FBE1}"/>
              </a:ext>
            </a:extLst>
          </p:cNvPr>
          <p:cNvSpPr>
            <a:spLocks xmlns:a="http://schemas.openxmlformats.org/drawingml/2006/main" noGrp="1"/>
          </p:cNvSpPr>
          <p:nvPr/>
        </p:nvSpPr>
        <p:spPr>
          <a:xfrm xmlns:a="http://schemas.openxmlformats.org/drawingml/2006/main">
            <a:off x="6267450" y="2162175"/>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表現できないこともある</a:t>
            </a:r>
          </a:p>
        </p:txBody>
      </p:sp>
      <p:sp>
        <p:nvSpPr>
          <p:cNvPr id="11" name="">
            <a:extLst xmlns:a="http://schemas.openxmlformats.org/drawingml/2006/main">
              <a:ext uri="{FF2B5EF4-FFF2-40B4-BE49-F238E27FC236}">
                <a16:creationId xmlns:a16="http://schemas.microsoft.com/office/drawing/2014/main" id="{5FBB2095-89D8-4367-83BA-ED6DF475670C}"/>
              </a:ext>
            </a:extLst>
          </p:cNvPr>
          <p:cNvSpPr>
            <a:spLocks xmlns:a="http://schemas.openxmlformats.org/drawingml/2006/main" noGrp="1"/>
          </p:cNvSpPr>
          <p:nvPr/>
        </p:nvSpPr>
        <p:spPr>
          <a:xfrm xmlns:a="http://schemas.openxmlformats.org/drawingml/2006/main">
            <a:off x="6267450" y="2714625"/>
            <a:ext cx="521970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潜在空間のU字型・多峰性を</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任意に表せるわけではない。</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非退化なGaussian copulaは</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上下の漸近的な裾依存が0。</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カテゴリ列への適用も要検討。</a:t>
            </a:r>
          </a:p>
        </p:txBody>
      </p:sp>
      <p:sp>
        <p:nvSpPr>
          <p:cNvPr id="12" name="">
            <a:extLst xmlns:a="http://schemas.openxmlformats.org/drawingml/2006/main">
              <a:ext uri="{FF2B5EF4-FFF2-40B4-BE49-F238E27FC236}">
                <a16:creationId xmlns:a16="http://schemas.microsoft.com/office/drawing/2014/main" id="{6EA8B857-15B8-48DB-B4C8-260320B9009C}"/>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05DD454-2E0B-46F3-B834-9E21657E7894}"/>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「コピュラなら何でも捉える」とは言わず、まず仮定を検証する</a:t>
            </a:r>
          </a:p>
        </p:txBody>
      </p:sp>
    </p:spTree>
    <p:extLst>
      <p:ext uri="{BB962C8B-B14F-4D97-AF65-F5344CB8AC3E}">
        <p14:creationId xmlns:p14="http://schemas.microsoft.com/office/powerpoint/2010/main" val="660698938"/>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B663536-A680-49AD-BFA8-D6BBA10D359E}"/>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学習手順①：値を位置へ変える</a:t>
            </a:r>
          </a:p>
        </p:txBody>
      </p:sp>
      <p:sp>
        <p:nvSpPr>
          <p:cNvPr id="2" name="">
            <a:extLst xmlns:a="http://schemas.openxmlformats.org/drawingml/2006/main">
              <a:ext uri="{FF2B5EF4-FFF2-40B4-BE49-F238E27FC236}">
                <a16:creationId xmlns:a16="http://schemas.microsoft.com/office/drawing/2014/main" id="{0A03BBDF-0F82-4C6F-AD80-3F9E678601B7}"/>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878D2478-CB3F-4926-B765-67181DEF88E6}"/>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訓練データだけから、各列の経験的な周辺分布を推定する。</a:t>
            </a:r>
          </a:p>
        </p:txBody>
      </p:sp>
      <p:sp>
        <p:nvSpPr>
          <p:cNvPr id="4" name="">
            <a:extLst xmlns:a="http://schemas.openxmlformats.org/drawingml/2006/main">
              <a:ext uri="{FF2B5EF4-FFF2-40B4-BE49-F238E27FC236}">
                <a16:creationId xmlns:a16="http://schemas.microsoft.com/office/drawing/2014/main" id="{16CEACA1-9D9A-4E92-BE51-0B66BF91ACCF}"/>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提案手法の原理</a:t>
            </a:r>
          </a:p>
        </p:txBody>
      </p:sp>
      <p:sp>
        <p:nvSpPr>
          <p:cNvPr id="5" name="">
            <a:extLst xmlns:a="http://schemas.openxmlformats.org/drawingml/2006/main">
              <a:ext uri="{FF2B5EF4-FFF2-40B4-BE49-F238E27FC236}">
                <a16:creationId xmlns:a16="http://schemas.microsoft.com/office/drawing/2014/main" id="{71ED6A1A-144C-4AF9-ADAD-E3E4ADE53636}"/>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25</a:t>
            </a:r>
          </a:p>
        </p:txBody>
      </p:sp>
      <p:sp>
        <p:nvSpPr>
          <p:cNvPr id="6" name="">
            <a:extLst xmlns:a="http://schemas.openxmlformats.org/drawingml/2006/main">
              <a:ext uri="{FF2B5EF4-FFF2-40B4-BE49-F238E27FC236}">
                <a16:creationId xmlns:a16="http://schemas.microsoft.com/office/drawing/2014/main" id="{24A589FF-3986-4894-A0C1-C4E938638129}"/>
              </a:ext>
            </a:extLst>
          </p:cNvPr>
          <p:cNvSpPr>
            <a:spLocks xmlns:a="http://schemas.openxmlformats.org/drawingml/2006/main" noGrp="1"/>
          </p:cNvSpPr>
          <p:nvPr/>
        </p:nvSpPr>
        <p:spPr>
          <a:xfrm xmlns:a="http://schemas.openxmlformats.org/drawingml/2006/main">
            <a:off x="514350" y="197167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9758B2D-4784-4AB6-AF1A-C6FC89C335A6}"/>
              </a:ext>
            </a:extLst>
          </p:cNvPr>
          <p:cNvSpPr>
            <a:spLocks xmlns:a="http://schemas.openxmlformats.org/drawingml/2006/main" noGrp="1"/>
          </p:cNvSpPr>
          <p:nvPr/>
        </p:nvSpPr>
        <p:spPr>
          <a:xfrm xmlns:a="http://schemas.openxmlformats.org/drawingml/2006/main">
            <a:off x="704850" y="206692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75" b="1">
                <a:solidFill>
                  <a:srgbClr val="2B6777"/>
                </a:solidFill>
                <a:latin typeface="Noto Sans JP"/>
                <a:ea typeface="Noto Sans JP"/>
                <a:cs typeface="Noto Sans JP"/>
              </a:defRPr>
            </a:pPr>
            <a:r>
              <a:rPr sz="3375" b="1">
                <a:solidFill>
                  <a:srgbClr val="2B6777"/>
                </a:solidFill>
                <a:latin typeface="Noto Sans JP"/>
                <a:ea typeface="Noto Sans JP"/>
                <a:cs typeface="Noto Sans JP"/>
              </a:rPr>
              <a:t>uᵢⱼ = (rᵢⱼ − 0.5) / n</a:t>
            </a:r>
          </a:p>
        </p:txBody>
      </p:sp>
      <p:graphicFrame>
        <p:nvGraphicFramePr>
          <p:cNvPr id="18" name=""/>
          <p:cNvGraphicFramePr/>
          <p:nvPr/>
        </p:nvGraphicFramePr>
        <p:xfrm>
          <a:off xmlns:a="http://schemas.openxmlformats.org/drawingml/2006/main" x="514350" y="3448050"/>
          <a:ext xmlns:a="http://schemas.openxmlformats.org/drawingml/2006/main" cx="11163300" cy="1771650"/>
        </p:xfrm>
        <a:graphic xmlns:a="http://schemas.openxmlformats.org/drawingml/2006/main">
          <a:graphicData uri="http://schemas.openxmlformats.org/drawingml/2006/table">
            <a:tbl>
              <a:tblPr/>
              <a:tblGrid>
                <a:gridCol w="2232660"/>
                <a:gridCol w="2232660"/>
                <a:gridCol w="2232660"/>
                <a:gridCol w="2232660"/>
                <a:gridCol w="2232660"/>
              </a:tblGrid>
              <a:tr h="590550">
                <a:tc>
                  <a:txBody>
                    <a:bodyPr/>
                    <a:lstStyle/>
                    <a:p>
                      <a:pPr algn="ctr"/>
                      <a:r>
                        <a:rPr sz="2100" b="1">
                          <a:solidFill>
                            <a:srgbClr val="2E7D5B"/>
                          </a:solidFill>
                          <a:latin typeface="Noto Sans JP"/>
                          <a:ea typeface="Noto Sans JP"/>
                          <a:cs typeface="Noto Sans JP"/>
                        </a:rPr>
                        <a:t>身長：説明用4人</a:t>
                      </a:r>
                    </a:p>
                  </a:txBody>
                  <a:tcPr marL="91440" marR="91440" marT="45720" marB="45720" anchor="ctr">
                    <a:solidFill>
                      <a:srgbClr val="E7F2EC"/>
                    </a:solidFill>
                  </a:tcPr>
                </a:tc>
                <a:tc>
                  <a:txBody>
                    <a:bodyPr/>
                    <a:lstStyle/>
                    <a:p>
                      <a:pPr algn="ctr"/>
                      <a:r>
                        <a:rPr sz="2100" b="1">
                          <a:solidFill>
                            <a:srgbClr val="2E7D5B"/>
                          </a:solidFill>
                          <a:latin typeface="Noto Sans JP"/>
                          <a:ea typeface="Noto Sans JP"/>
                          <a:cs typeface="Noto Sans JP"/>
                        </a:rPr>
                        <a:t>155</a:t>
                      </a:r>
                    </a:p>
                  </a:txBody>
                  <a:tcPr marL="91440" marR="91440" marT="45720" marB="45720" anchor="ctr">
                    <a:solidFill>
                      <a:srgbClr val="E7F2EC"/>
                    </a:solidFill>
                  </a:tcPr>
                </a:tc>
                <a:tc>
                  <a:txBody>
                    <a:bodyPr/>
                    <a:lstStyle/>
                    <a:p>
                      <a:pPr algn="ctr"/>
                      <a:r>
                        <a:rPr sz="2100" b="1">
                          <a:solidFill>
                            <a:srgbClr val="2E7D5B"/>
                          </a:solidFill>
                          <a:latin typeface="Noto Sans JP"/>
                          <a:ea typeface="Noto Sans JP"/>
                          <a:cs typeface="Noto Sans JP"/>
                        </a:rPr>
                        <a:t>165</a:t>
                      </a:r>
                    </a:p>
                  </a:txBody>
                  <a:tcPr marL="91440" marR="91440" marT="45720" marB="45720" anchor="ctr">
                    <a:solidFill>
                      <a:srgbClr val="E7F2EC"/>
                    </a:solidFill>
                  </a:tcPr>
                </a:tc>
                <a:tc>
                  <a:txBody>
                    <a:bodyPr/>
                    <a:lstStyle/>
                    <a:p>
                      <a:pPr algn="ctr"/>
                      <a:r>
                        <a:rPr sz="2100" b="1">
                          <a:solidFill>
                            <a:srgbClr val="2E7D5B"/>
                          </a:solidFill>
                          <a:latin typeface="Noto Sans JP"/>
                          <a:ea typeface="Noto Sans JP"/>
                          <a:cs typeface="Noto Sans JP"/>
                        </a:rPr>
                        <a:t>175</a:t>
                      </a:r>
                    </a:p>
                  </a:txBody>
                  <a:tcPr marL="91440" marR="91440" marT="45720" marB="45720" anchor="ctr">
                    <a:solidFill>
                      <a:srgbClr val="E7F2EC"/>
                    </a:solidFill>
                  </a:tcPr>
                </a:tc>
                <a:tc>
                  <a:txBody>
                    <a:bodyPr/>
                    <a:lstStyle/>
                    <a:p>
                      <a:pPr algn="ctr"/>
                      <a:r>
                        <a:rPr sz="2100" b="1">
                          <a:solidFill>
                            <a:srgbClr val="2E7D5B"/>
                          </a:solidFill>
                          <a:latin typeface="Noto Sans JP"/>
                          <a:ea typeface="Noto Sans JP"/>
                          <a:cs typeface="Noto Sans JP"/>
                        </a:rPr>
                        <a:t>185</a:t>
                      </a:r>
                    </a:p>
                  </a:txBody>
                  <a:tcPr marL="91440" marR="91440" marT="45720" marB="45720" anchor="ctr">
                    <a:solidFill>
                      <a:srgbClr val="E7F2EC"/>
                    </a:solidFill>
                  </a:tcPr>
                </a:tc>
              </a:tr>
              <a:tr h="590550">
                <a:tc>
                  <a:txBody>
                    <a:bodyPr/>
                    <a:lstStyle/>
                    <a:p>
                      <a:pPr algn="ctr"/>
                      <a:r>
                        <a:rPr sz="2100" b="0">
                          <a:solidFill>
                            <a:srgbClr val="222222"/>
                          </a:solidFill>
                          <a:latin typeface="Noto Sans JP"/>
                          <a:ea typeface="Noto Sans JP"/>
                          <a:cs typeface="Noto Sans JP"/>
                        </a:rPr>
                        <a:t>順位r</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1</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2</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3</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4</a:t>
                      </a:r>
                    </a:p>
                  </a:txBody>
                  <a:tcPr marL="91440" marR="91440" marT="45720" marB="45720" anchor="ctr">
                    <a:solidFill>
                      <a:srgbClr val="FFFFFF"/>
                    </a:solidFill>
                  </a:tcPr>
                </a:tc>
              </a:tr>
              <a:tr h="590550">
                <a:tc>
                  <a:txBody>
                    <a:bodyPr/>
                    <a:lstStyle/>
                    <a:p>
                      <a:pPr algn="ctr"/>
                      <a:r>
                        <a:rPr sz="2100" b="0">
                          <a:solidFill>
                            <a:srgbClr val="222222"/>
                          </a:solidFill>
                          <a:latin typeface="Noto Sans JP"/>
                          <a:ea typeface="Noto Sans JP"/>
                          <a:cs typeface="Noto Sans JP"/>
                        </a:rPr>
                        <a:t>推定用の位置u</a:t>
                      </a:r>
                    </a:p>
                  </a:txBody>
                  <a:tcPr marL="91440" marR="91440" marT="45720" marB="45720" anchor="ctr">
                    <a:solidFill>
                      <a:srgbClr val="F6F6F6"/>
                    </a:solidFill>
                  </a:tcPr>
                </a:tc>
                <a:tc>
                  <a:txBody>
                    <a:bodyPr/>
                    <a:lstStyle/>
                    <a:p>
                      <a:pPr algn="ctr"/>
                      <a:r>
                        <a:rPr sz="2100" b="0">
                          <a:solidFill>
                            <a:srgbClr val="222222"/>
                          </a:solidFill>
                          <a:latin typeface="Noto Sans JP"/>
                          <a:ea typeface="Noto Sans JP"/>
                          <a:cs typeface="Noto Sans JP"/>
                        </a:rPr>
                        <a:t>0.125</a:t>
                      </a:r>
                    </a:p>
                  </a:txBody>
                  <a:tcPr marL="91440" marR="91440" marT="45720" marB="45720" anchor="ctr">
                    <a:solidFill>
                      <a:srgbClr val="F6F6F6"/>
                    </a:solidFill>
                  </a:tcPr>
                </a:tc>
                <a:tc>
                  <a:txBody>
                    <a:bodyPr/>
                    <a:lstStyle/>
                    <a:p>
                      <a:pPr algn="ctr"/>
                      <a:r>
                        <a:rPr sz="2100" b="0">
                          <a:solidFill>
                            <a:srgbClr val="222222"/>
                          </a:solidFill>
                          <a:latin typeface="Noto Sans JP"/>
                          <a:ea typeface="Noto Sans JP"/>
                          <a:cs typeface="Noto Sans JP"/>
                        </a:rPr>
                        <a:t>0.375</a:t>
                      </a:r>
                    </a:p>
                  </a:txBody>
                  <a:tcPr marL="91440" marR="91440" marT="45720" marB="45720" anchor="ctr">
                    <a:solidFill>
                      <a:srgbClr val="F6F6F6"/>
                    </a:solidFill>
                  </a:tcPr>
                </a:tc>
                <a:tc>
                  <a:txBody>
                    <a:bodyPr/>
                    <a:lstStyle/>
                    <a:p>
                      <a:pPr algn="ctr"/>
                      <a:r>
                        <a:rPr sz="2100" b="0">
                          <a:solidFill>
                            <a:srgbClr val="222222"/>
                          </a:solidFill>
                          <a:latin typeface="Noto Sans JP"/>
                          <a:ea typeface="Noto Sans JP"/>
                          <a:cs typeface="Noto Sans JP"/>
                        </a:rPr>
                        <a:t>0.625</a:t>
                      </a:r>
                    </a:p>
                  </a:txBody>
                  <a:tcPr marL="91440" marR="91440" marT="45720" marB="45720" anchor="ctr">
                    <a:solidFill>
                      <a:srgbClr val="F6F6F6"/>
                    </a:solidFill>
                  </a:tcPr>
                </a:tc>
                <a:tc>
                  <a:txBody>
                    <a:bodyPr/>
                    <a:lstStyle/>
                    <a:p>
                      <a:pPr algn="ctr"/>
                      <a:r>
                        <a:rPr sz="2100" b="0">
                          <a:solidFill>
                            <a:srgbClr val="222222"/>
                          </a:solidFill>
                          <a:latin typeface="Noto Sans JP"/>
                          <a:ea typeface="Noto Sans JP"/>
                          <a:cs typeface="Noto Sans JP"/>
                        </a:rPr>
                        <a:t>0.875</a:t>
                      </a:r>
                    </a:p>
                  </a:txBody>
                  <a:tcPr marL="91440" marR="91440" marT="45720" marB="45720" anchor="ctr">
                    <a:solidFill>
                      <a:srgbClr val="F6F6F6"/>
                    </a:solidFill>
                  </a:tcPr>
                </a:tc>
              </a:tr>
            </a:tbl>
          </a:graphicData>
        </a:graphic>
      </p:graphicFrame>
      <p:sp>
        <p:nvSpPr>
          <p:cNvPr id="9" name="">
            <a:extLst xmlns:a="http://schemas.openxmlformats.org/drawingml/2006/main">
              <a:ext uri="{FF2B5EF4-FFF2-40B4-BE49-F238E27FC236}">
                <a16:creationId xmlns:a16="http://schemas.microsoft.com/office/drawing/2014/main" id="{07EA6116-C7F0-4FDD-83CE-DC2B31BFC0B2}"/>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6908F2EE-B4ED-459D-B174-5A52B3ED0075}"/>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0・1を避ける。逆正規変換で無限大になるのを防ぐ</a:t>
            </a:r>
          </a:p>
        </p:txBody>
      </p:sp>
    </p:spTree>
    <p:extLst>
      <p:ext uri="{BB962C8B-B14F-4D97-AF65-F5344CB8AC3E}">
        <p14:creationId xmlns:p14="http://schemas.microsoft.com/office/powerpoint/2010/main" val="5766474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90D7A0C-D498-41B0-877F-58DD6B5AB6E0}"/>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学習手順②：位置を潜在正規へ</a:t>
            </a:r>
          </a:p>
        </p:txBody>
      </p:sp>
      <p:sp>
        <p:nvSpPr>
          <p:cNvPr id="2" name="">
            <a:extLst xmlns:a="http://schemas.openxmlformats.org/drawingml/2006/main">
              <a:ext uri="{FF2B5EF4-FFF2-40B4-BE49-F238E27FC236}">
                <a16:creationId xmlns:a16="http://schemas.microsoft.com/office/drawing/2014/main" id="{29315000-DA73-4A03-93C6-16DFEE91959C}"/>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68BB5BA-14FA-4FF6-B3BE-D707450881C1}"/>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標準正規分布の累積分布Φを使って、位置を数値zへ写す。</a:t>
            </a:r>
          </a:p>
        </p:txBody>
      </p:sp>
      <p:sp>
        <p:nvSpPr>
          <p:cNvPr id="4" name="">
            <a:extLst xmlns:a="http://schemas.openxmlformats.org/drawingml/2006/main">
              <a:ext uri="{FF2B5EF4-FFF2-40B4-BE49-F238E27FC236}">
                <a16:creationId xmlns:a16="http://schemas.microsoft.com/office/drawing/2014/main" id="{1CA013F2-B684-42C5-885C-818F11E8572F}"/>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提案手法の原理</a:t>
            </a:r>
          </a:p>
        </p:txBody>
      </p:sp>
      <p:sp>
        <p:nvSpPr>
          <p:cNvPr id="5" name="">
            <a:extLst xmlns:a="http://schemas.openxmlformats.org/drawingml/2006/main">
              <a:ext uri="{FF2B5EF4-FFF2-40B4-BE49-F238E27FC236}">
                <a16:creationId xmlns:a16="http://schemas.microsoft.com/office/drawing/2014/main" id="{13E622CD-0A29-42B9-957A-26D0FD90477B}"/>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26</a:t>
            </a:r>
          </a:p>
        </p:txBody>
      </p:sp>
      <p:sp>
        <p:nvSpPr>
          <p:cNvPr id="6" name="">
            <a:extLst xmlns:a="http://schemas.openxmlformats.org/drawingml/2006/main">
              <a:ext uri="{FF2B5EF4-FFF2-40B4-BE49-F238E27FC236}">
                <a16:creationId xmlns:a16="http://schemas.microsoft.com/office/drawing/2014/main" id="{9C65F719-6E0A-4177-A377-2023D62F18CC}"/>
              </a:ext>
            </a:extLst>
          </p:cNvPr>
          <p:cNvSpPr>
            <a:spLocks xmlns:a="http://schemas.openxmlformats.org/drawingml/2006/main" noGrp="1"/>
          </p:cNvSpPr>
          <p:nvPr/>
        </p:nvSpPr>
        <p:spPr>
          <a:xfrm xmlns:a="http://schemas.openxmlformats.org/drawingml/2006/main">
            <a:off x="514350" y="194310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50E9E53-FD2C-4A08-A200-C53FD8CC395D}"/>
              </a:ext>
            </a:extLst>
          </p:cNvPr>
          <p:cNvSpPr>
            <a:spLocks xmlns:a="http://schemas.openxmlformats.org/drawingml/2006/main" noGrp="1"/>
          </p:cNvSpPr>
          <p:nvPr/>
        </p:nvSpPr>
        <p:spPr>
          <a:xfrm xmlns:a="http://schemas.openxmlformats.org/drawingml/2006/main">
            <a:off x="704850" y="203835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75" b="1">
                <a:solidFill>
                  <a:srgbClr val="2B6777"/>
                </a:solidFill>
                <a:latin typeface="Noto Sans JP"/>
                <a:ea typeface="Noto Sans JP"/>
                <a:cs typeface="Noto Sans JP"/>
              </a:defRPr>
            </a:pPr>
            <a:r>
              <a:rPr sz="3375" b="1">
                <a:solidFill>
                  <a:srgbClr val="2B6777"/>
                </a:solidFill>
                <a:latin typeface="Noto Sans JP"/>
                <a:ea typeface="Noto Sans JP"/>
                <a:cs typeface="Noto Sans JP"/>
              </a:rPr>
              <a:t>zᵢⱼ = Φ⁻¹(uᵢⱼ)</a:t>
            </a:r>
          </a:p>
        </p:txBody>
      </p:sp>
      <p:graphicFrame>
        <p:nvGraphicFramePr>
          <p:cNvPr id="19" name=""/>
          <p:cNvGraphicFramePr/>
          <p:nvPr/>
        </p:nvGraphicFramePr>
        <p:xfrm>
          <a:off xmlns:a="http://schemas.openxmlformats.org/drawingml/2006/main" x="514350" y="3419475"/>
          <a:ext xmlns:a="http://schemas.openxmlformats.org/drawingml/2006/main" cx="11163300" cy="1428750"/>
        </p:xfrm>
        <a:graphic xmlns:a="http://schemas.openxmlformats.org/drawingml/2006/main">
          <a:graphicData uri="http://schemas.openxmlformats.org/drawingml/2006/table">
            <a:tbl>
              <a:tblPr/>
              <a:tblGrid>
                <a:gridCol w="1860550"/>
                <a:gridCol w="1860550"/>
                <a:gridCol w="1860550"/>
                <a:gridCol w="1860550"/>
                <a:gridCol w="1860550"/>
                <a:gridCol w="1860550"/>
              </a:tblGrid>
              <a:tr h="714375">
                <a:tc>
                  <a:txBody>
                    <a:bodyPr/>
                    <a:lstStyle/>
                    <a:p>
                      <a:pPr algn="ctr"/>
                      <a:r>
                        <a:rPr sz="2175" b="1">
                          <a:solidFill>
                            <a:srgbClr val="2E7D5B"/>
                          </a:solidFill>
                          <a:latin typeface="Noto Sans JP"/>
                          <a:ea typeface="Noto Sans JP"/>
                          <a:cs typeface="Noto Sans JP"/>
                        </a:rPr>
                        <a:t>位置u</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0.1</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0.2</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0.5</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0.8</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0.9</a:t>
                      </a:r>
                    </a:p>
                  </a:txBody>
                  <a:tcPr marL="91440" marR="91440" marT="45720" marB="45720" anchor="ctr">
                    <a:solidFill>
                      <a:srgbClr val="E7F2EC"/>
                    </a:solidFill>
                  </a:tcPr>
                </a:tc>
              </a:tr>
              <a:tr h="714375">
                <a:tc>
                  <a:txBody>
                    <a:bodyPr/>
                    <a:lstStyle/>
                    <a:p>
                      <a:pPr algn="ctr"/>
                      <a:r>
                        <a:rPr sz="2175" b="0">
                          <a:solidFill>
                            <a:srgbClr val="222222"/>
                          </a:solidFill>
                          <a:latin typeface="Noto Sans JP"/>
                          <a:ea typeface="Noto Sans JP"/>
                          <a:cs typeface="Noto Sans JP"/>
                        </a:rPr>
                        <a:t>潜在値z</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−1.282</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−0.842</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0</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0.842</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1.282</a:t>
                      </a:r>
                    </a:p>
                  </a:txBody>
                  <a:tcPr marL="91440" marR="91440" marT="45720" marB="45720" anchor="ctr">
                    <a:solidFill>
                      <a:srgbClr val="FFFFFF"/>
                    </a:solidFill>
                  </a:tcPr>
                </a:tc>
              </a:tr>
            </a:tbl>
          </a:graphicData>
        </a:graphic>
      </p:graphicFrame>
      <p:sp>
        <p:nvSpPr>
          <p:cNvPr id="9" name="">
            <a:extLst xmlns:a="http://schemas.openxmlformats.org/drawingml/2006/main">
              <a:ext uri="{FF2B5EF4-FFF2-40B4-BE49-F238E27FC236}">
                <a16:creationId xmlns:a16="http://schemas.microsoft.com/office/drawing/2014/main" id="{BA5A3043-918B-4638-81C8-A0EA3A9731B1}"/>
              </a:ext>
            </a:extLst>
          </p:cNvPr>
          <p:cNvSpPr>
            <a:spLocks xmlns:a="http://schemas.openxmlformats.org/drawingml/2006/main" noGrp="1"/>
          </p:cNvSpPr>
          <p:nvPr/>
        </p:nvSpPr>
        <p:spPr>
          <a:xfrm xmlns:a="http://schemas.openxmlformats.org/drawingml/2006/main">
            <a:off x="723900" y="4981575"/>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高い位置は正のz、中央は0、低い位置は負のz。</a:t>
            </a:r>
          </a:p>
        </p:txBody>
      </p:sp>
      <p:sp>
        <p:nvSpPr>
          <p:cNvPr id="10" name="">
            <a:extLst xmlns:a="http://schemas.openxmlformats.org/drawingml/2006/main">
              <a:ext uri="{FF2B5EF4-FFF2-40B4-BE49-F238E27FC236}">
                <a16:creationId xmlns:a16="http://schemas.microsoft.com/office/drawing/2014/main" id="{C02CD52D-4F99-4C3E-BE27-065703E510B6}"/>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1FA7801-9306-4985-BD1B-96176AE42A4E}"/>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Φは位置へ、Φ⁻¹は潜在正規の値へ変換する</a:t>
            </a:r>
          </a:p>
        </p:txBody>
      </p:sp>
    </p:spTree>
    <p:extLst>
      <p:ext uri="{BB962C8B-B14F-4D97-AF65-F5344CB8AC3E}">
        <p14:creationId xmlns:p14="http://schemas.microsoft.com/office/powerpoint/2010/main" val="1510003707"/>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3B97AA0-83BE-44DF-8D4D-038319035275}"/>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学習手順③：依存をRとして推定</a:t>
            </a:r>
          </a:p>
        </p:txBody>
      </p:sp>
      <p:sp>
        <p:nvSpPr>
          <p:cNvPr id="2" name="">
            <a:extLst xmlns:a="http://schemas.openxmlformats.org/drawingml/2006/main">
              <a:ext uri="{FF2B5EF4-FFF2-40B4-BE49-F238E27FC236}">
                <a16:creationId xmlns:a16="http://schemas.microsoft.com/office/drawing/2014/main" id="{4B720FAE-94F7-4F35-9590-B5FD06A66E77}"/>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8566F504-7380-4AF3-BA28-39EA28215BA5}"/>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同じ行の潜在値の組から相関行列Rを求める。</a:t>
            </a:r>
          </a:p>
        </p:txBody>
      </p:sp>
      <p:sp>
        <p:nvSpPr>
          <p:cNvPr id="4" name="">
            <a:extLst xmlns:a="http://schemas.openxmlformats.org/drawingml/2006/main">
              <a:ext uri="{FF2B5EF4-FFF2-40B4-BE49-F238E27FC236}">
                <a16:creationId xmlns:a16="http://schemas.microsoft.com/office/drawing/2014/main" id="{D6859D0E-AE9E-4BD7-BB97-2C0D735EE402}"/>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提案手法の原理</a:t>
            </a:r>
          </a:p>
        </p:txBody>
      </p:sp>
      <p:sp>
        <p:nvSpPr>
          <p:cNvPr id="5" name="">
            <a:extLst xmlns:a="http://schemas.openxmlformats.org/drawingml/2006/main">
              <a:ext uri="{FF2B5EF4-FFF2-40B4-BE49-F238E27FC236}">
                <a16:creationId xmlns:a16="http://schemas.microsoft.com/office/drawing/2014/main" id="{C341A5C7-D2E7-4DE0-908F-AD8CE1B811DA}"/>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27</a:t>
            </a:r>
          </a:p>
        </p:txBody>
      </p:sp>
      <p:sp>
        <p:nvSpPr>
          <p:cNvPr id="6" name="">
            <a:extLst xmlns:a="http://schemas.openxmlformats.org/drawingml/2006/main">
              <a:ext uri="{FF2B5EF4-FFF2-40B4-BE49-F238E27FC236}">
                <a16:creationId xmlns:a16="http://schemas.microsoft.com/office/drawing/2014/main" id="{1635981F-CCC2-4673-9CD1-6A8B529DF0C1}"/>
              </a:ext>
            </a:extLst>
          </p:cNvPr>
          <p:cNvSpPr>
            <a:spLocks xmlns:a="http://schemas.openxmlformats.org/drawingml/2006/main" noGrp="1"/>
          </p:cNvSpPr>
          <p:nvPr/>
        </p:nvSpPr>
        <p:spPr>
          <a:xfrm xmlns:a="http://schemas.openxmlformats.org/drawingml/2006/main">
            <a:off x="514350" y="194310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701DFEE-7371-493E-9702-5BB351680825}"/>
              </a:ext>
            </a:extLst>
          </p:cNvPr>
          <p:cNvSpPr>
            <a:spLocks xmlns:a="http://schemas.openxmlformats.org/drawingml/2006/main" noGrp="1"/>
          </p:cNvSpPr>
          <p:nvPr/>
        </p:nvSpPr>
        <p:spPr>
          <a:xfrm xmlns:a="http://schemas.openxmlformats.org/drawingml/2006/main">
            <a:off x="704850" y="203835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B6777"/>
                </a:solidFill>
                <a:latin typeface="Noto Sans JP"/>
                <a:ea typeface="Noto Sans JP"/>
                <a:cs typeface="Noto Sans JP"/>
              </a:defRPr>
            </a:pPr>
            <a:r>
              <a:rPr sz="3300" b="1">
                <a:solidFill>
                  <a:srgbClr val="2B6777"/>
                </a:solidFill>
                <a:latin typeface="Noto Sans JP"/>
                <a:ea typeface="Noto Sans JP"/>
                <a:cs typeface="Noto Sans JP"/>
              </a:rPr>
              <a:t>Z = (Z₁, …, Z𝑑) ~ N(0, R)</a:t>
            </a:r>
          </a:p>
        </p:txBody>
      </p:sp>
      <p:sp>
        <p:nvSpPr>
          <p:cNvPr id="8" name="">
            <a:extLst xmlns:a="http://schemas.openxmlformats.org/drawingml/2006/main">
              <a:ext uri="{FF2B5EF4-FFF2-40B4-BE49-F238E27FC236}">
                <a16:creationId xmlns:a16="http://schemas.microsoft.com/office/drawing/2014/main" id="{9C68FADC-5C87-41F6-BB27-F3DD93B60BD8}"/>
              </a:ext>
            </a:extLst>
          </p:cNvPr>
          <p:cNvSpPr>
            <a:spLocks xmlns:a="http://schemas.openxmlformats.org/drawingml/2006/main" noGrp="1"/>
          </p:cNvSpPr>
          <p:nvPr/>
        </p:nvSpPr>
        <p:spPr>
          <a:xfrm xmlns:a="http://schemas.openxmlformats.org/drawingml/2006/main">
            <a:off x="514350" y="3362325"/>
            <a:ext cx="5314950" cy="193357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C8695A9-3ACF-47C5-90B0-54636BDDDD66}"/>
              </a:ext>
            </a:extLst>
          </p:cNvPr>
          <p:cNvSpPr>
            <a:spLocks xmlns:a="http://schemas.openxmlformats.org/drawingml/2006/main" noGrp="1"/>
          </p:cNvSpPr>
          <p:nvPr/>
        </p:nvSpPr>
        <p:spPr>
          <a:xfrm xmlns:a="http://schemas.openxmlformats.org/drawingml/2006/main">
            <a:off x="704850" y="3476625"/>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B6777"/>
                </a:solidFill>
                <a:latin typeface="Noto Sans JP"/>
                <a:ea typeface="Noto Sans JP"/>
                <a:cs typeface="Noto Sans JP"/>
              </a:defRPr>
            </a:pPr>
            <a:r>
              <a:rPr sz="2175" b="1">
                <a:solidFill>
                  <a:srgbClr val="2B6777"/>
                </a:solidFill>
                <a:latin typeface="Noto Sans JP"/>
                <a:ea typeface="Noto Sans JP"/>
                <a:cs typeface="Noto Sans JP"/>
              </a:rPr>
              <a:t>Rが表すもの</a:t>
            </a:r>
          </a:p>
        </p:txBody>
      </p:sp>
      <p:sp>
        <p:nvSpPr>
          <p:cNvPr id="10" name="">
            <a:extLst xmlns:a="http://schemas.openxmlformats.org/drawingml/2006/main">
              <a:ext uri="{FF2B5EF4-FFF2-40B4-BE49-F238E27FC236}">
                <a16:creationId xmlns:a16="http://schemas.microsoft.com/office/drawing/2014/main" id="{877494F7-8791-438C-8EE5-F45BF08B836B}"/>
              </a:ext>
            </a:extLst>
          </p:cNvPr>
          <p:cNvSpPr>
            <a:spLocks xmlns:a="http://schemas.openxmlformats.org/drawingml/2006/main" noGrp="1"/>
          </p:cNvSpPr>
          <p:nvPr/>
        </p:nvSpPr>
        <p:spPr>
          <a:xfrm xmlns:a="http://schemas.openxmlformats.org/drawingml/2006/main">
            <a:off x="704850" y="4029075"/>
            <a:ext cx="493395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列ごとの分布を揃えた後の、</a:t>
            </a:r>
          </a:p>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潜在値どうしの相関。</a:t>
            </a:r>
          </a:p>
        </p:txBody>
      </p:sp>
      <p:sp>
        <p:nvSpPr>
          <p:cNvPr id="11" name="">
            <a:extLst xmlns:a="http://schemas.openxmlformats.org/drawingml/2006/main">
              <a:ext uri="{FF2B5EF4-FFF2-40B4-BE49-F238E27FC236}">
                <a16:creationId xmlns:a16="http://schemas.microsoft.com/office/drawing/2014/main" id="{2D51B2CB-DB07-4DC8-A2FA-0746F0A1C3E9}"/>
              </a:ext>
            </a:extLst>
          </p:cNvPr>
          <p:cNvSpPr>
            <a:spLocks xmlns:a="http://schemas.openxmlformats.org/drawingml/2006/main" noGrp="1"/>
          </p:cNvSpPr>
          <p:nvPr/>
        </p:nvSpPr>
        <p:spPr>
          <a:xfrm xmlns:a="http://schemas.openxmlformats.org/drawingml/2006/main">
            <a:off x="6076950" y="3362325"/>
            <a:ext cx="5600700" cy="193357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06A1533-EC12-4694-A69D-CB4B7C451AD9}"/>
              </a:ext>
            </a:extLst>
          </p:cNvPr>
          <p:cNvSpPr>
            <a:spLocks xmlns:a="http://schemas.openxmlformats.org/drawingml/2006/main" noGrp="1"/>
          </p:cNvSpPr>
          <p:nvPr/>
        </p:nvSpPr>
        <p:spPr>
          <a:xfrm xmlns:a="http://schemas.openxmlformats.org/drawingml/2006/main">
            <a:off x="6267450" y="3476625"/>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ここで置く仮定</a:t>
            </a:r>
          </a:p>
        </p:txBody>
      </p:sp>
      <p:sp>
        <p:nvSpPr>
          <p:cNvPr id="13" name="">
            <a:extLst xmlns:a="http://schemas.openxmlformats.org/drawingml/2006/main">
              <a:ext uri="{FF2B5EF4-FFF2-40B4-BE49-F238E27FC236}">
                <a16:creationId xmlns:a16="http://schemas.microsoft.com/office/drawing/2014/main" id="{EC6C45F8-DA22-4F09-A730-DB8A00127F33}"/>
              </a:ext>
            </a:extLst>
          </p:cNvPr>
          <p:cNvSpPr>
            <a:spLocks xmlns:a="http://schemas.openxmlformats.org/drawingml/2006/main" noGrp="1"/>
          </p:cNvSpPr>
          <p:nvPr/>
        </p:nvSpPr>
        <p:spPr>
          <a:xfrm xmlns:a="http://schemas.openxmlformats.org/drawingml/2006/main">
            <a:off x="6267450" y="4029075"/>
            <a:ext cx="52197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各列が正規になっただけでは</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同時正規とは限らない。</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同時正規性はモデルの仮定。</a:t>
            </a:r>
          </a:p>
        </p:txBody>
      </p:sp>
      <p:sp>
        <p:nvSpPr>
          <p:cNvPr id="14" name="">
            <a:extLst xmlns:a="http://schemas.openxmlformats.org/drawingml/2006/main">
              <a:ext uri="{FF2B5EF4-FFF2-40B4-BE49-F238E27FC236}">
                <a16:creationId xmlns:a16="http://schemas.microsoft.com/office/drawing/2014/main" id="{84573DF1-BB5E-48C0-97B9-93F610842EEC}"/>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D2824D8-FA70-4B1D-8EE2-79962EB40100}"/>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周辺変換と「同時分布の仮定」は、別のステップ</a:t>
            </a:r>
          </a:p>
        </p:txBody>
      </p:sp>
    </p:spTree>
    <p:extLst>
      <p:ext uri="{BB962C8B-B14F-4D97-AF65-F5344CB8AC3E}">
        <p14:creationId xmlns:p14="http://schemas.microsoft.com/office/powerpoint/2010/main" val="708743910"/>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C47C158-57FD-4010-AF4F-F5CB67E49CA4}"/>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生成手順：残す列を条件にする</a:t>
            </a:r>
          </a:p>
        </p:txBody>
      </p:sp>
      <p:sp>
        <p:nvSpPr>
          <p:cNvPr id="2" name="">
            <a:extLst xmlns:a="http://schemas.openxmlformats.org/drawingml/2006/main">
              <a:ext uri="{FF2B5EF4-FFF2-40B4-BE49-F238E27FC236}">
                <a16:creationId xmlns:a16="http://schemas.microsoft.com/office/drawing/2014/main" id="{DDFE70E7-70C2-4D9C-BA68-FF4A82F01B3A}"/>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BBF94AA2-8E73-498F-AFB7-0CA7C87BC98A}"/>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身長を固定し、体重だけを置換する例。</a:t>
            </a:r>
          </a:p>
        </p:txBody>
      </p:sp>
      <p:sp>
        <p:nvSpPr>
          <p:cNvPr id="4" name="">
            <a:extLst xmlns:a="http://schemas.openxmlformats.org/drawingml/2006/main">
              <a:ext uri="{FF2B5EF4-FFF2-40B4-BE49-F238E27FC236}">
                <a16:creationId xmlns:a16="http://schemas.microsoft.com/office/drawing/2014/main" id="{BDADAB59-756E-4D14-B810-D0680CEAD238}"/>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提案手法の原理</a:t>
            </a:r>
          </a:p>
        </p:txBody>
      </p:sp>
      <p:sp>
        <p:nvSpPr>
          <p:cNvPr id="5" name="">
            <a:extLst xmlns:a="http://schemas.openxmlformats.org/drawingml/2006/main">
              <a:ext uri="{FF2B5EF4-FFF2-40B4-BE49-F238E27FC236}">
                <a16:creationId xmlns:a16="http://schemas.microsoft.com/office/drawing/2014/main" id="{BED3A478-A13A-4163-8DD7-00968605C94A}"/>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28</a:t>
            </a:r>
          </a:p>
        </p:txBody>
      </p:sp>
      <p:sp>
        <p:nvSpPr>
          <p:cNvPr id="6" name="">
            <a:extLst xmlns:a="http://schemas.openxmlformats.org/drawingml/2006/main">
              <a:ext uri="{FF2B5EF4-FFF2-40B4-BE49-F238E27FC236}">
                <a16:creationId xmlns:a16="http://schemas.microsoft.com/office/drawing/2014/main" id="{EE661738-1720-41EB-B24D-D06C1BDD9B32}"/>
              </a:ext>
            </a:extLst>
          </p:cNvPr>
          <p:cNvSpPr>
            <a:spLocks xmlns:a="http://schemas.openxmlformats.org/drawingml/2006/main" noGrp="1"/>
          </p:cNvSpPr>
          <p:nvPr/>
        </p:nvSpPr>
        <p:spPr>
          <a:xfrm xmlns:a="http://schemas.openxmlformats.org/drawingml/2006/main">
            <a:off x="552450" y="1952625"/>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7" name="">
            <a:extLst xmlns:a="http://schemas.openxmlformats.org/drawingml/2006/main">
              <a:ext uri="{FF2B5EF4-FFF2-40B4-BE49-F238E27FC236}">
                <a16:creationId xmlns:a16="http://schemas.microsoft.com/office/drawing/2014/main" id="{85995C0B-8861-4B14-B833-13794222335A}"/>
              </a:ext>
            </a:extLst>
          </p:cNvPr>
          <p:cNvSpPr>
            <a:spLocks xmlns:a="http://schemas.openxmlformats.org/drawingml/2006/main" noGrp="1"/>
          </p:cNvSpPr>
          <p:nvPr/>
        </p:nvSpPr>
        <p:spPr>
          <a:xfrm xmlns:a="http://schemas.openxmlformats.org/drawingml/2006/main">
            <a:off x="1257300" y="1952625"/>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元の行：身長175 cm、体重68 kg。体重をマスクする。</a:t>
            </a:r>
          </a:p>
        </p:txBody>
      </p:sp>
      <p:sp>
        <p:nvSpPr>
          <p:cNvPr id="8" name="">
            <a:extLst xmlns:a="http://schemas.openxmlformats.org/drawingml/2006/main">
              <a:ext uri="{FF2B5EF4-FFF2-40B4-BE49-F238E27FC236}">
                <a16:creationId xmlns:a16="http://schemas.microsoft.com/office/drawing/2014/main" id="{7258B1A6-3F4F-47E3-B8A3-CEF3A9A5BA92}"/>
              </a:ext>
            </a:extLst>
          </p:cNvPr>
          <p:cNvSpPr>
            <a:spLocks xmlns:a="http://schemas.openxmlformats.org/drawingml/2006/main" noGrp="1"/>
          </p:cNvSpPr>
          <p:nvPr/>
        </p:nvSpPr>
        <p:spPr>
          <a:xfrm xmlns:a="http://schemas.openxmlformats.org/drawingml/2006/main">
            <a:off x="552450" y="2774156"/>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9" name="">
            <a:extLst xmlns:a="http://schemas.openxmlformats.org/drawingml/2006/main">
              <a:ext uri="{FF2B5EF4-FFF2-40B4-BE49-F238E27FC236}">
                <a16:creationId xmlns:a16="http://schemas.microsoft.com/office/drawing/2014/main" id="{BD119DAC-84E9-49AA-BFBA-D0EF62999C57}"/>
              </a:ext>
            </a:extLst>
          </p:cNvPr>
          <p:cNvSpPr>
            <a:spLocks xmlns:a="http://schemas.openxmlformats.org/drawingml/2006/main" noGrp="1"/>
          </p:cNvSpPr>
          <p:nvPr/>
        </p:nvSpPr>
        <p:spPr>
          <a:xfrm xmlns:a="http://schemas.openxmlformats.org/drawingml/2006/main">
            <a:off x="1257300" y="2774156"/>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残る身長の位置：u = Fₓ(175) = 0.8。</a:t>
            </a:r>
          </a:p>
        </p:txBody>
      </p:sp>
      <p:sp>
        <p:nvSpPr>
          <p:cNvPr id="10" name="">
            <a:extLst xmlns:a="http://schemas.openxmlformats.org/drawingml/2006/main">
              <a:ext uri="{FF2B5EF4-FFF2-40B4-BE49-F238E27FC236}">
                <a16:creationId xmlns:a16="http://schemas.microsoft.com/office/drawing/2014/main" id="{CA262104-89BE-4039-8CED-CDF02276B617}"/>
              </a:ext>
            </a:extLst>
          </p:cNvPr>
          <p:cNvSpPr>
            <a:spLocks xmlns:a="http://schemas.openxmlformats.org/drawingml/2006/main" noGrp="1"/>
          </p:cNvSpPr>
          <p:nvPr/>
        </p:nvSpPr>
        <p:spPr>
          <a:xfrm xmlns:a="http://schemas.openxmlformats.org/drawingml/2006/main">
            <a:off x="552450" y="3595688"/>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1" name="">
            <a:extLst xmlns:a="http://schemas.openxmlformats.org/drawingml/2006/main">
              <a:ext uri="{FF2B5EF4-FFF2-40B4-BE49-F238E27FC236}">
                <a16:creationId xmlns:a16="http://schemas.microsoft.com/office/drawing/2014/main" id="{0ABD1FCA-ADDF-49AE-AE7D-20E42F7AB643}"/>
              </a:ext>
            </a:extLst>
          </p:cNvPr>
          <p:cNvSpPr>
            <a:spLocks xmlns:a="http://schemas.openxmlformats.org/drawingml/2006/main" noGrp="1"/>
          </p:cNvSpPr>
          <p:nvPr/>
        </p:nvSpPr>
        <p:spPr>
          <a:xfrm xmlns:a="http://schemas.openxmlformats.org/drawingml/2006/main">
            <a:off x="1257300" y="3595688"/>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潜在値へ：zₓ = Φ⁻¹(0.8) ≈ 0.842。</a:t>
            </a:r>
          </a:p>
        </p:txBody>
      </p:sp>
      <p:sp>
        <p:nvSpPr>
          <p:cNvPr id="12" name="">
            <a:extLst xmlns:a="http://schemas.openxmlformats.org/drawingml/2006/main">
              <a:ext uri="{FF2B5EF4-FFF2-40B4-BE49-F238E27FC236}">
                <a16:creationId xmlns:a16="http://schemas.microsoft.com/office/drawing/2014/main" id="{CDEF1C2C-C421-4048-AD31-1E4ADBAE1FCA}"/>
              </a:ext>
            </a:extLst>
          </p:cNvPr>
          <p:cNvSpPr>
            <a:spLocks xmlns:a="http://schemas.openxmlformats.org/drawingml/2006/main" noGrp="1"/>
          </p:cNvSpPr>
          <p:nvPr/>
        </p:nvSpPr>
        <p:spPr>
          <a:xfrm xmlns:a="http://schemas.openxmlformats.org/drawingml/2006/main">
            <a:off x="552450" y="4417219"/>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4</a:t>
            </a:r>
          </a:p>
        </p:txBody>
      </p:sp>
      <p:sp>
        <p:nvSpPr>
          <p:cNvPr id="13" name="">
            <a:extLst xmlns:a="http://schemas.openxmlformats.org/drawingml/2006/main">
              <a:ext uri="{FF2B5EF4-FFF2-40B4-BE49-F238E27FC236}">
                <a16:creationId xmlns:a16="http://schemas.microsoft.com/office/drawing/2014/main" id="{5A21DF05-CF6C-4FF8-88CF-8AE2CD4EE3B5}"/>
              </a:ext>
            </a:extLst>
          </p:cNvPr>
          <p:cNvSpPr>
            <a:spLocks xmlns:a="http://schemas.openxmlformats.org/drawingml/2006/main" noGrp="1"/>
          </p:cNvSpPr>
          <p:nvPr/>
        </p:nvSpPr>
        <p:spPr>
          <a:xfrm xmlns:a="http://schemas.openxmlformats.org/drawingml/2006/main">
            <a:off x="1257300" y="4417219"/>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zₓを条件に、体重側の潜在値zᵧをサンプリングする。</a:t>
            </a:r>
          </a:p>
        </p:txBody>
      </p:sp>
      <p:sp>
        <p:nvSpPr>
          <p:cNvPr id="14" name="">
            <a:extLst xmlns:a="http://schemas.openxmlformats.org/drawingml/2006/main">
              <a:ext uri="{FF2B5EF4-FFF2-40B4-BE49-F238E27FC236}">
                <a16:creationId xmlns:a16="http://schemas.microsoft.com/office/drawing/2014/main" id="{F1748D0D-0D02-45C5-B037-9B2F490BE8F6}"/>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C17B999-498C-4940-B369-F7F17A01705D}"/>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生成した体重と元の身長を組にし、身長は変更しない</a:t>
            </a:r>
          </a:p>
        </p:txBody>
      </p:sp>
    </p:spTree>
    <p:extLst>
      <p:ext uri="{BB962C8B-B14F-4D97-AF65-F5344CB8AC3E}">
        <p14:creationId xmlns:p14="http://schemas.microsoft.com/office/powerpoint/2010/main" val="85038058"/>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1A68850-B37F-498E-9FEB-08567B097659}"/>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なぜ条件付き正規分布になるのか</a:t>
            </a:r>
          </a:p>
        </p:txBody>
      </p:sp>
      <p:sp>
        <p:nvSpPr>
          <p:cNvPr id="2" name="">
            <a:extLst xmlns:a="http://schemas.openxmlformats.org/drawingml/2006/main">
              <a:ext uri="{FF2B5EF4-FFF2-40B4-BE49-F238E27FC236}">
                <a16:creationId xmlns:a16="http://schemas.microsoft.com/office/drawing/2014/main" id="{2DAB5EE9-7832-4C1B-834D-51C344402D67}"/>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AB27956-1D00-4C33-8F62-E796D0D8BBE6}"/>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二つの潜在値を、相関ρのある標準正規としてモデル化したため。</a:t>
            </a:r>
          </a:p>
        </p:txBody>
      </p:sp>
      <p:sp>
        <p:nvSpPr>
          <p:cNvPr id="4" name="">
            <a:extLst xmlns:a="http://schemas.openxmlformats.org/drawingml/2006/main">
              <a:ext uri="{FF2B5EF4-FFF2-40B4-BE49-F238E27FC236}">
                <a16:creationId xmlns:a16="http://schemas.microsoft.com/office/drawing/2014/main" id="{2864A012-7685-4F64-8BE7-8D029963B1AA}"/>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提案手法の原理</a:t>
            </a:r>
          </a:p>
        </p:txBody>
      </p:sp>
      <p:sp>
        <p:nvSpPr>
          <p:cNvPr id="5" name="">
            <a:extLst xmlns:a="http://schemas.openxmlformats.org/drawingml/2006/main">
              <a:ext uri="{FF2B5EF4-FFF2-40B4-BE49-F238E27FC236}">
                <a16:creationId xmlns:a16="http://schemas.microsoft.com/office/drawing/2014/main" id="{E0A912EF-5960-4E38-9CEB-6975BFF7E573}"/>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29</a:t>
            </a:r>
          </a:p>
        </p:txBody>
      </p:sp>
      <p:sp>
        <p:nvSpPr>
          <p:cNvPr id="6" name="">
            <a:extLst xmlns:a="http://schemas.openxmlformats.org/drawingml/2006/main">
              <a:ext uri="{FF2B5EF4-FFF2-40B4-BE49-F238E27FC236}">
                <a16:creationId xmlns:a16="http://schemas.microsoft.com/office/drawing/2014/main" id="{98E022BD-FF87-4739-B7F9-08C324645637}"/>
              </a:ext>
            </a:extLst>
          </p:cNvPr>
          <p:cNvSpPr>
            <a:spLocks xmlns:a="http://schemas.openxmlformats.org/drawingml/2006/main" noGrp="1"/>
          </p:cNvSpPr>
          <p:nvPr/>
        </p:nvSpPr>
        <p:spPr>
          <a:xfrm xmlns:a="http://schemas.openxmlformats.org/drawingml/2006/main">
            <a:off x="514350" y="195262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042C7CD-9485-4DA9-8730-FF4A12BE504B}"/>
              </a:ext>
            </a:extLst>
          </p:cNvPr>
          <p:cNvSpPr>
            <a:spLocks xmlns:a="http://schemas.openxmlformats.org/drawingml/2006/main" noGrp="1"/>
          </p:cNvSpPr>
          <p:nvPr/>
        </p:nvSpPr>
        <p:spPr>
          <a:xfrm xmlns:a="http://schemas.openxmlformats.org/drawingml/2006/main">
            <a:off x="704850" y="204787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075" b="1">
                <a:solidFill>
                  <a:srgbClr val="2B6777"/>
                </a:solidFill>
                <a:latin typeface="Noto Sans JP"/>
                <a:ea typeface="Noto Sans JP"/>
                <a:cs typeface="Noto Sans JP"/>
              </a:defRPr>
            </a:pPr>
            <a:r>
              <a:rPr sz="3075" b="1">
                <a:solidFill>
                  <a:srgbClr val="2B6777"/>
                </a:solidFill>
                <a:latin typeface="Noto Sans JP"/>
                <a:ea typeface="Noto Sans JP"/>
                <a:cs typeface="Noto Sans JP"/>
              </a:rPr>
              <a:t>Zᵧ | Zₓ = zₓ  ~  N(ρzₓ, 1 − ρ²)</a:t>
            </a:r>
          </a:p>
        </p:txBody>
      </p:sp>
      <p:graphicFrame>
        <p:nvGraphicFramePr>
          <p:cNvPr id="18" name=""/>
          <p:cNvGraphicFramePr/>
          <p:nvPr/>
        </p:nvGraphicFramePr>
        <p:xfrm>
          <a:off xmlns:a="http://schemas.openxmlformats.org/drawingml/2006/main" x="514350" y="3381375"/>
          <a:ext xmlns:a="http://schemas.openxmlformats.org/drawingml/2006/main" cx="11163300" cy="1962150"/>
        </p:xfrm>
        <a:graphic xmlns:a="http://schemas.openxmlformats.org/drawingml/2006/main">
          <a:graphicData uri="http://schemas.openxmlformats.org/drawingml/2006/table">
            <a:tbl>
              <a:tblPr/>
              <a:tblGrid>
                <a:gridCol w="3721100"/>
                <a:gridCol w="3721100"/>
                <a:gridCol w="3721100"/>
              </a:tblGrid>
              <a:tr h="490538">
                <a:tc>
                  <a:txBody>
                    <a:bodyPr/>
                    <a:lstStyle/>
                    <a:p>
                      <a:pPr algn="ctr"/>
                      <a:r>
                        <a:rPr sz="1875" b="1">
                          <a:solidFill>
                            <a:srgbClr val="2E7D5B"/>
                          </a:solidFill>
                          <a:latin typeface="Noto Sans JP"/>
                          <a:ea typeface="Noto Sans JP"/>
                          <a:cs typeface="Noto Sans JP"/>
                        </a:rPr>
                        <a:t>説明用の設定</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計算</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意味</a:t>
                      </a:r>
                    </a:p>
                  </a:txBody>
                  <a:tcPr marL="91440" marR="91440" marT="45720" marB="45720" anchor="ctr">
                    <a:solidFill>
                      <a:srgbClr val="E7F2EC"/>
                    </a:solidFill>
                  </a:tcPr>
                </a:tc>
              </a:tr>
              <a:tr h="490538">
                <a:tc>
                  <a:txBody>
                    <a:bodyPr/>
                    <a:lstStyle/>
                    <a:p>
                      <a:pPr algn="ctr"/>
                      <a:r>
                        <a:rPr sz="1875" b="0">
                          <a:solidFill>
                            <a:srgbClr val="222222"/>
                          </a:solidFill>
                          <a:latin typeface="Noto Sans JP"/>
                          <a:ea typeface="Noto Sans JP"/>
                          <a:cs typeface="Noto Sans JP"/>
                        </a:rPr>
                        <a:t>ρ = 0.6, zₓ ≈ 0.842</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平均 = 0.6 × 0.842 ≈ 0.505</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高い側へ分布が動く</a:t>
                      </a:r>
                    </a:p>
                  </a:txBody>
                  <a:tcPr marL="91440" marR="91440" marT="45720" marB="45720" anchor="ctr">
                    <a:solidFill>
                      <a:srgbClr val="FFFFFF"/>
                    </a:solidFill>
                  </a:tcPr>
                </a:tc>
              </a:tr>
              <a:tr h="490538">
                <a:tc>
                  <a:txBody>
                    <a:bodyPr/>
                    <a:lstStyle/>
                    <a:p>
                      <a:pPr algn="ctr"/>
                      <a:r>
                        <a:rPr sz="1875" b="0">
                          <a:solidFill>
                            <a:srgbClr val="222222"/>
                          </a:solidFill>
                          <a:latin typeface="Noto Sans JP"/>
                          <a:ea typeface="Noto Sans JP"/>
                          <a:cs typeface="Noto Sans JP"/>
                        </a:rPr>
                        <a:t>条件付き分散</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1 − 0.6² = 0.64</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不確実性が残る</a:t>
                      </a:r>
                    </a:p>
                  </a:txBody>
                  <a:tcPr marL="91440" marR="91440" marT="45720" marB="45720" anchor="ctr">
                    <a:solidFill>
                      <a:srgbClr val="F6F6F6"/>
                    </a:solidFill>
                  </a:tcPr>
                </a:tc>
              </a:tr>
              <a:tr h="490538">
                <a:tc>
                  <a:txBody>
                    <a:bodyPr/>
                    <a:lstStyle/>
                    <a:p>
                      <a:pPr algn="ctr"/>
                      <a:r>
                        <a:rPr sz="1875" b="0">
                          <a:solidFill>
                            <a:srgbClr val="222222"/>
                          </a:solidFill>
                          <a:latin typeface="Noto Sans JP"/>
                          <a:ea typeface="Noto Sans JP"/>
                          <a:cs typeface="Noto Sans JP"/>
                        </a:rPr>
                        <a:t>条件付き標準偏差</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√0.64 = 0.8</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平均の周りから値を生成</a:t>
                      </a:r>
                    </a:p>
                  </a:txBody>
                  <a:tcPr marL="91440" marR="91440" marT="45720" marB="45720" anchor="ctr">
                    <a:solidFill>
                      <a:srgbClr val="FFFFFF"/>
                    </a:solidFill>
                  </a:tcPr>
                </a:tc>
              </a:tr>
            </a:tbl>
          </a:graphicData>
        </a:graphic>
      </p:graphicFrame>
      <p:sp>
        <p:nvSpPr>
          <p:cNvPr id="9" name="">
            <a:extLst xmlns:a="http://schemas.openxmlformats.org/drawingml/2006/main">
              <a:ext uri="{FF2B5EF4-FFF2-40B4-BE49-F238E27FC236}">
                <a16:creationId xmlns:a16="http://schemas.microsoft.com/office/drawing/2014/main" id="{724A51FA-E906-4AC8-B922-35C598E4F623}"/>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570EF49-8599-4485-94C4-4AA15D450A42}"/>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「もっともらしい一つの値」へ固定せず、分布から生成する</a:t>
            </a:r>
          </a:p>
        </p:txBody>
      </p:sp>
    </p:spTree>
    <p:extLst>
      <p:ext uri="{BB962C8B-B14F-4D97-AF65-F5344CB8AC3E}">
        <p14:creationId xmlns:p14="http://schemas.microsoft.com/office/powerpoint/2010/main" val="1189274067"/>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177D0CD-ABAE-4779-8587-E41B0A1FC072}"/>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サンプリングを、数字で追う</a:t>
            </a:r>
          </a:p>
        </p:txBody>
      </p:sp>
      <p:sp>
        <p:nvSpPr>
          <p:cNvPr id="2" name="">
            <a:extLst xmlns:a="http://schemas.openxmlformats.org/drawingml/2006/main">
              <a:ext uri="{FF2B5EF4-FFF2-40B4-BE49-F238E27FC236}">
                <a16:creationId xmlns:a16="http://schemas.microsoft.com/office/drawing/2014/main" id="{A46E18BF-58E5-452F-B660-91357BCF83DD}"/>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189EAB45-9EDA-416B-BBAE-34137A6903C4}"/>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標準正規の乱数εを引き、平均と標準偏差で変換する。</a:t>
            </a:r>
          </a:p>
        </p:txBody>
      </p:sp>
      <p:sp>
        <p:nvSpPr>
          <p:cNvPr id="4" name="">
            <a:extLst xmlns:a="http://schemas.openxmlformats.org/drawingml/2006/main">
              <a:ext uri="{FF2B5EF4-FFF2-40B4-BE49-F238E27FC236}">
                <a16:creationId xmlns:a16="http://schemas.microsoft.com/office/drawing/2014/main" id="{FC606D9C-7F0D-492C-8BE3-A1782039D606}"/>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提案手法の原理</a:t>
            </a:r>
          </a:p>
        </p:txBody>
      </p:sp>
      <p:sp>
        <p:nvSpPr>
          <p:cNvPr id="5" name="">
            <a:extLst xmlns:a="http://schemas.openxmlformats.org/drawingml/2006/main">
              <a:ext uri="{FF2B5EF4-FFF2-40B4-BE49-F238E27FC236}">
                <a16:creationId xmlns:a16="http://schemas.microsoft.com/office/drawing/2014/main" id="{A8BEDA65-3B49-44A8-BB31-A41581A675DD}"/>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30</a:t>
            </a:r>
          </a:p>
        </p:txBody>
      </p:sp>
      <p:sp>
        <p:nvSpPr>
          <p:cNvPr id="6" name="">
            <a:extLst xmlns:a="http://schemas.openxmlformats.org/drawingml/2006/main">
              <a:ext uri="{FF2B5EF4-FFF2-40B4-BE49-F238E27FC236}">
                <a16:creationId xmlns:a16="http://schemas.microsoft.com/office/drawing/2014/main" id="{33643D10-83F8-4B55-A812-70862FF8B30A}"/>
              </a:ext>
            </a:extLst>
          </p:cNvPr>
          <p:cNvSpPr>
            <a:spLocks xmlns:a="http://schemas.openxmlformats.org/drawingml/2006/main" noGrp="1"/>
          </p:cNvSpPr>
          <p:nvPr/>
        </p:nvSpPr>
        <p:spPr>
          <a:xfrm xmlns:a="http://schemas.openxmlformats.org/drawingml/2006/main">
            <a:off x="514350" y="191452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09342E7-F2CF-4F41-82CB-EB7DD0ABDE57}"/>
              </a:ext>
            </a:extLst>
          </p:cNvPr>
          <p:cNvSpPr>
            <a:spLocks xmlns:a="http://schemas.openxmlformats.org/drawingml/2006/main" noGrp="1"/>
          </p:cNvSpPr>
          <p:nvPr/>
        </p:nvSpPr>
        <p:spPr>
          <a:xfrm xmlns:a="http://schemas.openxmlformats.org/drawingml/2006/main">
            <a:off x="704850" y="200977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075" b="1">
                <a:solidFill>
                  <a:srgbClr val="2B6777"/>
                </a:solidFill>
                <a:latin typeface="Noto Sans JP"/>
                <a:ea typeface="Noto Sans JP"/>
                <a:cs typeface="Noto Sans JP"/>
              </a:defRPr>
            </a:pPr>
            <a:r>
              <a:rPr sz="3075" b="1">
                <a:solidFill>
                  <a:srgbClr val="2B6777"/>
                </a:solidFill>
                <a:latin typeface="Noto Sans JP"/>
                <a:ea typeface="Noto Sans JP"/>
                <a:cs typeface="Noto Sans JP"/>
              </a:rPr>
              <a:t>zᵧ = 0.505 + 0.8ε ,   ε ~ N(0, 1)</a:t>
            </a:r>
          </a:p>
        </p:txBody>
      </p:sp>
      <p:graphicFrame>
        <p:nvGraphicFramePr>
          <p:cNvPr id="18" name=""/>
          <p:cNvGraphicFramePr/>
          <p:nvPr/>
        </p:nvGraphicFramePr>
        <p:xfrm>
          <a:off xmlns:a="http://schemas.openxmlformats.org/drawingml/2006/main" x="514350" y="3352800"/>
          <a:ext xmlns:a="http://schemas.openxmlformats.org/drawingml/2006/main" cx="11163300" cy="2047875"/>
        </p:xfrm>
        <a:graphic xmlns:a="http://schemas.openxmlformats.org/drawingml/2006/main">
          <a:graphicData uri="http://schemas.openxmlformats.org/drawingml/2006/table">
            <a:tbl>
              <a:tblPr/>
              <a:tblGrid>
                <a:gridCol w="3721100"/>
                <a:gridCol w="3721100"/>
                <a:gridCol w="3721100"/>
              </a:tblGrid>
              <a:tr h="511969">
                <a:tc>
                  <a:txBody>
                    <a:bodyPr/>
                    <a:lstStyle/>
                    <a:p>
                      <a:pPr algn="ctr"/>
                      <a:r>
                        <a:rPr sz="2100" b="1">
                          <a:solidFill>
                            <a:srgbClr val="2E7D5B"/>
                          </a:solidFill>
                          <a:latin typeface="Noto Sans JP"/>
                          <a:ea typeface="Noto Sans JP"/>
                          <a:cs typeface="Noto Sans JP"/>
                        </a:rPr>
                        <a:t>説明用のε</a:t>
                      </a:r>
                    </a:p>
                  </a:txBody>
                  <a:tcPr marL="91440" marR="91440" marT="45720" marB="45720" anchor="ctr">
                    <a:solidFill>
                      <a:srgbClr val="E7F2EC"/>
                    </a:solidFill>
                  </a:tcPr>
                </a:tc>
                <a:tc>
                  <a:txBody>
                    <a:bodyPr/>
                    <a:lstStyle/>
                    <a:p>
                      <a:pPr algn="ctr"/>
                      <a:r>
                        <a:rPr sz="2100" b="1">
                          <a:solidFill>
                            <a:srgbClr val="2E7D5B"/>
                          </a:solidFill>
                          <a:latin typeface="Noto Sans JP"/>
                          <a:ea typeface="Noto Sans JP"/>
                          <a:cs typeface="Noto Sans JP"/>
                        </a:rPr>
                        <a:t>潜在値zᵧ</a:t>
                      </a:r>
                    </a:p>
                  </a:txBody>
                  <a:tcPr marL="91440" marR="91440" marT="45720" marB="45720" anchor="ctr">
                    <a:solidFill>
                      <a:srgbClr val="E7F2EC"/>
                    </a:solidFill>
                  </a:tcPr>
                </a:tc>
                <a:tc>
                  <a:txBody>
                    <a:bodyPr/>
                    <a:lstStyle/>
                    <a:p>
                      <a:pPr algn="ctr"/>
                      <a:r>
                        <a:rPr sz="2100" b="1">
                          <a:solidFill>
                            <a:srgbClr val="2E7D5B"/>
                          </a:solidFill>
                          <a:latin typeface="Noto Sans JP"/>
                          <a:ea typeface="Noto Sans JP"/>
                          <a:cs typeface="Noto Sans JP"/>
                        </a:rPr>
                        <a:t>体重の位置 v = Φ(zᵧ)</a:t>
                      </a:r>
                    </a:p>
                  </a:txBody>
                  <a:tcPr marL="91440" marR="91440" marT="45720" marB="45720" anchor="ctr">
                    <a:solidFill>
                      <a:srgbClr val="E7F2EC"/>
                    </a:solidFill>
                  </a:tcPr>
                </a:tc>
              </a:tr>
              <a:tr h="511969">
                <a:tc>
                  <a:txBody>
                    <a:bodyPr/>
                    <a:lstStyle/>
                    <a:p>
                      <a:pPr algn="ctr"/>
                      <a:r>
                        <a:rPr sz="2100" b="0">
                          <a:solidFill>
                            <a:srgbClr val="222222"/>
                          </a:solidFill>
                          <a:latin typeface="Noto Sans JP"/>
                          <a:ea typeface="Noto Sans JP"/>
                          <a:cs typeface="Noto Sans JP"/>
                        </a:rPr>
                        <a:t>−1</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−0.295</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約0.384</a:t>
                      </a:r>
                    </a:p>
                  </a:txBody>
                  <a:tcPr marL="91440" marR="91440" marT="45720" marB="45720" anchor="ctr">
                    <a:solidFill>
                      <a:srgbClr val="FFFFFF"/>
                    </a:solidFill>
                  </a:tcPr>
                </a:tc>
              </a:tr>
              <a:tr h="511969">
                <a:tc>
                  <a:txBody>
                    <a:bodyPr/>
                    <a:lstStyle/>
                    <a:p>
                      <a:pPr algn="ctr"/>
                      <a:r>
                        <a:rPr sz="2100" b="0">
                          <a:solidFill>
                            <a:srgbClr val="222222"/>
                          </a:solidFill>
                          <a:latin typeface="Noto Sans JP"/>
                          <a:ea typeface="Noto Sans JP"/>
                          <a:cs typeface="Noto Sans JP"/>
                        </a:rPr>
                        <a:t>0</a:t>
                      </a:r>
                    </a:p>
                  </a:txBody>
                  <a:tcPr marL="91440" marR="91440" marT="45720" marB="45720" anchor="ctr">
                    <a:solidFill>
                      <a:srgbClr val="F6F6F6"/>
                    </a:solidFill>
                  </a:tcPr>
                </a:tc>
                <a:tc>
                  <a:txBody>
                    <a:bodyPr/>
                    <a:lstStyle/>
                    <a:p>
                      <a:pPr algn="ctr"/>
                      <a:r>
                        <a:rPr sz="2100" b="0">
                          <a:solidFill>
                            <a:srgbClr val="222222"/>
                          </a:solidFill>
                          <a:latin typeface="Noto Sans JP"/>
                          <a:ea typeface="Noto Sans JP"/>
                          <a:cs typeface="Noto Sans JP"/>
                        </a:rPr>
                        <a:t>0.505</a:t>
                      </a:r>
                    </a:p>
                  </a:txBody>
                  <a:tcPr marL="91440" marR="91440" marT="45720" marB="45720" anchor="ctr">
                    <a:solidFill>
                      <a:srgbClr val="F6F6F6"/>
                    </a:solidFill>
                  </a:tcPr>
                </a:tc>
                <a:tc>
                  <a:txBody>
                    <a:bodyPr/>
                    <a:lstStyle/>
                    <a:p>
                      <a:pPr algn="ctr"/>
                      <a:r>
                        <a:rPr sz="2100" b="0">
                          <a:solidFill>
                            <a:srgbClr val="222222"/>
                          </a:solidFill>
                          <a:latin typeface="Noto Sans JP"/>
                          <a:ea typeface="Noto Sans JP"/>
                          <a:cs typeface="Noto Sans JP"/>
                        </a:rPr>
                        <a:t>約0.693</a:t>
                      </a:r>
                    </a:p>
                  </a:txBody>
                  <a:tcPr marL="91440" marR="91440" marT="45720" marB="45720" anchor="ctr">
                    <a:solidFill>
                      <a:srgbClr val="F6F6F6"/>
                    </a:solidFill>
                  </a:tcPr>
                </a:tc>
              </a:tr>
              <a:tr h="511969">
                <a:tc>
                  <a:txBody>
                    <a:bodyPr/>
                    <a:lstStyle/>
                    <a:p>
                      <a:pPr algn="ctr"/>
                      <a:r>
                        <a:rPr sz="2100" b="0">
                          <a:solidFill>
                            <a:srgbClr val="222222"/>
                          </a:solidFill>
                          <a:latin typeface="Noto Sans JP"/>
                          <a:ea typeface="Noto Sans JP"/>
                          <a:cs typeface="Noto Sans JP"/>
                        </a:rPr>
                        <a:t>1</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1.305</a:t>
                      </a:r>
                    </a:p>
                  </a:txBody>
                  <a:tcPr marL="91440" marR="91440" marT="45720" marB="45720" anchor="ctr">
                    <a:solidFill>
                      <a:srgbClr val="FFFFFF"/>
                    </a:solidFill>
                  </a:tcPr>
                </a:tc>
                <a:tc>
                  <a:txBody>
                    <a:bodyPr/>
                    <a:lstStyle/>
                    <a:p>
                      <a:pPr algn="ctr"/>
                      <a:r>
                        <a:rPr sz="2100" b="0">
                          <a:solidFill>
                            <a:srgbClr val="222222"/>
                          </a:solidFill>
                          <a:latin typeface="Noto Sans JP"/>
                          <a:ea typeface="Noto Sans JP"/>
                          <a:cs typeface="Noto Sans JP"/>
                        </a:rPr>
                        <a:t>約0.904</a:t>
                      </a:r>
                    </a:p>
                  </a:txBody>
                  <a:tcPr marL="91440" marR="91440" marT="45720" marB="45720" anchor="ctr">
                    <a:solidFill>
                      <a:srgbClr val="FFFFFF"/>
                    </a:solidFill>
                  </a:tcPr>
                </a:tc>
              </a:tr>
            </a:tbl>
          </a:graphicData>
        </a:graphic>
      </p:graphicFrame>
      <p:sp>
        <p:nvSpPr>
          <p:cNvPr id="9" name="">
            <a:extLst xmlns:a="http://schemas.openxmlformats.org/drawingml/2006/main">
              <a:ext uri="{FF2B5EF4-FFF2-40B4-BE49-F238E27FC236}">
                <a16:creationId xmlns:a16="http://schemas.microsoft.com/office/drawing/2014/main" id="{6DEE3599-9751-44F4-B84A-B50E9463A1F1}"/>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D794CD8-DCF0-42C1-9AC4-31012B27A678}"/>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同じ身長でも、関係を反映しながら複数の体重を作れる</a:t>
            </a:r>
          </a:p>
        </p:txBody>
      </p:sp>
    </p:spTree>
    <p:extLst>
      <p:ext uri="{BB962C8B-B14F-4D97-AF65-F5344CB8AC3E}">
        <p14:creationId xmlns:p14="http://schemas.microsoft.com/office/powerpoint/2010/main" val="1525712433"/>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2AE5FD7-703B-414E-B65D-1905F56EAE17}"/>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最後に、位置を元の単位へ戻す</a:t>
            </a:r>
          </a:p>
        </p:txBody>
      </p:sp>
      <p:sp>
        <p:nvSpPr>
          <p:cNvPr id="2" name="">
            <a:extLst xmlns:a="http://schemas.openxmlformats.org/drawingml/2006/main">
              <a:ext uri="{FF2B5EF4-FFF2-40B4-BE49-F238E27FC236}">
                <a16:creationId xmlns:a16="http://schemas.microsoft.com/office/drawing/2014/main" id="{38B29099-E96D-4009-8656-0A36C62BFF8F}"/>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9091B4F-8380-44A0-9768-F3F4B59E7752}"/>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各列で覚えておいた逆累積分布を使う。</a:t>
            </a:r>
          </a:p>
        </p:txBody>
      </p:sp>
      <p:sp>
        <p:nvSpPr>
          <p:cNvPr id="4" name="">
            <a:extLst xmlns:a="http://schemas.openxmlformats.org/drawingml/2006/main">
              <a:ext uri="{FF2B5EF4-FFF2-40B4-BE49-F238E27FC236}">
                <a16:creationId xmlns:a16="http://schemas.microsoft.com/office/drawing/2014/main" id="{DBBCA657-130B-40D0-8D5A-9C7C1F398D81}"/>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提案手法の原理</a:t>
            </a:r>
          </a:p>
        </p:txBody>
      </p:sp>
      <p:sp>
        <p:nvSpPr>
          <p:cNvPr id="5" name="">
            <a:extLst xmlns:a="http://schemas.openxmlformats.org/drawingml/2006/main">
              <a:ext uri="{FF2B5EF4-FFF2-40B4-BE49-F238E27FC236}">
                <a16:creationId xmlns:a16="http://schemas.microsoft.com/office/drawing/2014/main" id="{4FDA3A48-5BB6-4C29-887F-777EB6838B75}"/>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31</a:t>
            </a:r>
          </a:p>
        </p:txBody>
      </p:sp>
      <p:sp>
        <p:nvSpPr>
          <p:cNvPr id="6" name="">
            <a:extLst xmlns:a="http://schemas.openxmlformats.org/drawingml/2006/main">
              <a:ext uri="{FF2B5EF4-FFF2-40B4-BE49-F238E27FC236}">
                <a16:creationId xmlns:a16="http://schemas.microsoft.com/office/drawing/2014/main" id="{BDE9975C-B98D-4C75-BD15-12620B014587}"/>
              </a:ext>
            </a:extLst>
          </p:cNvPr>
          <p:cNvSpPr>
            <a:spLocks xmlns:a="http://schemas.openxmlformats.org/drawingml/2006/main" noGrp="1"/>
          </p:cNvSpPr>
          <p:nvPr/>
        </p:nvSpPr>
        <p:spPr>
          <a:xfrm xmlns:a="http://schemas.openxmlformats.org/drawingml/2006/main">
            <a:off x="514350" y="193357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F3E6BCC-BF9E-48EF-B395-FA38D1681B9B}"/>
              </a:ext>
            </a:extLst>
          </p:cNvPr>
          <p:cNvSpPr>
            <a:spLocks xmlns:a="http://schemas.openxmlformats.org/drawingml/2006/main" noGrp="1"/>
          </p:cNvSpPr>
          <p:nvPr/>
        </p:nvSpPr>
        <p:spPr>
          <a:xfrm xmlns:a="http://schemas.openxmlformats.org/drawingml/2006/main">
            <a:off x="704850" y="202882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B6777"/>
                </a:solidFill>
                <a:latin typeface="Noto Sans JP"/>
                <a:ea typeface="Noto Sans JP"/>
                <a:cs typeface="Noto Sans JP"/>
              </a:defRPr>
            </a:pPr>
            <a:r>
              <a:rPr sz="3300" b="1">
                <a:solidFill>
                  <a:srgbClr val="2B6777"/>
                </a:solidFill>
                <a:latin typeface="Noto Sans JP"/>
                <a:ea typeface="Noto Sans JP"/>
                <a:cs typeface="Noto Sans JP"/>
              </a:rPr>
              <a:t>体重の生成値 y′ = Fᵧ⁻¹(v)</a:t>
            </a:r>
          </a:p>
        </p:txBody>
      </p:sp>
      <p:sp>
        <p:nvSpPr>
          <p:cNvPr id="8" name="">
            <a:extLst xmlns:a="http://schemas.openxmlformats.org/drawingml/2006/main">
              <a:ext uri="{FF2B5EF4-FFF2-40B4-BE49-F238E27FC236}">
                <a16:creationId xmlns:a16="http://schemas.microsoft.com/office/drawing/2014/main" id="{999047A5-6461-4B47-8B3D-0EA27B5566FC}"/>
              </a:ext>
            </a:extLst>
          </p:cNvPr>
          <p:cNvSpPr>
            <a:spLocks xmlns:a="http://schemas.openxmlformats.org/drawingml/2006/main" noGrp="1"/>
          </p:cNvSpPr>
          <p:nvPr/>
        </p:nvSpPr>
        <p:spPr>
          <a:xfrm xmlns:a="http://schemas.openxmlformats.org/drawingml/2006/main">
            <a:off x="628650" y="3076575"/>
            <a:ext cx="1095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説明用：Y ~ N(65, 10²) と仮定 → y′ = 65 + 10 Φ⁻¹(v)</a:t>
            </a:r>
          </a:p>
        </p:txBody>
      </p:sp>
      <p:graphicFrame>
        <p:nvGraphicFramePr>
          <p:cNvPr id="20" name=""/>
          <p:cNvGraphicFramePr/>
          <p:nvPr/>
        </p:nvGraphicFramePr>
        <p:xfrm>
          <a:off xmlns:a="http://schemas.openxmlformats.org/drawingml/2006/main" x="514350" y="3571875"/>
          <a:ext xmlns:a="http://schemas.openxmlformats.org/drawingml/2006/main" cx="11163300" cy="1781175"/>
        </p:xfrm>
        <a:graphic xmlns:a="http://schemas.openxmlformats.org/drawingml/2006/main">
          <a:graphicData uri="http://schemas.openxmlformats.org/drawingml/2006/table">
            <a:tbl>
              <a:tblPr/>
              <a:tblGrid>
                <a:gridCol w="3721100"/>
                <a:gridCol w="3721100"/>
                <a:gridCol w="3721100"/>
              </a:tblGrid>
              <a:tr h="445294">
                <a:tc>
                  <a:txBody>
                    <a:bodyPr/>
                    <a:lstStyle/>
                    <a:p>
                      <a:pPr algn="ctr"/>
                      <a:r>
                        <a:rPr sz="2025" b="1">
                          <a:solidFill>
                            <a:srgbClr val="2E7D5B"/>
                          </a:solidFill>
                          <a:latin typeface="Noto Sans JP"/>
                          <a:ea typeface="Noto Sans JP"/>
                          <a:cs typeface="Noto Sans JP"/>
                        </a:rPr>
                        <a:t>位置v</a:t>
                      </a:r>
                    </a:p>
                  </a:txBody>
                  <a:tcPr marL="91440" marR="91440" marT="45720" marB="45720" anchor="ctr">
                    <a:solidFill>
                      <a:srgbClr val="E7F2EC"/>
                    </a:solidFill>
                  </a:tcPr>
                </a:tc>
                <a:tc>
                  <a:txBody>
                    <a:bodyPr/>
                    <a:lstStyle/>
                    <a:p>
                      <a:pPr algn="ctr"/>
                      <a:r>
                        <a:rPr sz="2025" b="1">
                          <a:solidFill>
                            <a:srgbClr val="2E7D5B"/>
                          </a:solidFill>
                          <a:latin typeface="Noto Sans JP"/>
                          <a:ea typeface="Noto Sans JP"/>
                          <a:cs typeface="Noto Sans JP"/>
                        </a:rPr>
                        <a:t>説明用の体重分布から戻す</a:t>
                      </a:r>
                    </a:p>
                  </a:txBody>
                  <a:tcPr marL="91440" marR="91440" marT="45720" marB="45720" anchor="ctr">
                    <a:solidFill>
                      <a:srgbClr val="E7F2EC"/>
                    </a:solidFill>
                  </a:tcPr>
                </a:tc>
                <a:tc>
                  <a:txBody>
                    <a:bodyPr/>
                    <a:lstStyle/>
                    <a:p>
                      <a:pPr algn="ctr"/>
                      <a:r>
                        <a:rPr sz="2025" b="1">
                          <a:solidFill>
                            <a:srgbClr val="2E7D5B"/>
                          </a:solidFill>
                          <a:latin typeface="Noto Sans JP"/>
                          <a:ea typeface="Noto Sans JP"/>
                          <a:cs typeface="Noto Sans JP"/>
                        </a:rPr>
                        <a:t>生成した行</a:t>
                      </a:r>
                    </a:p>
                  </a:txBody>
                  <a:tcPr marL="91440" marR="91440" marT="45720" marB="45720" anchor="ctr">
                    <a:solidFill>
                      <a:srgbClr val="E7F2EC"/>
                    </a:solidFill>
                  </a:tcPr>
                </a:tc>
              </a:tr>
              <a:tr h="445294">
                <a:tc>
                  <a:txBody>
                    <a:bodyPr/>
                    <a:lstStyle/>
                    <a:p>
                      <a:pPr algn="ctr"/>
                      <a:r>
                        <a:rPr sz="2025" b="0">
                          <a:solidFill>
                            <a:srgbClr val="222222"/>
                          </a:solidFill>
                          <a:latin typeface="Noto Sans JP"/>
                          <a:ea typeface="Noto Sans JP"/>
                          <a:cs typeface="Noto Sans JP"/>
                        </a:rPr>
                        <a:t>0.384</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約62.0 kg</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175 cm, 62.0 kg</a:t>
                      </a:r>
                    </a:p>
                  </a:txBody>
                  <a:tcPr marL="91440" marR="91440" marT="45720" marB="45720" anchor="ctr">
                    <a:solidFill>
                      <a:srgbClr val="FFFFFF"/>
                    </a:solidFill>
                  </a:tcPr>
                </a:tc>
              </a:tr>
              <a:tr h="445294">
                <a:tc>
                  <a:txBody>
                    <a:bodyPr/>
                    <a:lstStyle/>
                    <a:p>
                      <a:pPr algn="ctr"/>
                      <a:r>
                        <a:rPr sz="2025" b="0">
                          <a:solidFill>
                            <a:srgbClr val="222222"/>
                          </a:solidFill>
                          <a:latin typeface="Noto Sans JP"/>
                          <a:ea typeface="Noto Sans JP"/>
                          <a:cs typeface="Noto Sans JP"/>
                        </a:rPr>
                        <a:t>0.693</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約70.0 kg</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175 cm, 70.0 kg</a:t>
                      </a:r>
                    </a:p>
                  </a:txBody>
                  <a:tcPr marL="91440" marR="91440" marT="45720" marB="45720" anchor="ctr">
                    <a:solidFill>
                      <a:srgbClr val="F6F6F6"/>
                    </a:solidFill>
                  </a:tcPr>
                </a:tc>
              </a:tr>
              <a:tr h="445294">
                <a:tc>
                  <a:txBody>
                    <a:bodyPr/>
                    <a:lstStyle/>
                    <a:p>
                      <a:pPr algn="ctr"/>
                      <a:r>
                        <a:rPr sz="2025" b="0">
                          <a:solidFill>
                            <a:srgbClr val="222222"/>
                          </a:solidFill>
                          <a:latin typeface="Noto Sans JP"/>
                          <a:ea typeface="Noto Sans JP"/>
                          <a:cs typeface="Noto Sans JP"/>
                        </a:rPr>
                        <a:t>0.904</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約78.0 kg</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175 cm, 78.0 kg</a:t>
                      </a:r>
                    </a:p>
                  </a:txBody>
                  <a:tcPr marL="91440" marR="91440" marT="45720" marB="45720" anchor="ctr">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9D858ACC-68A1-4A67-83E9-C9DCD8C17E78}"/>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A9C81F6-6E8D-41FC-9A71-5237099D3CAF}"/>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実装では、ラベルなし訓練データの経験分位点で元スケールへ戻す</a:t>
            </a:r>
          </a:p>
        </p:txBody>
      </p:sp>
    </p:spTree>
    <p:extLst>
      <p:ext uri="{BB962C8B-B14F-4D97-AF65-F5344CB8AC3E}">
        <p14:creationId xmlns:p14="http://schemas.microsoft.com/office/powerpoint/2010/main" val="395723798"/>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29D45E04-20DE-4B64-9C45-E252910FB1BA}"/>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複数のマスク列も、一緒に生成する</a:t>
            </a:r>
          </a:p>
        </p:txBody>
      </p:sp>
      <p:sp>
        <p:nvSpPr>
          <p:cNvPr id="2" name="">
            <a:extLst xmlns:a="http://schemas.openxmlformats.org/drawingml/2006/main">
              <a:ext uri="{FF2B5EF4-FFF2-40B4-BE49-F238E27FC236}">
                <a16:creationId xmlns:a16="http://schemas.microsoft.com/office/drawing/2014/main" id="{198744EA-A3E3-4C87-94BC-08E4220C0886}"/>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22C5C45-A975-4CB2-95B3-8523FC60455D}"/>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身長を残し、体重と腹囲を置換するなら、2列を同時に引く。</a:t>
            </a:r>
          </a:p>
        </p:txBody>
      </p:sp>
      <p:sp>
        <p:nvSpPr>
          <p:cNvPr id="4" name="">
            <a:extLst xmlns:a="http://schemas.openxmlformats.org/drawingml/2006/main">
              <a:ext uri="{FF2B5EF4-FFF2-40B4-BE49-F238E27FC236}">
                <a16:creationId xmlns:a16="http://schemas.microsoft.com/office/drawing/2014/main" id="{766C26D4-2FC8-4D61-9193-F071D1348B1F}"/>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提案手法の原理</a:t>
            </a:r>
          </a:p>
        </p:txBody>
      </p:sp>
      <p:sp>
        <p:nvSpPr>
          <p:cNvPr id="5" name="">
            <a:extLst xmlns:a="http://schemas.openxmlformats.org/drawingml/2006/main">
              <a:ext uri="{FF2B5EF4-FFF2-40B4-BE49-F238E27FC236}">
                <a16:creationId xmlns:a16="http://schemas.microsoft.com/office/drawing/2014/main" id="{27842B5E-796F-45D2-92D3-F5AAC122D3A2}"/>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32</a:t>
            </a:r>
          </a:p>
        </p:txBody>
      </p:sp>
      <p:sp>
        <p:nvSpPr>
          <p:cNvPr id="6" name="">
            <a:extLst xmlns:a="http://schemas.openxmlformats.org/drawingml/2006/main">
              <a:ext uri="{FF2B5EF4-FFF2-40B4-BE49-F238E27FC236}">
                <a16:creationId xmlns:a16="http://schemas.microsoft.com/office/drawing/2014/main" id="{71DC5577-BF92-4C8C-A162-3AA78E4F053C}"/>
              </a:ext>
            </a:extLst>
          </p:cNvPr>
          <p:cNvSpPr>
            <a:spLocks xmlns:a="http://schemas.openxmlformats.org/drawingml/2006/main" noGrp="1"/>
          </p:cNvSpPr>
          <p:nvPr/>
        </p:nvSpPr>
        <p:spPr>
          <a:xfrm xmlns:a="http://schemas.openxmlformats.org/drawingml/2006/main">
            <a:off x="514350" y="2019300"/>
            <a:ext cx="5314950" cy="314325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1B2CE0D-C7CC-49BF-BC61-155526F9F66E}"/>
              </a:ext>
            </a:extLst>
          </p:cNvPr>
          <p:cNvSpPr>
            <a:spLocks xmlns:a="http://schemas.openxmlformats.org/drawingml/2006/main" noGrp="1"/>
          </p:cNvSpPr>
          <p:nvPr/>
        </p:nvSpPr>
        <p:spPr>
          <a:xfrm xmlns:a="http://schemas.openxmlformats.org/drawingml/2006/main">
            <a:off x="704850" y="2133600"/>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個別に引くと</a:t>
            </a:r>
          </a:p>
        </p:txBody>
      </p:sp>
      <p:sp>
        <p:nvSpPr>
          <p:cNvPr id="8" name="">
            <a:extLst xmlns:a="http://schemas.openxmlformats.org/drawingml/2006/main">
              <a:ext uri="{FF2B5EF4-FFF2-40B4-BE49-F238E27FC236}">
                <a16:creationId xmlns:a16="http://schemas.microsoft.com/office/drawing/2014/main" id="{9219750A-E68C-45C4-A12C-DB7DB08A0158}"/>
              </a:ext>
            </a:extLst>
          </p:cNvPr>
          <p:cNvSpPr>
            <a:spLocks xmlns:a="http://schemas.openxmlformats.org/drawingml/2006/main" noGrp="1"/>
          </p:cNvSpPr>
          <p:nvPr/>
        </p:nvSpPr>
        <p:spPr>
          <a:xfrm xmlns:a="http://schemas.openxmlformats.org/drawingml/2006/main">
            <a:off x="704850" y="2686050"/>
            <a:ext cx="493395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身長 → 体重を生成</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身長 → 腹囲を生成</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体重と腹囲の、残った依存を</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無視することがある。</a:t>
            </a:r>
          </a:p>
        </p:txBody>
      </p:sp>
      <p:sp>
        <p:nvSpPr>
          <p:cNvPr id="9" name="">
            <a:extLst xmlns:a="http://schemas.openxmlformats.org/drawingml/2006/main">
              <a:ext uri="{FF2B5EF4-FFF2-40B4-BE49-F238E27FC236}">
                <a16:creationId xmlns:a16="http://schemas.microsoft.com/office/drawing/2014/main" id="{BF280AF9-D39C-4275-AF4F-F4EBCF760762}"/>
              </a:ext>
            </a:extLst>
          </p:cNvPr>
          <p:cNvSpPr>
            <a:spLocks xmlns:a="http://schemas.openxmlformats.org/drawingml/2006/main" noGrp="1"/>
          </p:cNvSpPr>
          <p:nvPr/>
        </p:nvSpPr>
        <p:spPr>
          <a:xfrm xmlns:a="http://schemas.openxmlformats.org/drawingml/2006/main">
            <a:off x="6076950" y="2019300"/>
            <a:ext cx="5600700" cy="314325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D0A47B73-721A-46C6-A1CB-C15019AB7314}"/>
              </a:ext>
            </a:extLst>
          </p:cNvPr>
          <p:cNvSpPr>
            <a:spLocks xmlns:a="http://schemas.openxmlformats.org/drawingml/2006/main" noGrp="1"/>
          </p:cNvSpPr>
          <p:nvPr/>
        </p:nvSpPr>
        <p:spPr>
          <a:xfrm xmlns:a="http://schemas.openxmlformats.org/drawingml/2006/main">
            <a:off x="6267450" y="2133600"/>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今回の生成</a:t>
            </a:r>
          </a:p>
        </p:txBody>
      </p:sp>
      <p:sp>
        <p:nvSpPr>
          <p:cNvPr id="11" name="">
            <a:extLst xmlns:a="http://schemas.openxmlformats.org/drawingml/2006/main">
              <a:ext uri="{FF2B5EF4-FFF2-40B4-BE49-F238E27FC236}">
                <a16:creationId xmlns:a16="http://schemas.microsoft.com/office/drawing/2014/main" id="{09F3ABA7-537C-4C42-BC9F-04DD45AA34F1}"/>
              </a:ext>
            </a:extLst>
          </p:cNvPr>
          <p:cNvSpPr>
            <a:spLocks xmlns:a="http://schemas.openxmlformats.org/drawingml/2006/main" noGrp="1"/>
          </p:cNvSpPr>
          <p:nvPr/>
        </p:nvSpPr>
        <p:spPr>
          <a:xfrm xmlns:a="http://schemas.openxmlformats.org/drawingml/2006/main">
            <a:off x="6267450" y="2686050"/>
            <a:ext cx="521970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身長を条件に、</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（体重・腹囲）の組を引く。</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条件付き平均だけでなく、</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条件付き共分散も使う。</a:t>
            </a:r>
          </a:p>
        </p:txBody>
      </p:sp>
      <p:sp>
        <p:nvSpPr>
          <p:cNvPr id="12" name="">
            <a:extLst xmlns:a="http://schemas.openxmlformats.org/drawingml/2006/main">
              <a:ext uri="{FF2B5EF4-FFF2-40B4-BE49-F238E27FC236}">
                <a16:creationId xmlns:a16="http://schemas.microsoft.com/office/drawing/2014/main" id="{44B5869B-25B6-40F6-BAD3-C65E323739CE}"/>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010DA88-CF1F-41A6-A31A-C013FA941F1D}"/>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観測列との関係と、置換列どうしの関係を両方扱う</a:t>
            </a:r>
          </a:p>
        </p:txBody>
      </p:sp>
    </p:spTree>
    <p:extLst>
      <p:ext uri="{BB962C8B-B14F-4D97-AF65-F5344CB8AC3E}">
        <p14:creationId xmlns:p14="http://schemas.microsoft.com/office/powerpoint/2010/main" val="867725565"/>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48BB868-7E66-4411-B06E-C120734D7322}"/>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VIMEのどこに組み込むか</a:t>
            </a:r>
          </a:p>
        </p:txBody>
      </p:sp>
      <p:sp>
        <p:nvSpPr>
          <p:cNvPr id="2" name="">
            <a:extLst xmlns:a="http://schemas.openxmlformats.org/drawingml/2006/main">
              <a:ext uri="{FF2B5EF4-FFF2-40B4-BE49-F238E27FC236}">
                <a16:creationId xmlns:a16="http://schemas.microsoft.com/office/drawing/2014/main" id="{36EB9850-EDB6-4C8A-B3AE-D45A70C59926}"/>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85385CA1-F391-491A-8E33-62DD0BFFA5DE}"/>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学習課題を揃え、置換器だけを変更した比較を行う。</a:t>
            </a:r>
          </a:p>
        </p:txBody>
      </p:sp>
      <p:sp>
        <p:nvSpPr>
          <p:cNvPr id="4" name="">
            <a:extLst xmlns:a="http://schemas.openxmlformats.org/drawingml/2006/main">
              <a:ext uri="{FF2B5EF4-FFF2-40B4-BE49-F238E27FC236}">
                <a16:creationId xmlns:a16="http://schemas.microsoft.com/office/drawing/2014/main" id="{1876A2BB-5B92-47B3-8278-10E299DD9426}"/>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実装と検証</a:t>
            </a:r>
          </a:p>
        </p:txBody>
      </p:sp>
      <p:sp>
        <p:nvSpPr>
          <p:cNvPr id="5" name="">
            <a:extLst xmlns:a="http://schemas.openxmlformats.org/drawingml/2006/main">
              <a:ext uri="{FF2B5EF4-FFF2-40B4-BE49-F238E27FC236}">
                <a16:creationId xmlns:a16="http://schemas.microsoft.com/office/drawing/2014/main" id="{DCBDA7FF-0ECD-4F00-8957-EC096E4767DE}"/>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33</a:t>
            </a:r>
          </a:p>
        </p:txBody>
      </p:sp>
      <p:sp>
        <p:nvSpPr>
          <p:cNvPr id="6" name="">
            <a:extLst xmlns:a="http://schemas.openxmlformats.org/drawingml/2006/main">
              <a:ext uri="{FF2B5EF4-FFF2-40B4-BE49-F238E27FC236}">
                <a16:creationId xmlns:a16="http://schemas.microsoft.com/office/drawing/2014/main" id="{FE7EF960-3F86-464E-88C2-B269FF428FFE}"/>
              </a:ext>
            </a:extLst>
          </p:cNvPr>
          <p:cNvSpPr>
            <a:spLocks xmlns:a="http://schemas.openxmlformats.org/drawingml/2006/main" noGrp="1"/>
          </p:cNvSpPr>
          <p:nvPr/>
        </p:nvSpPr>
        <p:spPr>
          <a:xfrm xmlns:a="http://schemas.openxmlformats.org/drawingml/2006/main">
            <a:off x="552450" y="1933575"/>
            <a:ext cx="476250" cy="7572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7" name="">
            <a:extLst xmlns:a="http://schemas.openxmlformats.org/drawingml/2006/main">
              <a:ext uri="{FF2B5EF4-FFF2-40B4-BE49-F238E27FC236}">
                <a16:creationId xmlns:a16="http://schemas.microsoft.com/office/drawing/2014/main" id="{37CAC139-D2C7-4A34-AC1E-678D31E19A74}"/>
              </a:ext>
            </a:extLst>
          </p:cNvPr>
          <p:cNvSpPr>
            <a:spLocks xmlns:a="http://schemas.openxmlformats.org/drawingml/2006/main" noGrp="1"/>
          </p:cNvSpPr>
          <p:nvPr/>
        </p:nvSpPr>
        <p:spPr>
          <a:xfrm xmlns:a="http://schemas.openxmlformats.org/drawingml/2006/main">
            <a:off x="1257300" y="1933575"/>
            <a:ext cx="10191750" cy="7572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準備：ラベルなし訓練データで周辺分布・Rを学習。</a:t>
            </a:r>
          </a:p>
        </p:txBody>
      </p:sp>
      <p:sp>
        <p:nvSpPr>
          <p:cNvPr id="8" name="">
            <a:extLst xmlns:a="http://schemas.openxmlformats.org/drawingml/2006/main">
              <a:ext uri="{FF2B5EF4-FFF2-40B4-BE49-F238E27FC236}">
                <a16:creationId xmlns:a16="http://schemas.microsoft.com/office/drawing/2014/main" id="{C59EBFE0-C7BD-49A5-BD54-DFCD3CF5057E}"/>
              </a:ext>
            </a:extLst>
          </p:cNvPr>
          <p:cNvSpPr>
            <a:spLocks xmlns:a="http://schemas.openxmlformats.org/drawingml/2006/main" noGrp="1"/>
          </p:cNvSpPr>
          <p:nvPr/>
        </p:nvSpPr>
        <p:spPr>
          <a:xfrm xmlns:a="http://schemas.openxmlformats.org/drawingml/2006/main">
            <a:off x="552450" y="2767013"/>
            <a:ext cx="476250" cy="7572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9" name="">
            <a:extLst xmlns:a="http://schemas.openxmlformats.org/drawingml/2006/main">
              <a:ext uri="{FF2B5EF4-FFF2-40B4-BE49-F238E27FC236}">
                <a16:creationId xmlns:a16="http://schemas.microsoft.com/office/drawing/2014/main" id="{ED120D07-71DC-4F4F-8C21-DF0046A13FBB}"/>
              </a:ext>
            </a:extLst>
          </p:cNvPr>
          <p:cNvSpPr>
            <a:spLocks xmlns:a="http://schemas.openxmlformats.org/drawingml/2006/main" noGrp="1"/>
          </p:cNvSpPr>
          <p:nvPr/>
        </p:nvSpPr>
        <p:spPr>
          <a:xfrm xmlns:a="http://schemas.openxmlformats.org/drawingml/2006/main">
            <a:off x="1257300" y="2767013"/>
            <a:ext cx="10191750" cy="7572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自己教師あり：マスク → 条件付き置換 → マスク推定・元値復元。</a:t>
            </a:r>
          </a:p>
        </p:txBody>
      </p:sp>
      <p:sp>
        <p:nvSpPr>
          <p:cNvPr id="10" name="">
            <a:extLst xmlns:a="http://schemas.openxmlformats.org/drawingml/2006/main">
              <a:ext uri="{FF2B5EF4-FFF2-40B4-BE49-F238E27FC236}">
                <a16:creationId xmlns:a16="http://schemas.microsoft.com/office/drawing/2014/main" id="{4D858634-9E8C-455C-AD36-0C9678F7752D}"/>
              </a:ext>
            </a:extLst>
          </p:cNvPr>
          <p:cNvSpPr>
            <a:spLocks xmlns:a="http://schemas.openxmlformats.org/drawingml/2006/main" noGrp="1"/>
          </p:cNvSpPr>
          <p:nvPr/>
        </p:nvSpPr>
        <p:spPr>
          <a:xfrm xmlns:a="http://schemas.openxmlformats.org/drawingml/2006/main">
            <a:off x="552450" y="3600450"/>
            <a:ext cx="476250" cy="7572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1" name="">
            <a:extLst xmlns:a="http://schemas.openxmlformats.org/drawingml/2006/main">
              <a:ext uri="{FF2B5EF4-FFF2-40B4-BE49-F238E27FC236}">
                <a16:creationId xmlns:a16="http://schemas.microsoft.com/office/drawing/2014/main" id="{97A25226-64A3-44DC-ADCB-B9AE3806D4FE}"/>
              </a:ext>
            </a:extLst>
          </p:cNvPr>
          <p:cNvSpPr>
            <a:spLocks xmlns:a="http://schemas.openxmlformats.org/drawingml/2006/main" noGrp="1"/>
          </p:cNvSpPr>
          <p:nvPr/>
        </p:nvSpPr>
        <p:spPr>
          <a:xfrm xmlns:a="http://schemas.openxmlformats.org/drawingml/2006/main">
            <a:off x="1257300" y="3600450"/>
            <a:ext cx="10191750" cy="7572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半教師あり：同じ行の複数拡張に対する予測を揃える。</a:t>
            </a:r>
          </a:p>
        </p:txBody>
      </p:sp>
      <p:sp>
        <p:nvSpPr>
          <p:cNvPr id="12" name="">
            <a:extLst xmlns:a="http://schemas.openxmlformats.org/drawingml/2006/main">
              <a:ext uri="{FF2B5EF4-FFF2-40B4-BE49-F238E27FC236}">
                <a16:creationId xmlns:a16="http://schemas.microsoft.com/office/drawing/2014/main" id="{EA8D339A-47F9-498C-B8FF-B736B1B98265}"/>
              </a:ext>
            </a:extLst>
          </p:cNvPr>
          <p:cNvSpPr>
            <a:spLocks xmlns:a="http://schemas.openxmlformats.org/drawingml/2006/main" noGrp="1"/>
          </p:cNvSpPr>
          <p:nvPr/>
        </p:nvSpPr>
        <p:spPr>
          <a:xfrm xmlns:a="http://schemas.openxmlformats.org/drawingml/2006/main">
            <a:off x="552450" y="4433888"/>
            <a:ext cx="476250" cy="7572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4</a:t>
            </a:r>
          </a:p>
        </p:txBody>
      </p:sp>
      <p:sp>
        <p:nvSpPr>
          <p:cNvPr id="13" name="">
            <a:extLst xmlns:a="http://schemas.openxmlformats.org/drawingml/2006/main">
              <a:ext uri="{FF2B5EF4-FFF2-40B4-BE49-F238E27FC236}">
                <a16:creationId xmlns:a16="http://schemas.microsoft.com/office/drawing/2014/main" id="{74A8FB28-FC28-48D7-BE59-E488AB27ADDC}"/>
              </a:ext>
            </a:extLst>
          </p:cNvPr>
          <p:cNvSpPr>
            <a:spLocks xmlns:a="http://schemas.openxmlformats.org/drawingml/2006/main" noGrp="1"/>
          </p:cNvSpPr>
          <p:nvPr/>
        </p:nvSpPr>
        <p:spPr>
          <a:xfrm xmlns:a="http://schemas.openxmlformats.org/drawingml/2006/main">
            <a:off x="1257300" y="4433888"/>
            <a:ext cx="10191750" cy="7572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最終評価：学習に未使用のテストデータで分類性能を測る。</a:t>
            </a:r>
          </a:p>
        </p:txBody>
      </p:sp>
      <p:sp>
        <p:nvSpPr>
          <p:cNvPr id="14" name="">
            <a:extLst xmlns:a="http://schemas.openxmlformats.org/drawingml/2006/main">
              <a:ext uri="{FF2B5EF4-FFF2-40B4-BE49-F238E27FC236}">
                <a16:creationId xmlns:a16="http://schemas.microsoft.com/office/drawing/2014/main" id="{A71A8AD1-BF13-4489-9C4E-F6B02C69A93B}"/>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B9968151-4C42-4A84-910E-587BF24E02A9}"/>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独立な列置換 → Gaussian copulaの条件付き置換へ変更</a:t>
            </a:r>
          </a:p>
        </p:txBody>
      </p:sp>
    </p:spTree>
    <p:extLst>
      <p:ext uri="{BB962C8B-B14F-4D97-AF65-F5344CB8AC3E}">
        <p14:creationId xmlns:p14="http://schemas.microsoft.com/office/powerpoint/2010/main" val="969927995"/>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7164826-CD4E-414C-9635-BAA9D7CBC06B}"/>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コピュラと「潜在空間での生成」</a:t>
            </a:r>
          </a:p>
        </p:txBody>
      </p:sp>
      <p:sp>
        <p:nvSpPr>
          <p:cNvPr id="2" name="">
            <a:extLst xmlns:a="http://schemas.openxmlformats.org/drawingml/2006/main">
              <a:ext uri="{FF2B5EF4-FFF2-40B4-BE49-F238E27FC236}">
                <a16:creationId xmlns:a16="http://schemas.microsoft.com/office/drawing/2014/main" id="{0830AA42-A378-4E83-B265-13C5620807D4}"/>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CA360D9D-FF2A-4E33-9055-620B8F108385}"/>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コピュラも潜在変数を使える。違いは、何をモデル化するか。</a:t>
            </a:r>
          </a:p>
        </p:txBody>
      </p:sp>
      <p:sp>
        <p:nvSpPr>
          <p:cNvPr id="4" name="">
            <a:extLst xmlns:a="http://schemas.openxmlformats.org/drawingml/2006/main">
              <a:ext uri="{FF2B5EF4-FFF2-40B4-BE49-F238E27FC236}">
                <a16:creationId xmlns:a16="http://schemas.microsoft.com/office/drawing/2014/main" id="{8DDB6EFC-45D7-461A-BFAA-9911E5486D8D}"/>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実装と検証</a:t>
            </a:r>
          </a:p>
        </p:txBody>
      </p:sp>
      <p:sp>
        <p:nvSpPr>
          <p:cNvPr id="5" name="">
            <a:extLst xmlns:a="http://schemas.openxmlformats.org/drawingml/2006/main">
              <a:ext uri="{FF2B5EF4-FFF2-40B4-BE49-F238E27FC236}">
                <a16:creationId xmlns:a16="http://schemas.microsoft.com/office/drawing/2014/main" id="{A909EC64-CC52-4386-8D8C-AF7164307DBD}"/>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34</a:t>
            </a:r>
          </a:p>
        </p:txBody>
      </p:sp>
      <p:graphicFrame>
        <p:nvGraphicFramePr>
          <p:cNvPr id="14" name=""/>
          <p:cNvGraphicFramePr/>
          <p:nvPr/>
        </p:nvGraphicFramePr>
        <p:xfrm>
          <a:off xmlns:a="http://schemas.openxmlformats.org/drawingml/2006/main" x="514350" y="1943100"/>
          <a:ext xmlns:a="http://schemas.openxmlformats.org/drawingml/2006/main" cx="11163300" cy="3333750"/>
        </p:xfrm>
        <a:graphic xmlns:a="http://schemas.openxmlformats.org/drawingml/2006/main">
          <a:graphicData uri="http://schemas.openxmlformats.org/drawingml/2006/table">
            <a:tbl>
              <a:tblPr/>
              <a:tblGrid>
                <a:gridCol w="3721100"/>
                <a:gridCol w="3721100"/>
                <a:gridCol w="3721100"/>
              </a:tblGrid>
              <a:tr h="666750">
                <a:tc>
                  <a:txBody>
                    <a:bodyPr/>
                    <a:lstStyle/>
                    <a:p>
                      <a:pPr algn="ctr"/>
                      <a:r>
                        <a:rPr sz="1875" b="1">
                          <a:solidFill>
                            <a:srgbClr val="2E7D5B"/>
                          </a:solidFill>
                          <a:latin typeface="Noto Sans JP"/>
                          <a:ea typeface="Noto Sans JP"/>
                          <a:cs typeface="Noto Sans JP"/>
                        </a:rPr>
                        <a:t>観点</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Gaussian copulaの今回の実装</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encoder等の潜在生成</a:t>
                      </a:r>
                    </a:p>
                  </a:txBody>
                  <a:tcPr marL="91440" marR="91440" marT="45720" marB="45720" anchor="ctr">
                    <a:solidFill>
                      <a:srgbClr val="E7F2EC"/>
                    </a:solidFill>
                  </a:tcPr>
                </a:tc>
              </a:tr>
              <a:tr h="666750">
                <a:tc>
                  <a:txBody>
                    <a:bodyPr/>
                    <a:lstStyle/>
                    <a:p>
                      <a:pPr algn="ctr"/>
                      <a:r>
                        <a:rPr sz="1875" b="0">
                          <a:solidFill>
                            <a:srgbClr val="222222"/>
                          </a:solidFill>
                          <a:latin typeface="Noto Sans JP"/>
                          <a:ea typeface="Noto Sans JP"/>
                          <a:cs typeface="Noto Sans JP"/>
                        </a:rPr>
                        <a:t>変換</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各列の累積分布 → 逆正規</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学習したencoderで表現</a:t>
                      </a:r>
                    </a:p>
                  </a:txBody>
                  <a:tcPr marL="91440" marR="91440" marT="45720" marB="45720" anchor="ctr">
                    <a:solidFill>
                      <a:srgbClr val="FFFFFF"/>
                    </a:solidFill>
                  </a:tcPr>
                </a:tc>
              </a:tr>
              <a:tr h="666750">
                <a:tc>
                  <a:txBody>
                    <a:bodyPr/>
                    <a:lstStyle/>
                    <a:p>
                      <a:pPr algn="ctr"/>
                      <a:r>
                        <a:rPr sz="1875" b="0">
                          <a:solidFill>
                            <a:srgbClr val="222222"/>
                          </a:solidFill>
                          <a:latin typeface="Noto Sans JP"/>
                          <a:ea typeface="Noto Sans JP"/>
                          <a:cs typeface="Noto Sans JP"/>
                        </a:rPr>
                        <a:t>依存のモデル</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潜在正規の相関行列R</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モデル設計次第</a:t>
                      </a:r>
                    </a:p>
                  </a:txBody>
                  <a:tcPr marL="91440" marR="91440" marT="45720" marB="45720" anchor="ctr">
                    <a:solidFill>
                      <a:srgbClr val="F6F6F6"/>
                    </a:solidFill>
                  </a:tcPr>
                </a:tc>
              </a:tr>
              <a:tr h="666750">
                <a:tc>
                  <a:txBody>
                    <a:bodyPr/>
                    <a:lstStyle/>
                    <a:p>
                      <a:pPr algn="ctr"/>
                      <a:r>
                        <a:rPr sz="1875" b="0">
                          <a:solidFill>
                            <a:srgbClr val="222222"/>
                          </a:solidFill>
                          <a:latin typeface="Noto Sans JP"/>
                          <a:ea typeface="Noto Sans JP"/>
                          <a:cs typeface="Noto Sans JP"/>
                        </a:rPr>
                        <a:t>元へ戻す</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各列の逆累積分布</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decoder等</a:t>
                      </a:r>
                    </a:p>
                  </a:txBody>
                  <a:tcPr marL="91440" marR="91440" marT="45720" marB="45720" anchor="ctr">
                    <a:solidFill>
                      <a:srgbClr val="FFFFFF"/>
                    </a:solidFill>
                  </a:tcPr>
                </a:tc>
              </a:tr>
              <a:tr h="666750">
                <a:tc>
                  <a:txBody>
                    <a:bodyPr/>
                    <a:lstStyle/>
                    <a:p>
                      <a:pPr algn="ctr"/>
                      <a:r>
                        <a:rPr sz="1875" b="0">
                          <a:solidFill>
                            <a:srgbClr val="222222"/>
                          </a:solidFill>
                          <a:latin typeface="Noto Sans JP"/>
                          <a:ea typeface="Noto Sans JP"/>
                          <a:cs typeface="Noto Sans JP"/>
                        </a:rPr>
                        <a:t>条件</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残す元特徴の位置</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潜在表現・ラベル等、設計次第</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9C1D4258-94AD-4B2F-BC40-A18B7B515D5E}"/>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3FB8A58-7CCD-4484-8503-AB57627579F5}"/>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「潜在」は共通でも、コピュラには周辺と依存を分ける構造がある</a:t>
            </a:r>
          </a:p>
        </p:txBody>
      </p:sp>
    </p:spTree>
    <p:extLst>
      <p:ext uri="{BB962C8B-B14F-4D97-AF65-F5344CB8AC3E}">
        <p14:creationId xmlns:p14="http://schemas.microsoft.com/office/powerpoint/2010/main" val="173786624"/>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5CC63ACE-F40F-4564-B456-02A53264E9F6}"/>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今の実装でできること・未解決なこと</a:t>
            </a:r>
          </a:p>
        </p:txBody>
      </p:sp>
      <p:sp>
        <p:nvSpPr>
          <p:cNvPr id="2" name="">
            <a:extLst xmlns:a="http://schemas.openxmlformats.org/drawingml/2006/main">
              <a:ext uri="{FF2B5EF4-FFF2-40B4-BE49-F238E27FC236}">
                <a16:creationId xmlns:a16="http://schemas.microsoft.com/office/drawing/2014/main" id="{004969E3-9176-40F9-B812-7DD57AF9841D}"/>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4D23C725-4D76-49B3-BCA4-2C0AC75D5023}"/>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自然な特徴の組合せを作ることと、クラスを保つことは別。</a:t>
            </a:r>
          </a:p>
        </p:txBody>
      </p:sp>
      <p:sp>
        <p:nvSpPr>
          <p:cNvPr id="4" name="">
            <a:extLst xmlns:a="http://schemas.openxmlformats.org/drawingml/2006/main">
              <a:ext uri="{FF2B5EF4-FFF2-40B4-BE49-F238E27FC236}">
                <a16:creationId xmlns:a16="http://schemas.microsoft.com/office/drawing/2014/main" id="{FFC0DDA4-A72B-4C84-A613-209288DDB620}"/>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実装と検証</a:t>
            </a:r>
          </a:p>
        </p:txBody>
      </p:sp>
      <p:sp>
        <p:nvSpPr>
          <p:cNvPr id="5" name="">
            <a:extLst xmlns:a="http://schemas.openxmlformats.org/drawingml/2006/main">
              <a:ext uri="{FF2B5EF4-FFF2-40B4-BE49-F238E27FC236}">
                <a16:creationId xmlns:a16="http://schemas.microsoft.com/office/drawing/2014/main" id="{DB7F89F6-2F99-40EC-AEEB-5734A0905B7E}"/>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35</a:t>
            </a:r>
          </a:p>
        </p:txBody>
      </p:sp>
      <p:sp>
        <p:nvSpPr>
          <p:cNvPr id="6" name="">
            <a:extLst xmlns:a="http://schemas.openxmlformats.org/drawingml/2006/main">
              <a:ext uri="{FF2B5EF4-FFF2-40B4-BE49-F238E27FC236}">
                <a16:creationId xmlns:a16="http://schemas.microsoft.com/office/drawing/2014/main" id="{6B9F83FD-A2A9-41CD-B070-CFE5E716583A}"/>
              </a:ext>
            </a:extLst>
          </p:cNvPr>
          <p:cNvSpPr>
            <a:spLocks xmlns:a="http://schemas.openxmlformats.org/drawingml/2006/main" noGrp="1"/>
          </p:cNvSpPr>
          <p:nvPr/>
        </p:nvSpPr>
        <p:spPr>
          <a:xfrm xmlns:a="http://schemas.openxmlformats.org/drawingml/2006/main">
            <a:off x="514350" y="1990725"/>
            <a:ext cx="5314950" cy="31718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C0F9468-610E-431B-82B2-42ADA837D96D}"/>
              </a:ext>
            </a:extLst>
          </p:cNvPr>
          <p:cNvSpPr>
            <a:spLocks xmlns:a="http://schemas.openxmlformats.org/drawingml/2006/main" noGrp="1"/>
          </p:cNvSpPr>
          <p:nvPr/>
        </p:nvSpPr>
        <p:spPr>
          <a:xfrm xmlns:a="http://schemas.openxmlformats.org/drawingml/2006/main">
            <a:off x="704850" y="2105025"/>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現在の対象</a:t>
            </a:r>
          </a:p>
        </p:txBody>
      </p:sp>
      <p:sp>
        <p:nvSpPr>
          <p:cNvPr id="8" name="">
            <a:extLst xmlns:a="http://schemas.openxmlformats.org/drawingml/2006/main">
              <a:ext uri="{FF2B5EF4-FFF2-40B4-BE49-F238E27FC236}">
                <a16:creationId xmlns:a16="http://schemas.microsoft.com/office/drawing/2014/main" id="{47006634-706D-48B7-A9E5-9BCC72573C62}"/>
              </a:ext>
            </a:extLst>
          </p:cNvPr>
          <p:cNvSpPr>
            <a:spLocks xmlns:a="http://schemas.openxmlformats.org/drawingml/2006/main" noGrp="1"/>
          </p:cNvSpPr>
          <p:nvPr/>
        </p:nvSpPr>
        <p:spPr>
          <a:xfrm xmlns:a="http://schemas.openxmlformats.org/drawingml/2006/main">
            <a:off x="704850" y="2657475"/>
            <a:ext cx="4933950" cy="2409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有限値の連続特徴。</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残した特徴は変更しない。</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マスク列は同時生成。</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列置換との、同一条件比較を</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実装済み。</a:t>
            </a:r>
          </a:p>
        </p:txBody>
      </p:sp>
      <p:sp>
        <p:nvSpPr>
          <p:cNvPr id="9" name="">
            <a:extLst xmlns:a="http://schemas.openxmlformats.org/drawingml/2006/main">
              <a:ext uri="{FF2B5EF4-FFF2-40B4-BE49-F238E27FC236}">
                <a16:creationId xmlns:a16="http://schemas.microsoft.com/office/drawing/2014/main" id="{F9504E1D-BCBF-4410-BBB9-4E2791CDE495}"/>
              </a:ext>
            </a:extLst>
          </p:cNvPr>
          <p:cNvSpPr>
            <a:spLocks xmlns:a="http://schemas.openxmlformats.org/drawingml/2006/main" noGrp="1"/>
          </p:cNvSpPr>
          <p:nvPr/>
        </p:nvSpPr>
        <p:spPr>
          <a:xfrm xmlns:a="http://schemas.openxmlformats.org/drawingml/2006/main">
            <a:off x="6076950" y="1990725"/>
            <a:ext cx="5600700" cy="31718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744B138-41D0-4068-AE87-EE477C11570E}"/>
              </a:ext>
            </a:extLst>
          </p:cNvPr>
          <p:cNvSpPr>
            <a:spLocks xmlns:a="http://schemas.openxmlformats.org/drawingml/2006/main" noGrp="1"/>
          </p:cNvSpPr>
          <p:nvPr/>
        </p:nvSpPr>
        <p:spPr>
          <a:xfrm xmlns:a="http://schemas.openxmlformats.org/drawingml/2006/main">
            <a:off x="6267450" y="2105025"/>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未解決の問い</a:t>
            </a:r>
          </a:p>
        </p:txBody>
      </p:sp>
      <p:sp>
        <p:nvSpPr>
          <p:cNvPr id="11" name="">
            <a:extLst xmlns:a="http://schemas.openxmlformats.org/drawingml/2006/main">
              <a:ext uri="{FF2B5EF4-FFF2-40B4-BE49-F238E27FC236}">
                <a16:creationId xmlns:a16="http://schemas.microsoft.com/office/drawing/2014/main" id="{228B9B7D-08F9-49EE-BCE2-8FE4AF1CED19}"/>
              </a:ext>
            </a:extLst>
          </p:cNvPr>
          <p:cNvSpPr>
            <a:spLocks xmlns:a="http://schemas.openxmlformats.org/drawingml/2006/main" noGrp="1"/>
          </p:cNvSpPr>
          <p:nvPr/>
        </p:nvSpPr>
        <p:spPr>
          <a:xfrm xmlns:a="http://schemas.openxmlformats.org/drawingml/2006/main">
            <a:off x="6267450" y="2657475"/>
            <a:ext cx="5219700" cy="2409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生成で正解クラスは保たれるか。</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カテゴリ・順序列をどう扱うか。</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非正規の依存はどこまで表せるか。</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置換が弱すぎ／強すぎないか。</a:t>
            </a:r>
          </a:p>
          <a:p xmlns:a="http://schemas.openxmlformats.org/drawingml/2006/main">
            <a:r>
              <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分類性能改善は、まだ仮説。</a:t>
            </a:r>
          </a:p>
        </p:txBody>
      </p:sp>
      <p:sp>
        <p:nvSpPr>
          <p:cNvPr id="12" name="">
            <a:extLst xmlns:a="http://schemas.openxmlformats.org/drawingml/2006/main">
              <a:ext uri="{FF2B5EF4-FFF2-40B4-BE49-F238E27FC236}">
                <a16:creationId xmlns:a16="http://schemas.microsoft.com/office/drawing/2014/main" id="{B51E7340-A8C8-487D-AC9F-5487F3790034}"/>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2ABB2C8-318C-43C0-9982-90BD4B2B1791}"/>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確証バイアスを「解決済み」とはせず、クラス保持も別に評価する</a:t>
            </a:r>
          </a:p>
        </p:txBody>
      </p:sp>
    </p:spTree>
    <p:extLst>
      <p:ext uri="{BB962C8B-B14F-4D97-AF65-F5344CB8AC3E}">
        <p14:creationId xmlns:p14="http://schemas.microsoft.com/office/powerpoint/2010/main" val="1409721294"/>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F62FB837-B580-49E8-944D-9756DE191801}"/>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動作確認：置換後の関係を図で見る</a:t>
            </a:r>
          </a:p>
        </p:txBody>
      </p:sp>
      <p:sp>
        <p:nvSpPr>
          <p:cNvPr id="2" name="">
            <a:extLst xmlns:a="http://schemas.openxmlformats.org/drawingml/2006/main">
              <a:ext uri="{FF2B5EF4-FFF2-40B4-BE49-F238E27FC236}">
                <a16:creationId xmlns:a16="http://schemas.microsoft.com/office/drawing/2014/main" id="{64123AAD-EA74-4F64-BD86-B3EFF561873E}"/>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B9101EE9-726E-4F92-82CF-2F3AF04490F4}"/>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既知の依存を持つ合成データで、同じ列を置換した。</a:t>
            </a:r>
          </a:p>
        </p:txBody>
      </p:sp>
      <p:sp>
        <p:nvSpPr>
          <p:cNvPr id="4" name="">
            <a:extLst xmlns:a="http://schemas.openxmlformats.org/drawingml/2006/main">
              <a:ext uri="{FF2B5EF4-FFF2-40B4-BE49-F238E27FC236}">
                <a16:creationId xmlns:a16="http://schemas.microsoft.com/office/drawing/2014/main" id="{43F8A4B1-4F51-491E-BE61-86DD923699BF}"/>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実装と検証</a:t>
            </a:r>
          </a:p>
        </p:txBody>
      </p:sp>
      <p:sp>
        <p:nvSpPr>
          <p:cNvPr id="5" name="">
            <a:extLst xmlns:a="http://schemas.openxmlformats.org/drawingml/2006/main">
              <a:ext uri="{FF2B5EF4-FFF2-40B4-BE49-F238E27FC236}">
                <a16:creationId xmlns:a16="http://schemas.microsoft.com/office/drawing/2014/main" id="{2D400383-269E-41B0-8DD0-EED4E02290E3}"/>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36</a:t>
            </a:r>
          </a:p>
        </p:txBody>
      </p:sp>
      <p:sp>
        <p:nvSpPr>
          <p:cNvPr id="6" name="">
            <a:extLst xmlns:a="http://schemas.openxmlformats.org/drawingml/2006/main">
              <a:ext uri="{FF2B5EF4-FFF2-40B4-BE49-F238E27FC236}">
                <a16:creationId xmlns:a16="http://schemas.microsoft.com/office/drawing/2014/main" id="{D22DB59C-E614-4D7D-83D4-4066675A52BE}"/>
              </a:ext>
            </a:extLst>
          </p:cNvPr>
          <p:cNvSpPr>
            <a:spLocks xmlns:a="http://schemas.openxmlformats.org/drawingml/2006/main" noGrp="1"/>
          </p:cNvSpPr>
          <p:nvPr/>
        </p:nvSpPr>
        <p:spPr>
          <a:xfrm xmlns:a="http://schemas.openxmlformats.org/drawingml/2006/main">
            <a:off x="514350" y="1905000"/>
            <a:ext cx="3571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175" b="1">
                <a:solidFill>
                  <a:srgbClr val="222222"/>
                </a:solidFill>
                <a:latin typeface="Noto Sans JP"/>
                <a:ea typeface="Noto Sans JP"/>
                <a:cs typeface="Noto Sans JP"/>
              </a:defRPr>
            </a:pPr>
            <a:r>
              <a:rPr sz="2175" b="1">
                <a:solidFill>
                  <a:srgbClr val="222222"/>
                </a:solidFill>
                <a:latin typeface="Noto Sans JP"/>
                <a:ea typeface="Noto Sans JP"/>
                <a:cs typeface="Noto Sans JP"/>
              </a:rPr>
              <a:t>元データ</a:t>
            </a:r>
          </a:p>
        </p:txBody>
      </p:sp>
      <p:graphicFrame>
        <p:nvGraphicFramePr>
          <p:cNvPr id="23" name="Chart"/>
          <p:cNvGraphicFramePr/>
          <p:nvPr/>
        </p:nvGraphicFramePr>
        <p:xfrm>
          <a:off xmlns:a="http://schemas.openxmlformats.org/drawingml/2006/main" x="514350" y="2400300"/>
          <a:ext xmlns:a="http://schemas.openxmlformats.org/drawingml/2006/main" cx="3571875" cy="2781300"/>
        </p:xfrm>
        <a:graphic xmlns:a="http://schemas.openxmlformats.org/drawingml/2006/main">
          <a:graphicData uri="http://schemas.openxmlformats.org/drawingml/2006/chart">
            <c:chart xmlns:r="http://schemas.openxmlformats.org/officeDocument/2006/relationships" xmlns:c="http://schemas.openxmlformats.org/drawingml/2006/chart" r:id="Rf68b04a34b5545d4"/>
          </a:graphicData>
        </a:graphic>
      </p:graphicFrame>
      <p:sp>
        <p:nvSpPr>
          <p:cNvPr id="8" name="">
            <a:extLst xmlns:a="http://schemas.openxmlformats.org/drawingml/2006/main">
              <a:ext uri="{FF2B5EF4-FFF2-40B4-BE49-F238E27FC236}">
                <a16:creationId xmlns:a16="http://schemas.microsoft.com/office/drawing/2014/main" id="{EB679919-3AC4-45BB-9294-545D26890035}"/>
              </a:ext>
            </a:extLst>
          </p:cNvPr>
          <p:cNvSpPr>
            <a:spLocks xmlns:a="http://schemas.openxmlformats.org/drawingml/2006/main" noGrp="1"/>
          </p:cNvSpPr>
          <p:nvPr/>
        </p:nvSpPr>
        <p:spPr>
          <a:xfrm xmlns:a="http://schemas.openxmlformats.org/drawingml/2006/main">
            <a:off x="514350" y="5162550"/>
            <a:ext cx="35718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1875" b="1">
                <a:solidFill>
                  <a:srgbClr val="222222"/>
                </a:solidFill>
                <a:latin typeface="Noto Sans JP"/>
                <a:ea typeface="Noto Sans JP"/>
                <a:cs typeface="Noto Sans JP"/>
              </a:defRPr>
            </a:pPr>
            <a:r>
              <a:rPr sz="1875" b="1">
                <a:solidFill>
                  <a:srgbClr val="222222"/>
                </a:solidFill>
                <a:latin typeface="Noto Sans JP"/>
                <a:ea typeface="Noto Sans JP"/>
                <a:cs typeface="Noto Sans JP"/>
              </a:rPr>
              <a:t>相関 r = 0.805</a:t>
            </a:r>
          </a:p>
        </p:txBody>
      </p:sp>
      <p:sp>
        <p:nvSpPr>
          <p:cNvPr id="9" name="">
            <a:extLst xmlns:a="http://schemas.openxmlformats.org/drawingml/2006/main">
              <a:ext uri="{FF2B5EF4-FFF2-40B4-BE49-F238E27FC236}">
                <a16:creationId xmlns:a16="http://schemas.microsoft.com/office/drawing/2014/main" id="{05B1249A-E796-4792-B340-F0471BF0D63C}"/>
              </a:ext>
            </a:extLst>
          </p:cNvPr>
          <p:cNvSpPr>
            <a:spLocks xmlns:a="http://schemas.openxmlformats.org/drawingml/2006/main" noGrp="1"/>
          </p:cNvSpPr>
          <p:nvPr/>
        </p:nvSpPr>
        <p:spPr>
          <a:xfrm xmlns:a="http://schemas.openxmlformats.org/drawingml/2006/main">
            <a:off x="4295775" y="1905000"/>
            <a:ext cx="3571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175" b="1">
                <a:solidFill>
                  <a:srgbClr val="222222"/>
                </a:solidFill>
                <a:latin typeface="Noto Sans JP"/>
                <a:ea typeface="Noto Sans JP"/>
                <a:cs typeface="Noto Sans JP"/>
              </a:defRPr>
            </a:pPr>
            <a:r>
              <a:rPr sz="2175" b="1">
                <a:solidFill>
                  <a:srgbClr val="222222"/>
                </a:solidFill>
                <a:latin typeface="Noto Sans JP"/>
                <a:ea typeface="Noto Sans JP"/>
                <a:cs typeface="Noto Sans JP"/>
              </a:rPr>
              <a:t>列置換</a:t>
            </a:r>
          </a:p>
        </p:txBody>
      </p:sp>
      <p:graphicFrame>
        <p:nvGraphicFramePr>
          <p:cNvPr id="26" name="Chart"/>
          <p:cNvGraphicFramePr/>
          <p:nvPr/>
        </p:nvGraphicFramePr>
        <p:xfrm>
          <a:off xmlns:a="http://schemas.openxmlformats.org/drawingml/2006/main" x="4295775" y="2400300"/>
          <a:ext xmlns:a="http://schemas.openxmlformats.org/drawingml/2006/main" cx="3571875" cy="2781300"/>
        </p:xfrm>
        <a:graphic xmlns:a="http://schemas.openxmlformats.org/drawingml/2006/main">
          <a:graphicData uri="http://schemas.openxmlformats.org/drawingml/2006/chart">
            <c:chart xmlns:r="http://schemas.openxmlformats.org/officeDocument/2006/relationships" xmlns:c="http://schemas.openxmlformats.org/drawingml/2006/chart" r:id="Rf36e53ca241a4b59"/>
          </a:graphicData>
        </a:graphic>
      </p:graphicFrame>
      <p:sp>
        <p:nvSpPr>
          <p:cNvPr id="11" name="">
            <a:extLst xmlns:a="http://schemas.openxmlformats.org/drawingml/2006/main">
              <a:ext uri="{FF2B5EF4-FFF2-40B4-BE49-F238E27FC236}">
                <a16:creationId xmlns:a16="http://schemas.microsoft.com/office/drawing/2014/main" id="{CC579380-46E8-485C-B3D7-1E6E69776482}"/>
              </a:ext>
            </a:extLst>
          </p:cNvPr>
          <p:cNvSpPr>
            <a:spLocks xmlns:a="http://schemas.openxmlformats.org/drawingml/2006/main" noGrp="1"/>
          </p:cNvSpPr>
          <p:nvPr/>
        </p:nvSpPr>
        <p:spPr>
          <a:xfrm xmlns:a="http://schemas.openxmlformats.org/drawingml/2006/main">
            <a:off x="4295775" y="5162550"/>
            <a:ext cx="35718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1875" b="1">
                <a:solidFill>
                  <a:srgbClr val="222222"/>
                </a:solidFill>
                <a:latin typeface="Noto Sans JP"/>
                <a:ea typeface="Noto Sans JP"/>
                <a:cs typeface="Noto Sans JP"/>
              </a:defRPr>
            </a:pPr>
            <a:r>
              <a:rPr sz="1875" b="1">
                <a:solidFill>
                  <a:srgbClr val="222222"/>
                </a:solidFill>
                <a:latin typeface="Noto Sans JP"/>
                <a:ea typeface="Noto Sans JP"/>
                <a:cs typeface="Noto Sans JP"/>
              </a:rPr>
              <a:t>相関 r = -0.014</a:t>
            </a:r>
          </a:p>
        </p:txBody>
      </p:sp>
      <p:sp>
        <p:nvSpPr>
          <p:cNvPr id="12" name="">
            <a:extLst xmlns:a="http://schemas.openxmlformats.org/drawingml/2006/main">
              <a:ext uri="{FF2B5EF4-FFF2-40B4-BE49-F238E27FC236}">
                <a16:creationId xmlns:a16="http://schemas.microsoft.com/office/drawing/2014/main" id="{562B430D-76AD-47CB-918E-358266E80FFF}"/>
              </a:ext>
            </a:extLst>
          </p:cNvPr>
          <p:cNvSpPr>
            <a:spLocks xmlns:a="http://schemas.openxmlformats.org/drawingml/2006/main" noGrp="1"/>
          </p:cNvSpPr>
          <p:nvPr/>
        </p:nvSpPr>
        <p:spPr>
          <a:xfrm xmlns:a="http://schemas.openxmlformats.org/drawingml/2006/main">
            <a:off x="8077200" y="1905000"/>
            <a:ext cx="3571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Gaussian copula</a:t>
            </a:r>
          </a:p>
        </p:txBody>
      </p:sp>
      <p:graphicFrame>
        <p:nvGraphicFramePr>
          <p:cNvPr id="29" name="Chart"/>
          <p:cNvGraphicFramePr/>
          <p:nvPr/>
        </p:nvGraphicFramePr>
        <p:xfrm>
          <a:off xmlns:a="http://schemas.openxmlformats.org/drawingml/2006/main" x="8077200" y="2400300"/>
          <a:ext xmlns:a="http://schemas.openxmlformats.org/drawingml/2006/main" cx="3571875" cy="2781300"/>
        </p:xfrm>
        <a:graphic xmlns:a="http://schemas.openxmlformats.org/drawingml/2006/main">
          <a:graphicData uri="http://schemas.openxmlformats.org/drawingml/2006/chart">
            <c:chart xmlns:r="http://schemas.openxmlformats.org/officeDocument/2006/relationships" xmlns:c="http://schemas.openxmlformats.org/drawingml/2006/chart" r:id="Rf912ffc0024c464b"/>
          </a:graphicData>
        </a:graphic>
      </p:graphicFrame>
      <p:sp>
        <p:nvSpPr>
          <p:cNvPr id="14" name="">
            <a:extLst xmlns:a="http://schemas.openxmlformats.org/drawingml/2006/main">
              <a:ext uri="{FF2B5EF4-FFF2-40B4-BE49-F238E27FC236}">
                <a16:creationId xmlns:a16="http://schemas.microsoft.com/office/drawing/2014/main" id="{67F3476E-0AAD-43DD-90CF-DF43352702B5}"/>
              </a:ext>
            </a:extLst>
          </p:cNvPr>
          <p:cNvSpPr>
            <a:spLocks xmlns:a="http://schemas.openxmlformats.org/drawingml/2006/main" noGrp="1"/>
          </p:cNvSpPr>
          <p:nvPr/>
        </p:nvSpPr>
        <p:spPr>
          <a:xfrm xmlns:a="http://schemas.openxmlformats.org/drawingml/2006/main">
            <a:off x="8077200" y="5162550"/>
            <a:ext cx="35718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1875" b="1">
                <a:solidFill>
                  <a:srgbClr val="222222"/>
                </a:solidFill>
                <a:latin typeface="Noto Sans JP"/>
                <a:ea typeface="Noto Sans JP"/>
                <a:cs typeface="Noto Sans JP"/>
              </a:defRPr>
            </a:pPr>
            <a:r>
              <a:rPr sz="1875" b="1">
                <a:solidFill>
                  <a:srgbClr val="222222"/>
                </a:solidFill>
                <a:latin typeface="Noto Sans JP"/>
                <a:ea typeface="Noto Sans JP"/>
                <a:cs typeface="Noto Sans JP"/>
              </a:rPr>
              <a:t>相関 r = 0.761</a:t>
            </a:r>
          </a:p>
        </p:txBody>
      </p:sp>
      <p:sp>
        <p:nvSpPr>
          <p:cNvPr id="15" name="">
            <a:extLst xmlns:a="http://schemas.openxmlformats.org/drawingml/2006/main">
              <a:ext uri="{FF2B5EF4-FFF2-40B4-BE49-F238E27FC236}">
                <a16:creationId xmlns:a16="http://schemas.microsoft.com/office/drawing/2014/main" id="{774AAC72-F7A4-46FC-B6D1-D989EF217E4A}"/>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E0BC745-597E-4C7A-B3BA-75EA3B91C41D}"/>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この設定では、列置換で関係が崩れ、条件付き置換では関係が残る</a:t>
            </a:r>
          </a:p>
        </p:txBody>
      </p:sp>
    </p:spTree>
    <p:extLst>
      <p:ext uri="{BB962C8B-B14F-4D97-AF65-F5344CB8AC3E}">
        <p14:creationId xmlns:p14="http://schemas.microsoft.com/office/powerpoint/2010/main" val="1681788019"/>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87547EF-B05E-458B-A3FD-624E0276A839}"/>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合成データの確認で、何が分かるか</a:t>
            </a:r>
          </a:p>
        </p:txBody>
      </p:sp>
      <p:sp>
        <p:nvSpPr>
          <p:cNvPr id="2" name="">
            <a:extLst xmlns:a="http://schemas.openxmlformats.org/drawingml/2006/main">
              <a:ext uri="{FF2B5EF4-FFF2-40B4-BE49-F238E27FC236}">
                <a16:creationId xmlns:a16="http://schemas.microsoft.com/office/drawing/2014/main" id="{9D0374B9-F13D-4C55-8949-CAB9AC03FB9D}"/>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3EA723E7-CB27-4363-BC7B-5B5D9F90A118}"/>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分類性能の証明ではなく、条件付き生成の動作を確認する実験。</a:t>
            </a:r>
          </a:p>
        </p:txBody>
      </p:sp>
      <p:sp>
        <p:nvSpPr>
          <p:cNvPr id="4" name="">
            <a:extLst xmlns:a="http://schemas.openxmlformats.org/drawingml/2006/main">
              <a:ext uri="{FF2B5EF4-FFF2-40B4-BE49-F238E27FC236}">
                <a16:creationId xmlns:a16="http://schemas.microsoft.com/office/drawing/2014/main" id="{EBDDB26F-CF6F-45AE-9262-13015EEB663A}"/>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実装と検証</a:t>
            </a:r>
          </a:p>
        </p:txBody>
      </p:sp>
      <p:sp>
        <p:nvSpPr>
          <p:cNvPr id="5" name="">
            <a:extLst xmlns:a="http://schemas.openxmlformats.org/drawingml/2006/main">
              <a:ext uri="{FF2B5EF4-FFF2-40B4-BE49-F238E27FC236}">
                <a16:creationId xmlns:a16="http://schemas.microsoft.com/office/drawing/2014/main" id="{F4E5179D-7244-43ED-A7F7-D3086B32AE89}"/>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37</a:t>
            </a:r>
          </a:p>
        </p:txBody>
      </p:sp>
      <p:graphicFrame>
        <p:nvGraphicFramePr>
          <p:cNvPr id="15" name=""/>
          <p:cNvGraphicFramePr/>
          <p:nvPr/>
        </p:nvGraphicFramePr>
        <p:xfrm>
          <a:off xmlns:a="http://schemas.openxmlformats.org/drawingml/2006/main" x="514350" y="2085975"/>
          <a:ext xmlns:a="http://schemas.openxmlformats.org/drawingml/2006/main" cx="11163300" cy="2533650"/>
        </p:xfrm>
        <a:graphic xmlns:a="http://schemas.openxmlformats.org/drawingml/2006/main">
          <a:graphicData uri="http://schemas.openxmlformats.org/drawingml/2006/table">
            <a:tbl>
              <a:tblPr/>
              <a:tblGrid>
                <a:gridCol w="3721100"/>
                <a:gridCol w="3721100"/>
                <a:gridCol w="3721100"/>
              </a:tblGrid>
              <a:tr h="633413">
                <a:tc>
                  <a:txBody>
                    <a:bodyPr/>
                    <a:lstStyle/>
                    <a:p>
                      <a:pPr algn="ctr"/>
                      <a:r>
                        <a:rPr sz="2175" b="1">
                          <a:solidFill>
                            <a:srgbClr val="2E7D5B"/>
                          </a:solidFill>
                          <a:latin typeface="Noto Sans JP"/>
                          <a:ea typeface="Noto Sans JP"/>
                          <a:cs typeface="Noto Sans JP"/>
                        </a:rPr>
                        <a:t>対象</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相関</a:t>
                      </a:r>
                    </a:p>
                  </a:txBody>
                  <a:tcPr marL="91440" marR="91440" marT="45720" marB="45720" anchor="ctr">
                    <a:solidFill>
                      <a:srgbClr val="E7F2EC"/>
                    </a:solidFill>
                  </a:tcPr>
                </a:tc>
                <a:tc>
                  <a:txBody>
                    <a:bodyPr/>
                    <a:lstStyle/>
                    <a:p>
                      <a:pPr algn="ctr"/>
                      <a:r>
                        <a:rPr sz="2175" b="1">
                          <a:solidFill>
                            <a:srgbClr val="2E7D5B"/>
                          </a:solidFill>
                          <a:latin typeface="Noto Sans JP"/>
                          <a:ea typeface="Noto Sans JP"/>
                          <a:cs typeface="Noto Sans JP"/>
                        </a:rPr>
                        <a:t>E[(X₂′ − 0.8 X₁)²]</a:t>
                      </a:r>
                    </a:p>
                  </a:txBody>
                  <a:tcPr marL="91440" marR="91440" marT="45720" marB="45720" anchor="ctr">
                    <a:solidFill>
                      <a:srgbClr val="E7F2EC"/>
                    </a:solidFill>
                  </a:tcPr>
                </a:tc>
              </a:tr>
              <a:tr h="633413">
                <a:tc>
                  <a:txBody>
                    <a:bodyPr/>
                    <a:lstStyle/>
                    <a:p>
                      <a:pPr algn="ctr"/>
                      <a:r>
                        <a:rPr sz="2175" b="0">
                          <a:solidFill>
                            <a:srgbClr val="222222"/>
                          </a:solidFill>
                          <a:latin typeface="Noto Sans JP"/>
                          <a:ea typeface="Noto Sans JP"/>
                          <a:cs typeface="Noto Sans JP"/>
                        </a:rPr>
                        <a:t>元データ</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0.805</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0.352</a:t>
                      </a:r>
                    </a:p>
                  </a:txBody>
                  <a:tcPr marL="91440" marR="91440" marT="45720" marB="45720" anchor="ctr">
                    <a:solidFill>
                      <a:srgbClr val="FFFFFF"/>
                    </a:solidFill>
                  </a:tcPr>
                </a:tc>
              </a:tr>
              <a:tr h="633413">
                <a:tc>
                  <a:txBody>
                    <a:bodyPr/>
                    <a:lstStyle/>
                    <a:p>
                      <a:pPr algn="ctr"/>
                      <a:r>
                        <a:rPr sz="2175" b="0">
                          <a:solidFill>
                            <a:srgbClr val="222222"/>
                          </a:solidFill>
                          <a:latin typeface="Noto Sans JP"/>
                          <a:ea typeface="Noto Sans JP"/>
                          <a:cs typeface="Noto Sans JP"/>
                        </a:rPr>
                        <a:t>列置換</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-0.014</a:t>
                      </a:r>
                    </a:p>
                  </a:txBody>
                  <a:tcPr marL="91440" marR="91440" marT="45720" marB="45720" anchor="ctr">
                    <a:solidFill>
                      <a:srgbClr val="F6F6F6"/>
                    </a:solidFill>
                  </a:tcPr>
                </a:tc>
                <a:tc>
                  <a:txBody>
                    <a:bodyPr/>
                    <a:lstStyle/>
                    <a:p>
                      <a:pPr algn="ctr"/>
                      <a:r>
                        <a:rPr sz="2175" b="0">
                          <a:solidFill>
                            <a:srgbClr val="222222"/>
                          </a:solidFill>
                          <a:latin typeface="Noto Sans JP"/>
                          <a:ea typeface="Noto Sans JP"/>
                          <a:cs typeface="Noto Sans JP"/>
                        </a:rPr>
                        <a:t>1.653</a:t>
                      </a:r>
                    </a:p>
                  </a:txBody>
                  <a:tcPr marL="91440" marR="91440" marT="45720" marB="45720" anchor="ctr">
                    <a:solidFill>
                      <a:srgbClr val="F6F6F6"/>
                    </a:solidFill>
                  </a:tcPr>
                </a:tc>
              </a:tr>
              <a:tr h="633413">
                <a:tc>
                  <a:txBody>
                    <a:bodyPr/>
                    <a:lstStyle/>
                    <a:p>
                      <a:pPr algn="ctr"/>
                      <a:r>
                        <a:rPr sz="2175" b="0">
                          <a:solidFill>
                            <a:srgbClr val="222222"/>
                          </a:solidFill>
                          <a:latin typeface="Noto Sans JP"/>
                          <a:ea typeface="Noto Sans JP"/>
                          <a:cs typeface="Noto Sans JP"/>
                        </a:rPr>
                        <a:t>Gaussian copula</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0.761</a:t>
                      </a:r>
                    </a:p>
                  </a:txBody>
                  <a:tcPr marL="91440" marR="91440" marT="45720" marB="45720" anchor="ctr">
                    <a:solidFill>
                      <a:srgbClr val="FFFFFF"/>
                    </a:solidFill>
                  </a:tcPr>
                </a:tc>
                <a:tc>
                  <a:txBody>
                    <a:bodyPr/>
                    <a:lstStyle/>
                    <a:p>
                      <a:pPr algn="ctr"/>
                      <a:r>
                        <a:rPr sz="2175" b="0">
                          <a:solidFill>
                            <a:srgbClr val="222222"/>
                          </a:solidFill>
                          <a:latin typeface="Noto Sans JP"/>
                          <a:ea typeface="Noto Sans JP"/>
                          <a:cs typeface="Noto Sans JP"/>
                        </a:rPr>
                        <a:t>0.409</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AFCDEB3B-80C8-445D-AB9F-B43A90DCA59D}"/>
              </a:ext>
            </a:extLst>
          </p:cNvPr>
          <p:cNvSpPr>
            <a:spLocks xmlns:a="http://schemas.openxmlformats.org/drawingml/2006/main" noGrp="1"/>
          </p:cNvSpPr>
          <p:nvPr/>
        </p:nvSpPr>
        <p:spPr>
          <a:xfrm xmlns:a="http://schemas.openxmlformats.org/drawingml/2006/main">
            <a:off x="619125" y="4867275"/>
            <a:ext cx="10953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観測列X₁は両手法で不変。数値は2,500行全体で集計。</a:t>
            </a:r>
          </a:p>
        </p:txBody>
      </p:sp>
      <p:sp>
        <p:nvSpPr>
          <p:cNvPr id="8" name="">
            <a:extLst xmlns:a="http://schemas.openxmlformats.org/drawingml/2006/main">
              <a:ext uri="{FF2B5EF4-FFF2-40B4-BE49-F238E27FC236}">
                <a16:creationId xmlns:a16="http://schemas.microsoft.com/office/drawing/2014/main" id="{ADB09059-AB5A-4138-9E32-CE278E5300B2}"/>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6A74407-EA54-497F-99DD-E91931614698}"/>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Gaussianの仮定に合う例での確認。実データやクラス保持は別に検証する</a:t>
            </a:r>
          </a:p>
        </p:txBody>
      </p:sp>
    </p:spTree>
    <p:extLst>
      <p:ext uri="{BB962C8B-B14F-4D97-AF65-F5344CB8AC3E}">
        <p14:creationId xmlns:p14="http://schemas.microsoft.com/office/powerpoint/2010/main" val="549875233"/>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CA7670A-8033-401C-BB47-3CAA933262E5}"/>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比較実験：条件を何に揃えたか</a:t>
            </a:r>
          </a:p>
        </p:txBody>
      </p:sp>
      <p:sp>
        <p:nvSpPr>
          <p:cNvPr id="2" name="">
            <a:extLst xmlns:a="http://schemas.openxmlformats.org/drawingml/2006/main">
              <a:ext uri="{FF2B5EF4-FFF2-40B4-BE49-F238E27FC236}">
                <a16:creationId xmlns:a16="http://schemas.microsoft.com/office/drawing/2014/main" id="{FB052858-E1D5-45AD-A311-02C41D7CE4EE}"/>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45F2AE17-7978-4714-A76F-83902481A50C}"/>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保存済みの探索的実験。原論文の結果の再現ではない。</a:t>
            </a:r>
          </a:p>
        </p:txBody>
      </p:sp>
      <p:sp>
        <p:nvSpPr>
          <p:cNvPr id="4" name="">
            <a:extLst xmlns:a="http://schemas.openxmlformats.org/drawingml/2006/main">
              <a:ext uri="{FF2B5EF4-FFF2-40B4-BE49-F238E27FC236}">
                <a16:creationId xmlns:a16="http://schemas.microsoft.com/office/drawing/2014/main" id="{7DC13D6A-6ADE-4D30-9B9F-578AB37DB8DB}"/>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実装と検証</a:t>
            </a:r>
          </a:p>
        </p:txBody>
      </p:sp>
      <p:sp>
        <p:nvSpPr>
          <p:cNvPr id="5" name="">
            <a:extLst xmlns:a="http://schemas.openxmlformats.org/drawingml/2006/main">
              <a:ext uri="{FF2B5EF4-FFF2-40B4-BE49-F238E27FC236}">
                <a16:creationId xmlns:a16="http://schemas.microsoft.com/office/drawing/2014/main" id="{5E3DF4B7-5ABE-4005-8856-64A4DDF61FE8}"/>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38</a:t>
            </a:r>
          </a:p>
        </p:txBody>
      </p:sp>
      <p:graphicFrame>
        <p:nvGraphicFramePr>
          <p:cNvPr id="14" name=""/>
          <p:cNvGraphicFramePr/>
          <p:nvPr/>
        </p:nvGraphicFramePr>
        <p:xfrm>
          <a:off xmlns:a="http://schemas.openxmlformats.org/drawingml/2006/main" x="514350" y="1924050"/>
          <a:ext xmlns:a="http://schemas.openxmlformats.org/drawingml/2006/main" cx="11163300" cy="3438525"/>
        </p:xfrm>
        <a:graphic xmlns:a="http://schemas.openxmlformats.org/drawingml/2006/main">
          <a:graphicData uri="http://schemas.openxmlformats.org/drawingml/2006/table">
            <a:tbl>
              <a:tblPr/>
              <a:tblGrid>
                <a:gridCol w="2667000"/>
                <a:gridCol w="8496300"/>
              </a:tblGrid>
              <a:tr h="573088">
                <a:tc>
                  <a:txBody>
                    <a:bodyPr/>
                    <a:lstStyle/>
                    <a:p>
                      <a:pPr algn="ctr"/>
                      <a:r>
                        <a:rPr sz="1800" b="1">
                          <a:solidFill>
                            <a:srgbClr val="2E7D5B"/>
                          </a:solidFill>
                          <a:latin typeface="Noto Sans JP"/>
                          <a:ea typeface="Noto Sans JP"/>
                          <a:cs typeface="Noto Sans JP"/>
                        </a:rPr>
                        <a:t>項目</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共通条件</a:t>
                      </a:r>
                    </a:p>
                  </a:txBody>
                  <a:tcPr marL="91440" marR="91440" marT="45720" marB="45720" anchor="ctr">
                    <a:solidFill>
                      <a:srgbClr val="E7F2EC"/>
                    </a:solidFill>
                  </a:tcPr>
                </a:tc>
              </a:tr>
              <a:tr h="573088">
                <a:tc>
                  <a:txBody>
                    <a:bodyPr/>
                    <a:lstStyle/>
                    <a:p>
                      <a:pPr algn="ctr"/>
                      <a:r>
                        <a:rPr sz="1800" b="0">
                          <a:solidFill>
                            <a:srgbClr val="222222"/>
                          </a:solidFill>
                          <a:latin typeface="Noto Sans JP"/>
                          <a:ea typeface="Noto Sans JP"/>
                          <a:cs typeface="Noto Sans JP"/>
                        </a:rPr>
                        <a:t>データ</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Breast Cancer：569行・30列・2クラス / Wine：178行・13列・3クラス</a:t>
                      </a:r>
                    </a:p>
                  </a:txBody>
                  <a:tcPr marL="91440" marR="91440" marT="45720" marB="45720" anchor="ctr">
                    <a:solidFill>
                      <a:srgbClr val="FFFFFF"/>
                    </a:solidFill>
                  </a:tcPr>
                </a:tc>
              </a:tr>
              <a:tr h="573088">
                <a:tc>
                  <a:txBody>
                    <a:bodyPr/>
                    <a:lstStyle/>
                    <a:p>
                      <a:pPr algn="ctr"/>
                      <a:r>
                        <a:rPr sz="1800" b="0">
                          <a:solidFill>
                            <a:srgbClr val="222222"/>
                          </a:solidFill>
                          <a:latin typeface="Noto Sans JP"/>
                          <a:ea typeface="Noto Sans JP"/>
                          <a:cs typeface="Noto Sans JP"/>
                        </a:rPr>
                        <a:t>分割</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訓練80%・テスト20%、訓練内ラベルあり30%（層化）</a:t>
                      </a:r>
                    </a:p>
                  </a:txBody>
                  <a:tcPr marL="91440" marR="91440" marT="45720" marB="45720" anchor="ctr">
                    <a:solidFill>
                      <a:srgbClr val="F6F6F6"/>
                    </a:solidFill>
                  </a:tcPr>
                </a:tc>
              </a:tr>
              <a:tr h="573088">
                <a:tc>
                  <a:txBody>
                    <a:bodyPr/>
                    <a:lstStyle/>
                    <a:p>
                      <a:pPr algn="ctr"/>
                      <a:r>
                        <a:rPr sz="1800" b="0">
                          <a:solidFill>
                            <a:srgbClr val="222222"/>
                          </a:solidFill>
                          <a:latin typeface="Noto Sans JP"/>
                          <a:ea typeface="Noto Sans JP"/>
                          <a:cs typeface="Noto Sans JP"/>
                        </a:rPr>
                        <a:t>繰り返し</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seed = 11, 23, 37, 51, 67 の5回</a:t>
                      </a:r>
                    </a:p>
                  </a:txBody>
                  <a:tcPr marL="91440" marR="91440" marT="45720" marB="45720" anchor="ctr">
                    <a:solidFill>
                      <a:srgbClr val="FFFFFF"/>
                    </a:solidFill>
                  </a:tcPr>
                </a:tc>
              </a:tr>
              <a:tr h="573088">
                <a:tc>
                  <a:txBody>
                    <a:bodyPr/>
                    <a:lstStyle/>
                    <a:p>
                      <a:pPr algn="ctr"/>
                      <a:r>
                        <a:rPr sz="1800" b="0">
                          <a:solidFill>
                            <a:srgbClr val="222222"/>
                          </a:solidFill>
                          <a:latin typeface="Noto Sans JP"/>
                          <a:ea typeface="Noto Sans JP"/>
                          <a:cs typeface="Noto Sans JP"/>
                        </a:rPr>
                        <a:t>モデル・学習</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4層×32幅MLP、自己教師あり15 epoch、半教師あり300反復</a:t>
                      </a:r>
                    </a:p>
                  </a:txBody>
                  <a:tcPr marL="91440" marR="91440" marT="45720" marB="45720" anchor="ctr">
                    <a:solidFill>
                      <a:srgbClr val="F6F6F6"/>
                    </a:solidFill>
                  </a:tcPr>
                </a:tc>
              </a:tr>
              <a:tr h="573088">
                <a:tc>
                  <a:txBody>
                    <a:bodyPr/>
                    <a:lstStyle/>
                    <a:p>
                      <a:pPr algn="ctr"/>
                      <a:r>
                        <a:rPr sz="1800" b="0">
                          <a:solidFill>
                            <a:srgbClr val="222222"/>
                          </a:solidFill>
                          <a:latin typeface="Noto Sans JP"/>
                          <a:ea typeface="Noto Sans JP"/>
                          <a:cs typeface="Noto Sans JP"/>
                        </a:rPr>
                        <a:t>前処理・拡張</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訓練だけでMinMax、batch 64、マスク確率0.4、CPU</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6B064723-5E7D-4AC4-A2F6-F1E3C6F28BB1}"/>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DF344DB-C960-4A3F-9EA0-CF5BC64C9C2F}"/>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因果的に比べたい部分：同じ学習枠組み内の「置換器」の違い</a:t>
            </a:r>
          </a:p>
        </p:txBody>
      </p:sp>
    </p:spTree>
    <p:extLst>
      <p:ext uri="{BB962C8B-B14F-4D97-AF65-F5344CB8AC3E}">
        <p14:creationId xmlns:p14="http://schemas.microsoft.com/office/powerpoint/2010/main" val="479115952"/>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744F37A-6311-4E4B-A516-386B6C45668E}"/>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今回の再実行：同じ学習枠組みで比較</a:t>
            </a:r>
          </a:p>
        </p:txBody>
      </p:sp>
      <p:sp>
        <p:nvSpPr>
          <p:cNvPr id="2" name="">
            <a:extLst xmlns:a="http://schemas.openxmlformats.org/drawingml/2006/main">
              <a:ext uri="{FF2B5EF4-FFF2-40B4-BE49-F238E27FC236}">
                <a16:creationId xmlns:a16="http://schemas.microsoft.com/office/drawing/2014/main" id="{B5BE777E-0F09-4DC7-BFFF-39D6280F2F63}"/>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BFCD38FF-6F98-47EC-A934-FB0F24B0E63C}"/>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2026年10月4日、VIME内の2種類の置換器を5 seedで実行。</a:t>
            </a:r>
          </a:p>
        </p:txBody>
      </p:sp>
      <p:sp>
        <p:nvSpPr>
          <p:cNvPr id="4" name="">
            <a:extLst xmlns:a="http://schemas.openxmlformats.org/drawingml/2006/main">
              <a:ext uri="{FF2B5EF4-FFF2-40B4-BE49-F238E27FC236}">
                <a16:creationId xmlns:a16="http://schemas.microsoft.com/office/drawing/2014/main" id="{F88FFF61-47A9-4848-956D-7F6F7BBEBD3D}"/>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実装と検証</a:t>
            </a:r>
          </a:p>
        </p:txBody>
      </p:sp>
      <p:sp>
        <p:nvSpPr>
          <p:cNvPr id="5" name="">
            <a:extLst xmlns:a="http://schemas.openxmlformats.org/drawingml/2006/main">
              <a:ext uri="{FF2B5EF4-FFF2-40B4-BE49-F238E27FC236}">
                <a16:creationId xmlns:a16="http://schemas.microsoft.com/office/drawing/2014/main" id="{FB8ECA0E-59B0-4B88-A79B-8D91775CC405}"/>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39</a:t>
            </a:r>
          </a:p>
        </p:txBody>
      </p:sp>
      <p:graphicFrame>
        <p:nvGraphicFramePr>
          <p:cNvPr id="15" name=""/>
          <p:cNvGraphicFramePr/>
          <p:nvPr/>
        </p:nvGraphicFramePr>
        <p:xfrm>
          <a:off xmlns:a="http://schemas.openxmlformats.org/drawingml/2006/main" x="514350" y="2076450"/>
          <a:ext xmlns:a="http://schemas.openxmlformats.org/drawingml/2006/main" cx="11163300" cy="2428875"/>
        </p:xfrm>
        <a:graphic xmlns:a="http://schemas.openxmlformats.org/drawingml/2006/main">
          <a:graphicData uri="http://schemas.openxmlformats.org/drawingml/2006/table">
            <a:tbl>
              <a:tblPr/>
              <a:tblGrid>
                <a:gridCol w="2790825"/>
                <a:gridCol w="2790825"/>
                <a:gridCol w="2790825"/>
                <a:gridCol w="2790825"/>
              </a:tblGrid>
              <a:tr h="809625">
                <a:tc>
                  <a:txBody>
                    <a:bodyPr/>
                    <a:lstStyle/>
                    <a:p>
                      <a:pPr algn="ctr"/>
                      <a:r>
                        <a:rPr sz="1950" b="1">
                          <a:solidFill>
                            <a:srgbClr val="2E7D5B"/>
                          </a:solidFill>
                          <a:latin typeface="Noto Sans JP"/>
                          <a:ea typeface="Noto Sans JP"/>
                          <a:cs typeface="Noto Sans JP"/>
                        </a:rPr>
                        <a:t>データ / ROC-AUC</a:t>
                      </a:r>
                    </a:p>
                  </a:txBody>
                  <a:tcPr marL="91440" marR="91440" marT="45720" marB="45720" anchor="ctr">
                    <a:solidFill>
                      <a:srgbClr val="E7F2EC"/>
                    </a:solidFill>
                  </a:tcPr>
                </a:tc>
                <a:tc>
                  <a:txBody>
                    <a:bodyPr/>
                    <a:lstStyle/>
                    <a:p>
                      <a:pPr algn="ctr"/>
                      <a:r>
                        <a:rPr sz="1950" b="1">
                          <a:solidFill>
                            <a:srgbClr val="2E7D5B"/>
                          </a:solidFill>
                          <a:latin typeface="Noto Sans JP"/>
                          <a:ea typeface="Noto Sans JP"/>
                          <a:cs typeface="Noto Sans JP"/>
                        </a:rPr>
                        <a:t>列置換</a:t>
                      </a:r>
                    </a:p>
                  </a:txBody>
                  <a:tcPr marL="91440" marR="91440" marT="45720" marB="45720" anchor="ctr">
                    <a:solidFill>
                      <a:srgbClr val="E7F2EC"/>
                    </a:solidFill>
                  </a:tcPr>
                </a:tc>
                <a:tc>
                  <a:txBody>
                    <a:bodyPr/>
                    <a:lstStyle/>
                    <a:p>
                      <a:pPr algn="ctr"/>
                      <a:r>
                        <a:rPr sz="1950" b="1">
                          <a:solidFill>
                            <a:srgbClr val="2E7D5B"/>
                          </a:solidFill>
                          <a:latin typeface="Noto Sans JP"/>
                          <a:ea typeface="Noto Sans JP"/>
                          <a:cs typeface="Noto Sans JP"/>
                        </a:rPr>
                        <a:t>Gaussian copula</a:t>
                      </a:r>
                    </a:p>
                  </a:txBody>
                  <a:tcPr marL="91440" marR="91440" marT="45720" marB="45720" anchor="ctr">
                    <a:solidFill>
                      <a:srgbClr val="E7F2EC"/>
                    </a:solidFill>
                  </a:tcPr>
                </a:tc>
                <a:tc>
                  <a:txBody>
                    <a:bodyPr/>
                    <a:lstStyle/>
                    <a:p>
                      <a:pPr algn="ctr"/>
                      <a:r>
                        <a:rPr sz="1950" b="1">
                          <a:solidFill>
                            <a:srgbClr val="2E7D5B"/>
                          </a:solidFill>
                          <a:latin typeface="Noto Sans JP"/>
                          <a:ea typeface="Noto Sans JP"/>
                          <a:cs typeface="Noto Sans JP"/>
                        </a:rPr>
                        <a:t>差の95% CI</a:t>
                      </a:r>
                    </a:p>
                  </a:txBody>
                  <a:tcPr marL="91440" marR="91440" marT="45720" marB="45720" anchor="ctr">
                    <a:solidFill>
                      <a:srgbClr val="E7F2EC"/>
                    </a:solidFill>
                  </a:tcPr>
                </a:tc>
              </a:tr>
              <a:tr h="809625">
                <a:tc>
                  <a:txBody>
                    <a:bodyPr/>
                    <a:lstStyle/>
                    <a:p>
                      <a:pPr algn="ctr"/>
                      <a:r>
                        <a:rPr sz="1950" b="0">
                          <a:solidFill>
                            <a:srgbClr val="222222"/>
                          </a:solidFill>
                          <a:latin typeface="Noto Sans JP"/>
                          <a:ea typeface="Noto Sans JP"/>
                          <a:cs typeface="Noto Sans JP"/>
                        </a:rPr>
                        <a:t>Breast Cancer</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0.970 ± 0.012</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0.973 ± 0.017</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[−0.005, +0.011]</a:t>
                      </a:r>
                    </a:p>
                  </a:txBody>
                  <a:tcPr marL="91440" marR="91440" marT="45720" marB="45720" anchor="ctr">
                    <a:solidFill>
                      <a:srgbClr val="FFFFFF"/>
                    </a:solidFill>
                  </a:tcPr>
                </a:tc>
              </a:tr>
              <a:tr h="809625">
                <a:tc>
                  <a:txBody>
                    <a:bodyPr/>
                    <a:lstStyle/>
                    <a:p>
                      <a:pPr algn="ctr"/>
                      <a:r>
                        <a:rPr sz="1950" b="0">
                          <a:solidFill>
                            <a:srgbClr val="222222"/>
                          </a:solidFill>
                          <a:latin typeface="Noto Sans JP"/>
                          <a:ea typeface="Noto Sans JP"/>
                          <a:cs typeface="Noto Sans JP"/>
                        </a:rPr>
                        <a:t>Wine</a:t>
                      </a:r>
                    </a:p>
                  </a:txBody>
                  <a:tcPr marL="91440" marR="91440" marT="45720" marB="45720" anchor="ctr">
                    <a:solidFill>
                      <a:srgbClr val="F6F6F6"/>
                    </a:solidFill>
                  </a:tcPr>
                </a:tc>
                <a:tc>
                  <a:txBody>
                    <a:bodyPr/>
                    <a:lstStyle/>
                    <a:p>
                      <a:pPr algn="ctr"/>
                      <a:r>
                        <a:rPr sz="1950" b="0">
                          <a:solidFill>
                            <a:srgbClr val="222222"/>
                          </a:solidFill>
                          <a:latin typeface="Noto Sans JP"/>
                          <a:ea typeface="Noto Sans JP"/>
                          <a:cs typeface="Noto Sans JP"/>
                        </a:rPr>
                        <a:t>0.826 ± 0.068</a:t>
                      </a:r>
                    </a:p>
                  </a:txBody>
                  <a:tcPr marL="91440" marR="91440" marT="45720" marB="45720" anchor="ctr">
                    <a:solidFill>
                      <a:srgbClr val="F6F6F6"/>
                    </a:solidFill>
                  </a:tcPr>
                </a:tc>
                <a:tc>
                  <a:txBody>
                    <a:bodyPr/>
                    <a:lstStyle/>
                    <a:p>
                      <a:pPr algn="ctr"/>
                      <a:r>
                        <a:rPr sz="1950" b="0">
                          <a:solidFill>
                            <a:srgbClr val="222222"/>
                          </a:solidFill>
                          <a:latin typeface="Noto Sans JP"/>
                          <a:ea typeface="Noto Sans JP"/>
                          <a:cs typeface="Noto Sans JP"/>
                        </a:rPr>
                        <a:t>0.847 ± 0.130</a:t>
                      </a:r>
                    </a:p>
                  </a:txBody>
                  <a:tcPr marL="91440" marR="91440" marT="45720" marB="45720" anchor="ctr">
                    <a:solidFill>
                      <a:srgbClr val="F6F6F6"/>
                    </a:solidFill>
                  </a:tcPr>
                </a:tc>
                <a:tc>
                  <a:txBody>
                    <a:bodyPr/>
                    <a:lstStyle/>
                    <a:p>
                      <a:pPr algn="ctr"/>
                      <a:r>
                        <a:rPr sz="1950" b="0">
                          <a:solidFill>
                            <a:srgbClr val="222222"/>
                          </a:solidFill>
                          <a:latin typeface="Noto Sans JP"/>
                          <a:ea typeface="Noto Sans JP"/>
                          <a:cs typeface="Noto Sans JP"/>
                        </a:rPr>
                        <a:t>[−0.079, +0.109]</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4F4C440D-FA24-4A39-8AB3-5433B2C958EA}"/>
              </a:ext>
            </a:extLst>
          </p:cNvPr>
          <p:cNvSpPr>
            <a:spLocks xmlns:a="http://schemas.openxmlformats.org/drawingml/2006/main" noGrp="1"/>
          </p:cNvSpPr>
          <p:nvPr/>
        </p:nvSpPr>
        <p:spPr>
          <a:xfrm xmlns:a="http://schemas.openxmlformats.org/drawingml/2006/main">
            <a:off x="619125" y="4781550"/>
            <a:ext cx="10953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平均差：Breast Cancer +0.003 / Wine +0.021</a:t>
            </a:r>
          </a:p>
        </p:txBody>
      </p:sp>
      <p:sp>
        <p:nvSpPr>
          <p:cNvPr id="8" name="">
            <a:extLst xmlns:a="http://schemas.openxmlformats.org/drawingml/2006/main">
              <a:ext uri="{FF2B5EF4-FFF2-40B4-BE49-F238E27FC236}">
                <a16:creationId xmlns:a16="http://schemas.microsoft.com/office/drawing/2014/main" id="{D9ED386F-F0A4-4D01-8A66-C17FB412487E}"/>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095F01C-0C47-430F-BFA6-DCA5F3E2946B}"/>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今回の比較だけで優位性は確定しない。再実行でもデータ・seedへの依存を確認</a:t>
            </a:r>
          </a:p>
        </p:txBody>
      </p:sp>
    </p:spTree>
    <p:extLst>
      <p:ext uri="{BB962C8B-B14F-4D97-AF65-F5344CB8AC3E}">
        <p14:creationId xmlns:p14="http://schemas.microsoft.com/office/powerpoint/2010/main" val="66974335"/>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1C567A5-411C-40D6-BD14-00045DC827BA}"/>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再実行結果を、どう解釈するか</a:t>
            </a:r>
          </a:p>
        </p:txBody>
      </p:sp>
      <p:sp>
        <p:nvSpPr>
          <p:cNvPr id="2" name="">
            <a:extLst xmlns:a="http://schemas.openxmlformats.org/drawingml/2006/main">
              <a:ext uri="{FF2B5EF4-FFF2-40B4-BE49-F238E27FC236}">
                <a16:creationId xmlns:a16="http://schemas.microsoft.com/office/drawing/2014/main" id="{C77BC064-7B14-4530-9C04-A2D96CA35D44}"/>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7E0A29F-2A0F-41BB-80F5-DDEA39F25A75}"/>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置換器を変えた効果は、仮定・データ・拡張強度によって変わる。</a:t>
            </a:r>
          </a:p>
        </p:txBody>
      </p:sp>
      <p:sp>
        <p:nvSpPr>
          <p:cNvPr id="4" name="">
            <a:extLst xmlns:a="http://schemas.openxmlformats.org/drawingml/2006/main">
              <a:ext uri="{FF2B5EF4-FFF2-40B4-BE49-F238E27FC236}">
                <a16:creationId xmlns:a16="http://schemas.microsoft.com/office/drawing/2014/main" id="{BF40E92D-9209-413B-84B4-68B6969098C8}"/>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実装と検証</a:t>
            </a:r>
          </a:p>
        </p:txBody>
      </p:sp>
      <p:sp>
        <p:nvSpPr>
          <p:cNvPr id="5" name="">
            <a:extLst xmlns:a="http://schemas.openxmlformats.org/drawingml/2006/main">
              <a:ext uri="{FF2B5EF4-FFF2-40B4-BE49-F238E27FC236}">
                <a16:creationId xmlns:a16="http://schemas.microsoft.com/office/drawing/2014/main" id="{06324C07-E46E-4E90-ACD9-CF0190E19A6D}"/>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40</a:t>
            </a:r>
          </a:p>
        </p:txBody>
      </p:sp>
      <p:sp>
        <p:nvSpPr>
          <p:cNvPr id="6" name="">
            <a:extLst xmlns:a="http://schemas.openxmlformats.org/drawingml/2006/main">
              <a:ext uri="{FF2B5EF4-FFF2-40B4-BE49-F238E27FC236}">
                <a16:creationId xmlns:a16="http://schemas.microsoft.com/office/drawing/2014/main" id="{A259BE13-D0B0-4FCE-A35B-B9487AC1AC95}"/>
              </a:ext>
            </a:extLst>
          </p:cNvPr>
          <p:cNvSpPr>
            <a:spLocks xmlns:a="http://schemas.openxmlformats.org/drawingml/2006/main" noGrp="1"/>
          </p:cNvSpPr>
          <p:nvPr/>
        </p:nvSpPr>
        <p:spPr>
          <a:xfrm xmlns:a="http://schemas.openxmlformats.org/drawingml/2006/main">
            <a:off x="552450" y="1952625"/>
            <a:ext cx="476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7" name="">
            <a:extLst xmlns:a="http://schemas.openxmlformats.org/drawingml/2006/main">
              <a:ext uri="{FF2B5EF4-FFF2-40B4-BE49-F238E27FC236}">
                <a16:creationId xmlns:a16="http://schemas.microsoft.com/office/drawing/2014/main" id="{2B58377F-F4B9-4227-BA43-947DA65991A0}"/>
              </a:ext>
            </a:extLst>
          </p:cNvPr>
          <p:cNvSpPr>
            <a:spLocks xmlns:a="http://schemas.openxmlformats.org/drawingml/2006/main" noGrp="1"/>
          </p:cNvSpPr>
          <p:nvPr/>
        </p:nvSpPr>
        <p:spPr>
          <a:xfrm xmlns:a="http://schemas.openxmlformats.org/drawingml/2006/main">
            <a:off x="1257300" y="1952625"/>
            <a:ext cx="10191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2手法は、同じデータ分割・モデル・学習予算で比較した。</a:t>
            </a:r>
          </a:p>
        </p:txBody>
      </p:sp>
      <p:sp>
        <p:nvSpPr>
          <p:cNvPr id="8" name="">
            <a:extLst xmlns:a="http://schemas.openxmlformats.org/drawingml/2006/main">
              <a:ext uri="{FF2B5EF4-FFF2-40B4-BE49-F238E27FC236}">
                <a16:creationId xmlns:a16="http://schemas.microsoft.com/office/drawing/2014/main" id="{5020C6E2-66B6-4D57-980F-BB5AE62C2E11}"/>
              </a:ext>
            </a:extLst>
          </p:cNvPr>
          <p:cNvSpPr>
            <a:spLocks xmlns:a="http://schemas.openxmlformats.org/drawingml/2006/main" noGrp="1"/>
          </p:cNvSpPr>
          <p:nvPr/>
        </p:nvSpPr>
        <p:spPr>
          <a:xfrm xmlns:a="http://schemas.openxmlformats.org/drawingml/2006/main">
            <a:off x="552450" y="2771775"/>
            <a:ext cx="476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9" name="">
            <a:extLst xmlns:a="http://schemas.openxmlformats.org/drawingml/2006/main">
              <a:ext uri="{FF2B5EF4-FFF2-40B4-BE49-F238E27FC236}">
                <a16:creationId xmlns:a16="http://schemas.microsoft.com/office/drawing/2014/main" id="{E7C25854-5421-46BE-AB25-A20748ECACF4}"/>
              </a:ext>
            </a:extLst>
          </p:cNvPr>
          <p:cNvSpPr>
            <a:spLocks xmlns:a="http://schemas.openxmlformats.org/drawingml/2006/main" noGrp="1"/>
          </p:cNvSpPr>
          <p:nvPr/>
        </p:nvSpPr>
        <p:spPr>
          <a:xfrm xmlns:a="http://schemas.openxmlformats.org/drawingml/2006/main">
            <a:off x="1257300" y="2771775"/>
            <a:ext cx="10191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小さなデータではseedで結果が変わる。5回だけでは不十分。</a:t>
            </a:r>
          </a:p>
        </p:txBody>
      </p:sp>
      <p:sp>
        <p:nvSpPr>
          <p:cNvPr id="10" name="">
            <a:extLst xmlns:a="http://schemas.openxmlformats.org/drawingml/2006/main">
              <a:ext uri="{FF2B5EF4-FFF2-40B4-BE49-F238E27FC236}">
                <a16:creationId xmlns:a16="http://schemas.microsoft.com/office/drawing/2014/main" id="{1982AA94-BB63-48CC-A8A9-699924542192}"/>
              </a:ext>
            </a:extLst>
          </p:cNvPr>
          <p:cNvSpPr>
            <a:spLocks xmlns:a="http://schemas.openxmlformats.org/drawingml/2006/main" noGrp="1"/>
          </p:cNvSpPr>
          <p:nvPr/>
        </p:nvSpPr>
        <p:spPr>
          <a:xfrm xmlns:a="http://schemas.openxmlformats.org/drawingml/2006/main">
            <a:off x="552450" y="3590925"/>
            <a:ext cx="476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1" name="">
            <a:extLst xmlns:a="http://schemas.openxmlformats.org/drawingml/2006/main">
              <a:ext uri="{FF2B5EF4-FFF2-40B4-BE49-F238E27FC236}">
                <a16:creationId xmlns:a16="http://schemas.microsoft.com/office/drawing/2014/main" id="{CA8DDA01-28F0-45DC-8C64-92E19FC82029}"/>
              </a:ext>
            </a:extLst>
          </p:cNvPr>
          <p:cNvSpPr>
            <a:spLocks xmlns:a="http://schemas.openxmlformats.org/drawingml/2006/main" noGrp="1"/>
          </p:cNvSpPr>
          <p:nvPr/>
        </p:nvSpPr>
        <p:spPr>
          <a:xfrm xmlns:a="http://schemas.openxmlformats.org/drawingml/2006/main">
            <a:off x="1257300" y="3590925"/>
            <a:ext cx="10191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保存済みの2手法のAUCと、今回の再実行の値が一致した。</a:t>
            </a:r>
          </a:p>
        </p:txBody>
      </p:sp>
      <p:sp>
        <p:nvSpPr>
          <p:cNvPr id="12" name="">
            <a:extLst xmlns:a="http://schemas.openxmlformats.org/drawingml/2006/main">
              <a:ext uri="{FF2B5EF4-FFF2-40B4-BE49-F238E27FC236}">
                <a16:creationId xmlns:a16="http://schemas.microsoft.com/office/drawing/2014/main" id="{4400A3BE-07CE-484F-9DD0-A02D8C93C3D2}"/>
              </a:ext>
            </a:extLst>
          </p:cNvPr>
          <p:cNvSpPr>
            <a:spLocks xmlns:a="http://schemas.openxmlformats.org/drawingml/2006/main" noGrp="1"/>
          </p:cNvSpPr>
          <p:nvPr/>
        </p:nvSpPr>
        <p:spPr>
          <a:xfrm xmlns:a="http://schemas.openxmlformats.org/drawingml/2006/main">
            <a:off x="552450" y="4410075"/>
            <a:ext cx="476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4</a:t>
            </a:r>
          </a:p>
        </p:txBody>
      </p:sp>
      <p:sp>
        <p:nvSpPr>
          <p:cNvPr id="13" name="">
            <a:extLst xmlns:a="http://schemas.openxmlformats.org/drawingml/2006/main">
              <a:ext uri="{FF2B5EF4-FFF2-40B4-BE49-F238E27FC236}">
                <a16:creationId xmlns:a16="http://schemas.microsoft.com/office/drawing/2014/main" id="{9F085519-A9CD-4F1E-9D27-A1E32B680FE8}"/>
              </a:ext>
            </a:extLst>
          </p:cNvPr>
          <p:cNvSpPr>
            <a:spLocks xmlns:a="http://schemas.openxmlformats.org/drawingml/2006/main" noGrp="1"/>
          </p:cNvSpPr>
          <p:nvPr/>
        </p:nvSpPr>
        <p:spPr>
          <a:xfrm xmlns:a="http://schemas.openxmlformats.org/drawingml/2006/main">
            <a:off x="1257300" y="4410075"/>
            <a:ext cx="10191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生成の関係保持と、分類への効果は切り分けて検証する。</a:t>
            </a:r>
          </a:p>
        </p:txBody>
      </p:sp>
      <p:sp>
        <p:nvSpPr>
          <p:cNvPr id="14" name="">
            <a:extLst xmlns:a="http://schemas.openxmlformats.org/drawingml/2006/main">
              <a:ext uri="{FF2B5EF4-FFF2-40B4-BE49-F238E27FC236}">
                <a16:creationId xmlns:a16="http://schemas.microsoft.com/office/drawing/2014/main" id="{5344836F-F146-423F-8E16-0E37509795BE}"/>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12EFE8F-BD35-48BD-9FAC-CB6C11835B46}"/>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次は、何を保ち何を変えた拡張が学習に役立つかを検証する</a:t>
            </a:r>
          </a:p>
        </p:txBody>
      </p:sp>
    </p:spTree>
    <p:extLst>
      <p:ext uri="{BB962C8B-B14F-4D97-AF65-F5344CB8AC3E}">
        <p14:creationId xmlns:p14="http://schemas.microsoft.com/office/powerpoint/2010/main" val="1996351186"/>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88024EA-D799-4435-B96E-C8E48D2B4FA0}"/>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次の検証：何が良くなれば研究になるか</a:t>
            </a:r>
          </a:p>
        </p:txBody>
      </p:sp>
      <p:sp>
        <p:nvSpPr>
          <p:cNvPr id="2" name="">
            <a:extLst xmlns:a="http://schemas.openxmlformats.org/drawingml/2006/main">
              <a:ext uri="{FF2B5EF4-FFF2-40B4-BE49-F238E27FC236}">
                <a16:creationId xmlns:a16="http://schemas.microsoft.com/office/drawing/2014/main" id="{99676DE7-B46B-4914-BAD3-CEAECA629103}"/>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4A1292F6-BD1E-49CD-9126-DA5E67EED4EB}"/>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分類性能だけでなく、生成の妥当性と学習課題の強度を測る。</a:t>
            </a:r>
          </a:p>
        </p:txBody>
      </p:sp>
      <p:sp>
        <p:nvSpPr>
          <p:cNvPr id="4" name="">
            <a:extLst xmlns:a="http://schemas.openxmlformats.org/drawingml/2006/main">
              <a:ext uri="{FF2B5EF4-FFF2-40B4-BE49-F238E27FC236}">
                <a16:creationId xmlns:a16="http://schemas.microsoft.com/office/drawing/2014/main" id="{4100C0E2-1F44-4C37-894A-AC52908BBD56}"/>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今後の検証</a:t>
            </a:r>
          </a:p>
        </p:txBody>
      </p:sp>
      <p:sp>
        <p:nvSpPr>
          <p:cNvPr id="5" name="">
            <a:extLst xmlns:a="http://schemas.openxmlformats.org/drawingml/2006/main">
              <a:ext uri="{FF2B5EF4-FFF2-40B4-BE49-F238E27FC236}">
                <a16:creationId xmlns:a16="http://schemas.microsoft.com/office/drawing/2014/main" id="{9510450E-37B5-42B3-8DC6-8CF1CF9D01FF}"/>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41</a:t>
            </a:r>
          </a:p>
        </p:txBody>
      </p:sp>
      <p:sp>
        <p:nvSpPr>
          <p:cNvPr id="6" name="">
            <a:extLst xmlns:a="http://schemas.openxmlformats.org/drawingml/2006/main">
              <a:ext uri="{FF2B5EF4-FFF2-40B4-BE49-F238E27FC236}">
                <a16:creationId xmlns:a16="http://schemas.microsoft.com/office/drawing/2014/main" id="{2A811F71-0EA8-447D-BCCF-89FE735B2BD5}"/>
              </a:ext>
            </a:extLst>
          </p:cNvPr>
          <p:cNvSpPr>
            <a:spLocks xmlns:a="http://schemas.openxmlformats.org/drawingml/2006/main" noGrp="1"/>
          </p:cNvSpPr>
          <p:nvPr/>
        </p:nvSpPr>
        <p:spPr>
          <a:xfrm xmlns:a="http://schemas.openxmlformats.org/drawingml/2006/main">
            <a:off x="552450" y="1943100"/>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7" name="">
            <a:extLst xmlns:a="http://schemas.openxmlformats.org/drawingml/2006/main">
              <a:ext uri="{FF2B5EF4-FFF2-40B4-BE49-F238E27FC236}">
                <a16:creationId xmlns:a16="http://schemas.microsoft.com/office/drawing/2014/main" id="{59C43D64-27D9-4186-912F-E90C957F2E0B}"/>
              </a:ext>
            </a:extLst>
          </p:cNvPr>
          <p:cNvSpPr>
            <a:spLocks xmlns:a="http://schemas.openxmlformats.org/drawingml/2006/main" noGrp="1"/>
          </p:cNvSpPr>
          <p:nvPr/>
        </p:nvSpPr>
        <p:spPr>
          <a:xfrm xmlns:a="http://schemas.openxmlformats.org/drawingml/2006/main">
            <a:off x="1257300" y="1943100"/>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生成品質：不自然な組合せ・近傍距離・変更量を確認。</a:t>
            </a:r>
          </a:p>
        </p:txBody>
      </p:sp>
      <p:sp>
        <p:nvSpPr>
          <p:cNvPr id="8" name="">
            <a:extLst xmlns:a="http://schemas.openxmlformats.org/drawingml/2006/main">
              <a:ext uri="{FF2B5EF4-FFF2-40B4-BE49-F238E27FC236}">
                <a16:creationId xmlns:a16="http://schemas.microsoft.com/office/drawing/2014/main" id="{9A73AFF9-D323-47FA-B2A6-A060C2E4D968}"/>
              </a:ext>
            </a:extLst>
          </p:cNvPr>
          <p:cNvSpPr>
            <a:spLocks xmlns:a="http://schemas.openxmlformats.org/drawingml/2006/main" noGrp="1"/>
          </p:cNvSpPr>
          <p:nvPr/>
        </p:nvSpPr>
        <p:spPr>
          <a:xfrm xmlns:a="http://schemas.openxmlformats.org/drawingml/2006/main">
            <a:off x="552450" y="2764631"/>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9" name="">
            <a:extLst xmlns:a="http://schemas.openxmlformats.org/drawingml/2006/main">
              <a:ext uri="{FF2B5EF4-FFF2-40B4-BE49-F238E27FC236}">
                <a16:creationId xmlns:a16="http://schemas.microsoft.com/office/drawing/2014/main" id="{AC97C683-AA40-4CF6-99A6-6BF92C4D6127}"/>
              </a:ext>
            </a:extLst>
          </p:cNvPr>
          <p:cNvSpPr>
            <a:spLocks xmlns:a="http://schemas.openxmlformats.org/drawingml/2006/main" noGrp="1"/>
          </p:cNvSpPr>
          <p:nvPr/>
        </p:nvSpPr>
        <p:spPr>
          <a:xfrm xmlns:a="http://schemas.openxmlformats.org/drawingml/2006/main">
            <a:off x="1257300" y="2764631"/>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クラス保持：生成で意味が変わらないか、別途調べる。</a:t>
            </a:r>
          </a:p>
        </p:txBody>
      </p:sp>
      <p:sp>
        <p:nvSpPr>
          <p:cNvPr id="10" name="">
            <a:extLst xmlns:a="http://schemas.openxmlformats.org/drawingml/2006/main">
              <a:ext uri="{FF2B5EF4-FFF2-40B4-BE49-F238E27FC236}">
                <a16:creationId xmlns:a16="http://schemas.microsoft.com/office/drawing/2014/main" id="{32C89FF4-1023-4D68-AEA8-FFB4F23E7D1A}"/>
              </a:ext>
            </a:extLst>
          </p:cNvPr>
          <p:cNvSpPr>
            <a:spLocks xmlns:a="http://schemas.openxmlformats.org/drawingml/2006/main" noGrp="1"/>
          </p:cNvSpPr>
          <p:nvPr/>
        </p:nvSpPr>
        <p:spPr>
          <a:xfrm xmlns:a="http://schemas.openxmlformats.org/drawingml/2006/main">
            <a:off x="552450" y="3586163"/>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1" name="">
            <a:extLst xmlns:a="http://schemas.openxmlformats.org/drawingml/2006/main">
              <a:ext uri="{FF2B5EF4-FFF2-40B4-BE49-F238E27FC236}">
                <a16:creationId xmlns:a16="http://schemas.microsoft.com/office/drawing/2014/main" id="{12ED8B15-037E-48CE-A6E4-35C639AFE886}"/>
              </a:ext>
            </a:extLst>
          </p:cNvPr>
          <p:cNvSpPr>
            <a:spLocks xmlns:a="http://schemas.openxmlformats.org/drawingml/2006/main" noGrp="1"/>
          </p:cNvSpPr>
          <p:nvPr/>
        </p:nvSpPr>
        <p:spPr>
          <a:xfrm xmlns:a="http://schemas.openxmlformats.org/drawingml/2006/main">
            <a:off x="1257300" y="3586163"/>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分類評価：データとseedを増やし、差の不確実性を見る。</a:t>
            </a:r>
          </a:p>
        </p:txBody>
      </p:sp>
      <p:sp>
        <p:nvSpPr>
          <p:cNvPr id="12" name="">
            <a:extLst xmlns:a="http://schemas.openxmlformats.org/drawingml/2006/main">
              <a:ext uri="{FF2B5EF4-FFF2-40B4-BE49-F238E27FC236}">
                <a16:creationId xmlns:a16="http://schemas.microsoft.com/office/drawing/2014/main" id="{6EE9CFAD-4819-4031-8879-A14012A45990}"/>
              </a:ext>
            </a:extLst>
          </p:cNvPr>
          <p:cNvSpPr>
            <a:spLocks xmlns:a="http://schemas.openxmlformats.org/drawingml/2006/main" noGrp="1"/>
          </p:cNvSpPr>
          <p:nvPr/>
        </p:nvSpPr>
        <p:spPr>
          <a:xfrm xmlns:a="http://schemas.openxmlformats.org/drawingml/2006/main">
            <a:off x="552450" y="4407694"/>
            <a:ext cx="4762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4</a:t>
            </a:r>
          </a:p>
        </p:txBody>
      </p:sp>
      <p:sp>
        <p:nvSpPr>
          <p:cNvPr id="13" name="">
            <a:extLst xmlns:a="http://schemas.openxmlformats.org/drawingml/2006/main">
              <a:ext uri="{FF2B5EF4-FFF2-40B4-BE49-F238E27FC236}">
                <a16:creationId xmlns:a16="http://schemas.microsoft.com/office/drawing/2014/main" id="{66AD7CA4-36D8-429B-9901-805647A46A81}"/>
              </a:ext>
            </a:extLst>
          </p:cNvPr>
          <p:cNvSpPr>
            <a:spLocks xmlns:a="http://schemas.openxmlformats.org/drawingml/2006/main" noGrp="1"/>
          </p:cNvSpPr>
          <p:nvPr/>
        </p:nvSpPr>
        <p:spPr>
          <a:xfrm xmlns:a="http://schemas.openxmlformats.org/drawingml/2006/main">
            <a:off x="1257300" y="4407694"/>
            <a:ext cx="10191750" cy="7453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モデル仮定：Gaussianとt等を比較し、複雑化の効果を確認。</a:t>
            </a:r>
          </a:p>
        </p:txBody>
      </p:sp>
      <p:sp>
        <p:nvSpPr>
          <p:cNvPr id="14" name="">
            <a:extLst xmlns:a="http://schemas.openxmlformats.org/drawingml/2006/main">
              <a:ext uri="{FF2B5EF4-FFF2-40B4-BE49-F238E27FC236}">
                <a16:creationId xmlns:a16="http://schemas.microsoft.com/office/drawing/2014/main" id="{071A01F5-B07D-4302-8684-B67BB3E12066}"/>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DF20F85-EEC2-4BE2-80EB-7629DFA34F0C}"/>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依存を使う → 生成が変わる → 学習が改善する、の各段階を検証</a:t>
            </a:r>
          </a:p>
        </p:txBody>
      </p:sp>
    </p:spTree>
    <p:extLst>
      <p:ext uri="{BB962C8B-B14F-4D97-AF65-F5344CB8AC3E}">
        <p14:creationId xmlns:p14="http://schemas.microsoft.com/office/powerpoint/2010/main" val="256460788"/>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2482041-1903-4D1D-A667-E4B0E0ABFD03}"/>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今回の進捗のまとめ</a:t>
            </a:r>
          </a:p>
        </p:txBody>
      </p:sp>
      <p:sp>
        <p:nvSpPr>
          <p:cNvPr id="2" name="">
            <a:extLst xmlns:a="http://schemas.openxmlformats.org/drawingml/2006/main">
              <a:ext uri="{FF2B5EF4-FFF2-40B4-BE49-F238E27FC236}">
                <a16:creationId xmlns:a16="http://schemas.microsoft.com/office/drawing/2014/main" id="{2A2EAAAD-911B-43DC-B661-1DA64DF3310B}"/>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BA84BD9-F67E-4A4E-9C3A-21E1CD6D200A}"/>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「コピュラを使う予定」から、何を学びどう生成するかへ。</a:t>
            </a:r>
          </a:p>
        </p:txBody>
      </p:sp>
      <p:sp>
        <p:nvSpPr>
          <p:cNvPr id="4" name="">
            <a:extLst xmlns:a="http://schemas.openxmlformats.org/drawingml/2006/main">
              <a:ext uri="{FF2B5EF4-FFF2-40B4-BE49-F238E27FC236}">
                <a16:creationId xmlns:a16="http://schemas.microsoft.com/office/drawing/2014/main" id="{B9E23581-EAA0-45F2-9F23-7034C0F95F89}"/>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まとめ</a:t>
            </a:r>
          </a:p>
        </p:txBody>
      </p:sp>
      <p:sp>
        <p:nvSpPr>
          <p:cNvPr id="5" name="">
            <a:extLst xmlns:a="http://schemas.openxmlformats.org/drawingml/2006/main">
              <a:ext uri="{FF2B5EF4-FFF2-40B4-BE49-F238E27FC236}">
                <a16:creationId xmlns:a16="http://schemas.microsoft.com/office/drawing/2014/main" id="{DE098D5A-E37C-463E-A1DC-26D045F17AAF}"/>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42</a:t>
            </a:r>
          </a:p>
        </p:txBody>
      </p:sp>
      <p:sp>
        <p:nvSpPr>
          <p:cNvPr id="6" name="">
            <a:extLst xmlns:a="http://schemas.openxmlformats.org/drawingml/2006/main">
              <a:ext uri="{FF2B5EF4-FFF2-40B4-BE49-F238E27FC236}">
                <a16:creationId xmlns:a16="http://schemas.microsoft.com/office/drawing/2014/main" id="{4F0F2AD5-D486-41F4-BDDE-5A94BA0D56D3}"/>
              </a:ext>
            </a:extLst>
          </p:cNvPr>
          <p:cNvSpPr>
            <a:spLocks xmlns:a="http://schemas.openxmlformats.org/drawingml/2006/main" noGrp="1"/>
          </p:cNvSpPr>
          <p:nvPr/>
        </p:nvSpPr>
        <p:spPr>
          <a:xfrm xmlns:a="http://schemas.openxmlformats.org/drawingml/2006/main">
            <a:off x="552450" y="1952625"/>
            <a:ext cx="476250" cy="7477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7" name="">
            <a:extLst xmlns:a="http://schemas.openxmlformats.org/drawingml/2006/main">
              <a:ext uri="{FF2B5EF4-FFF2-40B4-BE49-F238E27FC236}">
                <a16:creationId xmlns:a16="http://schemas.microsoft.com/office/drawing/2014/main" id="{79356AFF-87D6-405F-891E-FE89026737D9}"/>
              </a:ext>
            </a:extLst>
          </p:cNvPr>
          <p:cNvSpPr>
            <a:spLocks xmlns:a="http://schemas.openxmlformats.org/drawingml/2006/main" noGrp="1"/>
          </p:cNvSpPr>
          <p:nvPr/>
        </p:nvSpPr>
        <p:spPr>
          <a:xfrm xmlns:a="http://schemas.openxmlformats.org/drawingml/2006/main">
            <a:off x="1257300" y="1952625"/>
            <a:ext cx="10191750" cy="7477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0">
                <a:solidFill>
                  <a:srgbClr val="222222"/>
                </a:solidFill>
                <a:latin typeface="Noto Sans JP"/>
                <a:ea typeface="Noto Sans JP"/>
                <a:cs typeface="Noto Sans JP"/>
              </a:defRPr>
            </a:pPr>
            <a:r>
              <a:rPr sz="2175" b="0">
                <a:solidFill>
                  <a:srgbClr val="222222"/>
                </a:solidFill>
                <a:latin typeface="Noto Sans JP"/>
                <a:ea typeface="Noto Sans JP"/>
                <a:cs typeface="Noto Sans JP"/>
              </a:rPr>
              <a:t>コピュラ：各列の分布と、位置の依存を分けて表す。</a:t>
            </a:r>
          </a:p>
        </p:txBody>
      </p:sp>
      <p:sp>
        <p:nvSpPr>
          <p:cNvPr id="8" name="">
            <a:extLst xmlns:a="http://schemas.openxmlformats.org/drawingml/2006/main">
              <a:ext uri="{FF2B5EF4-FFF2-40B4-BE49-F238E27FC236}">
                <a16:creationId xmlns:a16="http://schemas.microsoft.com/office/drawing/2014/main" id="{D1CF2446-D54E-42B0-9665-78BB13BBA4EE}"/>
              </a:ext>
            </a:extLst>
          </p:cNvPr>
          <p:cNvSpPr>
            <a:spLocks xmlns:a="http://schemas.openxmlformats.org/drawingml/2006/main" noGrp="1"/>
          </p:cNvSpPr>
          <p:nvPr/>
        </p:nvSpPr>
        <p:spPr>
          <a:xfrm xmlns:a="http://schemas.openxmlformats.org/drawingml/2006/main">
            <a:off x="552450" y="2776538"/>
            <a:ext cx="476250" cy="7477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9" name="">
            <a:extLst xmlns:a="http://schemas.openxmlformats.org/drawingml/2006/main">
              <a:ext uri="{FF2B5EF4-FFF2-40B4-BE49-F238E27FC236}">
                <a16:creationId xmlns:a16="http://schemas.microsoft.com/office/drawing/2014/main" id="{599C2FD9-8E40-474B-B1D1-BB7CAD0F4C8F}"/>
              </a:ext>
            </a:extLst>
          </p:cNvPr>
          <p:cNvSpPr>
            <a:spLocks xmlns:a="http://schemas.openxmlformats.org/drawingml/2006/main" noGrp="1"/>
          </p:cNvSpPr>
          <p:nvPr/>
        </p:nvSpPr>
        <p:spPr>
          <a:xfrm xmlns:a="http://schemas.openxmlformats.org/drawingml/2006/main">
            <a:off x="1257300" y="2776538"/>
            <a:ext cx="10191750" cy="7477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0">
                <a:solidFill>
                  <a:srgbClr val="222222"/>
                </a:solidFill>
                <a:latin typeface="Noto Sans JP"/>
                <a:ea typeface="Noto Sans JP"/>
                <a:cs typeface="Noto Sans JP"/>
              </a:defRPr>
            </a:pPr>
            <a:r>
              <a:rPr sz="2175" b="0">
                <a:solidFill>
                  <a:srgbClr val="222222"/>
                </a:solidFill>
                <a:latin typeface="Noto Sans JP"/>
                <a:ea typeface="Noto Sans JP"/>
                <a:cs typeface="Noto Sans JP"/>
              </a:rPr>
              <a:t>Gaussian：位置を潜在正規へ変換し、相関Rを推定。</a:t>
            </a:r>
          </a:p>
        </p:txBody>
      </p:sp>
      <p:sp>
        <p:nvSpPr>
          <p:cNvPr id="10" name="">
            <a:extLst xmlns:a="http://schemas.openxmlformats.org/drawingml/2006/main">
              <a:ext uri="{FF2B5EF4-FFF2-40B4-BE49-F238E27FC236}">
                <a16:creationId xmlns:a16="http://schemas.microsoft.com/office/drawing/2014/main" id="{D1129841-4C80-46A6-BB7E-18F5B1964119}"/>
              </a:ext>
            </a:extLst>
          </p:cNvPr>
          <p:cNvSpPr>
            <a:spLocks xmlns:a="http://schemas.openxmlformats.org/drawingml/2006/main" noGrp="1"/>
          </p:cNvSpPr>
          <p:nvPr/>
        </p:nvSpPr>
        <p:spPr>
          <a:xfrm xmlns:a="http://schemas.openxmlformats.org/drawingml/2006/main">
            <a:off x="552450" y="3600450"/>
            <a:ext cx="476250" cy="7477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1" name="">
            <a:extLst xmlns:a="http://schemas.openxmlformats.org/drawingml/2006/main">
              <a:ext uri="{FF2B5EF4-FFF2-40B4-BE49-F238E27FC236}">
                <a16:creationId xmlns:a16="http://schemas.microsoft.com/office/drawing/2014/main" id="{B2E381EE-851D-4C89-828D-27353C28DC2F}"/>
              </a:ext>
            </a:extLst>
          </p:cNvPr>
          <p:cNvSpPr>
            <a:spLocks xmlns:a="http://schemas.openxmlformats.org/drawingml/2006/main" noGrp="1"/>
          </p:cNvSpPr>
          <p:nvPr/>
        </p:nvSpPr>
        <p:spPr>
          <a:xfrm xmlns:a="http://schemas.openxmlformats.org/drawingml/2006/main">
            <a:off x="1257300" y="3600450"/>
            <a:ext cx="10191750" cy="7477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0">
                <a:solidFill>
                  <a:srgbClr val="222222"/>
                </a:solidFill>
                <a:latin typeface="Noto Sans JP"/>
                <a:ea typeface="Noto Sans JP"/>
                <a:cs typeface="Noto Sans JP"/>
              </a:defRPr>
            </a:pPr>
            <a:r>
              <a:rPr sz="2175" b="0">
                <a:solidFill>
                  <a:srgbClr val="222222"/>
                </a:solidFill>
                <a:latin typeface="Noto Sans JP"/>
                <a:ea typeface="Noto Sans JP"/>
                <a:cs typeface="Noto Sans JP"/>
              </a:rPr>
              <a:t>拡張：残した列を条件に、マスク列を同時に生成。</a:t>
            </a:r>
          </a:p>
        </p:txBody>
      </p:sp>
      <p:sp>
        <p:nvSpPr>
          <p:cNvPr id="12" name="">
            <a:extLst xmlns:a="http://schemas.openxmlformats.org/drawingml/2006/main">
              <a:ext uri="{FF2B5EF4-FFF2-40B4-BE49-F238E27FC236}">
                <a16:creationId xmlns:a16="http://schemas.microsoft.com/office/drawing/2014/main" id="{823ECD8E-55AC-4448-8A11-9E3FE3A32323}"/>
              </a:ext>
            </a:extLst>
          </p:cNvPr>
          <p:cNvSpPr>
            <a:spLocks xmlns:a="http://schemas.openxmlformats.org/drawingml/2006/main" noGrp="1"/>
          </p:cNvSpPr>
          <p:nvPr/>
        </p:nvSpPr>
        <p:spPr>
          <a:xfrm xmlns:a="http://schemas.openxmlformats.org/drawingml/2006/main">
            <a:off x="552450" y="4424363"/>
            <a:ext cx="476250" cy="7477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4</a:t>
            </a:r>
          </a:p>
        </p:txBody>
      </p:sp>
      <p:sp>
        <p:nvSpPr>
          <p:cNvPr id="13" name="">
            <a:extLst xmlns:a="http://schemas.openxmlformats.org/drawingml/2006/main">
              <a:ext uri="{FF2B5EF4-FFF2-40B4-BE49-F238E27FC236}">
                <a16:creationId xmlns:a16="http://schemas.microsoft.com/office/drawing/2014/main" id="{F807F4DE-2EA5-4DDC-855A-D28B417E7E36}"/>
              </a:ext>
            </a:extLst>
          </p:cNvPr>
          <p:cNvSpPr>
            <a:spLocks xmlns:a="http://schemas.openxmlformats.org/drawingml/2006/main" noGrp="1"/>
          </p:cNvSpPr>
          <p:nvPr/>
        </p:nvSpPr>
        <p:spPr>
          <a:xfrm xmlns:a="http://schemas.openxmlformats.org/drawingml/2006/main">
            <a:off x="1257300" y="4424363"/>
            <a:ext cx="10191750" cy="7477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0">
                <a:solidFill>
                  <a:srgbClr val="222222"/>
                </a:solidFill>
                <a:latin typeface="Noto Sans JP"/>
                <a:ea typeface="Noto Sans JP"/>
                <a:cs typeface="Noto Sans JP"/>
              </a:defRPr>
            </a:pPr>
            <a:r>
              <a:rPr sz="2175" b="0">
                <a:solidFill>
                  <a:srgbClr val="222222"/>
                </a:solidFill>
                <a:latin typeface="Noto Sans JP"/>
                <a:ea typeface="Noto Sans JP"/>
                <a:cs typeface="Noto Sans JP"/>
              </a:rPr>
              <a:t>未検証：ラベル保持と、分類性能への継続的な効果。</a:t>
            </a:r>
          </a:p>
        </p:txBody>
      </p:sp>
      <p:sp>
        <p:nvSpPr>
          <p:cNvPr id="14" name="">
            <a:extLst xmlns:a="http://schemas.openxmlformats.org/drawingml/2006/main">
              <a:ext uri="{FF2B5EF4-FFF2-40B4-BE49-F238E27FC236}">
                <a16:creationId xmlns:a16="http://schemas.microsoft.com/office/drawing/2014/main" id="{9B798374-B46F-4C0B-B3A6-CC00BBF7F141}"/>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261E3CD-6A2A-45B4-ADE9-756E75D6E289}"/>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提案の中心：VIMEの置換を、依存に基づく条件付き生成へ</a:t>
            </a:r>
          </a:p>
        </p:txBody>
      </p:sp>
    </p:spTree>
    <p:extLst>
      <p:ext uri="{BB962C8B-B14F-4D97-AF65-F5344CB8AC3E}">
        <p14:creationId xmlns:p14="http://schemas.microsoft.com/office/powerpoint/2010/main" val="198583012"/>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57F9129-8168-4D4C-8885-88D04095525B}"/>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保存済み結果：優位性はまだ判断できない</a:t>
            </a:r>
          </a:p>
        </p:txBody>
      </p:sp>
      <p:sp>
        <p:nvSpPr>
          <p:cNvPr id="2" name="">
            <a:extLst xmlns:a="http://schemas.openxmlformats.org/drawingml/2006/main">
              <a:ext uri="{FF2B5EF4-FFF2-40B4-BE49-F238E27FC236}">
                <a16:creationId xmlns:a16="http://schemas.microsoft.com/office/drawing/2014/main" id="{C85D8A7E-1ADF-4726-87FF-929836DF33FE}"/>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A20E2DBA-28C0-4498-8ECC-8A1806E644E4}"/>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主指標ROC-AUC。5回の平均 ± 標準偏差。</a:t>
            </a:r>
          </a:p>
        </p:txBody>
      </p:sp>
      <p:sp>
        <p:nvSpPr>
          <p:cNvPr id="4" name="">
            <a:extLst xmlns:a="http://schemas.openxmlformats.org/drawingml/2006/main">
              <a:ext uri="{FF2B5EF4-FFF2-40B4-BE49-F238E27FC236}">
                <a16:creationId xmlns:a16="http://schemas.microsoft.com/office/drawing/2014/main" id="{EB8C9FC5-D6B1-4F56-A299-DEC4B94D081F}"/>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実装と検証</a:t>
            </a:r>
          </a:p>
        </p:txBody>
      </p:sp>
      <p:sp>
        <p:nvSpPr>
          <p:cNvPr id="5" name="">
            <a:extLst xmlns:a="http://schemas.openxmlformats.org/drawingml/2006/main">
              <a:ext uri="{FF2B5EF4-FFF2-40B4-BE49-F238E27FC236}">
                <a16:creationId xmlns:a16="http://schemas.microsoft.com/office/drawing/2014/main" id="{62CEEBEF-EDA3-4848-BD02-46B688EAFB72}"/>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43</a:t>
            </a:r>
          </a:p>
        </p:txBody>
      </p:sp>
      <p:graphicFrame>
        <p:nvGraphicFramePr>
          <p:cNvPr id="15" name=""/>
          <p:cNvGraphicFramePr/>
          <p:nvPr/>
        </p:nvGraphicFramePr>
        <p:xfrm>
          <a:off xmlns:a="http://schemas.openxmlformats.org/drawingml/2006/main" x="514350" y="2076450"/>
          <a:ext xmlns:a="http://schemas.openxmlformats.org/drawingml/2006/main" cx="11163300" cy="2390775"/>
        </p:xfrm>
        <a:graphic xmlns:a="http://schemas.openxmlformats.org/drawingml/2006/main">
          <a:graphicData uri="http://schemas.openxmlformats.org/drawingml/2006/table">
            <a:tbl>
              <a:tblPr/>
              <a:tblGrid>
                <a:gridCol w="2790825"/>
                <a:gridCol w="2790825"/>
                <a:gridCol w="2790825"/>
                <a:gridCol w="2790825"/>
              </a:tblGrid>
              <a:tr h="796925">
                <a:tc>
                  <a:txBody>
                    <a:bodyPr/>
                    <a:lstStyle/>
                    <a:p>
                      <a:pPr algn="ctr"/>
                      <a:r>
                        <a:rPr sz="2025" b="1">
                          <a:solidFill>
                            <a:srgbClr val="2E7D5B"/>
                          </a:solidFill>
                          <a:latin typeface="Noto Sans JP"/>
                          <a:ea typeface="Noto Sans JP"/>
                          <a:cs typeface="Noto Sans JP"/>
                        </a:rPr>
                        <a:t>データ</a:t>
                      </a:r>
                    </a:p>
                  </a:txBody>
                  <a:tcPr marL="91440" marR="91440" marT="45720" marB="45720" anchor="ctr">
                    <a:solidFill>
                      <a:srgbClr val="E7F2EC"/>
                    </a:solidFill>
                  </a:tcPr>
                </a:tc>
                <a:tc>
                  <a:txBody>
                    <a:bodyPr/>
                    <a:lstStyle/>
                    <a:p>
                      <a:pPr algn="ctr"/>
                      <a:r>
                        <a:rPr sz="2025" b="1">
                          <a:solidFill>
                            <a:srgbClr val="2E7D5B"/>
                          </a:solidFill>
                          <a:latin typeface="Noto Sans JP"/>
                          <a:ea typeface="Noto Sans JP"/>
                          <a:cs typeface="Noto Sans JP"/>
                        </a:rPr>
                        <a:t>VIME：列置換</a:t>
                      </a:r>
                    </a:p>
                  </a:txBody>
                  <a:tcPr marL="91440" marR="91440" marT="45720" marB="45720" anchor="ctr">
                    <a:solidFill>
                      <a:srgbClr val="E7F2EC"/>
                    </a:solidFill>
                  </a:tcPr>
                </a:tc>
                <a:tc>
                  <a:txBody>
                    <a:bodyPr/>
                    <a:lstStyle/>
                    <a:p>
                      <a:pPr algn="ctr"/>
                      <a:r>
                        <a:rPr sz="2025" b="1">
                          <a:solidFill>
                            <a:srgbClr val="2E7D5B"/>
                          </a:solidFill>
                          <a:latin typeface="Noto Sans JP"/>
                          <a:ea typeface="Noto Sans JP"/>
                          <a:cs typeface="Noto Sans JP"/>
                        </a:rPr>
                        <a:t>VIME：Gaussian copula</a:t>
                      </a:r>
                    </a:p>
                  </a:txBody>
                  <a:tcPr marL="91440" marR="91440" marT="45720" marB="45720" anchor="ctr">
                    <a:solidFill>
                      <a:srgbClr val="E7F2EC"/>
                    </a:solidFill>
                  </a:tcPr>
                </a:tc>
                <a:tc>
                  <a:txBody>
                    <a:bodyPr/>
                    <a:lstStyle/>
                    <a:p>
                      <a:pPr algn="ctr"/>
                      <a:r>
                        <a:rPr sz="2025" b="1">
                          <a:solidFill>
                            <a:srgbClr val="2E7D5B"/>
                          </a:solidFill>
                          <a:latin typeface="Noto Sans JP"/>
                          <a:ea typeface="Noto Sans JP"/>
                          <a:cs typeface="Noto Sans JP"/>
                        </a:rPr>
                        <a:t>差の95% CI</a:t>
                      </a:r>
                    </a:p>
                  </a:txBody>
                  <a:tcPr marL="91440" marR="91440" marT="45720" marB="45720" anchor="ctr">
                    <a:solidFill>
                      <a:srgbClr val="E7F2EC"/>
                    </a:solidFill>
                  </a:tcPr>
                </a:tc>
              </a:tr>
              <a:tr h="796925">
                <a:tc>
                  <a:txBody>
                    <a:bodyPr/>
                    <a:lstStyle/>
                    <a:p>
                      <a:pPr algn="ctr"/>
                      <a:r>
                        <a:rPr sz="2025" b="0">
                          <a:solidFill>
                            <a:srgbClr val="222222"/>
                          </a:solidFill>
                          <a:latin typeface="Noto Sans JP"/>
                          <a:ea typeface="Noto Sans JP"/>
                          <a:cs typeface="Noto Sans JP"/>
                        </a:rPr>
                        <a:t>Breast Cancer</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0.970 ± 0.012</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0.973 ± 0.017</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[−0.005, +0.011]</a:t>
                      </a:r>
                    </a:p>
                  </a:txBody>
                  <a:tcPr marL="91440" marR="91440" marT="45720" marB="45720" anchor="ctr">
                    <a:solidFill>
                      <a:srgbClr val="FFFFFF"/>
                    </a:solidFill>
                  </a:tcPr>
                </a:tc>
              </a:tr>
              <a:tr h="796925">
                <a:tc>
                  <a:txBody>
                    <a:bodyPr/>
                    <a:lstStyle/>
                    <a:p>
                      <a:pPr algn="ctr"/>
                      <a:r>
                        <a:rPr sz="2025" b="0">
                          <a:solidFill>
                            <a:srgbClr val="222222"/>
                          </a:solidFill>
                          <a:latin typeface="Noto Sans JP"/>
                          <a:ea typeface="Noto Sans JP"/>
                          <a:cs typeface="Noto Sans JP"/>
                        </a:rPr>
                        <a:t>Wine</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0.826 ± 0.068</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0.847 ± 0.130</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[−0.079, +0.109]</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F74911EC-7356-4F7A-BB01-303220DAEA87}"/>
              </a:ext>
            </a:extLst>
          </p:cNvPr>
          <p:cNvSpPr>
            <a:spLocks xmlns:a="http://schemas.openxmlformats.org/drawingml/2006/main" noGrp="1"/>
          </p:cNvSpPr>
          <p:nvPr/>
        </p:nvSpPr>
        <p:spPr>
          <a:xfrm xmlns:a="http://schemas.openxmlformats.org/drawingml/2006/main">
            <a:off x="619125" y="4705350"/>
            <a:ext cx="10953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E0562B"/>
                </a:solidFill>
                <a:latin typeface="Noto Sans JP"/>
                <a:ea typeface="Noto Sans JP"/>
                <a:cs typeface="Noto Sans JP"/>
              </a:defRPr>
            </a:pPr>
            <a:r>
              <a:rPr sz="2100" b="1">
                <a:solidFill>
                  <a:srgbClr val="E0562B"/>
                </a:solidFill>
                <a:latin typeface="Noto Sans JP"/>
                <a:ea typeface="Noto Sans JP"/>
                <a:cs typeface="Noto Sans JP"/>
              </a:rPr>
              <a:t>平均差は +0.003 / +0.021。ただし、両方の区間が0を含む。</a:t>
            </a:r>
          </a:p>
        </p:txBody>
      </p:sp>
      <p:sp>
        <p:nvSpPr>
          <p:cNvPr id="8" name="">
            <a:extLst xmlns:a="http://schemas.openxmlformats.org/drawingml/2006/main">
              <a:ext uri="{FF2B5EF4-FFF2-40B4-BE49-F238E27FC236}">
                <a16:creationId xmlns:a16="http://schemas.microsoft.com/office/drawing/2014/main" id="{4468E3E0-A06F-405B-B636-D4E976165ACB}"/>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1EE07FB-D0F7-4E55-A8A5-D0E19D387A1C}"/>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実装と比較の入口はできた。性能改善という結論には、検証が不足</a:t>
            </a:r>
          </a:p>
        </p:txBody>
      </p:sp>
    </p:spTree>
    <p:extLst>
      <p:ext uri="{BB962C8B-B14F-4D97-AF65-F5344CB8AC3E}">
        <p14:creationId xmlns:p14="http://schemas.microsoft.com/office/powerpoint/2010/main" val="1235706521"/>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099ABBA-2860-4598-869C-F8363425233B}"/>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補足：コピュラの数学的条件</a:t>
            </a:r>
          </a:p>
        </p:txBody>
      </p:sp>
      <p:sp>
        <p:nvSpPr>
          <p:cNvPr id="2" name="">
            <a:extLst xmlns:a="http://schemas.openxmlformats.org/drawingml/2006/main">
              <a:ext uri="{FF2B5EF4-FFF2-40B4-BE49-F238E27FC236}">
                <a16:creationId xmlns:a16="http://schemas.microsoft.com/office/drawing/2014/main" id="{EAC57E76-AA16-4C52-94C0-121294799A39}"/>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56B40569-4A97-4114-A14E-B86A4E3BC364}"/>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確率分布として成立するための条件を、2変量で書く。</a:t>
            </a:r>
          </a:p>
        </p:txBody>
      </p:sp>
      <p:sp>
        <p:nvSpPr>
          <p:cNvPr id="4" name="">
            <a:extLst xmlns:a="http://schemas.openxmlformats.org/drawingml/2006/main">
              <a:ext uri="{FF2B5EF4-FFF2-40B4-BE49-F238E27FC236}">
                <a16:creationId xmlns:a16="http://schemas.microsoft.com/office/drawing/2014/main" id="{D08A95AB-E228-4559-9A2B-E90447725425}"/>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補足・数学</a:t>
            </a:r>
          </a:p>
        </p:txBody>
      </p:sp>
      <p:sp>
        <p:nvSpPr>
          <p:cNvPr id="5" name="">
            <a:extLst xmlns:a="http://schemas.openxmlformats.org/drawingml/2006/main">
              <a:ext uri="{FF2B5EF4-FFF2-40B4-BE49-F238E27FC236}">
                <a16:creationId xmlns:a16="http://schemas.microsoft.com/office/drawing/2014/main" id="{B8698838-309A-48F8-A455-B9B7A92B0F86}"/>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44</a:t>
            </a:r>
          </a:p>
        </p:txBody>
      </p:sp>
      <p:sp>
        <p:nvSpPr>
          <p:cNvPr id="6" name="">
            <a:extLst xmlns:a="http://schemas.openxmlformats.org/drawingml/2006/main">
              <a:ext uri="{FF2B5EF4-FFF2-40B4-BE49-F238E27FC236}">
                <a16:creationId xmlns:a16="http://schemas.microsoft.com/office/drawing/2014/main" id="{11047842-A6CF-4E7F-8A22-897FCB788462}"/>
              </a:ext>
            </a:extLst>
          </p:cNvPr>
          <p:cNvSpPr>
            <a:spLocks xmlns:a="http://schemas.openxmlformats.org/drawingml/2006/main" noGrp="1"/>
          </p:cNvSpPr>
          <p:nvPr/>
        </p:nvSpPr>
        <p:spPr>
          <a:xfrm xmlns:a="http://schemas.openxmlformats.org/drawingml/2006/main">
            <a:off x="514350" y="19621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883E84B-C99D-4AA7-B2CB-F002E5F2536E}"/>
              </a:ext>
            </a:extLst>
          </p:cNvPr>
          <p:cNvSpPr>
            <a:spLocks xmlns:a="http://schemas.openxmlformats.org/drawingml/2006/main" noGrp="1"/>
          </p:cNvSpPr>
          <p:nvPr/>
        </p:nvSpPr>
        <p:spPr>
          <a:xfrm xmlns:a="http://schemas.openxmlformats.org/drawingml/2006/main">
            <a:off x="704850" y="20574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400" b="1">
                <a:solidFill>
                  <a:srgbClr val="2B6777"/>
                </a:solidFill>
                <a:latin typeface="Noto Sans JP"/>
                <a:ea typeface="Noto Sans JP"/>
                <a:cs typeface="Noto Sans JP"/>
              </a:defRPr>
            </a:pPr>
            <a:r>
              <a:rPr sz="2400" b="1">
                <a:solidFill>
                  <a:srgbClr val="2B6777"/>
                </a:solidFill>
                <a:latin typeface="Noto Sans JP"/>
                <a:ea typeface="Noto Sans JP"/>
                <a:cs typeface="Noto Sans JP"/>
              </a:rPr>
              <a:t>C(u, 0) = C(0, v) = 0 ;  C(u, 1) = u ;  C(1, v) = v</a:t>
            </a:r>
          </a:p>
        </p:txBody>
      </p:sp>
      <p:sp>
        <p:nvSpPr>
          <p:cNvPr id="8" name="">
            <a:extLst xmlns:a="http://schemas.openxmlformats.org/drawingml/2006/main">
              <a:ext uri="{FF2B5EF4-FFF2-40B4-BE49-F238E27FC236}">
                <a16:creationId xmlns:a16="http://schemas.microsoft.com/office/drawing/2014/main" id="{DBD2C976-6BA7-4476-8B57-CDFB999D7BD2}"/>
              </a:ext>
            </a:extLst>
          </p:cNvPr>
          <p:cNvSpPr>
            <a:spLocks xmlns:a="http://schemas.openxmlformats.org/drawingml/2006/main" noGrp="1"/>
          </p:cNvSpPr>
          <p:nvPr/>
        </p:nvSpPr>
        <p:spPr>
          <a:xfrm xmlns:a="http://schemas.openxmlformats.org/drawingml/2006/main">
            <a:off x="628650" y="3467100"/>
            <a:ext cx="10896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0">
                <a:solidFill>
                  <a:srgbClr val="222222"/>
                </a:solidFill>
                <a:latin typeface="Noto Sans JP"/>
                <a:ea typeface="Noto Sans JP"/>
                <a:cs typeface="Noto Sans JP"/>
              </a:defRPr>
            </a:pPr>
            <a:r>
              <a:rPr sz="2100" b="0">
                <a:solidFill>
                  <a:srgbClr val="222222"/>
                </a:solidFill>
                <a:latin typeface="Noto Sans JP"/>
                <a:ea typeface="Noto Sans JP"/>
                <a:cs typeface="Noto Sans JP"/>
              </a:rPr>
              <a:t>任意の u₁ ≤ u₂, v₁ ≤ v₂ に対し、</a:t>
            </a:r>
          </a:p>
        </p:txBody>
      </p:sp>
      <p:sp>
        <p:nvSpPr>
          <p:cNvPr id="9" name="">
            <a:extLst xmlns:a="http://schemas.openxmlformats.org/drawingml/2006/main">
              <a:ext uri="{FF2B5EF4-FFF2-40B4-BE49-F238E27FC236}">
                <a16:creationId xmlns:a16="http://schemas.microsoft.com/office/drawing/2014/main" id="{3877E287-16E5-469B-8326-061F2D216AC1}"/>
              </a:ext>
            </a:extLst>
          </p:cNvPr>
          <p:cNvSpPr>
            <a:spLocks xmlns:a="http://schemas.openxmlformats.org/drawingml/2006/main" noGrp="1"/>
          </p:cNvSpPr>
          <p:nvPr/>
        </p:nvSpPr>
        <p:spPr>
          <a:xfrm xmlns:a="http://schemas.openxmlformats.org/drawingml/2006/main">
            <a:off x="514350" y="395287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112DC953-B431-43AA-90AA-030960374695}"/>
              </a:ext>
            </a:extLst>
          </p:cNvPr>
          <p:cNvSpPr>
            <a:spLocks xmlns:a="http://schemas.openxmlformats.org/drawingml/2006/main" noGrp="1"/>
          </p:cNvSpPr>
          <p:nvPr/>
        </p:nvSpPr>
        <p:spPr>
          <a:xfrm xmlns:a="http://schemas.openxmlformats.org/drawingml/2006/main">
            <a:off x="704850" y="404812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325" b="1">
                <a:solidFill>
                  <a:srgbClr val="2B6777"/>
                </a:solidFill>
                <a:latin typeface="Noto Sans JP"/>
                <a:ea typeface="Noto Sans JP"/>
                <a:cs typeface="Noto Sans JP"/>
              </a:defRPr>
            </a:pPr>
            <a:r>
              <a:rPr sz="2325" b="1">
                <a:solidFill>
                  <a:srgbClr val="2B6777"/>
                </a:solidFill>
                <a:latin typeface="Noto Sans JP"/>
                <a:ea typeface="Noto Sans JP"/>
                <a:cs typeface="Noto Sans JP"/>
              </a:rPr>
              <a:t>C(u₂,v₂) − C(u₁,v₂) − C(u₂,v₁) + C(u₁,v₁) ≥ 0</a:t>
            </a:r>
          </a:p>
        </p:txBody>
      </p:sp>
      <p:sp>
        <p:nvSpPr>
          <p:cNvPr id="11" name="">
            <a:extLst xmlns:a="http://schemas.openxmlformats.org/drawingml/2006/main">
              <a:ext uri="{FF2B5EF4-FFF2-40B4-BE49-F238E27FC236}">
                <a16:creationId xmlns:a16="http://schemas.microsoft.com/office/drawing/2014/main" id="{727908F7-0BBB-4C5D-AA63-1A6EA591B60A}"/>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BD01460-9031-45AF-A9C2-B6D06926452D}"/>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左辺は、長方形 (u₁,u₂] × (v₁,v₂] に入る確率</a:t>
            </a:r>
          </a:p>
        </p:txBody>
      </p:sp>
    </p:spTree>
    <p:extLst>
      <p:ext uri="{BB962C8B-B14F-4D97-AF65-F5344CB8AC3E}">
        <p14:creationId xmlns:p14="http://schemas.microsoft.com/office/powerpoint/2010/main" val="582705857"/>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A8AD3D7-631A-4899-A10E-FAB50203CD88}"/>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補足：一様になる理由と例外</a:t>
            </a:r>
          </a:p>
        </p:txBody>
      </p:sp>
      <p:sp>
        <p:nvSpPr>
          <p:cNvPr id="2" name="">
            <a:extLst xmlns:a="http://schemas.openxmlformats.org/drawingml/2006/main">
              <a:ext uri="{FF2B5EF4-FFF2-40B4-BE49-F238E27FC236}">
                <a16:creationId xmlns:a16="http://schemas.microsoft.com/office/drawing/2014/main" id="{D2686AB7-C770-4D3D-94E0-0031C1E3BA49}"/>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6A2DAF5F-324F-44E8-91D4-65FC330940E6}"/>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連続な累積分布を使う確率積分変換。</a:t>
            </a:r>
          </a:p>
        </p:txBody>
      </p:sp>
      <p:sp>
        <p:nvSpPr>
          <p:cNvPr id="4" name="">
            <a:extLst xmlns:a="http://schemas.openxmlformats.org/drawingml/2006/main">
              <a:ext uri="{FF2B5EF4-FFF2-40B4-BE49-F238E27FC236}">
                <a16:creationId xmlns:a16="http://schemas.microsoft.com/office/drawing/2014/main" id="{DF5CBB71-AA76-4316-B926-5C264BFA4AC3}"/>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補足・数学</a:t>
            </a:r>
          </a:p>
        </p:txBody>
      </p:sp>
      <p:sp>
        <p:nvSpPr>
          <p:cNvPr id="5" name="">
            <a:extLst xmlns:a="http://schemas.openxmlformats.org/drawingml/2006/main">
              <a:ext uri="{FF2B5EF4-FFF2-40B4-BE49-F238E27FC236}">
                <a16:creationId xmlns:a16="http://schemas.microsoft.com/office/drawing/2014/main" id="{47DD8412-50F8-4D9F-BC36-A3B0964783F8}"/>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45</a:t>
            </a:r>
          </a:p>
        </p:txBody>
      </p:sp>
      <p:sp>
        <p:nvSpPr>
          <p:cNvPr id="6" name="">
            <a:extLst xmlns:a="http://schemas.openxmlformats.org/drawingml/2006/main">
              <a:ext uri="{FF2B5EF4-FFF2-40B4-BE49-F238E27FC236}">
                <a16:creationId xmlns:a16="http://schemas.microsoft.com/office/drawing/2014/main" id="{3C237C9B-C06E-4167-BC70-F43B5A212780}"/>
              </a:ext>
            </a:extLst>
          </p:cNvPr>
          <p:cNvSpPr>
            <a:spLocks xmlns:a="http://schemas.openxmlformats.org/drawingml/2006/main" noGrp="1"/>
          </p:cNvSpPr>
          <p:nvPr/>
        </p:nvSpPr>
        <p:spPr>
          <a:xfrm xmlns:a="http://schemas.openxmlformats.org/drawingml/2006/main">
            <a:off x="514350" y="195262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9B2A093-9B69-408D-80A6-1E470401F176}"/>
              </a:ext>
            </a:extLst>
          </p:cNvPr>
          <p:cNvSpPr>
            <a:spLocks xmlns:a="http://schemas.openxmlformats.org/drawingml/2006/main" noGrp="1"/>
          </p:cNvSpPr>
          <p:nvPr/>
        </p:nvSpPr>
        <p:spPr>
          <a:xfrm xmlns:a="http://schemas.openxmlformats.org/drawingml/2006/main">
            <a:off x="704850" y="204787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400" b="1">
                <a:solidFill>
                  <a:srgbClr val="2B6777"/>
                </a:solidFill>
                <a:latin typeface="Noto Sans JP"/>
                <a:ea typeface="Noto Sans JP"/>
                <a:cs typeface="Noto Sans JP"/>
              </a:defRPr>
            </a:pPr>
            <a:r>
              <a:rPr sz="2400" b="1">
                <a:solidFill>
                  <a:srgbClr val="2B6777"/>
                </a:solidFill>
                <a:latin typeface="Noto Sans JP"/>
                <a:ea typeface="Noto Sans JP"/>
                <a:cs typeface="Noto Sans JP"/>
              </a:rPr>
              <a:t>P(U ≤ u) = P(Fₓ(X) ≤ u) = P(X ≤ Fₓ⁻¹(u)) = u</a:t>
            </a:r>
          </a:p>
        </p:txBody>
      </p:sp>
      <p:sp>
        <p:nvSpPr>
          <p:cNvPr id="8" name="">
            <a:extLst xmlns:a="http://schemas.openxmlformats.org/drawingml/2006/main">
              <a:ext uri="{FF2B5EF4-FFF2-40B4-BE49-F238E27FC236}">
                <a16:creationId xmlns:a16="http://schemas.microsoft.com/office/drawing/2014/main" id="{5B747770-2E17-4D7D-8C92-6479F2D73289}"/>
              </a:ext>
            </a:extLst>
          </p:cNvPr>
          <p:cNvSpPr>
            <a:spLocks xmlns:a="http://schemas.openxmlformats.org/drawingml/2006/main" noGrp="1"/>
          </p:cNvSpPr>
          <p:nvPr/>
        </p:nvSpPr>
        <p:spPr>
          <a:xfrm xmlns:a="http://schemas.openxmlformats.org/drawingml/2006/main">
            <a:off x="514350" y="3381375"/>
            <a:ext cx="5314950" cy="188595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5EE82EB-A137-4146-9C85-5B1E296B6E1A}"/>
              </a:ext>
            </a:extLst>
          </p:cNvPr>
          <p:cNvSpPr>
            <a:spLocks xmlns:a="http://schemas.openxmlformats.org/drawingml/2006/main" noGrp="1"/>
          </p:cNvSpPr>
          <p:nvPr/>
        </p:nvSpPr>
        <p:spPr>
          <a:xfrm xmlns:a="http://schemas.openxmlformats.org/drawingml/2006/main">
            <a:off x="704850" y="3495675"/>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連続な場合</a:t>
            </a:r>
          </a:p>
        </p:txBody>
      </p:sp>
      <p:sp>
        <p:nvSpPr>
          <p:cNvPr id="10" name="">
            <a:extLst xmlns:a="http://schemas.openxmlformats.org/drawingml/2006/main">
              <a:ext uri="{FF2B5EF4-FFF2-40B4-BE49-F238E27FC236}">
                <a16:creationId xmlns:a16="http://schemas.microsoft.com/office/drawing/2014/main" id="{24C4E4A8-F15B-4505-8321-F1DD559B065C}"/>
              </a:ext>
            </a:extLst>
          </p:cNvPr>
          <p:cNvSpPr>
            <a:spLocks xmlns:a="http://schemas.openxmlformats.org/drawingml/2006/main" noGrp="1"/>
          </p:cNvSpPr>
          <p:nvPr/>
        </p:nvSpPr>
        <p:spPr>
          <a:xfrm xmlns:a="http://schemas.openxmlformats.org/drawingml/2006/main">
            <a:off x="704850" y="4048125"/>
            <a:ext cx="49339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累積位置uまでに入る割合はu。</a:t>
            </a:r>
          </a:p>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したがってUは一様になる。</a:t>
            </a:r>
          </a:p>
        </p:txBody>
      </p:sp>
      <p:sp>
        <p:nvSpPr>
          <p:cNvPr id="11" name="">
            <a:extLst xmlns:a="http://schemas.openxmlformats.org/drawingml/2006/main">
              <a:ext uri="{FF2B5EF4-FFF2-40B4-BE49-F238E27FC236}">
                <a16:creationId xmlns:a16="http://schemas.microsoft.com/office/drawing/2014/main" id="{040517DA-6203-4E1E-B591-A73B0017B7E0}"/>
              </a:ext>
            </a:extLst>
          </p:cNvPr>
          <p:cNvSpPr>
            <a:spLocks xmlns:a="http://schemas.openxmlformats.org/drawingml/2006/main" noGrp="1"/>
          </p:cNvSpPr>
          <p:nvPr/>
        </p:nvSpPr>
        <p:spPr>
          <a:xfrm xmlns:a="http://schemas.openxmlformats.org/drawingml/2006/main">
            <a:off x="6076950" y="3381375"/>
            <a:ext cx="5600700" cy="188595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4B2B6D0-DA3D-46E2-A71A-05D4E26C41E3}"/>
              </a:ext>
            </a:extLst>
          </p:cNvPr>
          <p:cNvSpPr>
            <a:spLocks xmlns:a="http://schemas.openxmlformats.org/drawingml/2006/main" noGrp="1"/>
          </p:cNvSpPr>
          <p:nvPr/>
        </p:nvSpPr>
        <p:spPr>
          <a:xfrm xmlns:a="http://schemas.openxmlformats.org/drawingml/2006/main">
            <a:off x="6267450" y="3495675"/>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離散・同値のある場合</a:t>
            </a:r>
          </a:p>
        </p:txBody>
      </p:sp>
      <p:sp>
        <p:nvSpPr>
          <p:cNvPr id="13" name="">
            <a:extLst xmlns:a="http://schemas.openxmlformats.org/drawingml/2006/main">
              <a:ext uri="{FF2B5EF4-FFF2-40B4-BE49-F238E27FC236}">
                <a16:creationId xmlns:a16="http://schemas.microsoft.com/office/drawing/2014/main" id="{B6DD5EDF-CC65-43B3-A2D0-BB774AFAE00A}"/>
              </a:ext>
            </a:extLst>
          </p:cNvPr>
          <p:cNvSpPr>
            <a:spLocks xmlns:a="http://schemas.openxmlformats.org/drawingml/2006/main" noGrp="1"/>
          </p:cNvSpPr>
          <p:nvPr/>
        </p:nvSpPr>
        <p:spPr>
          <a:xfrm xmlns:a="http://schemas.openxmlformats.org/drawingml/2006/main">
            <a:off x="6267450" y="4048125"/>
            <a:ext cx="52197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800" b="0">
                <a:solidFill>
                  <a:srgbClr val="222222"/>
                </a:solidFill>
                <a:latin typeface="Noto Sans JP"/>
                <a:ea typeface="Noto Sans JP"/>
                <a:cs typeface="Noto Sans JP"/>
              </a:defRPr>
            </a:pPr>
            <a:r>
              <a:rPr sz="1800" b="0">
                <a:solidFill>
                  <a:srgbClr val="222222"/>
                </a:solidFill>
                <a:latin typeface="Noto Sans JP"/>
                <a:ea typeface="Noto Sans JP"/>
                <a:cs typeface="Noto Sans JP"/>
              </a:rPr>
              <a:t>位置に飛びができる。</a:t>
            </a:r>
          </a:p>
          <a:p xmlns:a="http://schemas.openxmlformats.org/drawingml/2006/main">
            <a:pPr algn="l">
              <a:defRPr sz="1800" b="0">
                <a:solidFill>
                  <a:srgbClr val="222222"/>
                </a:solidFill>
                <a:latin typeface="Noto Sans JP"/>
                <a:ea typeface="Noto Sans JP"/>
                <a:cs typeface="Noto Sans JP"/>
              </a:defRPr>
            </a:pPr>
            <a:r>
              <a:rPr sz="1800" b="0">
                <a:solidFill>
                  <a:srgbClr val="222222"/>
                </a:solidFill>
                <a:latin typeface="Noto Sans JP"/>
                <a:ea typeface="Noto Sans JP"/>
                <a:cs typeface="Noto Sans JP"/>
              </a:rPr>
              <a:t>F(X)が連続一様とは限らない。</a:t>
            </a:r>
          </a:p>
          <a:p xmlns:a="http://schemas.openxmlformats.org/drawingml/2006/main">
            <a:pPr algn="l">
              <a:defRPr sz="1800" b="0">
                <a:solidFill>
                  <a:srgbClr val="222222"/>
                </a:solidFill>
                <a:latin typeface="Noto Sans JP"/>
                <a:ea typeface="Noto Sans JP"/>
                <a:cs typeface="Noto Sans JP"/>
              </a:defRPr>
            </a:pPr>
            <a:r>
              <a:rPr sz="1800" b="0">
                <a:solidFill>
                  <a:srgbClr val="222222"/>
                </a:solidFill>
                <a:latin typeface="Noto Sans JP"/>
                <a:ea typeface="Noto Sans JP"/>
                <a:cs typeface="Noto Sans JP"/>
              </a:rPr>
              <a:t>連続モデルの式をそのまま使わない。</a:t>
            </a:r>
          </a:p>
        </p:txBody>
      </p:sp>
      <p:sp>
        <p:nvSpPr>
          <p:cNvPr id="14" name="">
            <a:extLst xmlns:a="http://schemas.openxmlformats.org/drawingml/2006/main">
              <a:ext uri="{FF2B5EF4-FFF2-40B4-BE49-F238E27FC236}">
                <a16:creationId xmlns:a16="http://schemas.microsoft.com/office/drawing/2014/main" id="{CEDAB9E2-76D5-4FCC-97C9-AFF9F65B9DD7}"/>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F9BE3EEA-4252-4D00-84D9-0780F38E1C27}"/>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「連続な周辺分布」という前提を付けて説明する</a:t>
            </a:r>
          </a:p>
        </p:txBody>
      </p:sp>
    </p:spTree>
    <p:extLst>
      <p:ext uri="{BB962C8B-B14F-4D97-AF65-F5344CB8AC3E}">
        <p14:creationId xmlns:p14="http://schemas.microsoft.com/office/powerpoint/2010/main" val="719775875"/>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D7B3A87F-B22E-4E0C-A8DB-2829773C6EB7}"/>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補足：密度と条件付き分布</a:t>
            </a:r>
          </a:p>
        </p:txBody>
      </p:sp>
      <p:sp>
        <p:nvSpPr>
          <p:cNvPr id="2" name="">
            <a:extLst xmlns:a="http://schemas.openxmlformats.org/drawingml/2006/main">
              <a:ext uri="{FF2B5EF4-FFF2-40B4-BE49-F238E27FC236}">
                <a16:creationId xmlns:a16="http://schemas.microsoft.com/office/drawing/2014/main" id="{FB3325D0-0611-4679-BB50-15A56DEC58DC}"/>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770D3413-9F09-47F8-993D-D9866E20432C}"/>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累積分布Cと、密度cは違うもの。</a:t>
            </a:r>
          </a:p>
        </p:txBody>
      </p:sp>
      <p:sp>
        <p:nvSpPr>
          <p:cNvPr id="4" name="">
            <a:extLst xmlns:a="http://schemas.openxmlformats.org/drawingml/2006/main">
              <a:ext uri="{FF2B5EF4-FFF2-40B4-BE49-F238E27FC236}">
                <a16:creationId xmlns:a16="http://schemas.microsoft.com/office/drawing/2014/main" id="{E5950BB9-B1DE-4541-884A-67D4C153E40A}"/>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補足・数学</a:t>
            </a:r>
          </a:p>
        </p:txBody>
      </p:sp>
      <p:sp>
        <p:nvSpPr>
          <p:cNvPr id="5" name="">
            <a:extLst xmlns:a="http://schemas.openxmlformats.org/drawingml/2006/main">
              <a:ext uri="{FF2B5EF4-FFF2-40B4-BE49-F238E27FC236}">
                <a16:creationId xmlns:a16="http://schemas.microsoft.com/office/drawing/2014/main" id="{332895B4-DFC7-4CEF-BE99-CBB4FA9D5381}"/>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46</a:t>
            </a:r>
          </a:p>
        </p:txBody>
      </p:sp>
      <p:sp>
        <p:nvSpPr>
          <p:cNvPr id="6" name="">
            <a:extLst xmlns:a="http://schemas.openxmlformats.org/drawingml/2006/main">
              <a:ext uri="{FF2B5EF4-FFF2-40B4-BE49-F238E27FC236}">
                <a16:creationId xmlns:a16="http://schemas.microsoft.com/office/drawing/2014/main" id="{BD3E183B-05EF-4645-BBCF-0781F7EF8295}"/>
              </a:ext>
            </a:extLst>
          </p:cNvPr>
          <p:cNvSpPr>
            <a:spLocks xmlns:a="http://schemas.openxmlformats.org/drawingml/2006/main" noGrp="1"/>
          </p:cNvSpPr>
          <p:nvPr/>
        </p:nvSpPr>
        <p:spPr>
          <a:xfrm xmlns:a="http://schemas.openxmlformats.org/drawingml/2006/main">
            <a:off x="514350" y="18859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802E84D-9A48-4E80-9454-F4116A382111}"/>
              </a:ext>
            </a:extLst>
          </p:cNvPr>
          <p:cNvSpPr>
            <a:spLocks xmlns:a="http://schemas.openxmlformats.org/drawingml/2006/main" noGrp="1"/>
          </p:cNvSpPr>
          <p:nvPr/>
        </p:nvSpPr>
        <p:spPr>
          <a:xfrm xmlns:a="http://schemas.openxmlformats.org/drawingml/2006/main">
            <a:off x="704850" y="19812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000" b="1">
                <a:solidFill>
                  <a:srgbClr val="2B6777"/>
                </a:solidFill>
                <a:latin typeface="Noto Sans JP"/>
                <a:ea typeface="Noto Sans JP"/>
                <a:cs typeface="Noto Sans JP"/>
              </a:defRPr>
            </a:pPr>
            <a:r>
              <a:rPr sz="3000" b="1">
                <a:solidFill>
                  <a:srgbClr val="2B6777"/>
                </a:solidFill>
                <a:latin typeface="Noto Sans JP"/>
                <a:ea typeface="Noto Sans JP"/>
                <a:cs typeface="Noto Sans JP"/>
              </a:rPr>
              <a:t>c(u, v) = ∂²C(u, v) / (∂u ∂v)</a:t>
            </a:r>
          </a:p>
        </p:txBody>
      </p:sp>
      <p:sp>
        <p:nvSpPr>
          <p:cNvPr id="8" name="">
            <a:extLst xmlns:a="http://schemas.openxmlformats.org/drawingml/2006/main">
              <a:ext uri="{FF2B5EF4-FFF2-40B4-BE49-F238E27FC236}">
                <a16:creationId xmlns:a16="http://schemas.microsoft.com/office/drawing/2014/main" id="{1F61E532-5DB7-4EAD-A6BE-7F6D7FA7E2D1}"/>
              </a:ext>
            </a:extLst>
          </p:cNvPr>
          <p:cNvSpPr>
            <a:spLocks xmlns:a="http://schemas.openxmlformats.org/drawingml/2006/main" noGrp="1"/>
          </p:cNvSpPr>
          <p:nvPr/>
        </p:nvSpPr>
        <p:spPr>
          <a:xfrm xmlns:a="http://schemas.openxmlformats.org/drawingml/2006/main">
            <a:off x="514350" y="319087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CE01992-93EF-408C-98E3-2D10AD044290}"/>
              </a:ext>
            </a:extLst>
          </p:cNvPr>
          <p:cNvSpPr>
            <a:spLocks xmlns:a="http://schemas.openxmlformats.org/drawingml/2006/main" noGrp="1"/>
          </p:cNvSpPr>
          <p:nvPr/>
        </p:nvSpPr>
        <p:spPr>
          <a:xfrm xmlns:a="http://schemas.openxmlformats.org/drawingml/2006/main">
            <a:off x="704850" y="328612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475" b="1">
                <a:solidFill>
                  <a:srgbClr val="2B6777"/>
                </a:solidFill>
                <a:latin typeface="Noto Sans JP"/>
                <a:ea typeface="Noto Sans JP"/>
                <a:cs typeface="Noto Sans JP"/>
              </a:defRPr>
            </a:pPr>
            <a:r>
              <a:rPr sz="2475" b="1">
                <a:solidFill>
                  <a:srgbClr val="2B6777"/>
                </a:solidFill>
                <a:latin typeface="Noto Sans JP"/>
                <a:ea typeface="Noto Sans JP"/>
                <a:cs typeface="Noto Sans JP"/>
              </a:rPr>
              <a:t>fₓᵧ(x, y) = c(Fₓ(x), Fᵧ(y)) × fₓ(x) × fᵧ(y)</a:t>
            </a:r>
          </a:p>
        </p:txBody>
      </p:sp>
      <p:sp>
        <p:nvSpPr>
          <p:cNvPr id="10" name="">
            <a:extLst xmlns:a="http://schemas.openxmlformats.org/drawingml/2006/main">
              <a:ext uri="{FF2B5EF4-FFF2-40B4-BE49-F238E27FC236}">
                <a16:creationId xmlns:a16="http://schemas.microsoft.com/office/drawing/2014/main" id="{32337049-BFEB-4DF0-AFB3-93C66212E332}"/>
              </a:ext>
            </a:extLst>
          </p:cNvPr>
          <p:cNvSpPr>
            <a:spLocks xmlns:a="http://schemas.openxmlformats.org/drawingml/2006/main" noGrp="1"/>
          </p:cNvSpPr>
          <p:nvPr/>
        </p:nvSpPr>
        <p:spPr>
          <a:xfrm xmlns:a="http://schemas.openxmlformats.org/drawingml/2006/main">
            <a:off x="514350" y="445770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BADEBEC-77BB-4B2C-A34A-91C8B032CB95}"/>
              </a:ext>
            </a:extLst>
          </p:cNvPr>
          <p:cNvSpPr>
            <a:spLocks xmlns:a="http://schemas.openxmlformats.org/drawingml/2006/main" noGrp="1"/>
          </p:cNvSpPr>
          <p:nvPr/>
        </p:nvSpPr>
        <p:spPr>
          <a:xfrm xmlns:a="http://schemas.openxmlformats.org/drawingml/2006/main">
            <a:off x="704850" y="455295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475" b="1">
                <a:solidFill>
                  <a:srgbClr val="2B6777"/>
                </a:solidFill>
                <a:latin typeface="Noto Sans JP"/>
                <a:ea typeface="Noto Sans JP"/>
                <a:cs typeface="Noto Sans JP"/>
              </a:defRPr>
            </a:pPr>
            <a:r>
              <a:rPr sz="2475" b="1">
                <a:solidFill>
                  <a:srgbClr val="2B6777"/>
                </a:solidFill>
                <a:latin typeface="Noto Sans JP"/>
                <a:ea typeface="Noto Sans JP"/>
                <a:cs typeface="Noto Sans JP"/>
              </a:rPr>
              <a:t>fᵧ|ₓ(y | x) = c(Fₓ(x), Fᵧ(y)) × fᵧ(y)</a:t>
            </a:r>
          </a:p>
        </p:txBody>
      </p:sp>
      <p:sp>
        <p:nvSpPr>
          <p:cNvPr id="12" name="">
            <a:extLst xmlns:a="http://schemas.openxmlformats.org/drawingml/2006/main">
              <a:ext uri="{FF2B5EF4-FFF2-40B4-BE49-F238E27FC236}">
                <a16:creationId xmlns:a16="http://schemas.microsoft.com/office/drawing/2014/main" id="{ACFDFEB3-CF1F-4F50-B730-FBB60C3CD44D}"/>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2C9DF57-16CD-4BF9-A282-298BB19D206E}"/>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密度が存在する場合の式。すべてのコピュラに密度があるわけではない</a:t>
            </a:r>
          </a:p>
        </p:txBody>
      </p:sp>
    </p:spTree>
    <p:extLst>
      <p:ext uri="{BB962C8B-B14F-4D97-AF65-F5344CB8AC3E}">
        <p14:creationId xmlns:p14="http://schemas.microsoft.com/office/powerpoint/2010/main" val="354751546"/>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0DBD0F8-4909-4357-9967-56BD4DB5846F}"/>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補足：Gaussian copulaの正式な式</a:t>
            </a:r>
          </a:p>
        </p:txBody>
      </p:sp>
      <p:sp>
        <p:nvSpPr>
          <p:cNvPr id="2" name="">
            <a:extLst xmlns:a="http://schemas.openxmlformats.org/drawingml/2006/main">
              <a:ext uri="{FF2B5EF4-FFF2-40B4-BE49-F238E27FC236}">
                <a16:creationId xmlns:a16="http://schemas.microsoft.com/office/drawing/2014/main" id="{6E72B742-DFA0-47B7-9302-9A5F383F503F}"/>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39404E38-29D4-4975-894C-672195739A50}"/>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ΦRは相関Rを持つ、多変量標準正規の累積分布。</a:t>
            </a:r>
          </a:p>
        </p:txBody>
      </p:sp>
      <p:sp>
        <p:nvSpPr>
          <p:cNvPr id="4" name="">
            <a:extLst xmlns:a="http://schemas.openxmlformats.org/drawingml/2006/main">
              <a:ext uri="{FF2B5EF4-FFF2-40B4-BE49-F238E27FC236}">
                <a16:creationId xmlns:a16="http://schemas.microsoft.com/office/drawing/2014/main" id="{34CBAC4A-D409-45E7-B56A-4A390C2BEF88}"/>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補足・数学</a:t>
            </a:r>
          </a:p>
        </p:txBody>
      </p:sp>
      <p:sp>
        <p:nvSpPr>
          <p:cNvPr id="5" name="">
            <a:extLst xmlns:a="http://schemas.openxmlformats.org/drawingml/2006/main">
              <a:ext uri="{FF2B5EF4-FFF2-40B4-BE49-F238E27FC236}">
                <a16:creationId xmlns:a16="http://schemas.microsoft.com/office/drawing/2014/main" id="{065A0CCD-42F4-46DA-BAC9-7E1287FF2CAF}"/>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47</a:t>
            </a:r>
          </a:p>
        </p:txBody>
      </p:sp>
      <p:sp>
        <p:nvSpPr>
          <p:cNvPr id="6" name="">
            <a:extLst xmlns:a="http://schemas.openxmlformats.org/drawingml/2006/main">
              <a:ext uri="{FF2B5EF4-FFF2-40B4-BE49-F238E27FC236}">
                <a16:creationId xmlns:a16="http://schemas.microsoft.com/office/drawing/2014/main" id="{E9427E80-644A-4C0D-A824-8CD0E632F6F9}"/>
              </a:ext>
            </a:extLst>
          </p:cNvPr>
          <p:cNvSpPr>
            <a:spLocks xmlns:a="http://schemas.openxmlformats.org/drawingml/2006/main" noGrp="1"/>
          </p:cNvSpPr>
          <p:nvPr/>
        </p:nvSpPr>
        <p:spPr>
          <a:xfrm xmlns:a="http://schemas.openxmlformats.org/drawingml/2006/main">
            <a:off x="514350" y="198120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225C387-D028-41C8-82D0-744AAC341961}"/>
              </a:ext>
            </a:extLst>
          </p:cNvPr>
          <p:cNvSpPr>
            <a:spLocks xmlns:a="http://schemas.openxmlformats.org/drawingml/2006/main" noGrp="1"/>
          </p:cNvSpPr>
          <p:nvPr/>
        </p:nvSpPr>
        <p:spPr>
          <a:xfrm xmlns:a="http://schemas.openxmlformats.org/drawingml/2006/main">
            <a:off x="704850" y="207645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625" b="1">
                <a:solidFill>
                  <a:srgbClr val="2B6777"/>
                </a:solidFill>
                <a:latin typeface="Noto Sans JP"/>
                <a:ea typeface="Noto Sans JP"/>
                <a:cs typeface="Noto Sans JP"/>
              </a:defRPr>
            </a:pPr>
            <a:r>
              <a:rPr sz="2625" b="1">
                <a:solidFill>
                  <a:srgbClr val="2B6777"/>
                </a:solidFill>
                <a:latin typeface="Noto Sans JP"/>
                <a:ea typeface="Noto Sans JP"/>
                <a:cs typeface="Noto Sans JP"/>
              </a:rPr>
              <a:t>C_R(u₁, …, u_d) = Φ_R(Φ⁻¹(u₁), …, Φ⁻¹(u_d))</a:t>
            </a:r>
          </a:p>
        </p:txBody>
      </p:sp>
      <p:sp>
        <p:nvSpPr>
          <p:cNvPr id="8" name="">
            <a:extLst xmlns:a="http://schemas.openxmlformats.org/drawingml/2006/main">
              <a:ext uri="{FF2B5EF4-FFF2-40B4-BE49-F238E27FC236}">
                <a16:creationId xmlns:a16="http://schemas.microsoft.com/office/drawing/2014/main" id="{E4EEDD33-308B-4A2C-B1B1-A24C494DEA6C}"/>
              </a:ext>
            </a:extLst>
          </p:cNvPr>
          <p:cNvSpPr>
            <a:spLocks xmlns:a="http://schemas.openxmlformats.org/drawingml/2006/main" noGrp="1"/>
          </p:cNvSpPr>
          <p:nvPr/>
        </p:nvSpPr>
        <p:spPr>
          <a:xfrm xmlns:a="http://schemas.openxmlformats.org/drawingml/2006/main">
            <a:off x="552450" y="3352800"/>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9" name="">
            <a:extLst xmlns:a="http://schemas.openxmlformats.org/drawingml/2006/main">
              <a:ext uri="{FF2B5EF4-FFF2-40B4-BE49-F238E27FC236}">
                <a16:creationId xmlns:a16="http://schemas.microsoft.com/office/drawing/2014/main" id="{D7E7964F-7B6D-4C1D-B935-4568A988C049}"/>
              </a:ext>
            </a:extLst>
          </p:cNvPr>
          <p:cNvSpPr>
            <a:spLocks xmlns:a="http://schemas.openxmlformats.org/drawingml/2006/main" noGrp="1"/>
          </p:cNvSpPr>
          <p:nvPr/>
        </p:nvSpPr>
        <p:spPr>
          <a:xfrm xmlns:a="http://schemas.openxmlformats.org/drawingml/2006/main">
            <a:off x="1257300" y="3352800"/>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各 uⱼ を標準正規のしきい値 zⱼへ変換する。</a:t>
            </a:r>
          </a:p>
        </p:txBody>
      </p:sp>
      <p:sp>
        <p:nvSpPr>
          <p:cNvPr id="10" name="">
            <a:extLst xmlns:a="http://schemas.openxmlformats.org/drawingml/2006/main">
              <a:ext uri="{FF2B5EF4-FFF2-40B4-BE49-F238E27FC236}">
                <a16:creationId xmlns:a16="http://schemas.microsoft.com/office/drawing/2014/main" id="{9888307D-0889-4B73-A0CB-0D2693BF9DBC}"/>
              </a:ext>
            </a:extLst>
          </p:cNvPr>
          <p:cNvSpPr>
            <a:spLocks xmlns:a="http://schemas.openxmlformats.org/drawingml/2006/main" noGrp="1"/>
          </p:cNvSpPr>
          <p:nvPr/>
        </p:nvSpPr>
        <p:spPr>
          <a:xfrm xmlns:a="http://schemas.openxmlformats.org/drawingml/2006/main">
            <a:off x="552450" y="4022725"/>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11" name="">
            <a:extLst xmlns:a="http://schemas.openxmlformats.org/drawingml/2006/main">
              <a:ext uri="{FF2B5EF4-FFF2-40B4-BE49-F238E27FC236}">
                <a16:creationId xmlns:a16="http://schemas.microsoft.com/office/drawing/2014/main" id="{04DECA1B-46D7-435F-9BC1-3CA39C0F2DB9}"/>
              </a:ext>
            </a:extLst>
          </p:cNvPr>
          <p:cNvSpPr>
            <a:spLocks xmlns:a="http://schemas.openxmlformats.org/drawingml/2006/main" noGrp="1"/>
          </p:cNvSpPr>
          <p:nvPr/>
        </p:nvSpPr>
        <p:spPr>
          <a:xfrm xmlns:a="http://schemas.openxmlformats.org/drawingml/2006/main">
            <a:off x="1257300" y="4022725"/>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多変量正規モデルで P(Z₁ ≤ z₁, …, Z_d ≤ z_d) を求める。</a:t>
            </a:r>
          </a:p>
        </p:txBody>
      </p:sp>
      <p:sp>
        <p:nvSpPr>
          <p:cNvPr id="12" name="">
            <a:extLst xmlns:a="http://schemas.openxmlformats.org/drawingml/2006/main">
              <a:ext uri="{FF2B5EF4-FFF2-40B4-BE49-F238E27FC236}">
                <a16:creationId xmlns:a16="http://schemas.microsoft.com/office/drawing/2014/main" id="{2A13D1D4-833F-4531-BBBE-371D5F901D24}"/>
              </a:ext>
            </a:extLst>
          </p:cNvPr>
          <p:cNvSpPr>
            <a:spLocks xmlns:a="http://schemas.openxmlformats.org/drawingml/2006/main" noGrp="1"/>
          </p:cNvSpPr>
          <p:nvPr/>
        </p:nvSpPr>
        <p:spPr>
          <a:xfrm xmlns:a="http://schemas.openxmlformats.org/drawingml/2006/main">
            <a:off x="552450" y="4692650"/>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3" name="">
            <a:extLst xmlns:a="http://schemas.openxmlformats.org/drawingml/2006/main">
              <a:ext uri="{FF2B5EF4-FFF2-40B4-BE49-F238E27FC236}">
                <a16:creationId xmlns:a16="http://schemas.microsoft.com/office/drawing/2014/main" id="{76EC6343-E6A7-4F3C-8266-BC8F4ADAE07C}"/>
              </a:ext>
            </a:extLst>
          </p:cNvPr>
          <p:cNvSpPr>
            <a:spLocks xmlns:a="http://schemas.openxmlformats.org/drawingml/2006/main" noGrp="1"/>
          </p:cNvSpPr>
          <p:nvPr/>
        </p:nvSpPr>
        <p:spPr>
          <a:xfrm xmlns:a="http://schemas.openxmlformats.org/drawingml/2006/main">
            <a:off x="1257300" y="4692650"/>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Rは、元の特徴のPearson相関行列とは一般に違う。</a:t>
            </a:r>
          </a:p>
        </p:txBody>
      </p:sp>
      <p:sp>
        <p:nvSpPr>
          <p:cNvPr id="14" name="">
            <a:extLst xmlns:a="http://schemas.openxmlformats.org/drawingml/2006/main">
              <a:ext uri="{FF2B5EF4-FFF2-40B4-BE49-F238E27FC236}">
                <a16:creationId xmlns:a16="http://schemas.microsoft.com/office/drawing/2014/main" id="{13A779B6-BF5F-40ED-A1AF-D9DF95B4B53A}"/>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51CD606-6BDB-45BF-95B6-4FC954695F51}"/>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各列の形は自由にし、位置の同時分布へ正規の仮定を置く</a:t>
            </a:r>
          </a:p>
        </p:txBody>
      </p:sp>
    </p:spTree>
    <p:extLst>
      <p:ext uri="{BB962C8B-B14F-4D97-AF65-F5344CB8AC3E}">
        <p14:creationId xmlns:p14="http://schemas.microsoft.com/office/powerpoint/2010/main" val="1679536566"/>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74CC8DAC-B604-4043-A9D4-7E571F1AF7B0}"/>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補足：多変量の条件付き生成</a:t>
            </a:r>
          </a:p>
        </p:txBody>
      </p:sp>
      <p:sp>
        <p:nvSpPr>
          <p:cNvPr id="2" name="">
            <a:extLst xmlns:a="http://schemas.openxmlformats.org/drawingml/2006/main">
              <a:ext uri="{FF2B5EF4-FFF2-40B4-BE49-F238E27FC236}">
                <a16:creationId xmlns:a16="http://schemas.microsoft.com/office/drawing/2014/main" id="{31A2FB05-FB1A-40AD-979E-3004444352CC}"/>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7EBA40FC-E8F5-4177-A067-0B42F05F74E4}"/>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M：置換する列、O：そのまま残す列。</a:t>
            </a:r>
          </a:p>
        </p:txBody>
      </p:sp>
      <p:sp>
        <p:nvSpPr>
          <p:cNvPr id="4" name="">
            <a:extLst xmlns:a="http://schemas.openxmlformats.org/drawingml/2006/main">
              <a:ext uri="{FF2B5EF4-FFF2-40B4-BE49-F238E27FC236}">
                <a16:creationId xmlns:a16="http://schemas.microsoft.com/office/drawing/2014/main" id="{16D30D59-E2CF-4DE1-8353-C36420953913}"/>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補足・数学</a:t>
            </a:r>
          </a:p>
        </p:txBody>
      </p:sp>
      <p:sp>
        <p:nvSpPr>
          <p:cNvPr id="5" name="">
            <a:extLst xmlns:a="http://schemas.openxmlformats.org/drawingml/2006/main">
              <a:ext uri="{FF2B5EF4-FFF2-40B4-BE49-F238E27FC236}">
                <a16:creationId xmlns:a16="http://schemas.microsoft.com/office/drawing/2014/main" id="{23C534A0-3E54-4FFE-9AC1-44EF861C6E72}"/>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48</a:t>
            </a:r>
          </a:p>
        </p:txBody>
      </p:sp>
      <p:sp>
        <p:nvSpPr>
          <p:cNvPr id="6" name="">
            <a:extLst xmlns:a="http://schemas.openxmlformats.org/drawingml/2006/main">
              <a:ext uri="{FF2B5EF4-FFF2-40B4-BE49-F238E27FC236}">
                <a16:creationId xmlns:a16="http://schemas.microsoft.com/office/drawing/2014/main" id="{145F9884-F10D-43AB-8E48-2B8B929A45A5}"/>
              </a:ext>
            </a:extLst>
          </p:cNvPr>
          <p:cNvSpPr>
            <a:spLocks xmlns:a="http://schemas.openxmlformats.org/drawingml/2006/main" noGrp="1"/>
          </p:cNvSpPr>
          <p:nvPr/>
        </p:nvSpPr>
        <p:spPr>
          <a:xfrm xmlns:a="http://schemas.openxmlformats.org/drawingml/2006/main">
            <a:off x="514350" y="182880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368798E-809F-48CB-8F3C-39A559192BAB}"/>
              </a:ext>
            </a:extLst>
          </p:cNvPr>
          <p:cNvSpPr>
            <a:spLocks xmlns:a="http://schemas.openxmlformats.org/drawingml/2006/main" noGrp="1"/>
          </p:cNvSpPr>
          <p:nvPr/>
        </p:nvSpPr>
        <p:spPr>
          <a:xfrm xmlns:a="http://schemas.openxmlformats.org/drawingml/2006/main">
            <a:off x="704850" y="192405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850" b="1">
                <a:solidFill>
                  <a:srgbClr val="2B6777"/>
                </a:solidFill>
                <a:latin typeface="Noto Sans JP"/>
                <a:ea typeface="Noto Sans JP"/>
                <a:cs typeface="Noto Sans JP"/>
              </a:defRPr>
            </a:pPr>
            <a:r>
              <a:rPr sz="2850" b="1">
                <a:solidFill>
                  <a:srgbClr val="2B6777"/>
                </a:solidFill>
                <a:latin typeface="Noto Sans JP"/>
                <a:ea typeface="Noto Sans JP"/>
                <a:cs typeface="Noto Sans JP"/>
              </a:rPr>
              <a:t>Z_M | Z_O = z_O ~ N(μ_M|O, Σ_M|O)</a:t>
            </a:r>
          </a:p>
        </p:txBody>
      </p:sp>
      <p:sp>
        <p:nvSpPr>
          <p:cNvPr id="8" name="">
            <a:extLst xmlns:a="http://schemas.openxmlformats.org/drawingml/2006/main">
              <a:ext uri="{FF2B5EF4-FFF2-40B4-BE49-F238E27FC236}">
                <a16:creationId xmlns:a16="http://schemas.microsoft.com/office/drawing/2014/main" id="{544D78BA-6ABB-4847-9A14-8EF2DF54B92F}"/>
              </a:ext>
            </a:extLst>
          </p:cNvPr>
          <p:cNvSpPr>
            <a:spLocks xmlns:a="http://schemas.openxmlformats.org/drawingml/2006/main" noGrp="1"/>
          </p:cNvSpPr>
          <p:nvPr/>
        </p:nvSpPr>
        <p:spPr>
          <a:xfrm xmlns:a="http://schemas.openxmlformats.org/drawingml/2006/main">
            <a:off x="514350" y="305752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B8171EE-C8D2-403A-B2EF-E4694770D883}"/>
              </a:ext>
            </a:extLst>
          </p:cNvPr>
          <p:cNvSpPr>
            <a:spLocks xmlns:a="http://schemas.openxmlformats.org/drawingml/2006/main" noGrp="1"/>
          </p:cNvSpPr>
          <p:nvPr/>
        </p:nvSpPr>
        <p:spPr>
          <a:xfrm xmlns:a="http://schemas.openxmlformats.org/drawingml/2006/main">
            <a:off x="704850" y="315277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925" b="1">
                <a:solidFill>
                  <a:srgbClr val="2B6777"/>
                </a:solidFill>
                <a:latin typeface="Noto Sans JP"/>
                <a:ea typeface="Noto Sans JP"/>
                <a:cs typeface="Noto Sans JP"/>
              </a:defRPr>
            </a:pPr>
            <a:r>
              <a:rPr sz="2925" b="1">
                <a:solidFill>
                  <a:srgbClr val="2B6777"/>
                </a:solidFill>
                <a:latin typeface="Noto Sans JP"/>
                <a:ea typeface="Noto Sans JP"/>
                <a:cs typeface="Noto Sans JP"/>
              </a:rPr>
              <a:t>μ_M|O = R_MO R_OO⁻¹ z_O</a:t>
            </a:r>
          </a:p>
        </p:txBody>
      </p:sp>
      <p:sp>
        <p:nvSpPr>
          <p:cNvPr id="10" name="">
            <a:extLst xmlns:a="http://schemas.openxmlformats.org/drawingml/2006/main">
              <a:ext uri="{FF2B5EF4-FFF2-40B4-BE49-F238E27FC236}">
                <a16:creationId xmlns:a16="http://schemas.microsoft.com/office/drawing/2014/main" id="{083E7974-B02C-4B12-924E-E914712C461C}"/>
              </a:ext>
            </a:extLst>
          </p:cNvPr>
          <p:cNvSpPr>
            <a:spLocks xmlns:a="http://schemas.openxmlformats.org/drawingml/2006/main" noGrp="1"/>
          </p:cNvSpPr>
          <p:nvPr/>
        </p:nvSpPr>
        <p:spPr>
          <a:xfrm xmlns:a="http://schemas.openxmlformats.org/drawingml/2006/main">
            <a:off x="514350" y="42862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F3E9E4F-3614-481B-B99D-64B4EB065878}"/>
              </a:ext>
            </a:extLst>
          </p:cNvPr>
          <p:cNvSpPr>
            <a:spLocks xmlns:a="http://schemas.openxmlformats.org/drawingml/2006/main" noGrp="1"/>
          </p:cNvSpPr>
          <p:nvPr/>
        </p:nvSpPr>
        <p:spPr>
          <a:xfrm xmlns:a="http://schemas.openxmlformats.org/drawingml/2006/main">
            <a:off x="704850" y="43815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700" b="1">
                <a:solidFill>
                  <a:srgbClr val="2B6777"/>
                </a:solidFill>
                <a:latin typeface="Noto Sans JP"/>
                <a:ea typeface="Noto Sans JP"/>
                <a:cs typeface="Noto Sans JP"/>
              </a:defRPr>
            </a:pPr>
            <a:r>
              <a:rPr sz="2700" b="1">
                <a:solidFill>
                  <a:srgbClr val="2B6777"/>
                </a:solidFill>
                <a:latin typeface="Noto Sans JP"/>
                <a:ea typeface="Noto Sans JP"/>
                <a:cs typeface="Noto Sans JP"/>
              </a:rPr>
              <a:t>Σ_M|O = R_MM − R_MO R_OO⁻¹ R_OM</a:t>
            </a:r>
          </a:p>
        </p:txBody>
      </p:sp>
      <p:sp>
        <p:nvSpPr>
          <p:cNvPr id="12" name="">
            <a:extLst xmlns:a="http://schemas.openxmlformats.org/drawingml/2006/main">
              <a:ext uri="{FF2B5EF4-FFF2-40B4-BE49-F238E27FC236}">
                <a16:creationId xmlns:a16="http://schemas.microsoft.com/office/drawing/2014/main" id="{0489352E-E8B7-49CF-B859-52169BC5FC63}"/>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3002ED9-A36B-4261-8C14-5BE5FD2A04F0}"/>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平均で「合う位置」へ移し、共分散で「残るばらつき」を生成する</a:t>
            </a:r>
          </a:p>
        </p:txBody>
      </p:sp>
    </p:spTree>
    <p:extLst>
      <p:ext uri="{BB962C8B-B14F-4D97-AF65-F5344CB8AC3E}">
        <p14:creationId xmlns:p14="http://schemas.microsoft.com/office/powerpoint/2010/main" val="1435435336"/>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F66A597-9B18-41BA-A7F2-71BDC4872CFA}"/>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補足：実装の数値上の扱い</a:t>
            </a:r>
          </a:p>
        </p:txBody>
      </p:sp>
      <p:sp>
        <p:nvSpPr>
          <p:cNvPr id="2" name="">
            <a:extLst xmlns:a="http://schemas.openxmlformats.org/drawingml/2006/main">
              <a:ext uri="{FF2B5EF4-FFF2-40B4-BE49-F238E27FC236}">
                <a16:creationId xmlns:a16="http://schemas.microsoft.com/office/drawing/2014/main" id="{60CA21B4-DDA2-401D-ADE8-1B1B350C6E2C}"/>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C268A2BB-58F9-4202-A68B-080269D42AA8}"/>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確率端点、相関行列、逆分位点に近似と安定化が入る。</a:t>
            </a:r>
          </a:p>
        </p:txBody>
      </p:sp>
      <p:sp>
        <p:nvSpPr>
          <p:cNvPr id="4" name="">
            <a:extLst xmlns:a="http://schemas.openxmlformats.org/drawingml/2006/main">
              <a:ext uri="{FF2B5EF4-FFF2-40B4-BE49-F238E27FC236}">
                <a16:creationId xmlns:a16="http://schemas.microsoft.com/office/drawing/2014/main" id="{0FD724C5-3E28-4F1B-AB8E-82B7AC58BD29}"/>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補足・実装</a:t>
            </a:r>
          </a:p>
        </p:txBody>
      </p:sp>
      <p:sp>
        <p:nvSpPr>
          <p:cNvPr id="5" name="">
            <a:extLst xmlns:a="http://schemas.openxmlformats.org/drawingml/2006/main">
              <a:ext uri="{FF2B5EF4-FFF2-40B4-BE49-F238E27FC236}">
                <a16:creationId xmlns:a16="http://schemas.microsoft.com/office/drawing/2014/main" id="{81EEC4F6-47F8-4D99-AF02-77B5AE3F07C0}"/>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49</a:t>
            </a:r>
          </a:p>
        </p:txBody>
      </p:sp>
      <p:graphicFrame>
        <p:nvGraphicFramePr>
          <p:cNvPr id="14" name=""/>
          <p:cNvGraphicFramePr/>
          <p:nvPr/>
        </p:nvGraphicFramePr>
        <p:xfrm>
          <a:off xmlns:a="http://schemas.openxmlformats.org/drawingml/2006/main" x="514350" y="1971675"/>
          <a:ext xmlns:a="http://schemas.openxmlformats.org/drawingml/2006/main" cx="11163300" cy="3352800"/>
        </p:xfrm>
        <a:graphic xmlns:a="http://schemas.openxmlformats.org/drawingml/2006/main">
          <a:graphicData uri="http://schemas.openxmlformats.org/drawingml/2006/table">
            <a:tbl>
              <a:tblPr/>
              <a:tblGrid>
                <a:gridCol w="2667000"/>
                <a:gridCol w="8496300"/>
              </a:tblGrid>
              <a:tr h="558800">
                <a:tc>
                  <a:txBody>
                    <a:bodyPr/>
                    <a:lstStyle/>
                    <a:p>
                      <a:pPr algn="ctr"/>
                      <a:r>
                        <a:rPr sz="1725" b="1">
                          <a:solidFill>
                            <a:srgbClr val="2E7D5B"/>
                          </a:solidFill>
                          <a:latin typeface="Noto Sans JP"/>
                          <a:ea typeface="Noto Sans JP"/>
                          <a:cs typeface="Noto Sans JP"/>
                        </a:rPr>
                        <a:t>段階</a:t>
                      </a:r>
                    </a:p>
                  </a:txBody>
                  <a:tcPr marL="91440" marR="91440" marT="45720" marB="45720" anchor="ctr">
                    <a:solidFill>
                      <a:srgbClr val="E7F2EC"/>
                    </a:solidFill>
                  </a:tcPr>
                </a:tc>
                <a:tc>
                  <a:txBody>
                    <a:bodyPr/>
                    <a:lstStyle/>
                    <a:p>
                      <a:pPr algn="ctr"/>
                      <a:r>
                        <a:rPr sz="1725" b="1">
                          <a:solidFill>
                            <a:srgbClr val="2E7D5B"/>
                          </a:solidFill>
                          <a:latin typeface="Noto Sans JP"/>
                          <a:ea typeface="Noto Sans JP"/>
                          <a:cs typeface="Noto Sans JP"/>
                        </a:rPr>
                        <a:t>現在の実装</a:t>
                      </a:r>
                    </a:p>
                  </a:txBody>
                  <a:tcPr marL="91440" marR="91440" marT="45720" marB="45720" anchor="ctr">
                    <a:solidFill>
                      <a:srgbClr val="E7F2EC"/>
                    </a:solidFill>
                  </a:tcPr>
                </a:tc>
              </a:tr>
              <a:tr h="558800">
                <a:tc>
                  <a:txBody>
                    <a:bodyPr/>
                    <a:lstStyle/>
                    <a:p>
                      <a:pPr algn="ctr"/>
                      <a:r>
                        <a:rPr sz="1725" b="0">
                          <a:solidFill>
                            <a:srgbClr val="222222"/>
                          </a:solidFill>
                          <a:latin typeface="Noto Sans JP"/>
                          <a:ea typeface="Noto Sans JP"/>
                          <a:cs typeface="Noto Sans JP"/>
                        </a:rPr>
                        <a:t>周辺の位置</a:t>
                      </a:r>
                    </a:p>
                  </a:txBody>
                  <a:tcPr marL="91440" marR="91440" marT="45720" marB="45720" anchor="ctr">
                    <a:solidFill>
                      <a:srgbClr val="FFFFFF"/>
                    </a:solidFill>
                  </a:tcPr>
                </a:tc>
                <a:tc>
                  <a:txBody>
                    <a:bodyPr/>
                    <a:lstStyle/>
                    <a:p>
                      <a:pPr algn="ctr"/>
                      <a:r>
                        <a:rPr sz="1725" b="0">
                          <a:solidFill>
                            <a:srgbClr val="222222"/>
                          </a:solidFill>
                          <a:latin typeface="Noto Sans JP"/>
                          <a:ea typeface="Noto Sans JP"/>
                          <a:cs typeface="Noto Sans JP"/>
                        </a:rPr>
                        <a:t>平均順位、u=(r−0.5)/n、[10⁻⁶, 1−10⁻⁶]へクリップ</a:t>
                      </a:r>
                    </a:p>
                  </a:txBody>
                  <a:tcPr marL="91440" marR="91440" marT="45720" marB="45720" anchor="ctr">
                    <a:solidFill>
                      <a:srgbClr val="FFFFFF"/>
                    </a:solidFill>
                  </a:tcPr>
                </a:tc>
              </a:tr>
              <a:tr h="558800">
                <a:tc>
                  <a:txBody>
                    <a:bodyPr/>
                    <a:lstStyle/>
                    <a:p>
                      <a:pPr algn="ctr"/>
                      <a:r>
                        <a:rPr sz="1725" b="0">
                          <a:solidFill>
                            <a:srgbClr val="222222"/>
                          </a:solidFill>
                          <a:latin typeface="Noto Sans JP"/>
                          <a:ea typeface="Noto Sans JP"/>
                          <a:cs typeface="Noto Sans JP"/>
                        </a:rPr>
                        <a:t>相関推定</a:t>
                      </a:r>
                    </a:p>
                  </a:txBody>
                  <a:tcPr marL="91440" marR="91440" marT="45720" marB="45720" anchor="ctr">
                    <a:solidFill>
                      <a:srgbClr val="F6F6F6"/>
                    </a:solidFill>
                  </a:tcPr>
                </a:tc>
                <a:tc>
                  <a:txBody>
                    <a:bodyPr/>
                    <a:lstStyle/>
                    <a:p>
                      <a:pPr algn="ctr"/>
                      <a:r>
                        <a:rPr sz="1725" b="0">
                          <a:solidFill>
                            <a:srgbClr val="222222"/>
                          </a:solidFill>
                          <a:latin typeface="Noto Sans JP"/>
                          <a:ea typeface="Noto Sans JP"/>
                          <a:cs typeface="Noto Sans JP"/>
                        </a:rPr>
                        <a:t>潜在値の相関、0.05の対角縮小、固有値補正</a:t>
                      </a:r>
                    </a:p>
                  </a:txBody>
                  <a:tcPr marL="91440" marR="91440" marT="45720" marB="45720" anchor="ctr">
                    <a:solidFill>
                      <a:srgbClr val="F6F6F6"/>
                    </a:solidFill>
                  </a:tcPr>
                </a:tc>
              </a:tr>
              <a:tr h="558800">
                <a:tc>
                  <a:txBody>
                    <a:bodyPr/>
                    <a:lstStyle/>
                    <a:p>
                      <a:pPr algn="ctr"/>
                      <a:r>
                        <a:rPr sz="1725" b="0">
                          <a:solidFill>
                            <a:srgbClr val="222222"/>
                          </a:solidFill>
                          <a:latin typeface="Noto Sans JP"/>
                          <a:ea typeface="Noto Sans JP"/>
                          <a:cs typeface="Noto Sans JP"/>
                        </a:rPr>
                        <a:t>条件付き生成</a:t>
                      </a:r>
                    </a:p>
                  </a:txBody>
                  <a:tcPr marL="91440" marR="91440" marT="45720" marB="45720" anchor="ctr">
                    <a:solidFill>
                      <a:srgbClr val="FFFFFF"/>
                    </a:solidFill>
                  </a:tcPr>
                </a:tc>
                <a:tc>
                  <a:txBody>
                    <a:bodyPr/>
                    <a:lstStyle/>
                    <a:p>
                      <a:pPr algn="ctr"/>
                      <a:r>
                        <a:rPr sz="1725" b="0">
                          <a:solidFill>
                            <a:srgbClr val="222222"/>
                          </a:solidFill>
                          <a:latin typeface="Noto Sans JP"/>
                          <a:ea typeface="Noto Sans JP"/>
                          <a:cs typeface="Noto Sans JP"/>
                        </a:rPr>
                        <a:t>solve・共分散の対称化・微小対角補正・Cholesky</a:t>
                      </a:r>
                    </a:p>
                  </a:txBody>
                  <a:tcPr marL="91440" marR="91440" marT="45720" marB="45720" anchor="ctr">
                    <a:solidFill>
                      <a:srgbClr val="FFFFFF"/>
                    </a:solidFill>
                  </a:tcPr>
                </a:tc>
              </a:tr>
              <a:tr h="558800">
                <a:tc>
                  <a:txBody>
                    <a:bodyPr/>
                    <a:lstStyle/>
                    <a:p>
                      <a:pPr algn="ctr"/>
                      <a:r>
                        <a:rPr sz="1725" b="0">
                          <a:solidFill>
                            <a:srgbClr val="222222"/>
                          </a:solidFill>
                          <a:latin typeface="Noto Sans JP"/>
                          <a:ea typeface="Noto Sans JP"/>
                          <a:cs typeface="Noto Sans JP"/>
                        </a:rPr>
                        <a:t>元単位へ</a:t>
                      </a:r>
                    </a:p>
                  </a:txBody>
                  <a:tcPr marL="91440" marR="91440" marT="45720" marB="45720" anchor="ctr">
                    <a:solidFill>
                      <a:srgbClr val="F6F6F6"/>
                    </a:solidFill>
                  </a:tcPr>
                </a:tc>
                <a:tc>
                  <a:txBody>
                    <a:bodyPr/>
                    <a:lstStyle/>
                    <a:p>
                      <a:pPr algn="ctr"/>
                      <a:r>
                        <a:rPr sz="1725" b="0">
                          <a:solidFill>
                            <a:srgbClr val="222222"/>
                          </a:solidFill>
                          <a:latin typeface="Noto Sans JP"/>
                          <a:ea typeface="Noto Sans JP"/>
                          <a:cs typeface="Noto Sans JP"/>
                        </a:rPr>
                        <a:t>Φ(z) → 経験分位点を線形補間（未観測の値もあり得る）</a:t>
                      </a:r>
                    </a:p>
                  </a:txBody>
                  <a:tcPr marL="91440" marR="91440" marT="45720" marB="45720" anchor="ctr">
                    <a:solidFill>
                      <a:srgbClr val="F6F6F6"/>
                    </a:solidFill>
                  </a:tcPr>
                </a:tc>
              </a:tr>
              <a:tr h="558800">
                <a:tc>
                  <a:txBody>
                    <a:bodyPr/>
                    <a:lstStyle/>
                    <a:p>
                      <a:pPr algn="ctr"/>
                      <a:r>
                        <a:rPr sz="1725" b="0">
                          <a:solidFill>
                            <a:srgbClr val="222222"/>
                          </a:solidFill>
                          <a:latin typeface="Noto Sans JP"/>
                          <a:ea typeface="Noto Sans JP"/>
                          <a:cs typeface="Noto Sans JP"/>
                        </a:rPr>
                        <a:t>端のマスク</a:t>
                      </a:r>
                    </a:p>
                  </a:txBody>
                  <a:tcPr marL="91440" marR="91440" marT="45720" marB="45720" anchor="ctr">
                    <a:solidFill>
                      <a:srgbClr val="FFFFFF"/>
                    </a:solidFill>
                  </a:tcPr>
                </a:tc>
                <a:tc>
                  <a:txBody>
                    <a:bodyPr/>
                    <a:lstStyle/>
                    <a:p>
                      <a:pPr algn="ctr"/>
                      <a:r>
                        <a:rPr sz="1725" b="0">
                          <a:solidFill>
                            <a:srgbClr val="222222"/>
                          </a:solidFill>
                          <a:latin typeface="Noto Sans JP"/>
                          <a:ea typeface="Noto Sans JP"/>
                          <a:cs typeface="Noto Sans JP"/>
                        </a:rPr>
                        <a:t>マスクなし：変更なし / 全列マスク：無条件同時生成</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CDA28E38-D65C-4006-8572-18DF98996618}"/>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C9C155F-C342-4A2C-BDB6-1C649ECB7945}"/>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理論モデル、推定の近似、学習上の効果を分けて考える</a:t>
            </a:r>
          </a:p>
        </p:txBody>
      </p:sp>
    </p:spTree>
    <p:extLst>
      <p:ext uri="{BB962C8B-B14F-4D97-AF65-F5344CB8AC3E}">
        <p14:creationId xmlns:p14="http://schemas.microsoft.com/office/powerpoint/2010/main" val="1565134553"/>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B66C1F6-CD4E-4A4F-AE04-121E0C689980}"/>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補足：Student-t copula</a:t>
            </a:r>
          </a:p>
        </p:txBody>
      </p:sp>
      <p:sp>
        <p:nvSpPr>
          <p:cNvPr id="2" name="">
            <a:extLst xmlns:a="http://schemas.openxmlformats.org/drawingml/2006/main">
              <a:ext uri="{FF2B5EF4-FFF2-40B4-BE49-F238E27FC236}">
                <a16:creationId xmlns:a16="http://schemas.microsoft.com/office/drawing/2014/main" id="{7A2BCBF0-E2BF-4DEB-AA26-0115C05ED440}"/>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20A26ED-2A9D-4C39-ADE0-A4C7A7571425}"/>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上下両側の極端事象の共発生を表せる。</a:t>
            </a:r>
          </a:p>
        </p:txBody>
      </p:sp>
      <p:sp>
        <p:nvSpPr>
          <p:cNvPr id="4" name="">
            <a:extLst xmlns:a="http://schemas.openxmlformats.org/drawingml/2006/main">
              <a:ext uri="{FF2B5EF4-FFF2-40B4-BE49-F238E27FC236}">
                <a16:creationId xmlns:a16="http://schemas.microsoft.com/office/drawing/2014/main" id="{AA0E02CE-D90E-4F62-9B99-F1DBD64511A8}"/>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補足・種類</a:t>
            </a:r>
          </a:p>
        </p:txBody>
      </p:sp>
      <p:sp>
        <p:nvSpPr>
          <p:cNvPr id="5" name="">
            <a:extLst xmlns:a="http://schemas.openxmlformats.org/drawingml/2006/main">
              <a:ext uri="{FF2B5EF4-FFF2-40B4-BE49-F238E27FC236}">
                <a16:creationId xmlns:a16="http://schemas.microsoft.com/office/drawing/2014/main" id="{688B06EA-4835-4C07-9E5D-7AAE9531DC40}"/>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50</a:t>
            </a:r>
          </a:p>
        </p:txBody>
      </p:sp>
      <p:sp>
        <p:nvSpPr>
          <p:cNvPr id="6" name="">
            <a:extLst xmlns:a="http://schemas.openxmlformats.org/drawingml/2006/main">
              <a:ext uri="{FF2B5EF4-FFF2-40B4-BE49-F238E27FC236}">
                <a16:creationId xmlns:a16="http://schemas.microsoft.com/office/drawing/2014/main" id="{42271625-97B4-4161-8137-73EACF325E03}"/>
              </a:ext>
            </a:extLst>
          </p:cNvPr>
          <p:cNvSpPr>
            <a:spLocks xmlns:a="http://schemas.openxmlformats.org/drawingml/2006/main" noGrp="1"/>
          </p:cNvSpPr>
          <p:nvPr/>
        </p:nvSpPr>
        <p:spPr>
          <a:xfrm xmlns:a="http://schemas.openxmlformats.org/drawingml/2006/main">
            <a:off x="514350" y="199072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2B8914F-65A9-4657-BFC8-0C191DCF51E3}"/>
              </a:ext>
            </a:extLst>
          </p:cNvPr>
          <p:cNvSpPr>
            <a:spLocks xmlns:a="http://schemas.openxmlformats.org/drawingml/2006/main" noGrp="1"/>
          </p:cNvSpPr>
          <p:nvPr/>
        </p:nvSpPr>
        <p:spPr>
          <a:xfrm xmlns:a="http://schemas.openxmlformats.org/drawingml/2006/main">
            <a:off x="704850" y="208597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775" b="1">
                <a:solidFill>
                  <a:srgbClr val="2B6777"/>
                </a:solidFill>
                <a:latin typeface="Noto Sans JP"/>
                <a:ea typeface="Noto Sans JP"/>
                <a:cs typeface="Noto Sans JP"/>
              </a:defRPr>
            </a:pPr>
            <a:r>
              <a:rPr sz="2775" b="1">
                <a:solidFill>
                  <a:srgbClr val="2B6777"/>
                </a:solidFill>
                <a:latin typeface="Noto Sans JP"/>
                <a:ea typeface="Noto Sans JP"/>
                <a:cs typeface="Noto Sans JP"/>
              </a:rPr>
              <a:t>C_ν,R(u) = t_ν,R(t_ν⁻¹(u₁), …, t_ν⁻¹(u_d))</a:t>
            </a:r>
          </a:p>
        </p:txBody>
      </p:sp>
      <p:sp>
        <p:nvSpPr>
          <p:cNvPr id="8" name="">
            <a:extLst xmlns:a="http://schemas.openxmlformats.org/drawingml/2006/main">
              <a:ext uri="{FF2B5EF4-FFF2-40B4-BE49-F238E27FC236}">
                <a16:creationId xmlns:a16="http://schemas.microsoft.com/office/drawing/2014/main" id="{A480B38B-CD00-4FCD-A0CF-345AFA6DAB77}"/>
              </a:ext>
            </a:extLst>
          </p:cNvPr>
          <p:cNvSpPr>
            <a:spLocks xmlns:a="http://schemas.openxmlformats.org/drawingml/2006/main" noGrp="1"/>
          </p:cNvSpPr>
          <p:nvPr/>
        </p:nvSpPr>
        <p:spPr>
          <a:xfrm xmlns:a="http://schemas.openxmlformats.org/drawingml/2006/main">
            <a:off x="514350" y="3400425"/>
            <a:ext cx="5314950" cy="182880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4672471-29F3-4D35-8BE1-4F87A7407F87}"/>
              </a:ext>
            </a:extLst>
          </p:cNvPr>
          <p:cNvSpPr>
            <a:spLocks xmlns:a="http://schemas.openxmlformats.org/drawingml/2006/main" noGrp="1"/>
          </p:cNvSpPr>
          <p:nvPr/>
        </p:nvSpPr>
        <p:spPr>
          <a:xfrm xmlns:a="http://schemas.openxmlformats.org/drawingml/2006/main">
            <a:off x="704850" y="3514725"/>
            <a:ext cx="4933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2E7D5B"/>
                </a:solidFill>
                <a:latin typeface="Noto Sans JP"/>
                <a:ea typeface="Noto Sans JP"/>
                <a:cs typeface="Noto Sans JP"/>
              </a:defRPr>
            </a:pPr>
            <a:r>
              <a:rPr sz="2175" b="1">
                <a:solidFill>
                  <a:srgbClr val="2E7D5B"/>
                </a:solidFill>
                <a:latin typeface="Noto Sans JP"/>
                <a:ea typeface="Noto Sans JP"/>
                <a:cs typeface="Noto Sans JP"/>
              </a:rPr>
              <a:t>向く可能性がある状況</a:t>
            </a:r>
          </a:p>
        </p:txBody>
      </p:sp>
      <p:sp>
        <p:nvSpPr>
          <p:cNvPr id="10" name="">
            <a:extLst xmlns:a="http://schemas.openxmlformats.org/drawingml/2006/main">
              <a:ext uri="{FF2B5EF4-FFF2-40B4-BE49-F238E27FC236}">
                <a16:creationId xmlns:a16="http://schemas.microsoft.com/office/drawing/2014/main" id="{1C11C031-C99A-4F9A-B5EC-03580E370ABE}"/>
              </a:ext>
            </a:extLst>
          </p:cNvPr>
          <p:cNvSpPr>
            <a:spLocks xmlns:a="http://schemas.openxmlformats.org/drawingml/2006/main" noGrp="1"/>
          </p:cNvSpPr>
          <p:nvPr/>
        </p:nvSpPr>
        <p:spPr>
          <a:xfrm xmlns:a="http://schemas.openxmlformats.org/drawingml/2006/main">
            <a:off x="704850" y="4067175"/>
            <a:ext cx="49339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極端に大きい値と小さい値の</a:t>
            </a:r>
          </a:p>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両方で、共発生が重要。</a:t>
            </a:r>
          </a:p>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金融・リスク等の依存のモデル。</a:t>
            </a:r>
          </a:p>
        </p:txBody>
      </p:sp>
      <p:sp>
        <p:nvSpPr>
          <p:cNvPr id="11" name="">
            <a:extLst xmlns:a="http://schemas.openxmlformats.org/drawingml/2006/main">
              <a:ext uri="{FF2B5EF4-FFF2-40B4-BE49-F238E27FC236}">
                <a16:creationId xmlns:a16="http://schemas.microsoft.com/office/drawing/2014/main" id="{5C65372C-237C-4372-B2FC-FAF9766A35BD}"/>
              </a:ext>
            </a:extLst>
          </p:cNvPr>
          <p:cNvSpPr>
            <a:spLocks xmlns:a="http://schemas.openxmlformats.org/drawingml/2006/main" noGrp="1"/>
          </p:cNvSpPr>
          <p:nvPr/>
        </p:nvSpPr>
        <p:spPr>
          <a:xfrm xmlns:a="http://schemas.openxmlformats.org/drawingml/2006/main">
            <a:off x="6076950" y="3400425"/>
            <a:ext cx="5600700" cy="182880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A4B78DD-4B9F-4CB0-B0A1-ACF8A3F412FA}"/>
              </a:ext>
            </a:extLst>
          </p:cNvPr>
          <p:cNvSpPr>
            <a:spLocks xmlns:a="http://schemas.openxmlformats.org/drawingml/2006/main" noGrp="1"/>
          </p:cNvSpPr>
          <p:nvPr/>
        </p:nvSpPr>
        <p:spPr>
          <a:xfrm xmlns:a="http://schemas.openxmlformats.org/drawingml/2006/main">
            <a:off x="6267450" y="3514725"/>
            <a:ext cx="5219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注意点</a:t>
            </a:r>
          </a:p>
        </p:txBody>
      </p:sp>
      <p:sp>
        <p:nvSpPr>
          <p:cNvPr id="13" name="">
            <a:extLst xmlns:a="http://schemas.openxmlformats.org/drawingml/2006/main">
              <a:ext uri="{FF2B5EF4-FFF2-40B4-BE49-F238E27FC236}">
                <a16:creationId xmlns:a16="http://schemas.microsoft.com/office/drawing/2014/main" id="{1025752A-3DE5-4FCB-958A-010019C9C231}"/>
              </a:ext>
            </a:extLst>
          </p:cNvPr>
          <p:cNvSpPr>
            <a:spLocks xmlns:a="http://schemas.openxmlformats.org/drawingml/2006/main" noGrp="1"/>
          </p:cNvSpPr>
          <p:nvPr/>
        </p:nvSpPr>
        <p:spPr>
          <a:xfrm xmlns:a="http://schemas.openxmlformats.org/drawingml/2006/main">
            <a:off x="6267450" y="4067175"/>
            <a:ext cx="5219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自由度νの推定が必要。</a:t>
            </a:r>
          </a:p>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裾のサンプルが少ないと不安定。</a:t>
            </a:r>
          </a:p>
          <a:p xmlns:a="http://schemas.openxmlformats.org/drawingml/2006/main">
            <a:pPr algn="l">
              <a:defRPr sz="1875" b="0">
                <a:solidFill>
                  <a:srgbClr val="222222"/>
                </a:solidFill>
                <a:latin typeface="Noto Sans JP"/>
                <a:ea typeface="Noto Sans JP"/>
                <a:cs typeface="Noto Sans JP"/>
              </a:defRPr>
            </a:pPr>
            <a:r>
              <a:rPr sz="1875" b="0">
                <a:solidFill>
                  <a:srgbClr val="222222"/>
                </a:solidFill>
                <a:latin typeface="Noto Sans JP"/>
                <a:ea typeface="Noto Sans JP"/>
                <a:cs typeface="Noto Sans JP"/>
              </a:rPr>
              <a:t>周辺の重い裾とは別の話。</a:t>
            </a:r>
          </a:p>
        </p:txBody>
      </p:sp>
      <p:sp>
        <p:nvSpPr>
          <p:cNvPr id="14" name="">
            <a:extLst xmlns:a="http://schemas.openxmlformats.org/drawingml/2006/main">
              <a:ext uri="{FF2B5EF4-FFF2-40B4-BE49-F238E27FC236}">
                <a16:creationId xmlns:a16="http://schemas.microsoft.com/office/drawing/2014/main" id="{F210793B-7DD3-48B3-BEAE-535A130D9824}"/>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33AD578-EA50-41BB-A3B0-24A864110587}"/>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次の候補。ただし追加パラメータが性能を保証するわけではない</a:t>
            </a:r>
          </a:p>
        </p:txBody>
      </p:sp>
    </p:spTree>
    <p:extLst>
      <p:ext uri="{BB962C8B-B14F-4D97-AF65-F5344CB8AC3E}">
        <p14:creationId xmlns:p14="http://schemas.microsoft.com/office/powerpoint/2010/main" val="1810049477"/>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E4D16F3-21C0-4539-8E52-4F391DE255DA}"/>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補足：Clayton copula</a:t>
            </a:r>
          </a:p>
        </p:txBody>
      </p:sp>
      <p:sp>
        <p:nvSpPr>
          <p:cNvPr id="2" name="">
            <a:extLst xmlns:a="http://schemas.openxmlformats.org/drawingml/2006/main">
              <a:ext uri="{FF2B5EF4-FFF2-40B4-BE49-F238E27FC236}">
                <a16:creationId xmlns:a16="http://schemas.microsoft.com/office/drawing/2014/main" id="{D4B64EB0-8507-4462-A7B0-0CBD5BC074E6}"/>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699A797B-0F4B-40A5-B6E4-35286F082D43}"/>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小さい側の位置が一緒になる、下側の裾依存。</a:t>
            </a:r>
          </a:p>
        </p:txBody>
      </p:sp>
      <p:sp>
        <p:nvSpPr>
          <p:cNvPr id="4" name="">
            <a:extLst xmlns:a="http://schemas.openxmlformats.org/drawingml/2006/main">
              <a:ext uri="{FF2B5EF4-FFF2-40B4-BE49-F238E27FC236}">
                <a16:creationId xmlns:a16="http://schemas.microsoft.com/office/drawing/2014/main" id="{4619CFB9-7595-4B6F-848F-4AEA842AEB96}"/>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補足・種類</a:t>
            </a:r>
          </a:p>
        </p:txBody>
      </p:sp>
      <p:sp>
        <p:nvSpPr>
          <p:cNvPr id="5" name="">
            <a:extLst xmlns:a="http://schemas.openxmlformats.org/drawingml/2006/main">
              <a:ext uri="{FF2B5EF4-FFF2-40B4-BE49-F238E27FC236}">
                <a16:creationId xmlns:a16="http://schemas.microsoft.com/office/drawing/2014/main" id="{5C9BD26F-8508-4FA0-A6AF-A824DA23DFA5}"/>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51</a:t>
            </a:r>
          </a:p>
        </p:txBody>
      </p:sp>
      <p:sp>
        <p:nvSpPr>
          <p:cNvPr id="6" name="">
            <a:extLst xmlns:a="http://schemas.openxmlformats.org/drawingml/2006/main">
              <a:ext uri="{FF2B5EF4-FFF2-40B4-BE49-F238E27FC236}">
                <a16:creationId xmlns:a16="http://schemas.microsoft.com/office/drawing/2014/main" id="{B910D619-F2BA-49CA-B821-62AEEBFF9E2F}"/>
              </a:ext>
            </a:extLst>
          </p:cNvPr>
          <p:cNvSpPr>
            <a:spLocks xmlns:a="http://schemas.openxmlformats.org/drawingml/2006/main" noGrp="1"/>
          </p:cNvSpPr>
          <p:nvPr/>
        </p:nvSpPr>
        <p:spPr>
          <a:xfrm xmlns:a="http://schemas.openxmlformats.org/drawingml/2006/main">
            <a:off x="514350" y="197167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BEB5646-D58E-4F5F-B7A3-0E2013697FBD}"/>
              </a:ext>
            </a:extLst>
          </p:cNvPr>
          <p:cNvSpPr>
            <a:spLocks xmlns:a="http://schemas.openxmlformats.org/drawingml/2006/main" noGrp="1"/>
          </p:cNvSpPr>
          <p:nvPr/>
        </p:nvSpPr>
        <p:spPr>
          <a:xfrm xmlns:a="http://schemas.openxmlformats.org/drawingml/2006/main">
            <a:off x="704850" y="206692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700" b="1">
                <a:solidFill>
                  <a:srgbClr val="2B6777"/>
                </a:solidFill>
                <a:latin typeface="Noto Sans JP"/>
                <a:ea typeface="Noto Sans JP"/>
                <a:cs typeface="Noto Sans JP"/>
              </a:defRPr>
            </a:pPr>
            <a:r>
              <a:rPr sz="2700" b="1">
                <a:solidFill>
                  <a:srgbClr val="2B6777"/>
                </a:solidFill>
                <a:latin typeface="Noto Sans JP"/>
                <a:ea typeface="Noto Sans JP"/>
                <a:cs typeface="Noto Sans JP"/>
              </a:rPr>
              <a:t>C_θ(u,v) = (u⁻ᶿ + v⁻ᶿ − 1)^(−1/θ) ,  θ &gt; 0</a:t>
            </a:r>
          </a:p>
        </p:txBody>
      </p:sp>
      <p:sp>
        <p:nvSpPr>
          <p:cNvPr id="8" name="">
            <a:extLst xmlns:a="http://schemas.openxmlformats.org/drawingml/2006/main">
              <a:ext uri="{FF2B5EF4-FFF2-40B4-BE49-F238E27FC236}">
                <a16:creationId xmlns:a16="http://schemas.microsoft.com/office/drawing/2014/main" id="{224AB6F2-E14B-4278-A874-3BF85A5D43FB}"/>
              </a:ext>
            </a:extLst>
          </p:cNvPr>
          <p:cNvSpPr>
            <a:spLocks xmlns:a="http://schemas.openxmlformats.org/drawingml/2006/main" noGrp="1"/>
          </p:cNvSpPr>
          <p:nvPr/>
        </p:nvSpPr>
        <p:spPr>
          <a:xfrm xmlns:a="http://schemas.openxmlformats.org/drawingml/2006/main">
            <a:off x="552450" y="3352800"/>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9" name="">
            <a:extLst xmlns:a="http://schemas.openxmlformats.org/drawingml/2006/main">
              <a:ext uri="{FF2B5EF4-FFF2-40B4-BE49-F238E27FC236}">
                <a16:creationId xmlns:a16="http://schemas.microsoft.com/office/drawing/2014/main" id="{05F85EC5-8B76-4F66-8F9F-CD8A8E4A5248}"/>
              </a:ext>
            </a:extLst>
          </p:cNvPr>
          <p:cNvSpPr>
            <a:spLocks xmlns:a="http://schemas.openxmlformats.org/drawingml/2006/main" noGrp="1"/>
          </p:cNvSpPr>
          <p:nvPr/>
        </p:nvSpPr>
        <p:spPr>
          <a:xfrm xmlns:a="http://schemas.openxmlformats.org/drawingml/2006/main">
            <a:off x="1257300" y="3352800"/>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下位の収益・小さい測定値が同時に起こる依存に合う。</a:t>
            </a:r>
          </a:p>
        </p:txBody>
      </p:sp>
      <p:sp>
        <p:nvSpPr>
          <p:cNvPr id="10" name="">
            <a:extLst xmlns:a="http://schemas.openxmlformats.org/drawingml/2006/main">
              <a:ext uri="{FF2B5EF4-FFF2-40B4-BE49-F238E27FC236}">
                <a16:creationId xmlns:a16="http://schemas.microsoft.com/office/drawing/2014/main" id="{142186B9-624C-49E9-A73D-7348BFE9DB64}"/>
              </a:ext>
            </a:extLst>
          </p:cNvPr>
          <p:cNvSpPr>
            <a:spLocks xmlns:a="http://schemas.openxmlformats.org/drawingml/2006/main" noGrp="1"/>
          </p:cNvSpPr>
          <p:nvPr/>
        </p:nvSpPr>
        <p:spPr>
          <a:xfrm xmlns:a="http://schemas.openxmlformats.org/drawingml/2006/main">
            <a:off x="552450" y="4022725"/>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11" name="">
            <a:extLst xmlns:a="http://schemas.openxmlformats.org/drawingml/2006/main">
              <a:ext uri="{FF2B5EF4-FFF2-40B4-BE49-F238E27FC236}">
                <a16:creationId xmlns:a16="http://schemas.microsoft.com/office/drawing/2014/main" id="{1A608F4A-FAB7-4E73-B197-EB75F8D5F261}"/>
              </a:ext>
            </a:extLst>
          </p:cNvPr>
          <p:cNvSpPr>
            <a:spLocks xmlns:a="http://schemas.openxmlformats.org/drawingml/2006/main" noGrp="1"/>
          </p:cNvSpPr>
          <p:nvPr/>
        </p:nvSpPr>
        <p:spPr>
          <a:xfrm xmlns:a="http://schemas.openxmlformats.org/drawingml/2006/main">
            <a:off x="1257300" y="4022725"/>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下側裾：λL = 2⁻¹/θ、上側裾：λU = 0。</a:t>
            </a:r>
          </a:p>
        </p:txBody>
      </p:sp>
      <p:sp>
        <p:nvSpPr>
          <p:cNvPr id="12" name="">
            <a:extLst xmlns:a="http://schemas.openxmlformats.org/drawingml/2006/main">
              <a:ext uri="{FF2B5EF4-FFF2-40B4-BE49-F238E27FC236}">
                <a16:creationId xmlns:a16="http://schemas.microsoft.com/office/drawing/2014/main" id="{A6243D8B-CA71-4144-801E-7FE576C2B91C}"/>
              </a:ext>
            </a:extLst>
          </p:cNvPr>
          <p:cNvSpPr>
            <a:spLocks xmlns:a="http://schemas.openxmlformats.org/drawingml/2006/main" noGrp="1"/>
          </p:cNvSpPr>
          <p:nvPr/>
        </p:nvSpPr>
        <p:spPr>
          <a:xfrm xmlns:a="http://schemas.openxmlformats.org/drawingml/2006/main">
            <a:off x="552450" y="4692650"/>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3" name="">
            <a:extLst xmlns:a="http://schemas.openxmlformats.org/drawingml/2006/main">
              <a:ext uri="{FF2B5EF4-FFF2-40B4-BE49-F238E27FC236}">
                <a16:creationId xmlns:a16="http://schemas.microsoft.com/office/drawing/2014/main" id="{042E57B6-E8CC-414F-A86A-EF4F6304FC94}"/>
              </a:ext>
            </a:extLst>
          </p:cNvPr>
          <p:cNvSpPr>
            <a:spLocks xmlns:a="http://schemas.openxmlformats.org/drawingml/2006/main" noGrp="1"/>
          </p:cNvSpPr>
          <p:nvPr/>
        </p:nvSpPr>
        <p:spPr>
          <a:xfrm xmlns:a="http://schemas.openxmlformats.org/drawingml/2006/main">
            <a:off x="1257300" y="4692650"/>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単一θの多変量形は、列ごとの関係の違いを表しにくい。</a:t>
            </a:r>
          </a:p>
        </p:txBody>
      </p:sp>
      <p:sp>
        <p:nvSpPr>
          <p:cNvPr id="14" name="">
            <a:extLst xmlns:a="http://schemas.openxmlformats.org/drawingml/2006/main">
              <a:ext uri="{FF2B5EF4-FFF2-40B4-BE49-F238E27FC236}">
                <a16:creationId xmlns:a16="http://schemas.microsoft.com/office/drawing/2014/main" id="{7C7CB3F2-E16F-4DDC-B54B-20EBCD2ACDC0}"/>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B271EFD-CBA1-4AF1-BB6B-F48AC278E531}"/>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片側の裾依存を明示して選ぶ。万能な非線形モデルではない</a:t>
            </a:r>
          </a:p>
        </p:txBody>
      </p:sp>
    </p:spTree>
    <p:extLst>
      <p:ext uri="{BB962C8B-B14F-4D97-AF65-F5344CB8AC3E}">
        <p14:creationId xmlns:p14="http://schemas.microsoft.com/office/powerpoint/2010/main" val="1567967702"/>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1304B6D-6907-4EAF-8553-47A0E0E1305A}"/>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補足：Gumbel copulaとJoe</a:t>
            </a:r>
          </a:p>
        </p:txBody>
      </p:sp>
      <p:sp>
        <p:nvSpPr>
          <p:cNvPr id="2" name="">
            <a:extLst xmlns:a="http://schemas.openxmlformats.org/drawingml/2006/main">
              <a:ext uri="{FF2B5EF4-FFF2-40B4-BE49-F238E27FC236}">
                <a16:creationId xmlns:a16="http://schemas.microsoft.com/office/drawing/2014/main" id="{B772DA15-95E8-4403-8109-FD4F23E7BE72}"/>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5AFAA05-7DFD-40CC-83C3-6237EACF5DCF}"/>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大きい側の位置が一緒になる、上側の裾依存。</a:t>
            </a:r>
          </a:p>
        </p:txBody>
      </p:sp>
      <p:sp>
        <p:nvSpPr>
          <p:cNvPr id="4" name="">
            <a:extLst xmlns:a="http://schemas.openxmlformats.org/drawingml/2006/main">
              <a:ext uri="{FF2B5EF4-FFF2-40B4-BE49-F238E27FC236}">
                <a16:creationId xmlns:a16="http://schemas.microsoft.com/office/drawing/2014/main" id="{0FE9CB77-FD51-4141-8531-60A053CA9314}"/>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補足・種類</a:t>
            </a:r>
          </a:p>
        </p:txBody>
      </p:sp>
      <p:sp>
        <p:nvSpPr>
          <p:cNvPr id="5" name="">
            <a:extLst xmlns:a="http://schemas.openxmlformats.org/drawingml/2006/main">
              <a:ext uri="{FF2B5EF4-FFF2-40B4-BE49-F238E27FC236}">
                <a16:creationId xmlns:a16="http://schemas.microsoft.com/office/drawing/2014/main" id="{10FF83A2-5B87-492B-AD29-F51EFCBBBCEC}"/>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52</a:t>
            </a:r>
          </a:p>
        </p:txBody>
      </p:sp>
      <p:sp>
        <p:nvSpPr>
          <p:cNvPr id="6" name="">
            <a:extLst xmlns:a="http://schemas.openxmlformats.org/drawingml/2006/main">
              <a:ext uri="{FF2B5EF4-FFF2-40B4-BE49-F238E27FC236}">
                <a16:creationId xmlns:a16="http://schemas.microsoft.com/office/drawing/2014/main" id="{092122E9-988D-4009-A67C-7C691CA45916}"/>
              </a:ext>
            </a:extLst>
          </p:cNvPr>
          <p:cNvSpPr>
            <a:spLocks xmlns:a="http://schemas.openxmlformats.org/drawingml/2006/main" noGrp="1"/>
          </p:cNvSpPr>
          <p:nvPr/>
        </p:nvSpPr>
        <p:spPr>
          <a:xfrm xmlns:a="http://schemas.openxmlformats.org/drawingml/2006/main">
            <a:off x="514350" y="19621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913168B-164B-4BFF-AF0C-9743D106F8B0}"/>
              </a:ext>
            </a:extLst>
          </p:cNvPr>
          <p:cNvSpPr>
            <a:spLocks xmlns:a="http://schemas.openxmlformats.org/drawingml/2006/main" noGrp="1"/>
          </p:cNvSpPr>
          <p:nvPr/>
        </p:nvSpPr>
        <p:spPr>
          <a:xfrm xmlns:a="http://schemas.openxmlformats.org/drawingml/2006/main">
            <a:off x="704850" y="20574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C_θ(u,v) = exp{−[(−ln u)ᶿ + (−ln v)ᶿ]^(1/θ)}</a:t>
            </a:r>
          </a:p>
        </p:txBody>
      </p:sp>
      <p:graphicFrame>
        <p:nvGraphicFramePr>
          <p:cNvPr id="18" name=""/>
          <p:cNvGraphicFramePr/>
          <p:nvPr/>
        </p:nvGraphicFramePr>
        <p:xfrm>
          <a:off xmlns:a="http://schemas.openxmlformats.org/drawingml/2006/main" x="514350" y="3381375"/>
          <a:ext xmlns:a="http://schemas.openxmlformats.org/drawingml/2006/main" cx="11163300" cy="1990725"/>
        </p:xfrm>
        <a:graphic xmlns:a="http://schemas.openxmlformats.org/drawingml/2006/main">
          <a:graphicData uri="http://schemas.openxmlformats.org/drawingml/2006/table">
            <a:tbl>
              <a:tblPr/>
              <a:tblGrid>
                <a:gridCol w="2667000"/>
                <a:gridCol w="8496300"/>
              </a:tblGrid>
              <a:tr h="497681">
                <a:tc>
                  <a:txBody>
                    <a:bodyPr/>
                    <a:lstStyle/>
                    <a:p>
                      <a:pPr algn="ctr"/>
                      <a:r>
                        <a:rPr sz="1875" b="1">
                          <a:solidFill>
                            <a:srgbClr val="2E7D5B"/>
                          </a:solidFill>
                          <a:latin typeface="Noto Sans JP"/>
                          <a:ea typeface="Noto Sans JP"/>
                          <a:cs typeface="Noto Sans JP"/>
                        </a:rPr>
                        <a:t>Gumbelの設定</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特徴</a:t>
                      </a:r>
                    </a:p>
                  </a:txBody>
                  <a:tcPr marL="91440" marR="91440" marT="45720" marB="45720" anchor="ctr">
                    <a:solidFill>
                      <a:srgbClr val="E7F2EC"/>
                    </a:solidFill>
                  </a:tcPr>
                </a:tc>
              </a:tr>
              <a:tr h="497681">
                <a:tc>
                  <a:txBody>
                    <a:bodyPr/>
                    <a:lstStyle/>
                    <a:p>
                      <a:pPr algn="ctr"/>
                      <a:r>
                        <a:rPr sz="1875" b="0">
                          <a:solidFill>
                            <a:srgbClr val="222222"/>
                          </a:solidFill>
                          <a:latin typeface="Noto Sans JP"/>
                          <a:ea typeface="Noto Sans JP"/>
                          <a:cs typeface="Noto Sans JP"/>
                        </a:rPr>
                        <a:t>θ ≥ 1 / θ = 1</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θ=1なら独立。θが大きいほど強い依存。</a:t>
                      </a:r>
                    </a:p>
                  </a:txBody>
                  <a:tcPr marL="91440" marR="91440" marT="45720" marB="45720" anchor="ctr">
                    <a:solidFill>
                      <a:srgbClr val="FFFFFF"/>
                    </a:solidFill>
                  </a:tcPr>
                </a:tc>
              </a:tr>
              <a:tr h="497681">
                <a:tc>
                  <a:txBody>
                    <a:bodyPr/>
                    <a:lstStyle/>
                    <a:p>
                      <a:pPr algn="ctr"/>
                      <a:r>
                        <a:rPr sz="1875" b="0">
                          <a:solidFill>
                            <a:srgbClr val="222222"/>
                          </a:solidFill>
                          <a:latin typeface="Noto Sans JP"/>
                          <a:ea typeface="Noto Sans JP"/>
                          <a:cs typeface="Noto Sans JP"/>
                        </a:rPr>
                        <a:t>裾依存</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λU = 2 − 2¹/θ、λL = 0</a:t>
                      </a:r>
                    </a:p>
                  </a:txBody>
                  <a:tcPr marL="91440" marR="91440" marT="45720" marB="45720" anchor="ctr">
                    <a:solidFill>
                      <a:srgbClr val="F6F6F6"/>
                    </a:solidFill>
                  </a:tcPr>
                </a:tc>
              </a:tr>
              <a:tr h="497681">
                <a:tc>
                  <a:txBody>
                    <a:bodyPr/>
                    <a:lstStyle/>
                    <a:p>
                      <a:pPr algn="ctr"/>
                      <a:r>
                        <a:rPr sz="1875" b="0">
                          <a:solidFill>
                            <a:srgbClr val="222222"/>
                          </a:solidFill>
                          <a:latin typeface="Noto Sans JP"/>
                          <a:ea typeface="Noto Sans JP"/>
                          <a:cs typeface="Noto Sans JP"/>
                        </a:rPr>
                        <a:t>Joeとの関係</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Joeも上側裾依存。同じ裾係数でも内部の形は違う。</a:t>
                      </a:r>
                    </a:p>
                  </a:txBody>
                  <a:tcPr marL="91440" marR="91440" marT="45720" marB="45720" anchor="ctr">
                    <a:solidFill>
                      <a:srgbClr val="FFFFFF"/>
                    </a:solidFill>
                  </a:tcPr>
                </a:tc>
              </a:tr>
            </a:tbl>
          </a:graphicData>
        </a:graphic>
      </p:graphicFrame>
      <p:sp>
        <p:nvSpPr>
          <p:cNvPr id="9" name="">
            <a:extLst xmlns:a="http://schemas.openxmlformats.org/drawingml/2006/main">
              <a:ext uri="{FF2B5EF4-FFF2-40B4-BE49-F238E27FC236}">
                <a16:creationId xmlns:a16="http://schemas.microsoft.com/office/drawing/2014/main" id="{D8DC2A7E-3F6E-4E3A-B5A2-F9CF2F1BAB72}"/>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0BB186D9-A42A-4A89-83D0-8B29BB879D3F}"/>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大雨・需要急増等、上側の共発生が重要なときの候補</a:t>
            </a:r>
          </a:p>
        </p:txBody>
      </p:sp>
    </p:spTree>
    <p:extLst>
      <p:ext uri="{BB962C8B-B14F-4D97-AF65-F5344CB8AC3E}">
        <p14:creationId xmlns:p14="http://schemas.microsoft.com/office/powerpoint/2010/main" val="1830393526"/>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B9C4D6F-4081-4795-AD96-B479B68C74F9}"/>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補足：Frank copula</a:t>
            </a:r>
          </a:p>
        </p:txBody>
      </p:sp>
      <p:sp>
        <p:nvSpPr>
          <p:cNvPr id="2" name="">
            <a:extLst xmlns:a="http://schemas.openxmlformats.org/drawingml/2006/main">
              <a:ext uri="{FF2B5EF4-FFF2-40B4-BE49-F238E27FC236}">
                <a16:creationId xmlns:a16="http://schemas.microsoft.com/office/drawing/2014/main" id="{94F33D2E-7353-4F53-8F8A-9C96EB732D0E}"/>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3094DCA-E69B-46CC-ADE4-C0EE47C435F7}"/>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中央付近も含むなめらかな依存。上下の裾依存係数は0。</a:t>
            </a:r>
          </a:p>
        </p:txBody>
      </p:sp>
      <p:sp>
        <p:nvSpPr>
          <p:cNvPr id="4" name="">
            <a:extLst xmlns:a="http://schemas.openxmlformats.org/drawingml/2006/main">
              <a:ext uri="{FF2B5EF4-FFF2-40B4-BE49-F238E27FC236}">
                <a16:creationId xmlns:a16="http://schemas.microsoft.com/office/drawing/2014/main" id="{FD898A9F-0907-4C9B-A4CF-9C865EB9E383}"/>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補足・種類</a:t>
            </a:r>
          </a:p>
        </p:txBody>
      </p:sp>
      <p:sp>
        <p:nvSpPr>
          <p:cNvPr id="5" name="">
            <a:extLst xmlns:a="http://schemas.openxmlformats.org/drawingml/2006/main">
              <a:ext uri="{FF2B5EF4-FFF2-40B4-BE49-F238E27FC236}">
                <a16:creationId xmlns:a16="http://schemas.microsoft.com/office/drawing/2014/main" id="{E02BB84D-0EC9-4594-9BB0-37A1B2BBAFAB}"/>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53</a:t>
            </a:r>
          </a:p>
        </p:txBody>
      </p:sp>
      <p:sp>
        <p:nvSpPr>
          <p:cNvPr id="6" name="">
            <a:extLst xmlns:a="http://schemas.openxmlformats.org/drawingml/2006/main">
              <a:ext uri="{FF2B5EF4-FFF2-40B4-BE49-F238E27FC236}">
                <a16:creationId xmlns:a16="http://schemas.microsoft.com/office/drawing/2014/main" id="{402578B7-3837-4E57-BBA8-1F50BAD8B96E}"/>
              </a:ext>
            </a:extLst>
          </p:cNvPr>
          <p:cNvSpPr>
            <a:spLocks xmlns:a="http://schemas.openxmlformats.org/drawingml/2006/main" noGrp="1"/>
          </p:cNvSpPr>
          <p:nvPr/>
        </p:nvSpPr>
        <p:spPr>
          <a:xfrm xmlns:a="http://schemas.openxmlformats.org/drawingml/2006/main">
            <a:off x="514350" y="193357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78390B7-3823-4F3D-A580-8B6D5AA0703C}"/>
              </a:ext>
            </a:extLst>
          </p:cNvPr>
          <p:cNvSpPr>
            <a:spLocks xmlns:a="http://schemas.openxmlformats.org/drawingml/2006/main" noGrp="1"/>
          </p:cNvSpPr>
          <p:nvPr/>
        </p:nvSpPr>
        <p:spPr>
          <a:xfrm xmlns:a="http://schemas.openxmlformats.org/drawingml/2006/main">
            <a:off x="704850" y="202882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100" b="1">
                <a:solidFill>
                  <a:srgbClr val="2B6777"/>
                </a:solidFill>
                <a:latin typeface="Noto Sans JP"/>
                <a:ea typeface="Noto Sans JP"/>
                <a:cs typeface="Noto Sans JP"/>
              </a:defRPr>
            </a:pPr>
            <a:r>
              <a:rPr sz="2100" b="1">
                <a:solidFill>
                  <a:srgbClr val="2B6777"/>
                </a:solidFill>
                <a:latin typeface="Noto Sans JP"/>
                <a:ea typeface="Noto Sans JP"/>
                <a:cs typeface="Noto Sans JP"/>
              </a:rPr>
              <a:t>C_θ(u,v) = −(1/θ) ln[1 + (e^(−θu) − 1)(e^(−θv) − 1)/(e^(−θ) − 1)]</a:t>
            </a:r>
          </a:p>
        </p:txBody>
      </p:sp>
      <p:sp>
        <p:nvSpPr>
          <p:cNvPr id="8" name="">
            <a:extLst xmlns:a="http://schemas.openxmlformats.org/drawingml/2006/main">
              <a:ext uri="{FF2B5EF4-FFF2-40B4-BE49-F238E27FC236}">
                <a16:creationId xmlns:a16="http://schemas.microsoft.com/office/drawing/2014/main" id="{483123D6-A768-47FE-8C5A-47E11AE0BB56}"/>
              </a:ext>
            </a:extLst>
          </p:cNvPr>
          <p:cNvSpPr>
            <a:spLocks xmlns:a="http://schemas.openxmlformats.org/drawingml/2006/main" noGrp="1"/>
          </p:cNvSpPr>
          <p:nvPr/>
        </p:nvSpPr>
        <p:spPr>
          <a:xfrm xmlns:a="http://schemas.openxmlformats.org/drawingml/2006/main">
            <a:off x="552450" y="3352800"/>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9" name="">
            <a:extLst xmlns:a="http://schemas.openxmlformats.org/drawingml/2006/main">
              <a:ext uri="{FF2B5EF4-FFF2-40B4-BE49-F238E27FC236}">
                <a16:creationId xmlns:a16="http://schemas.microsoft.com/office/drawing/2014/main" id="{E57387F8-C427-470E-BC7E-BF1D7DAD561D}"/>
              </a:ext>
            </a:extLst>
          </p:cNvPr>
          <p:cNvSpPr>
            <a:spLocks xmlns:a="http://schemas.openxmlformats.org/drawingml/2006/main" noGrp="1"/>
          </p:cNvSpPr>
          <p:nvPr/>
        </p:nvSpPr>
        <p:spPr>
          <a:xfrm xmlns:a="http://schemas.openxmlformats.org/drawingml/2006/main">
            <a:off x="1257300" y="3352800"/>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二変量ではθ&gt;0で正の依存、θ&lt;0で負の依存。</a:t>
            </a:r>
          </a:p>
        </p:txBody>
      </p:sp>
      <p:sp>
        <p:nvSpPr>
          <p:cNvPr id="10" name="">
            <a:extLst xmlns:a="http://schemas.openxmlformats.org/drawingml/2006/main">
              <a:ext uri="{FF2B5EF4-FFF2-40B4-BE49-F238E27FC236}">
                <a16:creationId xmlns:a16="http://schemas.microsoft.com/office/drawing/2014/main" id="{76AC720F-11C2-44E8-BF09-F11B777E2FF0}"/>
              </a:ext>
            </a:extLst>
          </p:cNvPr>
          <p:cNvSpPr>
            <a:spLocks xmlns:a="http://schemas.openxmlformats.org/drawingml/2006/main" noGrp="1"/>
          </p:cNvSpPr>
          <p:nvPr/>
        </p:nvSpPr>
        <p:spPr>
          <a:xfrm xmlns:a="http://schemas.openxmlformats.org/drawingml/2006/main">
            <a:off x="552450" y="4022725"/>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11" name="">
            <a:extLst xmlns:a="http://schemas.openxmlformats.org/drawingml/2006/main">
              <a:ext uri="{FF2B5EF4-FFF2-40B4-BE49-F238E27FC236}">
                <a16:creationId xmlns:a16="http://schemas.microsoft.com/office/drawing/2014/main" id="{7573D28B-93E5-4630-AAC9-F478AFE54686}"/>
              </a:ext>
            </a:extLst>
          </p:cNvPr>
          <p:cNvSpPr>
            <a:spLocks xmlns:a="http://schemas.openxmlformats.org/drawingml/2006/main" noGrp="1"/>
          </p:cNvSpPr>
          <p:nvPr/>
        </p:nvSpPr>
        <p:spPr>
          <a:xfrm xmlns:a="http://schemas.openxmlformats.org/drawingml/2006/main">
            <a:off x="1257300" y="4022725"/>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θ→0で独立。上下の裾依存係数は0。</a:t>
            </a:r>
          </a:p>
        </p:txBody>
      </p:sp>
      <p:sp>
        <p:nvSpPr>
          <p:cNvPr id="12" name="">
            <a:extLst xmlns:a="http://schemas.openxmlformats.org/drawingml/2006/main">
              <a:ext uri="{FF2B5EF4-FFF2-40B4-BE49-F238E27FC236}">
                <a16:creationId xmlns:a16="http://schemas.microsoft.com/office/drawing/2014/main" id="{FE799F54-7E50-42BA-B690-139AE93736EA}"/>
              </a:ext>
            </a:extLst>
          </p:cNvPr>
          <p:cNvSpPr>
            <a:spLocks xmlns:a="http://schemas.openxmlformats.org/drawingml/2006/main" noGrp="1"/>
          </p:cNvSpPr>
          <p:nvPr/>
        </p:nvSpPr>
        <p:spPr>
          <a:xfrm xmlns:a="http://schemas.openxmlformats.org/drawingml/2006/main">
            <a:off x="552450" y="4692650"/>
            <a:ext cx="4762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3" name="">
            <a:extLst xmlns:a="http://schemas.openxmlformats.org/drawingml/2006/main">
              <a:ext uri="{FF2B5EF4-FFF2-40B4-BE49-F238E27FC236}">
                <a16:creationId xmlns:a16="http://schemas.microsoft.com/office/drawing/2014/main" id="{EE8A43F2-8637-4D4B-8732-D73625EA63DB}"/>
              </a:ext>
            </a:extLst>
          </p:cNvPr>
          <p:cNvSpPr>
            <a:spLocks xmlns:a="http://schemas.openxmlformats.org/drawingml/2006/main" noGrp="1"/>
          </p:cNvSpPr>
          <p:nvPr/>
        </p:nvSpPr>
        <p:spPr>
          <a:xfrm xmlns:a="http://schemas.openxmlformats.org/drawingml/2006/main">
            <a:off x="1257300" y="4692650"/>
            <a:ext cx="10191750" cy="59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極端な共発生より、中央を含む関係を重視する候補。</a:t>
            </a:r>
          </a:p>
        </p:txBody>
      </p:sp>
      <p:sp>
        <p:nvSpPr>
          <p:cNvPr id="14" name="">
            <a:extLst xmlns:a="http://schemas.openxmlformats.org/drawingml/2006/main">
              <a:ext uri="{FF2B5EF4-FFF2-40B4-BE49-F238E27FC236}">
                <a16:creationId xmlns:a16="http://schemas.microsoft.com/office/drawing/2014/main" id="{4C2F7CEE-CA0C-4BB1-A329-1019FCB27F5F}"/>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B9E9FC6B-F590-45A5-9CF7-7C17447CB4D8}"/>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「裾依存が0」でも、全範囲で独立という意味ではない</a:t>
            </a:r>
          </a:p>
        </p:txBody>
      </p:sp>
    </p:spTree>
    <p:extLst>
      <p:ext uri="{BB962C8B-B14F-4D97-AF65-F5344CB8AC3E}">
        <p14:creationId xmlns:p14="http://schemas.microsoft.com/office/powerpoint/2010/main" val="1943043718"/>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1F93C54-729C-450B-BD03-A304EC69D661}"/>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補足：回転・Vine・ノンパラメトリック</a:t>
            </a:r>
          </a:p>
        </p:txBody>
      </p:sp>
      <p:sp>
        <p:nvSpPr>
          <p:cNvPr id="2" name="">
            <a:extLst xmlns:a="http://schemas.openxmlformats.org/drawingml/2006/main">
              <a:ext uri="{FF2B5EF4-FFF2-40B4-BE49-F238E27FC236}">
                <a16:creationId xmlns:a16="http://schemas.microsoft.com/office/drawing/2014/main" id="{3BE1BFE0-63F6-471B-997D-B49B5D2F7126}"/>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75FA353A-A265-4476-918C-BF4FC9108499}"/>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単一の家族では足りない関係を、別の構成で扱う。</a:t>
            </a:r>
          </a:p>
        </p:txBody>
      </p:sp>
      <p:sp>
        <p:nvSpPr>
          <p:cNvPr id="4" name="">
            <a:extLst xmlns:a="http://schemas.openxmlformats.org/drawingml/2006/main">
              <a:ext uri="{FF2B5EF4-FFF2-40B4-BE49-F238E27FC236}">
                <a16:creationId xmlns:a16="http://schemas.microsoft.com/office/drawing/2014/main" id="{B9D5B775-D2FE-47A5-9560-8A1D8DE74A0F}"/>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補足・種類</a:t>
            </a:r>
          </a:p>
        </p:txBody>
      </p:sp>
      <p:sp>
        <p:nvSpPr>
          <p:cNvPr id="5" name="">
            <a:extLst xmlns:a="http://schemas.openxmlformats.org/drawingml/2006/main">
              <a:ext uri="{FF2B5EF4-FFF2-40B4-BE49-F238E27FC236}">
                <a16:creationId xmlns:a16="http://schemas.microsoft.com/office/drawing/2014/main" id="{2A4D815B-CCDD-4B46-ABA6-B3C3ABA9009C}"/>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54</a:t>
            </a:r>
          </a:p>
        </p:txBody>
      </p:sp>
      <p:graphicFrame>
        <p:nvGraphicFramePr>
          <p:cNvPr id="14" name=""/>
          <p:cNvGraphicFramePr/>
          <p:nvPr/>
        </p:nvGraphicFramePr>
        <p:xfrm>
          <a:off xmlns:a="http://schemas.openxmlformats.org/drawingml/2006/main" x="514350" y="2143125"/>
          <a:ext xmlns:a="http://schemas.openxmlformats.org/drawingml/2006/main" cx="11163300" cy="2647950"/>
        </p:xfrm>
        <a:graphic xmlns:a="http://schemas.openxmlformats.org/drawingml/2006/main">
          <a:graphicData uri="http://schemas.openxmlformats.org/drawingml/2006/table">
            <a:tbl>
              <a:tblPr/>
              <a:tblGrid>
                <a:gridCol w="3721100"/>
                <a:gridCol w="3721100"/>
                <a:gridCol w="3721100"/>
              </a:tblGrid>
              <a:tr h="661988">
                <a:tc>
                  <a:txBody>
                    <a:bodyPr/>
                    <a:lstStyle/>
                    <a:p>
                      <a:pPr algn="ctr"/>
                      <a:r>
                        <a:rPr sz="1950" b="1">
                          <a:solidFill>
                            <a:srgbClr val="2E7D5B"/>
                          </a:solidFill>
                          <a:latin typeface="Noto Sans JP"/>
                          <a:ea typeface="Noto Sans JP"/>
                          <a:cs typeface="Noto Sans JP"/>
                        </a:rPr>
                        <a:t>構成</a:t>
                      </a:r>
                    </a:p>
                  </a:txBody>
                  <a:tcPr marL="91440" marR="91440" marT="45720" marB="45720" anchor="ctr">
                    <a:solidFill>
                      <a:srgbClr val="E7F2EC"/>
                    </a:solidFill>
                  </a:tcPr>
                </a:tc>
                <a:tc>
                  <a:txBody>
                    <a:bodyPr/>
                    <a:lstStyle/>
                    <a:p>
                      <a:pPr algn="ctr"/>
                      <a:r>
                        <a:rPr sz="1950" b="1">
                          <a:solidFill>
                            <a:srgbClr val="2E7D5B"/>
                          </a:solidFill>
                          <a:latin typeface="Noto Sans JP"/>
                          <a:ea typeface="Noto Sans JP"/>
                          <a:cs typeface="Noto Sans JP"/>
                        </a:rPr>
                        <a:t>特徴</a:t>
                      </a:r>
                    </a:p>
                  </a:txBody>
                  <a:tcPr marL="91440" marR="91440" marT="45720" marB="45720" anchor="ctr">
                    <a:solidFill>
                      <a:srgbClr val="E7F2EC"/>
                    </a:solidFill>
                  </a:tcPr>
                </a:tc>
                <a:tc>
                  <a:txBody>
                    <a:bodyPr/>
                    <a:lstStyle/>
                    <a:p>
                      <a:pPr algn="ctr"/>
                      <a:r>
                        <a:rPr sz="1950" b="1">
                          <a:solidFill>
                            <a:srgbClr val="2E7D5B"/>
                          </a:solidFill>
                          <a:latin typeface="Noto Sans JP"/>
                          <a:ea typeface="Noto Sans JP"/>
                          <a:cs typeface="Noto Sans JP"/>
                        </a:rPr>
                        <a:t>注意点</a:t>
                      </a:r>
                    </a:p>
                  </a:txBody>
                  <a:tcPr marL="91440" marR="91440" marT="45720" marB="45720" anchor="ctr">
                    <a:solidFill>
                      <a:srgbClr val="E7F2EC"/>
                    </a:solidFill>
                  </a:tcPr>
                </a:tc>
              </a:tr>
              <a:tr h="661988">
                <a:tc>
                  <a:txBody>
                    <a:bodyPr/>
                    <a:lstStyle/>
                    <a:p>
                      <a:pPr algn="ctr"/>
                      <a:r>
                        <a:rPr sz="1950" b="0">
                          <a:solidFill>
                            <a:srgbClr val="222222"/>
                          </a:solidFill>
                          <a:latin typeface="Noto Sans JP"/>
                          <a:ea typeface="Noto Sans JP"/>
                          <a:cs typeface="Noto Sans JP"/>
                        </a:rPr>
                        <a:t>回転コピュラ</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依存の強いコーナーを変える</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90°・180°・270°で意味が異なる</a:t>
                      </a:r>
                    </a:p>
                  </a:txBody>
                  <a:tcPr marL="91440" marR="91440" marT="45720" marB="45720" anchor="ctr">
                    <a:solidFill>
                      <a:srgbClr val="FFFFFF"/>
                    </a:solidFill>
                  </a:tcPr>
                </a:tc>
              </a:tr>
              <a:tr h="661988">
                <a:tc>
                  <a:txBody>
                    <a:bodyPr/>
                    <a:lstStyle/>
                    <a:p>
                      <a:pPr algn="ctr"/>
                      <a:r>
                        <a:rPr sz="1950" b="0">
                          <a:solidFill>
                            <a:srgbClr val="222222"/>
                          </a:solidFill>
                          <a:latin typeface="Noto Sans JP"/>
                          <a:ea typeface="Noto Sans JP"/>
                          <a:cs typeface="Noto Sans JP"/>
                        </a:rPr>
                        <a:t>Vine</a:t>
                      </a:r>
                    </a:p>
                  </a:txBody>
                  <a:tcPr marL="91440" marR="91440" marT="45720" marB="45720" anchor="ctr">
                    <a:solidFill>
                      <a:srgbClr val="F6F6F6"/>
                    </a:solidFill>
                  </a:tcPr>
                </a:tc>
                <a:tc>
                  <a:txBody>
                    <a:bodyPr/>
                    <a:lstStyle/>
                    <a:p>
                      <a:pPr algn="ctr"/>
                      <a:r>
                        <a:rPr sz="1950" b="0">
                          <a:solidFill>
                            <a:srgbClr val="222222"/>
                          </a:solidFill>
                          <a:latin typeface="Noto Sans JP"/>
                          <a:ea typeface="Noto Sans JP"/>
                          <a:cs typeface="Noto Sans JP"/>
                        </a:rPr>
                        <a:t>ペアごとに別の家族を組合せる</a:t>
                      </a:r>
                    </a:p>
                  </a:txBody>
                  <a:tcPr marL="91440" marR="91440" marT="45720" marB="45720" anchor="ctr">
                    <a:solidFill>
                      <a:srgbClr val="F6F6F6"/>
                    </a:solidFill>
                  </a:tcPr>
                </a:tc>
                <a:tc>
                  <a:txBody>
                    <a:bodyPr/>
                    <a:lstStyle/>
                    <a:p>
                      <a:pPr algn="ctr"/>
                      <a:r>
                        <a:rPr sz="1950" b="0">
                          <a:solidFill>
                            <a:srgbClr val="222222"/>
                          </a:solidFill>
                          <a:latin typeface="Noto Sans JP"/>
                          <a:ea typeface="Noto Sans JP"/>
                          <a:cs typeface="Noto Sans JP"/>
                        </a:rPr>
                        <a:t>構造・家族選択と条件付き計算が複雑</a:t>
                      </a:r>
                    </a:p>
                  </a:txBody>
                  <a:tcPr marL="91440" marR="91440" marT="45720" marB="45720" anchor="ctr">
                    <a:solidFill>
                      <a:srgbClr val="F6F6F6"/>
                    </a:solidFill>
                  </a:tcPr>
                </a:tc>
              </a:tr>
              <a:tr h="661988">
                <a:tc>
                  <a:txBody>
                    <a:bodyPr/>
                    <a:lstStyle/>
                    <a:p>
                      <a:pPr algn="ctr"/>
                      <a:r>
                        <a:rPr sz="1950" b="0">
                          <a:solidFill>
                            <a:srgbClr val="222222"/>
                          </a:solidFill>
                          <a:latin typeface="Noto Sans JP"/>
                          <a:ea typeface="Noto Sans JP"/>
                          <a:cs typeface="Noto Sans JP"/>
                        </a:rPr>
                        <a:t>経験 / 平滑化コピュラ</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特定家族の形を強く仮定しない</a:t>
                      </a:r>
                    </a:p>
                  </a:txBody>
                  <a:tcPr marL="91440" marR="91440" marT="45720" marB="45720" anchor="ctr">
                    <a:solidFill>
                      <a:srgbClr val="FFFFFF"/>
                    </a:solidFill>
                  </a:tcPr>
                </a:tc>
                <a:tc>
                  <a:txBody>
                    <a:bodyPr/>
                    <a:lstStyle/>
                    <a:p>
                      <a:pPr algn="ctr"/>
                      <a:r>
                        <a:rPr sz="1950" b="0">
                          <a:solidFill>
                            <a:srgbClr val="222222"/>
                          </a:solidFill>
                          <a:latin typeface="Noto Sans JP"/>
                          <a:ea typeface="Noto Sans JP"/>
                          <a:cs typeface="Noto Sans JP"/>
                        </a:rPr>
                        <a:t>十分な標本が必要。高次元で疎になる</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CCFC4B4F-F717-4C82-AB83-AD4945E8705D}"/>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55296F7-D996-4797-A704-92DFDC3FBA71}"/>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柔軟さと、サンプル数・推定の安定性・計算量を比較する</a:t>
            </a:r>
          </a:p>
        </p:txBody>
      </p:sp>
    </p:spTree>
    <p:extLst>
      <p:ext uri="{BB962C8B-B14F-4D97-AF65-F5344CB8AC3E}">
        <p14:creationId xmlns:p14="http://schemas.microsoft.com/office/powerpoint/2010/main" val="1184140976"/>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4D711BA-C94A-4715-BF3D-301BDEBD0EE1}"/>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補足：順序変数とは？</a:t>
            </a:r>
          </a:p>
        </p:txBody>
      </p:sp>
      <p:sp>
        <p:nvSpPr>
          <p:cNvPr id="2" name="">
            <a:extLst xmlns:a="http://schemas.openxmlformats.org/drawingml/2006/main">
              <a:ext uri="{FF2B5EF4-FFF2-40B4-BE49-F238E27FC236}">
                <a16:creationId xmlns:a16="http://schemas.microsoft.com/office/drawing/2014/main" id="{6A707377-CFCC-4EE7-BA58-0370F6602B11}"/>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2C5AA798-7A61-47C6-B6D9-E0E43ED2AF41}"/>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順番はあるが、カテゴリ間の差が同じとは限らない変数。</a:t>
            </a:r>
          </a:p>
        </p:txBody>
      </p:sp>
      <p:sp>
        <p:nvSpPr>
          <p:cNvPr id="4" name="">
            <a:extLst xmlns:a="http://schemas.openxmlformats.org/drawingml/2006/main">
              <a:ext uri="{FF2B5EF4-FFF2-40B4-BE49-F238E27FC236}">
                <a16:creationId xmlns:a16="http://schemas.microsoft.com/office/drawing/2014/main" id="{22FBCE30-6D5B-42FB-B7B8-7248D8E4E406}"/>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補足・先行研究</a:t>
            </a:r>
          </a:p>
        </p:txBody>
      </p:sp>
      <p:sp>
        <p:nvSpPr>
          <p:cNvPr id="5" name="">
            <a:extLst xmlns:a="http://schemas.openxmlformats.org/drawingml/2006/main">
              <a:ext uri="{FF2B5EF4-FFF2-40B4-BE49-F238E27FC236}">
                <a16:creationId xmlns:a16="http://schemas.microsoft.com/office/drawing/2014/main" id="{E875938A-C27D-44BB-9691-2327C9603D14}"/>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55</a:t>
            </a:r>
          </a:p>
        </p:txBody>
      </p:sp>
      <p:graphicFrame>
        <p:nvGraphicFramePr>
          <p:cNvPr id="15" name=""/>
          <p:cNvGraphicFramePr/>
          <p:nvPr/>
        </p:nvGraphicFramePr>
        <p:xfrm>
          <a:off xmlns:a="http://schemas.openxmlformats.org/drawingml/2006/main" x="514350" y="2076450"/>
          <a:ext xmlns:a="http://schemas.openxmlformats.org/drawingml/2006/main" cx="11163300" cy="2466975"/>
        </p:xfrm>
        <a:graphic xmlns:a="http://schemas.openxmlformats.org/drawingml/2006/main">
          <a:graphicData uri="http://schemas.openxmlformats.org/drawingml/2006/table">
            <a:tbl>
              <a:tblPr/>
              <a:tblGrid>
                <a:gridCol w="3721100"/>
                <a:gridCol w="3721100"/>
                <a:gridCol w="3721100"/>
              </a:tblGrid>
              <a:tr h="616744">
                <a:tc>
                  <a:txBody>
                    <a:bodyPr/>
                    <a:lstStyle/>
                    <a:p>
                      <a:pPr algn="ctr"/>
                      <a:r>
                        <a:rPr sz="2025" b="1">
                          <a:solidFill>
                            <a:srgbClr val="2E7D5B"/>
                          </a:solidFill>
                          <a:latin typeface="Noto Sans JP"/>
                          <a:ea typeface="Noto Sans JP"/>
                          <a:cs typeface="Noto Sans JP"/>
                        </a:rPr>
                        <a:t>型</a:t>
                      </a:r>
                    </a:p>
                  </a:txBody>
                  <a:tcPr marL="91440" marR="91440" marT="45720" marB="45720" anchor="ctr">
                    <a:solidFill>
                      <a:srgbClr val="E7F2EC"/>
                    </a:solidFill>
                  </a:tcPr>
                </a:tc>
                <a:tc>
                  <a:txBody>
                    <a:bodyPr/>
                    <a:lstStyle/>
                    <a:p>
                      <a:pPr algn="ctr"/>
                      <a:r>
                        <a:rPr sz="2025" b="1">
                          <a:solidFill>
                            <a:srgbClr val="2E7D5B"/>
                          </a:solidFill>
                          <a:latin typeface="Noto Sans JP"/>
                          <a:ea typeface="Noto Sans JP"/>
                          <a:cs typeface="Noto Sans JP"/>
                        </a:rPr>
                        <a:t>例</a:t>
                      </a:r>
                    </a:p>
                  </a:txBody>
                  <a:tcPr marL="91440" marR="91440" marT="45720" marB="45720" anchor="ctr">
                    <a:solidFill>
                      <a:srgbClr val="E7F2EC"/>
                    </a:solidFill>
                  </a:tcPr>
                </a:tc>
                <a:tc>
                  <a:txBody>
                    <a:bodyPr/>
                    <a:lstStyle/>
                    <a:p>
                      <a:pPr algn="ctr"/>
                      <a:r>
                        <a:rPr sz="2025" b="1">
                          <a:solidFill>
                            <a:srgbClr val="2E7D5B"/>
                          </a:solidFill>
                          <a:latin typeface="Noto Sans JP"/>
                          <a:ea typeface="Noto Sans JP"/>
                          <a:cs typeface="Noto Sans JP"/>
                        </a:rPr>
                        <a:t>考えるべきこと</a:t>
                      </a:r>
                    </a:p>
                  </a:txBody>
                  <a:tcPr marL="91440" marR="91440" marT="45720" marB="45720" anchor="ctr">
                    <a:solidFill>
                      <a:srgbClr val="E7F2EC"/>
                    </a:solidFill>
                  </a:tcPr>
                </a:tc>
              </a:tr>
              <a:tr h="616744">
                <a:tc>
                  <a:txBody>
                    <a:bodyPr/>
                    <a:lstStyle/>
                    <a:p>
                      <a:pPr algn="ctr"/>
                      <a:r>
                        <a:rPr sz="2025" b="0">
                          <a:solidFill>
                            <a:srgbClr val="222222"/>
                          </a:solidFill>
                          <a:latin typeface="Noto Sans JP"/>
                          <a:ea typeface="Noto Sans JP"/>
                          <a:cs typeface="Noto Sans JP"/>
                        </a:rPr>
                        <a:t>連続</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身長・体重</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値と差が意味を持つ</a:t>
                      </a:r>
                    </a:p>
                  </a:txBody>
                  <a:tcPr marL="91440" marR="91440" marT="45720" marB="45720" anchor="ctr">
                    <a:solidFill>
                      <a:srgbClr val="FFFFFF"/>
                    </a:solidFill>
                  </a:tcPr>
                </a:tc>
              </a:tr>
              <a:tr h="616744">
                <a:tc>
                  <a:txBody>
                    <a:bodyPr/>
                    <a:lstStyle/>
                    <a:p>
                      <a:pPr algn="ctr"/>
                      <a:r>
                        <a:rPr sz="2025" b="0">
                          <a:solidFill>
                            <a:srgbClr val="222222"/>
                          </a:solidFill>
                          <a:latin typeface="Noto Sans JP"/>
                          <a:ea typeface="Noto Sans JP"/>
                          <a:cs typeface="Noto Sans JP"/>
                        </a:rPr>
                        <a:t>順序</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満足度：低・中・高 / 評価1〜5</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大小の順番はある。間隔は保証されない。</a:t>
                      </a:r>
                    </a:p>
                  </a:txBody>
                  <a:tcPr marL="91440" marR="91440" marT="45720" marB="45720" anchor="ctr">
                    <a:solidFill>
                      <a:srgbClr val="F6F6F6"/>
                    </a:solidFill>
                  </a:tcPr>
                </a:tc>
              </a:tr>
              <a:tr h="616744">
                <a:tc>
                  <a:txBody>
                    <a:bodyPr/>
                    <a:lstStyle/>
                    <a:p>
                      <a:pPr algn="ctr"/>
                      <a:r>
                        <a:rPr sz="2025" b="0">
                          <a:solidFill>
                            <a:srgbClr val="222222"/>
                          </a:solidFill>
                          <a:latin typeface="Noto Sans JP"/>
                          <a:ea typeface="Noto Sans JP"/>
                          <a:cs typeface="Noto Sans JP"/>
                        </a:rPr>
                        <a:t>名義</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血液型・地域名</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自然な大小の順序がない</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A1BF5CB7-5286-44EE-86DB-C2069AD3CC44}"/>
              </a:ext>
            </a:extLst>
          </p:cNvPr>
          <p:cNvSpPr>
            <a:spLocks xmlns:a="http://schemas.openxmlformats.org/drawingml/2006/main" noGrp="1"/>
          </p:cNvSpPr>
          <p:nvPr/>
        </p:nvSpPr>
        <p:spPr>
          <a:xfrm xmlns:a="http://schemas.openxmlformats.org/drawingml/2006/main">
            <a:off x="619125" y="4810125"/>
            <a:ext cx="10953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B6777"/>
                </a:solidFill>
                <a:latin typeface="Noto Sans JP"/>
                <a:ea typeface="Noto Sans JP"/>
                <a:cs typeface="Noto Sans JP"/>
              </a:defRPr>
            </a:pPr>
            <a:r>
              <a:rPr sz="2100" b="1">
                <a:solidFill>
                  <a:srgbClr val="2B6777"/>
                </a:solidFill>
                <a:latin typeface="Noto Sans JP"/>
                <a:ea typeface="Noto Sans JP"/>
                <a:cs typeface="Noto Sans JP"/>
              </a:rPr>
              <a:t>順序モデルの例：Z ≤ τ₁なら「低」、τ₁ &lt; Z ≤ τ₂なら「中」。</a:t>
            </a:r>
          </a:p>
        </p:txBody>
      </p:sp>
      <p:sp>
        <p:nvSpPr>
          <p:cNvPr id="8" name="">
            <a:extLst xmlns:a="http://schemas.openxmlformats.org/drawingml/2006/main">
              <a:ext uri="{FF2B5EF4-FFF2-40B4-BE49-F238E27FC236}">
                <a16:creationId xmlns:a16="http://schemas.microsoft.com/office/drawing/2014/main" id="{A9A21A17-8E61-4FA3-A45C-5434B2C79A8B}"/>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0A829B0-32EB-4353-97FA-389432101A49}"/>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今の連続特徴用の実装を、カテゴリへそのまま広げない</a:t>
            </a:r>
          </a:p>
        </p:txBody>
      </p:sp>
    </p:spTree>
    <p:extLst>
      <p:ext uri="{BB962C8B-B14F-4D97-AF65-F5344CB8AC3E}">
        <p14:creationId xmlns:p14="http://schemas.microsoft.com/office/powerpoint/2010/main" val="120498788"/>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B21FC10-2469-4FA2-888F-BA0400574669}"/>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補足：混合型の欠損補完研究との接続</a:t>
            </a:r>
          </a:p>
        </p:txBody>
      </p:sp>
      <p:sp>
        <p:nvSpPr>
          <p:cNvPr id="2" name="">
            <a:extLst xmlns:a="http://schemas.openxmlformats.org/drawingml/2006/main">
              <a:ext uri="{FF2B5EF4-FFF2-40B4-BE49-F238E27FC236}">
                <a16:creationId xmlns:a16="http://schemas.microsoft.com/office/drawing/2014/main" id="{D98AC715-BB78-41CE-9857-5226BC23E2E8}"/>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A7DB0F16-6F25-4E21-A5C2-B6E164E2B9C8}"/>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Zhao &amp; Udell (2020)：Gaussian copulaで連続・順序変数を補完。</a:t>
            </a:r>
          </a:p>
        </p:txBody>
      </p:sp>
      <p:sp>
        <p:nvSpPr>
          <p:cNvPr id="4" name="">
            <a:extLst xmlns:a="http://schemas.openxmlformats.org/drawingml/2006/main">
              <a:ext uri="{FF2B5EF4-FFF2-40B4-BE49-F238E27FC236}">
                <a16:creationId xmlns:a16="http://schemas.microsoft.com/office/drawing/2014/main" id="{875BB5E3-DB85-4C1E-BF20-382C802CA6D6}"/>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補足・先行研究</a:t>
            </a:r>
          </a:p>
        </p:txBody>
      </p:sp>
      <p:sp>
        <p:nvSpPr>
          <p:cNvPr id="5" name="">
            <a:extLst xmlns:a="http://schemas.openxmlformats.org/drawingml/2006/main">
              <a:ext uri="{FF2B5EF4-FFF2-40B4-BE49-F238E27FC236}">
                <a16:creationId xmlns:a16="http://schemas.microsoft.com/office/drawing/2014/main" id="{4F8F6436-BC86-4FD1-B7FC-7B650667D467}"/>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56</a:t>
            </a:r>
          </a:p>
        </p:txBody>
      </p:sp>
      <p:sp>
        <p:nvSpPr>
          <p:cNvPr id="6" name="">
            <a:extLst xmlns:a="http://schemas.openxmlformats.org/drawingml/2006/main">
              <a:ext uri="{FF2B5EF4-FFF2-40B4-BE49-F238E27FC236}">
                <a16:creationId xmlns:a16="http://schemas.microsoft.com/office/drawing/2014/main" id="{B0551D42-1C04-49CF-8D65-5B2431F6462C}"/>
              </a:ext>
            </a:extLst>
          </p:cNvPr>
          <p:cNvSpPr>
            <a:spLocks xmlns:a="http://schemas.openxmlformats.org/drawingml/2006/main" noGrp="1"/>
          </p:cNvSpPr>
          <p:nvPr/>
        </p:nvSpPr>
        <p:spPr>
          <a:xfrm xmlns:a="http://schemas.openxmlformats.org/drawingml/2006/main">
            <a:off x="552450" y="1943100"/>
            <a:ext cx="476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7" name="">
            <a:extLst xmlns:a="http://schemas.openxmlformats.org/drawingml/2006/main">
              <a:ext uri="{FF2B5EF4-FFF2-40B4-BE49-F238E27FC236}">
                <a16:creationId xmlns:a16="http://schemas.microsoft.com/office/drawing/2014/main" id="{42CE8934-513F-48D8-8247-199B83AF4D29}"/>
              </a:ext>
            </a:extLst>
          </p:cNvPr>
          <p:cNvSpPr>
            <a:spLocks xmlns:a="http://schemas.openxmlformats.org/drawingml/2006/main" noGrp="1"/>
          </p:cNvSpPr>
          <p:nvPr/>
        </p:nvSpPr>
        <p:spPr>
          <a:xfrm xmlns:a="http://schemas.openxmlformats.org/drawingml/2006/main">
            <a:off x="1257300" y="1943100"/>
            <a:ext cx="10191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背景：実データには連続値と、順序カテゴリ、欠損が混在する。</a:t>
            </a:r>
          </a:p>
        </p:txBody>
      </p:sp>
      <p:sp>
        <p:nvSpPr>
          <p:cNvPr id="8" name="">
            <a:extLst xmlns:a="http://schemas.openxmlformats.org/drawingml/2006/main">
              <a:ext uri="{FF2B5EF4-FFF2-40B4-BE49-F238E27FC236}">
                <a16:creationId xmlns:a16="http://schemas.microsoft.com/office/drawing/2014/main" id="{70258BEC-B2E5-4DF3-9075-75C00ED505F3}"/>
              </a:ext>
            </a:extLst>
          </p:cNvPr>
          <p:cNvSpPr>
            <a:spLocks xmlns:a="http://schemas.openxmlformats.org/drawingml/2006/main" noGrp="1"/>
          </p:cNvSpPr>
          <p:nvPr/>
        </p:nvSpPr>
        <p:spPr>
          <a:xfrm xmlns:a="http://schemas.openxmlformats.org/drawingml/2006/main">
            <a:off x="552450" y="2752725"/>
            <a:ext cx="476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9" name="">
            <a:extLst xmlns:a="http://schemas.openxmlformats.org/drawingml/2006/main">
              <a:ext uri="{FF2B5EF4-FFF2-40B4-BE49-F238E27FC236}">
                <a16:creationId xmlns:a16="http://schemas.microsoft.com/office/drawing/2014/main" id="{48FCC4FE-367A-4CA9-A19E-B57708DFD67E}"/>
              </a:ext>
            </a:extLst>
          </p:cNvPr>
          <p:cNvSpPr>
            <a:spLocks xmlns:a="http://schemas.openxmlformats.org/drawingml/2006/main" noGrp="1"/>
          </p:cNvSpPr>
          <p:nvPr/>
        </p:nvSpPr>
        <p:spPr>
          <a:xfrm xmlns:a="http://schemas.openxmlformats.org/drawingml/2006/main">
            <a:off x="1257300" y="2752725"/>
            <a:ext cx="10191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手法：各型を潜在正規の値／区間として扱い、EMで依存を推定。</a:t>
            </a:r>
          </a:p>
        </p:txBody>
      </p:sp>
      <p:sp>
        <p:nvSpPr>
          <p:cNvPr id="10" name="">
            <a:extLst xmlns:a="http://schemas.openxmlformats.org/drawingml/2006/main">
              <a:ext uri="{FF2B5EF4-FFF2-40B4-BE49-F238E27FC236}">
                <a16:creationId xmlns:a16="http://schemas.microsoft.com/office/drawing/2014/main" id="{1FE51356-2027-4BD1-B3E7-463E1A7790A4}"/>
              </a:ext>
            </a:extLst>
          </p:cNvPr>
          <p:cNvSpPr>
            <a:spLocks xmlns:a="http://schemas.openxmlformats.org/drawingml/2006/main" noGrp="1"/>
          </p:cNvSpPr>
          <p:nvPr/>
        </p:nvSpPr>
        <p:spPr>
          <a:xfrm xmlns:a="http://schemas.openxmlformats.org/drawingml/2006/main">
            <a:off x="552450" y="3562350"/>
            <a:ext cx="476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1" name="">
            <a:extLst xmlns:a="http://schemas.openxmlformats.org/drawingml/2006/main">
              <a:ext uri="{FF2B5EF4-FFF2-40B4-BE49-F238E27FC236}">
                <a16:creationId xmlns:a16="http://schemas.microsoft.com/office/drawing/2014/main" id="{5F40D45D-2920-43A9-AB82-A1E3345961A9}"/>
              </a:ext>
            </a:extLst>
          </p:cNvPr>
          <p:cNvSpPr>
            <a:spLocks xmlns:a="http://schemas.openxmlformats.org/drawingml/2006/main" noGrp="1"/>
          </p:cNvSpPr>
          <p:nvPr/>
        </p:nvSpPr>
        <p:spPr>
          <a:xfrm xmlns:a="http://schemas.openxmlformats.org/drawingml/2006/main">
            <a:off x="1257300" y="3562350"/>
            <a:ext cx="10191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目的：観測値を条件に、欠損値を補う。</a:t>
            </a:r>
          </a:p>
        </p:txBody>
      </p:sp>
      <p:sp>
        <p:nvSpPr>
          <p:cNvPr id="12" name="">
            <a:extLst xmlns:a="http://schemas.openxmlformats.org/drawingml/2006/main">
              <a:ext uri="{FF2B5EF4-FFF2-40B4-BE49-F238E27FC236}">
                <a16:creationId xmlns:a16="http://schemas.microsoft.com/office/drawing/2014/main" id="{108A1172-4EE9-4F96-A1D3-13A88E88C619}"/>
              </a:ext>
            </a:extLst>
          </p:cNvPr>
          <p:cNvSpPr>
            <a:spLocks xmlns:a="http://schemas.openxmlformats.org/drawingml/2006/main" noGrp="1"/>
          </p:cNvSpPr>
          <p:nvPr/>
        </p:nvSpPr>
        <p:spPr>
          <a:xfrm xmlns:a="http://schemas.openxmlformats.org/drawingml/2006/main">
            <a:off x="552450" y="4371975"/>
            <a:ext cx="476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4</a:t>
            </a:r>
          </a:p>
        </p:txBody>
      </p:sp>
      <p:sp>
        <p:nvSpPr>
          <p:cNvPr id="13" name="">
            <a:extLst xmlns:a="http://schemas.openxmlformats.org/drawingml/2006/main">
              <a:ext uri="{FF2B5EF4-FFF2-40B4-BE49-F238E27FC236}">
                <a16:creationId xmlns:a16="http://schemas.microsoft.com/office/drawing/2014/main" id="{9930EBE2-E069-4292-90DD-E224A12A55D3}"/>
              </a:ext>
            </a:extLst>
          </p:cNvPr>
          <p:cNvSpPr>
            <a:spLocks xmlns:a="http://schemas.openxmlformats.org/drawingml/2006/main" noGrp="1"/>
          </p:cNvSpPr>
          <p:nvPr/>
        </p:nvSpPr>
        <p:spPr>
          <a:xfrm xmlns:a="http://schemas.openxmlformats.org/drawingml/2006/main">
            <a:off x="1257300" y="4371975"/>
            <a:ext cx="10191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本研究：条件付けと型の扱いを参考にし、補完から拡張へつなぐ。</a:t>
            </a:r>
          </a:p>
        </p:txBody>
      </p:sp>
      <p:sp>
        <p:nvSpPr>
          <p:cNvPr id="14" name="">
            <a:extLst xmlns:a="http://schemas.openxmlformats.org/drawingml/2006/main">
              <a:ext uri="{FF2B5EF4-FFF2-40B4-BE49-F238E27FC236}">
                <a16:creationId xmlns:a16="http://schemas.microsoft.com/office/drawing/2014/main" id="{B6A17AFA-9A7D-4470-8AC7-578D7A49A39A}"/>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00C432D-C324-4529-8064-C02F1C4671BC}"/>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接続できるのは生成の設計。欠損補完の結果は、拡張の効果の証明ではない</a:t>
            </a:r>
          </a:p>
        </p:txBody>
      </p:sp>
    </p:spTree>
    <p:extLst>
      <p:ext uri="{BB962C8B-B14F-4D97-AF65-F5344CB8AC3E}">
        <p14:creationId xmlns:p14="http://schemas.microsoft.com/office/powerpoint/2010/main" val="2069199476"/>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6061852-A488-4B17-A209-A56578684DDB}"/>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補足：説明可能性の研究との接続</a:t>
            </a:r>
          </a:p>
        </p:txBody>
      </p:sp>
      <p:sp>
        <p:nvSpPr>
          <p:cNvPr id="2" name="">
            <a:extLst xmlns:a="http://schemas.openxmlformats.org/drawingml/2006/main">
              <a:ext uri="{FF2B5EF4-FFF2-40B4-BE49-F238E27FC236}">
                <a16:creationId xmlns:a16="http://schemas.microsoft.com/office/drawing/2014/main" id="{C5C03F56-CAC6-4013-9957-59B4652A8C63}"/>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8180089-76E2-4BD8-A576-99AF83878BCB}"/>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Aas, Jullum &amp; Løland (2021)：依存を考慮したShapley値の近似。</a:t>
            </a:r>
          </a:p>
        </p:txBody>
      </p:sp>
      <p:sp>
        <p:nvSpPr>
          <p:cNvPr id="4" name="">
            <a:extLst xmlns:a="http://schemas.openxmlformats.org/drawingml/2006/main">
              <a:ext uri="{FF2B5EF4-FFF2-40B4-BE49-F238E27FC236}">
                <a16:creationId xmlns:a16="http://schemas.microsoft.com/office/drawing/2014/main" id="{D0CF1E3A-0E8A-4C25-95C6-258DB0E5C53B}"/>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補足・先行研究</a:t>
            </a:r>
          </a:p>
        </p:txBody>
      </p:sp>
      <p:sp>
        <p:nvSpPr>
          <p:cNvPr id="5" name="">
            <a:extLst xmlns:a="http://schemas.openxmlformats.org/drawingml/2006/main">
              <a:ext uri="{FF2B5EF4-FFF2-40B4-BE49-F238E27FC236}">
                <a16:creationId xmlns:a16="http://schemas.microsoft.com/office/drawing/2014/main" id="{53835EC8-38B8-4470-9671-E852B2AA6638}"/>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57</a:t>
            </a:r>
          </a:p>
        </p:txBody>
      </p:sp>
      <p:sp>
        <p:nvSpPr>
          <p:cNvPr id="6" name="">
            <a:extLst xmlns:a="http://schemas.openxmlformats.org/drawingml/2006/main">
              <a:ext uri="{FF2B5EF4-FFF2-40B4-BE49-F238E27FC236}">
                <a16:creationId xmlns:a16="http://schemas.microsoft.com/office/drawing/2014/main" id="{83DE93DB-381F-4F1C-94A3-3F951363845D}"/>
              </a:ext>
            </a:extLst>
          </p:cNvPr>
          <p:cNvSpPr>
            <a:spLocks xmlns:a="http://schemas.openxmlformats.org/drawingml/2006/main" noGrp="1"/>
          </p:cNvSpPr>
          <p:nvPr/>
        </p:nvSpPr>
        <p:spPr>
          <a:xfrm xmlns:a="http://schemas.openxmlformats.org/drawingml/2006/main">
            <a:off x="552450" y="1943100"/>
            <a:ext cx="476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1</a:t>
            </a:r>
          </a:p>
        </p:txBody>
      </p:sp>
      <p:sp>
        <p:nvSpPr>
          <p:cNvPr id="7" name="">
            <a:extLst xmlns:a="http://schemas.openxmlformats.org/drawingml/2006/main">
              <a:ext uri="{FF2B5EF4-FFF2-40B4-BE49-F238E27FC236}">
                <a16:creationId xmlns:a16="http://schemas.microsoft.com/office/drawing/2014/main" id="{F4C6AF7F-A38C-4519-9CCF-1B8976962EEB}"/>
              </a:ext>
            </a:extLst>
          </p:cNvPr>
          <p:cNvSpPr>
            <a:spLocks xmlns:a="http://schemas.openxmlformats.org/drawingml/2006/main" noGrp="1"/>
          </p:cNvSpPr>
          <p:nvPr/>
        </p:nvSpPr>
        <p:spPr>
          <a:xfrm xmlns:a="http://schemas.openxmlformats.org/drawingml/2006/main">
            <a:off x="1257300" y="1943100"/>
            <a:ext cx="10191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背景：一部特徴を固定し、残りを無条件に取ると、不自然な行を作り得る。</a:t>
            </a:r>
          </a:p>
        </p:txBody>
      </p:sp>
      <p:sp>
        <p:nvSpPr>
          <p:cNvPr id="8" name="">
            <a:extLst xmlns:a="http://schemas.openxmlformats.org/drawingml/2006/main">
              <a:ext uri="{FF2B5EF4-FFF2-40B4-BE49-F238E27FC236}">
                <a16:creationId xmlns:a16="http://schemas.microsoft.com/office/drawing/2014/main" id="{C3F4BC37-A092-45B1-B6A3-10EF65D94212}"/>
              </a:ext>
            </a:extLst>
          </p:cNvPr>
          <p:cNvSpPr>
            <a:spLocks xmlns:a="http://schemas.openxmlformats.org/drawingml/2006/main" noGrp="1"/>
          </p:cNvSpPr>
          <p:nvPr/>
        </p:nvSpPr>
        <p:spPr>
          <a:xfrm xmlns:a="http://schemas.openxmlformats.org/drawingml/2006/main">
            <a:off x="552450" y="2752725"/>
            <a:ext cx="476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2</a:t>
            </a:r>
          </a:p>
        </p:txBody>
      </p:sp>
      <p:sp>
        <p:nvSpPr>
          <p:cNvPr id="9" name="">
            <a:extLst xmlns:a="http://schemas.openxmlformats.org/drawingml/2006/main">
              <a:ext uri="{FF2B5EF4-FFF2-40B4-BE49-F238E27FC236}">
                <a16:creationId xmlns:a16="http://schemas.microsoft.com/office/drawing/2014/main" id="{4B7A0558-1D19-49C8-BD60-E5EEB8A9482D}"/>
              </a:ext>
            </a:extLst>
          </p:cNvPr>
          <p:cNvSpPr>
            <a:spLocks xmlns:a="http://schemas.openxmlformats.org/drawingml/2006/main" noGrp="1"/>
          </p:cNvSpPr>
          <p:nvPr/>
        </p:nvSpPr>
        <p:spPr>
          <a:xfrm xmlns:a="http://schemas.openxmlformats.org/drawingml/2006/main">
            <a:off x="1257300" y="2752725"/>
            <a:ext cx="10191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手法：条件付き分布をGaussian / copula / empirical等で近似。</a:t>
            </a:r>
          </a:p>
        </p:txBody>
      </p:sp>
      <p:sp>
        <p:nvSpPr>
          <p:cNvPr id="10" name="">
            <a:extLst xmlns:a="http://schemas.openxmlformats.org/drawingml/2006/main">
              <a:ext uri="{FF2B5EF4-FFF2-40B4-BE49-F238E27FC236}">
                <a16:creationId xmlns:a16="http://schemas.microsoft.com/office/drawing/2014/main" id="{B7662677-D6A4-4DB4-8E82-322C9C3101C4}"/>
              </a:ext>
            </a:extLst>
          </p:cNvPr>
          <p:cNvSpPr>
            <a:spLocks xmlns:a="http://schemas.openxmlformats.org/drawingml/2006/main" noGrp="1"/>
          </p:cNvSpPr>
          <p:nvPr/>
        </p:nvSpPr>
        <p:spPr>
          <a:xfrm xmlns:a="http://schemas.openxmlformats.org/drawingml/2006/main">
            <a:off x="552450" y="3562350"/>
            <a:ext cx="476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3</a:t>
            </a:r>
          </a:p>
        </p:txBody>
      </p:sp>
      <p:sp>
        <p:nvSpPr>
          <p:cNvPr id="11" name="">
            <a:extLst xmlns:a="http://schemas.openxmlformats.org/drawingml/2006/main">
              <a:ext uri="{FF2B5EF4-FFF2-40B4-BE49-F238E27FC236}">
                <a16:creationId xmlns:a16="http://schemas.microsoft.com/office/drawing/2014/main" id="{A7674566-0548-4DAF-98B6-8340D309CD68}"/>
              </a:ext>
            </a:extLst>
          </p:cNvPr>
          <p:cNvSpPr>
            <a:spLocks xmlns:a="http://schemas.openxmlformats.org/drawingml/2006/main" noGrp="1"/>
          </p:cNvSpPr>
          <p:nvPr/>
        </p:nvSpPr>
        <p:spPr>
          <a:xfrm xmlns:a="http://schemas.openxmlformats.org/drawingml/2006/main">
            <a:off x="1257300" y="3562350"/>
            <a:ext cx="10191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目的：特徴依存を考慮した、個別予測の説明を計算する。</a:t>
            </a:r>
          </a:p>
        </p:txBody>
      </p:sp>
      <p:sp>
        <p:nvSpPr>
          <p:cNvPr id="12" name="">
            <a:extLst xmlns:a="http://schemas.openxmlformats.org/drawingml/2006/main">
              <a:ext uri="{FF2B5EF4-FFF2-40B4-BE49-F238E27FC236}">
                <a16:creationId xmlns:a16="http://schemas.microsoft.com/office/drawing/2014/main" id="{E3AE33FF-FBE9-49EC-AD4A-037E663522BA}"/>
              </a:ext>
            </a:extLst>
          </p:cNvPr>
          <p:cNvSpPr>
            <a:spLocks xmlns:a="http://schemas.openxmlformats.org/drawingml/2006/main" noGrp="1"/>
          </p:cNvSpPr>
          <p:nvPr/>
        </p:nvSpPr>
        <p:spPr>
          <a:xfrm xmlns:a="http://schemas.openxmlformats.org/drawingml/2006/main">
            <a:off x="552450" y="4371975"/>
            <a:ext cx="476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550" b="1">
                <a:solidFill>
                  <a:srgbClr val="2B6777"/>
                </a:solidFill>
                <a:latin typeface="Noto Sans JP"/>
                <a:ea typeface="Noto Sans JP"/>
                <a:cs typeface="Noto Sans JP"/>
              </a:defRPr>
            </a:pPr>
            <a:r>
              <a:rPr sz="2550" b="1">
                <a:solidFill>
                  <a:srgbClr val="2B6777"/>
                </a:solidFill>
                <a:latin typeface="Noto Sans JP"/>
                <a:ea typeface="Noto Sans JP"/>
                <a:cs typeface="Noto Sans JP"/>
              </a:rPr>
              <a:t>4</a:t>
            </a:r>
          </a:p>
        </p:txBody>
      </p:sp>
      <p:sp>
        <p:nvSpPr>
          <p:cNvPr id="13" name="">
            <a:extLst xmlns:a="http://schemas.openxmlformats.org/drawingml/2006/main">
              <a:ext uri="{FF2B5EF4-FFF2-40B4-BE49-F238E27FC236}">
                <a16:creationId xmlns:a16="http://schemas.microsoft.com/office/drawing/2014/main" id="{7078ECBC-A77B-421E-8DCC-6446D3131F66}"/>
              </a:ext>
            </a:extLst>
          </p:cNvPr>
          <p:cNvSpPr>
            <a:spLocks xmlns:a="http://schemas.openxmlformats.org/drawingml/2006/main" noGrp="1"/>
          </p:cNvSpPr>
          <p:nvPr/>
        </p:nvSpPr>
        <p:spPr>
          <a:xfrm xmlns:a="http://schemas.openxmlformats.org/drawingml/2006/main">
            <a:off x="1257300" y="4371975"/>
            <a:ext cx="10191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950" b="0">
                <a:solidFill>
                  <a:srgbClr val="222222"/>
                </a:solidFill>
                <a:latin typeface="Noto Sans JP"/>
                <a:ea typeface="Noto Sans JP"/>
                <a:cs typeface="Noto Sans JP"/>
              </a:defRPr>
            </a:pPr>
            <a:r>
              <a:rPr sz="1950" b="0">
                <a:solidFill>
                  <a:srgbClr val="222222"/>
                </a:solidFill>
                <a:latin typeface="Noto Sans JP"/>
                <a:ea typeface="Noto Sans JP"/>
                <a:cs typeface="Noto Sans JP"/>
              </a:rPr>
              <a:t>本研究：残す列を条件に生成する発想を、学習用拡張へ移す。</a:t>
            </a:r>
          </a:p>
        </p:txBody>
      </p:sp>
      <p:sp>
        <p:nvSpPr>
          <p:cNvPr id="14" name="">
            <a:extLst xmlns:a="http://schemas.openxmlformats.org/drawingml/2006/main">
              <a:ext uri="{FF2B5EF4-FFF2-40B4-BE49-F238E27FC236}">
                <a16:creationId xmlns:a16="http://schemas.microsoft.com/office/drawing/2014/main" id="{634A96CF-498D-4796-92A8-7064C4E0060A}"/>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F27C17F-94C9-42A0-8374-3E2A78660FE6}"/>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同じ条件付き生成でも、目的と評価指標は異なる</a:t>
            </a:r>
          </a:p>
        </p:txBody>
      </p:sp>
    </p:spTree>
    <p:extLst>
      <p:ext uri="{BB962C8B-B14F-4D97-AF65-F5344CB8AC3E}">
        <p14:creationId xmlns:p14="http://schemas.microsoft.com/office/powerpoint/2010/main" val="1240101738"/>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E964839-8243-4089-A705-03C144EF4828}"/>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補足：先行研究2との比較で言える範囲</a:t>
            </a:r>
          </a:p>
        </p:txBody>
      </p:sp>
      <p:sp>
        <p:nvSpPr>
          <p:cNvPr id="2" name="">
            <a:extLst xmlns:a="http://schemas.openxmlformats.org/drawingml/2006/main">
              <a:ext uri="{FF2B5EF4-FFF2-40B4-BE49-F238E27FC236}">
                <a16:creationId xmlns:a16="http://schemas.microsoft.com/office/drawing/2014/main" id="{C91C36DF-2924-4C31-B892-9EC22325BE9D}"/>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1F054E5E-3656-4651-9BBF-9678B74297B5}"/>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クラス条件付き置換と、特徴依存の条件付き置換は条件が違う。</a:t>
            </a:r>
          </a:p>
        </p:txBody>
      </p:sp>
      <p:sp>
        <p:nvSpPr>
          <p:cNvPr id="4" name="">
            <a:extLst xmlns:a="http://schemas.openxmlformats.org/drawingml/2006/main">
              <a:ext uri="{FF2B5EF4-FFF2-40B4-BE49-F238E27FC236}">
                <a16:creationId xmlns:a16="http://schemas.microsoft.com/office/drawing/2014/main" id="{41DB994C-6DC7-4B82-9CC7-CBEC524BD620}"/>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補足・実験</a:t>
            </a:r>
          </a:p>
        </p:txBody>
      </p:sp>
      <p:sp>
        <p:nvSpPr>
          <p:cNvPr id="5" name="">
            <a:extLst xmlns:a="http://schemas.openxmlformats.org/drawingml/2006/main">
              <a:ext uri="{FF2B5EF4-FFF2-40B4-BE49-F238E27FC236}">
                <a16:creationId xmlns:a16="http://schemas.microsoft.com/office/drawing/2014/main" id="{E470D3C1-27FD-406B-8062-33A263E4F4CF}"/>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58</a:t>
            </a:r>
          </a:p>
        </p:txBody>
      </p:sp>
      <p:graphicFrame>
        <p:nvGraphicFramePr>
          <p:cNvPr id="14" name=""/>
          <p:cNvGraphicFramePr/>
          <p:nvPr/>
        </p:nvGraphicFramePr>
        <p:xfrm>
          <a:off xmlns:a="http://schemas.openxmlformats.org/drawingml/2006/main" x="514350" y="1933575"/>
          <a:ext xmlns:a="http://schemas.openxmlformats.org/drawingml/2006/main" cx="11163300" cy="3333750"/>
        </p:xfrm>
        <a:graphic xmlns:a="http://schemas.openxmlformats.org/drawingml/2006/main">
          <a:graphicData uri="http://schemas.openxmlformats.org/drawingml/2006/table">
            <a:tbl>
              <a:tblPr/>
              <a:tblGrid>
                <a:gridCol w="3721100"/>
                <a:gridCol w="3721100"/>
                <a:gridCol w="3721100"/>
              </a:tblGrid>
              <a:tr h="666750">
                <a:tc>
                  <a:txBody>
                    <a:bodyPr/>
                    <a:lstStyle/>
                    <a:p>
                      <a:pPr algn="ctr"/>
                      <a:r>
                        <a:rPr sz="1800" b="1">
                          <a:solidFill>
                            <a:srgbClr val="2E7D5B"/>
                          </a:solidFill>
                          <a:latin typeface="Noto Sans JP"/>
                          <a:ea typeface="Noto Sans JP"/>
                          <a:cs typeface="Noto Sans JP"/>
                        </a:rPr>
                        <a:t>観点</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クラス条件付き法</a:t>
                      </a:r>
                    </a:p>
                  </a:txBody>
                  <a:tcPr marL="91440" marR="91440" marT="45720" marB="45720" anchor="ctr">
                    <a:solidFill>
                      <a:srgbClr val="E7F2EC"/>
                    </a:solidFill>
                  </a:tcPr>
                </a:tc>
                <a:tc>
                  <a:txBody>
                    <a:bodyPr/>
                    <a:lstStyle/>
                    <a:p>
                      <a:pPr algn="ctr"/>
                      <a:r>
                        <a:rPr sz="1800" b="1">
                          <a:solidFill>
                            <a:srgbClr val="2E7D5B"/>
                          </a:solidFill>
                          <a:latin typeface="Noto Sans JP"/>
                          <a:ea typeface="Noto Sans JP"/>
                          <a:cs typeface="Noto Sans JP"/>
                        </a:rPr>
                        <a:t>今回のGaussian copula</a:t>
                      </a:r>
                    </a:p>
                  </a:txBody>
                  <a:tcPr marL="91440" marR="91440" marT="45720" marB="45720" anchor="ctr">
                    <a:solidFill>
                      <a:srgbClr val="E7F2EC"/>
                    </a:solidFill>
                  </a:tcPr>
                </a:tc>
              </a:tr>
              <a:tr h="666750">
                <a:tc>
                  <a:txBody>
                    <a:bodyPr/>
                    <a:lstStyle/>
                    <a:p>
                      <a:pPr algn="ctr"/>
                      <a:r>
                        <a:rPr sz="1800" b="0">
                          <a:solidFill>
                            <a:srgbClr val="222222"/>
                          </a:solidFill>
                          <a:latin typeface="Noto Sans JP"/>
                          <a:ea typeface="Noto Sans JP"/>
                          <a:cs typeface="Noto Sans JP"/>
                        </a:rPr>
                        <a:t>条件</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真／擬似クラス</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残した特徴の値</a:t>
                      </a:r>
                    </a:p>
                  </a:txBody>
                  <a:tcPr marL="91440" marR="91440" marT="45720" marB="45720" anchor="ctr">
                    <a:solidFill>
                      <a:srgbClr val="FFFFFF"/>
                    </a:solidFill>
                  </a:tcPr>
                </a:tc>
              </a:tr>
              <a:tr h="666750">
                <a:tc>
                  <a:txBody>
                    <a:bodyPr/>
                    <a:lstStyle/>
                    <a:p>
                      <a:pPr algn="ctr"/>
                      <a:r>
                        <a:rPr sz="1800" b="0">
                          <a:solidFill>
                            <a:srgbClr val="222222"/>
                          </a:solidFill>
                          <a:latin typeface="Noto Sans JP"/>
                          <a:ea typeface="Noto Sans JP"/>
                          <a:cs typeface="Noto Sans JP"/>
                        </a:rPr>
                        <a:t>強み</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同じクラス内の候補を使う</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特徴間の依存を使える</a:t>
                      </a:r>
                    </a:p>
                  </a:txBody>
                  <a:tcPr marL="91440" marR="91440" marT="45720" marB="45720" anchor="ctr">
                    <a:solidFill>
                      <a:srgbClr val="F6F6F6"/>
                    </a:solidFill>
                  </a:tcPr>
                </a:tc>
              </a:tr>
              <a:tr h="666750">
                <a:tc>
                  <a:txBody>
                    <a:bodyPr/>
                    <a:lstStyle/>
                    <a:p>
                      <a:pPr algn="ctr"/>
                      <a:r>
                        <a:rPr sz="1800" b="0">
                          <a:solidFill>
                            <a:srgbClr val="222222"/>
                          </a:solidFill>
                          <a:latin typeface="Noto Sans JP"/>
                          <a:ea typeface="Noto Sans JP"/>
                          <a:cs typeface="Noto Sans JP"/>
                        </a:rPr>
                        <a:t>課題</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擬似クラス誤りの影響</a:t>
                      </a:r>
                    </a:p>
                  </a:txBody>
                  <a:tcPr marL="91440" marR="91440" marT="45720" marB="45720" anchor="ctr">
                    <a:solidFill>
                      <a:srgbClr val="FFFFFF"/>
                    </a:solidFill>
                  </a:tcPr>
                </a:tc>
                <a:tc>
                  <a:txBody>
                    <a:bodyPr/>
                    <a:lstStyle/>
                    <a:p>
                      <a:pPr algn="ctr"/>
                      <a:r>
                        <a:rPr sz="1800" b="0">
                          <a:solidFill>
                            <a:srgbClr val="222222"/>
                          </a:solidFill>
                          <a:latin typeface="Noto Sans JP"/>
                          <a:ea typeface="Noto Sans JP"/>
                          <a:cs typeface="Noto Sans JP"/>
                        </a:rPr>
                        <a:t>全体分布からの生成はクラス保持を保証しない</a:t>
                      </a:r>
                    </a:p>
                  </a:txBody>
                  <a:tcPr marL="91440" marR="91440" marT="45720" marB="45720" anchor="ctr">
                    <a:solidFill>
                      <a:srgbClr val="FFFFFF"/>
                    </a:solidFill>
                  </a:tcPr>
                </a:tc>
              </a:tr>
              <a:tr h="666750">
                <a:tc>
                  <a:txBody>
                    <a:bodyPr/>
                    <a:lstStyle/>
                    <a:p>
                      <a:pPr algn="ctr"/>
                      <a:r>
                        <a:rPr sz="1800" b="0">
                          <a:solidFill>
                            <a:srgbClr val="222222"/>
                          </a:solidFill>
                          <a:latin typeface="Noto Sans JP"/>
                          <a:ea typeface="Noto Sans JP"/>
                          <a:cs typeface="Noto Sans JP"/>
                        </a:rPr>
                        <a:t>対照の解釈</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目的関数・前学習も異なる</a:t>
                      </a:r>
                    </a:p>
                  </a:txBody>
                  <a:tcPr marL="91440" marR="91440" marT="45720" marB="45720" anchor="ctr">
                    <a:solidFill>
                      <a:srgbClr val="F6F6F6"/>
                    </a:solidFill>
                  </a:tcPr>
                </a:tc>
                <a:tc>
                  <a:txBody>
                    <a:bodyPr/>
                    <a:lstStyle/>
                    <a:p>
                      <a:pPr algn="ctr"/>
                      <a:r>
                        <a:rPr sz="1800" b="0">
                          <a:solidFill>
                            <a:srgbClr val="222222"/>
                          </a:solidFill>
                          <a:latin typeface="Noto Sans JP"/>
                          <a:ea typeface="Noto Sans JP"/>
                          <a:cs typeface="Noto Sans JP"/>
                        </a:rPr>
                        <a:t>置換器の効果はVIME内で分離する</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D336486A-F204-4CA5-A13B-1D8447B84679}"/>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A676A9F-B998-49B7-A27C-776DE53DF5CE}"/>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「擬似ラベル不要」と「クラスを保つ」は、同じ意味ではない</a:t>
            </a:r>
          </a:p>
        </p:txBody>
      </p:sp>
    </p:spTree>
    <p:extLst>
      <p:ext uri="{BB962C8B-B14F-4D97-AF65-F5344CB8AC3E}">
        <p14:creationId xmlns:p14="http://schemas.microsoft.com/office/powerpoint/2010/main" val="1583213017"/>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2ADD62E-AD68-4190-B2D0-4DCF62591427}"/>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補足：評価指標の意味</a:t>
            </a:r>
          </a:p>
        </p:txBody>
      </p:sp>
      <p:sp>
        <p:nvSpPr>
          <p:cNvPr id="2" name="">
            <a:extLst xmlns:a="http://schemas.openxmlformats.org/drawingml/2006/main">
              <a:ext uri="{FF2B5EF4-FFF2-40B4-BE49-F238E27FC236}">
                <a16:creationId xmlns:a16="http://schemas.microsoft.com/office/drawing/2014/main" id="{4BE6A1F1-D61D-4B73-9F0E-9D6F24CDB5D0}"/>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041EBFA-2DD1-45C8-BB77-8C7136A7A105}"/>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クラス数・不均衡・確率の順位を分けて評価する。</a:t>
            </a:r>
          </a:p>
        </p:txBody>
      </p:sp>
      <p:sp>
        <p:nvSpPr>
          <p:cNvPr id="4" name="">
            <a:extLst xmlns:a="http://schemas.openxmlformats.org/drawingml/2006/main">
              <a:ext uri="{FF2B5EF4-FFF2-40B4-BE49-F238E27FC236}">
                <a16:creationId xmlns:a16="http://schemas.microsoft.com/office/drawing/2014/main" id="{6806DF3E-F50C-4AD4-B2DE-71806BE515BE}"/>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補足・実験</a:t>
            </a:r>
          </a:p>
        </p:txBody>
      </p:sp>
      <p:sp>
        <p:nvSpPr>
          <p:cNvPr id="5" name="">
            <a:extLst xmlns:a="http://schemas.openxmlformats.org/drawingml/2006/main">
              <a:ext uri="{FF2B5EF4-FFF2-40B4-BE49-F238E27FC236}">
                <a16:creationId xmlns:a16="http://schemas.microsoft.com/office/drawing/2014/main" id="{9EDACFC1-B3A4-45B8-809F-263E1BF9E3A7}"/>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59</a:t>
            </a:r>
          </a:p>
        </p:txBody>
      </p:sp>
      <p:graphicFrame>
        <p:nvGraphicFramePr>
          <p:cNvPr id="14" name=""/>
          <p:cNvGraphicFramePr/>
          <p:nvPr/>
        </p:nvGraphicFramePr>
        <p:xfrm>
          <a:off xmlns:a="http://schemas.openxmlformats.org/drawingml/2006/main" x="514350" y="2019300"/>
          <a:ext xmlns:a="http://schemas.openxmlformats.org/drawingml/2006/main" cx="11163300" cy="2847975"/>
        </p:xfrm>
        <a:graphic xmlns:a="http://schemas.openxmlformats.org/drawingml/2006/main">
          <a:graphicData uri="http://schemas.openxmlformats.org/drawingml/2006/table">
            <a:tbl>
              <a:tblPr/>
              <a:tblGrid>
                <a:gridCol w="2667000"/>
                <a:gridCol w="8496300"/>
              </a:tblGrid>
              <a:tr h="569595">
                <a:tc>
                  <a:txBody>
                    <a:bodyPr/>
                    <a:lstStyle/>
                    <a:p>
                      <a:pPr algn="ctr"/>
                      <a:r>
                        <a:rPr sz="2025" b="1">
                          <a:solidFill>
                            <a:srgbClr val="2E7D5B"/>
                          </a:solidFill>
                          <a:latin typeface="Noto Sans JP"/>
                          <a:ea typeface="Noto Sans JP"/>
                          <a:cs typeface="Noto Sans JP"/>
                        </a:rPr>
                        <a:t>指標</a:t>
                      </a:r>
                    </a:p>
                  </a:txBody>
                  <a:tcPr marL="91440" marR="91440" marT="45720" marB="45720" anchor="ctr">
                    <a:solidFill>
                      <a:srgbClr val="E7F2EC"/>
                    </a:solidFill>
                  </a:tcPr>
                </a:tc>
                <a:tc>
                  <a:txBody>
                    <a:bodyPr/>
                    <a:lstStyle/>
                    <a:p>
                      <a:pPr algn="ctr"/>
                      <a:r>
                        <a:rPr sz="2025" b="1">
                          <a:solidFill>
                            <a:srgbClr val="2E7D5B"/>
                          </a:solidFill>
                          <a:latin typeface="Noto Sans JP"/>
                          <a:ea typeface="Noto Sans JP"/>
                          <a:cs typeface="Noto Sans JP"/>
                        </a:rPr>
                        <a:t>何を見るか</a:t>
                      </a:r>
                    </a:p>
                  </a:txBody>
                  <a:tcPr marL="91440" marR="91440" marT="45720" marB="45720" anchor="ctr">
                    <a:solidFill>
                      <a:srgbClr val="E7F2EC"/>
                    </a:solidFill>
                  </a:tcPr>
                </a:tc>
              </a:tr>
              <a:tr h="569595">
                <a:tc>
                  <a:txBody>
                    <a:bodyPr/>
                    <a:lstStyle/>
                    <a:p>
                      <a:pPr algn="ctr"/>
                      <a:r>
                        <a:rPr sz="2025" b="0">
                          <a:solidFill>
                            <a:srgbClr val="222222"/>
                          </a:solidFill>
                          <a:latin typeface="Noto Sans JP"/>
                          <a:ea typeface="Noto Sans JP"/>
                          <a:cs typeface="Noto Sans JP"/>
                        </a:rPr>
                        <a:t>ROC-AUC（主指標）</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予測スコアで正例を負例より高く並べられるか</a:t>
                      </a:r>
                    </a:p>
                  </a:txBody>
                  <a:tcPr marL="91440" marR="91440" marT="45720" marB="45720" anchor="ctr">
                    <a:solidFill>
                      <a:srgbClr val="FFFFFF"/>
                    </a:solidFill>
                  </a:tcPr>
                </a:tc>
              </a:tr>
              <a:tr h="569595">
                <a:tc>
                  <a:txBody>
                    <a:bodyPr/>
                    <a:lstStyle/>
                    <a:p>
                      <a:pPr algn="ctr"/>
                      <a:r>
                        <a:rPr sz="2025" b="0">
                          <a:solidFill>
                            <a:srgbClr val="222222"/>
                          </a:solidFill>
                          <a:latin typeface="Noto Sans JP"/>
                          <a:ea typeface="Noto Sans JP"/>
                          <a:cs typeface="Noto Sans JP"/>
                        </a:rPr>
                        <a:t>Balanced accuracy</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各クラスの再現率を同じ重みで平均</a:t>
                      </a:r>
                    </a:p>
                  </a:txBody>
                  <a:tcPr marL="91440" marR="91440" marT="45720" marB="45720" anchor="ctr">
                    <a:solidFill>
                      <a:srgbClr val="F6F6F6"/>
                    </a:solidFill>
                  </a:tcPr>
                </a:tc>
              </a:tr>
              <a:tr h="569595">
                <a:tc>
                  <a:txBody>
                    <a:bodyPr/>
                    <a:lstStyle/>
                    <a:p>
                      <a:pPr algn="ctr"/>
                      <a:r>
                        <a:rPr sz="2025" b="0">
                          <a:solidFill>
                            <a:srgbClr val="222222"/>
                          </a:solidFill>
                          <a:latin typeface="Noto Sans JP"/>
                          <a:ea typeface="Noto Sans JP"/>
                          <a:cs typeface="Noto Sans JP"/>
                        </a:rPr>
                        <a:t>Macro-F1</a:t>
                      </a:r>
                    </a:p>
                  </a:txBody>
                  <a:tcPr marL="91440" marR="91440" marT="45720" marB="45720" anchor="ctr">
                    <a:solidFill>
                      <a:srgbClr val="FFFFFF"/>
                    </a:solidFill>
                  </a:tcPr>
                </a:tc>
                <a:tc>
                  <a:txBody>
                    <a:bodyPr/>
                    <a:lstStyle/>
                    <a:p>
                      <a:pPr algn="ctr"/>
                      <a:r>
                        <a:rPr sz="2025" b="0">
                          <a:solidFill>
                            <a:srgbClr val="222222"/>
                          </a:solidFill>
                          <a:latin typeface="Noto Sans JP"/>
                          <a:ea typeface="Noto Sans JP"/>
                          <a:cs typeface="Noto Sans JP"/>
                        </a:rPr>
                        <a:t>各クラスの適合率と再現率のバランスを平均</a:t>
                      </a:r>
                    </a:p>
                  </a:txBody>
                  <a:tcPr marL="91440" marR="91440" marT="45720" marB="45720" anchor="ctr">
                    <a:solidFill>
                      <a:srgbClr val="FFFFFF"/>
                    </a:solidFill>
                  </a:tcPr>
                </a:tc>
              </a:tr>
              <a:tr h="569595">
                <a:tc>
                  <a:txBody>
                    <a:bodyPr/>
                    <a:lstStyle/>
                    <a:p>
                      <a:pPr algn="ctr"/>
                      <a:r>
                        <a:rPr sz="2025" b="0">
                          <a:solidFill>
                            <a:srgbClr val="222222"/>
                          </a:solidFill>
                          <a:latin typeface="Noto Sans JP"/>
                          <a:ea typeface="Noto Sans JP"/>
                          <a:cs typeface="Noto Sans JP"/>
                        </a:rPr>
                        <a:t>Accuracy</a:t>
                      </a:r>
                    </a:p>
                  </a:txBody>
                  <a:tcPr marL="91440" marR="91440" marT="45720" marB="45720" anchor="ctr">
                    <a:solidFill>
                      <a:srgbClr val="F6F6F6"/>
                    </a:solidFill>
                  </a:tcPr>
                </a:tc>
                <a:tc>
                  <a:txBody>
                    <a:bodyPr/>
                    <a:lstStyle/>
                    <a:p>
                      <a:pPr algn="ctr"/>
                      <a:r>
                        <a:rPr sz="2025" b="0">
                          <a:solidFill>
                            <a:srgbClr val="222222"/>
                          </a:solidFill>
                          <a:latin typeface="Noto Sans JP"/>
                          <a:ea typeface="Noto Sans JP"/>
                          <a:cs typeface="Noto Sans JP"/>
                        </a:rPr>
                        <a:t>全体の正解割合。多数クラスの影響を受ける</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9DCBA09E-35FD-4583-A83C-E1AB00C7537D}"/>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8917C15-9959-4D98-BBCE-EB133DD5BA92}"/>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AUCの小さな平均差だけで、拡張の有用性を結論しない</a:t>
            </a:r>
          </a:p>
        </p:txBody>
      </p:sp>
    </p:spTree>
    <p:extLst>
      <p:ext uri="{BB962C8B-B14F-4D97-AF65-F5344CB8AC3E}">
        <p14:creationId xmlns:p14="http://schemas.microsoft.com/office/powerpoint/2010/main" val="196482871"/>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CC3BDB3-4C88-4065-A407-EC9D52B90C34}"/>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補足：保存結果の追加対照</a:t>
            </a:r>
          </a:p>
        </p:txBody>
      </p:sp>
      <p:sp>
        <p:nvSpPr>
          <p:cNvPr id="2" name="">
            <a:extLst xmlns:a="http://schemas.openxmlformats.org/drawingml/2006/main">
              <a:ext uri="{FF2B5EF4-FFF2-40B4-BE49-F238E27FC236}">
                <a16:creationId xmlns:a16="http://schemas.microsoft.com/office/drawing/2014/main" id="{CED4F0F9-7DD6-4A4A-8701-F594978696CD}"/>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B1A0674-AC65-4C9A-B5F8-7CE90F4A932B}"/>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公式クラス条件付き対照学習は、ランダムマスク設定の参考比較。</a:t>
            </a:r>
          </a:p>
        </p:txBody>
      </p:sp>
      <p:sp>
        <p:nvSpPr>
          <p:cNvPr id="4" name="">
            <a:extLst xmlns:a="http://schemas.openxmlformats.org/drawingml/2006/main">
              <a:ext uri="{FF2B5EF4-FFF2-40B4-BE49-F238E27FC236}">
                <a16:creationId xmlns:a16="http://schemas.microsoft.com/office/drawing/2014/main" id="{13154B3D-2AA5-40AB-9F74-51DF7F36A126}"/>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補足・実験</a:t>
            </a:r>
          </a:p>
        </p:txBody>
      </p:sp>
      <p:sp>
        <p:nvSpPr>
          <p:cNvPr id="5" name="">
            <a:extLst xmlns:a="http://schemas.openxmlformats.org/drawingml/2006/main">
              <a:ext uri="{FF2B5EF4-FFF2-40B4-BE49-F238E27FC236}">
                <a16:creationId xmlns:a16="http://schemas.microsoft.com/office/drawing/2014/main" id="{4DF325E7-03B4-4744-BFF1-534778B0C7D3}"/>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60</a:t>
            </a:r>
          </a:p>
        </p:txBody>
      </p:sp>
      <p:graphicFrame>
        <p:nvGraphicFramePr>
          <p:cNvPr id="15" name=""/>
          <p:cNvGraphicFramePr/>
          <p:nvPr/>
        </p:nvGraphicFramePr>
        <p:xfrm>
          <a:off xmlns:a="http://schemas.openxmlformats.org/drawingml/2006/main" x="514350" y="2085975"/>
          <a:ext xmlns:a="http://schemas.openxmlformats.org/drawingml/2006/main" cx="11163300" cy="2390775"/>
        </p:xfrm>
        <a:graphic xmlns:a="http://schemas.openxmlformats.org/drawingml/2006/main">
          <a:graphicData uri="http://schemas.openxmlformats.org/drawingml/2006/table">
            <a:tbl>
              <a:tblPr/>
              <a:tblGrid>
                <a:gridCol w="2790825"/>
                <a:gridCol w="2790825"/>
                <a:gridCol w="2790825"/>
                <a:gridCol w="2790825"/>
              </a:tblGrid>
              <a:tr h="796925">
                <a:tc>
                  <a:txBody>
                    <a:bodyPr/>
                    <a:lstStyle/>
                    <a:p>
                      <a:pPr algn="ctr"/>
                      <a:r>
                        <a:rPr sz="1875" b="1">
                          <a:solidFill>
                            <a:srgbClr val="2E7D5B"/>
                          </a:solidFill>
                          <a:latin typeface="Noto Sans JP"/>
                          <a:ea typeface="Noto Sans JP"/>
                          <a:cs typeface="Noto Sans JP"/>
                        </a:rPr>
                        <a:t>データ / AUC</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VIME列置換</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VIME copula</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クラス条件付き対照学習</a:t>
                      </a:r>
                    </a:p>
                  </a:txBody>
                  <a:tcPr marL="91440" marR="91440" marT="45720" marB="45720" anchor="ctr">
                    <a:solidFill>
                      <a:srgbClr val="E7F2EC"/>
                    </a:solidFill>
                  </a:tcPr>
                </a:tc>
              </a:tr>
              <a:tr h="796925">
                <a:tc>
                  <a:txBody>
                    <a:bodyPr/>
                    <a:lstStyle/>
                    <a:p>
                      <a:pPr algn="ctr"/>
                      <a:r>
                        <a:rPr sz="1875" b="0">
                          <a:solidFill>
                            <a:srgbClr val="222222"/>
                          </a:solidFill>
                          <a:latin typeface="Noto Sans JP"/>
                          <a:ea typeface="Noto Sans JP"/>
                          <a:cs typeface="Noto Sans JP"/>
                        </a:rPr>
                        <a:t>Breast Cancer</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0.970 ± 0.012</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0.973 ± 0.017</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0.827 ± 0.084</a:t>
                      </a:r>
                    </a:p>
                  </a:txBody>
                  <a:tcPr marL="91440" marR="91440" marT="45720" marB="45720" anchor="ctr">
                    <a:solidFill>
                      <a:srgbClr val="FFFFFF"/>
                    </a:solidFill>
                  </a:tcPr>
                </a:tc>
              </a:tr>
              <a:tr h="796925">
                <a:tc>
                  <a:txBody>
                    <a:bodyPr/>
                    <a:lstStyle/>
                    <a:p>
                      <a:pPr algn="ctr"/>
                      <a:r>
                        <a:rPr sz="1875" b="0">
                          <a:solidFill>
                            <a:srgbClr val="222222"/>
                          </a:solidFill>
                          <a:latin typeface="Noto Sans JP"/>
                          <a:ea typeface="Noto Sans JP"/>
                          <a:cs typeface="Noto Sans JP"/>
                        </a:rPr>
                        <a:t>Wine</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0.826 ± 0.068</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0.847 ± 0.130</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0.890 ± 0.077</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A95CFE5B-E83A-424E-A822-676E592ACB97}"/>
              </a:ext>
            </a:extLst>
          </p:cNvPr>
          <p:cNvSpPr>
            <a:spLocks xmlns:a="http://schemas.openxmlformats.org/drawingml/2006/main" noGrp="1"/>
          </p:cNvSpPr>
          <p:nvPr/>
        </p:nvSpPr>
        <p:spPr>
          <a:xfrm xmlns:a="http://schemas.openxmlformats.org/drawingml/2006/main">
            <a:off x="619125" y="4781550"/>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1">
                <a:solidFill>
                  <a:srgbClr val="E0562B"/>
                </a:solidFill>
                <a:latin typeface="Noto Sans JP"/>
                <a:ea typeface="Noto Sans JP"/>
                <a:cs typeface="Noto Sans JP"/>
              </a:defRPr>
            </a:pPr>
            <a:r>
              <a:rPr sz="2175" b="1">
                <a:solidFill>
                  <a:srgbClr val="E0562B"/>
                </a:solidFill>
                <a:latin typeface="Noto Sans JP"/>
                <a:ea typeface="Noto Sans JP"/>
                <a:cs typeface="Noto Sans JP"/>
              </a:rPr>
              <a:t>条件付き生成が一律に優れる、という結果ではない。</a:t>
            </a:r>
          </a:p>
        </p:txBody>
      </p:sp>
      <p:sp>
        <p:nvSpPr>
          <p:cNvPr id="8" name="">
            <a:extLst xmlns:a="http://schemas.openxmlformats.org/drawingml/2006/main">
              <a:ext uri="{FF2B5EF4-FFF2-40B4-BE49-F238E27FC236}">
                <a16:creationId xmlns:a16="http://schemas.microsoft.com/office/drawing/2014/main" id="{26710A9B-12F5-4B61-8FA5-148C11D47136}"/>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1DB3D72-7558-459A-A2B2-BDEC24971547}"/>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第三法との差には、置換器以外の違いも含まれる</a:t>
            </a:r>
          </a:p>
        </p:txBody>
      </p:sp>
    </p:spTree>
    <p:extLst>
      <p:ext uri="{BB962C8B-B14F-4D97-AF65-F5344CB8AC3E}">
        <p14:creationId xmlns:p14="http://schemas.microsoft.com/office/powerpoint/2010/main" val="320679053"/>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7213BB3-6412-4DEA-9CA8-5510C0735F6B}"/>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補足：研究で答える「なぜ？」</a:t>
            </a:r>
          </a:p>
        </p:txBody>
      </p:sp>
      <p:sp>
        <p:nvSpPr>
          <p:cNvPr id="2" name="">
            <a:extLst xmlns:a="http://schemas.openxmlformats.org/drawingml/2006/main">
              <a:ext uri="{FF2B5EF4-FFF2-40B4-BE49-F238E27FC236}">
                <a16:creationId xmlns:a16="http://schemas.microsoft.com/office/drawing/2014/main" id="{87F8BC87-04AA-45A4-87E4-FCFD20584E93}"/>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10F23B7B-DAA3-4E2E-B579-292C1BEE9F06}"/>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意図と、現在の証拠を混同せずに答える。</a:t>
            </a:r>
          </a:p>
        </p:txBody>
      </p:sp>
      <p:sp>
        <p:nvSpPr>
          <p:cNvPr id="4" name="">
            <a:extLst xmlns:a="http://schemas.openxmlformats.org/drawingml/2006/main">
              <a:ext uri="{FF2B5EF4-FFF2-40B4-BE49-F238E27FC236}">
                <a16:creationId xmlns:a16="http://schemas.microsoft.com/office/drawing/2014/main" id="{B575AA4F-0397-4C85-AD48-6A31965901D8}"/>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補足・質疑</a:t>
            </a:r>
          </a:p>
        </p:txBody>
      </p:sp>
      <p:sp>
        <p:nvSpPr>
          <p:cNvPr id="5" name="">
            <a:extLst xmlns:a="http://schemas.openxmlformats.org/drawingml/2006/main">
              <a:ext uri="{FF2B5EF4-FFF2-40B4-BE49-F238E27FC236}">
                <a16:creationId xmlns:a16="http://schemas.microsoft.com/office/drawing/2014/main" id="{A88ABD35-3D1C-4D26-8EBD-5DB9BBD0B4B9}"/>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61</a:t>
            </a:r>
          </a:p>
        </p:txBody>
      </p:sp>
      <p:graphicFrame>
        <p:nvGraphicFramePr>
          <p:cNvPr id="14" name=""/>
          <p:cNvGraphicFramePr/>
          <p:nvPr/>
        </p:nvGraphicFramePr>
        <p:xfrm>
          <a:off xmlns:a="http://schemas.openxmlformats.org/drawingml/2006/main" x="514350" y="1981200"/>
          <a:ext xmlns:a="http://schemas.openxmlformats.org/drawingml/2006/main" cx="11163300" cy="3248025"/>
        </p:xfrm>
        <a:graphic xmlns:a="http://schemas.openxmlformats.org/drawingml/2006/main">
          <a:graphicData uri="http://schemas.openxmlformats.org/drawingml/2006/table">
            <a:tbl>
              <a:tblPr/>
              <a:tblGrid>
                <a:gridCol w="2667000"/>
                <a:gridCol w="8496300"/>
              </a:tblGrid>
              <a:tr h="649605">
                <a:tc>
                  <a:txBody>
                    <a:bodyPr/>
                    <a:lstStyle/>
                    <a:p>
                      <a:pPr algn="ctr"/>
                      <a:r>
                        <a:rPr sz="1875" b="1">
                          <a:solidFill>
                            <a:srgbClr val="2E7D5B"/>
                          </a:solidFill>
                          <a:latin typeface="Noto Sans JP"/>
                          <a:ea typeface="Noto Sans JP"/>
                          <a:cs typeface="Noto Sans JP"/>
                        </a:rPr>
                        <a:t>問い</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現時点の答え</a:t>
                      </a:r>
                    </a:p>
                  </a:txBody>
                  <a:tcPr marL="91440" marR="91440" marT="45720" marB="45720" anchor="ctr">
                    <a:solidFill>
                      <a:srgbClr val="E7F2EC"/>
                    </a:solidFill>
                  </a:tcPr>
                </a:tc>
              </a:tr>
              <a:tr h="649605">
                <a:tc>
                  <a:txBody>
                    <a:bodyPr/>
                    <a:lstStyle/>
                    <a:p>
                      <a:pPr algn="ctr"/>
                      <a:r>
                        <a:rPr sz="1875" b="0">
                          <a:solidFill>
                            <a:srgbClr val="222222"/>
                          </a:solidFill>
                          <a:latin typeface="Noto Sans JP"/>
                          <a:ea typeface="Noto Sans JP"/>
                          <a:cs typeface="Noto Sans JP"/>
                        </a:rPr>
                        <a:t>なぜコピュラ？</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周辺の形と依存を分け、観測列を条件に生成するため。</a:t>
                      </a:r>
                    </a:p>
                  </a:txBody>
                  <a:tcPr marL="91440" marR="91440" marT="45720" marB="45720" anchor="ctr">
                    <a:solidFill>
                      <a:srgbClr val="FFFFFF"/>
                    </a:solidFill>
                  </a:tcPr>
                </a:tc>
              </a:tr>
              <a:tr h="649605">
                <a:tc>
                  <a:txBody>
                    <a:bodyPr/>
                    <a:lstStyle/>
                    <a:p>
                      <a:pPr algn="ctr"/>
                      <a:r>
                        <a:rPr sz="1875" b="0">
                          <a:solidFill>
                            <a:srgbClr val="222222"/>
                          </a:solidFill>
                          <a:latin typeface="Noto Sans JP"/>
                          <a:ea typeface="Noto Sans JP"/>
                          <a:cs typeface="Noto Sans JP"/>
                        </a:rPr>
                        <a:t>なぜGaussian？</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多変量の条件付き分布が計算でき、比較を始めやすいため。</a:t>
                      </a:r>
                    </a:p>
                  </a:txBody>
                  <a:tcPr marL="91440" marR="91440" marT="45720" marB="45720" anchor="ctr">
                    <a:solidFill>
                      <a:srgbClr val="F6F6F6"/>
                    </a:solidFill>
                  </a:tcPr>
                </a:tc>
              </a:tr>
              <a:tr h="649605">
                <a:tc>
                  <a:txBody>
                    <a:bodyPr/>
                    <a:lstStyle/>
                    <a:p>
                      <a:pPr algn="ctr"/>
                      <a:r>
                        <a:rPr sz="1875" b="0">
                          <a:solidFill>
                            <a:srgbClr val="222222"/>
                          </a:solidFill>
                          <a:latin typeface="Noto Sans JP"/>
                          <a:ea typeface="Noto Sans JP"/>
                          <a:cs typeface="Noto Sans JP"/>
                        </a:rPr>
                        <a:t>なぜラベルなし？</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依存推定は特徴の組でできる。ただしラベル保持は別問題。</a:t>
                      </a:r>
                    </a:p>
                  </a:txBody>
                  <a:tcPr marL="91440" marR="91440" marT="45720" marB="45720" anchor="ctr">
                    <a:solidFill>
                      <a:srgbClr val="FFFFFF"/>
                    </a:solidFill>
                  </a:tcPr>
                </a:tc>
              </a:tr>
              <a:tr h="649605">
                <a:tc>
                  <a:txBody>
                    <a:bodyPr/>
                    <a:lstStyle/>
                    <a:p>
                      <a:pPr algn="ctr"/>
                      <a:r>
                        <a:rPr sz="1875" b="0">
                          <a:solidFill>
                            <a:srgbClr val="222222"/>
                          </a:solidFill>
                          <a:latin typeface="Noto Sans JP"/>
                          <a:ea typeface="Noto Sans JP"/>
                          <a:cs typeface="Noto Sans JP"/>
                        </a:rPr>
                        <a:t>なぜ性能がまだ不確か？</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少数データ・seed、モデルの仮定、拡張強度を検証中。</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1E9841E1-7DB6-406C-80B2-119C2094417B}"/>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3AD6941-0B82-418C-A07F-5E7C0D92D54C}"/>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教授・先輩に相談したい点：生成品質とクラス保持をどう評価するか</a:t>
            </a:r>
          </a:p>
        </p:txBody>
      </p:sp>
    </p:spTree>
    <p:extLst>
      <p:ext uri="{BB962C8B-B14F-4D97-AF65-F5344CB8AC3E}">
        <p14:creationId xmlns:p14="http://schemas.microsoft.com/office/powerpoint/2010/main" val="1521423747"/>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ED233D0-339B-4F5E-BDA5-FAEC3D389800}"/>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補足：裾依存係数の定義</a:t>
            </a:r>
          </a:p>
        </p:txBody>
      </p:sp>
      <p:sp>
        <p:nvSpPr>
          <p:cNvPr id="2" name="">
            <a:extLst xmlns:a="http://schemas.openxmlformats.org/drawingml/2006/main">
              <a:ext uri="{FF2B5EF4-FFF2-40B4-BE49-F238E27FC236}">
                <a16:creationId xmlns:a16="http://schemas.microsoft.com/office/drawing/2014/main" id="{B4577C86-813F-41EB-8F7A-A3BA24FDFA13}"/>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CC00D88-E5EC-46BF-8E20-F42CE4FA4FCB}"/>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極端な条件での確率を、端まで近づけた極限。</a:t>
            </a:r>
          </a:p>
        </p:txBody>
      </p:sp>
      <p:sp>
        <p:nvSpPr>
          <p:cNvPr id="4" name="">
            <a:extLst xmlns:a="http://schemas.openxmlformats.org/drawingml/2006/main">
              <a:ext uri="{FF2B5EF4-FFF2-40B4-BE49-F238E27FC236}">
                <a16:creationId xmlns:a16="http://schemas.microsoft.com/office/drawing/2014/main" id="{6E03AFC0-CC48-47DC-9616-76BBB20E21C0}"/>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補足・数学</a:t>
            </a:r>
          </a:p>
        </p:txBody>
      </p:sp>
      <p:sp>
        <p:nvSpPr>
          <p:cNvPr id="5" name="">
            <a:extLst xmlns:a="http://schemas.openxmlformats.org/drawingml/2006/main">
              <a:ext uri="{FF2B5EF4-FFF2-40B4-BE49-F238E27FC236}">
                <a16:creationId xmlns:a16="http://schemas.microsoft.com/office/drawing/2014/main" id="{AE08C372-3194-47C4-BBE3-B2C20F2D4824}"/>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62</a:t>
            </a:r>
          </a:p>
        </p:txBody>
      </p:sp>
      <p:sp>
        <p:nvSpPr>
          <p:cNvPr id="6" name="">
            <a:extLst xmlns:a="http://schemas.openxmlformats.org/drawingml/2006/main">
              <a:ext uri="{FF2B5EF4-FFF2-40B4-BE49-F238E27FC236}">
                <a16:creationId xmlns:a16="http://schemas.microsoft.com/office/drawing/2014/main" id="{B7E8A2E9-B1AE-485F-8A3C-F31470D41709}"/>
              </a:ext>
            </a:extLst>
          </p:cNvPr>
          <p:cNvSpPr>
            <a:spLocks xmlns:a="http://schemas.openxmlformats.org/drawingml/2006/main" noGrp="1"/>
          </p:cNvSpPr>
          <p:nvPr/>
        </p:nvSpPr>
        <p:spPr>
          <a:xfrm xmlns:a="http://schemas.openxmlformats.org/drawingml/2006/main">
            <a:off x="514350" y="1971675"/>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8C9DA28-AF1C-4225-A0A2-E7B5658E897D}"/>
              </a:ext>
            </a:extLst>
          </p:cNvPr>
          <p:cNvSpPr>
            <a:spLocks xmlns:a="http://schemas.openxmlformats.org/drawingml/2006/main" noGrp="1"/>
          </p:cNvSpPr>
          <p:nvPr/>
        </p:nvSpPr>
        <p:spPr>
          <a:xfrm xmlns:a="http://schemas.openxmlformats.org/drawingml/2006/main">
            <a:off x="704850" y="2066925"/>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925" b="1">
                <a:solidFill>
                  <a:srgbClr val="2B6777"/>
                </a:solidFill>
                <a:latin typeface="Noto Sans JP"/>
                <a:ea typeface="Noto Sans JP"/>
                <a:cs typeface="Noto Sans JP"/>
              </a:defRPr>
            </a:pPr>
            <a:r>
              <a:rPr sz="2925" b="1">
                <a:solidFill>
                  <a:srgbClr val="2B6777"/>
                </a:solidFill>
                <a:latin typeface="Noto Sans JP"/>
                <a:ea typeface="Noto Sans JP"/>
                <a:cs typeface="Noto Sans JP"/>
              </a:rPr>
              <a:t>λL = lim(q → 0) P(V ≤ q | U ≤ q)</a:t>
            </a:r>
          </a:p>
        </p:txBody>
      </p:sp>
      <p:sp>
        <p:nvSpPr>
          <p:cNvPr id="8" name="">
            <a:extLst xmlns:a="http://schemas.openxmlformats.org/drawingml/2006/main">
              <a:ext uri="{FF2B5EF4-FFF2-40B4-BE49-F238E27FC236}">
                <a16:creationId xmlns:a16="http://schemas.microsoft.com/office/drawing/2014/main" id="{1AEF808D-C5AE-4E5D-8F1E-A8404438AA16}"/>
              </a:ext>
            </a:extLst>
          </p:cNvPr>
          <p:cNvSpPr>
            <a:spLocks xmlns:a="http://schemas.openxmlformats.org/drawingml/2006/main" noGrp="1"/>
          </p:cNvSpPr>
          <p:nvPr/>
        </p:nvSpPr>
        <p:spPr>
          <a:xfrm xmlns:a="http://schemas.openxmlformats.org/drawingml/2006/main">
            <a:off x="514350" y="3295650"/>
            <a:ext cx="11163300" cy="1000125"/>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A03FDC7-4C03-4B5C-949F-49F870E9C365}"/>
              </a:ext>
            </a:extLst>
          </p:cNvPr>
          <p:cNvSpPr>
            <a:spLocks xmlns:a="http://schemas.openxmlformats.org/drawingml/2006/main" noGrp="1"/>
          </p:cNvSpPr>
          <p:nvPr/>
        </p:nvSpPr>
        <p:spPr>
          <a:xfrm xmlns:a="http://schemas.openxmlformats.org/drawingml/2006/main">
            <a:off x="704850" y="3390900"/>
            <a:ext cx="10782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925" b="1">
                <a:solidFill>
                  <a:srgbClr val="2B6777"/>
                </a:solidFill>
                <a:latin typeface="Noto Sans JP"/>
                <a:ea typeface="Noto Sans JP"/>
                <a:cs typeface="Noto Sans JP"/>
              </a:defRPr>
            </a:pPr>
            <a:r>
              <a:rPr sz="2925" b="1">
                <a:solidFill>
                  <a:srgbClr val="2B6777"/>
                </a:solidFill>
                <a:latin typeface="Noto Sans JP"/>
                <a:ea typeface="Noto Sans JP"/>
                <a:cs typeface="Noto Sans JP"/>
              </a:rPr>
              <a:t>λU = lim(q → 1) P(V &gt; q | U &gt; q)</a:t>
            </a:r>
          </a:p>
        </p:txBody>
      </p:sp>
      <p:sp>
        <p:nvSpPr>
          <p:cNvPr id="10" name="">
            <a:extLst xmlns:a="http://schemas.openxmlformats.org/drawingml/2006/main">
              <a:ext uri="{FF2B5EF4-FFF2-40B4-BE49-F238E27FC236}">
                <a16:creationId xmlns:a16="http://schemas.microsoft.com/office/drawing/2014/main" id="{EAD47D1F-AE52-4D9C-92D3-4372729CF4C9}"/>
              </a:ext>
            </a:extLst>
          </p:cNvPr>
          <p:cNvSpPr>
            <a:spLocks xmlns:a="http://schemas.openxmlformats.org/drawingml/2006/main" noGrp="1"/>
          </p:cNvSpPr>
          <p:nvPr/>
        </p:nvSpPr>
        <p:spPr>
          <a:xfrm xmlns:a="http://schemas.openxmlformats.org/drawingml/2006/main">
            <a:off x="619125" y="4733925"/>
            <a:ext cx="10953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例：q = 0.99 で共発生があることと、極限が正であることは別。</a:t>
            </a:r>
          </a:p>
        </p:txBody>
      </p:sp>
      <p:sp>
        <p:nvSpPr>
          <p:cNvPr id="11" name="">
            <a:extLst xmlns:a="http://schemas.openxmlformats.org/drawingml/2006/main">
              <a:ext uri="{FF2B5EF4-FFF2-40B4-BE49-F238E27FC236}">
                <a16:creationId xmlns:a16="http://schemas.microsoft.com/office/drawing/2014/main" id="{507C0AA8-6294-44C4-B0AA-05FA638F8546}"/>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F4BEC01-D35F-4732-91E1-32042EF49B45}"/>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「裾依存が0」を「極端な領域でも独立」と解釈しない</a:t>
            </a:r>
          </a:p>
        </p:txBody>
      </p:sp>
    </p:spTree>
    <p:extLst>
      <p:ext uri="{BB962C8B-B14F-4D97-AF65-F5344CB8AC3E}">
        <p14:creationId xmlns:p14="http://schemas.microsoft.com/office/powerpoint/2010/main" val="1191965724"/>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EB5B766-47C8-46A0-90B5-C4CDFAD4742D}"/>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補足：VIMEで学習させる対象</a:t>
            </a:r>
          </a:p>
        </p:txBody>
      </p:sp>
      <p:sp>
        <p:nvSpPr>
          <p:cNvPr id="2" name="">
            <a:extLst xmlns:a="http://schemas.openxmlformats.org/drawingml/2006/main">
              <a:ext uri="{FF2B5EF4-FFF2-40B4-BE49-F238E27FC236}">
                <a16:creationId xmlns:a16="http://schemas.microsoft.com/office/drawing/2014/main" id="{A54D2C66-25C8-4E9D-A2AA-1133B0AD3CD1}"/>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AB88985F-023A-4F2B-99B4-8D59C8DAE3FE}"/>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生成の品質だけでなく、学習課題との組合せが結果を決める。</a:t>
            </a:r>
          </a:p>
        </p:txBody>
      </p:sp>
      <p:sp>
        <p:nvSpPr>
          <p:cNvPr id="4" name="">
            <a:extLst xmlns:a="http://schemas.openxmlformats.org/drawingml/2006/main">
              <a:ext uri="{FF2B5EF4-FFF2-40B4-BE49-F238E27FC236}">
                <a16:creationId xmlns:a16="http://schemas.microsoft.com/office/drawing/2014/main" id="{AE3CACCE-ABD8-4BE9-9502-C44F311436AE}"/>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補足・実装</a:t>
            </a:r>
          </a:p>
        </p:txBody>
      </p:sp>
      <p:sp>
        <p:nvSpPr>
          <p:cNvPr id="5" name="">
            <a:extLst xmlns:a="http://schemas.openxmlformats.org/drawingml/2006/main">
              <a:ext uri="{FF2B5EF4-FFF2-40B4-BE49-F238E27FC236}">
                <a16:creationId xmlns:a16="http://schemas.microsoft.com/office/drawing/2014/main" id="{82E3640A-5800-4EC4-AA3F-135265583576}"/>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63</a:t>
            </a:r>
          </a:p>
        </p:txBody>
      </p:sp>
      <p:graphicFrame>
        <p:nvGraphicFramePr>
          <p:cNvPr id="14" name=""/>
          <p:cNvGraphicFramePr/>
          <p:nvPr/>
        </p:nvGraphicFramePr>
        <p:xfrm>
          <a:off xmlns:a="http://schemas.openxmlformats.org/drawingml/2006/main" x="514350" y="2000250"/>
          <a:ext xmlns:a="http://schemas.openxmlformats.org/drawingml/2006/main" cx="11163300" cy="3267075"/>
        </p:xfrm>
        <a:graphic xmlns:a="http://schemas.openxmlformats.org/drawingml/2006/main">
          <a:graphicData uri="http://schemas.openxmlformats.org/drawingml/2006/table">
            <a:tbl>
              <a:tblPr/>
              <a:tblGrid>
                <a:gridCol w="2667000"/>
                <a:gridCol w="8496300"/>
              </a:tblGrid>
              <a:tr h="653415">
                <a:tc>
                  <a:txBody>
                    <a:bodyPr/>
                    <a:lstStyle/>
                    <a:p>
                      <a:pPr algn="ctr"/>
                      <a:r>
                        <a:rPr sz="1875" b="1">
                          <a:solidFill>
                            <a:srgbClr val="2E7D5B"/>
                          </a:solidFill>
                          <a:latin typeface="Noto Sans JP"/>
                          <a:ea typeface="Noto Sans JP"/>
                          <a:cs typeface="Noto Sans JP"/>
                        </a:rPr>
                        <a:t>段階</a:t>
                      </a:r>
                    </a:p>
                  </a:txBody>
                  <a:tcPr marL="91440" marR="91440" marT="45720" marB="45720" anchor="ctr">
                    <a:solidFill>
                      <a:srgbClr val="E7F2EC"/>
                    </a:solidFill>
                  </a:tcPr>
                </a:tc>
                <a:tc>
                  <a:txBody>
                    <a:bodyPr/>
                    <a:lstStyle/>
                    <a:p>
                      <a:pPr algn="ctr"/>
                      <a:r>
                        <a:rPr sz="1875" b="1">
                          <a:solidFill>
                            <a:srgbClr val="2E7D5B"/>
                          </a:solidFill>
                          <a:latin typeface="Noto Sans JP"/>
                          <a:ea typeface="Noto Sans JP"/>
                          <a:cs typeface="Noto Sans JP"/>
                        </a:rPr>
                        <a:t>入力・学習目標</a:t>
                      </a:r>
                    </a:p>
                  </a:txBody>
                  <a:tcPr marL="91440" marR="91440" marT="45720" marB="45720" anchor="ctr">
                    <a:solidFill>
                      <a:srgbClr val="E7F2EC"/>
                    </a:solidFill>
                  </a:tcPr>
                </a:tc>
              </a:tr>
              <a:tr h="653415">
                <a:tc>
                  <a:txBody>
                    <a:bodyPr/>
                    <a:lstStyle/>
                    <a:p>
                      <a:pPr algn="ctr"/>
                      <a:r>
                        <a:rPr sz="1875" b="0">
                          <a:solidFill>
                            <a:srgbClr val="222222"/>
                          </a:solidFill>
                          <a:latin typeface="Noto Sans JP"/>
                          <a:ea typeface="Noto Sans JP"/>
                          <a:cs typeface="Noto Sans JP"/>
                        </a:rPr>
                        <a:t>自己教師あり：マスク推定</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置換後の行から、実際に値が変わった位置を予測（BCE）</a:t>
                      </a:r>
                    </a:p>
                  </a:txBody>
                  <a:tcPr marL="91440" marR="91440" marT="45720" marB="45720" anchor="ctr">
                    <a:solidFill>
                      <a:srgbClr val="FFFFFF"/>
                    </a:solidFill>
                  </a:tcPr>
                </a:tc>
              </a:tr>
              <a:tr h="653415">
                <a:tc>
                  <a:txBody>
                    <a:bodyPr/>
                    <a:lstStyle/>
                    <a:p>
                      <a:pPr algn="ctr"/>
                      <a:r>
                        <a:rPr sz="1875" b="0">
                          <a:solidFill>
                            <a:srgbClr val="222222"/>
                          </a:solidFill>
                          <a:latin typeface="Noto Sans JP"/>
                          <a:ea typeface="Noto Sans JP"/>
                          <a:cs typeface="Noto Sans JP"/>
                        </a:rPr>
                        <a:t>自己教師あり：元値復元</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置換後の行から、元の行の値を復元（MSE、重み2）</a:t>
                      </a:r>
                    </a:p>
                  </a:txBody>
                  <a:tcPr marL="91440" marR="91440" marT="45720" marB="45720" anchor="ctr">
                    <a:solidFill>
                      <a:srgbClr val="F6F6F6"/>
                    </a:solidFill>
                  </a:tcPr>
                </a:tc>
              </a:tr>
              <a:tr h="653415">
                <a:tc>
                  <a:txBody>
                    <a:bodyPr/>
                    <a:lstStyle/>
                    <a:p>
                      <a:pPr algn="ctr"/>
                      <a:r>
                        <a:rPr sz="1875" b="0">
                          <a:solidFill>
                            <a:srgbClr val="222222"/>
                          </a:solidFill>
                          <a:latin typeface="Noto Sans JP"/>
                          <a:ea typeface="Noto Sans JP"/>
                          <a:cs typeface="Noto Sans JP"/>
                        </a:rPr>
                        <a:t>半教師あり：分類</a:t>
                      </a:r>
                    </a:p>
                  </a:txBody>
                  <a:tcPr marL="91440" marR="91440" marT="45720" marB="45720" anchor="ctr">
                    <a:solidFill>
                      <a:srgbClr val="FFFFFF"/>
                    </a:solidFill>
                  </a:tcPr>
                </a:tc>
                <a:tc>
                  <a:txBody>
                    <a:bodyPr/>
                    <a:lstStyle/>
                    <a:p>
                      <a:pPr algn="ctr"/>
                      <a:r>
                        <a:rPr sz="1875" b="0">
                          <a:solidFill>
                            <a:srgbClr val="222222"/>
                          </a:solidFill>
                          <a:latin typeface="Noto Sans JP"/>
                          <a:ea typeface="Noto Sans JP"/>
                          <a:cs typeface="Noto Sans JP"/>
                        </a:rPr>
                        <a:t>ラベルあり行の正解クラスを予測（交差エントロピー）</a:t>
                      </a:r>
                    </a:p>
                  </a:txBody>
                  <a:tcPr marL="91440" marR="91440" marT="45720" marB="45720" anchor="ctr">
                    <a:solidFill>
                      <a:srgbClr val="FFFFFF"/>
                    </a:solidFill>
                  </a:tcPr>
                </a:tc>
              </a:tr>
              <a:tr h="653415">
                <a:tc>
                  <a:txBody>
                    <a:bodyPr/>
                    <a:lstStyle/>
                    <a:p>
                      <a:pPr algn="ctr"/>
                      <a:r>
                        <a:rPr sz="1875" b="0">
                          <a:solidFill>
                            <a:srgbClr val="222222"/>
                          </a:solidFill>
                          <a:latin typeface="Noto Sans JP"/>
                          <a:ea typeface="Noto Sans JP"/>
                          <a:cs typeface="Noto Sans JP"/>
                        </a:rPr>
                        <a:t>半教師あり：一貫性</a:t>
                      </a:r>
                    </a:p>
                  </a:txBody>
                  <a:tcPr marL="91440" marR="91440" marT="45720" marB="45720" anchor="ctr">
                    <a:solidFill>
                      <a:srgbClr val="F6F6F6"/>
                    </a:solidFill>
                  </a:tcPr>
                </a:tc>
                <a:tc>
                  <a:txBody>
                    <a:bodyPr/>
                    <a:lstStyle/>
                    <a:p>
                      <a:pPr algn="ctr"/>
                      <a:r>
                        <a:rPr sz="1875" b="0">
                          <a:solidFill>
                            <a:srgbClr val="222222"/>
                          </a:solidFill>
                          <a:latin typeface="Noto Sans JP"/>
                          <a:ea typeface="Noto Sans JP"/>
                          <a:cs typeface="Noto Sans JP"/>
                        </a:rPr>
                        <a:t>同じ行の3拡張で、予測logitのばらつきを抑える</a:t>
                      </a:r>
                    </a:p>
                  </a:txBody>
                  <a:tcPr marL="91440" marR="91440" marT="45720" marB="45720" anchor="ctr">
                    <a:solidFill>
                      <a:srgbClr val="F6F6F6"/>
                    </a:solidFill>
                  </a:tcPr>
                </a:tc>
              </a:tr>
            </a:tbl>
          </a:graphicData>
        </a:graphic>
      </p:graphicFrame>
      <p:sp>
        <p:nvSpPr>
          <p:cNvPr id="7" name="">
            <a:extLst xmlns:a="http://schemas.openxmlformats.org/drawingml/2006/main">
              <a:ext uri="{FF2B5EF4-FFF2-40B4-BE49-F238E27FC236}">
                <a16:creationId xmlns:a16="http://schemas.microsoft.com/office/drawing/2014/main" id="{5B91CA34-F913-46F3-B8D8-27406F1B84DB}"/>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DA522E4-868B-43FF-8D86-772ADBA23D49}"/>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自然な置換でも、課題が簡単すぎる／意味が変わるなら効果は保証されない</a:t>
            </a:r>
          </a:p>
        </p:txBody>
      </p:sp>
    </p:spTree>
    <p:extLst>
      <p:ext uri="{BB962C8B-B14F-4D97-AF65-F5344CB8AC3E}">
        <p14:creationId xmlns:p14="http://schemas.microsoft.com/office/powerpoint/2010/main" val="1963519184"/>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6AE3A9E-E68D-4E82-BA21-18B346B58E3F}"/>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補足：実装の呼び出しのイメージ</a:t>
            </a:r>
          </a:p>
        </p:txBody>
      </p:sp>
      <p:sp>
        <p:nvSpPr>
          <p:cNvPr id="2" name="">
            <a:extLst xmlns:a="http://schemas.openxmlformats.org/drawingml/2006/main">
              <a:ext uri="{FF2B5EF4-FFF2-40B4-BE49-F238E27FC236}">
                <a16:creationId xmlns:a16="http://schemas.microsoft.com/office/drawing/2014/main" id="{295BCD4E-3453-415D-A78A-70C325FC6D09}"/>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69A0EEF9-6233-4C5B-B206-A9C123F2C9F4}"/>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学習時に分布を覚え、拡張時に同じ生成器を呼ぶ。</a:t>
            </a:r>
          </a:p>
        </p:txBody>
      </p:sp>
      <p:sp>
        <p:nvSpPr>
          <p:cNvPr id="4" name="">
            <a:extLst xmlns:a="http://schemas.openxmlformats.org/drawingml/2006/main">
              <a:ext uri="{FF2B5EF4-FFF2-40B4-BE49-F238E27FC236}">
                <a16:creationId xmlns:a16="http://schemas.microsoft.com/office/drawing/2014/main" id="{EAB61B0F-9E84-4452-9FF4-960B5546870A}"/>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補足・実装</a:t>
            </a:r>
          </a:p>
        </p:txBody>
      </p:sp>
      <p:sp>
        <p:nvSpPr>
          <p:cNvPr id="5" name="">
            <a:extLst xmlns:a="http://schemas.openxmlformats.org/drawingml/2006/main">
              <a:ext uri="{FF2B5EF4-FFF2-40B4-BE49-F238E27FC236}">
                <a16:creationId xmlns:a16="http://schemas.microsoft.com/office/drawing/2014/main" id="{CB25671F-5F81-43FD-9230-0DBED2349B38}"/>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64</a:t>
            </a:r>
          </a:p>
        </p:txBody>
      </p:sp>
      <p:sp>
        <p:nvSpPr>
          <p:cNvPr id="6" name="">
            <a:extLst xmlns:a="http://schemas.openxmlformats.org/drawingml/2006/main">
              <a:ext uri="{FF2B5EF4-FFF2-40B4-BE49-F238E27FC236}">
                <a16:creationId xmlns:a16="http://schemas.microsoft.com/office/drawing/2014/main" id="{AD7E9159-C90C-460F-AB1E-DFF7DABA281D}"/>
              </a:ext>
            </a:extLst>
          </p:cNvPr>
          <p:cNvSpPr>
            <a:spLocks xmlns:a="http://schemas.openxmlformats.org/drawingml/2006/main" noGrp="1"/>
          </p:cNvSpPr>
          <p:nvPr/>
        </p:nvSpPr>
        <p:spPr>
          <a:xfrm xmlns:a="http://schemas.openxmlformats.org/drawingml/2006/main">
            <a:off x="514350" y="1981200"/>
            <a:ext cx="11163300" cy="3371850"/>
          </a:xfrm>
          <a:prstGeom xmlns:a="http://schemas.openxmlformats.org/drawingml/2006/main" prst="rect">
            <a:avLst/>
          </a:prstGeom>
          <a:solidFill xmlns:a="http://schemas.openxmlformats.org/drawingml/2006/main">
            <a:srgbClr val="F6F6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347D2D7-F6F3-4A84-9F48-A3E414323583}"/>
              </a:ext>
            </a:extLst>
          </p:cNvPr>
          <p:cNvSpPr>
            <a:spLocks xmlns:a="http://schemas.openxmlformats.org/drawingml/2006/main" noGrp="1"/>
          </p:cNvSpPr>
          <p:nvPr/>
        </p:nvSpPr>
        <p:spPr>
          <a:xfrm xmlns:a="http://schemas.openxmlformats.org/drawingml/2006/main">
            <a:off x="762000" y="2209800"/>
            <a:ext cx="10668000" cy="2343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75" b="0">
                <a:solidFill>
                  <a:srgbClr val="2B6777"/>
                </a:solidFill>
                <a:latin typeface="Noto Sans JP"/>
                <a:ea typeface="Noto Sans JP"/>
                <a:cs typeface="Noto Sans JP"/>
              </a:defRPr>
            </a:pPr>
            <a:r>
              <a:rPr sz="2175" b="0">
                <a:solidFill>
                  <a:srgbClr val="2B6777"/>
                </a:solidFill>
                <a:latin typeface="Noto Sans JP"/>
                <a:ea typeface="Noto Sans JP"/>
                <a:cs typeface="Noto Sans JP"/>
              </a:rPr>
              <a:t>copula = GaussianCopulaCorruptor()</a:t>
            </a:r>
          </a:p>
          <a:p xmlns:a="http://schemas.openxmlformats.org/drawingml/2006/main">
            <a:pPr algn="l">
              <a:defRPr sz="2175" b="0">
                <a:solidFill>
                  <a:srgbClr val="2B6777"/>
                </a:solidFill>
                <a:latin typeface="Noto Sans JP"/>
                <a:ea typeface="Noto Sans JP"/>
                <a:cs typeface="Noto Sans JP"/>
              </a:defRPr>
            </a:pPr>
            <a:r>
              <a:rPr sz="2175" b="0">
                <a:solidFill>
                  <a:srgbClr val="2B6777"/>
                </a:solidFill>
                <a:latin typeface="Noto Sans JP"/>
                <a:ea typeface="Noto Sans JP"/>
                <a:cs typeface="Noto Sans JP"/>
              </a:rPr>
              <a:t>copula.fit(x_unlabeled_train)</a:t>
            </a:r>
          </a:p>
          <a:p xmlns:a="http://schemas.openxmlformats.org/drawingml/2006/main">
            <a:pPr algn="l">
              <a:defRPr sz="2175" b="0">
                <a:solidFill>
                  <a:srgbClr val="2B6777"/>
                </a:solidFill>
                <a:latin typeface="Noto Sans JP"/>
                <a:ea typeface="Noto Sans JP"/>
                <a:cs typeface="Noto Sans JP"/>
              </a:defRPr>
            </a:pPr>
            <a:r>
              <a:rPr sz="2175" b="0">
                <a:solidFill>
                  <a:srgbClr val="2B6777"/>
                </a:solidFill>
                <a:latin typeface="Noto Sans JP"/>
                <a:ea typeface="Noto Sans JP"/>
                <a:cs typeface="Noto Sans JP"/>
              </a:rPr>
              <a:t>mask = rng.random(x.shape) &lt; 0.4</a:t>
            </a:r>
          </a:p>
          <a:p xmlns:a="http://schemas.openxmlformats.org/drawingml/2006/main">
            <a:pPr algn="l">
              <a:defRPr sz="2175" b="0">
                <a:solidFill>
                  <a:srgbClr val="2B6777"/>
                </a:solidFill>
                <a:latin typeface="Noto Sans JP"/>
                <a:ea typeface="Noto Sans JP"/>
                <a:cs typeface="Noto Sans JP"/>
              </a:defRPr>
            </a:pPr>
            <a:r>
              <a:rPr sz="2175" b="0">
                <a:solidFill>
                  <a:srgbClr val="2B6777"/>
                </a:solidFill>
                <a:latin typeface="Noto Sans JP"/>
                <a:ea typeface="Noto Sans JP"/>
                <a:cs typeface="Noto Sans JP"/>
              </a:rPr>
              <a:t>x_aug = copula(x, mask, rng)</a:t>
            </a:r>
          </a:p>
        </p:txBody>
      </p:sp>
      <p:sp>
        <p:nvSpPr>
          <p:cNvPr id="8" name="">
            <a:extLst xmlns:a="http://schemas.openxmlformats.org/drawingml/2006/main">
              <a:ext uri="{FF2B5EF4-FFF2-40B4-BE49-F238E27FC236}">
                <a16:creationId xmlns:a16="http://schemas.microsoft.com/office/drawing/2014/main" id="{68E70BD5-0F43-4CCA-A038-3F248DC44DA0}"/>
              </a:ext>
            </a:extLst>
          </p:cNvPr>
          <p:cNvSpPr>
            <a:spLocks xmlns:a="http://schemas.openxmlformats.org/drawingml/2006/main" noGrp="1"/>
          </p:cNvSpPr>
          <p:nvPr/>
        </p:nvSpPr>
        <p:spPr>
          <a:xfrm xmlns:a="http://schemas.openxmlformats.org/drawingml/2006/main">
            <a:off x="723900" y="4810125"/>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1">
                <a:solidFill>
                  <a:srgbClr val="222222"/>
                </a:solidFill>
                <a:latin typeface="Noto Sans JP"/>
                <a:ea typeface="Noto Sans JP"/>
                <a:cs typeface="Noto Sans JP"/>
              </a:defRPr>
            </a:pPr>
            <a:r>
              <a:rPr sz="2025" b="1">
                <a:solidFill>
                  <a:srgbClr val="222222"/>
                </a:solidFill>
                <a:latin typeface="Noto Sans JP"/>
                <a:ea typeface="Noto Sans JP"/>
                <a:cs typeface="Noto Sans JP"/>
              </a:rPr>
              <a:t>mask = True の列だけ置換。False の列は、その行の値を維持。</a:t>
            </a:r>
          </a:p>
        </p:txBody>
      </p:sp>
      <p:sp>
        <p:nvSpPr>
          <p:cNvPr id="9" name="">
            <a:extLst xmlns:a="http://schemas.openxmlformats.org/drawingml/2006/main">
              <a:ext uri="{FF2B5EF4-FFF2-40B4-BE49-F238E27FC236}">
                <a16:creationId xmlns:a16="http://schemas.microsoft.com/office/drawing/2014/main" id="{CFDEC237-B018-49F5-853E-DC1E5CEAF49E}"/>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300198A1-58F0-4BAB-AA3F-29C1BC55D76E}"/>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分類の比較では、VIMEClassifierにこの生成器を渡す</a:t>
            </a:r>
          </a:p>
        </p:txBody>
      </p:sp>
    </p:spTree>
    <p:extLst>
      <p:ext uri="{BB962C8B-B14F-4D97-AF65-F5344CB8AC3E}">
        <p14:creationId xmlns:p14="http://schemas.microsoft.com/office/powerpoint/2010/main" val="571482655"/>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CA5B61F-AAAD-4CD6-98CC-87B055B06ACC}"/>
              </a:ext>
            </a:extLst>
          </p:cNvPr>
          <p:cNvSpPr>
            <a:spLocks xmlns:a="http://schemas.openxmlformats.org/drawingml/2006/main" noGrp="1"/>
          </p:cNvSpPr>
          <p:nvPr/>
        </p:nvSpPr>
        <p:spPr>
          <a:xfrm xmlns:a="http://schemas.openxmlformats.org/drawingml/2006/main">
            <a:off x="342900" y="190500"/>
            <a:ext cx="11506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3300" b="1">
                <a:solidFill>
                  <a:srgbClr val="222222"/>
                </a:solidFill>
                <a:latin typeface="Noto Sans JP"/>
                <a:ea typeface="Noto Sans JP"/>
                <a:cs typeface="Noto Sans JP"/>
              </a:defRPr>
            </a:pPr>
            <a:r>
              <a:rPr sz="3300" b="1">
                <a:solidFill>
                  <a:srgbClr val="222222"/>
                </a:solidFill>
                <a:latin typeface="Noto Sans JP"/>
                <a:ea typeface="Noto Sans JP"/>
                <a:cs typeface="Noto Sans JP"/>
              </a:rPr>
              <a:t>参考文献・実装の根拠</a:t>
            </a:r>
          </a:p>
        </p:txBody>
      </p:sp>
      <p:sp>
        <p:nvSpPr>
          <p:cNvPr id="2" name="">
            <a:extLst xmlns:a="http://schemas.openxmlformats.org/drawingml/2006/main">
              <a:ext uri="{FF2B5EF4-FFF2-40B4-BE49-F238E27FC236}">
                <a16:creationId xmlns:a16="http://schemas.microsoft.com/office/drawing/2014/main" id="{5DF8EF90-C249-49E9-AD3B-3D6BC96D7EAF}"/>
              </a:ext>
            </a:extLst>
          </p:cNvPr>
          <p:cNvSpPr>
            <a:spLocks xmlns:a="http://schemas.openxmlformats.org/drawingml/2006/main" noGrp="1"/>
          </p:cNvSpPr>
          <p:nvPr/>
        </p:nvSpPr>
        <p:spPr>
          <a:xfrm xmlns:a="http://schemas.openxmlformats.org/drawingml/2006/main">
            <a:off x="323850" y="923925"/>
            <a:ext cx="11525250" cy="19050"/>
          </a:xfrm>
          <a:prstGeom xmlns:a="http://schemas.openxmlformats.org/drawingml/2006/main" prst="rect">
            <a:avLst/>
          </a:prstGeom>
          <a:solidFill xmlns:a="http://schemas.openxmlformats.org/drawingml/2006/main">
            <a:srgbClr val="22222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193C2575-F06E-41F4-BF51-2E9203A93E9F}"/>
              </a:ext>
            </a:extLst>
          </p:cNvPr>
          <p:cNvSpPr>
            <a:spLocks xmlns:a="http://schemas.openxmlformats.org/drawingml/2006/main" noGrp="1"/>
          </p:cNvSpPr>
          <p:nvPr/>
        </p:nvSpPr>
        <p:spPr>
          <a:xfrm xmlns:a="http://schemas.openxmlformats.org/drawingml/2006/main">
            <a:off x="514350" y="1123950"/>
            <a:ext cx="11163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100" b="1">
                <a:solidFill>
                  <a:srgbClr val="222222"/>
                </a:solidFill>
                <a:latin typeface="Noto Sans JP"/>
                <a:ea typeface="Noto Sans JP"/>
                <a:cs typeface="Noto Sans JP"/>
              </a:defRPr>
            </a:pPr>
            <a:r>
              <a:rPr sz="2100" b="1">
                <a:solidFill>
                  <a:srgbClr val="222222"/>
                </a:solidFill>
                <a:latin typeface="Noto Sans JP"/>
                <a:ea typeface="Noto Sans JP"/>
                <a:cs typeface="Noto Sans JP"/>
              </a:rPr>
              <a:t>説明の出典と、比較実験のデータを区別する。</a:t>
            </a:r>
          </a:p>
        </p:txBody>
      </p:sp>
      <p:sp>
        <p:nvSpPr>
          <p:cNvPr id="4" name="">
            <a:extLst xmlns:a="http://schemas.openxmlformats.org/drawingml/2006/main">
              <a:ext uri="{FF2B5EF4-FFF2-40B4-BE49-F238E27FC236}">
                <a16:creationId xmlns:a16="http://schemas.microsoft.com/office/drawing/2014/main" id="{BAE5FF9F-C25D-48F6-B738-8B6A58A5EAC4}"/>
              </a:ext>
            </a:extLst>
          </p:cNvPr>
          <p:cNvSpPr>
            <a:spLocks xmlns:a="http://schemas.openxmlformats.org/drawingml/2006/main" noGrp="1"/>
          </p:cNvSpPr>
          <p:nvPr/>
        </p:nvSpPr>
        <p:spPr>
          <a:xfrm xmlns:a="http://schemas.openxmlformats.org/drawingml/2006/main">
            <a:off x="495300" y="65055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200" b="0">
                <a:solidFill>
                  <a:srgbClr val="777777"/>
                </a:solidFill>
                <a:latin typeface="Noto Sans JP"/>
                <a:ea typeface="Noto Sans JP"/>
                <a:cs typeface="Noto Sans JP"/>
              </a:defRPr>
            </a:pPr>
            <a:r>
              <a:rPr sz="1200" b="0">
                <a:solidFill>
                  <a:srgbClr val="777777"/>
                </a:solidFill>
                <a:latin typeface="Noto Sans JP"/>
                <a:ea typeface="Noto Sans JP"/>
                <a:cs typeface="Noto Sans JP"/>
              </a:rPr>
              <a:t>参考文献</a:t>
            </a:r>
          </a:p>
        </p:txBody>
      </p:sp>
      <p:sp>
        <p:nvSpPr>
          <p:cNvPr id="5" name="">
            <a:extLst xmlns:a="http://schemas.openxmlformats.org/drawingml/2006/main">
              <a:ext uri="{FF2B5EF4-FFF2-40B4-BE49-F238E27FC236}">
                <a16:creationId xmlns:a16="http://schemas.microsoft.com/office/drawing/2014/main" id="{D47CBF08-ACCC-405B-9C3A-36FF021BEE53}"/>
              </a:ext>
            </a:extLst>
          </p:cNvPr>
          <p:cNvSpPr>
            <a:spLocks xmlns:a="http://schemas.openxmlformats.org/drawingml/2006/main" noGrp="1"/>
          </p:cNvSpPr>
          <p:nvPr/>
        </p:nvSpPr>
        <p:spPr>
          <a:xfrm xmlns:a="http://schemas.openxmlformats.org/drawingml/2006/main">
            <a:off x="11239500" y="64865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defRPr sz="1350" b="0">
                <a:solidFill>
                  <a:srgbClr val="777777"/>
                </a:solidFill>
                <a:latin typeface="Noto Sans JP"/>
                <a:ea typeface="Noto Sans JP"/>
                <a:cs typeface="Noto Sans JP"/>
              </a:defRPr>
            </a:pPr>
            <a:r>
              <a:rPr sz="1350" b="0">
                <a:solidFill>
                  <a:srgbClr val="777777"/>
                </a:solidFill>
                <a:latin typeface="Noto Sans JP"/>
                <a:ea typeface="Noto Sans JP"/>
                <a:cs typeface="Noto Sans JP"/>
              </a:rPr>
              <a:t>65</a:t>
            </a:r>
          </a:p>
        </p:txBody>
      </p:sp>
      <p:sp>
        <p:nvSpPr>
          <p:cNvPr id="6" name="">
            <a:extLst xmlns:a="http://schemas.openxmlformats.org/drawingml/2006/main">
              <a:ext uri="{FF2B5EF4-FFF2-40B4-BE49-F238E27FC236}">
                <a16:creationId xmlns:a16="http://schemas.microsoft.com/office/drawing/2014/main" id="{0E112588-EC5F-4D68-92E0-17CED8243419}"/>
              </a:ext>
            </a:extLst>
          </p:cNvPr>
          <p:cNvSpPr>
            <a:spLocks xmlns:a="http://schemas.openxmlformats.org/drawingml/2006/main" noGrp="1"/>
          </p:cNvSpPr>
          <p:nvPr/>
        </p:nvSpPr>
        <p:spPr>
          <a:xfrm xmlns:a="http://schemas.openxmlformats.org/drawingml/2006/main">
            <a:off x="628650" y="1952625"/>
            <a:ext cx="10953750" cy="3476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基礎：Haugh, An Introduction to Copulas ／ Segers, Fundamentals of copulas</a:t>
            </a:r>
          </a:p>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種類：Demarta &amp; McNeil (2005) ／ Czado &amp; Nagler (2022)</a:t>
            </a:r>
          </a:p>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応用：Zhao &amp; Udell (KDD 2020) ／ Aas et al. (2021)</a:t>
            </a:r>
          </a:p>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学習：Yoon et al., VIME (NeurIPS 2020) ／ Cui et al. (2024)</a:t>
            </a:r>
          </a:p>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実装：research-bench/src/tabular_research/corruption.py</a:t>
            </a:r>
          </a:p>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比較：research-bench/scripts/quick_compare.py</a:t>
            </a:r>
          </a:p>
          <a:p xmlns:a="http://schemas.openxmlformats.org/drawingml/2006/main">
            <a:pPr algn="l">
              <a:defRPr sz="2025" b="0">
                <a:solidFill>
                  <a:srgbClr val="222222"/>
                </a:solidFill>
                <a:latin typeface="Noto Sans JP"/>
                <a:ea typeface="Noto Sans JP"/>
                <a:cs typeface="Noto Sans JP"/>
              </a:defRPr>
            </a:pPr>
            <a:r>
              <a:rPr sz="2025" b="0">
                <a:solidFill>
                  <a:srgbClr val="222222"/>
                </a:solidFill>
                <a:latin typeface="Noto Sans JP"/>
                <a:ea typeface="Noto Sans JP"/>
                <a:cs typeface="Noto Sans JP"/>
              </a:rPr>
              <a:t>保存結果：research-bench/results/repeated_compare.json</a:t>
            </a:r>
          </a:p>
        </p:txBody>
      </p:sp>
      <p:sp>
        <p:nvSpPr>
          <p:cNvPr id="7" name="">
            <a:extLst xmlns:a="http://schemas.openxmlformats.org/drawingml/2006/main">
              <a:ext uri="{FF2B5EF4-FFF2-40B4-BE49-F238E27FC236}">
                <a16:creationId xmlns:a16="http://schemas.microsoft.com/office/drawing/2014/main" id="{6B89C8E6-A2F1-429B-95DD-BFFC421BD5F1}"/>
              </a:ext>
            </a:extLst>
          </p:cNvPr>
          <p:cNvSpPr>
            <a:spLocks xmlns:a="http://schemas.openxmlformats.org/drawingml/2006/main" noGrp="1"/>
          </p:cNvSpPr>
          <p:nvPr/>
        </p:nvSpPr>
        <p:spPr>
          <a:xfrm xmlns:a="http://schemas.openxmlformats.org/drawingml/2006/main">
            <a:off x="514350" y="5619750"/>
            <a:ext cx="11163300" cy="647700"/>
          </a:xfrm>
          <a:prstGeom xmlns:a="http://schemas.openxmlformats.org/drawingml/2006/main" prst="rect">
            <a:avLst/>
          </a:prstGeom>
          <a:solidFill xmlns:a="http://schemas.openxmlformats.org/drawingml/2006/main">
            <a:srgbClr val="E7F2E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9C6DBC7-9528-44EF-9C98-83EEF5B7331A}"/>
              </a:ext>
            </a:extLst>
          </p:cNvPr>
          <p:cNvSpPr>
            <a:spLocks xmlns:a="http://schemas.openxmlformats.org/drawingml/2006/main" noGrp="1"/>
          </p:cNvSpPr>
          <p:nvPr/>
        </p:nvSpPr>
        <p:spPr>
          <a:xfrm xmlns:a="http://schemas.openxmlformats.org/drawingml/2006/main">
            <a:off x="704850" y="5715000"/>
            <a:ext cx="107823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defRPr sz="2025" b="1">
                <a:solidFill>
                  <a:srgbClr val="2E7D5B"/>
                </a:solidFill>
                <a:latin typeface="Noto Sans JP"/>
                <a:ea typeface="Noto Sans JP"/>
                <a:cs typeface="Noto Sans JP"/>
              </a:defRPr>
            </a:pPr>
            <a:r>
              <a:rPr sz="2025" b="1">
                <a:solidFill>
                  <a:srgbClr val="2E7D5B"/>
                </a:solidFill>
                <a:latin typeface="Noto Sans JP"/>
                <a:ea typeface="Noto Sans JP"/>
                <a:cs typeface="Noto Sans JP"/>
              </a:rPr>
              <a:t>本文は直感を優先。詳しい定義・数式・出典は補足とノートへ</a:t>
            </a:r>
          </a:p>
        </p:txBody>
      </p:sp>
    </p:spTree>
    <p:extLst>
      <p:ext uri="{BB962C8B-B14F-4D97-AF65-F5344CB8AC3E}">
        <p14:creationId xmlns:p14="http://schemas.microsoft.com/office/powerpoint/2010/main" val="113118314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2026-10-04T03:30:03.5920000Z</dcterms:created>
  <dcterms:modified xsi:type="dcterms:W3CDTF">2026-10-04T03:30:03.5920000Z</dcterms:modified>
</coreProperties>
</file>