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568ecaf44b4a49" /><Relationship Type="http://schemas.openxmlformats.org/officeDocument/2006/relationships/extended-properties" Target="/docProps/app.xml" Id="Rd82d7c117de144b1" /><Relationship Type="http://schemas.openxmlformats.org/officeDocument/2006/relationships/officeDocument" Target="/ppt/presentation.xml" Id="R3c366dc66eab476a" /></Relationships>
</file>

<file path=ppt/presentation.xml><?xml version="1.0" encoding="utf-8"?>
<p:presentation xmlns:p="http://schemas.openxmlformats.org/presentationml/2006/main">
  <p:sldMasterIdLst>
    <p:sldMasterId xmlns:r="http://schemas.openxmlformats.org/officeDocument/2006/relationships" id="2147483648" r:id="Rdf82ef934ff7439c"/>
  </p:sldMasterIdLst>
  <p:notesMasterIdLst>
    <p:notesMasterId xmlns:r="http://schemas.openxmlformats.org/officeDocument/2006/relationships" r:id="R4313911566c84259"/>
  </p:notesMasterIdLst>
  <p:sldIdLst>
    <p:sldId xmlns:r="http://schemas.openxmlformats.org/officeDocument/2006/relationships" id="256" r:id="Rbe35c9615ccf436f"/>
    <p:sldId xmlns:r="http://schemas.openxmlformats.org/officeDocument/2006/relationships" id="257" r:id="R3b21b7b96b3d4767"/>
    <p:sldId xmlns:r="http://schemas.openxmlformats.org/officeDocument/2006/relationships" id="258" r:id="R82c145d5a2f74ba3"/>
    <p:sldId xmlns:r="http://schemas.openxmlformats.org/officeDocument/2006/relationships" id="259" r:id="R8b79c611ddb94f86"/>
    <p:sldId xmlns:r="http://schemas.openxmlformats.org/officeDocument/2006/relationships" id="260" r:id="Rae3fcc7b038f48eb"/>
    <p:sldId xmlns:r="http://schemas.openxmlformats.org/officeDocument/2006/relationships" id="261" r:id="R0779d721030f4528"/>
    <p:sldId xmlns:r="http://schemas.openxmlformats.org/officeDocument/2006/relationships" id="262" r:id="R5ffa694036da4d11"/>
    <p:sldId xmlns:r="http://schemas.openxmlformats.org/officeDocument/2006/relationships" id="263" r:id="R94e7b2e06b78402b"/>
    <p:sldId xmlns:r="http://schemas.openxmlformats.org/officeDocument/2006/relationships" id="264" r:id="Rdcc10fdc515a4cf0"/>
    <p:sldId xmlns:r="http://schemas.openxmlformats.org/officeDocument/2006/relationships" id="265" r:id="Rb2329a46be314668"/>
    <p:sldId xmlns:r="http://schemas.openxmlformats.org/officeDocument/2006/relationships" id="266" r:id="R593d39bf2a82411c"/>
    <p:sldId xmlns:r="http://schemas.openxmlformats.org/officeDocument/2006/relationships" id="267" r:id="R0594fb45408a48ed"/>
    <p:sldId xmlns:r="http://schemas.openxmlformats.org/officeDocument/2006/relationships" id="268" r:id="R84c5d3aaac6e4da1"/>
    <p:sldId xmlns:r="http://schemas.openxmlformats.org/officeDocument/2006/relationships" id="269" r:id="Rf707aa4ffa3140f4"/>
    <p:sldId xmlns:r="http://schemas.openxmlformats.org/officeDocument/2006/relationships" id="270" r:id="R7a1638acf5ab4878"/>
    <p:sldId xmlns:r="http://schemas.openxmlformats.org/officeDocument/2006/relationships" id="271" r:id="R293101f549964098"/>
    <p:sldId xmlns:r="http://schemas.openxmlformats.org/officeDocument/2006/relationships" id="272" r:id="R275e01a7efdc42a2"/>
    <p:sldId xmlns:r="http://schemas.openxmlformats.org/officeDocument/2006/relationships" id="273" r:id="Ref7e107157da497a"/>
    <p:sldId xmlns:r="http://schemas.openxmlformats.org/officeDocument/2006/relationships" id="274" r:id="Ra980f984114e4776"/>
    <p:sldId xmlns:r="http://schemas.openxmlformats.org/officeDocument/2006/relationships" id="275" r:id="R22378799d8344b81"/>
    <p:sldId xmlns:r="http://schemas.openxmlformats.org/officeDocument/2006/relationships" id="276" r:id="R6626ed35dbe54d91"/>
    <p:sldId xmlns:r="http://schemas.openxmlformats.org/officeDocument/2006/relationships" id="277" r:id="R4fb3b993e5344595"/>
    <p:sldId xmlns:r="http://schemas.openxmlformats.org/officeDocument/2006/relationships" id="278" r:id="R52ee60a7a9a44a3b"/>
    <p:sldId xmlns:r="http://schemas.openxmlformats.org/officeDocument/2006/relationships" id="279" r:id="Rf102e215dbe74f68"/>
    <p:sldId xmlns:r="http://schemas.openxmlformats.org/officeDocument/2006/relationships" id="280" r:id="Rf33b5c86c5dd4c00"/>
    <p:sldId xmlns:r="http://schemas.openxmlformats.org/officeDocument/2006/relationships" id="281" r:id="R7d33b528b6394f3c"/>
    <p:sldId xmlns:r="http://schemas.openxmlformats.org/officeDocument/2006/relationships" id="282" r:id="R773166b27f9a4547"/>
    <p:sldId xmlns:r="http://schemas.openxmlformats.org/officeDocument/2006/relationships" id="283" r:id="Re45b32f0a9b84dc2"/>
    <p:sldId xmlns:r="http://schemas.openxmlformats.org/officeDocument/2006/relationships" id="284" r:id="Re02bd7f8de12445b"/>
    <p:sldId xmlns:r="http://schemas.openxmlformats.org/officeDocument/2006/relationships" id="285" r:id="R30609f398c3d4fa8"/>
    <p:sldId xmlns:r="http://schemas.openxmlformats.org/officeDocument/2006/relationships" id="286" r:id="R547be8ddc1c448d7"/>
    <p:sldId xmlns:r="http://schemas.openxmlformats.org/officeDocument/2006/relationships" id="287" r:id="R21ed80fdcac34b90"/>
    <p:sldId xmlns:r="http://schemas.openxmlformats.org/officeDocument/2006/relationships" id="288" r:id="R49d6cf75c7b94566"/>
    <p:sldId xmlns:r="http://schemas.openxmlformats.org/officeDocument/2006/relationships" id="289" r:id="R0d6f3ae639204082"/>
    <p:sldId xmlns:r="http://schemas.openxmlformats.org/officeDocument/2006/relationships" id="290" r:id="Ra7921bb34bf74843"/>
    <p:sldId xmlns:r="http://schemas.openxmlformats.org/officeDocument/2006/relationships" id="291" r:id="Rbe0d95dc1bbd4c74"/>
    <p:sldId xmlns:r="http://schemas.openxmlformats.org/officeDocument/2006/relationships" id="292" r:id="R10a4098b272449ba"/>
    <p:sldId xmlns:r="http://schemas.openxmlformats.org/officeDocument/2006/relationships" id="293" r:id="R5c9e15f3ed7d498c"/>
    <p:sldId xmlns:r="http://schemas.openxmlformats.org/officeDocument/2006/relationships" id="294" r:id="R0b4cd77041b54e4a"/>
    <p:sldId xmlns:r="http://schemas.openxmlformats.org/officeDocument/2006/relationships" id="295" r:id="R03a28ba126434d8c"/>
    <p:sldId xmlns:r="http://schemas.openxmlformats.org/officeDocument/2006/relationships" id="296" r:id="R2e372e1b57a24863"/>
    <p:sldId xmlns:r="http://schemas.openxmlformats.org/officeDocument/2006/relationships" id="297" r:id="Rc5653cb881374ef0"/>
    <p:sldId xmlns:r="http://schemas.openxmlformats.org/officeDocument/2006/relationships" id="298" r:id="R2eb436aaea9a41ca"/>
    <p:sldId xmlns:r="http://schemas.openxmlformats.org/officeDocument/2006/relationships" id="299" r:id="Rcb19aedf32f64700"/>
    <p:sldId xmlns:r="http://schemas.openxmlformats.org/officeDocument/2006/relationships" id="300" r:id="Rf49513b118644c3d"/>
    <p:sldId xmlns:r="http://schemas.openxmlformats.org/officeDocument/2006/relationships" id="301" r:id="Rc13136f6b3e04db9"/>
    <p:sldId xmlns:r="http://schemas.openxmlformats.org/officeDocument/2006/relationships" id="302" r:id="R8d311bca624442d9"/>
    <p:sldId xmlns:r="http://schemas.openxmlformats.org/officeDocument/2006/relationships" id="303" r:id="R5af2f42a52b04876"/>
    <p:sldId xmlns:r="http://schemas.openxmlformats.org/officeDocument/2006/relationships" id="304" r:id="Rc9edd9d3ee8545e0"/>
    <p:sldId xmlns:r="http://schemas.openxmlformats.org/officeDocument/2006/relationships" id="305" r:id="R637e1141f35d463a"/>
    <p:sldId xmlns:r="http://schemas.openxmlformats.org/officeDocument/2006/relationships" id="306" r:id="Reca2129ee49041cb"/>
    <p:sldId xmlns:r="http://schemas.openxmlformats.org/officeDocument/2006/relationships" id="307" r:id="R134e890b98c240df"/>
    <p:sldId xmlns:r="http://schemas.openxmlformats.org/officeDocument/2006/relationships" id="308" r:id="R6008f2204e494bcc"/>
    <p:sldId xmlns:r="http://schemas.openxmlformats.org/officeDocument/2006/relationships" id="309" r:id="Ra13cd75f30ed4849"/>
    <p:sldId xmlns:r="http://schemas.openxmlformats.org/officeDocument/2006/relationships" id="310" r:id="R21cef70484084ed1"/>
    <p:sldId xmlns:r="http://schemas.openxmlformats.org/officeDocument/2006/relationships" id="311" r:id="Rca6dc0c634f74846"/>
    <p:sldId xmlns:r="http://schemas.openxmlformats.org/officeDocument/2006/relationships" id="312" r:id="R33f4b617a98b451a"/>
    <p:sldId xmlns:r="http://schemas.openxmlformats.org/officeDocument/2006/relationships" id="313" r:id="R9c5bd4fc65f5431e"/>
    <p:sldId xmlns:r="http://schemas.openxmlformats.org/officeDocument/2006/relationships" id="314" r:id="R320d978779344a9d"/>
    <p:sldId xmlns:r="http://schemas.openxmlformats.org/officeDocument/2006/relationships" id="315" r:id="R233dbaec2671473a"/>
    <p:sldId xmlns:r="http://schemas.openxmlformats.org/officeDocument/2006/relationships" id="316" r:id="R243a007db9194f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1d1599a20345cd" /><Relationship Type="http://schemas.openxmlformats.org/officeDocument/2006/relationships/slideMaster" Target="/ppt/slideMasters/slideMaster1.xml" Id="Rdf82ef934ff7439c" /><Relationship Type="http://schemas.openxmlformats.org/officeDocument/2006/relationships/notesMaster" Target="/ppt/notesMasters/notesMaster1.xml" Id="R4313911566c84259" /><Relationship Type="http://schemas.openxmlformats.org/officeDocument/2006/relationships/presProps" Target="/ppt/presProps.xml" Id="Rf22be97473594abc" /><Relationship Type="http://schemas.openxmlformats.org/officeDocument/2006/relationships/tableStyles" Target="/ppt/tableStyles.xml" Id="R4cd777c88bc7486c" /><Relationship Type="http://schemas.openxmlformats.org/officeDocument/2006/relationships/slide" Target="/ppt/slides/slide1.xml" Id="Rbe35c9615ccf436f" /><Relationship Type="http://schemas.openxmlformats.org/officeDocument/2006/relationships/slide" Target="/ppt/slides/slide2.xml" Id="R3b21b7b96b3d4767" /><Relationship Type="http://schemas.openxmlformats.org/officeDocument/2006/relationships/slide" Target="/ppt/slides/slide3.xml" Id="R82c145d5a2f74ba3" /><Relationship Type="http://schemas.openxmlformats.org/officeDocument/2006/relationships/slide" Target="/ppt/slides/slide4.xml" Id="R8b79c611ddb94f86" /><Relationship Type="http://schemas.openxmlformats.org/officeDocument/2006/relationships/slide" Target="/ppt/slides/slide5.xml" Id="Rae3fcc7b038f48eb" /><Relationship Type="http://schemas.openxmlformats.org/officeDocument/2006/relationships/slide" Target="/ppt/slides/slide6.xml" Id="R0779d721030f4528" /><Relationship Type="http://schemas.openxmlformats.org/officeDocument/2006/relationships/slide" Target="/ppt/slides/slide7.xml" Id="R5ffa694036da4d11" /><Relationship Type="http://schemas.openxmlformats.org/officeDocument/2006/relationships/slide" Target="/ppt/slides/slide8.xml" Id="R94e7b2e06b78402b" /><Relationship Type="http://schemas.openxmlformats.org/officeDocument/2006/relationships/slide" Target="/ppt/slides/slide9.xml" Id="Rdcc10fdc515a4cf0" /><Relationship Type="http://schemas.openxmlformats.org/officeDocument/2006/relationships/slide" Target="/ppt/slides/slide10.xml" Id="Rb2329a46be314668" /><Relationship Type="http://schemas.openxmlformats.org/officeDocument/2006/relationships/slide" Target="/ppt/slides/slide11.xml" Id="R593d39bf2a82411c" /><Relationship Type="http://schemas.openxmlformats.org/officeDocument/2006/relationships/slide" Target="/ppt/slides/slide12.xml" Id="R0594fb45408a48ed" /><Relationship Type="http://schemas.openxmlformats.org/officeDocument/2006/relationships/slide" Target="/ppt/slides/slide13.xml" Id="R84c5d3aaac6e4da1" /><Relationship Type="http://schemas.openxmlformats.org/officeDocument/2006/relationships/slide" Target="/ppt/slides/slide14.xml" Id="Rf707aa4ffa3140f4" /><Relationship Type="http://schemas.openxmlformats.org/officeDocument/2006/relationships/slide" Target="/ppt/slides/slide15.xml" Id="R7a1638acf5ab4878" /><Relationship Type="http://schemas.openxmlformats.org/officeDocument/2006/relationships/slide" Target="/ppt/slides/slide16.xml" Id="R293101f549964098" /><Relationship Type="http://schemas.openxmlformats.org/officeDocument/2006/relationships/slide" Target="/ppt/slides/slide17.xml" Id="R275e01a7efdc42a2" /><Relationship Type="http://schemas.openxmlformats.org/officeDocument/2006/relationships/slide" Target="/ppt/slides/slide18.xml" Id="Ref7e107157da497a" /><Relationship Type="http://schemas.openxmlformats.org/officeDocument/2006/relationships/slide" Target="/ppt/slides/slide19.xml" Id="Ra980f984114e4776" /><Relationship Type="http://schemas.openxmlformats.org/officeDocument/2006/relationships/slide" Target="/ppt/slides/slide20.xml" Id="R22378799d8344b81" /><Relationship Type="http://schemas.openxmlformats.org/officeDocument/2006/relationships/slide" Target="/ppt/slides/slide21.xml" Id="R6626ed35dbe54d91" /><Relationship Type="http://schemas.openxmlformats.org/officeDocument/2006/relationships/slide" Target="/ppt/slides/slide22.xml" Id="R4fb3b993e5344595" /><Relationship Type="http://schemas.openxmlformats.org/officeDocument/2006/relationships/slide" Target="/ppt/slides/slide23.xml" Id="R52ee60a7a9a44a3b" /><Relationship Type="http://schemas.openxmlformats.org/officeDocument/2006/relationships/slide" Target="/ppt/slides/slide24.xml" Id="Rf102e215dbe74f68" /><Relationship Type="http://schemas.openxmlformats.org/officeDocument/2006/relationships/slide" Target="/ppt/slides/slide25.xml" Id="Rf33b5c86c5dd4c00" /><Relationship Type="http://schemas.openxmlformats.org/officeDocument/2006/relationships/slide" Target="/ppt/slides/slide26.xml" Id="R7d33b528b6394f3c" /><Relationship Type="http://schemas.openxmlformats.org/officeDocument/2006/relationships/slide" Target="/ppt/slides/slide27.xml" Id="R773166b27f9a4547" /><Relationship Type="http://schemas.openxmlformats.org/officeDocument/2006/relationships/slide" Target="/ppt/slides/slide28.xml" Id="Re45b32f0a9b84dc2" /><Relationship Type="http://schemas.openxmlformats.org/officeDocument/2006/relationships/slide" Target="/ppt/slides/slide29.xml" Id="Re02bd7f8de12445b" /><Relationship Type="http://schemas.openxmlformats.org/officeDocument/2006/relationships/slide" Target="/ppt/slides/slide30.xml" Id="R30609f398c3d4fa8" /><Relationship Type="http://schemas.openxmlformats.org/officeDocument/2006/relationships/slide" Target="/ppt/slides/slide31.xml" Id="R547be8ddc1c448d7" /><Relationship Type="http://schemas.openxmlformats.org/officeDocument/2006/relationships/slide" Target="/ppt/slides/slide32.xml" Id="R21ed80fdcac34b90" /><Relationship Type="http://schemas.openxmlformats.org/officeDocument/2006/relationships/slide" Target="/ppt/slides/slide33.xml" Id="R49d6cf75c7b94566" /><Relationship Type="http://schemas.openxmlformats.org/officeDocument/2006/relationships/slide" Target="/ppt/slides/slide34.xml" Id="R0d6f3ae639204082" /><Relationship Type="http://schemas.openxmlformats.org/officeDocument/2006/relationships/slide" Target="/ppt/slides/slide35.xml" Id="Ra7921bb34bf74843" /><Relationship Type="http://schemas.openxmlformats.org/officeDocument/2006/relationships/slide" Target="/ppt/slides/slide36.xml" Id="Rbe0d95dc1bbd4c74" /><Relationship Type="http://schemas.openxmlformats.org/officeDocument/2006/relationships/slide" Target="/ppt/slides/slide37.xml" Id="R10a4098b272449ba" /><Relationship Type="http://schemas.openxmlformats.org/officeDocument/2006/relationships/slide" Target="/ppt/slides/slide38.xml" Id="R5c9e15f3ed7d498c" /><Relationship Type="http://schemas.openxmlformats.org/officeDocument/2006/relationships/slide" Target="/ppt/slides/slide39.xml" Id="R0b4cd77041b54e4a" /><Relationship Type="http://schemas.openxmlformats.org/officeDocument/2006/relationships/slide" Target="/ppt/slides/slide40.xml" Id="R03a28ba126434d8c" /><Relationship Type="http://schemas.openxmlformats.org/officeDocument/2006/relationships/slide" Target="/ppt/slides/slide41.xml" Id="R2e372e1b57a24863" /><Relationship Type="http://schemas.openxmlformats.org/officeDocument/2006/relationships/slide" Target="/ppt/slides/slide42.xml" Id="Rc5653cb881374ef0" /><Relationship Type="http://schemas.openxmlformats.org/officeDocument/2006/relationships/slide" Target="/ppt/slides/slide43.xml" Id="R2eb436aaea9a41ca" /><Relationship Type="http://schemas.openxmlformats.org/officeDocument/2006/relationships/slide" Target="/ppt/slides/slide44.xml" Id="Rcb19aedf32f64700" /><Relationship Type="http://schemas.openxmlformats.org/officeDocument/2006/relationships/slide" Target="/ppt/slides/slide45.xml" Id="Rf49513b118644c3d" /><Relationship Type="http://schemas.openxmlformats.org/officeDocument/2006/relationships/slide" Target="/ppt/slides/slide46.xml" Id="Rc13136f6b3e04db9" /><Relationship Type="http://schemas.openxmlformats.org/officeDocument/2006/relationships/slide" Target="/ppt/slides/slide47.xml" Id="R8d311bca624442d9" /><Relationship Type="http://schemas.openxmlformats.org/officeDocument/2006/relationships/slide" Target="/ppt/slides/slide48.xml" Id="R5af2f42a52b04876" /><Relationship Type="http://schemas.openxmlformats.org/officeDocument/2006/relationships/slide" Target="/ppt/slides/slide49.xml" Id="Rc9edd9d3ee8545e0" /><Relationship Type="http://schemas.openxmlformats.org/officeDocument/2006/relationships/slide" Target="/ppt/slides/slide50.xml" Id="R637e1141f35d463a" /><Relationship Type="http://schemas.openxmlformats.org/officeDocument/2006/relationships/slide" Target="/ppt/slides/slide51.xml" Id="Reca2129ee49041cb" /><Relationship Type="http://schemas.openxmlformats.org/officeDocument/2006/relationships/slide" Target="/ppt/slides/slide52.xml" Id="R134e890b98c240df" /><Relationship Type="http://schemas.openxmlformats.org/officeDocument/2006/relationships/slide" Target="/ppt/slides/slide53.xml" Id="R6008f2204e494bcc" /><Relationship Type="http://schemas.openxmlformats.org/officeDocument/2006/relationships/slide" Target="/ppt/slides/slide54.xml" Id="Ra13cd75f30ed4849" /><Relationship Type="http://schemas.openxmlformats.org/officeDocument/2006/relationships/slide" Target="/ppt/slides/slide55.xml" Id="R21cef70484084ed1" /><Relationship Type="http://schemas.openxmlformats.org/officeDocument/2006/relationships/slide" Target="/ppt/slides/slide56.xml" Id="Rca6dc0c634f74846" /><Relationship Type="http://schemas.openxmlformats.org/officeDocument/2006/relationships/slide" Target="/ppt/slides/slide57.xml" Id="R33f4b617a98b451a" /><Relationship Type="http://schemas.openxmlformats.org/officeDocument/2006/relationships/slide" Target="/ppt/slides/slide58.xml" Id="R9c5bd4fc65f5431e" /><Relationship Type="http://schemas.openxmlformats.org/officeDocument/2006/relationships/slide" Target="/ppt/slides/slide59.xml" Id="R320d978779344a9d" /><Relationship Type="http://schemas.openxmlformats.org/officeDocument/2006/relationships/slide" Target="/ppt/slides/slide60.xml" Id="R233dbaec2671473a" /><Relationship Type="http://schemas.openxmlformats.org/officeDocument/2006/relationships/slide" Target="/ppt/slides/slide61.xml" Id="R243a007db9194f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6e898dfed040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a5f2e181a445ec" /><Relationship Type="http://schemas.openxmlformats.org/officeDocument/2006/relationships/notesMaster" Target="/ppt/notesMasters/notesMaster1.xml" Id="Rce5c736d275746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7c2f03515942e3" /><Relationship Type="http://schemas.openxmlformats.org/officeDocument/2006/relationships/notesMaster" Target="/ppt/notesMasters/notesMaster1.xml" Id="R58cda9cbcea846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47f32c853043d9" /><Relationship Type="http://schemas.openxmlformats.org/officeDocument/2006/relationships/notesMaster" Target="/ppt/notesMasters/notesMaster1.xml" Id="R847f7348485046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5e426aa28d45cd" /><Relationship Type="http://schemas.openxmlformats.org/officeDocument/2006/relationships/notesMaster" Target="/ppt/notesMasters/notesMaster1.xml" Id="R40598b3d9bc84b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db3d1d72664cdf" /><Relationship Type="http://schemas.openxmlformats.org/officeDocument/2006/relationships/notesMaster" Target="/ppt/notesMasters/notesMaster1.xml" Id="R9ac160a2536a44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09c0ebbfe64b6e" /><Relationship Type="http://schemas.openxmlformats.org/officeDocument/2006/relationships/notesMaster" Target="/ppt/notesMasters/notesMaster1.xml" Id="Re6228859691e45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f5216cbce04bed" /><Relationship Type="http://schemas.openxmlformats.org/officeDocument/2006/relationships/notesMaster" Target="/ppt/notesMasters/notesMaster1.xml" Id="R7a056cb7c39747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5928d0926d445f" /><Relationship Type="http://schemas.openxmlformats.org/officeDocument/2006/relationships/notesMaster" Target="/ppt/notesMasters/notesMaster1.xml" Id="R7d30226446174f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d8fc70455f4022" /><Relationship Type="http://schemas.openxmlformats.org/officeDocument/2006/relationships/notesMaster" Target="/ppt/notesMasters/notesMaster1.xml" Id="R39ca373dbc7a42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511a8915934647" /><Relationship Type="http://schemas.openxmlformats.org/officeDocument/2006/relationships/notesMaster" Target="/ppt/notesMasters/notesMaster1.xml" Id="R1f942e0896b24e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c6285954cc4c73" /><Relationship Type="http://schemas.openxmlformats.org/officeDocument/2006/relationships/notesMaster" Target="/ppt/notesMasters/notesMaster1.xml" Id="R2f0c3b7cfc3e43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78d33aaf2a4764" /><Relationship Type="http://schemas.openxmlformats.org/officeDocument/2006/relationships/notesMaster" Target="/ppt/notesMasters/notesMaster1.xml" Id="Rd12aaf3361194f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94d093c0904670" /><Relationship Type="http://schemas.openxmlformats.org/officeDocument/2006/relationships/notesMaster" Target="/ppt/notesMasters/notesMaster1.xml" Id="R18b2d397a1c94a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d31864a95e43e1" /><Relationship Type="http://schemas.openxmlformats.org/officeDocument/2006/relationships/notesMaster" Target="/ppt/notesMasters/notesMaster1.xml" Id="R3700e6771fa64d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d3fbb1819e4d5c" /><Relationship Type="http://schemas.openxmlformats.org/officeDocument/2006/relationships/notesMaster" Target="/ppt/notesMasters/notesMaster1.xml" Id="R61c3a505e6c34d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5aec21cfb9428c" /><Relationship Type="http://schemas.openxmlformats.org/officeDocument/2006/relationships/notesMaster" Target="/ppt/notesMasters/notesMaster1.xml" Id="R732de2e866ab47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39bc2001884566" /><Relationship Type="http://schemas.openxmlformats.org/officeDocument/2006/relationships/notesMaster" Target="/ppt/notesMasters/notesMaster1.xml" Id="R87f4c3911e3843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d1fce54d0b042a1" /><Relationship Type="http://schemas.openxmlformats.org/officeDocument/2006/relationships/notesMaster" Target="/ppt/notesMasters/notesMaster1.xml" Id="R2d6e48d80b044c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1397fbc12a488a" /><Relationship Type="http://schemas.openxmlformats.org/officeDocument/2006/relationships/notesMaster" Target="/ppt/notesMasters/notesMaster1.xml" Id="Ra55bcafd036740e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8831c9aae047c6" /><Relationship Type="http://schemas.openxmlformats.org/officeDocument/2006/relationships/notesMaster" Target="/ppt/notesMasters/notesMaster1.xml" Id="R2dfad943c65d48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81195d9ad545d4" /><Relationship Type="http://schemas.openxmlformats.org/officeDocument/2006/relationships/notesMaster" Target="/ppt/notesMasters/notesMaster1.xml" Id="Rbd36c263eb0847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fb2e2ca6f04e77" /><Relationship Type="http://schemas.openxmlformats.org/officeDocument/2006/relationships/notesMaster" Target="/ppt/notesMasters/notesMaster1.xml" Id="R27b4bc8cd35c4b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04fd7d42bc40df" /><Relationship Type="http://schemas.openxmlformats.org/officeDocument/2006/relationships/notesMaster" Target="/ppt/notesMasters/notesMaster1.xml" Id="Ra7c11968114645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d17ef8b78e4637" /><Relationship Type="http://schemas.openxmlformats.org/officeDocument/2006/relationships/notesMaster" Target="/ppt/notesMasters/notesMaster1.xml" Id="R3cb02fbfdb7c49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93407f95d14bf1" /><Relationship Type="http://schemas.openxmlformats.org/officeDocument/2006/relationships/notesMaster" Target="/ppt/notesMasters/notesMaster1.xml" Id="Ra763e512e69644b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255c192789443d" /><Relationship Type="http://schemas.openxmlformats.org/officeDocument/2006/relationships/notesMaster" Target="/ppt/notesMasters/notesMaster1.xml" Id="Rf14594a0de0a41d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40b97beef24a42" /><Relationship Type="http://schemas.openxmlformats.org/officeDocument/2006/relationships/notesMaster" Target="/ppt/notesMasters/notesMaster1.xml" Id="R9f3098f40e5a4d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8dae5aea6a4273" /><Relationship Type="http://schemas.openxmlformats.org/officeDocument/2006/relationships/notesMaster" Target="/ppt/notesMasters/notesMaster1.xml" Id="Rbd10b443a31a436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cc496f3b3c5410c" /><Relationship Type="http://schemas.openxmlformats.org/officeDocument/2006/relationships/notesMaster" Target="/ppt/notesMasters/notesMaster1.xml" Id="R7765e25c24d142b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4feca72c504ae3" /><Relationship Type="http://schemas.openxmlformats.org/officeDocument/2006/relationships/notesMaster" Target="/ppt/notesMasters/notesMaster1.xml" Id="Rbcb0f6a188f84d8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e2e7a75430c4888" /><Relationship Type="http://schemas.openxmlformats.org/officeDocument/2006/relationships/notesMaster" Target="/ppt/notesMasters/notesMaster1.xml" Id="R5250772fe6fe4d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3cc0cb8c7414944" /><Relationship Type="http://schemas.openxmlformats.org/officeDocument/2006/relationships/notesMaster" Target="/ppt/notesMasters/notesMaster1.xml" Id="Rcb6cb1bfa2344b4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482af3888584390" /><Relationship Type="http://schemas.openxmlformats.org/officeDocument/2006/relationships/notesMaster" Target="/ppt/notesMasters/notesMaster1.xml" Id="Rb2c10d33319a4ad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4b434d93b014444" /><Relationship Type="http://schemas.openxmlformats.org/officeDocument/2006/relationships/notesMaster" Target="/ppt/notesMasters/notesMaster1.xml" Id="Reeb564993d264ff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041ac0626244c68" /><Relationship Type="http://schemas.openxmlformats.org/officeDocument/2006/relationships/notesMaster" Target="/ppt/notesMasters/notesMaster1.xml" Id="R74e108d2ffd94d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d21b3de32824a17" /><Relationship Type="http://schemas.openxmlformats.org/officeDocument/2006/relationships/notesMaster" Target="/ppt/notesMasters/notesMaster1.xml" Id="R9892f447d35f4d2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68d1a0cad44aee" /><Relationship Type="http://schemas.openxmlformats.org/officeDocument/2006/relationships/notesMaster" Target="/ppt/notesMasters/notesMaster1.xml" Id="R7f767e2a86584a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455691d86534a9f" /><Relationship Type="http://schemas.openxmlformats.org/officeDocument/2006/relationships/notesMaster" Target="/ppt/notesMasters/notesMaster1.xml" Id="Rab98295d8ac84f9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c8e7212e91b44f6" /><Relationship Type="http://schemas.openxmlformats.org/officeDocument/2006/relationships/notesMaster" Target="/ppt/notesMasters/notesMaster1.xml" Id="Rc1da2e0c473441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c8a3a92f2014e38" /><Relationship Type="http://schemas.openxmlformats.org/officeDocument/2006/relationships/notesMaster" Target="/ppt/notesMasters/notesMaster1.xml" Id="Rc36d8ad0ea3941c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fe638d264ed4109" /><Relationship Type="http://schemas.openxmlformats.org/officeDocument/2006/relationships/notesMaster" Target="/ppt/notesMasters/notesMaster1.xml" Id="Re4a8d197fc9349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b34749354f54e82" /><Relationship Type="http://schemas.openxmlformats.org/officeDocument/2006/relationships/notesMaster" Target="/ppt/notesMasters/notesMaster1.xml" Id="R390d5e0ab798443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076dad82bed4e20" /><Relationship Type="http://schemas.openxmlformats.org/officeDocument/2006/relationships/notesMaster" Target="/ppt/notesMasters/notesMaster1.xml" Id="R98c3b7c9b434423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6878a9b1d204886" /><Relationship Type="http://schemas.openxmlformats.org/officeDocument/2006/relationships/notesMaster" Target="/ppt/notesMasters/notesMaster1.xml" Id="Re05b3d9f1f674a8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9889485836844cd" /><Relationship Type="http://schemas.openxmlformats.org/officeDocument/2006/relationships/notesMaster" Target="/ppt/notesMasters/notesMaster1.xml" Id="Re1ec131408f14f5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a772f8fafe4b66" /><Relationship Type="http://schemas.openxmlformats.org/officeDocument/2006/relationships/notesMaster" Target="/ppt/notesMasters/notesMaster1.xml" Id="R71112927b3b7486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48c9cc4064f4d8d" /><Relationship Type="http://schemas.openxmlformats.org/officeDocument/2006/relationships/notesMaster" Target="/ppt/notesMasters/notesMaster1.xml" Id="R5b7d0db0f3c3478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71eb870a1c7493c" /><Relationship Type="http://schemas.openxmlformats.org/officeDocument/2006/relationships/notesMaster" Target="/ppt/notesMasters/notesMaster1.xml" Id="Rca7c85077b334d5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7906162e42b44c0" /><Relationship Type="http://schemas.openxmlformats.org/officeDocument/2006/relationships/notesMaster" Target="/ppt/notesMasters/notesMaster1.xml" Id="R27f7d4b8cfc8456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19f8b20b1b5474c" /><Relationship Type="http://schemas.openxmlformats.org/officeDocument/2006/relationships/notesMaster" Target="/ppt/notesMasters/notesMaster1.xml" Id="R8d31578926f4403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fb606ed96834704" /><Relationship Type="http://schemas.openxmlformats.org/officeDocument/2006/relationships/notesMaster" Target="/ppt/notesMasters/notesMaster1.xml" Id="Rbc86bd89f24140a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593f89f2f944a38" /><Relationship Type="http://schemas.openxmlformats.org/officeDocument/2006/relationships/notesMaster" Target="/ppt/notesMasters/notesMaster1.xml" Id="Ra1e2a0ed2ba048c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63b8a1fb3594dc3" /><Relationship Type="http://schemas.openxmlformats.org/officeDocument/2006/relationships/notesMaster" Target="/ppt/notesMasters/notesMaster1.xml" Id="Ra7cc2bec5435454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88e972768b847a6" /><Relationship Type="http://schemas.openxmlformats.org/officeDocument/2006/relationships/notesMaster" Target="/ppt/notesMasters/notesMaster1.xml" Id="R9f18839eb5b24e4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2559ede2fba424d" /><Relationship Type="http://schemas.openxmlformats.org/officeDocument/2006/relationships/notesMaster" Target="/ppt/notesMasters/notesMaster1.xml" Id="R8ed2e41d485946c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586899296074194" /><Relationship Type="http://schemas.openxmlformats.org/officeDocument/2006/relationships/notesMaster" Target="/ppt/notesMasters/notesMaster1.xml" Id="R1856201d286743c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d433cebd40c480a" /><Relationship Type="http://schemas.openxmlformats.org/officeDocument/2006/relationships/notesMaster" Target="/ppt/notesMasters/notesMaster1.xml" Id="R359cb1a67968495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cd99105a2bd4a9f" /><Relationship Type="http://schemas.openxmlformats.org/officeDocument/2006/relationships/notesMaster" Target="/ppt/notesMasters/notesMaster1.xml" Id="R5da3eef6ad1e4ef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5b0ca5ffeb14f7f" /><Relationship Type="http://schemas.openxmlformats.org/officeDocument/2006/relationships/notesMaster" Target="/ppt/notesMasters/notesMaster1.xml" Id="R0c9d5e8ba8c34be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cc3ff9ddee2450c" /><Relationship Type="http://schemas.openxmlformats.org/officeDocument/2006/relationships/notesMaster" Target="/ppt/notesMasters/notesMaster1.xml" Id="Rda8f4e7759dd40f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f71574cf0b34d4e" /><Relationship Type="http://schemas.openxmlformats.org/officeDocument/2006/relationships/notesMaster" Target="/ppt/notesMasters/notesMaster1.xml" Id="Rbf5c4924748644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コピュラを使う予定で終わりました。今日は何を学習し、どう条件付き生成を行い、どこに入れるかを説明します。まず直感、次に数式、最後に実装と探索的結果です。最初の4枚の主張は研究上の仮説を含み、今回の結果だけで実証済みとは言え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MEは自己教師ありマスク推定と元値復元、半教師あり一貫性学習を使います。クラス条件付き法はクラス内での置換を使います。本研究はまずVIME内の生成器だけを変える比較を行います。無条件生成が常に悪い、条件付きなら常にラベルを保つ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身長体重は説明用の架空データです。生物学的な正しさや体型の正常判定ではありません。列別の値の集合は同じです。それでも身長が高い人ほど体重が重いという関係は逆になります。これが周辺分布だけでは決まらない依存構造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けるとはデータの列を独立にすることではありません。元の同時分布を、周辺分布とコピュラの組で表すことです。どれくらいの身長が存在するかと、その高さの人の体重がどの位置に来るかを分けます。位置を生成して元の単位へ戻せば再び組合せ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人の説明用の経験分布です。170cm以下は150から170までの7人です。170cmそのものの割合1/10とは違います。累積は小さい側から足し上げることです。これは理論的な連続分布ではなく経験累積分布なので階段状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は身長をその周辺累積分布で変換した確率変数、uは一人の具体的な位置です。体重でも同様です。別の集団の累積分布を使えば同じ175cmでも位置は変わります。単位変更など狭義単調増加変換にはコピュラは不変ですが、非単調変換には一般に不変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ここは説明用の順位位置です。点の集合そのものと、点の分布を表す累積分布関数Cは区別します。右上や左下に点が集まるほど同じ方向の位置を取る傾向があります。コピュラはその確率分布を表します。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X,Yは抽出した人の身長体重という確率変数です。x,yはそれを比較するしきい値です。FX(x)=P(X≤x)です。U=FX(X)とV=FY(Y)は変数で、u,vは0から1のしきい値。RはGaussian copulaの潜在正規空間の相関行列です。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な周辺分布なら確率積分変換でU,Vは各々一様です。それぞれ一様なことは互いに独立なことを意味しません。Cは2変数の同時CDF。一般にはd個の一様周辺を持つd次元CDFです。経験分布や離散変数の場合、FX(X)が連続一様になるという説明はそのまま適用でき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体重の位置、横軸身長の位置として左下の長方形に入る確率です。点ちょうど一つの確率や条件付き確率P(V≤.5|U≤.8)ではありません。条件付きならC(.8,.5)/.8になります。一様独立では長方形の面積.4と一致しますが一般に面積そのもの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均等格子の説明用100点です。有限な離散例であり連続一様の標本や実データではありません。境界U=.8,V=.5の左下が40点。独立な連続一様での理論値も.4になります。この面積計算が一般copulaにも常に成立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Vは0から1なのでV≤1は必ず成立します。そのためU≤uかつV≤1はU≤uと同じ事象です。さらにUが一様分布なのでP(U≤u)=uです。ここには独立という仮定は不要です。C(1,v)=vも同じです。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の定義P(A∩B)=P(A)P(B)を使います。1000人という例は期待される割合の説明であり有限標本で必ずこの人数になるという保証ではありません。身長が80%範囲の800人でも体重下位50%の割合が50%のままなので約400人にな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位置というのは身長cmと体重kgの数値が等しいことではありません。一つの位置Uに両方のしきい値を課すので厳しい方が残ります。U≤.8かつU≤.5はU≤.5です。一様性により確率.5。連続的な完全同方向依存は対角線に集中し通常の二次元密度を持ち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完全逆方向V=1−UならU≤uかつ1−U≤v、つまり1−v≤U≤uです。区間の長さmax(u+v−1,0)です。.8+.5−1=.3。一様周辺から制限されるFréchet境界はこの範囲です。極端な2つを含め関係の違いがCに表れます。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x,y)=P(X≤x,Y≤y)です。Sklarの定理は任意の同時CDFにこの分解が存在すると述べます。周辺が連続ならCは一意です。離散では周辺の値域上のみ定まり、一意とは限りません。独立の仮定なしで分けて表す数学的根拠がここ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(U,V)~Cの組を生成し、一般化逆関数F^-1(u)=inf{x:F(x)≥u}で戻します。理論的に任意の周辺分布にコピュラを組み合わせられます。ただし有限データで推定する際は、コピュラの仮定と周辺推定の誤差が残ります。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優れているかは真の依存構造、次元、標本数、目的、推定の安定性に依存します。この表は適する可能性のある条件です。全種類の完全な列挙ではありません。Archimedeanという共通枠組みの家族としてClayton Gumbel Frank Joeがあり、Vineは異なる家族を組み合わせる構成法です。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a:p xmlns:a="http://schemas.openxmlformats.org/drawingml/2006/main">
            <a:r>
              <a:t>https://doi.org/10.1111/j.1751-5823.2005.tb00254.x</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裾は分布の端です。λUはq→1でP(V&gt;q|U&gt;q)の極限、λLはq→0でP(V≤q|U≤q)の極限です。高いPearson相関でもGaussian copulaは非退化ならλU=λL=0。一方有限q=.95では依存はあり得ます。ゼロ裾依存を極端事象が無関係と解釈しないこと。</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opulaは各周辺の形を正規に限定しません。各列を確率位置、さらに潜在標準正規へ変えた後、その同時分布に多変量正規を仮定します。4枚目の非線形や裾依存をすべてGaussianで捉えるという意味ではありません。一般コピュラの表現可能性と一つの家族の表現力を区別し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平均順位を使ってu=(r−.5)/nとし、同値には同じ平均順位を与えます。端点0と1を避けるためです。説明で使ったFhat=人数/nと推定用の擬似観測は少し違います。コピュラ学習は現在コードではラベルなし訓練部分のみ。テストデータを混ぜない。位置が一様に近くても列同士の組合せは保たれ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Φ^-1は同じ累積確率位置にある標準正規の値を返します。各列の周辺を正規へ変えるだけなので同時正規性は自動的には成立しません。この後のGaussianという仮定を別に置きます。極端なuはクリップしています。潜在空間とはここではこの確率変換された空間であり、ニューラルencoder潜在とは別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全列のZを標準多変量正規N(0,R)と仮定します。Rは潜在正規値間の相関で元のcm/kgのPearson相関とは一般に異なります。有限サンプルでは行列が不安定になり得るので実装は縮小と固有値補正を使います。Gaussian copulaのCDFはΦR(Φ^-1u1,...,Φ^-1ud)です。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はマスクして置換する列、Oは観測して残す列。欠損値を扱っているのではなくデータ拡張の人工マスクです。身長値175cmは説明用周辺で80%位置という仮定で、前の4人順位表とは別の説明例です。独立だと体重位置は身長に影響されません。正の依存なら高い身長に合わせ体重の分布が高い方へ動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変量の標準多変量正規の公式です。ρ=.6、zX=.841621で平均.5049726、分散.64、標準偏差.8。ρ=0なら条件付けても標準正規のまま。ρが高いほど既知の身長から体重を絞れますが一点には決まりません。残差εがあるためです。潜在平均は元スケール平均とは一般に一致し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-1,0,1は手順を示す選んだ例で、等確率の3択という意味ではありません。実際には連続な標準正規乱数を引きます。ZY=.505+.8ε。さらにΦでVへ戻し、FY^-1でkgに戻します。補足としてY~N(65,10²)という説明用周辺を使うと62.05、70.05、78.05kgになります。これは実データの推定結果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説明用の正規周辺N(65,10²)の場合です。FY^-1(v)=65+10Φ^-1(v)なのでこの数値になります。実装では正規な体重を仮定せず訓練列の経験分位点を線形補間します。補間によって元の訓練値にない連続値が出ることがあります。一般に無条件周辺を利用するが生成結果は条件付き分布になるため、各行で周辺と同じ分布を要求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YとZwaistを条件付き共分散で一緒に引くことで置換列同士の依存も残します。各列を個別に引く方法と重要な違いがあります。高次元ではRの逆計算を直接するよりsolveを使う。詳細数式は補足。全列マスクなら無条件同時生成、マスクなしなら変更なし。</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はVIMEのPyTorch再実装です。自己教師ありはマスク推定BCEと元特徴値復元MSE。半教師ありはラベルあり分類損失とラベルなし複数拡張への予測一貫性。比較では同じ予測器・エンコーダ・予算を使います。元論文の表を同じ実験環境で再現したという主張ではあり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潜在空間条件付きサンプリングは広い概念です。Gaussian copulaでは周辺CDFとΦ^-1による明示的変換を使い、Zの正規同時分布を仮定します。ニューラルencoderの学習表現を条件付き生成する手法は、一般に周辺が一様である制約やSklar分解を持ちません。両者は排他的ではなく、encoder潜在にcopulaを適用する設計も可能ですが現在実装してい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ラベルなしで依存を学習すれば擬似ラベルへの依存は減らせますが、クラス意味を保つ保証はありません。混合クラスの全体分布では条件付き生成が別クラスへ移る可能性があります。強い条件付けで元に近すぎるとマスク推定課題が難しく/弱い復元信号になる、強い破壊でラベルを壊す、強度と難易度のトレードオフがあります。</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今回2026-10-04に既存corruption.pyを実行。Z1~N(0,1),Z2=.8Z1+.6εで2500行、seed20261004。第1列を残して第2列を全行マスク。corruption RNG314159、同じ入力とマスク。推定も生成も同じ合成データなので学習動作確認であって汎化評価ではありません。図は先頭180行、集計は2500行すべて。縮小0.05で依存を少し弱く推定します。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理論上Z2|Z1の条件平均は.8Z1、条件分散.36。指標は生成Z2と真の条件平均.8X1との差の二乗平均。元データの値は約.352で.36に近い、独立置換は約1.653、copulaは約.409。これは条件分布とのKL等ではなく残差二乗の簡単な指標であり、小さいほど常に良いわけではなく条件平均固定だと0になって多様性がなくなるため分散も見る必要がある。観測列は両法とも変更されないことをarray_equalで確認済み。</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ソースはresearch-bench/scripts/quick_compare.pyとresults/repeated_compare.jsonです。列シャッフル版とGaussian版は同じVIME再実装内です。共通データ分割、ラベル比率、前処理、モデル、学習予算、初期seedを使う。方法ごとの乱数消費が違うので全学習過程で同じマスクを使うとまでは言いません。nviews3、λconsistency1、復元重み2、mask.4。テストはモデル選択に用いていません。</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新しい仮想環境で同じ既存VIMEClassifierを実行。分割や予算は保存結果のプロトコルと揃えたがライブラリバージョンとCPU threads1は異なる。保存値の完全再現ではありません。同一環境とはこの再実行内での2手法が同じ環境を使った意味。モデルと分割、学習予算を一致。差の区間はseed差のpercentile bootstrap1万回、95%。少ないseedで重なったholdoutなので探索的指標です。結果から万能な優位を主張しません。</a:t>
            </a:r>
          </a:p>
          <a:p xmlns:a="http://schemas.openxmlformats.org/drawingml/2006/main">
            <a:r>
              <a:t>実行環境：{"python":"3.12.14","numpy":"2.5.3","scipy":"1.18.1","sklearn":"1.9.1","torch":"2.14.1","platform":"macOS-26.3.1-arm64-arm-64bit","threads":1}</a:t>
            </a:r>
          </a:p>
          <a:p xmlns:a="http://schemas.openxmlformats.org/drawingml/2006/main">
            <a:r>
              <a:t>元結果：tmp/seminar_20261005/rerun_results.json</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5seedの新結果の数値と矛盾しない説明をします。区間0を含むかどうかは計算結果に基づくが、含まない場合も小標本の探索的実験で強い統計的主張はしない。保存済みの2手法のAUCは全seedで一致した。環境や乱数、条件の記録を維持し、さらにデータ数を増や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生成器が何を改善したかの裏付けです。合成データでは既知の真の条件分布との誤差、実データでは近傍距離や特徴間制約逸脱を見ます。近傍距離だけだと元に近ければ有利なので元行からの変更量と併記。ラベル保持の評価は既知のラベルや妥当な参照モデルを使い、ラベルなしデータの真値と混同しない。コピュラ種類やマスク率は検証用分割のみで選択し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が発表の主線です。時間に合わせて種類詳細や数式を補足から説明できます。今回の貢献が確立したとは言いません。対象と比較の設計を具体化し、実装と保存済みの小規模結果を示した段階です。質疑では条件付き分布、ラベル保持、カテゴリ型、マスクの難易度、同時正規仮定を補足で答え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_compare.jsonの保存結果です。差は同じseedに対応付けて計算した平均。95%CIはseed差のbootstrap。わずか5組の探索的比較で、繰り返しholdoutの訓練テストは重なり得る。95%CIには0が入り、改善実証や統計的優位を主張できません。wineは標準偏差が大きい。保存結果を今回再実行した結果と混同しません。</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[0,1]^2→[0,1]。境界条件と2-increasingでCDFを特徴付けます。矩形の確率の包含排除です。高次元では各直方体のCの交代和が非負というd-increasingに一般化します。これが単なる好きな曲線と確率分布を区別する条件です。</a:t>
            </a:r>
          </a:p>
          <a:p xmlns:a="http://schemas.openxmlformats.org/drawingml/2006/main">
            <a:r>
              <a:t/>
            </a:r>
          </a:p>
          <a:p xmlns:a="http://schemas.openxmlformats.org/drawingml/2006/main">
            <a:r>
              <a:t>出典・根拠</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FXが連続で狭義増加なら通常の逆関数で導出できます。単に連続の場合も一般化逆関数で定理成立。離散型ではPITは連続一様ではなく飛びがあります。ランダム化PIT U=F(X−)+W(F(X)−F(X−))などもあるが順序閾値潜在モデル等との目的違いに注意。実装の平均順位は一様性の近似で同値問題を完全解決するわけではありません。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十分な絶対連続性と微分可能性を仮定します。c=∂²C/∂u∂v。連鎖律からjoint densityを得ます。fX(x)&gt;0で割ると条件密度。Vの条件CDFは∂C(u,v)/∂u、U=uに条件付ける意味は正則条件付き分布を使います。V=U等の特異コピュラに通常の密度はありません。</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の周辺は標準正規、相関行列は対角1で正定値（退化の場合半正定値）。多変量正規CDFで同時確率を計算します。パラメータRはd(d−1)/2個で、データが少なくdが大きければ正則化が必要です。Gaussianは変換後のPearsonでRを推定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をMとOの順へ並べるとブロック相関行列[[RMM,RMO],[ROM,ROO]]。ROO可逆を仮定。条件平均と共分散で一緒に引く。実装は逆行列を明示計算せずsolveを使い、正則化してCholeskyを取る。観測値が標準0でない場合にも式は平均0のjointモデルに対する条件式で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コードcorruption.pyを根拠に記載。平均順位(r−.5)/n、クリップ1e−6、R=.95R+.05I、固有値min jitter1e−6。条件計算ではROO+jitterIをsolve、cov symmetric+jitter。端点クリップと線形分位点補間のため、厳密に理論的経験周辺を完全保存するとは言わない。マスク推定actualmask=x≠corruptedなので同値置換の場合実際マスク率が変わります。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νは1変量tCDF、tν,Rは多変量tCDF。自由度νとRを使う。λU=λL=2tν+1(−√((ν+1)(1−ρ)/(1+ρ)))。ν大でGaussianに近づく。ρ=0でも有限νでは共有スケールにより一般に独立ではない。周辺がtでないデータにもtコピュラを組み合わせられる。条件付きlatent tは自由度等が条件で変化するのでGaussian samplerを単に差し替えれば済む訳ではありません。</a:t>
            </a:r>
          </a:p>
          <a:p xmlns:a="http://schemas.openxmlformats.org/drawingml/2006/main">
            <a:r>
              <a:t/>
            </a:r>
          </a:p>
          <a:p xmlns:a="http://schemas.openxmlformats.org/drawingml/2006/main">
            <a:r>
              <a:t>出典・根拠</a:t>
            </a:r>
          </a:p>
          <a:p xmlns:a="http://schemas.openxmlformats.org/drawingml/2006/main">
            <a:r>
              <a:t>https://doi.org/10.1111/j.1751-5823.2005.tb00254.x</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θ&gt;0の通常の正依存の場合に限定しています。二変量では負θも許す範囲があるがd次元では制約が変わります。λL=2^-1/θ、λU=0。θ→0で独立。θ高で強い同方向依存。上側の極端共発生には通常形は向かず180°回転で上側に変更でき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Gumbelθ≥1、θ=1で独立、λU=2−2^(1/θ)、λL=0。Joe同じθ≥1と裾係数ですが内部の依存形が異なり同一copulaではありません。Joe C=1−[(1−u)^θ+(1−v)^θ−(1−u)^θ(1−v)^θ]^(1/θ)。単一パラメータ交換可能多変量の制限あり。</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変量θ∈R{0}で正負の依存を扱いθ→0で独立。高次元で負thetaの一般化は制約があるため表の正負は二変量に限定。裾依存0でも有限の確率域で依存がないという意味ではありません。Gaussianとは別の依存形です。数式の括弧と分子をノートで読む。</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180°survival C=u+v−1+C(1−u,1−v)は上下の裾を交換。90/270で負依存のコーナーを扱います。Vineは条件付き2変量コピュラの積で多変量密度構成。simplifying assumptionは条件値によらず条件付きcopula一定であり条件付き独立ではない。経験/経験betaなどは柔軟だが高次元で条件付き推定が難しくなる。</a:t>
            </a:r>
          </a:p>
          <a:p xmlns:a="http://schemas.openxmlformats.org/drawingml/2006/main">
            <a:r>
              <a:t/>
            </a:r>
          </a:p>
          <a:p xmlns:a="http://schemas.openxmlformats.org/drawingml/2006/main">
            <a:r>
              <a:t>出典・根拠</a:t>
            </a:r>
          </a:p>
          <a:p xmlns:a="http://schemas.openxmlformats.org/drawingml/2006/main">
            <a:r>
              <a:t>https://www.annualreviews.org/content/journals/10.1146/annurev-statistics-040220-101153</a:t>
            </a:r>
          </a:p>
          <a:p xmlns:a="http://schemas.openxmlformats.org/drawingml/2006/main">
            <a:r>
              <a:t>https://arxiv.org/abs/1607.04430</a:t>
            </a:r>
          </a:p>
          <a:p xmlns:a="http://schemas.openxmlformats.org/drawingml/2006/main">
            <a:r>
              <a:t>https://people.math.ethz.ch/~embrecht/ftp/copulas.pdf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評価1〜5や低中高は順序カテゴリです。満足度5−4と2−1に同じ間隔を仮定できるとは限りません。名義変数は順番なし、連続変数は差に意味がある。順序Gaussian copulaは潜在連続Zを閾値で区切って観測カテゴリに対応させます。カテゴリを単なる連続順位として補間すると2.7など不適切な値が生じるため現在実装の対象外です。</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Value Imputation for Mixed Data via Gaussian Copula。混合型と欠損が現実の課題。各列の型を無視した一律距離や線形仮定への代わりに潜在Gaussian。順序値はZの区間、連続値は変換されたZ点。EMでRと条件期待を推定し逆変換。実験は合成/実データ、欠損補完誤差（連続NRMSE、順序MAE等条件に応じ）を比較。分類用拡張の優位を示す論文ではなく、本研究には型の扱いと条件分布設計が接続する。数値を未検証に引用せず、詳細実験は原論文参照。</a:t>
            </a:r>
          </a:p>
          <a:p xmlns:a="http://schemas.openxmlformats.org/drawingml/2006/main">
            <a:r>
              <a:t/>
            </a:r>
          </a:p>
          <a:p xmlns:a="http://schemas.openxmlformats.org/drawingml/2006/main">
            <a:r>
              <a:t>出典・根拠</a:t>
            </a:r>
          </a:p>
          <a:p xmlns:a="http://schemas.openxmlformats.org/drawingml/2006/main">
            <a:r>
              <a:t>https://arxiv.org/abs/1910.12845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Explaining individual predictions when features are dependent: More accurate approximations to Shapley values。KernelSHAP型の無条件周辺からの抽出は、残した特徴との依存を無視して不自然な入力を作り得る。論文はGaussian、Gaussian copula、empirical、hybrid conditional approximations。シミュレーションで基準Shapley値からのMAEと不自然入力を分析。銀行実データ28特徴ではhybridの使用。Gaussian copulaが常に勝つとは報告しない。本研究はP(XM|XO)を使う同じ生成問題に接続、目的は説明でなく学習拡張なので評価を改めて行う。</a:t>
            </a:r>
          </a:p>
          <a:p xmlns:a="http://schemas.openxmlformats.org/drawingml/2006/main">
            <a:r>
              <a:t/>
            </a:r>
          </a:p>
          <a:p xmlns:a="http://schemas.openxmlformats.org/drawingml/2006/main">
            <a:r>
              <a:t>出典・根拠</a:t>
            </a:r>
          </a:p>
          <a:p xmlns:a="http://schemas.openxmlformats.org/drawingml/2006/main">
            <a:r>
              <a:t>https://martinjullum.com/publication/aas-2021-explaining/aas-2021-explaining.pdf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Cui et al.2024は対照学習、擬似ラベルとクラス内corruption、特徴相関ベースmaskなど。公式コードの比較はrand_featsマスクなので完全な提案設定の再現とは言わない。今回のVIMEとの比較では目的関数などが異なるためcopula効果の因果分離はできません。単独の置換器比較はVIME2版を優先します。確認バイアスを本論文が不可逆と実証したとの断定は避けます。</a:t>
            </a:r>
          </a:p>
          <a:p xmlns:a="http://schemas.openxmlformats.org/drawingml/2006/main">
            <a:r>
              <a:t/>
            </a:r>
          </a:p>
          <a:p xmlns:a="http://schemas.openxmlformats.org/drawingml/2006/main">
            <a:r>
              <a:t>出典・根拠</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主指標macroROC AUC OVRは多クラスで各クラスvs残りAUCの単純平均。二値は陽性クラスのAUC（両クラス対称では同じ）。balanced accuracyは各クラスrecallの平均、macroF1は各クラスF1の平均、accuracyは全体正解率。テスト20%でwine36件と小さく不安定。5 seedsは独立サンプル5個とは異なる再分割。少標本CI過信しない。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データと分割・幅とepoch予算は合わせるがself-supervised objective、optimizer、pseudo-label bootstrap等は異なる。論文全設定の再現ではない。VIME vs copulaの2行差からのみ置換器変更の効果を検討し、第三法の勝敗はアルゴリズム一式の小規模参考比較です。</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各答えは研究者の設計意図か確立した数学的事実かを分けます。なぜGaussian=まず安定し扱いやすいconditional、なぜコピーでなく生成=observed valuesに連続調整し多様性を出せるが既知制約保証はない、なぜラベルなし=依存の推定にラベルは要らないがlabel invarianceとは別、なぜ性能不確定=小規模結果と仮定・強度が未検証。</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qは確率位置のしきい値。上下で極限をとる方向が異なる。λL=limq→0 C(q,q)/q、λU=limq→1 (1−2q+C(q,q))/(1−q)。Gaussianの非退化ρ∈(−1,1)は両方0、完全同方向ρ=1は1。有限qでは依存がある場合がある。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実装：自己教師ありL=BCE(mask_hat,actualmask)+2MSE(x_hat,x)。actualmask=(x!=x_corrupted)。エンコーダは前学習後freeze、予測器をラベルありCEとラベルなし拡張3viewのlogit分散の一貫性で学習。λconsistency1。原論文はマスク推定復元と半教師ありregularizationの枠組みを提案、現在のPyTorch版の実装選択とは区別。ソースvime_torch.py。</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実際のCorruptor APIは__call__です。GaussianCopulaCorruptor().fit(x_u)後にcopula(x,mask,rng)。VIMEClassifierはpretrain内部でfitを呼びます。maskはTrueの列を置換。実験run_experiment.pyとrun_toy.pyから実行。ここはコード概念でなく現在APIに対応した抜粋。ラベルなし訓練のみfit、テスト禁止。</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スライドのノートには対応する原資料URLまたはローカル実装を記載しています。このスライドは主要出典の一覧です。公式文書・原論文中心。データや数学の説明例は説明用で、引用結果と区別しています。</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https://www.columbia.edu/~rf2283/Conference/1Fundamentals%20%281%29Seagers.pdf</a:t>
            </a:r>
          </a:p>
          <a:p xmlns:a="http://schemas.openxmlformats.org/drawingml/2006/main">
            <a:r>
              <a:t>https://doi.org/10.1111/j.1751-5823.2005.tb00254.x</a:t>
            </a:r>
          </a:p>
          <a:p xmlns:a="http://schemas.openxmlformats.org/drawingml/2006/main">
            <a:r>
              <a:t>https://www.annualreviews.org/content/journals/10.1146/annurev-statistics-040220-101153</a:t>
            </a:r>
          </a:p>
          <a:p xmlns:a="http://schemas.openxmlformats.org/drawingml/2006/main">
            <a:r>
              <a:t>https://arxiv.org/abs/1910.12845</a:t>
            </a:r>
          </a:p>
          <a:p xmlns:a="http://schemas.openxmlformats.org/drawingml/2006/main">
            <a:r>
              <a:t>https://martinjullum.com/publication/aas-2021-explaining/aas-2021-explaining.pdf</a:t>
            </a:r>
          </a:p>
          <a:p xmlns:a="http://schemas.openxmlformats.org/drawingml/2006/main">
            <a:r>
              <a:t>https://papers.nips.cc/paper/2020/hash/7d97667a3e056acab9aaf653807b4a03-Abstract.html</a:t>
            </a:r>
          </a:p>
          <a:p xmlns:a="http://schemas.openxmlformats.org/drawingml/2006/main">
            <a:r>
              <a:t>https://arxiv.org/abs/2404.17489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b0580437ed44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efaf794a904081" /><Relationship Type="http://schemas.openxmlformats.org/officeDocument/2006/relationships/slideLayout" Target="/ppt/slideLayouts/slideLayout1.xml" Id="R1e296d72ef364c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296d72ef36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e3cd0cac2a4d1d" /><Relationship Type="http://schemas.openxmlformats.org/officeDocument/2006/relationships/notesSlide" Target="/ppt/notesSlides/notesSlide1.xml" Id="Rf22a2e8a849842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a18a66533447bd" /><Relationship Type="http://schemas.openxmlformats.org/officeDocument/2006/relationships/notesSlide" Target="/ppt/notesSlides/notesSlide2.xml" Id="R7aea88e8ae9f4d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2c02d5ce424357" /><Relationship Type="http://schemas.openxmlformats.org/officeDocument/2006/relationships/notesSlide" Target="/ppt/notesSlides/notesSlide3.xml" Id="Rce6bde798c7c42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e3cbbe7af34a18" /><Relationship Type="http://schemas.openxmlformats.org/officeDocument/2006/relationships/notesSlide" Target="/ppt/notesSlides/notesSlide4.xml" Id="R5b7cbdeddc5041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5858de7acf4c73" /><Relationship Type="http://schemas.openxmlformats.org/officeDocument/2006/relationships/notesSlide" Target="/ppt/notesSlides/notesSlide5.xml" Id="R47ca596b8cfa46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1a18d2cfbb4433" /><Relationship Type="http://schemas.openxmlformats.org/officeDocument/2006/relationships/notesSlide" Target="/ppt/notesSlides/notesSlide6.xml" Id="Rf12c1b32d78745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85fa04f4d34a98" /><Relationship Type="http://schemas.openxmlformats.org/officeDocument/2006/relationships/chart" Target="/ppt/slides/charts/chart1.xml" Id="R4c1dea9802f54a71" /><Relationship Type="http://schemas.openxmlformats.org/officeDocument/2006/relationships/notesSlide" Target="/ppt/notesSlides/notesSlide7.xml" Id="R75898a25fed142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fc8975feb64d72" /><Relationship Type="http://schemas.openxmlformats.org/officeDocument/2006/relationships/notesSlide" Target="/ppt/notesSlides/notesSlide8.xml" Id="Reb11794153c943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ed4c5c0b394618" /><Relationship Type="http://schemas.openxmlformats.org/officeDocument/2006/relationships/notesSlide" Target="/ppt/notesSlides/notesSlide9.xml" Id="R5173f909a0e945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fe1b940c7b4969" /><Relationship Type="http://schemas.openxmlformats.org/officeDocument/2006/relationships/notesSlide" Target="/ppt/notesSlides/notesSlide10.xml" Id="Rafebe3f5df85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2792900d1440e7" /><Relationship Type="http://schemas.openxmlformats.org/officeDocument/2006/relationships/chart" Target="/ppt/slides/charts/chart2.xml" Id="R64a292c891f541e1" /><Relationship Type="http://schemas.openxmlformats.org/officeDocument/2006/relationships/notesSlide" Target="/ppt/notesSlides/notesSlide11.xml" Id="Rd685837ec54c44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821a6241e144ca" /><Relationship Type="http://schemas.openxmlformats.org/officeDocument/2006/relationships/notesSlide" Target="/ppt/notesSlides/notesSlide12.xml" Id="R58065d2f00094b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bba34db63a49f9" /><Relationship Type="http://schemas.openxmlformats.org/officeDocument/2006/relationships/notesSlide" Target="/ppt/notesSlides/notesSlide13.xml" Id="R9a3b264f1d284b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a7a2b255f54935" /><Relationship Type="http://schemas.openxmlformats.org/officeDocument/2006/relationships/notesSlide" Target="/ppt/notesSlides/notesSlide14.xml" Id="R176d81316c6346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4d29350e614115" /><Relationship Type="http://schemas.openxmlformats.org/officeDocument/2006/relationships/notesSlide" Target="/ppt/notesSlides/notesSlide15.xml" Id="Ra49d0752843941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5c032bea4446ee" /><Relationship Type="http://schemas.openxmlformats.org/officeDocument/2006/relationships/notesSlide" Target="/ppt/notesSlides/notesSlide16.xml" Id="Rae934dcbf44e4e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caf9de895014b58" /><Relationship Type="http://schemas.openxmlformats.org/officeDocument/2006/relationships/notesSlide" Target="/ppt/notesSlides/notesSlide17.xml" Id="R28b6ed94321548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9dd02fc3f74711" /><Relationship Type="http://schemas.openxmlformats.org/officeDocument/2006/relationships/notesSlide" Target="/ppt/notesSlides/notesSlide18.xml" Id="R9dbf198b57ac40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6a601011384977" /><Relationship Type="http://schemas.openxmlformats.org/officeDocument/2006/relationships/notesSlide" Target="/ppt/notesSlides/notesSlide19.xml" Id="Rab95105954f64d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bfecdfae074cb8" /><Relationship Type="http://schemas.openxmlformats.org/officeDocument/2006/relationships/notesSlide" Target="/ppt/notesSlides/notesSlide20.xml" Id="Ra3b4f9f301254f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d52796fdcd459f" /><Relationship Type="http://schemas.openxmlformats.org/officeDocument/2006/relationships/notesSlide" Target="/ppt/notesSlides/notesSlide21.xml" Id="Rd35f4af93cb94d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60b57a5cbf441cc" /><Relationship Type="http://schemas.openxmlformats.org/officeDocument/2006/relationships/notesSlide" Target="/ppt/notesSlides/notesSlide22.xml" Id="R04517ed54c254ab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9da36515a5a4942" /><Relationship Type="http://schemas.openxmlformats.org/officeDocument/2006/relationships/notesSlide" Target="/ppt/notesSlides/notesSlide23.xml" Id="R73b1dbc7410f4c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7d3b39590064a90" /><Relationship Type="http://schemas.openxmlformats.org/officeDocument/2006/relationships/notesSlide" Target="/ppt/notesSlides/notesSlide24.xml" Id="R5f4c916f088444a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5f7adecf77c4d88" /><Relationship Type="http://schemas.openxmlformats.org/officeDocument/2006/relationships/notesSlide" Target="/ppt/notesSlides/notesSlide25.xml" Id="R71c3686c29b24b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f2e5e9554324995" /><Relationship Type="http://schemas.openxmlformats.org/officeDocument/2006/relationships/notesSlide" Target="/ppt/notesSlides/notesSlide26.xml" Id="Re305c87eba054e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2761a4b528f421b" /><Relationship Type="http://schemas.openxmlformats.org/officeDocument/2006/relationships/notesSlide" Target="/ppt/notesSlides/notesSlide27.xml" Id="Rcef467a3faa7423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c6bd73c395b421a" /><Relationship Type="http://schemas.openxmlformats.org/officeDocument/2006/relationships/notesSlide" Target="/ppt/notesSlides/notesSlide28.xml" Id="R833654500e664ce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c4c20ae9fb14958" /><Relationship Type="http://schemas.openxmlformats.org/officeDocument/2006/relationships/notesSlide" Target="/ppt/notesSlides/notesSlide29.xml" Id="R7af489ad95874fa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ccb0a1141154581" /><Relationship Type="http://schemas.openxmlformats.org/officeDocument/2006/relationships/notesSlide" Target="/ppt/notesSlides/notesSlide30.xml" Id="R3d2c916265f34ab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157bd6527ce4efd" /><Relationship Type="http://schemas.openxmlformats.org/officeDocument/2006/relationships/notesSlide" Target="/ppt/notesSlides/notesSlide31.xml" Id="R7a13af8eeab442e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2c83344d8a04e0c" /><Relationship Type="http://schemas.openxmlformats.org/officeDocument/2006/relationships/chart" Target="/ppt/slides/charts/chart3.xml" Id="R5ccdab36c491433b" /><Relationship Type="http://schemas.openxmlformats.org/officeDocument/2006/relationships/chart" Target="/ppt/slides/charts/chart4.xml" Id="Rd7f804ac38104c1b" /><Relationship Type="http://schemas.openxmlformats.org/officeDocument/2006/relationships/chart" Target="/ppt/slides/charts/chart5.xml" Id="R6c123be1136b4d78" /><Relationship Type="http://schemas.openxmlformats.org/officeDocument/2006/relationships/notesSlide" Target="/ppt/notesSlides/notesSlide32.xml" Id="Rc3d29ebeb8224b1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70616d7ba84e27" /><Relationship Type="http://schemas.openxmlformats.org/officeDocument/2006/relationships/notesSlide" Target="/ppt/notesSlides/notesSlide33.xml" Id="Ra39b70728a1143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447a9cf8e174c26" /><Relationship Type="http://schemas.openxmlformats.org/officeDocument/2006/relationships/notesSlide" Target="/ppt/notesSlides/notesSlide34.xml" Id="Rce29bd04dd25478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0131daaad6547c0" /><Relationship Type="http://schemas.openxmlformats.org/officeDocument/2006/relationships/notesSlide" Target="/ppt/notesSlides/notesSlide35.xml" Id="R17deba487b9541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fa4f7fb63224d34" /><Relationship Type="http://schemas.openxmlformats.org/officeDocument/2006/relationships/notesSlide" Target="/ppt/notesSlides/notesSlide36.xml" Id="R8a215bdf4dd8455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85898478ece4b0d" /><Relationship Type="http://schemas.openxmlformats.org/officeDocument/2006/relationships/notesSlide" Target="/ppt/notesSlides/notesSlide37.xml" Id="Re58099b1dc504c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972b987d0544596" /><Relationship Type="http://schemas.openxmlformats.org/officeDocument/2006/relationships/notesSlide" Target="/ppt/notesSlides/notesSlide38.xml" Id="Rdabb6a8c67fe4f6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8d17317dfd9429f" /><Relationship Type="http://schemas.openxmlformats.org/officeDocument/2006/relationships/notesSlide" Target="/ppt/notesSlides/notesSlide39.xml" Id="R8c591bd718374ac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d084213a0cd422e" /><Relationship Type="http://schemas.openxmlformats.org/officeDocument/2006/relationships/notesSlide" Target="/ppt/notesSlides/notesSlide40.xml" Id="Rde714c22e64a49b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35bf0ec317a4c53" /><Relationship Type="http://schemas.openxmlformats.org/officeDocument/2006/relationships/notesSlide" Target="/ppt/notesSlides/notesSlide41.xml" Id="R971a8b2b4faa47e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8950ee5aad64d87" /><Relationship Type="http://schemas.openxmlformats.org/officeDocument/2006/relationships/notesSlide" Target="/ppt/notesSlides/notesSlide42.xml" Id="Raa0c58a70a26482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15ae04ce9414f36" /><Relationship Type="http://schemas.openxmlformats.org/officeDocument/2006/relationships/notesSlide" Target="/ppt/notesSlides/notesSlide43.xml" Id="R98b81bda53d2458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d55902319304f30" /><Relationship Type="http://schemas.openxmlformats.org/officeDocument/2006/relationships/notesSlide" Target="/ppt/notesSlides/notesSlide44.xml" Id="R36d4c1356a974f3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365a93c49b14547" /><Relationship Type="http://schemas.openxmlformats.org/officeDocument/2006/relationships/notesSlide" Target="/ppt/notesSlides/notesSlide45.xml" Id="Rf74df853260d4fd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742b90590324888" /><Relationship Type="http://schemas.openxmlformats.org/officeDocument/2006/relationships/notesSlide" Target="/ppt/notesSlides/notesSlide46.xml" Id="Rf0611af62731411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1c8d22ac80b44ab" /><Relationship Type="http://schemas.openxmlformats.org/officeDocument/2006/relationships/notesSlide" Target="/ppt/notesSlides/notesSlide47.xml" Id="R0740c7d62e8c452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6d454e7e50f447d" /><Relationship Type="http://schemas.openxmlformats.org/officeDocument/2006/relationships/notesSlide" Target="/ppt/notesSlides/notesSlide48.xml" Id="R7e5d9d785c6e4b3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8d445a5b32847da" /><Relationship Type="http://schemas.openxmlformats.org/officeDocument/2006/relationships/notesSlide" Target="/ppt/notesSlides/notesSlide49.xml" Id="R8ad55cbfcae1483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6fdf326c3134788" /><Relationship Type="http://schemas.openxmlformats.org/officeDocument/2006/relationships/notesSlide" Target="/ppt/notesSlides/notesSlide50.xml" Id="Rc367f80cbfbc406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f69bdca810d46b3" /><Relationship Type="http://schemas.openxmlformats.org/officeDocument/2006/relationships/notesSlide" Target="/ppt/notesSlides/notesSlide51.xml" Id="Rd975d7603248450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4580ca64af54ed7" /><Relationship Type="http://schemas.openxmlformats.org/officeDocument/2006/relationships/notesSlide" Target="/ppt/notesSlides/notesSlide52.xml" Id="Raed31e93ea3e419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b0cc746100ec432b" /><Relationship Type="http://schemas.openxmlformats.org/officeDocument/2006/relationships/notesSlide" Target="/ppt/notesSlides/notesSlide53.xml" Id="R7f6b11ae84df428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e41018233cb4d35" /><Relationship Type="http://schemas.openxmlformats.org/officeDocument/2006/relationships/notesSlide" Target="/ppt/notesSlides/notesSlide54.xml" Id="R6faeb3b4bf9c490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3dcd9e3da834cf5" /><Relationship Type="http://schemas.openxmlformats.org/officeDocument/2006/relationships/notesSlide" Target="/ppt/notesSlides/notesSlide55.xml" Id="R3715478a62084d2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9b25591b00c404a" /><Relationship Type="http://schemas.openxmlformats.org/officeDocument/2006/relationships/notesSlide" Target="/ppt/notesSlides/notesSlide56.xml" Id="R0f868e8d6622433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9fd0298961a4d61" /><Relationship Type="http://schemas.openxmlformats.org/officeDocument/2006/relationships/notesSlide" Target="/ppt/notesSlides/notesSlide57.xml" Id="R8cd6e3c75a8a49a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eb92ffc8e65471a" /><Relationship Type="http://schemas.openxmlformats.org/officeDocument/2006/relationships/notesSlide" Target="/ppt/notesSlides/notesSlide58.xml" Id="Ra764746cab9e4d9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e7e9a948d704ae3" /><Relationship Type="http://schemas.openxmlformats.org/officeDocument/2006/relationships/notesSlide" Target="/ppt/notesSlides/notesSlide59.xml" Id="Rdb9c12c65e19494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725b9868b674a51" /><Relationship Type="http://schemas.openxmlformats.org/officeDocument/2006/relationships/notesSlide" Target="/ppt/notesSlides/notesSlide60.xml" Id="R82dcb1304cc54a8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f1d869a4ab64900" /><Relationship Type="http://schemas.openxmlformats.org/officeDocument/2006/relationships/notesSlide" Target="/ppt/notesSlides/notesSlide61.xml" Id="Rd78dd99506ae4bbe" /></Relationships>
</file>

<file path=ppt/slides/charts/chart1.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9"/>
              <c:pt idx="0">
                <c:v>0.1</c:v>
              </c:pt>
              <c:pt idx="1">
                <c:v>0.2</c:v>
              </c:pt>
              <c:pt idx="2">
                <c:v>0.3</c:v>
              </c:pt>
              <c:pt idx="3">
                <c:v>0.4</c:v>
              </c:pt>
              <c:pt idx="4">
                <c:v>0.5</c:v>
              </c:pt>
              <c:pt idx="5">
                <c:v>0.6</c:v>
              </c:pt>
              <c:pt idx="6">
                <c:v>0.7</c:v>
              </c:pt>
              <c:pt idx="7">
                <c:v>0.8</c:v>
              </c:pt>
              <c:pt idx="8">
                <c:v>0.9</c:v>
              </c:pt>
            </c:numLit>
          </c:xVal>
          <c:yVal>
            <c:numLit>
              <c:formatCode>0.0</c:formatCode>
              <c:ptCount val="9"/>
              <c:pt idx="0">
                <c:v>0.15</c:v>
              </c:pt>
              <c:pt idx="1">
                <c:v>0.23</c:v>
              </c:pt>
              <c:pt idx="2">
                <c:v>0.2</c:v>
              </c:pt>
              <c:pt idx="3">
                <c:v>0.48</c:v>
              </c:pt>
              <c:pt idx="4">
                <c:v>0.42</c:v>
              </c:pt>
              <c:pt idx="5">
                <c:v>0.7</c:v>
              </c:pt>
              <c:pt idx="6">
                <c:v>0.62</c:v>
              </c:pt>
              <c:pt idx="7">
                <c:v>0.84</c:v>
              </c:pt>
              <c:pt idx="8">
                <c:v>0.91</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lineMarker"/>
        <c:ser>
          <c:idx val="0"/>
          <c:order val="0"/>
          <c:tx>
            <c:v>範囲の外</c:v>
          </c:tx>
          <c:spPr>
            <a:solidFill xmlns:a="http://schemas.openxmlformats.org/drawingml/2006/main">
              <a:srgbClr val="AAAAAA"/>
            </a:solidFill>
            <a:ln xmlns:a="http://schemas.openxmlformats.org/drawingml/2006/main" w="0">
              <a:noFill/>
            </a:ln>
          </c:spPr>
          <c:marker>
            <c:symbol val="circle"/>
            <c:size val="5"/>
            <c:spPr>
              <a:noFill xmlns:a="http://schemas.openxmlformats.org/drawingml/2006/main"/>
            </c:spPr>
          </c:marker>
          <c:xVal>
            <c:numLit>
              <c:formatCode>General</c:formatCode>
              <c:ptCount val="6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pt idx="40">
                <c:v>0.85</c:v>
              </c:pt>
              <c:pt idx="41">
                <c:v>0.85</c:v>
              </c:pt>
              <c:pt idx="42">
                <c:v>0.85</c:v>
              </c:pt>
              <c:pt idx="43">
                <c:v>0.85</c:v>
              </c:pt>
              <c:pt idx="44">
                <c:v>0.85</c:v>
              </c:pt>
              <c:pt idx="45">
                <c:v>0.85</c:v>
              </c:pt>
              <c:pt idx="46">
                <c:v>0.85</c:v>
              </c:pt>
              <c:pt idx="47">
                <c:v>0.85</c:v>
              </c:pt>
              <c:pt idx="48">
                <c:v>0.85</c:v>
              </c:pt>
              <c:pt idx="49">
                <c:v>0.85</c:v>
              </c:pt>
              <c:pt idx="50">
                <c:v>0.95</c:v>
              </c:pt>
              <c:pt idx="51">
                <c:v>0.95</c:v>
              </c:pt>
              <c:pt idx="52">
                <c:v>0.95</c:v>
              </c:pt>
              <c:pt idx="53">
                <c:v>0.95</c:v>
              </c:pt>
              <c:pt idx="54">
                <c:v>0.95</c:v>
              </c:pt>
              <c:pt idx="55">
                <c:v>0.95</c:v>
              </c:pt>
              <c:pt idx="56">
                <c:v>0.95</c:v>
              </c:pt>
              <c:pt idx="57">
                <c:v>0.95</c:v>
              </c:pt>
              <c:pt idx="58">
                <c:v>0.95</c:v>
              </c:pt>
              <c:pt idx="59">
                <c:v>0.95</c:v>
              </c:pt>
            </c:numLit>
          </c:xVal>
          <c:yVal>
            <c:numLit>
              <c:formatCode>0.0</c:formatCode>
              <c:ptCount val="60"/>
              <c:pt idx="0">
                <c:v>0.55</c:v>
              </c:pt>
              <c:pt idx="1">
                <c:v>0.65</c:v>
              </c:pt>
              <c:pt idx="2">
                <c:v>0.75</c:v>
              </c:pt>
              <c:pt idx="3">
                <c:v>0.85</c:v>
              </c:pt>
              <c:pt idx="4">
                <c:v>0.95</c:v>
              </c:pt>
              <c:pt idx="5">
                <c:v>0.55</c:v>
              </c:pt>
              <c:pt idx="6">
                <c:v>0.65</c:v>
              </c:pt>
              <c:pt idx="7">
                <c:v>0.75</c:v>
              </c:pt>
              <c:pt idx="8">
                <c:v>0.85</c:v>
              </c:pt>
              <c:pt idx="9">
                <c:v>0.95</c:v>
              </c:pt>
              <c:pt idx="10">
                <c:v>0.55</c:v>
              </c:pt>
              <c:pt idx="11">
                <c:v>0.65</c:v>
              </c:pt>
              <c:pt idx="12">
                <c:v>0.75</c:v>
              </c:pt>
              <c:pt idx="13">
                <c:v>0.85</c:v>
              </c:pt>
              <c:pt idx="14">
                <c:v>0.95</c:v>
              </c:pt>
              <c:pt idx="15">
                <c:v>0.55</c:v>
              </c:pt>
              <c:pt idx="16">
                <c:v>0.65</c:v>
              </c:pt>
              <c:pt idx="17">
                <c:v>0.75</c:v>
              </c:pt>
              <c:pt idx="18">
                <c:v>0.85</c:v>
              </c:pt>
              <c:pt idx="19">
                <c:v>0.95</c:v>
              </c:pt>
              <c:pt idx="20">
                <c:v>0.55</c:v>
              </c:pt>
              <c:pt idx="21">
                <c:v>0.65</c:v>
              </c:pt>
              <c:pt idx="22">
                <c:v>0.75</c:v>
              </c:pt>
              <c:pt idx="23">
                <c:v>0.85</c:v>
              </c:pt>
              <c:pt idx="24">
                <c:v>0.95</c:v>
              </c:pt>
              <c:pt idx="25">
                <c:v>0.55</c:v>
              </c:pt>
              <c:pt idx="26">
                <c:v>0.65</c:v>
              </c:pt>
              <c:pt idx="27">
                <c:v>0.75</c:v>
              </c:pt>
              <c:pt idx="28">
                <c:v>0.85</c:v>
              </c:pt>
              <c:pt idx="29">
                <c:v>0.95</c:v>
              </c:pt>
              <c:pt idx="30">
                <c:v>0.55</c:v>
              </c:pt>
              <c:pt idx="31">
                <c:v>0.65</c:v>
              </c:pt>
              <c:pt idx="32">
                <c:v>0.75</c:v>
              </c:pt>
              <c:pt idx="33">
                <c:v>0.85</c:v>
              </c:pt>
              <c:pt idx="34">
                <c:v>0.95</c:v>
              </c:pt>
              <c:pt idx="35">
                <c:v>0.55</c:v>
              </c:pt>
              <c:pt idx="36">
                <c:v>0.65</c:v>
              </c:pt>
              <c:pt idx="37">
                <c:v>0.75</c:v>
              </c:pt>
              <c:pt idx="38">
                <c:v>0.85</c:v>
              </c:pt>
              <c:pt idx="39">
                <c:v>0.95</c:v>
              </c:pt>
              <c:pt idx="40">
                <c:v>0.05</c:v>
              </c:pt>
              <c:pt idx="41">
                <c:v>0.15</c:v>
              </c:pt>
              <c:pt idx="42">
                <c:v>0.25</c:v>
              </c:pt>
              <c:pt idx="43">
                <c:v>0.35</c:v>
              </c:pt>
              <c:pt idx="44">
                <c:v>0.45</c:v>
              </c:pt>
              <c:pt idx="45">
                <c:v>0.55</c:v>
              </c:pt>
              <c:pt idx="46">
                <c:v>0.65</c:v>
              </c:pt>
              <c:pt idx="47">
                <c:v>0.75</c:v>
              </c:pt>
              <c:pt idx="48">
                <c:v>0.85</c:v>
              </c:pt>
              <c:pt idx="49">
                <c:v>0.95</c:v>
              </c:pt>
              <c:pt idx="50">
                <c:v>0.05</c:v>
              </c:pt>
              <c:pt idx="51">
                <c:v>0.15</c:v>
              </c:pt>
              <c:pt idx="52">
                <c:v>0.25</c:v>
              </c:pt>
              <c:pt idx="53">
                <c:v>0.35</c:v>
              </c:pt>
              <c:pt idx="54">
                <c:v>0.45</c:v>
              </c:pt>
              <c:pt idx="55">
                <c:v>0.55</c:v>
              </c:pt>
              <c:pt idx="56">
                <c:v>0.65</c:v>
              </c:pt>
              <c:pt idx="57">
                <c:v>0.75</c:v>
              </c:pt>
              <c:pt idx="58">
                <c:v>0.85</c:v>
              </c:pt>
              <c:pt idx="59">
                <c:v>0.95</c:v>
              </c:pt>
            </c:numLit>
          </c:yVal>
        </c:ser>
        <c:ser>
          <c:idx val="1"/>
          <c:order val="1"/>
          <c:tx>
            <c:v>両条件を満たす</c:v>
          </c:tx>
          <c:spPr>
            <a:solidFill xmlns:a="http://schemas.openxmlformats.org/drawingml/2006/main">
              <a:srgbClr val="2E7D5B"/>
            </a:solidFill>
            <a:ln xmlns:a="http://schemas.openxmlformats.org/drawingml/2006/main" w="0">
              <a:noFill/>
            </a:ln>
          </c:spPr>
          <c:marker>
            <c:symbol val="circle"/>
            <c:size val="6"/>
            <c:spPr>
              <a:noFill xmlns:a="http://schemas.openxmlformats.org/drawingml/2006/main"/>
            </c:spPr>
          </c:marker>
          <c:xVal>
            <c:numLit>
              <c:formatCode>General</c:formatCode>
              <c:ptCount val="40"/>
              <c:pt idx="0">
                <c:v>0.05</c:v>
              </c:pt>
              <c:pt idx="1">
                <c:v>0.05</c:v>
              </c:pt>
              <c:pt idx="2">
                <c:v>0.05</c:v>
              </c:pt>
              <c:pt idx="3">
                <c:v>0.05</c:v>
              </c:pt>
              <c:pt idx="4">
                <c:v>0.05</c:v>
              </c:pt>
              <c:pt idx="5">
                <c:v>0.15</c:v>
              </c:pt>
              <c:pt idx="6">
                <c:v>0.15</c:v>
              </c:pt>
              <c:pt idx="7">
                <c:v>0.15</c:v>
              </c:pt>
              <c:pt idx="8">
                <c:v>0.15</c:v>
              </c:pt>
              <c:pt idx="9">
                <c:v>0.15</c:v>
              </c:pt>
              <c:pt idx="10">
                <c:v>0.25</c:v>
              </c:pt>
              <c:pt idx="11">
                <c:v>0.25</c:v>
              </c:pt>
              <c:pt idx="12">
                <c:v>0.25</c:v>
              </c:pt>
              <c:pt idx="13">
                <c:v>0.25</c:v>
              </c:pt>
              <c:pt idx="14">
                <c:v>0.25</c:v>
              </c:pt>
              <c:pt idx="15">
                <c:v>0.35</c:v>
              </c:pt>
              <c:pt idx="16">
                <c:v>0.35</c:v>
              </c:pt>
              <c:pt idx="17">
                <c:v>0.35</c:v>
              </c:pt>
              <c:pt idx="18">
                <c:v>0.35</c:v>
              </c:pt>
              <c:pt idx="19">
                <c:v>0.35</c:v>
              </c:pt>
              <c:pt idx="20">
                <c:v>0.45</c:v>
              </c:pt>
              <c:pt idx="21">
                <c:v>0.45</c:v>
              </c:pt>
              <c:pt idx="22">
                <c:v>0.45</c:v>
              </c:pt>
              <c:pt idx="23">
                <c:v>0.45</c:v>
              </c:pt>
              <c:pt idx="24">
                <c:v>0.45</c:v>
              </c:pt>
              <c:pt idx="25">
                <c:v>0.55</c:v>
              </c:pt>
              <c:pt idx="26">
                <c:v>0.55</c:v>
              </c:pt>
              <c:pt idx="27">
                <c:v>0.55</c:v>
              </c:pt>
              <c:pt idx="28">
                <c:v>0.55</c:v>
              </c:pt>
              <c:pt idx="29">
                <c:v>0.55</c:v>
              </c:pt>
              <c:pt idx="30">
                <c:v>0.65</c:v>
              </c:pt>
              <c:pt idx="31">
                <c:v>0.65</c:v>
              </c:pt>
              <c:pt idx="32">
                <c:v>0.65</c:v>
              </c:pt>
              <c:pt idx="33">
                <c:v>0.65</c:v>
              </c:pt>
              <c:pt idx="34">
                <c:v>0.65</c:v>
              </c:pt>
              <c:pt idx="35">
                <c:v>0.75</c:v>
              </c:pt>
              <c:pt idx="36">
                <c:v>0.75</c:v>
              </c:pt>
              <c:pt idx="37">
                <c:v>0.75</c:v>
              </c:pt>
              <c:pt idx="38">
                <c:v>0.75</c:v>
              </c:pt>
              <c:pt idx="39">
                <c:v>0.75</c:v>
              </c:pt>
            </c:numLit>
          </c:xVal>
          <c:yVal>
            <c:numLit>
              <c:formatCode>0.0</c:formatCode>
              <c:ptCount val="40"/>
              <c:pt idx="0">
                <c:v>0.05</c:v>
              </c:pt>
              <c:pt idx="1">
                <c:v>0.15</c:v>
              </c:pt>
              <c:pt idx="2">
                <c:v>0.25</c:v>
              </c:pt>
              <c:pt idx="3">
                <c:v>0.35</c:v>
              </c:pt>
              <c:pt idx="4">
                <c:v>0.45</c:v>
              </c:pt>
              <c:pt idx="5">
                <c:v>0.05</c:v>
              </c:pt>
              <c:pt idx="6">
                <c:v>0.15</c:v>
              </c:pt>
              <c:pt idx="7">
                <c:v>0.25</c:v>
              </c:pt>
              <c:pt idx="8">
                <c:v>0.35</c:v>
              </c:pt>
              <c:pt idx="9">
                <c:v>0.45</c:v>
              </c:pt>
              <c:pt idx="10">
                <c:v>0.05</c:v>
              </c:pt>
              <c:pt idx="11">
                <c:v>0.15</c:v>
              </c:pt>
              <c:pt idx="12">
                <c:v>0.25</c:v>
              </c:pt>
              <c:pt idx="13">
                <c:v>0.35</c:v>
              </c:pt>
              <c:pt idx="14">
                <c:v>0.45</c:v>
              </c:pt>
              <c:pt idx="15">
                <c:v>0.05</c:v>
              </c:pt>
              <c:pt idx="16">
                <c:v>0.15</c:v>
              </c:pt>
              <c:pt idx="17">
                <c:v>0.25</c:v>
              </c:pt>
              <c:pt idx="18">
                <c:v>0.35</c:v>
              </c:pt>
              <c:pt idx="19">
                <c:v>0.45</c:v>
              </c:pt>
              <c:pt idx="20">
                <c:v>0.05</c:v>
              </c:pt>
              <c:pt idx="21">
                <c:v>0.15</c:v>
              </c:pt>
              <c:pt idx="22">
                <c:v>0.25</c:v>
              </c:pt>
              <c:pt idx="23">
                <c:v>0.35</c:v>
              </c:pt>
              <c:pt idx="24">
                <c:v>0.45</c:v>
              </c:pt>
              <c:pt idx="25">
                <c:v>0.05</c:v>
              </c:pt>
              <c:pt idx="26">
                <c:v>0.15</c:v>
              </c:pt>
              <c:pt idx="27">
                <c:v>0.25</c:v>
              </c:pt>
              <c:pt idx="28">
                <c:v>0.35</c:v>
              </c:pt>
              <c:pt idx="29">
                <c:v>0.45</c:v>
              </c:pt>
              <c:pt idx="30">
                <c:v>0.05</c:v>
              </c:pt>
              <c:pt idx="31">
                <c:v>0.15</c:v>
              </c:pt>
              <c:pt idx="32">
                <c:v>0.25</c:v>
              </c:pt>
              <c:pt idx="33">
                <c:v>0.35</c:v>
              </c:pt>
              <c:pt idx="34">
                <c:v>0.45</c:v>
              </c:pt>
              <c:pt idx="35">
                <c:v>0.05</c:v>
              </c:pt>
              <c:pt idx="36">
                <c:v>0.15</c:v>
              </c:pt>
              <c:pt idx="37">
                <c:v>0.25</c:v>
              </c:pt>
              <c:pt idx="38">
                <c:v>0.35</c:v>
              </c:pt>
              <c:pt idx="39">
                <c:v>0.45</c:v>
              </c:pt>
            </c:numLit>
          </c:yVal>
        </c:ser>
        <c:ser>
          <c:idx val="2"/>
          <c:order val="2"/>
          <c:tx>
            <c:v>境界</c:v>
          </c:tx>
          <c:spPr>
            <a:solidFill xmlns:a="http://schemas.openxmlformats.org/drawingml/2006/main">
              <a:srgbClr val="2E7D5B"/>
            </a:solidFill>
            <a:ln xmlns:a="http://schemas.openxmlformats.org/drawingml/2006/main" w="19050">
              <a:solidFill>
                <a:srgbClr val="2E7D5B"/>
              </a:solidFill>
            </a:ln>
          </c:spPr>
          <c:marker>
            <c:symbol val="none"/>
          </c:marker>
          <c:xVal>
            <c:numLit>
              <c:formatCode>General</c:formatCode>
              <c:ptCount val="5"/>
              <c:pt idx="0">
                <c:v>0</c:v>
              </c:pt>
              <c:pt idx="1">
                <c:v>0.8</c:v>
              </c:pt>
              <c:pt idx="2">
                <c:v>0.8</c:v>
              </c:pt>
              <c:pt idx="3">
                <c:v>0</c:v>
              </c:pt>
              <c:pt idx="4">
                <c:v>0</c:v>
              </c:pt>
            </c:numLit>
          </c:xVal>
          <c:yVal>
            <c:numLit>
              <c:formatCode>0.0</c:formatCode>
              <c:ptCount val="5"/>
              <c:pt idx="0">
                <c:v>0</c:v>
              </c:pt>
              <c:pt idx="1">
                <c:v>0</c:v>
              </c:pt>
              <c:pt idx="2">
                <c:v>0.5</c:v>
              </c:pt>
              <c:pt idx="3">
                <c:v>0.5</c:v>
              </c:pt>
              <c:pt idx="4">
                <c:v>0</c:v>
              </c:pt>
            </c:numLit>
          </c:yVal>
        </c:ser>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V：体重の位置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U：身長の位置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-0.210561</c:v>
              </c:pt>
              <c:pt idx="1">
                <c:v>-1.713056</c:v>
              </c:pt>
              <c:pt idx="2">
                <c:v>-0.624863</c:v>
              </c:pt>
              <c:pt idx="3">
                <c:v>0.700037</c:v>
              </c:pt>
              <c:pt idx="4">
                <c:v>-1.269596</c:v>
              </c:pt>
              <c:pt idx="5">
                <c:v>-0.01204</c:v>
              </c:pt>
              <c:pt idx="6">
                <c:v>0.133132</c:v>
              </c:pt>
              <c:pt idx="7">
                <c:v>0.437726</c:v>
              </c:pt>
              <c:pt idx="8">
                <c:v>2.036789</c:v>
              </c:pt>
              <c:pt idx="9">
                <c:v>-1.370433</c:v>
              </c:pt>
              <c:pt idx="10">
                <c:v>0.065495</c:v>
              </c:pt>
              <c:pt idx="11">
                <c:v>-0.862793</c:v>
              </c:pt>
              <c:pt idx="12">
                <c:v>1.453965</c:v>
              </c:pt>
              <c:pt idx="13">
                <c:v>1.306129</c:v>
              </c:pt>
              <c:pt idx="14">
                <c:v>-0.123963</c:v>
              </c:pt>
              <c:pt idx="15">
                <c:v>0.455768</c:v>
              </c:pt>
              <c:pt idx="16">
                <c:v>-1.035617</c:v>
              </c:pt>
              <c:pt idx="17">
                <c:v>-1.663404</c:v>
              </c:pt>
              <c:pt idx="18">
                <c:v>-2.516123</c:v>
              </c:pt>
              <c:pt idx="19">
                <c:v>0.694111</c:v>
              </c:pt>
              <c:pt idx="20">
                <c:v>-0.654308</c:v>
              </c:pt>
              <c:pt idx="21">
                <c:v>-0.218106</c:v>
              </c:pt>
              <c:pt idx="22">
                <c:v>-0.531666</c:v>
              </c:pt>
              <c:pt idx="23">
                <c:v>0.032668</c:v>
              </c:pt>
              <c:pt idx="24">
                <c:v>-0.025947</c:v>
              </c:pt>
              <c:pt idx="25">
                <c:v>-0.241011</c:v>
              </c:pt>
              <c:pt idx="26">
                <c:v>-1.10778</c:v>
              </c:pt>
              <c:pt idx="27">
                <c:v>0.288077</c:v>
              </c:pt>
              <c:pt idx="28">
                <c:v>-0.83871</c:v>
              </c:pt>
              <c:pt idx="29">
                <c:v>-0.29658</c:v>
              </c:pt>
              <c:pt idx="30">
                <c:v>-1.458526</c:v>
              </c:pt>
              <c:pt idx="31">
                <c:v>0.146215</c:v>
              </c:pt>
              <c:pt idx="32">
                <c:v>1.253883</c:v>
              </c:pt>
              <c:pt idx="33">
                <c:v>0.922958</c:v>
              </c:pt>
              <c:pt idx="34">
                <c:v>0.472563</c:v>
              </c:pt>
              <c:pt idx="35">
                <c:v>0.443993</c:v>
              </c:pt>
              <c:pt idx="36">
                <c:v>1.836666</c:v>
              </c:pt>
              <c:pt idx="37">
                <c:v>1.998814</c:v>
              </c:pt>
              <c:pt idx="38">
                <c:v>0.303016</c:v>
              </c:pt>
              <c:pt idx="39">
                <c:v>0.288125</c:v>
              </c:pt>
              <c:pt idx="40">
                <c:v>1.093635</c:v>
              </c:pt>
              <c:pt idx="41">
                <c:v>-0.619421</c:v>
              </c:pt>
              <c:pt idx="42">
                <c:v>-0.775727</c:v>
              </c:pt>
              <c:pt idx="43">
                <c:v>0.636762</c:v>
              </c:pt>
              <c:pt idx="44">
                <c:v>1.984869</c:v>
              </c:pt>
              <c:pt idx="45">
                <c:v>-0.50276</c:v>
              </c:pt>
              <c:pt idx="46">
                <c:v>0.473785</c:v>
              </c:pt>
              <c:pt idx="47">
                <c:v>-0.181957</c:v>
              </c:pt>
              <c:pt idx="48">
                <c:v>0.117176</c:v>
              </c:pt>
              <c:pt idx="49">
                <c:v>-0.104379</c:v>
              </c:pt>
              <c:pt idx="50">
                <c:v>-0.28131</c:v>
              </c:pt>
              <c:pt idx="51">
                <c:v>-1.22926</c:v>
              </c:pt>
              <c:pt idx="52">
                <c:v>0.787163</c:v>
              </c:pt>
              <c:pt idx="53">
                <c:v>-0.505629</c:v>
              </c:pt>
              <c:pt idx="54">
                <c:v>-1.456005</c:v>
              </c:pt>
              <c:pt idx="55">
                <c:v>0.038035</c:v>
              </c:pt>
              <c:pt idx="56">
                <c:v>-0.165187</c:v>
              </c:pt>
              <c:pt idx="57">
                <c:v>0.787543</c:v>
              </c:pt>
              <c:pt idx="58">
                <c:v>0.237884</c:v>
              </c:pt>
              <c:pt idx="59">
                <c:v>0.389573</c:v>
              </c:pt>
              <c:pt idx="60">
                <c:v>-0.416826</c:v>
              </c:pt>
              <c:pt idx="61">
                <c:v>0.19116</c:v>
              </c:pt>
              <c:pt idx="62">
                <c:v>-0.817319</c:v>
              </c:pt>
              <c:pt idx="63">
                <c:v>-1.305464</c:v>
              </c:pt>
              <c:pt idx="64">
                <c:v>1.361396</c:v>
              </c:pt>
              <c:pt idx="65">
                <c:v>0.520453</c:v>
              </c:pt>
              <c:pt idx="66">
                <c:v>-1.615519</c:v>
              </c:pt>
              <c:pt idx="67">
                <c:v>0.546359</c:v>
              </c:pt>
              <c:pt idx="68">
                <c:v>-1.656757</c:v>
              </c:pt>
              <c:pt idx="69">
                <c:v>-0.84341</c:v>
              </c:pt>
              <c:pt idx="70">
                <c:v>2.091688</c:v>
              </c:pt>
              <c:pt idx="71">
                <c:v>-0.222123</c:v>
              </c:pt>
              <c:pt idx="72">
                <c:v>0.614768</c:v>
              </c:pt>
              <c:pt idx="73">
                <c:v>0.863907</c:v>
              </c:pt>
              <c:pt idx="74">
                <c:v>-1.740884</c:v>
              </c:pt>
              <c:pt idx="75">
                <c:v>0.313218</c:v>
              </c:pt>
              <c:pt idx="76">
                <c:v>0.534711</c:v>
              </c:pt>
              <c:pt idx="77">
                <c:v>-1.480492</c:v>
              </c:pt>
              <c:pt idx="78">
                <c:v>-0.385907</c:v>
              </c:pt>
              <c:pt idx="79">
                <c:v>0.11407</c:v>
              </c:pt>
              <c:pt idx="80">
                <c:v>0.895041</c:v>
              </c:pt>
              <c:pt idx="81">
                <c:v>0.489411</c:v>
              </c:pt>
              <c:pt idx="82">
                <c:v>-0.73591</c:v>
              </c:pt>
              <c:pt idx="83">
                <c:v>0.233848</c:v>
              </c:pt>
              <c:pt idx="84">
                <c:v>0.408122</c:v>
              </c:pt>
              <c:pt idx="85">
                <c:v>-0.765441</c:v>
              </c:pt>
              <c:pt idx="86">
                <c:v>-1.570768</c:v>
              </c:pt>
              <c:pt idx="87">
                <c:v>0.357895</c:v>
              </c:pt>
              <c:pt idx="88">
                <c:v>0.909</c:v>
              </c:pt>
              <c:pt idx="89">
                <c:v>0.201396</c:v>
              </c:pt>
              <c:pt idx="90">
                <c:v>-0.070873</c:v>
              </c:pt>
              <c:pt idx="91">
                <c:v>1.546291</c:v>
              </c:pt>
              <c:pt idx="92">
                <c:v>1.296057</c:v>
              </c:pt>
              <c:pt idx="93">
                <c:v>0.615141</c:v>
              </c:pt>
              <c:pt idx="94">
                <c:v>-0.91846</c:v>
              </c:pt>
              <c:pt idx="95">
                <c:v>-0.719518</c:v>
              </c:pt>
              <c:pt idx="96">
                <c:v>-1.240074</c:v>
              </c:pt>
              <c:pt idx="97">
                <c:v>-0.694365</c:v>
              </c:pt>
              <c:pt idx="98">
                <c:v>0.476725</c:v>
              </c:pt>
              <c:pt idx="99">
                <c:v>0.348572</c:v>
              </c:pt>
              <c:pt idx="100">
                <c:v>-1.226755</c:v>
              </c:pt>
              <c:pt idx="101">
                <c:v>1.091137</c:v>
              </c:pt>
              <c:pt idx="102">
                <c:v>1.043307</c:v>
              </c:pt>
              <c:pt idx="103">
                <c:v>2.326211</c:v>
              </c:pt>
              <c:pt idx="104">
                <c:v>-0.718224</c:v>
              </c:pt>
              <c:pt idx="105">
                <c:v>0.611381</c:v>
              </c:pt>
              <c:pt idx="106">
                <c:v>2.069503</c:v>
              </c:pt>
              <c:pt idx="107">
                <c:v>0.357352</c:v>
              </c:pt>
              <c:pt idx="108">
                <c:v>1.278387</c:v>
              </c:pt>
              <c:pt idx="109">
                <c:v>0.334709</c:v>
              </c:pt>
              <c:pt idx="110">
                <c:v>-0.242152</c:v>
              </c:pt>
              <c:pt idx="111">
                <c:v>-1.047942</c:v>
              </c:pt>
              <c:pt idx="112">
                <c:v>0.074507</c:v>
              </c:pt>
              <c:pt idx="113">
                <c:v>-0.218564</c:v>
              </c:pt>
              <c:pt idx="114">
                <c:v>-1.560617</c:v>
              </c:pt>
              <c:pt idx="115">
                <c:v>-0.309118</c:v>
              </c:pt>
              <c:pt idx="116">
                <c:v>-1.057372</c:v>
              </c:pt>
              <c:pt idx="117">
                <c:v>-0.653348</c:v>
              </c:pt>
              <c:pt idx="118">
                <c:v>-0.49068</c:v>
              </c:pt>
              <c:pt idx="119">
                <c:v>0.998924</c:v>
              </c:pt>
              <c:pt idx="120">
                <c:v>1.025902</c:v>
              </c:pt>
              <c:pt idx="121">
                <c:v>0.157022</c:v>
              </c:pt>
              <c:pt idx="122">
                <c:v>-0.974692</c:v>
              </c:pt>
              <c:pt idx="123">
                <c:v>0.630976</c:v>
              </c:pt>
              <c:pt idx="124">
                <c:v>-1.414051</c:v>
              </c:pt>
              <c:pt idx="125">
                <c:v>-0.57502</c:v>
              </c:pt>
              <c:pt idx="126">
                <c:v>-0.540014</c:v>
              </c:pt>
              <c:pt idx="127">
                <c:v>0.64459</c:v>
              </c:pt>
              <c:pt idx="128">
                <c:v>-0.653106</c:v>
              </c:pt>
              <c:pt idx="129">
                <c:v>0.347963</c:v>
              </c:pt>
              <c:pt idx="130">
                <c:v>0.060361</c:v>
              </c:pt>
              <c:pt idx="131">
                <c:v>-0.342071</c:v>
              </c:pt>
              <c:pt idx="132">
                <c:v>-0.396855</c:v>
              </c:pt>
              <c:pt idx="133">
                <c:v>-0.751027</c:v>
              </c:pt>
              <c:pt idx="134">
                <c:v>0.279652</c:v>
              </c:pt>
              <c:pt idx="135">
                <c:v>0.249541</c:v>
              </c:pt>
              <c:pt idx="136">
                <c:v>1.452706</c:v>
              </c:pt>
              <c:pt idx="137">
                <c:v>0.772859</c:v>
              </c:pt>
              <c:pt idx="138">
                <c:v>0.495658</c:v>
              </c:pt>
              <c:pt idx="139">
                <c:v>0.347161</c:v>
              </c:pt>
              <c:pt idx="140">
                <c:v>0.37272</c:v>
              </c:pt>
              <c:pt idx="141">
                <c:v>2.16919</c:v>
              </c:pt>
              <c:pt idx="142">
                <c:v>1.594857</c:v>
              </c:pt>
              <c:pt idx="143">
                <c:v>1.235467</c:v>
              </c:pt>
              <c:pt idx="144">
                <c:v>0.486987</c:v>
              </c:pt>
              <c:pt idx="145">
                <c:v>-0.633328</c:v>
              </c:pt>
              <c:pt idx="146">
                <c:v>-1.143939</c:v>
              </c:pt>
              <c:pt idx="147">
                <c:v>1.387433</c:v>
              </c:pt>
              <c:pt idx="148">
                <c:v>-0.787109</c:v>
              </c:pt>
              <c:pt idx="149">
                <c:v>-0.53829</c:v>
              </c:pt>
              <c:pt idx="150">
                <c:v>0.722009</c:v>
              </c:pt>
              <c:pt idx="151">
                <c:v>-1.361264</c:v>
              </c:pt>
              <c:pt idx="152">
                <c:v>0.494698</c:v>
              </c:pt>
              <c:pt idx="153">
                <c:v>2.162272</c:v>
              </c:pt>
              <c:pt idx="154">
                <c:v>-0.287687</c:v>
              </c:pt>
              <c:pt idx="155">
                <c:v>0.795013</c:v>
              </c:pt>
              <c:pt idx="156">
                <c:v>-1.174578</c:v>
              </c:pt>
              <c:pt idx="157">
                <c:v>0.969031</c:v>
              </c:pt>
              <c:pt idx="158">
                <c:v>0.602076</c:v>
              </c:pt>
              <c:pt idx="159">
                <c:v>0.138562</c:v>
              </c:pt>
              <c:pt idx="160">
                <c:v>0.10879</c:v>
              </c:pt>
              <c:pt idx="161">
                <c:v>-0.112019</c:v>
              </c:pt>
              <c:pt idx="162">
                <c:v>-0.592551</c:v>
              </c:pt>
              <c:pt idx="163">
                <c:v>-0.317517</c:v>
              </c:pt>
              <c:pt idx="164">
                <c:v>-0.990106</c:v>
              </c:pt>
              <c:pt idx="165">
                <c:v>1.45095</c:v>
              </c:pt>
              <c:pt idx="166">
                <c:v>0.050371</c:v>
              </c:pt>
              <c:pt idx="167">
                <c:v>0.962529</c:v>
              </c:pt>
              <c:pt idx="168">
                <c:v>0.217266</c:v>
              </c:pt>
              <c:pt idx="169">
                <c:v>1.036899</c:v>
              </c:pt>
              <c:pt idx="170">
                <c:v>1.496596</c:v>
              </c:pt>
              <c:pt idx="171">
                <c:v>0.246041</c:v>
              </c:pt>
              <c:pt idx="172">
                <c:v>0.498105</c:v>
              </c:pt>
              <c:pt idx="173">
                <c:v>0.046019</c:v>
              </c:pt>
              <c:pt idx="174">
                <c:v>1.692766</c:v>
              </c:pt>
              <c:pt idx="175">
                <c:v>-0.356243</c:v>
              </c:pt>
              <c:pt idx="176">
                <c:v>0.229687</c:v>
              </c:pt>
              <c:pt idx="177">
                <c:v>0.811138</c:v>
              </c:pt>
              <c:pt idx="178">
                <c:v>0.005554</c:v>
              </c:pt>
              <c:pt idx="179">
                <c:v>0.32401</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B6777"/>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0.154852</c:v>
              </c:pt>
              <c:pt idx="1">
                <c:v>1.692766</c:v>
              </c:pt>
              <c:pt idx="2">
                <c:v>1.2041</c:v>
              </c:pt>
              <c:pt idx="3">
                <c:v>-0.165187</c:v>
              </c:pt>
              <c:pt idx="4">
                <c:v>-2.119382</c:v>
              </c:pt>
              <c:pt idx="5">
                <c:v>-1.316218</c:v>
              </c:pt>
              <c:pt idx="6">
                <c:v>1.530522</c:v>
              </c:pt>
              <c:pt idx="7">
                <c:v>0.688716</c:v>
              </c:pt>
              <c:pt idx="8">
                <c:v>1.711785</c:v>
              </c:pt>
              <c:pt idx="9">
                <c:v>-0.189384</c:v>
              </c:pt>
              <c:pt idx="10">
                <c:v>0.334709</c:v>
              </c:pt>
              <c:pt idx="11">
                <c:v>0.561395</c:v>
              </c:pt>
              <c:pt idx="12">
                <c:v>0.289951</c:v>
              </c:pt>
              <c:pt idx="13">
                <c:v>0.883718</c:v>
              </c:pt>
              <c:pt idx="14">
                <c:v>0.702595</c:v>
              </c:pt>
              <c:pt idx="15">
                <c:v>-0.022548</c:v>
              </c:pt>
              <c:pt idx="16">
                <c:v>-0.064899</c:v>
              </c:pt>
              <c:pt idx="17">
                <c:v>-0.049644</c:v>
              </c:pt>
              <c:pt idx="18">
                <c:v>0.156544</c:v>
              </c:pt>
              <c:pt idx="19">
                <c:v>-1.509061</c:v>
              </c:pt>
              <c:pt idx="20">
                <c:v>0.623168</c:v>
              </c:pt>
              <c:pt idx="21">
                <c:v>0.176928</c:v>
              </c:pt>
              <c:pt idx="22">
                <c:v>-0.411131</c:v>
              </c:pt>
              <c:pt idx="23">
                <c:v>-1.659642</c:v>
              </c:pt>
              <c:pt idx="24">
                <c:v>-0.773943</c:v>
              </c:pt>
              <c:pt idx="25">
                <c:v>-0.28131</c:v>
              </c:pt>
              <c:pt idx="26">
                <c:v>0.933047</c:v>
              </c:pt>
              <c:pt idx="27">
                <c:v>-1.044475</c:v>
              </c:pt>
              <c:pt idx="28">
                <c:v>-0.135962</c:v>
              </c:pt>
              <c:pt idx="29">
                <c:v>-0.387742</c:v>
              </c:pt>
              <c:pt idx="30">
                <c:v>-0.756091</c:v>
              </c:pt>
              <c:pt idx="31">
                <c:v>0.10879</c:v>
              </c:pt>
              <c:pt idx="32">
                <c:v>0.151379</c:v>
              </c:pt>
              <c:pt idx="33">
                <c:v>0.734898</c:v>
              </c:pt>
              <c:pt idx="34">
                <c:v>1.040196</c:v>
              </c:pt>
              <c:pt idx="35">
                <c:v>1.496904</c:v>
              </c:pt>
              <c:pt idx="36">
                <c:v>-1.869224</c:v>
              </c:pt>
              <c:pt idx="37">
                <c:v>1.211914</c:v>
              </c:pt>
              <c:pt idx="38">
                <c:v>0.479186</c:v>
              </c:pt>
              <c:pt idx="39">
                <c:v>0.419965</c:v>
              </c:pt>
              <c:pt idx="40">
                <c:v>0.313218</c:v>
              </c:pt>
              <c:pt idx="41">
                <c:v>0.486292</c:v>
              </c:pt>
              <c:pt idx="42">
                <c:v>-1.893808</c:v>
              </c:pt>
              <c:pt idx="43">
                <c:v>0.735796</c:v>
              </c:pt>
              <c:pt idx="44">
                <c:v>-0.00683</c:v>
              </c:pt>
              <c:pt idx="45">
                <c:v>-1.057372</c:v>
              </c:pt>
              <c:pt idx="46">
                <c:v>-0.802664</c:v>
              </c:pt>
              <c:pt idx="47">
                <c:v>-0.279013</c:v>
              </c:pt>
              <c:pt idx="48">
                <c:v>-0.84717</c:v>
              </c:pt>
              <c:pt idx="49">
                <c:v>-0.314709</c:v>
              </c:pt>
              <c:pt idx="50">
                <c:v>1.673556</c:v>
              </c:pt>
              <c:pt idx="51">
                <c:v>-1.72969</c:v>
              </c:pt>
              <c:pt idx="52">
                <c:v>0.370722</c:v>
              </c:pt>
              <c:pt idx="53">
                <c:v>-0.351058</c:v>
              </c:pt>
              <c:pt idx="54">
                <c:v>0.065495</c:v>
              </c:pt>
              <c:pt idx="55">
                <c:v>-0.309118</c:v>
              </c:pt>
              <c:pt idx="56">
                <c:v>0.257939</c:v>
              </c:pt>
              <c:pt idx="57">
                <c:v>0.263324</c:v>
              </c:pt>
              <c:pt idx="58">
                <c:v>0.368132</c:v>
              </c:pt>
              <c:pt idx="59">
                <c:v>-0.088227</c:v>
              </c:pt>
              <c:pt idx="60">
                <c:v>1.334336</c:v>
              </c:pt>
              <c:pt idx="61">
                <c:v>-0.380575</c:v>
              </c:pt>
              <c:pt idx="62">
                <c:v>-1.451974</c:v>
              </c:pt>
              <c:pt idx="63">
                <c:v>-0.889791</c:v>
              </c:pt>
              <c:pt idx="64">
                <c:v>-1.561402</c:v>
              </c:pt>
              <c:pt idx="65">
                <c:v>0.038035</c:v>
              </c:pt>
              <c:pt idx="66">
                <c:v>-0.024082</c:v>
              </c:pt>
              <c:pt idx="67">
                <c:v>-0.988527</c:v>
              </c:pt>
              <c:pt idx="68">
                <c:v>-1.323811</c:v>
              </c:pt>
              <c:pt idx="69">
                <c:v>1.373701</c:v>
              </c:pt>
              <c:pt idx="70">
                <c:v>0.72781</c:v>
              </c:pt>
              <c:pt idx="71">
                <c:v>-0.765441</c:v>
              </c:pt>
              <c:pt idx="72">
                <c:v>-0.540014</c:v>
              </c:pt>
              <c:pt idx="73">
                <c:v>0.610536</c:v>
              </c:pt>
              <c:pt idx="74">
                <c:v>0.032418</c:v>
              </c:pt>
              <c:pt idx="75">
                <c:v>0.297134</c:v>
              </c:pt>
              <c:pt idx="76">
                <c:v>0.791437</c:v>
              </c:pt>
              <c:pt idx="77">
                <c:v>0.096756</c:v>
              </c:pt>
              <c:pt idx="78">
                <c:v>-0.196929</c:v>
              </c:pt>
              <c:pt idx="79">
                <c:v>0.958014</c:v>
              </c:pt>
              <c:pt idx="80">
                <c:v>1.402107</c:v>
              </c:pt>
              <c:pt idx="81">
                <c:v>-1.04676</c:v>
              </c:pt>
              <c:pt idx="82">
                <c:v>0.694503</c:v>
              </c:pt>
              <c:pt idx="83">
                <c:v>0.437726</c:v>
              </c:pt>
              <c:pt idx="84">
                <c:v>0.791205</c:v>
              </c:pt>
              <c:pt idx="85">
                <c:v>-0.193767</c:v>
              </c:pt>
              <c:pt idx="86">
                <c:v>-0.953</c:v>
              </c:pt>
              <c:pt idx="87">
                <c:v>0.324699</c:v>
              </c:pt>
              <c:pt idx="88">
                <c:v>-0.254996</c:v>
              </c:pt>
              <c:pt idx="89">
                <c:v>0.543994</c:v>
              </c:pt>
              <c:pt idx="90">
                <c:v>1.396014</c:v>
              </c:pt>
              <c:pt idx="91">
                <c:v>1.307993</c:v>
              </c:pt>
              <c:pt idx="92">
                <c:v>-0.261602</c:v>
              </c:pt>
              <c:pt idx="93">
                <c:v>-0.770238</c:v>
              </c:pt>
              <c:pt idx="94">
                <c:v>0.498636</c:v>
              </c:pt>
              <c:pt idx="95">
                <c:v>-0.73591</c:v>
              </c:pt>
              <c:pt idx="96">
                <c:v>-1.211103</c:v>
              </c:pt>
              <c:pt idx="97">
                <c:v>-0.18509</c:v>
              </c:pt>
              <c:pt idx="98">
                <c:v>-0.516388</c:v>
              </c:pt>
              <c:pt idx="99">
                <c:v>0.114358</c:v>
              </c:pt>
              <c:pt idx="100">
                <c:v>1.66802</c:v>
              </c:pt>
              <c:pt idx="101">
                <c:v>1.639043</c:v>
              </c:pt>
              <c:pt idx="102">
                <c:v>-0.544429</c:v>
              </c:pt>
              <c:pt idx="103">
                <c:v>1.998814</c:v>
              </c:pt>
              <c:pt idx="104">
                <c:v>-0.865345</c:v>
              </c:pt>
              <c:pt idx="105">
                <c:v>-0.557361</c:v>
              </c:pt>
              <c:pt idx="106">
                <c:v>1.650099</c:v>
              </c:pt>
              <c:pt idx="107">
                <c:v>-1.103861</c:v>
              </c:pt>
              <c:pt idx="108">
                <c:v>1.05415</c:v>
              </c:pt>
              <c:pt idx="109">
                <c:v>-1.099749</c:v>
              </c:pt>
              <c:pt idx="110">
                <c:v>-2.264521</c:v>
              </c:pt>
              <c:pt idx="111">
                <c:v>-0.076407</c:v>
              </c:pt>
              <c:pt idx="112">
                <c:v>0.626669</c:v>
              </c:pt>
              <c:pt idx="113">
                <c:v>-0.667684</c:v>
              </c:pt>
              <c:pt idx="114">
                <c:v>-1.084337</c:v>
              </c:pt>
              <c:pt idx="115">
                <c:v>-1.019429</c:v>
              </c:pt>
              <c:pt idx="116">
                <c:v>-1.021514</c:v>
              </c:pt>
              <c:pt idx="117">
                <c:v>-1.547305</c:v>
              </c:pt>
              <c:pt idx="118">
                <c:v>0.936357</c:v>
              </c:pt>
              <c:pt idx="119">
                <c:v>-0.703806</c:v>
              </c:pt>
              <c:pt idx="120">
                <c:v>1.008951</c:v>
              </c:pt>
              <c:pt idx="121">
                <c:v>-0.345443</c:v>
              </c:pt>
              <c:pt idx="122">
                <c:v>-3.168357</c:v>
              </c:pt>
              <c:pt idx="123">
                <c:v>-0.980025</c:v>
              </c:pt>
              <c:pt idx="124">
                <c:v>1.284285</c:v>
              </c:pt>
              <c:pt idx="125">
                <c:v>-1.501302</c:v>
              </c:pt>
              <c:pt idx="126">
                <c:v>-1.789826</c:v>
              </c:pt>
              <c:pt idx="127">
                <c:v>-0.970874</c:v>
              </c:pt>
              <c:pt idx="128">
                <c:v>-1.373157</c:v>
              </c:pt>
              <c:pt idx="129">
                <c:v>-1.322447</c:v>
              </c:pt>
              <c:pt idx="130">
                <c:v>-1.19829</c:v>
              </c:pt>
              <c:pt idx="131">
                <c:v>0.727169</c:v>
              </c:pt>
              <c:pt idx="132">
                <c:v>-0.990349</c:v>
              </c:pt>
              <c:pt idx="133">
                <c:v>-0.429247</c:v>
              </c:pt>
              <c:pt idx="134">
                <c:v>0.088093</c:v>
              </c:pt>
              <c:pt idx="135">
                <c:v>0.23827</c:v>
              </c:pt>
              <c:pt idx="136">
                <c:v>-1.352049</c:v>
              </c:pt>
              <c:pt idx="137">
                <c:v>0.270667</c:v>
              </c:pt>
              <c:pt idx="138">
                <c:v>0.631655</c:v>
              </c:pt>
              <c:pt idx="139">
                <c:v>-0.984964</c:v>
              </c:pt>
              <c:pt idx="140">
                <c:v>-0.465059</c:v>
              </c:pt>
              <c:pt idx="141">
                <c:v>0.023637</c:v>
              </c:pt>
              <c:pt idx="142">
                <c:v>-0.30961</c:v>
              </c:pt>
              <c:pt idx="143">
                <c:v>0.103067</c:v>
              </c:pt>
              <c:pt idx="144">
                <c:v>0.489526</c:v>
              </c:pt>
              <c:pt idx="145">
                <c:v>-0.486709</c:v>
              </c:pt>
              <c:pt idx="146">
                <c:v>-0.390631</c:v>
              </c:pt>
              <c:pt idx="147">
                <c:v>-1.713056</c:v>
              </c:pt>
              <c:pt idx="148">
                <c:v>-0.932573</c:v>
              </c:pt>
              <c:pt idx="149">
                <c:v>1.047418</c:v>
              </c:pt>
              <c:pt idx="150">
                <c:v>-0.831799</c:v>
              </c:pt>
              <c:pt idx="151">
                <c:v>0.729138</c:v>
              </c:pt>
              <c:pt idx="152">
                <c:v>-1.188245</c:v>
              </c:pt>
              <c:pt idx="153">
                <c:v>0.573166</c:v>
              </c:pt>
              <c:pt idx="154">
                <c:v>-0.176346</c:v>
              </c:pt>
              <c:pt idx="155">
                <c:v>-0.838939</c:v>
              </c:pt>
              <c:pt idx="156">
                <c:v>-0.397515</c:v>
              </c:pt>
              <c:pt idx="157">
                <c:v>-1.343576</c:v>
              </c:pt>
              <c:pt idx="158">
                <c:v>1.429867</c:v>
              </c:pt>
              <c:pt idx="159">
                <c:v>-0.870907</c:v>
              </c:pt>
              <c:pt idx="160">
                <c:v>-1.539698</c:v>
              </c:pt>
              <c:pt idx="161">
                <c:v>-0.570847</c:v>
              </c:pt>
              <c:pt idx="162">
                <c:v>1.602503</c:v>
              </c:pt>
              <c:pt idx="163">
                <c:v>-0.776695</c:v>
              </c:pt>
              <c:pt idx="164">
                <c:v>0.166045</c:v>
              </c:pt>
              <c:pt idx="165">
                <c:v>-1.581756</c:v>
              </c:pt>
              <c:pt idx="166">
                <c:v>-0.804408</c:v>
              </c:pt>
              <c:pt idx="167">
                <c:v>-0.486435</c:v>
              </c:pt>
              <c:pt idx="168">
                <c:v>0.546359</c:v>
              </c:pt>
              <c:pt idx="169">
                <c:v>0.071947</c:v>
              </c:pt>
              <c:pt idx="170">
                <c:v>0.05505</c:v>
              </c:pt>
              <c:pt idx="171">
                <c:v>-0.152179</c:v>
              </c:pt>
              <c:pt idx="172">
                <c:v>-0.175767</c:v>
              </c:pt>
              <c:pt idx="173">
                <c:v>0.03749</c:v>
              </c:pt>
              <c:pt idx="174">
                <c:v>-1.230582</c:v>
              </c:pt>
              <c:pt idx="175">
                <c:v>0.011619</c:v>
              </c:pt>
              <c:pt idx="176">
                <c:v>0.401376</c:v>
              </c:pt>
              <c:pt idx="177">
                <c:v>1.984869</c:v>
              </c:pt>
              <c:pt idx="178">
                <c:v>-2.037904</c:v>
              </c:pt>
              <c:pt idx="179">
                <c:v>1.311426</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ser>
          <c:idx val="0"/>
          <c:order val="0"/>
          <c:tx>
            <c:v>説明用データ</c:v>
          </c:tx>
          <c:spPr>
            <a:solidFill xmlns:a="http://schemas.openxmlformats.org/drawingml/2006/main">
              <a:srgbClr val="2E7D5B"/>
            </a:solidFill>
            <a:ln xmlns:a="http://schemas.openxmlformats.org/drawingml/2006/main" w="0">
              <a:noFill/>
            </a:ln>
          </c:spPr>
          <c:marker>
            <c:symbol val="circle"/>
            <c:size val="5"/>
            <c:spPr>
              <a:noFill xmlns:a="http://schemas.openxmlformats.org/drawingml/2006/main"/>
            </c:spPr>
          </c:marker>
          <c:xVal>
            <c:numLit>
              <c:formatCode>General</c:formatCode>
              <c:ptCount val="180"/>
              <c:pt idx="0">
                <c:v>-0.964737</c:v>
              </c:pt>
              <c:pt idx="1">
                <c:v>-0.685523</c:v>
              </c:pt>
              <c:pt idx="2">
                <c:v>-1.792758</c:v>
              </c:pt>
              <c:pt idx="3">
                <c:v>1.118067</c:v>
              </c:pt>
              <c:pt idx="4">
                <c:v>-1.27751</c:v>
              </c:pt>
              <c:pt idx="5">
                <c:v>0.42376</c:v>
              </c:pt>
              <c:pt idx="6">
                <c:v>-0.090051</c:v>
              </c:pt>
              <c:pt idx="7">
                <c:v>0.502384</c:v>
              </c:pt>
              <c:pt idx="8">
                <c:v>1.512725</c:v>
              </c:pt>
              <c:pt idx="9">
                <c:v>-0.70615</c:v>
              </c:pt>
              <c:pt idx="10">
                <c:v>-0.084481</c:v>
              </c:pt>
              <c:pt idx="11">
                <c:v>-0.674366</c:v>
              </c:pt>
              <c:pt idx="12">
                <c:v>1.037276</c:v>
              </c:pt>
              <c:pt idx="13">
                <c:v>1.769364</c:v>
              </c:pt>
              <c:pt idx="14">
                <c:v>0.653606</c:v>
              </c:pt>
              <c:pt idx="15">
                <c:v>1.331206</c:v>
              </c:pt>
              <c:pt idx="16">
                <c:v>-0.162944</c:v>
              </c:pt>
              <c:pt idx="17">
                <c:v>-2.028587</c:v>
              </c:pt>
              <c:pt idx="18">
                <c:v>-1.894807</c:v>
              </c:pt>
              <c:pt idx="19">
                <c:v>-0.224342</c:v>
              </c:pt>
              <c:pt idx="20">
                <c:v>-0.727864</c:v>
              </c:pt>
              <c:pt idx="21">
                <c:v>-0.051989</c:v>
              </c:pt>
              <c:pt idx="22">
                <c:v>-1.020888</c:v>
              </c:pt>
              <c:pt idx="23">
                <c:v>0.504533</c:v>
              </c:pt>
              <c:pt idx="24">
                <c:v>-0.142917</c:v>
              </c:pt>
              <c:pt idx="25">
                <c:v>0.120616</c:v>
              </c:pt>
              <c:pt idx="26">
                <c:v>-0.161109</c:v>
              </c:pt>
              <c:pt idx="27">
                <c:v>0.549847</c:v>
              </c:pt>
              <c:pt idx="28">
                <c:v>-0.377124</c:v>
              </c:pt>
              <c:pt idx="29">
                <c:v>-0.2352</c:v>
              </c:pt>
              <c:pt idx="30">
                <c:v>-1.668056</c:v>
              </c:pt>
              <c:pt idx="31">
                <c:v>-0.307283</c:v>
              </c:pt>
              <c:pt idx="32">
                <c:v>0.613796</c:v>
              </c:pt>
              <c:pt idx="33">
                <c:v>0.780404</c:v>
              </c:pt>
              <c:pt idx="34">
                <c:v>1.130832</c:v>
              </c:pt>
              <c:pt idx="35">
                <c:v>1.226219</c:v>
              </c:pt>
              <c:pt idx="36">
                <c:v>2.230704</c:v>
              </c:pt>
              <c:pt idx="37">
                <c:v>2.112629</c:v>
              </c:pt>
              <c:pt idx="38">
                <c:v>-0.013101</c:v>
              </c:pt>
              <c:pt idx="39">
                <c:v>1.009634</c:v>
              </c:pt>
              <c:pt idx="40">
                <c:v>0.186001</c:v>
              </c:pt>
              <c:pt idx="41">
                <c:v>-0.277091</c:v>
              </c:pt>
              <c:pt idx="42">
                <c:v>0.662209</c:v>
              </c:pt>
              <c:pt idx="43">
                <c:v>1.303807</c:v>
              </c:pt>
              <c:pt idx="44">
                <c:v>1.141296</c:v>
              </c:pt>
              <c:pt idx="45">
                <c:v>-0.63783</c:v>
              </c:pt>
              <c:pt idx="46">
                <c:v>-0.410707</c:v>
              </c:pt>
              <c:pt idx="47">
                <c:v>0.076815</c:v>
              </c:pt>
              <c:pt idx="48">
                <c:v>0.222679</c:v>
              </c:pt>
              <c:pt idx="49">
                <c:v>0.273338</c:v>
              </c:pt>
              <c:pt idx="50">
                <c:v>0.941804</c:v>
              </c:pt>
              <c:pt idx="51">
                <c:v>-1.572288</c:v>
              </c:pt>
              <c:pt idx="52">
                <c:v>0.369959</c:v>
              </c:pt>
              <c:pt idx="53">
                <c:v>-0.945094</c:v>
              </c:pt>
              <c:pt idx="54">
                <c:v>-1.133268</c:v>
              </c:pt>
              <c:pt idx="55">
                <c:v>0.219075</c:v>
              </c:pt>
              <c:pt idx="56">
                <c:v>0.028555</c:v>
              </c:pt>
              <c:pt idx="57">
                <c:v>0.813782</c:v>
              </c:pt>
              <c:pt idx="58">
                <c:v>0.283186</c:v>
              </c:pt>
              <c:pt idx="59">
                <c:v>-0.908656</c:v>
              </c:pt>
              <c:pt idx="60">
                <c:v>0.057258</c:v>
              </c:pt>
              <c:pt idx="61">
                <c:v>-0.215737</c:v>
              </c:pt>
              <c:pt idx="62">
                <c:v>0.584788</c:v>
              </c:pt>
              <c:pt idx="63">
                <c:v>-1.12573</c:v>
              </c:pt>
              <c:pt idx="64">
                <c:v>0.984108</c:v>
              </c:pt>
              <c:pt idx="65">
                <c:v>0.425171</c:v>
              </c:pt>
              <c:pt idx="66">
                <c:v>-0.8201</c:v>
              </c:pt>
              <c:pt idx="67">
                <c:v>1.317465</c:v>
              </c:pt>
              <c:pt idx="68">
                <c:v>-0.633456</c:v>
              </c:pt>
              <c:pt idx="69">
                <c:v>-0.407901</c:v>
              </c:pt>
              <c:pt idx="70">
                <c:v>1.197913</c:v>
              </c:pt>
              <c:pt idx="71">
                <c:v>0.286897</c:v>
              </c:pt>
              <c:pt idx="72">
                <c:v>0.870457</c:v>
              </c:pt>
              <c:pt idx="73">
                <c:v>1.408735</c:v>
              </c:pt>
              <c:pt idx="74">
                <c:v>-1.675171</c:v>
              </c:pt>
              <c:pt idx="75">
                <c:v>0.255864</c:v>
              </c:pt>
              <c:pt idx="76">
                <c:v>0.508106</c:v>
              </c:pt>
              <c:pt idx="77">
                <c:v>-1.313651</c:v>
              </c:pt>
              <c:pt idx="78">
                <c:v>-0.990097</c:v>
              </c:pt>
              <c:pt idx="79">
                <c:v>-0.568813</c:v>
              </c:pt>
              <c:pt idx="80">
                <c:v>1.526273</c:v>
              </c:pt>
              <c:pt idx="81">
                <c:v>0.972972</c:v>
              </c:pt>
              <c:pt idx="82">
                <c:v>-0.836034</c:v>
              </c:pt>
              <c:pt idx="83">
                <c:v>-1.078385</c:v>
              </c:pt>
              <c:pt idx="84">
                <c:v>0.685447</c:v>
              </c:pt>
              <c:pt idx="85">
                <c:v>-0.164052</c:v>
              </c:pt>
              <c:pt idx="86">
                <c:v>-0.752642</c:v>
              </c:pt>
              <c:pt idx="87">
                <c:v>-0.472211</c:v>
              </c:pt>
              <c:pt idx="88">
                <c:v>1.601215</c:v>
              </c:pt>
              <c:pt idx="89">
                <c:v>0.214002</c:v>
              </c:pt>
              <c:pt idx="90">
                <c:v>-0.278752</c:v>
              </c:pt>
              <c:pt idx="91">
                <c:v>1.234263</c:v>
              </c:pt>
              <c:pt idx="92">
                <c:v>1.92473</c:v>
              </c:pt>
              <c:pt idx="93">
                <c:v>0.843673</c:v>
              </c:pt>
              <c:pt idx="94">
                <c:v>-2.034829</c:v>
              </c:pt>
              <c:pt idx="95">
                <c:v>-0.478459</c:v>
              </c:pt>
              <c:pt idx="96">
                <c:v>-0.814649</c:v>
              </c:pt>
              <c:pt idx="97">
                <c:v>0.127463</c:v>
              </c:pt>
              <c:pt idx="98">
                <c:v>-0.459837</c:v>
              </c:pt>
              <c:pt idx="99">
                <c:v>0.390206</c:v>
              </c:pt>
              <c:pt idx="100">
                <c:v>-1.20313</c:v>
              </c:pt>
              <c:pt idx="101">
                <c:v>1.283847</c:v>
              </c:pt>
              <c:pt idx="102">
                <c:v>2.424427</c:v>
              </c:pt>
              <c:pt idx="103">
                <c:v>2.189515</c:v>
              </c:pt>
              <c:pt idx="104">
                <c:v>-0.028805</c:v>
              </c:pt>
              <c:pt idx="105">
                <c:v>0.73606</c:v>
              </c:pt>
              <c:pt idx="106">
                <c:v>1.549079</c:v>
              </c:pt>
              <c:pt idx="107">
                <c:v>0.067017</c:v>
              </c:pt>
              <c:pt idx="108">
                <c:v>1.281344</c:v>
              </c:pt>
              <c:pt idx="109">
                <c:v>-0.170186</c:v>
              </c:pt>
              <c:pt idx="110">
                <c:v>-1.016311</c:v>
              </c:pt>
              <c:pt idx="111">
                <c:v>-0.443433</c:v>
              </c:pt>
              <c:pt idx="112">
                <c:v>-0.373239</c:v>
              </c:pt>
              <c:pt idx="113">
                <c:v>0.010513</c:v>
              </c:pt>
              <c:pt idx="114">
                <c:v>-1.690876</c:v>
              </c:pt>
              <c:pt idx="115">
                <c:v>-0.03426</c:v>
              </c:pt>
              <c:pt idx="116">
                <c:v>-0.509897</c:v>
              </c:pt>
              <c:pt idx="117">
                <c:v>-1.226315</c:v>
              </c:pt>
              <c:pt idx="118">
                <c:v>0.710369</c:v>
              </c:pt>
              <c:pt idx="119">
                <c:v>0.113212</c:v>
              </c:pt>
              <c:pt idx="120">
                <c:v>0.449654</c:v>
              </c:pt>
              <c:pt idx="121">
                <c:v>0.122708</c:v>
              </c:pt>
              <c:pt idx="122">
                <c:v>-0.033254</c:v>
              </c:pt>
              <c:pt idx="123">
                <c:v>-0.854602</c:v>
              </c:pt>
              <c:pt idx="124">
                <c:v>-1.096321</c:v>
              </c:pt>
              <c:pt idx="125">
                <c:v>-0.791231</c:v>
              </c:pt>
              <c:pt idx="126">
                <c:v>-1.215564</c:v>
              </c:pt>
              <c:pt idx="127">
                <c:v>-0.552292</c:v>
              </c:pt>
              <c:pt idx="128">
                <c:v>-0.997034</c:v>
              </c:pt>
              <c:pt idx="129">
                <c:v>0.382873</c:v>
              </c:pt>
              <c:pt idx="130">
                <c:v>-0.776463</c:v>
              </c:pt>
              <c:pt idx="131">
                <c:v>-0.251258</c:v>
              </c:pt>
              <c:pt idx="132">
                <c:v>-0.665515</c:v>
              </c:pt>
              <c:pt idx="133">
                <c:v>0.565422</c:v>
              </c:pt>
              <c:pt idx="134">
                <c:v>-0.552297</c:v>
              </c:pt>
              <c:pt idx="135">
                <c:v>2.221928</c:v>
              </c:pt>
              <c:pt idx="136">
                <c:v>0.493764</c:v>
              </c:pt>
              <c:pt idx="137">
                <c:v>0.408449</c:v>
              </c:pt>
              <c:pt idx="138">
                <c:v>0.500988</c:v>
              </c:pt>
              <c:pt idx="139">
                <c:v>0.04588</c:v>
              </c:pt>
              <c:pt idx="140">
                <c:v>0.467626</c:v>
              </c:pt>
              <c:pt idx="141">
                <c:v>1.081339</c:v>
              </c:pt>
              <c:pt idx="142">
                <c:v>0.089481</c:v>
              </c:pt>
              <c:pt idx="143">
                <c:v>0.249266</c:v>
              </c:pt>
              <c:pt idx="144">
                <c:v>0.311052</c:v>
              </c:pt>
              <c:pt idx="145">
                <c:v>-0.379915</c:v>
              </c:pt>
              <c:pt idx="146">
                <c:v>-0.773705</c:v>
              </c:pt>
              <c:pt idx="147">
                <c:v>1.450531</c:v>
              </c:pt>
              <c:pt idx="148">
                <c:v>-0.501182</c:v>
              </c:pt>
              <c:pt idx="149">
                <c:v>-0.691778</c:v>
              </c:pt>
              <c:pt idx="150">
                <c:v>-0.311987</c:v>
              </c:pt>
              <c:pt idx="151">
                <c:v>-1.4942</c:v>
              </c:pt>
              <c:pt idx="152">
                <c:v>0.739239</c:v>
              </c:pt>
              <c:pt idx="153">
                <c:v>1.432132</c:v>
              </c:pt>
              <c:pt idx="154">
                <c:v>-0.721068</c:v>
              </c:pt>
              <c:pt idx="155">
                <c:v>0.209718</c:v>
              </c:pt>
              <c:pt idx="156">
                <c:v>-0.535907</c:v>
              </c:pt>
              <c:pt idx="157">
                <c:v>1.769635</c:v>
              </c:pt>
              <c:pt idx="158">
                <c:v>1.354479</c:v>
              </c:pt>
              <c:pt idx="159">
                <c:v>0.21633</c:v>
              </c:pt>
              <c:pt idx="160">
                <c:v>0.100431</c:v>
              </c:pt>
              <c:pt idx="161">
                <c:v>-0.137746</c:v>
              </c:pt>
              <c:pt idx="162">
                <c:v>-0.314014</c:v>
              </c:pt>
              <c:pt idx="163">
                <c:v>-0.224873</c:v>
              </c:pt>
              <c:pt idx="164">
                <c:v>-0.983698</c:v>
              </c:pt>
              <c:pt idx="165">
                <c:v>1.766961</c:v>
              </c:pt>
              <c:pt idx="166">
                <c:v>-0.197007</c:v>
              </c:pt>
              <c:pt idx="167">
                <c:v>1.622803</c:v>
              </c:pt>
              <c:pt idx="168">
                <c:v>-0.101622</c:v>
              </c:pt>
              <c:pt idx="169">
                <c:v>0.125381</c:v>
              </c:pt>
              <c:pt idx="170">
                <c:v>0.837147</c:v>
              </c:pt>
              <c:pt idx="171">
                <c:v>0.076562</c:v>
              </c:pt>
              <c:pt idx="172">
                <c:v>1.477819</c:v>
              </c:pt>
              <c:pt idx="173">
                <c:v>-0.111524</c:v>
              </c:pt>
              <c:pt idx="174">
                <c:v>1.988519</c:v>
              </c:pt>
              <c:pt idx="175">
                <c:v>-0.64339</c:v>
              </c:pt>
              <c:pt idx="176">
                <c:v>0.765569</c:v>
              </c:pt>
              <c:pt idx="177">
                <c:v>2.098938</c:v>
              </c:pt>
              <c:pt idx="178">
                <c:v>0.123359</c:v>
              </c:pt>
              <c:pt idx="179">
                <c:v>0.442992</c:v>
              </c:pt>
            </c:numLit>
          </c:xVal>
          <c:yVal>
            <c:numLit>
              <c:formatCode>0.0</c:formatCode>
              <c:ptCount val="180"/>
              <c:pt idx="0">
                <c:v>-1.207679</c:v>
              </c:pt>
              <c:pt idx="1">
                <c:v>0.064766</c:v>
              </c:pt>
              <c:pt idx="2">
                <c:v>-1.570259</c:v>
              </c:pt>
              <c:pt idx="3">
                <c:v>1.384693</c:v>
              </c:pt>
              <c:pt idx="4">
                <c:v>0.135435</c:v>
              </c:pt>
              <c:pt idx="5">
                <c:v>0.396892</c:v>
              </c:pt>
              <c:pt idx="6">
                <c:v>-0.730289</c:v>
              </c:pt>
              <c:pt idx="7">
                <c:v>-0.825686</c:v>
              </c:pt>
              <c:pt idx="8">
                <c:v>1.674796</c:v>
              </c:pt>
              <c:pt idx="9">
                <c:v>-1.352148</c:v>
              </c:pt>
              <c:pt idx="10">
                <c:v>0.42007</c:v>
              </c:pt>
              <c:pt idx="11">
                <c:v>-0.184197</c:v>
              </c:pt>
              <c:pt idx="12">
                <c:v>0.28811</c:v>
              </c:pt>
              <c:pt idx="13">
                <c:v>1.246442</c:v>
              </c:pt>
              <c:pt idx="14">
                <c:v>-0.09393</c:v>
              </c:pt>
              <c:pt idx="15">
                <c:v>1.246966</c:v>
              </c:pt>
              <c:pt idx="16">
                <c:v>0.795496</c:v>
              </c:pt>
              <c:pt idx="17">
                <c:v>-1.356663</c:v>
              </c:pt>
              <c:pt idx="18">
                <c:v>-0.769399</c:v>
              </c:pt>
              <c:pt idx="19">
                <c:v>0.947518</c:v>
              </c:pt>
              <c:pt idx="20">
                <c:v>-0.892739</c:v>
              </c:pt>
              <c:pt idx="21">
                <c:v>0.225308</c:v>
              </c:pt>
              <c:pt idx="22">
                <c:v>-1.247125</c:v>
              </c:pt>
              <c:pt idx="23">
                <c:v>1.434449</c:v>
              </c:pt>
              <c:pt idx="24">
                <c:v>0.054992</c:v>
              </c:pt>
              <c:pt idx="25">
                <c:v>0.813956</c:v>
              </c:pt>
              <c:pt idx="26">
                <c:v>-0.488947</c:v>
              </c:pt>
              <c:pt idx="27">
                <c:v>0.348582</c:v>
              </c:pt>
              <c:pt idx="28">
                <c:v>-1.215141</c:v>
              </c:pt>
              <c:pt idx="29">
                <c:v>-0.499056</c:v>
              </c:pt>
              <c:pt idx="30">
                <c:v>-0.974715</c:v>
              </c:pt>
              <c:pt idx="31">
                <c:v>0.302907</c:v>
              </c:pt>
              <c:pt idx="32">
                <c:v>1.292589</c:v>
              </c:pt>
              <c:pt idx="33">
                <c:v>-0.220465</c:v>
              </c:pt>
              <c:pt idx="34">
                <c:v>1.463912</c:v>
              </c:pt>
              <c:pt idx="35">
                <c:v>1.979694</c:v>
              </c:pt>
              <c:pt idx="36">
                <c:v>2.466763</c:v>
              </c:pt>
              <c:pt idx="37">
                <c:v>1.685241</c:v>
              </c:pt>
              <c:pt idx="38">
                <c:v>0.787442</c:v>
              </c:pt>
              <c:pt idx="39">
                <c:v>0.790908</c:v>
              </c:pt>
              <c:pt idx="40">
                <c:v>0.820316</c:v>
              </c:pt>
              <c:pt idx="41">
                <c:v>-0.618638</c:v>
              </c:pt>
              <c:pt idx="42">
                <c:v>0.308311</c:v>
              </c:pt>
              <c:pt idx="43">
                <c:v>0.703703</c:v>
              </c:pt>
              <c:pt idx="44">
                <c:v>-0.524314</c:v>
              </c:pt>
              <c:pt idx="45">
                <c:v>-0.138807</c:v>
              </c:pt>
              <c:pt idx="46">
                <c:v>-0.491427</c:v>
              </c:pt>
              <c:pt idx="47">
                <c:v>-0.972111</c:v>
              </c:pt>
              <c:pt idx="48">
                <c:v>-0.006774</c:v>
              </c:pt>
              <c:pt idx="49">
                <c:v>-0.189362</c:v>
              </c:pt>
              <c:pt idx="50">
                <c:v>1.509903</c:v>
              </c:pt>
              <c:pt idx="51">
                <c:v>-1.250143</c:v>
              </c:pt>
              <c:pt idx="52">
                <c:v>0.631667</c:v>
              </c:pt>
              <c:pt idx="53">
                <c:v>-1.688817</c:v>
              </c:pt>
              <c:pt idx="54">
                <c:v>-0.694026</c:v>
              </c:pt>
              <c:pt idx="55">
                <c:v>-1.48701</c:v>
              </c:pt>
              <c:pt idx="56">
                <c:v>-0.19868</c:v>
              </c:pt>
              <c:pt idx="57">
                <c:v>1.791275</c:v>
              </c:pt>
              <c:pt idx="58">
                <c:v>-1.243</c:v>
              </c:pt>
              <c:pt idx="59">
                <c:v>-0.898429</c:v>
              </c:pt>
              <c:pt idx="60">
                <c:v>-0.629558</c:v>
              </c:pt>
              <c:pt idx="61">
                <c:v>-0.616208</c:v>
              </c:pt>
              <c:pt idx="62">
                <c:v>1.007541</c:v>
              </c:pt>
              <c:pt idx="63">
                <c:v>-1.460317</c:v>
              </c:pt>
              <c:pt idx="64">
                <c:v>0.975727</c:v>
              </c:pt>
              <c:pt idx="65">
                <c:v>1.366773</c:v>
              </c:pt>
              <c:pt idx="66">
                <c:v>-0.681053</c:v>
              </c:pt>
              <c:pt idx="67">
                <c:v>0.993109</c:v>
              </c:pt>
              <c:pt idx="68">
                <c:v>-0.330262</c:v>
              </c:pt>
              <c:pt idx="69">
                <c:v>-0.430713</c:v>
              </c:pt>
              <c:pt idx="70">
                <c:v>1.293828</c:v>
              </c:pt>
              <c:pt idx="71">
                <c:v>0.024272</c:v>
              </c:pt>
              <c:pt idx="72">
                <c:v>0.659677</c:v>
              </c:pt>
              <c:pt idx="73">
                <c:v>-0.33779</c:v>
              </c:pt>
              <c:pt idx="74">
                <c:v>-1.213409</c:v>
              </c:pt>
              <c:pt idx="75">
                <c:v>0.165688</c:v>
              </c:pt>
              <c:pt idx="76">
                <c:v>-0.676667</c:v>
              </c:pt>
              <c:pt idx="77">
                <c:v>-1.544757</c:v>
              </c:pt>
              <c:pt idx="78">
                <c:v>-0.774826</c:v>
              </c:pt>
              <c:pt idx="79">
                <c:v>0.367864</c:v>
              </c:pt>
              <c:pt idx="80">
                <c:v>1.048536</c:v>
              </c:pt>
              <c:pt idx="81">
                <c:v>0.738652</c:v>
              </c:pt>
              <c:pt idx="82">
                <c:v>-0.476053</c:v>
              </c:pt>
              <c:pt idx="83">
                <c:v>0.162373</c:v>
              </c:pt>
              <c:pt idx="84">
                <c:v>0.658103</c:v>
              </c:pt>
              <c:pt idx="85">
                <c:v>-0.06447</c:v>
              </c:pt>
              <c:pt idx="86">
                <c:v>-0.410943</c:v>
              </c:pt>
              <c:pt idx="87">
                <c:v>-0.346004</c:v>
              </c:pt>
              <c:pt idx="88">
                <c:v>0.868093</c:v>
              </c:pt>
              <c:pt idx="89">
                <c:v>-0.886069</c:v>
              </c:pt>
              <c:pt idx="90">
                <c:v>-0.770308</c:v>
              </c:pt>
              <c:pt idx="91">
                <c:v>1.698136</c:v>
              </c:pt>
              <c:pt idx="92">
                <c:v>2.326309</c:v>
              </c:pt>
              <c:pt idx="93">
                <c:v>-0.686001</c:v>
              </c:pt>
              <c:pt idx="94">
                <c:v>-2.132552</c:v>
              </c:pt>
              <c:pt idx="95">
                <c:v>-0.200536</c:v>
              </c:pt>
              <c:pt idx="96">
                <c:v>-0.419482</c:v>
              </c:pt>
              <c:pt idx="97">
                <c:v>0.280446</c:v>
              </c:pt>
              <c:pt idx="98">
                <c:v>-0.891222</c:v>
              </c:pt>
              <c:pt idx="99">
                <c:v>-1.617071</c:v>
              </c:pt>
              <c:pt idx="100">
                <c:v>-1.210563</c:v>
              </c:pt>
              <c:pt idx="101">
                <c:v>0.629868</c:v>
              </c:pt>
              <c:pt idx="102">
                <c:v>1.536184</c:v>
              </c:pt>
              <c:pt idx="103">
                <c:v>2.328331</c:v>
              </c:pt>
              <c:pt idx="104">
                <c:v>0.66004</c:v>
              </c:pt>
              <c:pt idx="105">
                <c:v>1.364959</c:v>
              </c:pt>
              <c:pt idx="106">
                <c:v>0.828327</c:v>
              </c:pt>
              <c:pt idx="107">
                <c:v>0.42019</c:v>
              </c:pt>
              <c:pt idx="108">
                <c:v>-0.411046</c:v>
              </c:pt>
              <c:pt idx="109">
                <c:v>-0.282025</c:v>
              </c:pt>
              <c:pt idx="110">
                <c:v>-0.16105</c:v>
              </c:pt>
              <c:pt idx="111">
                <c:v>-0.921979</c:v>
              </c:pt>
              <c:pt idx="112">
                <c:v>0.160909</c:v>
              </c:pt>
              <c:pt idx="113">
                <c:v>-0.084663</c:v>
              </c:pt>
              <c:pt idx="114">
                <c:v>-1.133058</c:v>
              </c:pt>
              <c:pt idx="115">
                <c:v>-1.456001</c:v>
              </c:pt>
              <c:pt idx="116">
                <c:v>0.364198</c:v>
              </c:pt>
              <c:pt idx="117">
                <c:v>0.321771</c:v>
              </c:pt>
              <c:pt idx="118">
                <c:v>-0.090161</c:v>
              </c:pt>
              <c:pt idx="119">
                <c:v>-0.974607</c:v>
              </c:pt>
              <c:pt idx="120">
                <c:v>0.958443</c:v>
              </c:pt>
              <c:pt idx="121">
                <c:v>0.812339</c:v>
              </c:pt>
              <c:pt idx="122">
                <c:v>0.347138</c:v>
              </c:pt>
              <c:pt idx="123">
                <c:v>-1.729596</c:v>
              </c:pt>
              <c:pt idx="124">
                <c:v>-0.41609</c:v>
              </c:pt>
              <c:pt idx="125">
                <c:v>-1.124611</c:v>
              </c:pt>
              <c:pt idx="126">
                <c:v>-1.424591</c:v>
              </c:pt>
              <c:pt idx="127">
                <c:v>-0.227873</c:v>
              </c:pt>
              <c:pt idx="128">
                <c:v>0.009425</c:v>
              </c:pt>
              <c:pt idx="129">
                <c:v>0.294201</c:v>
              </c:pt>
              <c:pt idx="130">
                <c:v>-0.954002</c:v>
              </c:pt>
              <c:pt idx="131">
                <c:v>-0.643453</c:v>
              </c:pt>
              <c:pt idx="132">
                <c:v>-0.620035</c:v>
              </c:pt>
              <c:pt idx="133">
                <c:v>-0.119723</c:v>
              </c:pt>
              <c:pt idx="134">
                <c:v>-0.141193</c:v>
              </c:pt>
              <c:pt idx="135">
                <c:v>1.947863</c:v>
              </c:pt>
              <c:pt idx="136">
                <c:v>-0.17544</c:v>
              </c:pt>
              <c:pt idx="137">
                <c:v>0.229376</c:v>
              </c:pt>
              <c:pt idx="138">
                <c:v>0.110527</c:v>
              </c:pt>
              <c:pt idx="139">
                <c:v>0.759531</c:v>
              </c:pt>
              <c:pt idx="140">
                <c:v>-0.362518</c:v>
              </c:pt>
              <c:pt idx="141">
                <c:v>0.652581</c:v>
              </c:pt>
              <c:pt idx="142">
                <c:v>0.086383</c:v>
              </c:pt>
              <c:pt idx="143">
                <c:v>0.589134</c:v>
              </c:pt>
              <c:pt idx="144">
                <c:v>-1.418022</c:v>
              </c:pt>
              <c:pt idx="145">
                <c:v>0.59242</c:v>
              </c:pt>
              <c:pt idx="146">
                <c:v>-0.133603</c:v>
              </c:pt>
              <c:pt idx="147">
                <c:v>0.658893</c:v>
              </c:pt>
              <c:pt idx="148">
                <c:v>-0.279656</c:v>
              </c:pt>
              <c:pt idx="149">
                <c:v>-1.264674</c:v>
              </c:pt>
              <c:pt idx="150">
                <c:v>0.129999</c:v>
              </c:pt>
              <c:pt idx="151">
                <c:v>-2.310391</c:v>
              </c:pt>
              <c:pt idx="152">
                <c:v>0.244633</c:v>
              </c:pt>
              <c:pt idx="153">
                <c:v>1.75186</c:v>
              </c:pt>
              <c:pt idx="154">
                <c:v>-0.397619</c:v>
              </c:pt>
              <c:pt idx="155">
                <c:v>0.991293</c:v>
              </c:pt>
              <c:pt idx="156">
                <c:v>0.065839</c:v>
              </c:pt>
              <c:pt idx="157">
                <c:v>1.603367</c:v>
              </c:pt>
              <c:pt idx="158">
                <c:v>1.340417</c:v>
              </c:pt>
              <c:pt idx="159">
                <c:v>0.856541</c:v>
              </c:pt>
              <c:pt idx="160">
                <c:v>0.368811</c:v>
              </c:pt>
              <c:pt idx="161">
                <c:v>-0.379281</c:v>
              </c:pt>
              <c:pt idx="162">
                <c:v>-0.384054</c:v>
              </c:pt>
              <c:pt idx="163">
                <c:v>1.005433</c:v>
              </c:pt>
              <c:pt idx="164">
                <c:v>-0.75666</c:v>
              </c:pt>
              <c:pt idx="165">
                <c:v>0.951366</c:v>
              </c:pt>
              <c:pt idx="166">
                <c:v>-0.220448</c:v>
              </c:pt>
              <c:pt idx="167">
                <c:v>0.511093</c:v>
              </c:pt>
              <c:pt idx="168">
                <c:v>0.096636</c:v>
              </c:pt>
              <c:pt idx="169">
                <c:v>-0.448288</c:v>
              </c:pt>
              <c:pt idx="170">
                <c:v>1.480219</c:v>
              </c:pt>
              <c:pt idx="171">
                <c:v>-0.126432</c:v>
              </c:pt>
              <c:pt idx="172">
                <c:v>0.530964</c:v>
              </c:pt>
              <c:pt idx="173">
                <c:v>0.840949</c:v>
              </c:pt>
              <c:pt idx="174">
                <c:v>0.947136</c:v>
              </c:pt>
              <c:pt idx="175">
                <c:v>-0.735994</c:v>
              </c:pt>
              <c:pt idx="176">
                <c:v>0.166476</c:v>
              </c:pt>
              <c:pt idx="177">
                <c:v>1.400589</c:v>
              </c:pt>
              <c:pt idx="178">
                <c:v>1.668163</c:v>
              </c:pt>
              <c:pt idx="179">
                <c:v>0.332434</c:v>
              </c:pt>
            </c:numLit>
          </c:yVal>
        </c:ser>
        <c:axId val="48650112"/>
        <c:axId val="48672768"/>
      </c:scatterChart>
      <c:valAx>
        <c:axId val="48672768"/>
        <c:scaling>
          <c:orientation val="minMax"/>
          <c:max val="4"/>
          <c:min val="-4"/>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置換する特徴 X₂</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4"/>
          <c:min val="-4"/>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残す特徴 X₁</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D6C025-1587-4B8E-8A23-E6969BE209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今回の進捗と発表の流れ</a:t>
            </a:r>
          </a:p>
        </p:txBody>
      </p:sp>
      <p:sp>
        <p:nvSpPr>
          <p:cNvPr id="2" name="">
            <a:extLst xmlns:a="http://schemas.openxmlformats.org/drawingml/2006/main">
              <a:ext uri="{FF2B5EF4-FFF2-40B4-BE49-F238E27FC236}">
                <a16:creationId xmlns:a16="http://schemas.microsoft.com/office/drawing/2014/main" id="{B2C4C3B0-ED78-4852-8BC2-741D2FB2236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54D40B-DB96-40C8-A760-8906B9716B3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前回決めた問題設定に対し、データ拡張の生成方法を具体化する。</a:t>
            </a:r>
          </a:p>
        </p:txBody>
      </p:sp>
      <p:sp>
        <p:nvSpPr>
          <p:cNvPr id="4" name="">
            <a:extLst xmlns:a="http://schemas.openxmlformats.org/drawingml/2006/main">
              <a:ext uri="{FF2B5EF4-FFF2-40B4-BE49-F238E27FC236}">
                <a16:creationId xmlns:a16="http://schemas.microsoft.com/office/drawing/2014/main" id="{834276C9-4E94-4C66-A23F-42588CEC0CA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BE831CB4-7C79-4D69-8CD7-34B3B251DC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sp>
        <p:nvSpPr>
          <p:cNvPr id="6" name="">
            <a:extLst xmlns:a="http://schemas.openxmlformats.org/drawingml/2006/main">
              <a:ext uri="{FF2B5EF4-FFF2-40B4-BE49-F238E27FC236}">
                <a16:creationId xmlns:a16="http://schemas.microsoft.com/office/drawing/2014/main" id="{FE439F46-FB97-4AB3-B57A-3A6F649C2ADC}"/>
              </a:ext>
            </a:extLst>
          </p:cNvPr>
          <p:cNvSpPr>
            <a:spLocks xmlns:a="http://schemas.openxmlformats.org/drawingml/2006/main" noGrp="1"/>
          </p:cNvSpPr>
          <p:nvPr/>
        </p:nvSpPr>
        <p:spPr>
          <a:xfrm xmlns:a="http://schemas.openxmlformats.org/drawingml/2006/main">
            <a:off x="552450" y="193357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FADD4BF-9A8A-44B4-BEA6-20BBAD5777C4}"/>
              </a:ext>
            </a:extLst>
          </p:cNvPr>
          <p:cNvSpPr>
            <a:spLocks xmlns:a="http://schemas.openxmlformats.org/drawingml/2006/main" noGrp="1"/>
          </p:cNvSpPr>
          <p:nvPr/>
        </p:nvSpPr>
        <p:spPr>
          <a:xfrm xmlns:a="http://schemas.openxmlformats.org/drawingml/2006/main">
            <a:off x="1257300" y="193357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具体例：列ごとの分布と、列どうしの関係を分ける</a:t>
            </a:r>
          </a:p>
        </p:txBody>
      </p:sp>
      <p:sp>
        <p:nvSpPr>
          <p:cNvPr id="8" name="">
            <a:extLst xmlns:a="http://schemas.openxmlformats.org/drawingml/2006/main">
              <a:ext uri="{FF2B5EF4-FFF2-40B4-BE49-F238E27FC236}">
                <a16:creationId xmlns:a16="http://schemas.microsoft.com/office/drawing/2014/main" id="{25031463-9253-4AAF-8107-24DF0D6010DF}"/>
              </a:ext>
            </a:extLst>
          </p:cNvPr>
          <p:cNvSpPr>
            <a:spLocks xmlns:a="http://schemas.openxmlformats.org/drawingml/2006/main" noGrp="1"/>
          </p:cNvSpPr>
          <p:nvPr/>
        </p:nvSpPr>
        <p:spPr>
          <a:xfrm xmlns:a="http://schemas.openxmlformats.org/drawingml/2006/main">
            <a:off x="552450" y="275510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8B2E03C-41F8-43CD-ADD4-42E15D6AFD73}"/>
              </a:ext>
            </a:extLst>
          </p:cNvPr>
          <p:cNvSpPr>
            <a:spLocks xmlns:a="http://schemas.openxmlformats.org/drawingml/2006/main" noGrp="1"/>
          </p:cNvSpPr>
          <p:nvPr/>
        </p:nvSpPr>
        <p:spPr>
          <a:xfrm xmlns:a="http://schemas.openxmlformats.org/drawingml/2006/main">
            <a:off x="1257300" y="275510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定義と原理：累積確率・コピュラ・Sklarの定理</a:t>
            </a:r>
          </a:p>
        </p:txBody>
      </p:sp>
      <p:sp>
        <p:nvSpPr>
          <p:cNvPr id="10" name="">
            <a:extLst xmlns:a="http://schemas.openxmlformats.org/drawingml/2006/main">
              <a:ext uri="{FF2B5EF4-FFF2-40B4-BE49-F238E27FC236}">
                <a16:creationId xmlns:a16="http://schemas.microsoft.com/office/drawing/2014/main" id="{0E2B9DC6-5098-4A70-BDF9-1E74C82C5CC2}"/>
              </a:ext>
            </a:extLst>
          </p:cNvPr>
          <p:cNvSpPr>
            <a:spLocks xmlns:a="http://schemas.openxmlformats.org/drawingml/2006/main" noGrp="1"/>
          </p:cNvSpPr>
          <p:nvPr/>
        </p:nvSpPr>
        <p:spPr>
          <a:xfrm xmlns:a="http://schemas.openxmlformats.org/drawingml/2006/main">
            <a:off x="552450" y="357663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EE6CBA6-583F-4DD6-BDB4-7C5D0E26BFAD}"/>
              </a:ext>
            </a:extLst>
          </p:cNvPr>
          <p:cNvSpPr>
            <a:spLocks xmlns:a="http://schemas.openxmlformats.org/drawingml/2006/main" noGrp="1"/>
          </p:cNvSpPr>
          <p:nvPr/>
        </p:nvSpPr>
        <p:spPr>
          <a:xfrm xmlns:a="http://schemas.openxmlformats.org/drawingml/2006/main">
            <a:off x="1257300" y="357663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提案への接続：条件付き生成で、VIMEの置換を変更</a:t>
            </a:r>
          </a:p>
        </p:txBody>
      </p:sp>
      <p:sp>
        <p:nvSpPr>
          <p:cNvPr id="12" name="">
            <a:extLst xmlns:a="http://schemas.openxmlformats.org/drawingml/2006/main">
              <a:ext uri="{FF2B5EF4-FFF2-40B4-BE49-F238E27FC236}">
                <a16:creationId xmlns:a16="http://schemas.microsoft.com/office/drawing/2014/main" id="{ADAFFF46-4BCC-4F4E-AEA0-E894992E2F50}"/>
              </a:ext>
            </a:extLst>
          </p:cNvPr>
          <p:cNvSpPr>
            <a:spLocks xmlns:a="http://schemas.openxmlformats.org/drawingml/2006/main" noGrp="1"/>
          </p:cNvSpPr>
          <p:nvPr/>
        </p:nvSpPr>
        <p:spPr>
          <a:xfrm xmlns:a="http://schemas.openxmlformats.org/drawingml/2006/main">
            <a:off x="552450" y="439816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873F94A-680A-46B3-927A-72B9646DF318}"/>
              </a:ext>
            </a:extLst>
          </p:cNvPr>
          <p:cNvSpPr>
            <a:spLocks xmlns:a="http://schemas.openxmlformats.org/drawingml/2006/main" noGrp="1"/>
          </p:cNvSpPr>
          <p:nvPr/>
        </p:nvSpPr>
        <p:spPr>
          <a:xfrm xmlns:a="http://schemas.openxmlformats.org/drawingml/2006/main">
            <a:off x="1257300" y="439816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現在の実装・探索的結果と、これから検証すること</a:t>
            </a:r>
          </a:p>
        </p:txBody>
      </p:sp>
      <p:sp>
        <p:nvSpPr>
          <p:cNvPr id="14" name="">
            <a:extLst xmlns:a="http://schemas.openxmlformats.org/drawingml/2006/main">
              <a:ext uri="{FF2B5EF4-FFF2-40B4-BE49-F238E27FC236}">
                <a16:creationId xmlns:a16="http://schemas.microsoft.com/office/drawing/2014/main" id="{889DD0BE-5918-4E5D-AFEA-EA5E33B0721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950DF4-BF3A-4F31-9AAE-9C888347669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本日の中心：コピュラを使う理由と、生成の手順を理解する</a:t>
            </a:r>
          </a:p>
        </p:txBody>
      </p:sp>
    </p:spTree>
    <p:extLst>
      <p:ext uri="{BB962C8B-B14F-4D97-AF65-F5344CB8AC3E}">
        <p14:creationId xmlns:p14="http://schemas.microsoft.com/office/powerpoint/2010/main" val="13473610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CAFC47-077C-4034-BBA6-3B1DD87BB6F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本研究で変えたい部分</a:t>
            </a:r>
          </a:p>
        </p:txBody>
      </p:sp>
      <p:sp>
        <p:nvSpPr>
          <p:cNvPr id="2" name="">
            <a:extLst xmlns:a="http://schemas.openxmlformats.org/drawingml/2006/main">
              <a:ext uri="{FF2B5EF4-FFF2-40B4-BE49-F238E27FC236}">
                <a16:creationId xmlns:a16="http://schemas.microsoft.com/office/drawing/2014/main" id="{F70CC858-9A43-40BD-913E-90CCE123CA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B0F4CC-D30B-4F1E-B0E8-C21C08F0C31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変える対象は「どの値で、マスクした特徴を置き換えるか」。</a:t>
            </a:r>
          </a:p>
        </p:txBody>
      </p:sp>
      <p:sp>
        <p:nvSpPr>
          <p:cNvPr id="4" name="">
            <a:extLst xmlns:a="http://schemas.openxmlformats.org/drawingml/2006/main">
              <a:ext uri="{FF2B5EF4-FFF2-40B4-BE49-F238E27FC236}">
                <a16:creationId xmlns:a16="http://schemas.microsoft.com/office/drawing/2014/main" id="{77B6FA18-E272-4686-B23C-4B24B3521F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研究の位置づけ</a:t>
            </a:r>
          </a:p>
        </p:txBody>
      </p:sp>
      <p:sp>
        <p:nvSpPr>
          <p:cNvPr id="5" name="">
            <a:extLst xmlns:a="http://schemas.openxmlformats.org/drawingml/2006/main">
              <a:ext uri="{FF2B5EF4-FFF2-40B4-BE49-F238E27FC236}">
                <a16:creationId xmlns:a16="http://schemas.microsoft.com/office/drawing/2014/main" id="{AE56D55D-40A2-4BBA-933E-84BC3019CCD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B519FC13-CF18-4983-8D4B-6BF7BD23AE61}"/>
              </a:ext>
            </a:extLst>
          </p:cNvPr>
          <p:cNvSpPr>
            <a:spLocks xmlns:a="http://schemas.openxmlformats.org/drawingml/2006/main" noGrp="1"/>
          </p:cNvSpPr>
          <p:nvPr/>
        </p:nvSpPr>
        <p:spPr>
          <a:xfrm xmlns:a="http://schemas.openxmlformats.org/drawingml/2006/main">
            <a:off x="514350" y="19812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AB9B51-6299-4B83-9BCF-F0FE936A8957}"/>
              </a:ext>
            </a:extLst>
          </p:cNvPr>
          <p:cNvSpPr>
            <a:spLocks xmlns:a="http://schemas.openxmlformats.org/drawingml/2006/main" noGrp="1"/>
          </p:cNvSpPr>
          <p:nvPr/>
        </p:nvSpPr>
        <p:spPr>
          <a:xfrm xmlns:a="http://schemas.openxmlformats.org/drawingml/2006/main">
            <a:off x="704850" y="20955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既存の置換</a:t>
            </a:r>
          </a:p>
        </p:txBody>
      </p:sp>
      <p:sp>
        <p:nvSpPr>
          <p:cNvPr id="8" name="">
            <a:extLst xmlns:a="http://schemas.openxmlformats.org/drawingml/2006/main">
              <a:ext uri="{FF2B5EF4-FFF2-40B4-BE49-F238E27FC236}">
                <a16:creationId xmlns:a16="http://schemas.microsoft.com/office/drawing/2014/main" id="{023F0A12-A1C1-4EBB-A7E2-9A8A9659FE61}"/>
              </a:ext>
            </a:extLst>
          </p:cNvPr>
          <p:cNvSpPr>
            <a:spLocks xmlns:a="http://schemas.openxmlformats.org/drawingml/2006/main" noGrp="1"/>
          </p:cNvSpPr>
          <p:nvPr/>
        </p:nvSpPr>
        <p:spPr>
          <a:xfrm xmlns:a="http://schemas.openxmlformats.org/drawingml/2006/main">
            <a:off x="704850" y="26479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身長は元の人のまま</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体重だけ別の人から取る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列の値はもっともらしくても、</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組合せは不自然になり得る。</a:t>
            </a:r>
          </a:p>
        </p:txBody>
      </p:sp>
      <p:sp>
        <p:nvSpPr>
          <p:cNvPr id="9" name="">
            <a:extLst xmlns:a="http://schemas.openxmlformats.org/drawingml/2006/main">
              <a:ext uri="{FF2B5EF4-FFF2-40B4-BE49-F238E27FC236}">
                <a16:creationId xmlns:a16="http://schemas.microsoft.com/office/drawing/2014/main" id="{702D34D6-9A1D-4394-AF3F-76C00C1A1F4D}"/>
              </a:ext>
            </a:extLst>
          </p:cNvPr>
          <p:cNvSpPr>
            <a:spLocks xmlns:a="http://schemas.openxmlformats.org/drawingml/2006/main" noGrp="1"/>
          </p:cNvSpPr>
          <p:nvPr/>
        </p:nvSpPr>
        <p:spPr>
          <a:xfrm xmlns:a="http://schemas.openxmlformats.org/drawingml/2006/main">
            <a:off x="6076950" y="19812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C72543-9B38-41E9-8BE5-A8B79A75A650}"/>
              </a:ext>
            </a:extLst>
          </p:cNvPr>
          <p:cNvSpPr>
            <a:spLocks xmlns:a="http://schemas.openxmlformats.org/drawingml/2006/main" noGrp="1"/>
          </p:cNvSpPr>
          <p:nvPr/>
        </p:nvSpPr>
        <p:spPr>
          <a:xfrm xmlns:a="http://schemas.openxmlformats.org/drawingml/2006/main">
            <a:off x="6267450" y="20955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今回の方針</a:t>
            </a:r>
          </a:p>
        </p:txBody>
      </p:sp>
      <p:sp>
        <p:nvSpPr>
          <p:cNvPr id="11" name="">
            <a:extLst xmlns:a="http://schemas.openxmlformats.org/drawingml/2006/main">
              <a:ext uri="{FF2B5EF4-FFF2-40B4-BE49-F238E27FC236}">
                <a16:creationId xmlns:a16="http://schemas.microsoft.com/office/drawing/2014/main" id="{10764E86-56F1-4638-B855-527E168EBA5B}"/>
              </a:ext>
            </a:extLst>
          </p:cNvPr>
          <p:cNvSpPr>
            <a:spLocks xmlns:a="http://schemas.openxmlformats.org/drawingml/2006/main" noGrp="1"/>
          </p:cNvSpPr>
          <p:nvPr/>
        </p:nvSpPr>
        <p:spPr>
          <a:xfrm xmlns:a="http://schemas.openxmlformats.org/drawingml/2006/main">
            <a:off x="6267450" y="26479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残す身長を条件にして、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それに合う体重の分布から取る。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ラベルなしの訓練データから</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変数間の関係を学習する。</a:t>
            </a:r>
          </a:p>
        </p:txBody>
      </p:sp>
      <p:sp>
        <p:nvSpPr>
          <p:cNvPr id="12" name="">
            <a:extLst xmlns:a="http://schemas.openxmlformats.org/drawingml/2006/main">
              <a:ext uri="{FF2B5EF4-FFF2-40B4-BE49-F238E27FC236}">
                <a16:creationId xmlns:a16="http://schemas.microsoft.com/office/drawing/2014/main" id="{FB9F6070-BD2E-4752-B042-A2B9E89B956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6884CE-25F0-40B5-9561-880ADFB5E9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検証する仮説：関係を考慮した置換が、表現学習に役立つか</a:t>
            </a:r>
          </a:p>
        </p:txBody>
      </p:sp>
    </p:spTree>
    <p:extLst>
      <p:ext uri="{BB962C8B-B14F-4D97-AF65-F5344CB8AC3E}">
        <p14:creationId xmlns:p14="http://schemas.microsoft.com/office/powerpoint/2010/main" val="18369690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9D900C-1BBD-42DA-BCE8-5AB3E64C01C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例：値を並べ替えると何が変わる？</a:t>
            </a:r>
          </a:p>
        </p:txBody>
      </p:sp>
      <p:sp>
        <p:nvSpPr>
          <p:cNvPr id="2" name="">
            <a:extLst xmlns:a="http://schemas.openxmlformats.org/drawingml/2006/main">
              <a:ext uri="{FF2B5EF4-FFF2-40B4-BE49-F238E27FC236}">
                <a16:creationId xmlns:a16="http://schemas.microsoft.com/office/drawing/2014/main" id="{2F0F72B4-FA9A-4B48-8269-A36892DC7C0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0F4203-D774-4216-9C88-91B4F81EA8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説明用の4人。同じ体重の値でも、身長との組合せで意味が変わる。</a:t>
            </a:r>
          </a:p>
        </p:txBody>
      </p:sp>
      <p:sp>
        <p:nvSpPr>
          <p:cNvPr id="4" name="">
            <a:extLst xmlns:a="http://schemas.openxmlformats.org/drawingml/2006/main">
              <a:ext uri="{FF2B5EF4-FFF2-40B4-BE49-F238E27FC236}">
                <a16:creationId xmlns:a16="http://schemas.microsoft.com/office/drawing/2014/main" id="{484EBAB1-F15D-4025-BB3B-C27C917B684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1E0004F8-F68D-4DD8-9CCC-2F8D083A72D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graphicFrame>
        <p:nvGraphicFramePr>
          <p:cNvPr id="14" name=""/>
          <p:cNvGraphicFramePr/>
          <p:nvPr/>
        </p:nvGraphicFramePr>
        <p:xfrm>
          <a:off xmlns:a="http://schemas.openxmlformats.org/drawingml/2006/main" x="514350" y="2076450"/>
          <a:ext xmlns:a="http://schemas.openxmlformats.org/drawingml/2006/main" cx="11163300" cy="3000375"/>
        </p:xfrm>
        <a:graphic xmlns:a="http://schemas.openxmlformats.org/drawingml/2006/main">
          <a:graphicData uri="http://schemas.openxmlformats.org/drawingml/2006/table">
            <a:tbl>
              <a:tblPr/>
              <a:tblGrid>
                <a:gridCol w="2790825"/>
                <a:gridCol w="2790825"/>
                <a:gridCol w="2790825"/>
                <a:gridCol w="2790825"/>
              </a:tblGrid>
              <a:tr h="600075">
                <a:tc>
                  <a:txBody>
                    <a:bodyPr/>
                    <a:lstStyle/>
                    <a:p>
                      <a:pPr algn="ctr"/>
                      <a:r>
                        <a:rPr sz="2175" b="1">
                          <a:solidFill>
                            <a:srgbClr val="2E7D5B"/>
                          </a:solidFill>
                          <a:latin typeface="Noto Sans JP"/>
                          <a:ea typeface="Noto Sans JP"/>
                          <a:cs typeface="Noto Sans JP"/>
                        </a:rPr>
                        <a:t>人</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身長（cm）</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元の体重（kg）</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並べ替え後（kg）</a:t>
                      </a:r>
                    </a:p>
                  </a:txBody>
                  <a:tcPr marL="91440" marR="91440" marT="45720" marB="45720" anchor="ctr">
                    <a:solidFill>
                      <a:srgbClr val="E7F2EC"/>
                    </a:solidFill>
                  </a:tcPr>
                </a:tc>
              </a:tr>
              <a:tr h="600075">
                <a:tc>
                  <a:txBody>
                    <a:bodyPr/>
                    <a:lstStyle/>
                    <a:p>
                      <a:pPr algn="ctr"/>
                      <a:r>
                        <a:rPr sz="21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6F6F6"/>
                    </a:solidFill>
                  </a:tcPr>
                </a:tc>
              </a:tr>
              <a:tr h="600075">
                <a:tc>
                  <a:txBody>
                    <a:bodyPr/>
                    <a:lstStyle/>
                    <a:p>
                      <a:pPr algn="ctr"/>
                      <a:r>
                        <a:rPr sz="21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68</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57</a:t>
                      </a:r>
                    </a:p>
                  </a:txBody>
                  <a:tcPr marL="91440" marR="91440" marT="45720" marB="45720" anchor="ctr">
                    <a:solidFill>
                      <a:srgbClr val="FFFFFF"/>
                    </a:solidFill>
                  </a:tcPr>
                </a:tc>
              </a:tr>
              <a:tr h="600075">
                <a:tc>
                  <a:txBody>
                    <a:bodyPr/>
                    <a:lstStyle/>
                    <a:p>
                      <a:pPr algn="ctr"/>
                      <a:r>
                        <a:rPr sz="21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185</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82</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48</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CC21DEE-F41A-41E8-8AB7-F4AA84FEBF4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A50996-334B-485D-9A3E-3263E63220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各列の「値の集合」は同じでも、行の「組合せ」は違う</a:t>
            </a:r>
          </a:p>
        </p:txBody>
      </p:sp>
    </p:spTree>
    <p:extLst>
      <p:ext uri="{BB962C8B-B14F-4D97-AF65-F5344CB8AC3E}">
        <p14:creationId xmlns:p14="http://schemas.microsoft.com/office/powerpoint/2010/main" val="206247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631F283-6250-4313-BCC0-D2E0CEDDDF1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「分けて表す」とは何か</a:t>
            </a:r>
          </a:p>
        </p:txBody>
      </p:sp>
      <p:sp>
        <p:nvSpPr>
          <p:cNvPr id="2" name="">
            <a:extLst xmlns:a="http://schemas.openxmlformats.org/drawingml/2006/main">
              <a:ext uri="{FF2B5EF4-FFF2-40B4-BE49-F238E27FC236}">
                <a16:creationId xmlns:a16="http://schemas.microsoft.com/office/drawing/2014/main" id="{C4FB8631-E31F-4A3D-B2A4-280C4E20920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AFE2A7-D7F2-4022-887A-63C6F32D945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別々に保管するのは、各列の値の分布と、位置どうしの組合せ。</a:t>
            </a:r>
          </a:p>
        </p:txBody>
      </p:sp>
      <p:sp>
        <p:nvSpPr>
          <p:cNvPr id="4" name="">
            <a:extLst xmlns:a="http://schemas.openxmlformats.org/drawingml/2006/main">
              <a:ext uri="{FF2B5EF4-FFF2-40B4-BE49-F238E27FC236}">
                <a16:creationId xmlns:a16="http://schemas.microsoft.com/office/drawing/2014/main" id="{E1892EE3-6B42-4D2E-BE6A-756C893B158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C724374-A98C-42F9-8A0B-BFCD1B25202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sp>
        <p:nvSpPr>
          <p:cNvPr id="6" name="">
            <a:extLst xmlns:a="http://schemas.openxmlformats.org/drawingml/2006/main">
              <a:ext uri="{FF2B5EF4-FFF2-40B4-BE49-F238E27FC236}">
                <a16:creationId xmlns:a16="http://schemas.microsoft.com/office/drawing/2014/main" id="{1CFE4248-8C71-4AAD-A7A6-F2988FFC4086}"/>
              </a:ext>
            </a:extLst>
          </p:cNvPr>
          <p:cNvSpPr>
            <a:spLocks xmlns:a="http://schemas.openxmlformats.org/drawingml/2006/main" noGrp="1"/>
          </p:cNvSpPr>
          <p:nvPr/>
        </p:nvSpPr>
        <p:spPr>
          <a:xfrm xmlns:a="http://schemas.openxmlformats.org/drawingml/2006/main">
            <a:off x="514350" y="2000250"/>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2E8F9D-1514-4F16-B56F-C28535DDF25E}"/>
              </a:ext>
            </a:extLst>
          </p:cNvPr>
          <p:cNvSpPr>
            <a:spLocks xmlns:a="http://schemas.openxmlformats.org/drawingml/2006/main" noGrp="1"/>
          </p:cNvSpPr>
          <p:nvPr/>
        </p:nvSpPr>
        <p:spPr>
          <a:xfrm xmlns:a="http://schemas.openxmlformats.org/drawingml/2006/main">
            <a:off x="704850" y="211455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① 周辺分布</a:t>
            </a:r>
          </a:p>
        </p:txBody>
      </p:sp>
      <p:sp>
        <p:nvSpPr>
          <p:cNvPr id="8" name="">
            <a:extLst xmlns:a="http://schemas.openxmlformats.org/drawingml/2006/main">
              <a:ext uri="{FF2B5EF4-FFF2-40B4-BE49-F238E27FC236}">
                <a16:creationId xmlns:a16="http://schemas.microsoft.com/office/drawing/2014/main" id="{2EFFCC19-C9C4-40E7-9B9B-7C741D0B5DB5}"/>
              </a:ext>
            </a:extLst>
          </p:cNvPr>
          <p:cNvSpPr>
            <a:spLocks xmlns:a="http://schemas.openxmlformats.org/drawingml/2006/main" noGrp="1"/>
          </p:cNvSpPr>
          <p:nvPr/>
        </p:nvSpPr>
        <p:spPr>
          <a:xfrm xmlns:a="http://schemas.openxmlformats.org/drawingml/2006/main">
            <a:off x="704850" y="2667000"/>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155、165、175、185 cm</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体重の値の分布</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48、57、68、82 kg</a:t>
            </a:r>
          </a:p>
        </p:txBody>
      </p:sp>
      <p:sp>
        <p:nvSpPr>
          <p:cNvPr id="9" name="">
            <a:extLst xmlns:a="http://schemas.openxmlformats.org/drawingml/2006/main">
              <a:ext uri="{FF2B5EF4-FFF2-40B4-BE49-F238E27FC236}">
                <a16:creationId xmlns:a16="http://schemas.microsoft.com/office/drawing/2014/main" id="{EF1ACA2B-BC2C-4EF7-A674-69DDA656C2BC}"/>
              </a:ext>
            </a:extLst>
          </p:cNvPr>
          <p:cNvSpPr>
            <a:spLocks xmlns:a="http://schemas.openxmlformats.org/drawingml/2006/main" noGrp="1"/>
          </p:cNvSpPr>
          <p:nvPr/>
        </p:nvSpPr>
        <p:spPr>
          <a:xfrm xmlns:a="http://schemas.openxmlformats.org/drawingml/2006/main">
            <a:off x="6076950" y="2000250"/>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D029D4-B5D5-4561-B0B0-3DE536AF0403}"/>
              </a:ext>
            </a:extLst>
          </p:cNvPr>
          <p:cNvSpPr>
            <a:spLocks xmlns:a="http://schemas.openxmlformats.org/drawingml/2006/main" noGrp="1"/>
          </p:cNvSpPr>
          <p:nvPr/>
        </p:nvSpPr>
        <p:spPr>
          <a:xfrm xmlns:a="http://schemas.openxmlformats.org/drawingml/2006/main">
            <a:off x="62674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② 依存構造</a:t>
            </a:r>
          </a:p>
        </p:txBody>
      </p:sp>
      <p:sp>
        <p:nvSpPr>
          <p:cNvPr id="11" name="">
            <a:extLst xmlns:a="http://schemas.openxmlformats.org/drawingml/2006/main">
              <a:ext uri="{FF2B5EF4-FFF2-40B4-BE49-F238E27FC236}">
                <a16:creationId xmlns:a16="http://schemas.microsoft.com/office/drawing/2014/main" id="{9DCD9C88-E36C-480C-9BB9-3A9EA4C17B76}"/>
              </a:ext>
            </a:extLst>
          </p:cNvPr>
          <p:cNvSpPr>
            <a:spLocks xmlns:a="http://schemas.openxmlformats.org/drawingml/2006/main" noGrp="1"/>
          </p:cNvSpPr>
          <p:nvPr/>
        </p:nvSpPr>
        <p:spPr>
          <a:xfrm xmlns:a="http://schemas.openxmlformats.org/drawingml/2006/main">
            <a:off x="6267450" y="2667000"/>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元の表：</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身長の順位1 → 体重の順位1</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身長の順位4 → 体重の順位4</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逆の表：順位1 → 順位4</a:t>
            </a:r>
          </a:p>
        </p:txBody>
      </p:sp>
      <p:sp>
        <p:nvSpPr>
          <p:cNvPr id="12" name="">
            <a:extLst xmlns:a="http://schemas.openxmlformats.org/drawingml/2006/main">
              <a:ext uri="{FF2B5EF4-FFF2-40B4-BE49-F238E27FC236}">
                <a16:creationId xmlns:a16="http://schemas.microsoft.com/office/drawing/2014/main" id="{86FD2786-D1CF-4173-81F1-BDDCCF491E3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D772F59-7ACB-4C8F-94BA-2EF638E71EB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周辺分布が「値」を決め、コピュラが「位置の組合せ」を表す</a:t>
            </a:r>
          </a:p>
        </p:txBody>
      </p:sp>
    </p:spTree>
    <p:extLst>
      <p:ext uri="{BB962C8B-B14F-4D97-AF65-F5344CB8AC3E}">
        <p14:creationId xmlns:p14="http://schemas.microsoft.com/office/powerpoint/2010/main" val="2937850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9394BF-8A24-4A9E-8ECC-7F6E46AA55C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累積確率：170 cmはどの位置？</a:t>
            </a:r>
          </a:p>
        </p:txBody>
      </p:sp>
      <p:sp>
        <p:nvSpPr>
          <p:cNvPr id="2" name="">
            <a:extLst xmlns:a="http://schemas.openxmlformats.org/drawingml/2006/main">
              <a:ext uri="{FF2B5EF4-FFF2-40B4-BE49-F238E27FC236}">
                <a16:creationId xmlns:a16="http://schemas.microsoft.com/office/drawing/2014/main" id="{41F91A5D-D5F4-4CB5-86C1-385145A910F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4C8077-5BAB-4178-82AE-DD3C048A60F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「170 cm以下の人が、全体の何割いるか」を数える。</a:t>
            </a:r>
          </a:p>
        </p:txBody>
      </p:sp>
      <p:sp>
        <p:nvSpPr>
          <p:cNvPr id="4" name="">
            <a:extLst xmlns:a="http://schemas.openxmlformats.org/drawingml/2006/main">
              <a:ext uri="{FF2B5EF4-FFF2-40B4-BE49-F238E27FC236}">
                <a16:creationId xmlns:a16="http://schemas.microsoft.com/office/drawing/2014/main" id="{07E053BC-38EE-4D4D-918C-A81D1F68FC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61B3CC3-8AFF-4616-8949-75199823FEA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16" name=""/>
          <p:cNvGraphicFramePr/>
          <p:nvPr/>
        </p:nvGraphicFramePr>
        <p:xfrm>
          <a:off xmlns:a="http://schemas.openxmlformats.org/drawingml/2006/main" x="514350" y="2143125"/>
          <a:ext xmlns:a="http://schemas.openxmlformats.org/drawingml/2006/main" cx="11163300" cy="1381125"/>
        </p:xfrm>
        <a:graphic xmlns:a="http://schemas.openxmlformats.org/drawingml/2006/main">
          <a:graphicData uri="http://schemas.openxmlformats.org/drawingml/2006/table">
            <a:tbl>
              <a:tblPr/>
              <a:tblGrid>
                <a:gridCol w="1014845"/>
                <a:gridCol w="1014845"/>
                <a:gridCol w="1014845"/>
                <a:gridCol w="1014845"/>
                <a:gridCol w="1014845"/>
                <a:gridCol w="1014845"/>
                <a:gridCol w="1014845"/>
                <a:gridCol w="1014845"/>
                <a:gridCol w="1014845"/>
                <a:gridCol w="1014845"/>
                <a:gridCol w="1014845"/>
              </a:tblGrid>
              <a:tr h="690563">
                <a:tc>
                  <a:txBody>
                    <a:bodyPr/>
                    <a:lstStyle/>
                    <a:p>
                      <a:pPr algn="ctr"/>
                      <a:r>
                        <a:rPr sz="1800" b="1">
                          <a:solidFill>
                            <a:srgbClr val="2E7D5B"/>
                          </a:solidFill>
                          <a:latin typeface="Noto Sans JP"/>
                          <a:ea typeface="Noto Sans JP"/>
                          <a:cs typeface="Noto Sans JP"/>
                        </a:rPr>
                        <a:t>小さい順</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2</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3</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4</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5</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6</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7</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8</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9</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10</a:t>
                      </a:r>
                    </a:p>
                  </a:txBody>
                  <a:tcPr marL="91440" marR="91440" marT="45720" marB="45720" anchor="ctr">
                    <a:solidFill>
                      <a:srgbClr val="E7F2EC"/>
                    </a:solidFill>
                  </a:tcPr>
                </a:tc>
              </a:tr>
              <a:tr h="690563">
                <a:tc>
                  <a:txBody>
                    <a:bodyPr/>
                    <a:lstStyle/>
                    <a:p>
                      <a:pPr algn="ctr"/>
                      <a:r>
                        <a:rPr sz="1800" b="0">
                          <a:solidFill>
                            <a:srgbClr val="222222"/>
                          </a:solidFill>
                          <a:latin typeface="Noto Sans JP"/>
                          <a:ea typeface="Noto Sans JP"/>
                          <a:cs typeface="Noto Sans JP"/>
                        </a:rPr>
                        <a:t>身長 cm</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155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163</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168</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175</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180</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185</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0D99C52-C925-46B7-BF71-648B3589B488}"/>
              </a:ext>
            </a:extLst>
          </p:cNvPr>
          <p:cNvSpPr>
            <a:spLocks xmlns:a="http://schemas.openxmlformats.org/drawingml/2006/main" noGrp="1"/>
          </p:cNvSpPr>
          <p:nvPr/>
        </p:nvSpPr>
        <p:spPr>
          <a:xfrm xmlns:a="http://schemas.openxmlformats.org/drawingml/2006/main">
            <a:off x="514350" y="37623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FFB4BB-5D2A-4A47-BA4E-C269D6BAF492}"/>
              </a:ext>
            </a:extLst>
          </p:cNvPr>
          <p:cNvSpPr>
            <a:spLocks xmlns:a="http://schemas.openxmlformats.org/drawingml/2006/main" noGrp="1"/>
          </p:cNvSpPr>
          <p:nvPr/>
        </p:nvSpPr>
        <p:spPr>
          <a:xfrm xmlns:a="http://schemas.openxmlformats.org/drawingml/2006/main">
            <a:off x="704850" y="38576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F̂ 身長(170) = 170 cm以下の人数 / 全人数 = 7 / 10 = 0.7</a:t>
            </a:r>
          </a:p>
        </p:txBody>
      </p:sp>
      <p:sp>
        <p:nvSpPr>
          <p:cNvPr id="9" name="">
            <a:extLst xmlns:a="http://schemas.openxmlformats.org/drawingml/2006/main">
              <a:ext uri="{FF2B5EF4-FFF2-40B4-BE49-F238E27FC236}">
                <a16:creationId xmlns:a16="http://schemas.microsoft.com/office/drawing/2014/main" id="{01B3A99D-0D08-4A1D-8A5E-F606769DAA6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A26B0B-F809-444D-B23C-4315AB9E38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0.7は「低い側から70%の位置」。170 cmになる確率ではない</a:t>
            </a:r>
          </a:p>
        </p:txBody>
      </p:sp>
    </p:spTree>
    <p:extLst>
      <p:ext uri="{BB962C8B-B14F-4D97-AF65-F5344CB8AC3E}">
        <p14:creationId xmlns:p14="http://schemas.microsoft.com/office/powerpoint/2010/main" val="19959899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DA2D5C-E19F-4829-BF51-231D258CABC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なぜ、確率の位置へ変えるのか</a:t>
            </a:r>
          </a:p>
        </p:txBody>
      </p:sp>
      <p:sp>
        <p:nvSpPr>
          <p:cNvPr id="2" name="">
            <a:extLst xmlns:a="http://schemas.openxmlformats.org/drawingml/2006/main">
              <a:ext uri="{FF2B5EF4-FFF2-40B4-BE49-F238E27FC236}">
                <a16:creationId xmlns:a16="http://schemas.microsoft.com/office/drawing/2014/main" id="{B94D9F4C-1307-498B-9E39-C8FF520A7A6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D55B2E-C4E1-44CE-99B8-D81BDACBF4C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単位や分布の形が違う列を、0〜1の共通のものさしで見る。</a:t>
            </a:r>
          </a:p>
        </p:txBody>
      </p:sp>
      <p:sp>
        <p:nvSpPr>
          <p:cNvPr id="4" name="">
            <a:extLst xmlns:a="http://schemas.openxmlformats.org/drawingml/2006/main">
              <a:ext uri="{FF2B5EF4-FFF2-40B4-BE49-F238E27FC236}">
                <a16:creationId xmlns:a16="http://schemas.microsoft.com/office/drawing/2014/main" id="{A9ADB918-A91B-4B75-9945-3235BE25C9E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403932D-E75E-4AB5-A297-6D29CF2791D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graphicFrame>
        <p:nvGraphicFramePr>
          <p:cNvPr id="15" name=""/>
          <p:cNvGraphicFramePr/>
          <p:nvPr/>
        </p:nvGraphicFramePr>
        <p:xfrm>
          <a:off xmlns:a="http://schemas.openxmlformats.org/drawingml/2006/main" x="514350" y="2057400"/>
          <a:ext xmlns:a="http://schemas.openxmlformats.org/drawingml/2006/main" cx="11163300" cy="2476500"/>
        </p:xfrm>
        <a:graphic xmlns:a="http://schemas.openxmlformats.org/drawingml/2006/main">
          <a:graphicData uri="http://schemas.openxmlformats.org/drawingml/2006/table">
            <a:tbl>
              <a:tblPr/>
              <a:tblGrid>
                <a:gridCol w="2790825"/>
                <a:gridCol w="2790825"/>
                <a:gridCol w="2790825"/>
                <a:gridCol w="2790825"/>
              </a:tblGrid>
              <a:tr h="825500">
                <a:tc>
                  <a:txBody>
                    <a:bodyPr/>
                    <a:lstStyle/>
                    <a:p>
                      <a:pPr algn="ctr"/>
                      <a:r>
                        <a:rPr sz="2175"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元の値（説明用）</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その値以下の割合</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位置</a:t>
                      </a:r>
                    </a:p>
                  </a:txBody>
                  <a:tcPr marL="91440" marR="91440" marT="45720" marB="45720" anchor="ctr">
                    <a:solidFill>
                      <a:srgbClr val="E7F2EC"/>
                    </a:solidFill>
                  </a:tcPr>
                </a:tc>
              </a:tr>
              <a:tr h="825500">
                <a:tc>
                  <a:txBody>
                    <a:bodyPr/>
                    <a:lstStyle/>
                    <a:p>
                      <a:pPr algn="ctr"/>
                      <a:r>
                        <a:rPr sz="2175" b="0">
                          <a:solidFill>
                            <a:srgbClr val="222222"/>
                          </a:solidFill>
                          <a:latin typeface="Noto Sans JP"/>
                          <a:ea typeface="Noto Sans JP"/>
                          <a:cs typeface="Noto Sans JP"/>
                        </a:rPr>
                        <a:t>身長</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175 cm</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80%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u = 0.8</a:t>
                      </a:r>
                    </a:p>
                  </a:txBody>
                  <a:tcPr marL="91440" marR="91440" marT="45720" marB="45720" anchor="ctr">
                    <a:solidFill>
                      <a:srgbClr val="FFFFFF"/>
                    </a:solidFill>
                  </a:tcPr>
                </a:tc>
              </a:tr>
              <a:tr h="825500">
                <a:tc>
                  <a:txBody>
                    <a:bodyPr/>
                    <a:lstStyle/>
                    <a:p>
                      <a:pPr algn="ctr"/>
                      <a:r>
                        <a:rPr sz="2175" b="0">
                          <a:solidFill>
                            <a:srgbClr val="222222"/>
                          </a:solidFill>
                          <a:latin typeface="Noto Sans JP"/>
                          <a:ea typeface="Noto Sans JP"/>
                          <a:cs typeface="Noto Sans JP"/>
                        </a:rPr>
                        <a:t>体重</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68 kg</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60%</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v = 0.6</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9CD9E168-B601-4E5A-AB0D-D5855DBED4CE}"/>
              </a:ext>
            </a:extLst>
          </p:cNvPr>
          <p:cNvSpPr>
            <a:spLocks xmlns:a="http://schemas.openxmlformats.org/drawingml/2006/main" noGrp="1"/>
          </p:cNvSpPr>
          <p:nvPr/>
        </p:nvSpPr>
        <p:spPr>
          <a:xfrm xmlns:a="http://schemas.openxmlformats.org/drawingml/2006/main">
            <a:off x="666750" y="4762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この人は「身長は高い側・体重もやや高い側」にいる。</a:t>
            </a:r>
          </a:p>
        </p:txBody>
      </p:sp>
      <p:sp>
        <p:nvSpPr>
          <p:cNvPr id="8" name="">
            <a:extLst xmlns:a="http://schemas.openxmlformats.org/drawingml/2006/main">
              <a:ext uri="{FF2B5EF4-FFF2-40B4-BE49-F238E27FC236}">
                <a16:creationId xmlns:a16="http://schemas.microsoft.com/office/drawing/2014/main" id="{3667BF0F-586B-4A3D-98C3-A8E7130502E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0A5394-51D8-49E9-9C79-D3F86975D20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位置は基準集団の分布で決まる。cmやkgを直接比較しない</a:t>
            </a:r>
          </a:p>
        </p:txBody>
      </p:sp>
    </p:spTree>
    <p:extLst>
      <p:ext uri="{BB962C8B-B14F-4D97-AF65-F5344CB8AC3E}">
        <p14:creationId xmlns:p14="http://schemas.microsoft.com/office/powerpoint/2010/main" val="343177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B9A09E-F5B4-4378-A98E-2B9ED07843B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コピュラが見るのは、位置の組</a:t>
            </a:r>
          </a:p>
        </p:txBody>
      </p:sp>
      <p:sp>
        <p:nvSpPr>
          <p:cNvPr id="2" name="">
            <a:extLst xmlns:a="http://schemas.openxmlformats.org/drawingml/2006/main">
              <a:ext uri="{FF2B5EF4-FFF2-40B4-BE49-F238E27FC236}">
                <a16:creationId xmlns:a16="http://schemas.microsoft.com/office/drawing/2014/main" id="{FF4290E7-1F37-4570-AE3A-F464001D71D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F7271A-C941-4053-AB31-D5E5AFBEFEA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同じ人の (u, v) を、多くの人について集める。</a:t>
            </a:r>
          </a:p>
        </p:txBody>
      </p:sp>
      <p:sp>
        <p:nvSpPr>
          <p:cNvPr id="4" name="">
            <a:extLst xmlns:a="http://schemas.openxmlformats.org/drawingml/2006/main">
              <a:ext uri="{FF2B5EF4-FFF2-40B4-BE49-F238E27FC236}">
                <a16:creationId xmlns:a16="http://schemas.microsoft.com/office/drawing/2014/main" id="{6FB0B090-D298-46C7-AE52-F60E8B0DD67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DFBBB99-A21B-4AF0-B457-B916FE9F74E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17" name="Chart"/>
          <p:cNvGraphicFramePr/>
          <p:nvPr/>
        </p:nvGraphicFramePr>
        <p:xfrm>
          <a:off xmlns:a="http://schemas.openxmlformats.org/drawingml/2006/main" x="609600" y="2000250"/>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4c1dea9802f54a71"/>
          </a:graphicData>
        </a:graphic>
      </p:graphicFrame>
      <p:sp>
        <p:nvSpPr>
          <p:cNvPr id="7" name="">
            <a:extLst xmlns:a="http://schemas.openxmlformats.org/drawingml/2006/main">
              <a:ext uri="{FF2B5EF4-FFF2-40B4-BE49-F238E27FC236}">
                <a16:creationId xmlns:a16="http://schemas.microsoft.com/office/drawing/2014/main" id="{2FFB09A7-14ED-4BD7-8CD9-11738D4F1B0C}"/>
              </a:ext>
            </a:extLst>
          </p:cNvPr>
          <p:cNvSpPr>
            <a:spLocks xmlns:a="http://schemas.openxmlformats.org/drawingml/2006/main" noGrp="1"/>
          </p:cNvSpPr>
          <p:nvPr/>
        </p:nvSpPr>
        <p:spPr>
          <a:xfrm xmlns:a="http://schemas.openxmlformats.org/drawingml/2006/main">
            <a:off x="6838950" y="2095500"/>
            <a:ext cx="47625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A1C2AC-5AB7-4FA1-AB38-FFD1E6B44411}"/>
              </a:ext>
            </a:extLst>
          </p:cNvPr>
          <p:cNvSpPr>
            <a:spLocks xmlns:a="http://schemas.openxmlformats.org/drawingml/2006/main" noGrp="1"/>
          </p:cNvSpPr>
          <p:nvPr/>
        </p:nvSpPr>
        <p:spPr>
          <a:xfrm xmlns:a="http://schemas.openxmlformats.org/drawingml/2006/main">
            <a:off x="7029450" y="22098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読み取る関係</a:t>
            </a:r>
          </a:p>
        </p:txBody>
      </p:sp>
      <p:sp>
        <p:nvSpPr>
          <p:cNvPr id="9" name="">
            <a:extLst xmlns:a="http://schemas.openxmlformats.org/drawingml/2006/main">
              <a:ext uri="{FF2B5EF4-FFF2-40B4-BE49-F238E27FC236}">
                <a16:creationId xmlns:a16="http://schemas.microsoft.com/office/drawing/2014/main" id="{1BD69429-DF95-4779-9565-4B11EEB73E41}"/>
              </a:ext>
            </a:extLst>
          </p:cNvPr>
          <p:cNvSpPr>
            <a:spLocks xmlns:a="http://schemas.openxmlformats.org/drawingml/2006/main" noGrp="1"/>
          </p:cNvSpPr>
          <p:nvPr/>
        </p:nvSpPr>
        <p:spPr>
          <a:xfrm xmlns:a="http://schemas.openxmlformats.org/drawingml/2006/main">
            <a:off x="7029450" y="2762250"/>
            <a:ext cx="4381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身長の位置が高いとき、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体重の位置も高いか。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値の単位を除いて、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どの位置の組が</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どれくらい現れるかを見る。</a:t>
            </a:r>
          </a:p>
        </p:txBody>
      </p:sp>
      <p:sp>
        <p:nvSpPr>
          <p:cNvPr id="10" name="">
            <a:extLst xmlns:a="http://schemas.openxmlformats.org/drawingml/2006/main">
              <a:ext uri="{FF2B5EF4-FFF2-40B4-BE49-F238E27FC236}">
                <a16:creationId xmlns:a16="http://schemas.microsoft.com/office/drawing/2014/main" id="{6D69928F-051E-4EAC-B45B-59A89BC8643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117511-B68D-4C5B-A987-0AFFCCB8BAD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コピュラは、位置の「同時分布」を表す</a:t>
            </a:r>
          </a:p>
        </p:txBody>
      </p:sp>
    </p:spTree>
    <p:extLst>
      <p:ext uri="{BB962C8B-B14F-4D97-AF65-F5344CB8AC3E}">
        <p14:creationId xmlns:p14="http://schemas.microsoft.com/office/powerpoint/2010/main" val="13620992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98842E-B9ED-4DC3-B787-82D81306977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数式を読むための記号</a:t>
            </a:r>
          </a:p>
        </p:txBody>
      </p:sp>
      <p:sp>
        <p:nvSpPr>
          <p:cNvPr id="2" name="">
            <a:extLst xmlns:a="http://schemas.openxmlformats.org/drawingml/2006/main">
              <a:ext uri="{FF2B5EF4-FFF2-40B4-BE49-F238E27FC236}">
                <a16:creationId xmlns:a16="http://schemas.microsoft.com/office/drawing/2014/main" id="{AFFFFFCB-9877-4B40-A55D-44255ED7465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376CB1-F7E9-4BD3-802B-DBC29C57BC9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大文字は変数、小文字は境界や具体的な値。</a:t>
            </a:r>
          </a:p>
        </p:txBody>
      </p:sp>
      <p:sp>
        <p:nvSpPr>
          <p:cNvPr id="4" name="">
            <a:extLst xmlns:a="http://schemas.openxmlformats.org/drawingml/2006/main">
              <a:ext uri="{FF2B5EF4-FFF2-40B4-BE49-F238E27FC236}">
                <a16:creationId xmlns:a16="http://schemas.microsoft.com/office/drawing/2014/main" id="{2463467F-A13D-4645-A938-5874C439B90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86B626D-1637-4A06-A426-DC8F83FD26C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graphicFrame>
        <p:nvGraphicFramePr>
          <p:cNvPr id="14" name=""/>
          <p:cNvGraphicFramePr/>
          <p:nvPr/>
        </p:nvGraphicFramePr>
        <p:xfrm>
          <a:off xmlns:a="http://schemas.openxmlformats.org/drawingml/2006/main" x="514350" y="1924050"/>
          <a:ext xmlns:a="http://schemas.openxmlformats.org/drawingml/2006/main" cx="11163300" cy="3381375"/>
        </p:xfrm>
        <a:graphic xmlns:a="http://schemas.openxmlformats.org/drawingml/2006/main">
          <a:graphicData uri="http://schemas.openxmlformats.org/drawingml/2006/table">
            <a:tbl>
              <a:tblPr/>
              <a:tblGrid>
                <a:gridCol w="3721100"/>
                <a:gridCol w="3721100"/>
                <a:gridCol w="3721100"/>
              </a:tblGrid>
              <a:tr h="676275">
                <a:tc>
                  <a:txBody>
                    <a:bodyPr/>
                    <a:lstStyle/>
                    <a:p>
                      <a:pPr algn="ctr"/>
                      <a:r>
                        <a:rPr sz="1950" b="1">
                          <a:solidFill>
                            <a:srgbClr val="2E7D5B"/>
                          </a:solidFill>
                          <a:latin typeface="Noto Sans JP"/>
                          <a:ea typeface="Noto Sans JP"/>
                          <a:cs typeface="Noto Sans JP"/>
                        </a:rPr>
                        <a:t>記号</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意味</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身長・体重の例</a:t>
                      </a:r>
                    </a:p>
                  </a:txBody>
                  <a:tcPr marL="91440" marR="91440" marT="45720" marB="45720" anchor="ctr">
                    <a:solidFill>
                      <a:srgbClr val="E7F2EC"/>
                    </a:solidFill>
                  </a:tcPr>
                </a:tc>
              </a:tr>
              <a:tr h="676275">
                <a:tc>
                  <a:txBody>
                    <a:bodyPr/>
                    <a:lstStyle/>
                    <a:p>
                      <a:pPr algn="ctr"/>
                      <a:r>
                        <a:rPr sz="1950" b="0">
                          <a:solidFill>
                            <a:srgbClr val="222222"/>
                          </a:solidFill>
                          <a:latin typeface="Noto Sans JP"/>
                          <a:ea typeface="Noto Sans JP"/>
                          <a:cs typeface="Noto Sans JP"/>
                        </a:rPr>
                        <a:t>X, 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元の値の確率変数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身長と体重</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Fₓ(x), Fᵧ(y)</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各列の累積分布関数</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その値以下になる確率</a:t>
                      </a:r>
                    </a:p>
                  </a:txBody>
                  <a:tcPr marL="91440" marR="91440" marT="45720" marB="45720" anchor="ctr">
                    <a:solidFill>
                      <a:srgbClr val="F6F6F6"/>
                    </a:solidFill>
                  </a:tcPr>
                </a:tc>
              </a:tr>
              <a:tr h="676275">
                <a:tc>
                  <a:txBody>
                    <a:bodyPr/>
                    <a:lstStyle/>
                    <a:p>
                      <a:pPr algn="ctr"/>
                      <a:r>
                        <a:rPr sz="1950" b="0">
                          <a:solidFill>
                            <a:srgbClr val="222222"/>
                          </a:solidFill>
                          <a:latin typeface="Noto Sans JP"/>
                          <a:ea typeface="Noto Sans JP"/>
                          <a:cs typeface="Noto Sans JP"/>
                        </a:rPr>
                        <a:t>U = Fₓ(X), V = Fᵧ(Y)</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確率位置へ変換した変数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0〜1の位置</a:t>
                      </a:r>
                    </a:p>
                  </a:txBody>
                  <a:tcPr marL="91440" marR="91440" marT="45720" marB="45720" anchor="ctr">
                    <a:solidFill>
                      <a:srgbClr val="FFFFFF"/>
                    </a:solidFill>
                  </a:tcPr>
                </a:tc>
              </a:tr>
              <a:tr h="676275">
                <a:tc>
                  <a:txBody>
                    <a:bodyPr/>
                    <a:lstStyle/>
                    <a:p>
                      <a:pPr algn="ctr"/>
                      <a:r>
                        <a:rPr sz="1950" b="0">
                          <a:solidFill>
                            <a:srgbClr val="222222"/>
                          </a:solidFill>
                          <a:latin typeface="Noto Sans JP"/>
                          <a:ea typeface="Noto Sans JP"/>
                          <a:cs typeface="Noto Sans JP"/>
                        </a:rPr>
                        <a:t>C(u, v)</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位置の同時累積分布</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U ≤ u かつ V ≤ vの確率</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D6B7B08-6E16-4A99-AD99-5B57FB34D99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FBDE96-9A53-4A53-A93B-91518040713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「≤」は、境界より小さい側をすべて含める</a:t>
            </a:r>
          </a:p>
        </p:txBody>
      </p:sp>
    </p:spTree>
    <p:extLst>
      <p:ext uri="{BB962C8B-B14F-4D97-AF65-F5344CB8AC3E}">
        <p14:creationId xmlns:p14="http://schemas.microsoft.com/office/powerpoint/2010/main" val="11726413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C7504A-3FC2-4112-BE26-A7975C6C69C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a:t>
            </a:r>
          </a:p>
        </p:txBody>
      </p:sp>
      <p:sp>
        <p:nvSpPr>
          <p:cNvPr id="2" name="">
            <a:extLst xmlns:a="http://schemas.openxmlformats.org/drawingml/2006/main">
              <a:ext uri="{FF2B5EF4-FFF2-40B4-BE49-F238E27FC236}">
                <a16:creationId xmlns:a16="http://schemas.microsoft.com/office/drawing/2014/main" id="{1E892535-CDB7-46DE-BE01-40708CAB8D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6A310D-66F6-40AF-AE68-CF1D486B905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各成分が0〜1の一様分布を持つ、同時累積分布関数。</a:t>
            </a:r>
          </a:p>
        </p:txBody>
      </p:sp>
      <p:sp>
        <p:nvSpPr>
          <p:cNvPr id="4" name="">
            <a:extLst xmlns:a="http://schemas.openxmlformats.org/drawingml/2006/main">
              <a:ext uri="{FF2B5EF4-FFF2-40B4-BE49-F238E27FC236}">
                <a16:creationId xmlns:a16="http://schemas.microsoft.com/office/drawing/2014/main" id="{F3B8F4AC-490D-497F-BD7A-8DD621C27D8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074B4D09-E121-40F2-9DEA-D74DC4EF65C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422FBA74-7EE2-47F2-AB17-01F8269389B3}"/>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B883DF-FD8F-43D3-BFC6-9844A5D660DC}"/>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2B6777"/>
                </a:solidFill>
                <a:latin typeface="Noto Sans JP"/>
                <a:ea typeface="Noto Sans JP"/>
                <a:cs typeface="Noto Sans JP"/>
              </a:defRPr>
            </a:pPr>
            <a:r>
              <a:rPr sz="3450" b="1">
                <a:solidFill>
                  <a:srgbClr val="2B6777"/>
                </a:solidFill>
                <a:latin typeface="Noto Sans JP"/>
                <a:ea typeface="Noto Sans JP"/>
                <a:cs typeface="Noto Sans JP"/>
              </a:rPr>
              <a:t>C(u, v) = P(U ≤ u, V ≤ v)</a:t>
            </a:r>
          </a:p>
        </p:txBody>
      </p:sp>
      <p:sp>
        <p:nvSpPr>
          <p:cNvPr id="8" name="">
            <a:extLst xmlns:a="http://schemas.openxmlformats.org/drawingml/2006/main">
              <a:ext uri="{FF2B5EF4-FFF2-40B4-BE49-F238E27FC236}">
                <a16:creationId xmlns:a16="http://schemas.microsoft.com/office/drawing/2014/main" id="{FAB9D314-8904-4AA1-9F07-C24E282AEF36}"/>
              </a:ext>
            </a:extLst>
          </p:cNvPr>
          <p:cNvSpPr>
            <a:spLocks xmlns:a="http://schemas.openxmlformats.org/drawingml/2006/main" noGrp="1"/>
          </p:cNvSpPr>
          <p:nvPr/>
        </p:nvSpPr>
        <p:spPr>
          <a:xfrm xmlns:a="http://schemas.openxmlformats.org/drawingml/2006/main">
            <a:off x="552450" y="328612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6A19BA2-A44C-44BD-B7F0-54688CE42E55}"/>
              </a:ext>
            </a:extLst>
          </p:cNvPr>
          <p:cNvSpPr>
            <a:spLocks xmlns:a="http://schemas.openxmlformats.org/drawingml/2006/main" noGrp="1"/>
          </p:cNvSpPr>
          <p:nvPr/>
        </p:nvSpPr>
        <p:spPr>
          <a:xfrm xmlns:a="http://schemas.openxmlformats.org/drawingml/2006/main">
            <a:off x="1257300" y="328612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V はそれぞれ Uniform(0, 1) に従う。</a:t>
            </a:r>
          </a:p>
        </p:txBody>
      </p:sp>
      <p:sp>
        <p:nvSpPr>
          <p:cNvPr id="10" name="">
            <a:extLst xmlns:a="http://schemas.openxmlformats.org/drawingml/2006/main">
              <a:ext uri="{FF2B5EF4-FFF2-40B4-BE49-F238E27FC236}">
                <a16:creationId xmlns:a16="http://schemas.microsoft.com/office/drawing/2014/main" id="{24C48027-9A5B-4E85-821E-391DA88A3824}"/>
              </a:ext>
            </a:extLst>
          </p:cNvPr>
          <p:cNvSpPr>
            <a:spLocks xmlns:a="http://schemas.openxmlformats.org/drawingml/2006/main" noGrp="1"/>
          </p:cNvSpPr>
          <p:nvPr/>
        </p:nvSpPr>
        <p:spPr>
          <a:xfrm xmlns:a="http://schemas.openxmlformats.org/drawingml/2006/main">
            <a:off x="552450" y="3968750"/>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2BCF98BE-8EE0-4E9F-A726-C2BFC60022CE}"/>
              </a:ext>
            </a:extLst>
          </p:cNvPr>
          <p:cNvSpPr>
            <a:spLocks xmlns:a="http://schemas.openxmlformats.org/drawingml/2006/main" noGrp="1"/>
          </p:cNvSpPr>
          <p:nvPr/>
        </p:nvSpPr>
        <p:spPr>
          <a:xfrm xmlns:a="http://schemas.openxmlformats.org/drawingml/2006/main">
            <a:off x="1257300" y="3968750"/>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ただし、U と V が独立とは限らない。</a:t>
            </a:r>
          </a:p>
        </p:txBody>
      </p:sp>
      <p:sp>
        <p:nvSpPr>
          <p:cNvPr id="12" name="">
            <a:extLst xmlns:a="http://schemas.openxmlformats.org/drawingml/2006/main">
              <a:ext uri="{FF2B5EF4-FFF2-40B4-BE49-F238E27FC236}">
                <a16:creationId xmlns:a16="http://schemas.microsoft.com/office/drawing/2014/main" id="{903C4081-23F1-4751-A328-3365BFC49FB0}"/>
              </a:ext>
            </a:extLst>
          </p:cNvPr>
          <p:cNvSpPr>
            <a:spLocks xmlns:a="http://schemas.openxmlformats.org/drawingml/2006/main" noGrp="1"/>
          </p:cNvSpPr>
          <p:nvPr/>
        </p:nvSpPr>
        <p:spPr>
          <a:xfrm xmlns:a="http://schemas.openxmlformats.org/drawingml/2006/main">
            <a:off x="552450" y="4651375"/>
            <a:ext cx="4762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9B99996-E2AA-4491-A6DC-F5F413C34C64}"/>
              </a:ext>
            </a:extLst>
          </p:cNvPr>
          <p:cNvSpPr>
            <a:spLocks xmlns:a="http://schemas.openxmlformats.org/drawingml/2006/main" noGrp="1"/>
          </p:cNvSpPr>
          <p:nvPr/>
        </p:nvSpPr>
        <p:spPr>
          <a:xfrm xmlns:a="http://schemas.openxmlformats.org/drawingml/2006/main">
            <a:off x="1257300" y="4651375"/>
            <a:ext cx="10191750" cy="60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 は「両方の条件を同時に満たす確率」。</a:t>
            </a:r>
          </a:p>
        </p:txBody>
      </p:sp>
      <p:sp>
        <p:nvSpPr>
          <p:cNvPr id="14" name="">
            <a:extLst xmlns:a="http://schemas.openxmlformats.org/drawingml/2006/main">
              <a:ext uri="{FF2B5EF4-FFF2-40B4-BE49-F238E27FC236}">
                <a16:creationId xmlns:a16="http://schemas.microsoft.com/office/drawing/2014/main" id="{A7D126AB-72F5-4456-B1D6-260F70A9EBA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79B9022-7A76-4423-9B3A-FF553148FC4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周辺が同じ一様分布でも、組合せの関係はCによって違う</a:t>
            </a:r>
          </a:p>
        </p:txBody>
      </p:sp>
    </p:spTree>
    <p:extLst>
      <p:ext uri="{BB962C8B-B14F-4D97-AF65-F5344CB8AC3E}">
        <p14:creationId xmlns:p14="http://schemas.microsoft.com/office/powerpoint/2010/main" val="9142190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B2A301-B245-473F-962B-D639F026C97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C(0.8, 0.5)は何を数える？</a:t>
            </a:r>
          </a:p>
        </p:txBody>
      </p:sp>
      <p:sp>
        <p:nvSpPr>
          <p:cNvPr id="2" name="">
            <a:extLst xmlns:a="http://schemas.openxmlformats.org/drawingml/2006/main">
              <a:ext uri="{FF2B5EF4-FFF2-40B4-BE49-F238E27FC236}">
                <a16:creationId xmlns:a16="http://schemas.microsoft.com/office/drawing/2014/main" id="{DA8871C7-031A-4DF1-8FF7-6F8351C312D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2C7399-46FC-4BCA-97C0-90ED90FB2B4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身長の位置が0.8以下、かつ体重の位置が0.5以下の人の割合。</a:t>
            </a:r>
          </a:p>
        </p:txBody>
      </p:sp>
      <p:sp>
        <p:nvSpPr>
          <p:cNvPr id="4" name="">
            <a:extLst xmlns:a="http://schemas.openxmlformats.org/drawingml/2006/main">
              <a:ext uri="{FF2B5EF4-FFF2-40B4-BE49-F238E27FC236}">
                <a16:creationId xmlns:a16="http://schemas.microsoft.com/office/drawing/2014/main" id="{F1636115-4B47-4EDC-A1AE-B4AF262B9E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376455D-CE2F-45DB-8DFD-817388DA627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C365E75D-DC2B-4155-860B-025E09DE6793}"/>
              </a:ext>
            </a:extLst>
          </p:cNvPr>
          <p:cNvSpPr>
            <a:spLocks xmlns:a="http://schemas.openxmlformats.org/drawingml/2006/main" noGrp="1"/>
          </p:cNvSpPr>
          <p:nvPr/>
        </p:nvSpPr>
        <p:spPr>
          <a:xfrm xmlns:a="http://schemas.openxmlformats.org/drawingml/2006/main">
            <a:off x="514350" y="2047875"/>
            <a:ext cx="531495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42D993-C467-4C3D-BB56-5CDA7E89409A}"/>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二つの条件を重ねる</a:t>
            </a:r>
          </a:p>
        </p:txBody>
      </p:sp>
      <p:sp>
        <p:nvSpPr>
          <p:cNvPr id="8" name="">
            <a:extLst xmlns:a="http://schemas.openxmlformats.org/drawingml/2006/main">
              <a:ext uri="{FF2B5EF4-FFF2-40B4-BE49-F238E27FC236}">
                <a16:creationId xmlns:a16="http://schemas.microsoft.com/office/drawing/2014/main" id="{B97B9849-B901-47B9-9E58-C495C8A2E96E}"/>
              </a:ext>
            </a:extLst>
          </p:cNvPr>
          <p:cNvSpPr>
            <a:spLocks xmlns:a="http://schemas.openxmlformats.org/drawingml/2006/main" noGrp="1"/>
          </p:cNvSpPr>
          <p:nvPr/>
        </p:nvSpPr>
        <p:spPr>
          <a:xfrm xmlns:a="http://schemas.openxmlformats.org/drawingml/2006/main">
            <a:off x="704850" y="2714625"/>
            <a:ext cx="493395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条件1：U ≤ 0.8</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身長が低い側から80%まで</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条件2：V ≤ 0.5</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体重が軽い側から50%まで</a:t>
            </a:r>
          </a:p>
        </p:txBody>
      </p:sp>
      <p:sp>
        <p:nvSpPr>
          <p:cNvPr id="9" name="">
            <a:extLst xmlns:a="http://schemas.openxmlformats.org/drawingml/2006/main">
              <a:ext uri="{FF2B5EF4-FFF2-40B4-BE49-F238E27FC236}">
                <a16:creationId xmlns:a16="http://schemas.microsoft.com/office/drawing/2014/main" id="{BCD48D70-FC16-4358-A353-14954D89229E}"/>
              </a:ext>
            </a:extLst>
          </p:cNvPr>
          <p:cNvSpPr>
            <a:spLocks xmlns:a="http://schemas.openxmlformats.org/drawingml/2006/main" noGrp="1"/>
          </p:cNvSpPr>
          <p:nvPr/>
        </p:nvSpPr>
        <p:spPr>
          <a:xfrm xmlns:a="http://schemas.openxmlformats.org/drawingml/2006/main">
            <a:off x="6076950" y="2047875"/>
            <a:ext cx="5600700" cy="31146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37891A-A55A-4DDF-BB43-055033844B83}"/>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両方を満たす部分</a:t>
            </a:r>
          </a:p>
        </p:txBody>
      </p:sp>
      <p:sp>
        <p:nvSpPr>
          <p:cNvPr id="11" name="">
            <a:extLst xmlns:a="http://schemas.openxmlformats.org/drawingml/2006/main">
              <a:ext uri="{FF2B5EF4-FFF2-40B4-BE49-F238E27FC236}">
                <a16:creationId xmlns:a16="http://schemas.microsoft.com/office/drawing/2014/main" id="{EFFA5DC1-C9B1-4F5F-8E4B-A4A9B79D0F6D}"/>
              </a:ext>
            </a:extLst>
          </p:cNvPr>
          <p:cNvSpPr>
            <a:spLocks xmlns:a="http://schemas.openxmlformats.org/drawingml/2006/main" noGrp="1"/>
          </p:cNvSpPr>
          <p:nvPr/>
        </p:nvSpPr>
        <p:spPr>
          <a:xfrm xmlns:a="http://schemas.openxmlformats.org/drawingml/2006/main">
            <a:off x="6267450" y="2714625"/>
            <a:ext cx="52197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「身長がこの範囲」かつ</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「体重もこの範囲」</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点の分布により割合が変わる。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ただ長方形の面積を計算する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とは限らない。</a:t>
            </a:r>
          </a:p>
        </p:txBody>
      </p:sp>
      <p:sp>
        <p:nvSpPr>
          <p:cNvPr id="12" name="">
            <a:extLst xmlns:a="http://schemas.openxmlformats.org/drawingml/2006/main">
              <a:ext uri="{FF2B5EF4-FFF2-40B4-BE49-F238E27FC236}">
                <a16:creationId xmlns:a16="http://schemas.microsoft.com/office/drawing/2014/main" id="{B4C8D35C-A586-4CEE-83C1-589AF4B5C22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ABC114-0501-4AFB-B78D-8642C7654E8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Cは同時確率。条件付き確率とは区別する</a:t>
            </a:r>
          </a:p>
        </p:txBody>
      </p:sp>
    </p:spTree>
    <p:extLst>
      <p:ext uri="{BB962C8B-B14F-4D97-AF65-F5344CB8AC3E}">
        <p14:creationId xmlns:p14="http://schemas.microsoft.com/office/powerpoint/2010/main" val="10603396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DBDD28-647D-4A98-BA7B-4CE9F692054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同時確率を、図で見る</a:t>
            </a:r>
          </a:p>
        </p:txBody>
      </p:sp>
      <p:sp>
        <p:nvSpPr>
          <p:cNvPr id="2" name="">
            <a:extLst xmlns:a="http://schemas.openxmlformats.org/drawingml/2006/main">
              <a:ext uri="{FF2B5EF4-FFF2-40B4-BE49-F238E27FC236}">
                <a16:creationId xmlns:a16="http://schemas.microsoft.com/office/drawing/2014/main" id="{32696D1F-6AD8-47B7-8BAB-F463B8AECC5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158EDD-20CF-4555-B878-0B4E4830B51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独立の説明例：左下の範囲に入るのは100点中40点。</a:t>
            </a:r>
          </a:p>
        </p:txBody>
      </p:sp>
      <p:sp>
        <p:nvSpPr>
          <p:cNvPr id="4" name="">
            <a:extLst xmlns:a="http://schemas.openxmlformats.org/drawingml/2006/main">
              <a:ext uri="{FF2B5EF4-FFF2-40B4-BE49-F238E27FC236}">
                <a16:creationId xmlns:a16="http://schemas.microsoft.com/office/drawing/2014/main" id="{1B1622B5-3F91-4021-B8EB-7DF3326822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60E790A-3855-46C0-A8B7-03897CA46AF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17" name="Chart"/>
          <p:cNvGraphicFramePr/>
          <p:nvPr/>
        </p:nvGraphicFramePr>
        <p:xfrm>
          <a:off xmlns:a="http://schemas.openxmlformats.org/drawingml/2006/main" x="609600" y="1952625"/>
          <a:ext xmlns:a="http://schemas.openxmlformats.org/drawingml/2006/main" cx="6191250" cy="3486150"/>
        </p:xfrm>
        <a:graphic xmlns:a="http://schemas.openxmlformats.org/drawingml/2006/main">
          <a:graphicData uri="http://schemas.openxmlformats.org/drawingml/2006/chart">
            <c:chart xmlns:r="http://schemas.openxmlformats.org/officeDocument/2006/relationships" xmlns:c="http://schemas.openxmlformats.org/drawingml/2006/chart" r:id="R64a292c891f541e1"/>
          </a:graphicData>
        </a:graphic>
      </p:graphicFrame>
      <p:sp>
        <p:nvSpPr>
          <p:cNvPr id="7" name="">
            <a:extLst xmlns:a="http://schemas.openxmlformats.org/drawingml/2006/main">
              <a:ext uri="{FF2B5EF4-FFF2-40B4-BE49-F238E27FC236}">
                <a16:creationId xmlns:a16="http://schemas.microsoft.com/office/drawing/2014/main" id="{3DD9E5CB-434C-4A97-AD33-02A2629B081D}"/>
              </a:ext>
            </a:extLst>
          </p:cNvPr>
          <p:cNvSpPr>
            <a:spLocks xmlns:a="http://schemas.openxmlformats.org/drawingml/2006/main" noGrp="1"/>
          </p:cNvSpPr>
          <p:nvPr/>
        </p:nvSpPr>
        <p:spPr>
          <a:xfrm xmlns:a="http://schemas.openxmlformats.org/drawingml/2006/main">
            <a:off x="7086600" y="2095500"/>
            <a:ext cx="4552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D709A7-65B7-4966-9747-6E63E43C9462}"/>
              </a:ext>
            </a:extLst>
          </p:cNvPr>
          <p:cNvSpPr>
            <a:spLocks xmlns:a="http://schemas.openxmlformats.org/drawingml/2006/main" noGrp="1"/>
          </p:cNvSpPr>
          <p:nvPr/>
        </p:nvSpPr>
        <p:spPr>
          <a:xfrm xmlns:a="http://schemas.openxmlformats.org/drawingml/2006/main">
            <a:off x="7277100" y="2209800"/>
            <a:ext cx="417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緑の点を数える</a:t>
            </a:r>
          </a:p>
        </p:txBody>
      </p:sp>
      <p:sp>
        <p:nvSpPr>
          <p:cNvPr id="9" name="">
            <a:extLst xmlns:a="http://schemas.openxmlformats.org/drawingml/2006/main">
              <a:ext uri="{FF2B5EF4-FFF2-40B4-BE49-F238E27FC236}">
                <a16:creationId xmlns:a16="http://schemas.microsoft.com/office/drawing/2014/main" id="{81889222-7D3D-410C-95FF-179D83EAD6B4}"/>
              </a:ext>
            </a:extLst>
          </p:cNvPr>
          <p:cNvSpPr>
            <a:spLocks xmlns:a="http://schemas.openxmlformats.org/drawingml/2006/main" noGrp="1"/>
          </p:cNvSpPr>
          <p:nvPr/>
        </p:nvSpPr>
        <p:spPr>
          <a:xfrm xmlns:a="http://schemas.openxmlformats.org/drawingml/2006/main">
            <a:off x="7277100" y="2762250"/>
            <a:ext cx="4171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0.8 かつ V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左下の範囲：40点</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全体：100点</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C(0.8, 0.5) = 0.4</a:t>
            </a:r>
          </a:p>
        </p:txBody>
      </p:sp>
      <p:sp>
        <p:nvSpPr>
          <p:cNvPr id="10" name="">
            <a:extLst xmlns:a="http://schemas.openxmlformats.org/drawingml/2006/main">
              <a:ext uri="{FF2B5EF4-FFF2-40B4-BE49-F238E27FC236}">
                <a16:creationId xmlns:a16="http://schemas.microsoft.com/office/drawing/2014/main" id="{D1F90F81-0729-4FAD-B97A-2BE3B09370E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1C6A74-557A-4137-9486-F64D61FD471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一般のCでは、同じ範囲でも点の集まり方で確率が変わる</a:t>
            </a:r>
          </a:p>
        </p:txBody>
      </p:sp>
    </p:spTree>
    <p:extLst>
      <p:ext uri="{BB962C8B-B14F-4D97-AF65-F5344CB8AC3E}">
        <p14:creationId xmlns:p14="http://schemas.microsoft.com/office/powerpoint/2010/main" val="18460246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D7ABAB-57F9-4483-8609-24C06DBB3FD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 C(u, 1) = u なのか</a:t>
            </a:r>
          </a:p>
        </p:txBody>
      </p:sp>
      <p:sp>
        <p:nvSpPr>
          <p:cNvPr id="2" name="">
            <a:extLst xmlns:a="http://schemas.openxmlformats.org/drawingml/2006/main">
              <a:ext uri="{FF2B5EF4-FFF2-40B4-BE49-F238E27FC236}">
                <a16:creationId xmlns:a16="http://schemas.microsoft.com/office/drawing/2014/main" id="{A0BBA6EE-99C8-4736-A4A4-993B9E71F87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FD4B0F-AF8A-4727-AD77-A5819CED5AE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体重側の条件を全範囲へ広げると、誰も除外されなくなる。</a:t>
            </a:r>
          </a:p>
        </p:txBody>
      </p:sp>
      <p:sp>
        <p:nvSpPr>
          <p:cNvPr id="4" name="">
            <a:extLst xmlns:a="http://schemas.openxmlformats.org/drawingml/2006/main">
              <a:ext uri="{FF2B5EF4-FFF2-40B4-BE49-F238E27FC236}">
                <a16:creationId xmlns:a16="http://schemas.microsoft.com/office/drawing/2014/main" id="{1CB957B0-A9A5-49A7-A4A3-E13E5F4A4AD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C57D545-42A3-4E6F-B03A-062AD0F55D4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F65B447E-835B-401D-9A57-FB1F5B36C44E}"/>
              </a:ext>
            </a:extLst>
          </p:cNvPr>
          <p:cNvSpPr>
            <a:spLocks xmlns:a="http://schemas.openxmlformats.org/drawingml/2006/main" noGrp="1"/>
          </p:cNvSpPr>
          <p:nvPr/>
        </p:nvSpPr>
        <p:spPr>
          <a:xfrm xmlns:a="http://schemas.openxmlformats.org/drawingml/2006/main">
            <a:off x="514350" y="2000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421C4E-9FD4-49D4-857A-47F890204180}"/>
              </a:ext>
            </a:extLst>
          </p:cNvPr>
          <p:cNvSpPr>
            <a:spLocks xmlns:a="http://schemas.openxmlformats.org/drawingml/2006/main" noGrp="1"/>
          </p:cNvSpPr>
          <p:nvPr/>
        </p:nvSpPr>
        <p:spPr>
          <a:xfrm xmlns:a="http://schemas.openxmlformats.org/drawingml/2006/main">
            <a:off x="704850" y="2095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C(u, 1) = P(U ≤ u, V ≤ 1) = P(U ≤ u) = u</a:t>
            </a:r>
          </a:p>
        </p:txBody>
      </p:sp>
      <p:sp>
        <p:nvSpPr>
          <p:cNvPr id="8" name="">
            <a:extLst xmlns:a="http://schemas.openxmlformats.org/drawingml/2006/main">
              <a:ext uri="{FF2B5EF4-FFF2-40B4-BE49-F238E27FC236}">
                <a16:creationId xmlns:a16="http://schemas.microsoft.com/office/drawing/2014/main" id="{0E23DBDE-19CD-43A9-8095-20CDC25820F4}"/>
              </a:ext>
            </a:extLst>
          </p:cNvPr>
          <p:cNvSpPr>
            <a:spLocks xmlns:a="http://schemas.openxmlformats.org/drawingml/2006/main" noGrp="1"/>
          </p:cNvSpPr>
          <p:nvPr/>
        </p:nvSpPr>
        <p:spPr>
          <a:xfrm xmlns:a="http://schemas.openxmlformats.org/drawingml/2006/main">
            <a:off x="552450" y="33337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28513BA5-7FB3-408E-9DD0-A578C962D7FE}"/>
              </a:ext>
            </a:extLst>
          </p:cNvPr>
          <p:cNvSpPr>
            <a:spLocks xmlns:a="http://schemas.openxmlformats.org/drawingml/2006/main" noGrp="1"/>
          </p:cNvSpPr>
          <p:nvPr/>
        </p:nvSpPr>
        <p:spPr>
          <a:xfrm xmlns:a="http://schemas.openxmlformats.org/drawingml/2006/main">
            <a:off x="1257300" y="33337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1：体重の位置は必ず0〜1。全員が条件を満たす。</a:t>
            </a:r>
          </a:p>
        </p:txBody>
      </p:sp>
      <p:sp>
        <p:nvSpPr>
          <p:cNvPr id="10" name="">
            <a:extLst xmlns:a="http://schemas.openxmlformats.org/drawingml/2006/main">
              <a:ext uri="{FF2B5EF4-FFF2-40B4-BE49-F238E27FC236}">
                <a16:creationId xmlns:a16="http://schemas.microsoft.com/office/drawing/2014/main" id="{C4776E34-40AB-4D8E-A7DD-B56BC015E992}"/>
              </a:ext>
            </a:extLst>
          </p:cNvPr>
          <p:cNvSpPr>
            <a:spLocks xmlns:a="http://schemas.openxmlformats.org/drawingml/2006/main" noGrp="1"/>
          </p:cNvSpPr>
          <p:nvPr/>
        </p:nvSpPr>
        <p:spPr>
          <a:xfrm xmlns:a="http://schemas.openxmlformats.org/drawingml/2006/main">
            <a:off x="552450" y="39941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9763E87-59EB-4BF0-82E7-40C5EB998192}"/>
              </a:ext>
            </a:extLst>
          </p:cNvPr>
          <p:cNvSpPr>
            <a:spLocks xmlns:a="http://schemas.openxmlformats.org/drawingml/2006/main" noGrp="1"/>
          </p:cNvSpPr>
          <p:nvPr/>
        </p:nvSpPr>
        <p:spPr>
          <a:xfrm xmlns:a="http://schemas.openxmlformats.org/drawingml/2006/main">
            <a:off x="1257300" y="39941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残る条件は U ≤ u だけ。</a:t>
            </a:r>
          </a:p>
        </p:txBody>
      </p:sp>
      <p:sp>
        <p:nvSpPr>
          <p:cNvPr id="12" name="">
            <a:extLst xmlns:a="http://schemas.openxmlformats.org/drawingml/2006/main">
              <a:ext uri="{FF2B5EF4-FFF2-40B4-BE49-F238E27FC236}">
                <a16:creationId xmlns:a16="http://schemas.microsoft.com/office/drawing/2014/main" id="{2F0EE50D-F870-49EE-A652-5FF1F4DDE2EF}"/>
              </a:ext>
            </a:extLst>
          </p:cNvPr>
          <p:cNvSpPr>
            <a:spLocks xmlns:a="http://schemas.openxmlformats.org/drawingml/2006/main" noGrp="1"/>
          </p:cNvSpPr>
          <p:nvPr/>
        </p:nvSpPr>
        <p:spPr>
          <a:xfrm xmlns:a="http://schemas.openxmlformats.org/drawingml/2006/main">
            <a:off x="552450" y="465455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C5438A62-7E1C-4BC1-A421-8571FADCBF25}"/>
              </a:ext>
            </a:extLst>
          </p:cNvPr>
          <p:cNvSpPr>
            <a:spLocks xmlns:a="http://schemas.openxmlformats.org/drawingml/2006/main" noGrp="1"/>
          </p:cNvSpPr>
          <p:nvPr/>
        </p:nvSpPr>
        <p:spPr>
          <a:xfrm xmlns:a="http://schemas.openxmlformats.org/drawingml/2006/main">
            <a:off x="1257300" y="465455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は一様分布なので、U ≤ 0.8 の割合は0.8。</a:t>
            </a:r>
          </a:p>
        </p:txBody>
      </p:sp>
      <p:sp>
        <p:nvSpPr>
          <p:cNvPr id="14" name="">
            <a:extLst xmlns:a="http://schemas.openxmlformats.org/drawingml/2006/main">
              <a:ext uri="{FF2B5EF4-FFF2-40B4-BE49-F238E27FC236}">
                <a16:creationId xmlns:a16="http://schemas.microsoft.com/office/drawing/2014/main" id="{471C1FCB-F209-4899-91E8-3D5BE95D62A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3A181E7-BB70-45D8-BFAD-63223925232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どんな依存関係でも C(0.8, 1) = 0.8</a:t>
            </a:r>
          </a:p>
        </p:txBody>
      </p:sp>
    </p:spTree>
    <p:extLst>
      <p:ext uri="{BB962C8B-B14F-4D97-AF65-F5344CB8AC3E}">
        <p14:creationId xmlns:p14="http://schemas.microsoft.com/office/powerpoint/2010/main" val="16099847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F97131-18E0-4E3F-92DE-47ECEF699A3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独立なら、なぜ C(u, v) = uv？</a:t>
            </a:r>
          </a:p>
        </p:txBody>
      </p:sp>
      <p:sp>
        <p:nvSpPr>
          <p:cNvPr id="2" name="">
            <a:extLst xmlns:a="http://schemas.openxmlformats.org/drawingml/2006/main">
              <a:ext uri="{FF2B5EF4-FFF2-40B4-BE49-F238E27FC236}">
                <a16:creationId xmlns:a16="http://schemas.microsoft.com/office/drawing/2014/main" id="{780BC2F3-7626-4F56-AEFE-4411E4E4AA0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AE3489-8D7E-42C9-A9FF-19D4ACA2C5D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身長の位置で絞っても、体重の位置の分布が変わらない。</a:t>
            </a:r>
          </a:p>
        </p:txBody>
      </p:sp>
      <p:sp>
        <p:nvSpPr>
          <p:cNvPr id="4" name="">
            <a:extLst xmlns:a="http://schemas.openxmlformats.org/drawingml/2006/main">
              <a:ext uri="{FF2B5EF4-FFF2-40B4-BE49-F238E27FC236}">
                <a16:creationId xmlns:a16="http://schemas.microsoft.com/office/drawing/2014/main" id="{042FA79D-3882-46CF-BC19-D902AB583B9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535A72F-E67D-454B-B0D4-9B53B6F169B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6AF79B37-676D-4211-BB8E-9E2E5705FE40}"/>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C4C2C1-BAF9-47E5-B8C0-94621F245389}"/>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C(u, v) = P(U ≤ u) × P(V ≤ v) = u × v</a:t>
            </a:r>
          </a:p>
        </p:txBody>
      </p:sp>
      <p:sp>
        <p:nvSpPr>
          <p:cNvPr id="8" name="">
            <a:extLst xmlns:a="http://schemas.openxmlformats.org/drawingml/2006/main">
              <a:ext uri="{FF2B5EF4-FFF2-40B4-BE49-F238E27FC236}">
                <a16:creationId xmlns:a16="http://schemas.microsoft.com/office/drawing/2014/main" id="{68CB2F1C-C279-4BB8-95E8-848570F7414C}"/>
              </a:ext>
            </a:extLst>
          </p:cNvPr>
          <p:cNvSpPr>
            <a:spLocks xmlns:a="http://schemas.openxmlformats.org/drawingml/2006/main" noGrp="1"/>
          </p:cNvSpPr>
          <p:nvPr/>
        </p:nvSpPr>
        <p:spPr>
          <a:xfrm xmlns:a="http://schemas.openxmlformats.org/drawingml/2006/main">
            <a:off x="552450" y="32861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DB654A3-F883-4CB9-BA74-B5B0BDF8F35A}"/>
              </a:ext>
            </a:extLst>
          </p:cNvPr>
          <p:cNvSpPr>
            <a:spLocks xmlns:a="http://schemas.openxmlformats.org/drawingml/2006/main" noGrp="1"/>
          </p:cNvSpPr>
          <p:nvPr/>
        </p:nvSpPr>
        <p:spPr>
          <a:xfrm xmlns:a="http://schemas.openxmlformats.org/drawingml/2006/main">
            <a:off x="1257300" y="32861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例：身長の位置0.8以下 → 全体の80%。</a:t>
            </a:r>
          </a:p>
        </p:txBody>
      </p:sp>
      <p:sp>
        <p:nvSpPr>
          <p:cNvPr id="10" name="">
            <a:extLst xmlns:a="http://schemas.openxmlformats.org/drawingml/2006/main">
              <a:ext uri="{FF2B5EF4-FFF2-40B4-BE49-F238E27FC236}">
                <a16:creationId xmlns:a16="http://schemas.microsoft.com/office/drawing/2014/main" id="{7EA7151F-B534-4808-B0BB-676DF44FBB17}"/>
              </a:ext>
            </a:extLst>
          </p:cNvPr>
          <p:cNvSpPr>
            <a:spLocks xmlns:a="http://schemas.openxmlformats.org/drawingml/2006/main" noGrp="1"/>
          </p:cNvSpPr>
          <p:nvPr/>
        </p:nvSpPr>
        <p:spPr>
          <a:xfrm xmlns:a="http://schemas.openxmlformats.org/drawingml/2006/main">
            <a:off x="552450" y="397827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C20A971E-F4A8-45A5-8659-A7D5EF0B297C}"/>
              </a:ext>
            </a:extLst>
          </p:cNvPr>
          <p:cNvSpPr>
            <a:spLocks xmlns:a="http://schemas.openxmlformats.org/drawingml/2006/main" noGrp="1"/>
          </p:cNvSpPr>
          <p:nvPr/>
        </p:nvSpPr>
        <p:spPr>
          <a:xfrm xmlns:a="http://schemas.openxmlformats.org/drawingml/2006/main">
            <a:off x="1257300" y="397827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その集団でも、体重の位置0.5以下 → 50%。</a:t>
            </a:r>
          </a:p>
        </p:txBody>
      </p:sp>
      <p:sp>
        <p:nvSpPr>
          <p:cNvPr id="12" name="">
            <a:extLst xmlns:a="http://schemas.openxmlformats.org/drawingml/2006/main">
              <a:ext uri="{FF2B5EF4-FFF2-40B4-BE49-F238E27FC236}">
                <a16:creationId xmlns:a16="http://schemas.microsoft.com/office/drawing/2014/main" id="{01EFE3AF-A204-45C0-BA90-9C1A1426D8A8}"/>
              </a:ext>
            </a:extLst>
          </p:cNvPr>
          <p:cNvSpPr>
            <a:spLocks xmlns:a="http://schemas.openxmlformats.org/drawingml/2006/main" noGrp="1"/>
          </p:cNvSpPr>
          <p:nvPr/>
        </p:nvSpPr>
        <p:spPr>
          <a:xfrm xmlns:a="http://schemas.openxmlformats.org/drawingml/2006/main">
            <a:off x="552450" y="4670425"/>
            <a:ext cx="4762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6D0CEBE-1FDA-4B44-9BB0-E69FD720EABF}"/>
              </a:ext>
            </a:extLst>
          </p:cNvPr>
          <p:cNvSpPr>
            <a:spLocks xmlns:a="http://schemas.openxmlformats.org/drawingml/2006/main" noGrp="1"/>
          </p:cNvSpPr>
          <p:nvPr/>
        </p:nvSpPr>
        <p:spPr>
          <a:xfrm xmlns:a="http://schemas.openxmlformats.org/drawingml/2006/main">
            <a:off x="1257300" y="4670425"/>
            <a:ext cx="10191750" cy="61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両方を満たす割合 → 0.8 × 0.5 = 0.4。</a:t>
            </a:r>
          </a:p>
        </p:txBody>
      </p:sp>
      <p:sp>
        <p:nvSpPr>
          <p:cNvPr id="14" name="">
            <a:extLst xmlns:a="http://schemas.openxmlformats.org/drawingml/2006/main">
              <a:ext uri="{FF2B5EF4-FFF2-40B4-BE49-F238E27FC236}">
                <a16:creationId xmlns:a16="http://schemas.microsoft.com/office/drawing/2014/main" id="{204DD4C8-5297-4296-8ADC-39AA29C51A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A97157-9318-42C0-8A4E-4A841C1B89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独立の意味：一方を知っても、もう一方の分布は変わらない</a:t>
            </a:r>
          </a:p>
        </p:txBody>
      </p:sp>
    </p:spTree>
    <p:extLst>
      <p:ext uri="{BB962C8B-B14F-4D97-AF65-F5344CB8AC3E}">
        <p14:creationId xmlns:p14="http://schemas.microsoft.com/office/powerpoint/2010/main" val="15619314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E9F92A2-DFD9-469F-92B2-315131D815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完全に同じ位置なら、なぜ min？</a:t>
            </a:r>
          </a:p>
        </p:txBody>
      </p:sp>
      <p:sp>
        <p:nvSpPr>
          <p:cNvPr id="2" name="">
            <a:extLst xmlns:a="http://schemas.openxmlformats.org/drawingml/2006/main">
              <a:ext uri="{FF2B5EF4-FFF2-40B4-BE49-F238E27FC236}">
                <a16:creationId xmlns:a16="http://schemas.microsoft.com/office/drawing/2014/main" id="{4113FC6D-7E94-479B-8BB0-1245CDDDE3C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C14DF8-CB5D-4599-BA84-2B3A50EBB30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U：身長と体重の「順位位置」がいつも一致する場合。</a:t>
            </a:r>
          </a:p>
        </p:txBody>
      </p:sp>
      <p:sp>
        <p:nvSpPr>
          <p:cNvPr id="4" name="">
            <a:extLst xmlns:a="http://schemas.openxmlformats.org/drawingml/2006/main">
              <a:ext uri="{FF2B5EF4-FFF2-40B4-BE49-F238E27FC236}">
                <a16:creationId xmlns:a16="http://schemas.microsoft.com/office/drawing/2014/main" id="{6F1677ED-B843-46C3-9C7A-48A5DC6267E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2129CC2-751B-455E-A1DE-0159B54B0CE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sp>
        <p:nvSpPr>
          <p:cNvPr id="6" name="">
            <a:extLst xmlns:a="http://schemas.openxmlformats.org/drawingml/2006/main">
              <a:ext uri="{FF2B5EF4-FFF2-40B4-BE49-F238E27FC236}">
                <a16:creationId xmlns:a16="http://schemas.microsoft.com/office/drawing/2014/main" id="{DC904789-A9A0-4670-8400-13533277FBEF}"/>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3D1223-7DB5-49B3-8E7E-CEDD7637E65A}"/>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 v) = P(U ≤ u, U ≤ v) = P(U ≤ min(u, v))</a:t>
            </a:r>
          </a:p>
        </p:txBody>
      </p:sp>
      <p:sp>
        <p:nvSpPr>
          <p:cNvPr id="8" name="">
            <a:extLst xmlns:a="http://schemas.openxmlformats.org/drawingml/2006/main">
              <a:ext uri="{FF2B5EF4-FFF2-40B4-BE49-F238E27FC236}">
                <a16:creationId xmlns:a16="http://schemas.microsoft.com/office/drawing/2014/main" id="{71EF5027-A456-4861-A49D-4C78AF8CE2DE}"/>
              </a:ext>
            </a:extLst>
          </p:cNvPr>
          <p:cNvSpPr>
            <a:spLocks xmlns:a="http://schemas.openxmlformats.org/drawingml/2006/main" noGrp="1"/>
          </p:cNvSpPr>
          <p:nvPr/>
        </p:nvSpPr>
        <p:spPr>
          <a:xfrm xmlns:a="http://schemas.openxmlformats.org/drawingml/2006/main">
            <a:off x="552450" y="33147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8AC8330A-59D7-45FF-B0A8-F7C68D498D82}"/>
              </a:ext>
            </a:extLst>
          </p:cNvPr>
          <p:cNvSpPr>
            <a:spLocks xmlns:a="http://schemas.openxmlformats.org/drawingml/2006/main" noGrp="1"/>
          </p:cNvSpPr>
          <p:nvPr/>
        </p:nvSpPr>
        <p:spPr>
          <a:xfrm xmlns:a="http://schemas.openxmlformats.org/drawingml/2006/main">
            <a:off x="1257300" y="33147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例：U ≤ 0.8 かつ U ≤ 0.5。</a:t>
            </a:r>
          </a:p>
        </p:txBody>
      </p:sp>
      <p:sp>
        <p:nvSpPr>
          <p:cNvPr id="10" name="">
            <a:extLst xmlns:a="http://schemas.openxmlformats.org/drawingml/2006/main">
              <a:ext uri="{FF2B5EF4-FFF2-40B4-BE49-F238E27FC236}">
                <a16:creationId xmlns:a16="http://schemas.microsoft.com/office/drawing/2014/main" id="{EA275AD6-ACFF-4637-9740-F1556984C3AD}"/>
              </a:ext>
            </a:extLst>
          </p:cNvPr>
          <p:cNvSpPr>
            <a:spLocks xmlns:a="http://schemas.openxmlformats.org/drawingml/2006/main" noGrp="1"/>
          </p:cNvSpPr>
          <p:nvPr/>
        </p:nvSpPr>
        <p:spPr>
          <a:xfrm xmlns:a="http://schemas.openxmlformats.org/drawingml/2006/main">
            <a:off x="552450" y="399415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1C1012F9-EE40-478C-B9F9-3C552DDFD1B8}"/>
              </a:ext>
            </a:extLst>
          </p:cNvPr>
          <p:cNvSpPr>
            <a:spLocks xmlns:a="http://schemas.openxmlformats.org/drawingml/2006/main" noGrp="1"/>
          </p:cNvSpPr>
          <p:nvPr/>
        </p:nvSpPr>
        <p:spPr>
          <a:xfrm xmlns:a="http://schemas.openxmlformats.org/drawingml/2006/main">
            <a:off x="1257300" y="399415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両方を満たすのは U ≤ 0.5。</a:t>
            </a:r>
          </a:p>
        </p:txBody>
      </p:sp>
      <p:sp>
        <p:nvSpPr>
          <p:cNvPr id="12" name="">
            <a:extLst xmlns:a="http://schemas.openxmlformats.org/drawingml/2006/main">
              <a:ext uri="{FF2B5EF4-FFF2-40B4-BE49-F238E27FC236}">
                <a16:creationId xmlns:a16="http://schemas.microsoft.com/office/drawing/2014/main" id="{03A7CDC1-BDA0-4CC4-8663-D0BB4676CE4D}"/>
              </a:ext>
            </a:extLst>
          </p:cNvPr>
          <p:cNvSpPr>
            <a:spLocks xmlns:a="http://schemas.openxmlformats.org/drawingml/2006/main" noGrp="1"/>
          </p:cNvSpPr>
          <p:nvPr/>
        </p:nvSpPr>
        <p:spPr>
          <a:xfrm xmlns:a="http://schemas.openxmlformats.org/drawingml/2006/main">
            <a:off x="552450" y="4673600"/>
            <a:ext cx="4762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B79FEDF9-440F-4BF7-87BA-41928C5FE6DA}"/>
              </a:ext>
            </a:extLst>
          </p:cNvPr>
          <p:cNvSpPr>
            <a:spLocks xmlns:a="http://schemas.openxmlformats.org/drawingml/2006/main" noGrp="1"/>
          </p:cNvSpPr>
          <p:nvPr/>
        </p:nvSpPr>
        <p:spPr>
          <a:xfrm xmlns:a="http://schemas.openxmlformats.org/drawingml/2006/main">
            <a:off x="1257300" y="4673600"/>
            <a:ext cx="10191750" cy="60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したがって C(0.8, 0.5) = 0.5 = min(0.8, 0.5)。</a:t>
            </a:r>
          </a:p>
        </p:txBody>
      </p:sp>
      <p:sp>
        <p:nvSpPr>
          <p:cNvPr id="14" name="">
            <a:extLst xmlns:a="http://schemas.openxmlformats.org/drawingml/2006/main">
              <a:ext uri="{FF2B5EF4-FFF2-40B4-BE49-F238E27FC236}">
                <a16:creationId xmlns:a16="http://schemas.microsoft.com/office/drawing/2014/main" id="{FC9E9513-0223-41BE-B8F8-B858356F2B2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E78653-0DEE-49CE-9C34-78480868345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同じ位置に二つの条件をかけるため、小さい境界が残る</a:t>
            </a:r>
          </a:p>
        </p:txBody>
      </p:sp>
    </p:spTree>
    <p:extLst>
      <p:ext uri="{BB962C8B-B14F-4D97-AF65-F5344CB8AC3E}">
        <p14:creationId xmlns:p14="http://schemas.microsoft.com/office/powerpoint/2010/main" val="10073317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F9632C-AE8D-4B17-9BA1-3D5AB252F9B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同じ周辺分布でも、同時確率は違う</a:t>
            </a:r>
          </a:p>
        </p:txBody>
      </p:sp>
      <p:sp>
        <p:nvSpPr>
          <p:cNvPr id="2" name="">
            <a:extLst xmlns:a="http://schemas.openxmlformats.org/drawingml/2006/main">
              <a:ext uri="{FF2B5EF4-FFF2-40B4-BE49-F238E27FC236}">
                <a16:creationId xmlns:a16="http://schemas.microsoft.com/office/drawing/2014/main" id="{EF6F47A3-9F05-4817-AEBB-76188F173E3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83443D-62BB-4581-A50D-9958EB249F4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どの場合も、身長・体重の位置はそれぞれ一様分布。</a:t>
            </a:r>
          </a:p>
        </p:txBody>
      </p:sp>
      <p:sp>
        <p:nvSpPr>
          <p:cNvPr id="4" name="">
            <a:extLst xmlns:a="http://schemas.openxmlformats.org/drawingml/2006/main">
              <a:ext uri="{FF2B5EF4-FFF2-40B4-BE49-F238E27FC236}">
                <a16:creationId xmlns:a16="http://schemas.microsoft.com/office/drawing/2014/main" id="{DDFABC81-9B80-4AC0-BCCF-1926580D518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6FA0941-4CC9-496D-9371-C2001AF52F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graphicFrame>
        <p:nvGraphicFramePr>
          <p:cNvPr id="14" name=""/>
          <p:cNvGraphicFramePr/>
          <p:nvPr/>
        </p:nvGraphicFramePr>
        <p:xfrm>
          <a:off xmlns:a="http://schemas.openxmlformats.org/drawingml/2006/main" x="514350" y="2114550"/>
          <a:ext xmlns:a="http://schemas.openxmlformats.org/drawingml/2006/main" cx="11163300" cy="2762250"/>
        </p:xfrm>
        <a:graphic xmlns:a="http://schemas.openxmlformats.org/drawingml/2006/main">
          <a:graphicData uri="http://schemas.openxmlformats.org/drawingml/2006/table">
            <a:tbl>
              <a:tblPr/>
              <a:tblGrid>
                <a:gridCol w="3721100"/>
                <a:gridCol w="3721100"/>
                <a:gridCol w="3721100"/>
              </a:tblGrid>
              <a:tr h="690563">
                <a:tc>
                  <a:txBody>
                    <a:bodyPr/>
                    <a:lstStyle/>
                    <a:p>
                      <a:pPr algn="ctr"/>
                      <a:r>
                        <a:rPr sz="2100"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C(u, v)</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C(0.8, 0.5)</a:t>
                      </a:r>
                    </a:p>
                  </a:txBody>
                  <a:tcPr marL="91440" marR="91440" marT="45720" marB="45720" anchor="ctr">
                    <a:solidFill>
                      <a:srgbClr val="E7F2EC"/>
                    </a:solidFill>
                  </a:tcPr>
                </a:tc>
              </a:tr>
              <a:tr h="690563">
                <a:tc>
                  <a:txBody>
                    <a:bodyPr/>
                    <a:lstStyle/>
                    <a:p>
                      <a:pPr algn="ctr"/>
                      <a:r>
                        <a:rPr sz="2100" b="0">
                          <a:solidFill>
                            <a:srgbClr val="222222"/>
                          </a:solidFill>
                          <a:latin typeface="Noto Sans JP"/>
                          <a:ea typeface="Noto Sans JP"/>
                          <a:cs typeface="Noto Sans JP"/>
                        </a:rPr>
                        <a:t>独立</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uv</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0.4</a:t>
                      </a:r>
                    </a:p>
                  </a:txBody>
                  <a:tcPr marL="91440" marR="91440" marT="45720" marB="45720" anchor="ctr">
                    <a:solidFill>
                      <a:srgbClr val="FFFFFF"/>
                    </a:solidFill>
                  </a:tcPr>
                </a:tc>
              </a:tr>
              <a:tr h="690563">
                <a:tc>
                  <a:txBody>
                    <a:bodyPr/>
                    <a:lstStyle/>
                    <a:p>
                      <a:pPr algn="ctr"/>
                      <a:r>
                        <a:rPr sz="2100" b="0">
                          <a:solidFill>
                            <a:srgbClr val="222222"/>
                          </a:solidFill>
                          <a:latin typeface="Noto Sans JP"/>
                          <a:ea typeface="Noto Sans JP"/>
                          <a:cs typeface="Noto Sans JP"/>
                        </a:rPr>
                        <a:t>完全に同じ位置：V = 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min(u, v)</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a:t>
                      </a:r>
                    </a:p>
                  </a:txBody>
                  <a:tcPr marL="91440" marR="91440" marT="45720" marB="45720" anchor="ctr">
                    <a:solidFill>
                      <a:srgbClr val="F6F6F6"/>
                    </a:solidFill>
                  </a:tcPr>
                </a:tc>
              </a:tr>
              <a:tr h="690563">
                <a:tc>
                  <a:txBody>
                    <a:bodyPr/>
                    <a:lstStyle/>
                    <a:p>
                      <a:pPr algn="ctr"/>
                      <a:r>
                        <a:rPr sz="2100" b="0">
                          <a:solidFill>
                            <a:srgbClr val="222222"/>
                          </a:solidFill>
                          <a:latin typeface="Noto Sans JP"/>
                          <a:ea typeface="Noto Sans JP"/>
                          <a:cs typeface="Noto Sans JP"/>
                        </a:rPr>
                        <a:t>完全に逆の位置：V = 1 − U</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max(u + v − 1, 0)</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0.3</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192FC28-4C51-43CC-AE38-EB810FF7B845}"/>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35904E-A037-45C3-8429-8D90B9C3667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コピュラの役割：周辺分布だけでは決まらない同時確率を表す</a:t>
            </a:r>
          </a:p>
        </p:txBody>
      </p:sp>
    </p:spTree>
    <p:extLst>
      <p:ext uri="{BB962C8B-B14F-4D97-AF65-F5344CB8AC3E}">
        <p14:creationId xmlns:p14="http://schemas.microsoft.com/office/powerpoint/2010/main" val="5636842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55C976-F597-479A-A960-420B37593ED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元の値との接続：Sklarの定理</a:t>
            </a:r>
          </a:p>
        </p:txBody>
      </p:sp>
      <p:sp>
        <p:nvSpPr>
          <p:cNvPr id="2" name="">
            <a:extLst xmlns:a="http://schemas.openxmlformats.org/drawingml/2006/main">
              <a:ext uri="{FF2B5EF4-FFF2-40B4-BE49-F238E27FC236}">
                <a16:creationId xmlns:a16="http://schemas.microsoft.com/office/drawing/2014/main" id="{940E1F05-DE6C-4C8B-B0D8-80B7409CC6D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B00F2A-7AC1-4176-97BC-8F1D651536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元の同時分布は「周辺分布」と「コピュラ」で表せる。</a:t>
            </a:r>
          </a:p>
        </p:txBody>
      </p:sp>
      <p:sp>
        <p:nvSpPr>
          <p:cNvPr id="4" name="">
            <a:extLst xmlns:a="http://schemas.openxmlformats.org/drawingml/2006/main">
              <a:ext uri="{FF2B5EF4-FFF2-40B4-BE49-F238E27FC236}">
                <a16:creationId xmlns:a16="http://schemas.microsoft.com/office/drawing/2014/main" id="{9070C512-C8F5-4A7D-B581-4CFC6A3D08A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3E128C7-F8CF-4CFE-9A76-1362FD2CAAA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C48F52A6-4E2F-4142-8D52-E95AD4062FF9}"/>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0D6FF4-3D32-44C8-90BB-99D67814C3AD}"/>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525" b="1">
                <a:solidFill>
                  <a:srgbClr val="2B6777"/>
                </a:solidFill>
                <a:latin typeface="Noto Sans JP"/>
                <a:ea typeface="Noto Sans JP"/>
                <a:cs typeface="Noto Sans JP"/>
              </a:defRPr>
            </a:pPr>
            <a:r>
              <a:rPr sz="3525" b="1">
                <a:solidFill>
                  <a:srgbClr val="2B6777"/>
                </a:solidFill>
                <a:latin typeface="Noto Sans JP"/>
                <a:ea typeface="Noto Sans JP"/>
                <a:cs typeface="Noto Sans JP"/>
              </a:rPr>
              <a:t>H(x, y) = C(Fₓ(x), Fᵧ(y))</a:t>
            </a:r>
          </a:p>
        </p:txBody>
      </p:sp>
      <p:sp>
        <p:nvSpPr>
          <p:cNvPr id="8" name="">
            <a:extLst xmlns:a="http://schemas.openxmlformats.org/drawingml/2006/main">
              <a:ext uri="{FF2B5EF4-FFF2-40B4-BE49-F238E27FC236}">
                <a16:creationId xmlns:a16="http://schemas.microsoft.com/office/drawing/2014/main" id="{4C600470-7EC8-4270-B8A0-246781CCE9D4}"/>
              </a:ext>
            </a:extLst>
          </p:cNvPr>
          <p:cNvSpPr>
            <a:spLocks xmlns:a="http://schemas.openxmlformats.org/drawingml/2006/main" noGrp="1"/>
          </p:cNvSpPr>
          <p:nvPr/>
        </p:nvSpPr>
        <p:spPr>
          <a:xfrm xmlns:a="http://schemas.openxmlformats.org/drawingml/2006/main">
            <a:off x="552450" y="333375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059D23A8-AE7C-4C5A-A736-F4F301544AC1}"/>
              </a:ext>
            </a:extLst>
          </p:cNvPr>
          <p:cNvSpPr>
            <a:spLocks xmlns:a="http://schemas.openxmlformats.org/drawingml/2006/main" noGrp="1"/>
          </p:cNvSpPr>
          <p:nvPr/>
        </p:nvSpPr>
        <p:spPr>
          <a:xfrm xmlns:a="http://schemas.openxmlformats.org/drawingml/2006/main">
            <a:off x="1257300" y="333375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Fₓ(x)：身長の境界xを、位置uへ変える。</a:t>
            </a:r>
          </a:p>
        </p:txBody>
      </p:sp>
      <p:sp>
        <p:nvSpPr>
          <p:cNvPr id="10" name="">
            <a:extLst xmlns:a="http://schemas.openxmlformats.org/drawingml/2006/main">
              <a:ext uri="{FF2B5EF4-FFF2-40B4-BE49-F238E27FC236}">
                <a16:creationId xmlns:a16="http://schemas.microsoft.com/office/drawing/2014/main" id="{F235BE16-716B-4B23-B9CA-8069E900BCEE}"/>
              </a:ext>
            </a:extLst>
          </p:cNvPr>
          <p:cNvSpPr>
            <a:spLocks xmlns:a="http://schemas.openxmlformats.org/drawingml/2006/main" noGrp="1"/>
          </p:cNvSpPr>
          <p:nvPr/>
        </p:nvSpPr>
        <p:spPr>
          <a:xfrm xmlns:a="http://schemas.openxmlformats.org/drawingml/2006/main">
            <a:off x="552450" y="4010025"/>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9BF261AF-44BB-4C9F-8FC9-2F7855FE8672}"/>
              </a:ext>
            </a:extLst>
          </p:cNvPr>
          <p:cNvSpPr>
            <a:spLocks xmlns:a="http://schemas.openxmlformats.org/drawingml/2006/main" noGrp="1"/>
          </p:cNvSpPr>
          <p:nvPr/>
        </p:nvSpPr>
        <p:spPr>
          <a:xfrm xmlns:a="http://schemas.openxmlformats.org/drawingml/2006/main">
            <a:off x="1257300" y="4010025"/>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Fᵧ(y)：体重の境界yを、位置vへ変える。</a:t>
            </a:r>
          </a:p>
        </p:txBody>
      </p:sp>
      <p:sp>
        <p:nvSpPr>
          <p:cNvPr id="12" name="">
            <a:extLst xmlns:a="http://schemas.openxmlformats.org/drawingml/2006/main">
              <a:ext uri="{FF2B5EF4-FFF2-40B4-BE49-F238E27FC236}">
                <a16:creationId xmlns:a16="http://schemas.microsoft.com/office/drawing/2014/main" id="{D8872111-D4A1-4AAE-A68F-9E04288F6F0A}"/>
              </a:ext>
            </a:extLst>
          </p:cNvPr>
          <p:cNvSpPr>
            <a:spLocks xmlns:a="http://schemas.openxmlformats.org/drawingml/2006/main" noGrp="1"/>
          </p:cNvSpPr>
          <p:nvPr/>
        </p:nvSpPr>
        <p:spPr>
          <a:xfrm xmlns:a="http://schemas.openxmlformats.org/drawingml/2006/main">
            <a:off x="552450" y="4686300"/>
            <a:ext cx="476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EF8555E-CF17-4582-98D5-B868D432D9EA}"/>
              </a:ext>
            </a:extLst>
          </p:cNvPr>
          <p:cNvSpPr>
            <a:spLocks xmlns:a="http://schemas.openxmlformats.org/drawingml/2006/main" noGrp="1"/>
          </p:cNvSpPr>
          <p:nvPr/>
        </p:nvSpPr>
        <p:spPr>
          <a:xfrm xmlns:a="http://schemas.openxmlformats.org/drawingml/2006/main">
            <a:off x="1257300" y="4686300"/>
            <a:ext cx="10191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C(u, v)：その二つを同時に満たす確率を返す。</a:t>
            </a:r>
          </a:p>
        </p:txBody>
      </p:sp>
      <p:sp>
        <p:nvSpPr>
          <p:cNvPr id="14" name="">
            <a:extLst xmlns:a="http://schemas.openxmlformats.org/drawingml/2006/main">
              <a:ext uri="{FF2B5EF4-FFF2-40B4-BE49-F238E27FC236}">
                <a16:creationId xmlns:a16="http://schemas.microsoft.com/office/drawing/2014/main" id="{EB9893E7-CB8B-4996-9668-B393D9A3681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522B4A-E8CC-4303-B8DC-4DA97235567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連続な周辺分布なら、このCは一意に決まる</a:t>
            </a:r>
          </a:p>
        </p:txBody>
      </p:sp>
    </p:spTree>
    <p:extLst>
      <p:ext uri="{BB962C8B-B14F-4D97-AF65-F5344CB8AC3E}">
        <p14:creationId xmlns:p14="http://schemas.microsoft.com/office/powerpoint/2010/main" val="688158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1BB1E2-375B-4EB5-BAE4-490FECB8E9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生成する場合は、逆向きに使う</a:t>
            </a:r>
          </a:p>
        </p:txBody>
      </p:sp>
      <p:sp>
        <p:nvSpPr>
          <p:cNvPr id="2" name="">
            <a:extLst xmlns:a="http://schemas.openxmlformats.org/drawingml/2006/main">
              <a:ext uri="{FF2B5EF4-FFF2-40B4-BE49-F238E27FC236}">
                <a16:creationId xmlns:a16="http://schemas.microsoft.com/office/drawing/2014/main" id="{DE14BCC9-7B1C-4C5B-AD55-28CB05BB435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653AEF-E0D9-4A52-8B50-FC0661F5A1B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位置の組を作ってから、各列の元の単位へ戻す。</a:t>
            </a:r>
          </a:p>
        </p:txBody>
      </p:sp>
      <p:sp>
        <p:nvSpPr>
          <p:cNvPr id="4" name="">
            <a:extLst xmlns:a="http://schemas.openxmlformats.org/drawingml/2006/main">
              <a:ext uri="{FF2B5EF4-FFF2-40B4-BE49-F238E27FC236}">
                <a16:creationId xmlns:a16="http://schemas.microsoft.com/office/drawing/2014/main" id="{8AC3A8E5-B766-4C2D-BFBB-CDC145790B6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AB893C05-7432-4C35-86D7-A65133EAC70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sp>
        <p:nvSpPr>
          <p:cNvPr id="6" name="">
            <a:extLst xmlns:a="http://schemas.openxmlformats.org/drawingml/2006/main">
              <a:ext uri="{FF2B5EF4-FFF2-40B4-BE49-F238E27FC236}">
                <a16:creationId xmlns:a16="http://schemas.microsoft.com/office/drawing/2014/main" id="{B4F1C693-92AD-4EC6-A354-01E7E8073BB7}"/>
              </a:ext>
            </a:extLst>
          </p:cNvPr>
          <p:cNvSpPr>
            <a:spLocks xmlns:a="http://schemas.openxmlformats.org/drawingml/2006/main" noGrp="1"/>
          </p:cNvSpPr>
          <p:nvPr/>
        </p:nvSpPr>
        <p:spPr>
          <a:xfrm xmlns:a="http://schemas.openxmlformats.org/drawingml/2006/main">
            <a:off x="514350" y="2038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FD5BCE-8754-4726-8880-50950BEF0563}"/>
              </a:ext>
            </a:extLst>
          </p:cNvPr>
          <p:cNvSpPr>
            <a:spLocks xmlns:a="http://schemas.openxmlformats.org/drawingml/2006/main" noGrp="1"/>
          </p:cNvSpPr>
          <p:nvPr/>
        </p:nvSpPr>
        <p:spPr>
          <a:xfrm xmlns:a="http://schemas.openxmlformats.org/drawingml/2006/main">
            <a:off x="704850" y="2133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(U, V) ~ C  →  X = Fₓ⁻¹(U),  Y = Fᵧ⁻¹(V)</a:t>
            </a:r>
          </a:p>
        </p:txBody>
      </p:sp>
      <p:sp>
        <p:nvSpPr>
          <p:cNvPr id="8" name="">
            <a:extLst xmlns:a="http://schemas.openxmlformats.org/drawingml/2006/main">
              <a:ext uri="{FF2B5EF4-FFF2-40B4-BE49-F238E27FC236}">
                <a16:creationId xmlns:a16="http://schemas.microsoft.com/office/drawing/2014/main" id="{5CF86D6D-8035-41F6-AEA8-86D0E3B69DD2}"/>
              </a:ext>
            </a:extLst>
          </p:cNvPr>
          <p:cNvSpPr>
            <a:spLocks xmlns:a="http://schemas.openxmlformats.org/drawingml/2006/main" noGrp="1"/>
          </p:cNvSpPr>
          <p:nvPr/>
        </p:nvSpPr>
        <p:spPr>
          <a:xfrm xmlns:a="http://schemas.openxmlformats.org/drawingml/2006/main">
            <a:off x="552450" y="33528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69F685ED-4E61-439B-B53B-A948CF0C25DA}"/>
              </a:ext>
            </a:extLst>
          </p:cNvPr>
          <p:cNvSpPr>
            <a:spLocks xmlns:a="http://schemas.openxmlformats.org/drawingml/2006/main" noGrp="1"/>
          </p:cNvSpPr>
          <p:nvPr/>
        </p:nvSpPr>
        <p:spPr>
          <a:xfrm xmlns:a="http://schemas.openxmlformats.org/drawingml/2006/main">
            <a:off x="1257300" y="33528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周辺分布：どんな身長・体重の値が存在するか。</a:t>
            </a:r>
          </a:p>
        </p:txBody>
      </p:sp>
      <p:sp>
        <p:nvSpPr>
          <p:cNvPr id="10" name="">
            <a:extLst xmlns:a="http://schemas.openxmlformats.org/drawingml/2006/main">
              <a:ext uri="{FF2B5EF4-FFF2-40B4-BE49-F238E27FC236}">
                <a16:creationId xmlns:a16="http://schemas.microsoft.com/office/drawing/2014/main" id="{75F763F3-1ABD-4AC7-BB1B-795E415C0DEE}"/>
              </a:ext>
            </a:extLst>
          </p:cNvPr>
          <p:cNvSpPr>
            <a:spLocks xmlns:a="http://schemas.openxmlformats.org/drawingml/2006/main" noGrp="1"/>
          </p:cNvSpPr>
          <p:nvPr/>
        </p:nvSpPr>
        <p:spPr>
          <a:xfrm xmlns:a="http://schemas.openxmlformats.org/drawingml/2006/main">
            <a:off x="552450" y="40132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6099FB50-32D3-421C-A6AB-512218577E4D}"/>
              </a:ext>
            </a:extLst>
          </p:cNvPr>
          <p:cNvSpPr>
            <a:spLocks xmlns:a="http://schemas.openxmlformats.org/drawingml/2006/main" noGrp="1"/>
          </p:cNvSpPr>
          <p:nvPr/>
        </p:nvSpPr>
        <p:spPr>
          <a:xfrm xmlns:a="http://schemas.openxmlformats.org/drawingml/2006/main">
            <a:off x="1257300" y="40132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コピュラ：どんな位置の組を一緒に作るか。</a:t>
            </a:r>
          </a:p>
        </p:txBody>
      </p:sp>
      <p:sp>
        <p:nvSpPr>
          <p:cNvPr id="12" name="">
            <a:extLst xmlns:a="http://schemas.openxmlformats.org/drawingml/2006/main">
              <a:ext uri="{FF2B5EF4-FFF2-40B4-BE49-F238E27FC236}">
                <a16:creationId xmlns:a16="http://schemas.microsoft.com/office/drawing/2014/main" id="{A52BCA5A-8DC0-44FB-A13C-FED7D1BDAC8D}"/>
              </a:ext>
            </a:extLst>
          </p:cNvPr>
          <p:cNvSpPr>
            <a:spLocks xmlns:a="http://schemas.openxmlformats.org/drawingml/2006/main" noGrp="1"/>
          </p:cNvSpPr>
          <p:nvPr/>
        </p:nvSpPr>
        <p:spPr>
          <a:xfrm xmlns:a="http://schemas.openxmlformats.org/drawingml/2006/main">
            <a:off x="552450" y="4673600"/>
            <a:ext cx="4762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5907F1B1-3284-4579-9609-FCD0E6DB3E9E}"/>
              </a:ext>
            </a:extLst>
          </p:cNvPr>
          <p:cNvSpPr>
            <a:spLocks xmlns:a="http://schemas.openxmlformats.org/drawingml/2006/main" noGrp="1"/>
          </p:cNvSpPr>
          <p:nvPr/>
        </p:nvSpPr>
        <p:spPr>
          <a:xfrm xmlns:a="http://schemas.openxmlformats.org/drawingml/2006/main">
            <a:off x="1257300" y="4673600"/>
            <a:ext cx="1019175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逆累積分布：位置から、cm・kgへ戻す。</a:t>
            </a:r>
          </a:p>
        </p:txBody>
      </p:sp>
      <p:sp>
        <p:nvSpPr>
          <p:cNvPr id="14" name="">
            <a:extLst xmlns:a="http://schemas.openxmlformats.org/drawingml/2006/main">
              <a:ext uri="{FF2B5EF4-FFF2-40B4-BE49-F238E27FC236}">
                <a16:creationId xmlns:a16="http://schemas.microsoft.com/office/drawing/2014/main" id="{28297F34-8D31-407B-A9D5-845ED01039C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1B2A72A-A388-4994-BCA2-CD83A4069B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本研究では「残した列の位置」を条件に、置換する列の位置を作る</a:t>
            </a:r>
          </a:p>
        </p:txBody>
      </p:sp>
    </p:spTree>
    <p:extLst>
      <p:ext uri="{BB962C8B-B14F-4D97-AF65-F5344CB8AC3E}">
        <p14:creationId xmlns:p14="http://schemas.microsoft.com/office/powerpoint/2010/main" val="10971889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2AF8E4-52E3-4309-BDFD-9463A0C5F3F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コピュラの種類と選ぶ観点</a:t>
            </a:r>
          </a:p>
        </p:txBody>
      </p:sp>
      <p:sp>
        <p:nvSpPr>
          <p:cNvPr id="2" name="">
            <a:extLst xmlns:a="http://schemas.openxmlformats.org/drawingml/2006/main">
              <a:ext uri="{FF2B5EF4-FFF2-40B4-BE49-F238E27FC236}">
                <a16:creationId xmlns:a16="http://schemas.microsoft.com/office/drawing/2014/main" id="{70414F81-2B02-4CAC-A961-C2F9A8B901E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8444AC-6113-4CC1-ADF3-AF168B0879F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どの関係を重視するかによって、適したモデルが変わる。</a:t>
            </a:r>
          </a:p>
        </p:txBody>
      </p:sp>
      <p:sp>
        <p:nvSpPr>
          <p:cNvPr id="4" name="">
            <a:extLst xmlns:a="http://schemas.openxmlformats.org/drawingml/2006/main">
              <a:ext uri="{FF2B5EF4-FFF2-40B4-BE49-F238E27FC236}">
                <a16:creationId xmlns:a16="http://schemas.microsoft.com/office/drawing/2014/main" id="{F650C6AD-EE96-4027-BECE-F216D5AB283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E93A2D0-E588-4A08-9B49-925D7407F7A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14" name=""/>
          <p:cNvGraphicFramePr/>
          <p:nvPr/>
        </p:nvGraphicFramePr>
        <p:xfrm>
          <a:off xmlns:a="http://schemas.openxmlformats.org/drawingml/2006/main" x="514350" y="1885950"/>
          <a:ext xmlns:a="http://schemas.openxmlformats.org/drawingml/2006/main" cx="11163300" cy="3524250"/>
        </p:xfrm>
        <a:graphic xmlns:a="http://schemas.openxmlformats.org/drawingml/2006/main">
          <a:graphicData uri="http://schemas.openxmlformats.org/drawingml/2006/table">
            <a:tbl>
              <a:tblPr/>
              <a:tblGrid>
                <a:gridCol w="3721100"/>
                <a:gridCol w="3721100"/>
                <a:gridCol w="3721100"/>
              </a:tblGrid>
              <a:tr h="587375">
                <a:tc>
                  <a:txBody>
                    <a:bodyPr/>
                    <a:lstStyle/>
                    <a:p>
                      <a:pPr algn="ctr"/>
                      <a:r>
                        <a:rPr sz="1800" b="1">
                          <a:solidFill>
                            <a:srgbClr val="2E7D5B"/>
                          </a:solidFill>
                          <a:latin typeface="Noto Sans JP"/>
                          <a:ea typeface="Noto Sans JP"/>
                          <a:cs typeface="Noto Sans JP"/>
                        </a:rPr>
                        <a:t>種類</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表せる主な関係</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検討するデータ・条件</a:t>
                      </a:r>
                    </a:p>
                  </a:txBody>
                  <a:tcPr marL="91440" marR="91440" marT="45720" marB="45720" anchor="ctr">
                    <a:solidFill>
                      <a:srgbClr val="E7F2EC"/>
                    </a:solidFill>
                  </a:tcPr>
                </a:tc>
              </a:tr>
              <a:tr h="587375">
                <a:tc>
                  <a:txBody>
                    <a:bodyPr/>
                    <a:lstStyle/>
                    <a:p>
                      <a:pPr algn="ctr"/>
                      <a:r>
                        <a:rPr sz="1800" b="0">
                          <a:solidFill>
                            <a:srgbClr val="222222"/>
                          </a:solidFill>
                          <a:latin typeface="Noto Sans JP"/>
                          <a:ea typeface="Noto Sans JP"/>
                          <a:cs typeface="Noto Sans JP"/>
                        </a:rPr>
                        <a:t>Gaussian</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潜在正規空間の相関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まず安定した多変量の条件付き生成</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Student-t</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両側の極端値が同時に起こる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上下の裾で共発生が重要</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片側の裾で強い依存</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小さい側 / 大きい側の共発生</a:t>
                      </a:r>
                    </a:p>
                  </a:txBody>
                  <a:tcPr marL="91440" marR="91440" marT="45720" marB="45720" anchor="ctr">
                    <a:solidFill>
                      <a:srgbClr val="FFFFFF"/>
                    </a:solidFill>
                  </a:tcPr>
                </a:tc>
              </a:tr>
              <a:tr h="587375">
                <a:tc>
                  <a:txBody>
                    <a:bodyPr/>
                    <a:lstStyle/>
                    <a:p>
                      <a:pPr algn="ctr"/>
                      <a:r>
                        <a:rPr sz="180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両裾の依存係数は0</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中央のなめらかな依存</a:t>
                      </a:r>
                    </a:p>
                  </a:txBody>
                  <a:tcPr marL="91440" marR="91440" marT="45720" marB="45720" anchor="ctr">
                    <a:solidFill>
                      <a:srgbClr val="F6F6F6"/>
                    </a:solidFill>
                  </a:tcPr>
                </a:tc>
              </a:tr>
              <a:tr h="587375">
                <a:tc>
                  <a:txBody>
                    <a:bodyPr/>
                    <a:lstStyle/>
                    <a:p>
                      <a:pPr algn="ctr"/>
                      <a:r>
                        <a:rPr sz="1800" b="0">
                          <a:solidFill>
                            <a:srgbClr val="222222"/>
                          </a:solidFill>
                          <a:latin typeface="Noto Sans JP"/>
                          <a:ea typeface="Noto Sans JP"/>
                          <a:cs typeface="Noto Sans JP"/>
                        </a:rPr>
                        <a:t>Vine / ノンパラメトリック</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ペアごとの差 / 柔軟な形</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十分なデータとモデル選択の余裕</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CF23BF8-574F-437F-A862-E884FB84895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E7D177-5899-4777-9D61-9E7170D807F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種類を増やすほど、推定・選択・条件付き生成も複雑になる</a:t>
            </a:r>
          </a:p>
        </p:txBody>
      </p:sp>
    </p:spTree>
    <p:extLst>
      <p:ext uri="{BB962C8B-B14F-4D97-AF65-F5344CB8AC3E}">
        <p14:creationId xmlns:p14="http://schemas.microsoft.com/office/powerpoint/2010/main" val="12748103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6BD5FE-E046-4FB6-8961-7ED42AEADA6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「裾の依存」は、相関と何が違う？</a:t>
            </a:r>
          </a:p>
        </p:txBody>
      </p:sp>
      <p:sp>
        <p:nvSpPr>
          <p:cNvPr id="2" name="">
            <a:extLst xmlns:a="http://schemas.openxmlformats.org/drawingml/2006/main">
              <a:ext uri="{FF2B5EF4-FFF2-40B4-BE49-F238E27FC236}">
                <a16:creationId xmlns:a16="http://schemas.microsoft.com/office/drawing/2014/main" id="{86A7724A-6A2D-4941-BF3C-C6C638D27C8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6E73C6-D955-44F4-817B-7CE3D4FB2D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各変数が極端に大きい／小さいとき、もう一方も極端かを見る。</a:t>
            </a:r>
          </a:p>
        </p:txBody>
      </p:sp>
      <p:sp>
        <p:nvSpPr>
          <p:cNvPr id="4" name="">
            <a:extLst xmlns:a="http://schemas.openxmlformats.org/drawingml/2006/main">
              <a:ext uri="{FF2B5EF4-FFF2-40B4-BE49-F238E27FC236}">
                <a16:creationId xmlns:a16="http://schemas.microsoft.com/office/drawing/2014/main" id="{EEA276C7-9293-47AE-92B3-574B27CC324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605176C-A1BA-4FA9-B450-017FEDA95FB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sp>
        <p:nvSpPr>
          <p:cNvPr id="6" name="">
            <a:extLst xmlns:a="http://schemas.openxmlformats.org/drawingml/2006/main">
              <a:ext uri="{FF2B5EF4-FFF2-40B4-BE49-F238E27FC236}">
                <a16:creationId xmlns:a16="http://schemas.microsoft.com/office/drawing/2014/main" id="{7EFF7491-9DE4-4780-9DA2-2E69B21D2E79}"/>
              </a:ext>
            </a:extLst>
          </p:cNvPr>
          <p:cNvSpPr>
            <a:spLocks xmlns:a="http://schemas.openxmlformats.org/drawingml/2006/main" noGrp="1"/>
          </p:cNvSpPr>
          <p:nvPr/>
        </p:nvSpPr>
        <p:spPr>
          <a:xfrm xmlns:a="http://schemas.openxmlformats.org/drawingml/2006/main">
            <a:off x="514350" y="2095500"/>
            <a:ext cx="531495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639E4C-7CEA-4F32-953E-D4E30F686928}"/>
              </a:ext>
            </a:extLst>
          </p:cNvPr>
          <p:cNvSpPr>
            <a:spLocks xmlns:a="http://schemas.openxmlformats.org/drawingml/2006/main" noGrp="1"/>
          </p:cNvSpPr>
          <p:nvPr/>
        </p:nvSpPr>
        <p:spPr>
          <a:xfrm xmlns:a="http://schemas.openxmlformats.org/drawingml/2006/main">
            <a:off x="704850" y="22098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上側の裾</a:t>
            </a:r>
          </a:p>
        </p:txBody>
      </p:sp>
      <p:sp>
        <p:nvSpPr>
          <p:cNvPr id="8" name="">
            <a:extLst xmlns:a="http://schemas.openxmlformats.org/drawingml/2006/main">
              <a:ext uri="{FF2B5EF4-FFF2-40B4-BE49-F238E27FC236}">
                <a16:creationId xmlns:a16="http://schemas.microsoft.com/office/drawing/2014/main" id="{C3A76E8A-7F56-4822-91DB-262ADB593C5A}"/>
              </a:ext>
            </a:extLst>
          </p:cNvPr>
          <p:cNvSpPr>
            <a:spLocks xmlns:a="http://schemas.openxmlformats.org/drawingml/2006/main" noGrp="1"/>
          </p:cNvSpPr>
          <p:nvPr/>
        </p:nvSpPr>
        <p:spPr>
          <a:xfrm xmlns:a="http://schemas.openxmlformats.org/drawingml/2006/main">
            <a:off x="704850" y="2762250"/>
            <a:ext cx="49339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上位1%の大雨があるとき、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別地点も上位1%になりやすいか。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Gumbel・Joe：上側の依存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Student-t：上下両側</a:t>
            </a:r>
          </a:p>
        </p:txBody>
      </p:sp>
      <p:sp>
        <p:nvSpPr>
          <p:cNvPr id="9" name="">
            <a:extLst xmlns:a="http://schemas.openxmlformats.org/drawingml/2006/main">
              <a:ext uri="{FF2B5EF4-FFF2-40B4-BE49-F238E27FC236}">
                <a16:creationId xmlns:a16="http://schemas.microsoft.com/office/drawing/2014/main" id="{5693E0CA-7B16-4F31-8F37-93B02957AB57}"/>
              </a:ext>
            </a:extLst>
          </p:cNvPr>
          <p:cNvSpPr>
            <a:spLocks xmlns:a="http://schemas.openxmlformats.org/drawingml/2006/main" noGrp="1"/>
          </p:cNvSpPr>
          <p:nvPr/>
        </p:nvSpPr>
        <p:spPr>
          <a:xfrm xmlns:a="http://schemas.openxmlformats.org/drawingml/2006/main">
            <a:off x="6076950" y="2095500"/>
            <a:ext cx="5600700" cy="30480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4D9C5D-717A-4500-AF02-C14A4FB627C8}"/>
              </a:ext>
            </a:extLst>
          </p:cNvPr>
          <p:cNvSpPr>
            <a:spLocks xmlns:a="http://schemas.openxmlformats.org/drawingml/2006/main" noGrp="1"/>
          </p:cNvSpPr>
          <p:nvPr/>
        </p:nvSpPr>
        <p:spPr>
          <a:xfrm xmlns:a="http://schemas.openxmlformats.org/drawingml/2006/main">
            <a:off x="6267450" y="22098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下側の裾</a:t>
            </a:r>
          </a:p>
        </p:txBody>
      </p:sp>
      <p:sp>
        <p:nvSpPr>
          <p:cNvPr id="11" name="">
            <a:extLst xmlns:a="http://schemas.openxmlformats.org/drawingml/2006/main">
              <a:ext uri="{FF2B5EF4-FFF2-40B4-BE49-F238E27FC236}">
                <a16:creationId xmlns:a16="http://schemas.microsoft.com/office/drawing/2014/main" id="{052C4B74-5D70-454E-8C9A-EE1BC64AC595}"/>
              </a:ext>
            </a:extLst>
          </p:cNvPr>
          <p:cNvSpPr>
            <a:spLocks xmlns:a="http://schemas.openxmlformats.org/drawingml/2006/main" noGrp="1"/>
          </p:cNvSpPr>
          <p:nvPr/>
        </p:nvSpPr>
        <p:spPr>
          <a:xfrm xmlns:a="http://schemas.openxmlformats.org/drawingml/2006/main">
            <a:off x="6267450" y="2762250"/>
            <a:ext cx="52197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下位1%の収益になるとき、</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別の資産も下位1%か。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Clayton：下側の依存</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Gaussian：漸近的な裾依存は0</a:t>
            </a:r>
          </a:p>
        </p:txBody>
      </p:sp>
      <p:sp>
        <p:nvSpPr>
          <p:cNvPr id="12" name="">
            <a:extLst xmlns:a="http://schemas.openxmlformats.org/drawingml/2006/main">
              <a:ext uri="{FF2B5EF4-FFF2-40B4-BE49-F238E27FC236}">
                <a16:creationId xmlns:a16="http://schemas.microsoft.com/office/drawing/2014/main" id="{FB8C07FA-4C2A-44FB-9468-26F90EB313A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8DA635-9E19-4C29-A861-C4D3BB02F01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各列の裾が重いことと、列どうしの裾依存は別の性質</a:t>
            </a:r>
          </a:p>
        </p:txBody>
      </p:sp>
    </p:spTree>
    <p:extLst>
      <p:ext uri="{BB962C8B-B14F-4D97-AF65-F5344CB8AC3E}">
        <p14:creationId xmlns:p14="http://schemas.microsoft.com/office/powerpoint/2010/main" val="133836993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8682F8-E56B-48F5-A1B8-61773B283A1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今回はGaussian copulaから始める</a:t>
            </a:r>
          </a:p>
        </p:txBody>
      </p:sp>
      <p:sp>
        <p:nvSpPr>
          <p:cNvPr id="2" name="">
            <a:extLst xmlns:a="http://schemas.openxmlformats.org/drawingml/2006/main">
              <a:ext uri="{FF2B5EF4-FFF2-40B4-BE49-F238E27FC236}">
                <a16:creationId xmlns:a16="http://schemas.microsoft.com/office/drawing/2014/main" id="{58923BCC-01FF-4DA6-AC8D-4A679CAA2C8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4C22AC-217C-4C25-865D-BD4089591AD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条件付き分布を計算しやすく、置換器だけの比較を始められる。</a:t>
            </a:r>
          </a:p>
        </p:txBody>
      </p:sp>
      <p:sp>
        <p:nvSpPr>
          <p:cNvPr id="4" name="">
            <a:extLst xmlns:a="http://schemas.openxmlformats.org/drawingml/2006/main">
              <a:ext uri="{FF2B5EF4-FFF2-40B4-BE49-F238E27FC236}">
                <a16:creationId xmlns:a16="http://schemas.microsoft.com/office/drawing/2014/main" id="{C3581D49-12BF-4CF4-A678-10B4AC2B0B5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8EBFBAAF-2E06-481A-BCE3-5041051CD12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sp>
        <p:nvSpPr>
          <p:cNvPr id="6" name="">
            <a:extLst xmlns:a="http://schemas.openxmlformats.org/drawingml/2006/main">
              <a:ext uri="{FF2B5EF4-FFF2-40B4-BE49-F238E27FC236}">
                <a16:creationId xmlns:a16="http://schemas.microsoft.com/office/drawing/2014/main" id="{44F4B038-3DF8-40DD-B57D-EE92E73424FC}"/>
              </a:ext>
            </a:extLst>
          </p:cNvPr>
          <p:cNvSpPr>
            <a:spLocks xmlns:a="http://schemas.openxmlformats.org/drawingml/2006/main" noGrp="1"/>
          </p:cNvSpPr>
          <p:nvPr/>
        </p:nvSpPr>
        <p:spPr>
          <a:xfrm xmlns:a="http://schemas.openxmlformats.org/drawingml/2006/main">
            <a:off x="514350" y="2047875"/>
            <a:ext cx="531495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74EE83-C872-41BF-B19B-FF15E31A2E1A}"/>
              </a:ext>
            </a:extLst>
          </p:cNvPr>
          <p:cNvSpPr>
            <a:spLocks xmlns:a="http://schemas.openxmlformats.org/drawingml/2006/main" noGrp="1"/>
          </p:cNvSpPr>
          <p:nvPr/>
        </p:nvSpPr>
        <p:spPr>
          <a:xfrm xmlns:a="http://schemas.openxmlformats.org/drawingml/2006/main">
            <a:off x="704850" y="21621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採用する理由</a:t>
            </a:r>
          </a:p>
        </p:txBody>
      </p:sp>
      <p:sp>
        <p:nvSpPr>
          <p:cNvPr id="8" name="">
            <a:extLst xmlns:a="http://schemas.openxmlformats.org/drawingml/2006/main">
              <a:ext uri="{FF2B5EF4-FFF2-40B4-BE49-F238E27FC236}">
                <a16:creationId xmlns:a16="http://schemas.microsoft.com/office/drawing/2014/main" id="{8ED09A79-D516-47AC-918E-6273F25DAB5F}"/>
              </a:ext>
            </a:extLst>
          </p:cNvPr>
          <p:cNvSpPr>
            <a:spLocks xmlns:a="http://schemas.openxmlformats.org/drawingml/2006/main" noGrp="1"/>
          </p:cNvSpPr>
          <p:nvPr/>
        </p:nvSpPr>
        <p:spPr>
          <a:xfrm xmlns:a="http://schemas.openxmlformats.org/drawingml/2006/main">
            <a:off x="704850" y="2714625"/>
            <a:ext cx="49339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相関行列Rで依存を表す。</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複数列を同時に条件付き生成。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訓練にクラスラベルが不要。</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既存コードに生成器として</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組み込みやすい。</a:t>
            </a:r>
          </a:p>
        </p:txBody>
      </p:sp>
      <p:sp>
        <p:nvSpPr>
          <p:cNvPr id="9" name="">
            <a:extLst xmlns:a="http://schemas.openxmlformats.org/drawingml/2006/main">
              <a:ext uri="{FF2B5EF4-FFF2-40B4-BE49-F238E27FC236}">
                <a16:creationId xmlns:a16="http://schemas.microsoft.com/office/drawing/2014/main" id="{395485E5-72E3-4031-8999-372B81954558}"/>
              </a:ext>
            </a:extLst>
          </p:cNvPr>
          <p:cNvSpPr>
            <a:spLocks xmlns:a="http://schemas.openxmlformats.org/drawingml/2006/main" noGrp="1"/>
          </p:cNvSpPr>
          <p:nvPr/>
        </p:nvSpPr>
        <p:spPr>
          <a:xfrm xmlns:a="http://schemas.openxmlformats.org/drawingml/2006/main">
            <a:off x="6076950" y="2047875"/>
            <a:ext cx="5600700" cy="30956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9291C7-1DDD-409E-9A15-01C76D647593}"/>
              </a:ext>
            </a:extLst>
          </p:cNvPr>
          <p:cNvSpPr>
            <a:spLocks xmlns:a="http://schemas.openxmlformats.org/drawingml/2006/main" noGrp="1"/>
          </p:cNvSpPr>
          <p:nvPr/>
        </p:nvSpPr>
        <p:spPr>
          <a:xfrm xmlns:a="http://schemas.openxmlformats.org/drawingml/2006/main">
            <a:off x="6267450" y="21621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表現できないこともある</a:t>
            </a:r>
          </a:p>
        </p:txBody>
      </p:sp>
      <p:sp>
        <p:nvSpPr>
          <p:cNvPr id="11" name="">
            <a:extLst xmlns:a="http://schemas.openxmlformats.org/drawingml/2006/main">
              <a:ext uri="{FF2B5EF4-FFF2-40B4-BE49-F238E27FC236}">
                <a16:creationId xmlns:a16="http://schemas.microsoft.com/office/drawing/2014/main" id="{B81B6D87-DF73-483C-AE14-DD0C45EC60B8}"/>
              </a:ext>
            </a:extLst>
          </p:cNvPr>
          <p:cNvSpPr>
            <a:spLocks xmlns:a="http://schemas.openxmlformats.org/drawingml/2006/main" noGrp="1"/>
          </p:cNvSpPr>
          <p:nvPr/>
        </p:nvSpPr>
        <p:spPr>
          <a:xfrm xmlns:a="http://schemas.openxmlformats.org/drawingml/2006/main">
            <a:off x="6267450" y="2714625"/>
            <a:ext cx="52197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潜在空間のU字型・多峰性を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任意に表せるわけではない。</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非退化なGaussian copulaは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上下の漸近的な裾依存が0。</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カテゴリ列への適用も要検討。</a:t>
            </a:r>
          </a:p>
        </p:txBody>
      </p:sp>
      <p:sp>
        <p:nvSpPr>
          <p:cNvPr id="12" name="">
            <a:extLst xmlns:a="http://schemas.openxmlformats.org/drawingml/2006/main">
              <a:ext uri="{FF2B5EF4-FFF2-40B4-BE49-F238E27FC236}">
                <a16:creationId xmlns:a16="http://schemas.microsoft.com/office/drawing/2014/main" id="{14B48272-257D-491E-9902-B855554618B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D0EE5E-2F3A-4B11-B0B2-A5131338C03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「コピュラなら何でも捉える」とは言わず、まず仮定を検証する</a:t>
            </a:r>
          </a:p>
        </p:txBody>
      </p:sp>
    </p:spTree>
    <p:extLst>
      <p:ext uri="{BB962C8B-B14F-4D97-AF65-F5344CB8AC3E}">
        <p14:creationId xmlns:p14="http://schemas.microsoft.com/office/powerpoint/2010/main" val="11648216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57E976-E830-4AB2-9CDF-FD97F5C5DA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学習手順①：値を位置へ変える</a:t>
            </a:r>
          </a:p>
        </p:txBody>
      </p:sp>
      <p:sp>
        <p:nvSpPr>
          <p:cNvPr id="2" name="">
            <a:extLst xmlns:a="http://schemas.openxmlformats.org/drawingml/2006/main">
              <a:ext uri="{FF2B5EF4-FFF2-40B4-BE49-F238E27FC236}">
                <a16:creationId xmlns:a16="http://schemas.microsoft.com/office/drawing/2014/main" id="{85482A1A-3084-43BA-A3F4-5D411B55358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AD266A-2DB7-4EC0-8991-C1E8E09BE7B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訓練データだけから、各列の経験的な周辺分布を推定する。</a:t>
            </a:r>
          </a:p>
        </p:txBody>
      </p:sp>
      <p:sp>
        <p:nvSpPr>
          <p:cNvPr id="4" name="">
            <a:extLst xmlns:a="http://schemas.openxmlformats.org/drawingml/2006/main">
              <a:ext uri="{FF2B5EF4-FFF2-40B4-BE49-F238E27FC236}">
                <a16:creationId xmlns:a16="http://schemas.microsoft.com/office/drawing/2014/main" id="{29FBE51F-45C7-49F3-B8EB-55E94A10FF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A90ED3F0-E81E-461E-B798-F7322E98A10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sp>
        <p:nvSpPr>
          <p:cNvPr id="6" name="">
            <a:extLst xmlns:a="http://schemas.openxmlformats.org/drawingml/2006/main">
              <a:ext uri="{FF2B5EF4-FFF2-40B4-BE49-F238E27FC236}">
                <a16:creationId xmlns:a16="http://schemas.microsoft.com/office/drawing/2014/main" id="{8ECE42E6-3220-418C-8972-A821D2E430B7}"/>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B41C11-67C0-440E-A255-2FF7D6D8C8AB}"/>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uᵢⱼ = (rᵢⱼ − 0.5) / n</a:t>
            </a:r>
          </a:p>
        </p:txBody>
      </p:sp>
      <p:graphicFrame>
        <p:nvGraphicFramePr>
          <p:cNvPr id="18" name=""/>
          <p:cNvGraphicFramePr/>
          <p:nvPr/>
        </p:nvGraphicFramePr>
        <p:xfrm>
          <a:off xmlns:a="http://schemas.openxmlformats.org/drawingml/2006/main" x="514350" y="3448050"/>
          <a:ext xmlns:a="http://schemas.openxmlformats.org/drawingml/2006/main" cx="11163300" cy="1771650"/>
        </p:xfrm>
        <a:graphic xmlns:a="http://schemas.openxmlformats.org/drawingml/2006/main">
          <a:graphicData uri="http://schemas.openxmlformats.org/drawingml/2006/table">
            <a:tbl>
              <a:tblPr/>
              <a:tblGrid>
                <a:gridCol w="2232660"/>
                <a:gridCol w="2232660"/>
                <a:gridCol w="2232660"/>
                <a:gridCol w="2232660"/>
                <a:gridCol w="2232660"/>
              </a:tblGrid>
              <a:tr h="590550">
                <a:tc>
                  <a:txBody>
                    <a:bodyPr/>
                    <a:lstStyle/>
                    <a:p>
                      <a:pPr algn="ctr"/>
                      <a:r>
                        <a:rPr sz="2100" b="1">
                          <a:solidFill>
                            <a:srgbClr val="2E7D5B"/>
                          </a:solidFill>
                          <a:latin typeface="Noto Sans JP"/>
                          <a:ea typeface="Noto Sans JP"/>
                          <a:cs typeface="Noto Sans JP"/>
                        </a:rPr>
                        <a:t>身長：説明用4人</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155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165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175</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185</a:t>
                      </a:r>
                    </a:p>
                  </a:txBody>
                  <a:tcPr marL="91440" marR="91440" marT="45720" marB="45720" anchor="ctr">
                    <a:solidFill>
                      <a:srgbClr val="E7F2EC"/>
                    </a:solidFill>
                  </a:tcPr>
                </a:tc>
              </a:tr>
              <a:tr h="590550">
                <a:tc>
                  <a:txBody>
                    <a:bodyPr/>
                    <a:lstStyle/>
                    <a:p>
                      <a:pPr algn="ctr"/>
                      <a:r>
                        <a:rPr sz="2100" b="0">
                          <a:solidFill>
                            <a:srgbClr val="222222"/>
                          </a:solidFill>
                          <a:latin typeface="Noto Sans JP"/>
                          <a:ea typeface="Noto Sans JP"/>
                          <a:cs typeface="Noto Sans JP"/>
                        </a:rPr>
                        <a:t>順位r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3</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a:t>
                      </a:r>
                    </a:p>
                  </a:txBody>
                  <a:tcPr marL="91440" marR="91440" marT="45720" marB="45720" anchor="ctr">
                    <a:solidFill>
                      <a:srgbClr val="FFFFFF"/>
                    </a:solidFill>
                  </a:tcPr>
                </a:tc>
              </a:tr>
              <a:tr h="590550">
                <a:tc>
                  <a:txBody>
                    <a:bodyPr/>
                    <a:lstStyle/>
                    <a:p>
                      <a:pPr algn="ctr"/>
                      <a:r>
                        <a:rPr sz="2100" b="0">
                          <a:solidFill>
                            <a:srgbClr val="222222"/>
                          </a:solidFill>
                          <a:latin typeface="Noto Sans JP"/>
                          <a:ea typeface="Noto Sans JP"/>
                          <a:cs typeface="Noto Sans JP"/>
                        </a:rPr>
                        <a:t>推定用の位置u</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0.125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0.375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0.625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0.875</a:t>
                      </a:r>
                    </a:p>
                  </a:txBody>
                  <a:tcPr marL="91440" marR="91440" marT="45720" marB="45720" anchor="ctr">
                    <a:solidFill>
                      <a:srgbClr val="F6F6F6"/>
                    </a:solidFill>
                  </a:tcPr>
                </a:tc>
              </a:tr>
            </a:tbl>
          </a:graphicData>
        </a:graphic>
      </p:graphicFrame>
      <p:sp>
        <p:nvSpPr>
          <p:cNvPr id="9" name="">
            <a:extLst xmlns:a="http://schemas.openxmlformats.org/drawingml/2006/main">
              <a:ext uri="{FF2B5EF4-FFF2-40B4-BE49-F238E27FC236}">
                <a16:creationId xmlns:a16="http://schemas.microsoft.com/office/drawing/2014/main" id="{16632053-8277-49E4-88AF-4772178977E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46F0D0-FBB5-47A1-8E55-52F4E22EDF7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0・1を避ける。逆正規変換で無限大になるのを防ぐ</a:t>
            </a:r>
          </a:p>
        </p:txBody>
      </p:sp>
    </p:spTree>
    <p:extLst>
      <p:ext uri="{BB962C8B-B14F-4D97-AF65-F5344CB8AC3E}">
        <p14:creationId xmlns:p14="http://schemas.microsoft.com/office/powerpoint/2010/main" val="1147883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2CFFFD-EB76-47D3-984F-6CF17852747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学習手順②：位置を潜在正規へ</a:t>
            </a:r>
          </a:p>
        </p:txBody>
      </p:sp>
      <p:sp>
        <p:nvSpPr>
          <p:cNvPr id="2" name="">
            <a:extLst xmlns:a="http://schemas.openxmlformats.org/drawingml/2006/main">
              <a:ext uri="{FF2B5EF4-FFF2-40B4-BE49-F238E27FC236}">
                <a16:creationId xmlns:a16="http://schemas.microsoft.com/office/drawing/2014/main" id="{61032BC0-D2C9-42FF-8304-315494FEF80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85246E-93DC-47CA-8CEF-ED07302D766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標準正規分布の累積分布Φを使って、位置を数値zへ写す。</a:t>
            </a:r>
          </a:p>
        </p:txBody>
      </p:sp>
      <p:sp>
        <p:nvSpPr>
          <p:cNvPr id="4" name="">
            <a:extLst xmlns:a="http://schemas.openxmlformats.org/drawingml/2006/main">
              <a:ext uri="{FF2B5EF4-FFF2-40B4-BE49-F238E27FC236}">
                <a16:creationId xmlns:a16="http://schemas.microsoft.com/office/drawing/2014/main" id="{E7C6A4F5-752F-416B-ADBA-4B955EA22A5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DB5D592E-06B9-4E34-B7C9-0C1A0A93CF5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sp>
        <p:nvSpPr>
          <p:cNvPr id="6" name="">
            <a:extLst xmlns:a="http://schemas.openxmlformats.org/drawingml/2006/main">
              <a:ext uri="{FF2B5EF4-FFF2-40B4-BE49-F238E27FC236}">
                <a16:creationId xmlns:a16="http://schemas.microsoft.com/office/drawing/2014/main" id="{32A16340-9C5B-4DBF-95E4-F4B996DF19FE}"/>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226505-E35C-404A-96CC-5E8D0B22B922}"/>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2B6777"/>
                </a:solidFill>
                <a:latin typeface="Noto Sans JP"/>
                <a:ea typeface="Noto Sans JP"/>
                <a:cs typeface="Noto Sans JP"/>
              </a:defRPr>
            </a:pPr>
            <a:r>
              <a:rPr sz="3375" b="1">
                <a:solidFill>
                  <a:srgbClr val="2B6777"/>
                </a:solidFill>
                <a:latin typeface="Noto Sans JP"/>
                <a:ea typeface="Noto Sans JP"/>
                <a:cs typeface="Noto Sans JP"/>
              </a:rPr>
              <a:t>zᵢⱼ = Φ⁻¹(uᵢⱼ)</a:t>
            </a:r>
          </a:p>
        </p:txBody>
      </p:sp>
      <p:graphicFrame>
        <p:nvGraphicFramePr>
          <p:cNvPr id="19" name=""/>
          <p:cNvGraphicFramePr/>
          <p:nvPr/>
        </p:nvGraphicFramePr>
        <p:xfrm>
          <a:off xmlns:a="http://schemas.openxmlformats.org/drawingml/2006/main" x="514350" y="3419475"/>
          <a:ext xmlns:a="http://schemas.openxmlformats.org/drawingml/2006/main" cx="11163300" cy="1428750"/>
        </p:xfrm>
        <a:graphic xmlns:a="http://schemas.openxmlformats.org/drawingml/2006/main">
          <a:graphicData uri="http://schemas.openxmlformats.org/drawingml/2006/table">
            <a:tbl>
              <a:tblPr/>
              <a:tblGrid>
                <a:gridCol w="1860550"/>
                <a:gridCol w="1860550"/>
                <a:gridCol w="1860550"/>
                <a:gridCol w="1860550"/>
                <a:gridCol w="1860550"/>
                <a:gridCol w="1860550"/>
              </a:tblGrid>
              <a:tr h="714375">
                <a:tc>
                  <a:txBody>
                    <a:bodyPr/>
                    <a:lstStyle/>
                    <a:p>
                      <a:pPr algn="ctr"/>
                      <a:r>
                        <a:rPr sz="2175" b="1">
                          <a:solidFill>
                            <a:srgbClr val="2E7D5B"/>
                          </a:solidFill>
                          <a:latin typeface="Noto Sans JP"/>
                          <a:ea typeface="Noto Sans JP"/>
                          <a:cs typeface="Noto Sans JP"/>
                        </a:rPr>
                        <a:t>位置u</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0.1</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0.2</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0.5</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0.8</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0.9</a:t>
                      </a:r>
                    </a:p>
                  </a:txBody>
                  <a:tcPr marL="91440" marR="91440" marT="45720" marB="45720" anchor="ctr">
                    <a:solidFill>
                      <a:srgbClr val="E7F2EC"/>
                    </a:solidFill>
                  </a:tcPr>
                </a:tc>
              </a:tr>
              <a:tr h="714375">
                <a:tc>
                  <a:txBody>
                    <a:bodyPr/>
                    <a:lstStyle/>
                    <a:p>
                      <a:pPr algn="ctr"/>
                      <a:r>
                        <a:rPr sz="2175" b="0">
                          <a:solidFill>
                            <a:srgbClr val="222222"/>
                          </a:solidFill>
                          <a:latin typeface="Noto Sans JP"/>
                          <a:ea typeface="Noto Sans JP"/>
                          <a:cs typeface="Noto Sans JP"/>
                        </a:rPr>
                        <a:t>潜在値z</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0.842</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1.282</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B2C9816-D5E7-4D96-851C-E48D835005D4}"/>
              </a:ext>
            </a:extLst>
          </p:cNvPr>
          <p:cNvSpPr>
            <a:spLocks xmlns:a="http://schemas.openxmlformats.org/drawingml/2006/main" noGrp="1"/>
          </p:cNvSpPr>
          <p:nvPr/>
        </p:nvSpPr>
        <p:spPr>
          <a:xfrm xmlns:a="http://schemas.openxmlformats.org/drawingml/2006/main">
            <a:off x="723900" y="49815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高い位置は正のz、中央は0、低い位置は負のz。</a:t>
            </a:r>
          </a:p>
        </p:txBody>
      </p:sp>
      <p:sp>
        <p:nvSpPr>
          <p:cNvPr id="10" name="">
            <a:extLst xmlns:a="http://schemas.openxmlformats.org/drawingml/2006/main">
              <a:ext uri="{FF2B5EF4-FFF2-40B4-BE49-F238E27FC236}">
                <a16:creationId xmlns:a16="http://schemas.microsoft.com/office/drawing/2014/main" id="{C83CB43E-C588-471E-9FE2-1AEA33B720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6F7F31-62C5-4A50-ABA9-5CDD958C447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Φは位置へ、Φ⁻¹は潜在正規の値へ変換する</a:t>
            </a:r>
          </a:p>
        </p:txBody>
      </p:sp>
    </p:spTree>
    <p:extLst>
      <p:ext uri="{BB962C8B-B14F-4D97-AF65-F5344CB8AC3E}">
        <p14:creationId xmlns:p14="http://schemas.microsoft.com/office/powerpoint/2010/main" val="47067615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1E13BC-18AF-417D-AA3D-F75D5F838E4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学習手順③：依存をRとして推定</a:t>
            </a:r>
          </a:p>
        </p:txBody>
      </p:sp>
      <p:sp>
        <p:nvSpPr>
          <p:cNvPr id="2" name="">
            <a:extLst xmlns:a="http://schemas.openxmlformats.org/drawingml/2006/main">
              <a:ext uri="{FF2B5EF4-FFF2-40B4-BE49-F238E27FC236}">
                <a16:creationId xmlns:a16="http://schemas.microsoft.com/office/drawing/2014/main" id="{3CA95616-3BF2-400C-8D37-4BF33418130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79B612-0901-44CD-9755-5212D58149C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同じ行の潜在値の組から相関行列Rを求める。</a:t>
            </a:r>
          </a:p>
        </p:txBody>
      </p:sp>
      <p:sp>
        <p:nvSpPr>
          <p:cNvPr id="4" name="">
            <a:extLst xmlns:a="http://schemas.openxmlformats.org/drawingml/2006/main">
              <a:ext uri="{FF2B5EF4-FFF2-40B4-BE49-F238E27FC236}">
                <a16:creationId xmlns:a16="http://schemas.microsoft.com/office/drawing/2014/main" id="{D537C327-5737-4F0D-BF1B-1BB260F77DD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0C6DDCE8-EE0F-4746-B55C-F7ADF6E5255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sp>
        <p:nvSpPr>
          <p:cNvPr id="6" name="">
            <a:extLst xmlns:a="http://schemas.openxmlformats.org/drawingml/2006/main">
              <a:ext uri="{FF2B5EF4-FFF2-40B4-BE49-F238E27FC236}">
                <a16:creationId xmlns:a16="http://schemas.microsoft.com/office/drawing/2014/main" id="{18A453D8-C610-4F5A-AD7B-53CBCFF1245D}"/>
              </a:ext>
            </a:extLst>
          </p:cNvPr>
          <p:cNvSpPr>
            <a:spLocks xmlns:a="http://schemas.openxmlformats.org/drawingml/2006/main" noGrp="1"/>
          </p:cNvSpPr>
          <p:nvPr/>
        </p:nvSpPr>
        <p:spPr>
          <a:xfrm xmlns:a="http://schemas.openxmlformats.org/drawingml/2006/main">
            <a:off x="514350" y="19431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A85C90-6851-4977-949A-DAA692BA8313}"/>
              </a:ext>
            </a:extLst>
          </p:cNvPr>
          <p:cNvSpPr>
            <a:spLocks xmlns:a="http://schemas.openxmlformats.org/drawingml/2006/main" noGrp="1"/>
          </p:cNvSpPr>
          <p:nvPr/>
        </p:nvSpPr>
        <p:spPr>
          <a:xfrm xmlns:a="http://schemas.openxmlformats.org/drawingml/2006/main">
            <a:off x="704850" y="20383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Z = (Z₁, …, Z𝑑) ~ N(0, R)</a:t>
            </a:r>
          </a:p>
        </p:txBody>
      </p:sp>
      <p:sp>
        <p:nvSpPr>
          <p:cNvPr id="8" name="">
            <a:extLst xmlns:a="http://schemas.openxmlformats.org/drawingml/2006/main">
              <a:ext uri="{FF2B5EF4-FFF2-40B4-BE49-F238E27FC236}">
                <a16:creationId xmlns:a16="http://schemas.microsoft.com/office/drawing/2014/main" id="{3D256BCE-FA9B-4AAC-8676-E0F221F3A8AC}"/>
              </a:ext>
            </a:extLst>
          </p:cNvPr>
          <p:cNvSpPr>
            <a:spLocks xmlns:a="http://schemas.openxmlformats.org/drawingml/2006/main" noGrp="1"/>
          </p:cNvSpPr>
          <p:nvPr/>
        </p:nvSpPr>
        <p:spPr>
          <a:xfrm xmlns:a="http://schemas.openxmlformats.org/drawingml/2006/main">
            <a:off x="514350" y="3362325"/>
            <a:ext cx="531495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BBF609-1D43-4F06-9FC9-1ACABB1E6D9A}"/>
              </a:ext>
            </a:extLst>
          </p:cNvPr>
          <p:cNvSpPr>
            <a:spLocks xmlns:a="http://schemas.openxmlformats.org/drawingml/2006/main" noGrp="1"/>
          </p:cNvSpPr>
          <p:nvPr/>
        </p:nvSpPr>
        <p:spPr>
          <a:xfrm xmlns:a="http://schemas.openxmlformats.org/drawingml/2006/main">
            <a:off x="704850" y="34766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B6777"/>
                </a:solidFill>
                <a:latin typeface="Noto Sans JP"/>
                <a:ea typeface="Noto Sans JP"/>
                <a:cs typeface="Noto Sans JP"/>
              </a:defRPr>
            </a:pPr>
            <a:r>
              <a:rPr sz="2175" b="1">
                <a:solidFill>
                  <a:srgbClr val="2B6777"/>
                </a:solidFill>
                <a:latin typeface="Noto Sans JP"/>
                <a:ea typeface="Noto Sans JP"/>
                <a:cs typeface="Noto Sans JP"/>
              </a:rPr>
              <a:t>Rが表すもの</a:t>
            </a:r>
          </a:p>
        </p:txBody>
      </p:sp>
      <p:sp>
        <p:nvSpPr>
          <p:cNvPr id="10" name="">
            <a:extLst xmlns:a="http://schemas.openxmlformats.org/drawingml/2006/main">
              <a:ext uri="{FF2B5EF4-FFF2-40B4-BE49-F238E27FC236}">
                <a16:creationId xmlns:a16="http://schemas.microsoft.com/office/drawing/2014/main" id="{E58E490D-5BC3-414B-A373-1951BD28E8F7}"/>
              </a:ext>
            </a:extLst>
          </p:cNvPr>
          <p:cNvSpPr>
            <a:spLocks xmlns:a="http://schemas.openxmlformats.org/drawingml/2006/main" noGrp="1"/>
          </p:cNvSpPr>
          <p:nvPr/>
        </p:nvSpPr>
        <p:spPr>
          <a:xfrm xmlns:a="http://schemas.openxmlformats.org/drawingml/2006/main">
            <a:off x="704850" y="4029075"/>
            <a:ext cx="49339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列ごとの分布を揃えた後の、</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潜在値どうしの相関。</a:t>
            </a:r>
          </a:p>
        </p:txBody>
      </p:sp>
      <p:sp>
        <p:nvSpPr>
          <p:cNvPr id="11" name="">
            <a:extLst xmlns:a="http://schemas.openxmlformats.org/drawingml/2006/main">
              <a:ext uri="{FF2B5EF4-FFF2-40B4-BE49-F238E27FC236}">
                <a16:creationId xmlns:a16="http://schemas.microsoft.com/office/drawing/2014/main" id="{3F091DE1-D03D-4887-8F1B-8059E223E85C}"/>
              </a:ext>
            </a:extLst>
          </p:cNvPr>
          <p:cNvSpPr>
            <a:spLocks xmlns:a="http://schemas.openxmlformats.org/drawingml/2006/main" noGrp="1"/>
          </p:cNvSpPr>
          <p:nvPr/>
        </p:nvSpPr>
        <p:spPr>
          <a:xfrm xmlns:a="http://schemas.openxmlformats.org/drawingml/2006/main">
            <a:off x="6076950" y="3362325"/>
            <a:ext cx="5600700" cy="193357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86A7A7-1749-4528-9D31-030287D3B566}"/>
              </a:ext>
            </a:extLst>
          </p:cNvPr>
          <p:cNvSpPr>
            <a:spLocks xmlns:a="http://schemas.openxmlformats.org/drawingml/2006/main" noGrp="1"/>
          </p:cNvSpPr>
          <p:nvPr/>
        </p:nvSpPr>
        <p:spPr>
          <a:xfrm xmlns:a="http://schemas.openxmlformats.org/drawingml/2006/main">
            <a:off x="6267450" y="34766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ここで置く仮定</a:t>
            </a:r>
          </a:p>
        </p:txBody>
      </p:sp>
      <p:sp>
        <p:nvSpPr>
          <p:cNvPr id="13" name="">
            <a:extLst xmlns:a="http://schemas.openxmlformats.org/drawingml/2006/main">
              <a:ext uri="{FF2B5EF4-FFF2-40B4-BE49-F238E27FC236}">
                <a16:creationId xmlns:a16="http://schemas.microsoft.com/office/drawing/2014/main" id="{74E43CDE-3C62-4687-A309-F519B191CBD6}"/>
              </a:ext>
            </a:extLst>
          </p:cNvPr>
          <p:cNvSpPr>
            <a:spLocks xmlns:a="http://schemas.openxmlformats.org/drawingml/2006/main" noGrp="1"/>
          </p:cNvSpPr>
          <p:nvPr/>
        </p:nvSpPr>
        <p:spPr>
          <a:xfrm xmlns:a="http://schemas.openxmlformats.org/drawingml/2006/main">
            <a:off x="6267450" y="4029075"/>
            <a:ext cx="52197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各列が正規になっただけでは</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同時正規とは限らない。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同時正規性はモデルの仮定。</a:t>
            </a:r>
          </a:p>
        </p:txBody>
      </p:sp>
      <p:sp>
        <p:nvSpPr>
          <p:cNvPr id="14" name="">
            <a:extLst xmlns:a="http://schemas.openxmlformats.org/drawingml/2006/main">
              <a:ext uri="{FF2B5EF4-FFF2-40B4-BE49-F238E27FC236}">
                <a16:creationId xmlns:a16="http://schemas.microsoft.com/office/drawing/2014/main" id="{57049764-AD72-4167-945A-D08D64B838B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E5EDF58-C270-4669-9357-C0B74CD7353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周辺変換と「同時分布の仮定」は、別のステップ</a:t>
            </a:r>
          </a:p>
        </p:txBody>
      </p:sp>
    </p:spTree>
    <p:extLst>
      <p:ext uri="{BB962C8B-B14F-4D97-AF65-F5344CB8AC3E}">
        <p14:creationId xmlns:p14="http://schemas.microsoft.com/office/powerpoint/2010/main" val="8877453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2FAC66C-5C6A-422E-BA55-7795F6A3BF8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生成手順：残す列を条件にする</a:t>
            </a:r>
          </a:p>
        </p:txBody>
      </p:sp>
      <p:sp>
        <p:nvSpPr>
          <p:cNvPr id="2" name="">
            <a:extLst xmlns:a="http://schemas.openxmlformats.org/drawingml/2006/main">
              <a:ext uri="{FF2B5EF4-FFF2-40B4-BE49-F238E27FC236}">
                <a16:creationId xmlns:a16="http://schemas.microsoft.com/office/drawing/2014/main" id="{1BF32FBB-82ED-48C4-AC23-2962B1D73B1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21C3E3-EABC-40D3-8BFB-EB3FBEBF0C7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身長を固定し、体重だけを置換する例。</a:t>
            </a:r>
          </a:p>
        </p:txBody>
      </p:sp>
      <p:sp>
        <p:nvSpPr>
          <p:cNvPr id="4" name="">
            <a:extLst xmlns:a="http://schemas.openxmlformats.org/drawingml/2006/main">
              <a:ext uri="{FF2B5EF4-FFF2-40B4-BE49-F238E27FC236}">
                <a16:creationId xmlns:a16="http://schemas.microsoft.com/office/drawing/2014/main" id="{D7920FBE-6AB4-446B-9A57-632FE5C7A2B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25D441D6-A0A9-463F-9C11-D1C7B8123AE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499C8466-9653-4058-AD47-B639BE057047}"/>
              </a:ext>
            </a:extLst>
          </p:cNvPr>
          <p:cNvSpPr>
            <a:spLocks xmlns:a="http://schemas.openxmlformats.org/drawingml/2006/main" noGrp="1"/>
          </p:cNvSpPr>
          <p:nvPr/>
        </p:nvSpPr>
        <p:spPr>
          <a:xfrm xmlns:a="http://schemas.openxmlformats.org/drawingml/2006/main">
            <a:off x="552450" y="1952625"/>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05AEB168-47F0-4170-9644-E4E7871FEBA8}"/>
              </a:ext>
            </a:extLst>
          </p:cNvPr>
          <p:cNvSpPr>
            <a:spLocks xmlns:a="http://schemas.openxmlformats.org/drawingml/2006/main" noGrp="1"/>
          </p:cNvSpPr>
          <p:nvPr/>
        </p:nvSpPr>
        <p:spPr>
          <a:xfrm xmlns:a="http://schemas.openxmlformats.org/drawingml/2006/main">
            <a:off x="1257300" y="1952625"/>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元の行：身長175 cm、体重68 kg。体重をマスクする。</a:t>
            </a:r>
          </a:p>
        </p:txBody>
      </p:sp>
      <p:sp>
        <p:nvSpPr>
          <p:cNvPr id="8" name="">
            <a:extLst xmlns:a="http://schemas.openxmlformats.org/drawingml/2006/main">
              <a:ext uri="{FF2B5EF4-FFF2-40B4-BE49-F238E27FC236}">
                <a16:creationId xmlns:a16="http://schemas.microsoft.com/office/drawing/2014/main" id="{CECF724F-1830-48D7-BC72-70A7B75D8670}"/>
              </a:ext>
            </a:extLst>
          </p:cNvPr>
          <p:cNvSpPr>
            <a:spLocks xmlns:a="http://schemas.openxmlformats.org/drawingml/2006/main" noGrp="1"/>
          </p:cNvSpPr>
          <p:nvPr/>
        </p:nvSpPr>
        <p:spPr>
          <a:xfrm xmlns:a="http://schemas.openxmlformats.org/drawingml/2006/main">
            <a:off x="552450" y="2774156"/>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CFFEA289-BEBF-4FCD-85A4-9DB806976BDE}"/>
              </a:ext>
            </a:extLst>
          </p:cNvPr>
          <p:cNvSpPr>
            <a:spLocks xmlns:a="http://schemas.openxmlformats.org/drawingml/2006/main" noGrp="1"/>
          </p:cNvSpPr>
          <p:nvPr/>
        </p:nvSpPr>
        <p:spPr>
          <a:xfrm xmlns:a="http://schemas.openxmlformats.org/drawingml/2006/main">
            <a:off x="1257300" y="2774156"/>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残る身長の位置：u = Fₓ(175) = 0.8。</a:t>
            </a:r>
          </a:p>
        </p:txBody>
      </p:sp>
      <p:sp>
        <p:nvSpPr>
          <p:cNvPr id="10" name="">
            <a:extLst xmlns:a="http://schemas.openxmlformats.org/drawingml/2006/main">
              <a:ext uri="{FF2B5EF4-FFF2-40B4-BE49-F238E27FC236}">
                <a16:creationId xmlns:a16="http://schemas.microsoft.com/office/drawing/2014/main" id="{71B8FBCA-E5C0-41FD-BB31-AC9D133C5EC0}"/>
              </a:ext>
            </a:extLst>
          </p:cNvPr>
          <p:cNvSpPr>
            <a:spLocks xmlns:a="http://schemas.openxmlformats.org/drawingml/2006/main" noGrp="1"/>
          </p:cNvSpPr>
          <p:nvPr/>
        </p:nvSpPr>
        <p:spPr>
          <a:xfrm xmlns:a="http://schemas.openxmlformats.org/drawingml/2006/main">
            <a:off x="552450" y="3595688"/>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B01E5BC7-CB90-4A79-A4CE-A6C652F433B5}"/>
              </a:ext>
            </a:extLst>
          </p:cNvPr>
          <p:cNvSpPr>
            <a:spLocks xmlns:a="http://schemas.openxmlformats.org/drawingml/2006/main" noGrp="1"/>
          </p:cNvSpPr>
          <p:nvPr/>
        </p:nvSpPr>
        <p:spPr>
          <a:xfrm xmlns:a="http://schemas.openxmlformats.org/drawingml/2006/main">
            <a:off x="1257300" y="3595688"/>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潜在値へ：zₓ = Φ⁻¹(0.8) ≈ 0.842。</a:t>
            </a:r>
          </a:p>
        </p:txBody>
      </p:sp>
      <p:sp>
        <p:nvSpPr>
          <p:cNvPr id="12" name="">
            <a:extLst xmlns:a="http://schemas.openxmlformats.org/drawingml/2006/main">
              <a:ext uri="{FF2B5EF4-FFF2-40B4-BE49-F238E27FC236}">
                <a16:creationId xmlns:a16="http://schemas.microsoft.com/office/drawing/2014/main" id="{40B210B1-B260-454D-AED7-D45A88C6A8A2}"/>
              </a:ext>
            </a:extLst>
          </p:cNvPr>
          <p:cNvSpPr>
            <a:spLocks xmlns:a="http://schemas.openxmlformats.org/drawingml/2006/main" noGrp="1"/>
          </p:cNvSpPr>
          <p:nvPr/>
        </p:nvSpPr>
        <p:spPr>
          <a:xfrm xmlns:a="http://schemas.openxmlformats.org/drawingml/2006/main">
            <a:off x="552450" y="4417219"/>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D6FDCA62-3BE2-4174-9B55-C254F342420A}"/>
              </a:ext>
            </a:extLst>
          </p:cNvPr>
          <p:cNvSpPr>
            <a:spLocks xmlns:a="http://schemas.openxmlformats.org/drawingml/2006/main" noGrp="1"/>
          </p:cNvSpPr>
          <p:nvPr/>
        </p:nvSpPr>
        <p:spPr>
          <a:xfrm xmlns:a="http://schemas.openxmlformats.org/drawingml/2006/main">
            <a:off x="1257300" y="4417219"/>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zₓを条件に、体重側の潜在値zᵧをサンプリングする。</a:t>
            </a:r>
          </a:p>
        </p:txBody>
      </p:sp>
      <p:sp>
        <p:nvSpPr>
          <p:cNvPr id="14" name="">
            <a:extLst xmlns:a="http://schemas.openxmlformats.org/drawingml/2006/main">
              <a:ext uri="{FF2B5EF4-FFF2-40B4-BE49-F238E27FC236}">
                <a16:creationId xmlns:a16="http://schemas.microsoft.com/office/drawing/2014/main" id="{B6E4B241-2833-43C0-BF26-FA0044486AF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33F6C95-7F69-48F5-8B45-3E12500E40C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生成した体重と元の身長を組にし、身長は変更しない</a:t>
            </a:r>
          </a:p>
        </p:txBody>
      </p:sp>
    </p:spTree>
    <p:extLst>
      <p:ext uri="{BB962C8B-B14F-4D97-AF65-F5344CB8AC3E}">
        <p14:creationId xmlns:p14="http://schemas.microsoft.com/office/powerpoint/2010/main" val="16371027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ED3D04-EA93-4DBF-BB3B-CF409AB53C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なぜ条件付き正規分布になるのか</a:t>
            </a:r>
          </a:p>
        </p:txBody>
      </p:sp>
      <p:sp>
        <p:nvSpPr>
          <p:cNvPr id="2" name="">
            <a:extLst xmlns:a="http://schemas.openxmlformats.org/drawingml/2006/main">
              <a:ext uri="{FF2B5EF4-FFF2-40B4-BE49-F238E27FC236}">
                <a16:creationId xmlns:a16="http://schemas.microsoft.com/office/drawing/2014/main" id="{C03B5A9E-90EE-4F61-BD32-F2EA2E11623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D591B6-EF2E-4502-8BE6-B0E9C714864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二つの潜在値を、相関ρのある標準正規としてモデル化したため。</a:t>
            </a:r>
          </a:p>
        </p:txBody>
      </p:sp>
      <p:sp>
        <p:nvSpPr>
          <p:cNvPr id="4" name="">
            <a:extLst xmlns:a="http://schemas.openxmlformats.org/drawingml/2006/main">
              <a:ext uri="{FF2B5EF4-FFF2-40B4-BE49-F238E27FC236}">
                <a16:creationId xmlns:a16="http://schemas.microsoft.com/office/drawing/2014/main" id="{D60AB431-2161-4A3E-8FFF-C50FA716F48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3D8E9AD5-CE07-4F03-BBB0-C3775B62BBF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sp>
        <p:nvSpPr>
          <p:cNvPr id="6" name="">
            <a:extLst xmlns:a="http://schemas.openxmlformats.org/drawingml/2006/main">
              <a:ext uri="{FF2B5EF4-FFF2-40B4-BE49-F238E27FC236}">
                <a16:creationId xmlns:a16="http://schemas.microsoft.com/office/drawing/2014/main" id="{EFAD5680-C261-4B57-8D7D-1F6D8247030D}"/>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980E3C-C059-4A40-A1AF-DF23B7B62692}"/>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Zₓ = zₓ  ~  N(ρzₓ, 1 − ρ²)</a:t>
            </a:r>
          </a:p>
        </p:txBody>
      </p:sp>
      <p:graphicFrame>
        <p:nvGraphicFramePr>
          <p:cNvPr id="18" name=""/>
          <p:cNvGraphicFramePr/>
          <p:nvPr/>
        </p:nvGraphicFramePr>
        <p:xfrm>
          <a:off xmlns:a="http://schemas.openxmlformats.org/drawingml/2006/main" x="514350" y="3381375"/>
          <a:ext xmlns:a="http://schemas.openxmlformats.org/drawingml/2006/main" cx="11163300" cy="1962150"/>
        </p:xfrm>
        <a:graphic xmlns:a="http://schemas.openxmlformats.org/drawingml/2006/main">
          <a:graphicData uri="http://schemas.openxmlformats.org/drawingml/2006/table">
            <a:tbl>
              <a:tblPr/>
              <a:tblGrid>
                <a:gridCol w="3721100"/>
                <a:gridCol w="3721100"/>
                <a:gridCol w="3721100"/>
              </a:tblGrid>
              <a:tr h="490538">
                <a:tc>
                  <a:txBody>
                    <a:bodyPr/>
                    <a:lstStyle/>
                    <a:p>
                      <a:pPr algn="ctr"/>
                      <a:r>
                        <a:rPr sz="1875" b="1">
                          <a:solidFill>
                            <a:srgbClr val="2E7D5B"/>
                          </a:solidFill>
                          <a:latin typeface="Noto Sans JP"/>
                          <a:ea typeface="Noto Sans JP"/>
                          <a:cs typeface="Noto Sans JP"/>
                        </a:rPr>
                        <a:t>説明用の設定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計算</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意味</a:t>
                      </a:r>
                    </a:p>
                  </a:txBody>
                  <a:tcPr marL="91440" marR="91440" marT="45720" marB="45720" anchor="ctr">
                    <a:solidFill>
                      <a:srgbClr val="E7F2EC"/>
                    </a:solidFill>
                  </a:tcPr>
                </a:tc>
              </a:tr>
              <a:tr h="490538">
                <a:tc>
                  <a:txBody>
                    <a:bodyPr/>
                    <a:lstStyle/>
                    <a:p>
                      <a:pPr algn="ctr"/>
                      <a:r>
                        <a:rPr sz="1875" b="0">
                          <a:solidFill>
                            <a:srgbClr val="222222"/>
                          </a:solidFill>
                          <a:latin typeface="Noto Sans JP"/>
                          <a:ea typeface="Noto Sans JP"/>
                          <a:cs typeface="Noto Sans JP"/>
                        </a:rPr>
                        <a:t>ρ = 0.6, zₓ ≈ 0.842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 = 0.6 × 0.842 ≈ 0.505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高い側へ分布が動く</a:t>
                      </a:r>
                    </a:p>
                  </a:txBody>
                  <a:tcPr marL="91440" marR="91440" marT="45720" marB="45720" anchor="ctr">
                    <a:solidFill>
                      <a:srgbClr val="FFFFFF"/>
                    </a:solidFill>
                  </a:tcPr>
                </a:tc>
              </a:tr>
              <a:tr h="490538">
                <a:tc>
                  <a:txBody>
                    <a:bodyPr/>
                    <a:lstStyle/>
                    <a:p>
                      <a:pPr algn="ctr"/>
                      <a:r>
                        <a:rPr sz="1875" b="0">
                          <a:solidFill>
                            <a:srgbClr val="222222"/>
                          </a:solidFill>
                          <a:latin typeface="Noto Sans JP"/>
                          <a:ea typeface="Noto Sans JP"/>
                          <a:cs typeface="Noto Sans JP"/>
                        </a:rPr>
                        <a:t>条件付き分散</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1 − 0.6² = 0.64</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不確実性が残る</a:t>
                      </a:r>
                    </a:p>
                  </a:txBody>
                  <a:tcPr marL="91440" marR="91440" marT="45720" marB="45720" anchor="ctr">
                    <a:solidFill>
                      <a:srgbClr val="F6F6F6"/>
                    </a:solidFill>
                  </a:tcPr>
                </a:tc>
              </a:tr>
              <a:tr h="490538">
                <a:tc>
                  <a:txBody>
                    <a:bodyPr/>
                    <a:lstStyle/>
                    <a:p>
                      <a:pPr algn="ctr"/>
                      <a:r>
                        <a:rPr sz="1875" b="0">
                          <a:solidFill>
                            <a:srgbClr val="222222"/>
                          </a:solidFill>
                          <a:latin typeface="Noto Sans JP"/>
                          <a:ea typeface="Noto Sans JP"/>
                          <a:cs typeface="Noto Sans JP"/>
                        </a:rPr>
                        <a:t>条件付き標準偏差</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√0.64 = 0.8</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平均の周りから値を生成</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A6D9C94-5885-4067-9B97-6CBC7E5BD53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F36ED7-A75A-450E-8AB6-C1BE2A85E81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「もっともらしい一つの値」へ固定せず、分布から生成する</a:t>
            </a:r>
          </a:p>
        </p:txBody>
      </p:sp>
    </p:spTree>
    <p:extLst>
      <p:ext uri="{BB962C8B-B14F-4D97-AF65-F5344CB8AC3E}">
        <p14:creationId xmlns:p14="http://schemas.microsoft.com/office/powerpoint/2010/main" val="169111049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8E70F2-FE79-498C-B311-E3DC990B585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サンプリングを、数字で追う</a:t>
            </a:r>
          </a:p>
        </p:txBody>
      </p:sp>
      <p:sp>
        <p:nvSpPr>
          <p:cNvPr id="2" name="">
            <a:extLst xmlns:a="http://schemas.openxmlformats.org/drawingml/2006/main">
              <a:ext uri="{FF2B5EF4-FFF2-40B4-BE49-F238E27FC236}">
                <a16:creationId xmlns:a16="http://schemas.microsoft.com/office/drawing/2014/main" id="{84ADE51B-95AD-4109-8852-99378B6F720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13A9C3-1F18-4651-872D-FFAEBB6ECA7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標準正規の乱数εを引き、平均と標準偏差で変換する。</a:t>
            </a:r>
          </a:p>
        </p:txBody>
      </p:sp>
      <p:sp>
        <p:nvSpPr>
          <p:cNvPr id="4" name="">
            <a:extLst xmlns:a="http://schemas.openxmlformats.org/drawingml/2006/main">
              <a:ext uri="{FF2B5EF4-FFF2-40B4-BE49-F238E27FC236}">
                <a16:creationId xmlns:a16="http://schemas.microsoft.com/office/drawing/2014/main" id="{0AB53F3B-4E9B-4697-9570-F00384DB087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3F3A8287-41BC-4B8B-BCA5-86A6A0FCF3D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30</a:t>
            </a:r>
          </a:p>
        </p:txBody>
      </p:sp>
      <p:sp>
        <p:nvSpPr>
          <p:cNvPr id="6" name="">
            <a:extLst xmlns:a="http://schemas.openxmlformats.org/drawingml/2006/main">
              <a:ext uri="{FF2B5EF4-FFF2-40B4-BE49-F238E27FC236}">
                <a16:creationId xmlns:a16="http://schemas.microsoft.com/office/drawing/2014/main" id="{96E32EE5-D7B5-49B9-AE50-F3B490CC50F6}"/>
              </a:ext>
            </a:extLst>
          </p:cNvPr>
          <p:cNvSpPr>
            <a:spLocks xmlns:a="http://schemas.openxmlformats.org/drawingml/2006/main" noGrp="1"/>
          </p:cNvSpPr>
          <p:nvPr/>
        </p:nvSpPr>
        <p:spPr>
          <a:xfrm xmlns:a="http://schemas.openxmlformats.org/drawingml/2006/main">
            <a:off x="514350" y="1914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511D6D0-68EE-4F30-BB15-DFBF9B7E672B}"/>
              </a:ext>
            </a:extLst>
          </p:cNvPr>
          <p:cNvSpPr>
            <a:spLocks xmlns:a="http://schemas.openxmlformats.org/drawingml/2006/main" noGrp="1"/>
          </p:cNvSpPr>
          <p:nvPr/>
        </p:nvSpPr>
        <p:spPr>
          <a:xfrm xmlns:a="http://schemas.openxmlformats.org/drawingml/2006/main">
            <a:off x="704850" y="2009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75" b="1">
                <a:solidFill>
                  <a:srgbClr val="2B6777"/>
                </a:solidFill>
                <a:latin typeface="Noto Sans JP"/>
                <a:ea typeface="Noto Sans JP"/>
                <a:cs typeface="Noto Sans JP"/>
              </a:defRPr>
            </a:pPr>
            <a:r>
              <a:rPr sz="3075" b="1">
                <a:solidFill>
                  <a:srgbClr val="2B6777"/>
                </a:solidFill>
                <a:latin typeface="Noto Sans JP"/>
                <a:ea typeface="Noto Sans JP"/>
                <a:cs typeface="Noto Sans JP"/>
              </a:rPr>
              <a:t>zᵧ = 0.505 + 0.8ε ,   ε ~ N(0, 1)</a:t>
            </a:r>
          </a:p>
        </p:txBody>
      </p:sp>
      <p:graphicFrame>
        <p:nvGraphicFramePr>
          <p:cNvPr id="18" name=""/>
          <p:cNvGraphicFramePr/>
          <p:nvPr/>
        </p:nvGraphicFramePr>
        <p:xfrm>
          <a:off xmlns:a="http://schemas.openxmlformats.org/drawingml/2006/main" x="514350" y="3352800"/>
          <a:ext xmlns:a="http://schemas.openxmlformats.org/drawingml/2006/main" cx="11163300" cy="2047875"/>
        </p:xfrm>
        <a:graphic xmlns:a="http://schemas.openxmlformats.org/drawingml/2006/main">
          <a:graphicData uri="http://schemas.openxmlformats.org/drawingml/2006/table">
            <a:tbl>
              <a:tblPr/>
              <a:tblGrid>
                <a:gridCol w="3721100"/>
                <a:gridCol w="3721100"/>
                <a:gridCol w="3721100"/>
              </a:tblGrid>
              <a:tr h="511969">
                <a:tc>
                  <a:txBody>
                    <a:bodyPr/>
                    <a:lstStyle/>
                    <a:p>
                      <a:pPr algn="ctr"/>
                      <a:r>
                        <a:rPr sz="2100" b="1">
                          <a:solidFill>
                            <a:srgbClr val="2E7D5B"/>
                          </a:solidFill>
                          <a:latin typeface="Noto Sans JP"/>
                          <a:ea typeface="Noto Sans JP"/>
                          <a:cs typeface="Noto Sans JP"/>
                        </a:rPr>
                        <a:t>説明用のε</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潜在値zᵧ</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体重の位置 v = Φ(zᵧ)</a:t>
                      </a:r>
                    </a:p>
                  </a:txBody>
                  <a:tcPr marL="91440" marR="91440" marT="45720" marB="45720" anchor="ctr">
                    <a:solidFill>
                      <a:srgbClr val="E7F2EC"/>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−0.295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約0.384</a:t>
                      </a:r>
                    </a:p>
                  </a:txBody>
                  <a:tcPr marL="91440" marR="91440" marT="45720" marB="45720" anchor="ctr">
                    <a:solidFill>
                      <a:srgbClr val="FFFFFF"/>
                    </a:solidFill>
                  </a:tcPr>
                </a:tc>
              </a:tr>
              <a:tr h="511969">
                <a:tc>
                  <a:txBody>
                    <a:bodyPr/>
                    <a:lstStyle/>
                    <a:p>
                      <a:pPr algn="ctr"/>
                      <a:r>
                        <a:rPr sz="2100" b="0">
                          <a:solidFill>
                            <a:srgbClr val="222222"/>
                          </a:solidFill>
                          <a:latin typeface="Noto Sans JP"/>
                          <a:ea typeface="Noto Sans JP"/>
                          <a:cs typeface="Noto Sans JP"/>
                        </a:rPr>
                        <a:t>0</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0.505</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約0.693</a:t>
                      </a:r>
                    </a:p>
                  </a:txBody>
                  <a:tcPr marL="91440" marR="91440" marT="45720" marB="45720" anchor="ctr">
                    <a:solidFill>
                      <a:srgbClr val="F6F6F6"/>
                    </a:solidFill>
                  </a:tcPr>
                </a:tc>
              </a:tr>
              <a:tr h="511969">
                <a:tc>
                  <a:txBody>
                    <a:bodyPr/>
                    <a:lstStyle/>
                    <a:p>
                      <a:pPr algn="ctr"/>
                      <a:r>
                        <a:rPr sz="2100"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1.305</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約0.904</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1CC9608-A2D9-4A0D-A58F-18535FD76CA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4E8BF3E-1877-419C-A62E-51A76179FFA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同じ身長でも、関係を反映しながら複数の体重を作れる</a:t>
            </a:r>
          </a:p>
        </p:txBody>
      </p:sp>
    </p:spTree>
    <p:extLst>
      <p:ext uri="{BB962C8B-B14F-4D97-AF65-F5344CB8AC3E}">
        <p14:creationId xmlns:p14="http://schemas.microsoft.com/office/powerpoint/2010/main" val="19184524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19D055-B37B-4054-8953-CCEC71AC45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最後に、位置を元の単位へ戻す</a:t>
            </a:r>
          </a:p>
        </p:txBody>
      </p:sp>
      <p:sp>
        <p:nvSpPr>
          <p:cNvPr id="2" name="">
            <a:extLst xmlns:a="http://schemas.openxmlformats.org/drawingml/2006/main">
              <a:ext uri="{FF2B5EF4-FFF2-40B4-BE49-F238E27FC236}">
                <a16:creationId xmlns:a16="http://schemas.microsoft.com/office/drawing/2014/main" id="{59747078-528E-46A4-9B91-D077A1936D4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2822B3-8442-4D8D-AE10-293D880A682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各列で覚えておいた逆累積分布を使う。</a:t>
            </a:r>
          </a:p>
        </p:txBody>
      </p:sp>
      <p:sp>
        <p:nvSpPr>
          <p:cNvPr id="4" name="">
            <a:extLst xmlns:a="http://schemas.openxmlformats.org/drawingml/2006/main">
              <a:ext uri="{FF2B5EF4-FFF2-40B4-BE49-F238E27FC236}">
                <a16:creationId xmlns:a16="http://schemas.microsoft.com/office/drawing/2014/main" id="{B9D4ABC2-CA22-4DA7-AF57-CBD6C792930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CCB01062-437B-4770-A39D-DD41904B525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31</a:t>
            </a:r>
          </a:p>
        </p:txBody>
      </p:sp>
      <p:sp>
        <p:nvSpPr>
          <p:cNvPr id="6" name="">
            <a:extLst xmlns:a="http://schemas.openxmlformats.org/drawingml/2006/main">
              <a:ext uri="{FF2B5EF4-FFF2-40B4-BE49-F238E27FC236}">
                <a16:creationId xmlns:a16="http://schemas.microsoft.com/office/drawing/2014/main" id="{573FB916-46A7-4713-8E82-78E7A6D981E7}"/>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BFC305-734C-4E9D-8931-511A4FCDB1E1}"/>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B6777"/>
                </a:solidFill>
                <a:latin typeface="Noto Sans JP"/>
                <a:ea typeface="Noto Sans JP"/>
                <a:cs typeface="Noto Sans JP"/>
              </a:defRPr>
            </a:pPr>
            <a:r>
              <a:rPr sz="3300" b="1">
                <a:solidFill>
                  <a:srgbClr val="2B6777"/>
                </a:solidFill>
                <a:latin typeface="Noto Sans JP"/>
                <a:ea typeface="Noto Sans JP"/>
                <a:cs typeface="Noto Sans JP"/>
              </a:rPr>
              <a:t>体重の生成値 y′ = Fᵧ⁻¹(v)</a:t>
            </a:r>
          </a:p>
        </p:txBody>
      </p:sp>
      <p:sp>
        <p:nvSpPr>
          <p:cNvPr id="8" name="">
            <a:extLst xmlns:a="http://schemas.openxmlformats.org/drawingml/2006/main">
              <a:ext uri="{FF2B5EF4-FFF2-40B4-BE49-F238E27FC236}">
                <a16:creationId xmlns:a16="http://schemas.microsoft.com/office/drawing/2014/main" id="{8F977C4F-F08E-4FEE-B2FC-DC72F75AEA2F}"/>
              </a:ext>
            </a:extLst>
          </p:cNvPr>
          <p:cNvSpPr>
            <a:spLocks xmlns:a="http://schemas.openxmlformats.org/drawingml/2006/main" noGrp="1"/>
          </p:cNvSpPr>
          <p:nvPr/>
        </p:nvSpPr>
        <p:spPr>
          <a:xfrm xmlns:a="http://schemas.openxmlformats.org/drawingml/2006/main">
            <a:off x="628650" y="3076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説明用：Y ~ N(65, 10²) と仮定 → y′ = 65 + 10 Φ⁻¹(v)</a:t>
            </a:r>
          </a:p>
        </p:txBody>
      </p:sp>
      <p:graphicFrame>
        <p:nvGraphicFramePr>
          <p:cNvPr id="20" name=""/>
          <p:cNvGraphicFramePr/>
          <p:nvPr/>
        </p:nvGraphicFramePr>
        <p:xfrm>
          <a:off xmlns:a="http://schemas.openxmlformats.org/drawingml/2006/main" x="514350" y="3571875"/>
          <a:ext xmlns:a="http://schemas.openxmlformats.org/drawingml/2006/main" cx="11163300" cy="1781175"/>
        </p:xfrm>
        <a:graphic xmlns:a="http://schemas.openxmlformats.org/drawingml/2006/main">
          <a:graphicData uri="http://schemas.openxmlformats.org/drawingml/2006/table">
            <a:tbl>
              <a:tblPr/>
              <a:tblGrid>
                <a:gridCol w="3721100"/>
                <a:gridCol w="3721100"/>
                <a:gridCol w="3721100"/>
              </a:tblGrid>
              <a:tr h="445294">
                <a:tc>
                  <a:txBody>
                    <a:bodyPr/>
                    <a:lstStyle/>
                    <a:p>
                      <a:pPr algn="ctr"/>
                      <a:r>
                        <a:rPr sz="2025" b="1">
                          <a:solidFill>
                            <a:srgbClr val="2E7D5B"/>
                          </a:solidFill>
                          <a:latin typeface="Noto Sans JP"/>
                          <a:ea typeface="Noto Sans JP"/>
                          <a:cs typeface="Noto Sans JP"/>
                        </a:rPr>
                        <a:t>位置v</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説明用の体重分布から戻す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生成した行</a:t>
                      </a:r>
                    </a:p>
                  </a:txBody>
                  <a:tcPr marL="91440" marR="91440" marT="45720" marB="45720" anchor="ctr">
                    <a:solidFill>
                      <a:srgbClr val="E7F2EC"/>
                    </a:solidFill>
                  </a:tcPr>
                </a:tc>
              </a:tr>
              <a:tr h="445294">
                <a:tc>
                  <a:txBody>
                    <a:bodyPr/>
                    <a:lstStyle/>
                    <a:p>
                      <a:pPr algn="ctr"/>
                      <a:r>
                        <a:rPr sz="2025" b="0">
                          <a:solidFill>
                            <a:srgbClr val="222222"/>
                          </a:solidFill>
                          <a:latin typeface="Noto Sans JP"/>
                          <a:ea typeface="Noto Sans JP"/>
                          <a:cs typeface="Noto Sans JP"/>
                        </a:rPr>
                        <a:t>0.384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約62.0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62.0 kg</a:t>
                      </a:r>
                    </a:p>
                  </a:txBody>
                  <a:tcPr marL="91440" marR="91440" marT="45720" marB="45720" anchor="ctr">
                    <a:solidFill>
                      <a:srgbClr val="FFFFFF"/>
                    </a:solidFill>
                  </a:tcPr>
                </a:tc>
              </a:tr>
              <a:tr h="445294">
                <a:tc>
                  <a:txBody>
                    <a:bodyPr/>
                    <a:lstStyle/>
                    <a:p>
                      <a:pPr algn="ctr"/>
                      <a:r>
                        <a:rPr sz="2025" b="0">
                          <a:solidFill>
                            <a:srgbClr val="222222"/>
                          </a:solidFill>
                          <a:latin typeface="Noto Sans JP"/>
                          <a:ea typeface="Noto Sans JP"/>
                          <a:cs typeface="Noto Sans JP"/>
                        </a:rPr>
                        <a:t>0.693</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約70.0 kg</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175 cm, 70.0 kg</a:t>
                      </a:r>
                    </a:p>
                  </a:txBody>
                  <a:tcPr marL="91440" marR="91440" marT="45720" marB="45720" anchor="ctr">
                    <a:solidFill>
                      <a:srgbClr val="F6F6F6"/>
                    </a:solidFill>
                  </a:tcPr>
                </a:tc>
              </a:tr>
              <a:tr h="445294">
                <a:tc>
                  <a:txBody>
                    <a:bodyPr/>
                    <a:lstStyle/>
                    <a:p>
                      <a:pPr algn="ctr"/>
                      <a:r>
                        <a:rPr sz="2025" b="0">
                          <a:solidFill>
                            <a:srgbClr val="222222"/>
                          </a:solidFill>
                          <a:latin typeface="Noto Sans JP"/>
                          <a:ea typeface="Noto Sans JP"/>
                          <a:cs typeface="Noto Sans JP"/>
                        </a:rPr>
                        <a:t>0.904</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約78.0 kg</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175 cm, 78.0 kg</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2CAEEE1-5FD1-4395-BD97-C10DDEEB877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1B7FA2-FDC4-4519-BA96-1B3D67EB15E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実装では、ラベルなし訓練データの経験分位点で元スケールへ戻す</a:t>
            </a:r>
          </a:p>
        </p:txBody>
      </p:sp>
    </p:spTree>
    <p:extLst>
      <p:ext uri="{BB962C8B-B14F-4D97-AF65-F5344CB8AC3E}">
        <p14:creationId xmlns:p14="http://schemas.microsoft.com/office/powerpoint/2010/main" val="18037050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DCB924-3831-4234-9770-BCEA15F97C9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複数のマスク列も、一緒に生成する</a:t>
            </a:r>
          </a:p>
        </p:txBody>
      </p:sp>
      <p:sp>
        <p:nvSpPr>
          <p:cNvPr id="2" name="">
            <a:extLst xmlns:a="http://schemas.openxmlformats.org/drawingml/2006/main">
              <a:ext uri="{FF2B5EF4-FFF2-40B4-BE49-F238E27FC236}">
                <a16:creationId xmlns:a16="http://schemas.microsoft.com/office/drawing/2014/main" id="{F4915D94-1235-4308-A330-87571732561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852AD5-AE1B-4CC4-8235-7CE4E41E3C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身長を残し、体重と腹囲を置換するなら、2列を同時に引く。</a:t>
            </a:r>
          </a:p>
        </p:txBody>
      </p:sp>
      <p:sp>
        <p:nvSpPr>
          <p:cNvPr id="4" name="">
            <a:extLst xmlns:a="http://schemas.openxmlformats.org/drawingml/2006/main">
              <a:ext uri="{FF2B5EF4-FFF2-40B4-BE49-F238E27FC236}">
                <a16:creationId xmlns:a16="http://schemas.microsoft.com/office/drawing/2014/main" id="{0DD59B65-387E-4952-BEA9-1BD3EBE23BD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提案手法の原理</a:t>
            </a:r>
          </a:p>
        </p:txBody>
      </p:sp>
      <p:sp>
        <p:nvSpPr>
          <p:cNvPr id="5" name="">
            <a:extLst xmlns:a="http://schemas.openxmlformats.org/drawingml/2006/main">
              <a:ext uri="{FF2B5EF4-FFF2-40B4-BE49-F238E27FC236}">
                <a16:creationId xmlns:a16="http://schemas.microsoft.com/office/drawing/2014/main" id="{90E565DF-FEA3-40C7-A83C-635B4E11394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32</a:t>
            </a:r>
          </a:p>
        </p:txBody>
      </p:sp>
      <p:sp>
        <p:nvSpPr>
          <p:cNvPr id="6" name="">
            <a:extLst xmlns:a="http://schemas.openxmlformats.org/drawingml/2006/main">
              <a:ext uri="{FF2B5EF4-FFF2-40B4-BE49-F238E27FC236}">
                <a16:creationId xmlns:a16="http://schemas.microsoft.com/office/drawing/2014/main" id="{C26D8E34-D600-4423-8482-2537118CCCC3}"/>
              </a:ext>
            </a:extLst>
          </p:cNvPr>
          <p:cNvSpPr>
            <a:spLocks xmlns:a="http://schemas.openxmlformats.org/drawingml/2006/main" noGrp="1"/>
          </p:cNvSpPr>
          <p:nvPr/>
        </p:nvSpPr>
        <p:spPr>
          <a:xfrm xmlns:a="http://schemas.openxmlformats.org/drawingml/2006/main">
            <a:off x="514350" y="2019300"/>
            <a:ext cx="531495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6BFB1A-E65F-4EC0-883F-266B398B99F4}"/>
              </a:ext>
            </a:extLst>
          </p:cNvPr>
          <p:cNvSpPr>
            <a:spLocks xmlns:a="http://schemas.openxmlformats.org/drawingml/2006/main" noGrp="1"/>
          </p:cNvSpPr>
          <p:nvPr/>
        </p:nvSpPr>
        <p:spPr>
          <a:xfrm xmlns:a="http://schemas.openxmlformats.org/drawingml/2006/main">
            <a:off x="704850" y="2133600"/>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個別に引くと</a:t>
            </a:r>
          </a:p>
        </p:txBody>
      </p:sp>
      <p:sp>
        <p:nvSpPr>
          <p:cNvPr id="8" name="">
            <a:extLst xmlns:a="http://schemas.openxmlformats.org/drawingml/2006/main">
              <a:ext uri="{FF2B5EF4-FFF2-40B4-BE49-F238E27FC236}">
                <a16:creationId xmlns:a16="http://schemas.microsoft.com/office/drawing/2014/main" id="{9363BD3E-4BD7-4774-8BFE-EF209FD91038}"/>
              </a:ext>
            </a:extLst>
          </p:cNvPr>
          <p:cNvSpPr>
            <a:spLocks xmlns:a="http://schemas.openxmlformats.org/drawingml/2006/main" noGrp="1"/>
          </p:cNvSpPr>
          <p:nvPr/>
        </p:nvSpPr>
        <p:spPr>
          <a:xfrm xmlns:a="http://schemas.openxmlformats.org/drawingml/2006/main">
            <a:off x="704850" y="2686050"/>
            <a:ext cx="49339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体重を生成</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 → 腹囲を生成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体重と腹囲の、残った依存を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無視することがある。</a:t>
            </a:r>
          </a:p>
        </p:txBody>
      </p:sp>
      <p:sp>
        <p:nvSpPr>
          <p:cNvPr id="9" name="">
            <a:extLst xmlns:a="http://schemas.openxmlformats.org/drawingml/2006/main">
              <a:ext uri="{FF2B5EF4-FFF2-40B4-BE49-F238E27FC236}">
                <a16:creationId xmlns:a16="http://schemas.microsoft.com/office/drawing/2014/main" id="{830A9014-D08E-4811-8E55-067788660524}"/>
              </a:ext>
            </a:extLst>
          </p:cNvPr>
          <p:cNvSpPr>
            <a:spLocks xmlns:a="http://schemas.openxmlformats.org/drawingml/2006/main" noGrp="1"/>
          </p:cNvSpPr>
          <p:nvPr/>
        </p:nvSpPr>
        <p:spPr>
          <a:xfrm xmlns:a="http://schemas.openxmlformats.org/drawingml/2006/main">
            <a:off x="6076950" y="2019300"/>
            <a:ext cx="5600700" cy="31432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998754-2431-48D6-B732-4124E289827A}"/>
              </a:ext>
            </a:extLst>
          </p:cNvPr>
          <p:cNvSpPr>
            <a:spLocks xmlns:a="http://schemas.openxmlformats.org/drawingml/2006/main" noGrp="1"/>
          </p:cNvSpPr>
          <p:nvPr/>
        </p:nvSpPr>
        <p:spPr>
          <a:xfrm xmlns:a="http://schemas.openxmlformats.org/drawingml/2006/main">
            <a:off x="6267450" y="213360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今回の生成</a:t>
            </a:r>
          </a:p>
        </p:txBody>
      </p:sp>
      <p:sp>
        <p:nvSpPr>
          <p:cNvPr id="11" name="">
            <a:extLst xmlns:a="http://schemas.openxmlformats.org/drawingml/2006/main">
              <a:ext uri="{FF2B5EF4-FFF2-40B4-BE49-F238E27FC236}">
                <a16:creationId xmlns:a16="http://schemas.microsoft.com/office/drawing/2014/main" id="{1C62874E-06B5-40B3-AA66-54C9AF139011}"/>
              </a:ext>
            </a:extLst>
          </p:cNvPr>
          <p:cNvSpPr>
            <a:spLocks xmlns:a="http://schemas.openxmlformats.org/drawingml/2006/main" noGrp="1"/>
          </p:cNvSpPr>
          <p:nvPr/>
        </p:nvSpPr>
        <p:spPr>
          <a:xfrm xmlns:a="http://schemas.openxmlformats.org/drawingml/2006/main">
            <a:off x="6267450" y="2686050"/>
            <a:ext cx="52197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身長を条件に、</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（体重・腹囲）の組を引く。</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条件付き平均だけでなく、</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条件付き共分散も使う。</a:t>
            </a:r>
          </a:p>
        </p:txBody>
      </p:sp>
      <p:sp>
        <p:nvSpPr>
          <p:cNvPr id="12" name="">
            <a:extLst xmlns:a="http://schemas.openxmlformats.org/drawingml/2006/main">
              <a:ext uri="{FF2B5EF4-FFF2-40B4-BE49-F238E27FC236}">
                <a16:creationId xmlns:a16="http://schemas.microsoft.com/office/drawing/2014/main" id="{9037D07A-A510-41A0-A098-433F40065BE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502467-F9EF-4B27-9E25-2BD8798BF7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観測列との関係と、置換列どうしの関係を両方扱う</a:t>
            </a:r>
          </a:p>
        </p:txBody>
      </p:sp>
    </p:spTree>
    <p:extLst>
      <p:ext uri="{BB962C8B-B14F-4D97-AF65-F5344CB8AC3E}">
        <p14:creationId xmlns:p14="http://schemas.microsoft.com/office/powerpoint/2010/main" val="179449059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6DE39C-DCA2-4C9A-9393-29D88CBA2A7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VIMEのどこに組み込むか</a:t>
            </a:r>
          </a:p>
        </p:txBody>
      </p:sp>
      <p:sp>
        <p:nvSpPr>
          <p:cNvPr id="2" name="">
            <a:extLst xmlns:a="http://schemas.openxmlformats.org/drawingml/2006/main">
              <a:ext uri="{FF2B5EF4-FFF2-40B4-BE49-F238E27FC236}">
                <a16:creationId xmlns:a16="http://schemas.microsoft.com/office/drawing/2014/main" id="{BE49DB72-6381-466F-BB9E-6E0DA25F04F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5FB71B-6A20-46CB-A6C5-8484CA0D62C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学習課題を揃え、置換器だけを変更した比較を行う。</a:t>
            </a:r>
          </a:p>
        </p:txBody>
      </p:sp>
      <p:sp>
        <p:nvSpPr>
          <p:cNvPr id="4" name="">
            <a:extLst xmlns:a="http://schemas.openxmlformats.org/drawingml/2006/main">
              <a:ext uri="{FF2B5EF4-FFF2-40B4-BE49-F238E27FC236}">
                <a16:creationId xmlns:a16="http://schemas.microsoft.com/office/drawing/2014/main" id="{F08C3D99-119D-401D-814A-FD2650C1B4B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3403D05C-7C7B-4223-B9B6-B86EE3014D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33</a:t>
            </a:r>
          </a:p>
        </p:txBody>
      </p:sp>
      <p:sp>
        <p:nvSpPr>
          <p:cNvPr id="6" name="">
            <a:extLst xmlns:a="http://schemas.openxmlformats.org/drawingml/2006/main">
              <a:ext uri="{FF2B5EF4-FFF2-40B4-BE49-F238E27FC236}">
                <a16:creationId xmlns:a16="http://schemas.microsoft.com/office/drawing/2014/main" id="{00AD6B30-FBCE-4D97-95D0-1049C3F40E22}"/>
              </a:ext>
            </a:extLst>
          </p:cNvPr>
          <p:cNvSpPr>
            <a:spLocks xmlns:a="http://schemas.openxmlformats.org/drawingml/2006/main" noGrp="1"/>
          </p:cNvSpPr>
          <p:nvPr/>
        </p:nvSpPr>
        <p:spPr>
          <a:xfrm xmlns:a="http://schemas.openxmlformats.org/drawingml/2006/main">
            <a:off x="552450" y="1933575"/>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D64BEF3A-52F3-4362-BF57-DA39DB9E84A4}"/>
              </a:ext>
            </a:extLst>
          </p:cNvPr>
          <p:cNvSpPr>
            <a:spLocks xmlns:a="http://schemas.openxmlformats.org/drawingml/2006/main" noGrp="1"/>
          </p:cNvSpPr>
          <p:nvPr/>
        </p:nvSpPr>
        <p:spPr>
          <a:xfrm xmlns:a="http://schemas.openxmlformats.org/drawingml/2006/main">
            <a:off x="1257300" y="1933575"/>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準備：ラベルなし訓練データで周辺分布・Rを学習。</a:t>
            </a:r>
          </a:p>
        </p:txBody>
      </p:sp>
      <p:sp>
        <p:nvSpPr>
          <p:cNvPr id="8" name="">
            <a:extLst xmlns:a="http://schemas.openxmlformats.org/drawingml/2006/main">
              <a:ext uri="{FF2B5EF4-FFF2-40B4-BE49-F238E27FC236}">
                <a16:creationId xmlns:a16="http://schemas.microsoft.com/office/drawing/2014/main" id="{C28FF325-A925-4C3E-A4D6-0689855D20D3}"/>
              </a:ext>
            </a:extLst>
          </p:cNvPr>
          <p:cNvSpPr>
            <a:spLocks xmlns:a="http://schemas.openxmlformats.org/drawingml/2006/main" noGrp="1"/>
          </p:cNvSpPr>
          <p:nvPr/>
        </p:nvSpPr>
        <p:spPr>
          <a:xfrm xmlns:a="http://schemas.openxmlformats.org/drawingml/2006/main">
            <a:off x="552450" y="2767013"/>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98C53DC-3A0E-4D35-90BB-3940258B404C}"/>
              </a:ext>
            </a:extLst>
          </p:cNvPr>
          <p:cNvSpPr>
            <a:spLocks xmlns:a="http://schemas.openxmlformats.org/drawingml/2006/main" noGrp="1"/>
          </p:cNvSpPr>
          <p:nvPr/>
        </p:nvSpPr>
        <p:spPr>
          <a:xfrm xmlns:a="http://schemas.openxmlformats.org/drawingml/2006/main">
            <a:off x="1257300" y="2767013"/>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自己教師あり：マスク → 条件付き置換 → マスク推定・元値復元。</a:t>
            </a:r>
          </a:p>
        </p:txBody>
      </p:sp>
      <p:sp>
        <p:nvSpPr>
          <p:cNvPr id="10" name="">
            <a:extLst xmlns:a="http://schemas.openxmlformats.org/drawingml/2006/main">
              <a:ext uri="{FF2B5EF4-FFF2-40B4-BE49-F238E27FC236}">
                <a16:creationId xmlns:a16="http://schemas.microsoft.com/office/drawing/2014/main" id="{C353BAEC-5E84-4CE5-91AE-DF4B72C3E144}"/>
              </a:ext>
            </a:extLst>
          </p:cNvPr>
          <p:cNvSpPr>
            <a:spLocks xmlns:a="http://schemas.openxmlformats.org/drawingml/2006/main" noGrp="1"/>
          </p:cNvSpPr>
          <p:nvPr/>
        </p:nvSpPr>
        <p:spPr>
          <a:xfrm xmlns:a="http://schemas.openxmlformats.org/drawingml/2006/main">
            <a:off x="552450" y="3600450"/>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0DB53BD-9130-4CC1-8D60-8ECB5B506FCF}"/>
              </a:ext>
            </a:extLst>
          </p:cNvPr>
          <p:cNvSpPr>
            <a:spLocks xmlns:a="http://schemas.openxmlformats.org/drawingml/2006/main" noGrp="1"/>
          </p:cNvSpPr>
          <p:nvPr/>
        </p:nvSpPr>
        <p:spPr>
          <a:xfrm xmlns:a="http://schemas.openxmlformats.org/drawingml/2006/main">
            <a:off x="1257300" y="3600450"/>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半教師あり：同じ行の複数拡張に対する予測を揃える。</a:t>
            </a:r>
          </a:p>
        </p:txBody>
      </p:sp>
      <p:sp>
        <p:nvSpPr>
          <p:cNvPr id="12" name="">
            <a:extLst xmlns:a="http://schemas.openxmlformats.org/drawingml/2006/main">
              <a:ext uri="{FF2B5EF4-FFF2-40B4-BE49-F238E27FC236}">
                <a16:creationId xmlns:a16="http://schemas.microsoft.com/office/drawing/2014/main" id="{5796A120-3EE5-43B9-89D8-35C8D5FD10F2}"/>
              </a:ext>
            </a:extLst>
          </p:cNvPr>
          <p:cNvSpPr>
            <a:spLocks xmlns:a="http://schemas.openxmlformats.org/drawingml/2006/main" noGrp="1"/>
          </p:cNvSpPr>
          <p:nvPr/>
        </p:nvSpPr>
        <p:spPr>
          <a:xfrm xmlns:a="http://schemas.openxmlformats.org/drawingml/2006/main">
            <a:off x="552450" y="4433888"/>
            <a:ext cx="4762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FFD4166B-5FB8-4836-B6E2-3CDA8832B58F}"/>
              </a:ext>
            </a:extLst>
          </p:cNvPr>
          <p:cNvSpPr>
            <a:spLocks xmlns:a="http://schemas.openxmlformats.org/drawingml/2006/main" noGrp="1"/>
          </p:cNvSpPr>
          <p:nvPr/>
        </p:nvSpPr>
        <p:spPr>
          <a:xfrm xmlns:a="http://schemas.openxmlformats.org/drawingml/2006/main">
            <a:off x="1257300" y="4433888"/>
            <a:ext cx="10191750" cy="7572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最終評価：学習に未使用のテストデータで分類性能を測る。</a:t>
            </a:r>
          </a:p>
        </p:txBody>
      </p:sp>
      <p:sp>
        <p:nvSpPr>
          <p:cNvPr id="14" name="">
            <a:extLst xmlns:a="http://schemas.openxmlformats.org/drawingml/2006/main">
              <a:ext uri="{FF2B5EF4-FFF2-40B4-BE49-F238E27FC236}">
                <a16:creationId xmlns:a16="http://schemas.microsoft.com/office/drawing/2014/main" id="{E2C597CC-E426-4AFB-9B98-FD6DAAC18FF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77AB9D-5D9D-45E9-AB27-3B2B630108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独立な列置換 → Gaussian copulaの条件付き置換へ変更</a:t>
            </a:r>
          </a:p>
        </p:txBody>
      </p:sp>
    </p:spTree>
    <p:extLst>
      <p:ext uri="{BB962C8B-B14F-4D97-AF65-F5344CB8AC3E}">
        <p14:creationId xmlns:p14="http://schemas.microsoft.com/office/powerpoint/2010/main" val="167487251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A83D23-1ADA-4A85-9F68-2705AEEFD65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コピュラと「潜在空間での生成」</a:t>
            </a:r>
          </a:p>
        </p:txBody>
      </p:sp>
      <p:sp>
        <p:nvSpPr>
          <p:cNvPr id="2" name="">
            <a:extLst xmlns:a="http://schemas.openxmlformats.org/drawingml/2006/main">
              <a:ext uri="{FF2B5EF4-FFF2-40B4-BE49-F238E27FC236}">
                <a16:creationId xmlns:a16="http://schemas.microsoft.com/office/drawing/2014/main" id="{225C0D5D-A17B-49FB-A5E4-C2D77F6BEEF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269F8C-7219-4FC7-BBBB-D1467885DFC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コピュラも潜在変数を使える。違いは、何をモデル化するか。</a:t>
            </a:r>
          </a:p>
        </p:txBody>
      </p:sp>
      <p:sp>
        <p:nvSpPr>
          <p:cNvPr id="4" name="">
            <a:extLst xmlns:a="http://schemas.openxmlformats.org/drawingml/2006/main">
              <a:ext uri="{FF2B5EF4-FFF2-40B4-BE49-F238E27FC236}">
                <a16:creationId xmlns:a16="http://schemas.microsoft.com/office/drawing/2014/main" id="{879A1A5E-0F30-48B9-BDE0-E2AA565AF71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C3A7024E-0ADA-41B0-B1B5-B1222865F5D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34</a:t>
            </a:r>
          </a:p>
        </p:txBody>
      </p:sp>
      <p:graphicFrame>
        <p:nvGraphicFramePr>
          <p:cNvPr id="14" name=""/>
          <p:cNvGraphicFramePr/>
          <p:nvPr/>
        </p:nvGraphicFramePr>
        <p:xfrm>
          <a:off xmlns:a="http://schemas.openxmlformats.org/drawingml/2006/main" x="514350" y="1943100"/>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75"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Gaussian copulaの今回の実装</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encoder等の潜在生成</a:t>
                      </a:r>
                    </a:p>
                  </a:txBody>
                  <a:tcPr marL="91440" marR="91440" marT="45720" marB="45720" anchor="ctr">
                    <a:solidFill>
                      <a:srgbClr val="E7F2EC"/>
                    </a:solidFill>
                  </a:tcPr>
                </a:tc>
              </a:tr>
              <a:tr h="666750">
                <a:tc>
                  <a:txBody>
                    <a:bodyPr/>
                    <a:lstStyle/>
                    <a:p>
                      <a:pPr algn="ctr"/>
                      <a:r>
                        <a:rPr sz="1875" b="0">
                          <a:solidFill>
                            <a:srgbClr val="222222"/>
                          </a:solidFill>
                          <a:latin typeface="Noto Sans JP"/>
                          <a:ea typeface="Noto Sans JP"/>
                          <a:cs typeface="Noto Sans JP"/>
                        </a:rPr>
                        <a:t>変換</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各列の累積分布 → 逆正規</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学習したencoderで表現</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依存のモデル</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潜在正規の相関行列R</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モデル設計次第</a:t>
                      </a:r>
                    </a:p>
                  </a:txBody>
                  <a:tcPr marL="91440" marR="91440" marT="45720" marB="45720" anchor="ctr">
                    <a:solidFill>
                      <a:srgbClr val="F6F6F6"/>
                    </a:solidFill>
                  </a:tcPr>
                </a:tc>
              </a:tr>
              <a:tr h="666750">
                <a:tc>
                  <a:txBody>
                    <a:bodyPr/>
                    <a:lstStyle/>
                    <a:p>
                      <a:pPr algn="ctr"/>
                      <a:r>
                        <a:rPr sz="1875" b="0">
                          <a:solidFill>
                            <a:srgbClr val="222222"/>
                          </a:solidFill>
                          <a:latin typeface="Noto Sans JP"/>
                          <a:ea typeface="Noto Sans JP"/>
                          <a:cs typeface="Noto Sans JP"/>
                        </a:rPr>
                        <a:t>元へ戻す</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各列の逆累積分布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decoder等</a:t>
                      </a:r>
                    </a:p>
                  </a:txBody>
                  <a:tcPr marL="91440" marR="91440" marT="45720" marB="45720" anchor="ctr">
                    <a:solidFill>
                      <a:srgbClr val="FFFFFF"/>
                    </a:solidFill>
                  </a:tcPr>
                </a:tc>
              </a:tr>
              <a:tr h="666750">
                <a:tc>
                  <a:txBody>
                    <a:bodyPr/>
                    <a:lstStyle/>
                    <a:p>
                      <a:pPr algn="ctr"/>
                      <a:r>
                        <a:rPr sz="1875" b="0">
                          <a:solidFill>
                            <a:srgbClr val="222222"/>
                          </a:solidFill>
                          <a:latin typeface="Noto Sans JP"/>
                          <a:ea typeface="Noto Sans JP"/>
                          <a:cs typeface="Noto Sans JP"/>
                        </a:rPr>
                        <a:t>条件</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残す元特徴の位置</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潜在表現・ラベル等、設計次第</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813AE1F-B6F9-45C8-AF75-9BACBECE4A4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3AEDFB-AB5C-4073-AC92-06785A9E0A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「潜在」は共通でも、コピュラには周辺と依存を分ける構造がある</a:t>
            </a:r>
          </a:p>
        </p:txBody>
      </p:sp>
    </p:spTree>
    <p:extLst>
      <p:ext uri="{BB962C8B-B14F-4D97-AF65-F5344CB8AC3E}">
        <p14:creationId xmlns:p14="http://schemas.microsoft.com/office/powerpoint/2010/main" val="173651170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CF53F9-BBAE-415F-BA96-EF0FDB5A907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今の実装でできること・未解決なこと</a:t>
            </a:r>
          </a:p>
        </p:txBody>
      </p:sp>
      <p:sp>
        <p:nvSpPr>
          <p:cNvPr id="2" name="">
            <a:extLst xmlns:a="http://schemas.openxmlformats.org/drawingml/2006/main">
              <a:ext uri="{FF2B5EF4-FFF2-40B4-BE49-F238E27FC236}">
                <a16:creationId xmlns:a16="http://schemas.microsoft.com/office/drawing/2014/main" id="{6AFB754C-FB65-4084-BDF5-7EA3F658BF1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F1A21E-86CC-4296-B8A7-95B72B292A7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自然な特徴の組合せを作ることと、クラスを保つことは別。</a:t>
            </a:r>
          </a:p>
        </p:txBody>
      </p:sp>
      <p:sp>
        <p:nvSpPr>
          <p:cNvPr id="4" name="">
            <a:extLst xmlns:a="http://schemas.openxmlformats.org/drawingml/2006/main">
              <a:ext uri="{FF2B5EF4-FFF2-40B4-BE49-F238E27FC236}">
                <a16:creationId xmlns:a16="http://schemas.microsoft.com/office/drawing/2014/main" id="{DD5AC20D-449D-4A85-8DA5-23FBF7924ED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94C22B9D-57B2-4F4F-90F6-D2D846DF95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35</a:t>
            </a:r>
          </a:p>
        </p:txBody>
      </p:sp>
      <p:sp>
        <p:nvSpPr>
          <p:cNvPr id="6" name="">
            <a:extLst xmlns:a="http://schemas.openxmlformats.org/drawingml/2006/main">
              <a:ext uri="{FF2B5EF4-FFF2-40B4-BE49-F238E27FC236}">
                <a16:creationId xmlns:a16="http://schemas.microsoft.com/office/drawing/2014/main" id="{DDA1CF05-B194-4F76-AE90-63BFC0BB5445}"/>
              </a:ext>
            </a:extLst>
          </p:cNvPr>
          <p:cNvSpPr>
            <a:spLocks xmlns:a="http://schemas.openxmlformats.org/drawingml/2006/main" noGrp="1"/>
          </p:cNvSpPr>
          <p:nvPr/>
        </p:nvSpPr>
        <p:spPr>
          <a:xfrm xmlns:a="http://schemas.openxmlformats.org/drawingml/2006/main">
            <a:off x="514350" y="1990725"/>
            <a:ext cx="531495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8907F2-D0E5-4518-A0ED-2A3059C8DC04}"/>
              </a:ext>
            </a:extLst>
          </p:cNvPr>
          <p:cNvSpPr>
            <a:spLocks xmlns:a="http://schemas.openxmlformats.org/drawingml/2006/main" noGrp="1"/>
          </p:cNvSpPr>
          <p:nvPr/>
        </p:nvSpPr>
        <p:spPr>
          <a:xfrm xmlns:a="http://schemas.openxmlformats.org/drawingml/2006/main">
            <a:off x="704850" y="21050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現在の対象</a:t>
            </a:r>
          </a:p>
        </p:txBody>
      </p:sp>
      <p:sp>
        <p:nvSpPr>
          <p:cNvPr id="8" name="">
            <a:extLst xmlns:a="http://schemas.openxmlformats.org/drawingml/2006/main">
              <a:ext uri="{FF2B5EF4-FFF2-40B4-BE49-F238E27FC236}">
                <a16:creationId xmlns:a16="http://schemas.microsoft.com/office/drawing/2014/main" id="{1F4D66DE-CC56-4AE4-9507-BFB456F382FF}"/>
              </a:ext>
            </a:extLst>
          </p:cNvPr>
          <p:cNvSpPr>
            <a:spLocks xmlns:a="http://schemas.openxmlformats.org/drawingml/2006/main" noGrp="1"/>
          </p:cNvSpPr>
          <p:nvPr/>
        </p:nvSpPr>
        <p:spPr>
          <a:xfrm xmlns:a="http://schemas.openxmlformats.org/drawingml/2006/main">
            <a:off x="704850" y="2657475"/>
            <a:ext cx="493395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有限値の連続特徴。</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残した特徴は変更しない。</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マスク列は同時生成。</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列置換との、同一条件比較を</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実装済み。</a:t>
            </a:r>
          </a:p>
        </p:txBody>
      </p:sp>
      <p:sp>
        <p:nvSpPr>
          <p:cNvPr id="9" name="">
            <a:extLst xmlns:a="http://schemas.openxmlformats.org/drawingml/2006/main">
              <a:ext uri="{FF2B5EF4-FFF2-40B4-BE49-F238E27FC236}">
                <a16:creationId xmlns:a16="http://schemas.microsoft.com/office/drawing/2014/main" id="{EBDD6E84-5D53-4888-A956-21813234C35E}"/>
              </a:ext>
            </a:extLst>
          </p:cNvPr>
          <p:cNvSpPr>
            <a:spLocks xmlns:a="http://schemas.openxmlformats.org/drawingml/2006/main" noGrp="1"/>
          </p:cNvSpPr>
          <p:nvPr/>
        </p:nvSpPr>
        <p:spPr>
          <a:xfrm xmlns:a="http://schemas.openxmlformats.org/drawingml/2006/main">
            <a:off x="6076950" y="1990725"/>
            <a:ext cx="5600700" cy="31718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F8E778-5230-463C-8B58-0C1EE59C7E07}"/>
              </a:ext>
            </a:extLst>
          </p:cNvPr>
          <p:cNvSpPr>
            <a:spLocks xmlns:a="http://schemas.openxmlformats.org/drawingml/2006/main" noGrp="1"/>
          </p:cNvSpPr>
          <p:nvPr/>
        </p:nvSpPr>
        <p:spPr>
          <a:xfrm xmlns:a="http://schemas.openxmlformats.org/drawingml/2006/main">
            <a:off x="6267450" y="21050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未解決の問い</a:t>
            </a:r>
          </a:p>
        </p:txBody>
      </p:sp>
      <p:sp>
        <p:nvSpPr>
          <p:cNvPr id="11" name="">
            <a:extLst xmlns:a="http://schemas.openxmlformats.org/drawingml/2006/main">
              <a:ext uri="{FF2B5EF4-FFF2-40B4-BE49-F238E27FC236}">
                <a16:creationId xmlns:a16="http://schemas.microsoft.com/office/drawing/2014/main" id="{2345768D-1248-4EBB-88C5-7799C3426FF8}"/>
              </a:ext>
            </a:extLst>
          </p:cNvPr>
          <p:cNvSpPr>
            <a:spLocks xmlns:a="http://schemas.openxmlformats.org/drawingml/2006/main" noGrp="1"/>
          </p:cNvSpPr>
          <p:nvPr/>
        </p:nvSpPr>
        <p:spPr>
          <a:xfrm xmlns:a="http://schemas.openxmlformats.org/drawingml/2006/main">
            <a:off x="6267450" y="2657475"/>
            <a:ext cx="52197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生成で正解クラスは保たれるか。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カテゴリ・順序列をどう扱うか。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非正規の依存はどこまで表せるか。</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置換が弱すぎ／強すぎないか。</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分類性能改善は、まだ仮説。</a:t>
            </a:r>
          </a:p>
        </p:txBody>
      </p:sp>
      <p:sp>
        <p:nvSpPr>
          <p:cNvPr id="12" name="">
            <a:extLst xmlns:a="http://schemas.openxmlformats.org/drawingml/2006/main">
              <a:ext uri="{FF2B5EF4-FFF2-40B4-BE49-F238E27FC236}">
                <a16:creationId xmlns:a16="http://schemas.microsoft.com/office/drawing/2014/main" id="{019D6C57-4181-4CF8-ACBF-7B771B6C2AB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D9B1F7-2B5B-4107-BB58-699AAEE2F6B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確証バイアスを「解決済み」とはせず、クラス保持も別に評価する</a:t>
            </a:r>
          </a:p>
        </p:txBody>
      </p:sp>
    </p:spTree>
    <p:extLst>
      <p:ext uri="{BB962C8B-B14F-4D97-AF65-F5344CB8AC3E}">
        <p14:creationId xmlns:p14="http://schemas.microsoft.com/office/powerpoint/2010/main" val="21251653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17F808-3B9D-4E6F-81EE-3E6450C46C7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動作確認：置換後の関係を図で見る</a:t>
            </a:r>
          </a:p>
        </p:txBody>
      </p:sp>
      <p:sp>
        <p:nvSpPr>
          <p:cNvPr id="2" name="">
            <a:extLst xmlns:a="http://schemas.openxmlformats.org/drawingml/2006/main">
              <a:ext uri="{FF2B5EF4-FFF2-40B4-BE49-F238E27FC236}">
                <a16:creationId xmlns:a16="http://schemas.microsoft.com/office/drawing/2014/main" id="{CD084DD8-2E86-4BBE-AC5D-67D95FE9F8F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242ACE-D74B-4AD5-935B-A35CB26CFC6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既知の依存を持つ合成データで、同じ列を置換した。</a:t>
            </a:r>
          </a:p>
        </p:txBody>
      </p:sp>
      <p:sp>
        <p:nvSpPr>
          <p:cNvPr id="4" name="">
            <a:extLst xmlns:a="http://schemas.openxmlformats.org/drawingml/2006/main">
              <a:ext uri="{FF2B5EF4-FFF2-40B4-BE49-F238E27FC236}">
                <a16:creationId xmlns:a16="http://schemas.microsoft.com/office/drawing/2014/main" id="{750D399D-B5BC-444D-A0B1-CF56373374C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ADACD37-D6C2-4245-8204-59CC5E4CB0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36</a:t>
            </a:r>
          </a:p>
        </p:txBody>
      </p:sp>
      <p:sp>
        <p:nvSpPr>
          <p:cNvPr id="6" name="">
            <a:extLst xmlns:a="http://schemas.openxmlformats.org/drawingml/2006/main">
              <a:ext uri="{FF2B5EF4-FFF2-40B4-BE49-F238E27FC236}">
                <a16:creationId xmlns:a16="http://schemas.microsoft.com/office/drawing/2014/main" id="{1AB7F86A-DDFE-4AF0-A832-64B24B2EAF86}"/>
              </a:ext>
            </a:extLst>
          </p:cNvPr>
          <p:cNvSpPr>
            <a:spLocks xmlns:a="http://schemas.openxmlformats.org/drawingml/2006/main" noGrp="1"/>
          </p:cNvSpPr>
          <p:nvPr/>
        </p:nvSpPr>
        <p:spPr>
          <a:xfrm xmlns:a="http://schemas.openxmlformats.org/drawingml/2006/main">
            <a:off x="51435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元データ</a:t>
            </a:r>
          </a:p>
        </p:txBody>
      </p:sp>
      <p:graphicFrame>
        <p:nvGraphicFramePr>
          <p:cNvPr id="23" name="Chart"/>
          <p:cNvGraphicFramePr/>
          <p:nvPr/>
        </p:nvGraphicFramePr>
        <p:xfrm>
          <a:off xmlns:a="http://schemas.openxmlformats.org/drawingml/2006/main" x="51435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5ccdab36c491433b"/>
          </a:graphicData>
        </a:graphic>
      </p:graphicFrame>
      <p:sp>
        <p:nvSpPr>
          <p:cNvPr id="8" name="">
            <a:extLst xmlns:a="http://schemas.openxmlformats.org/drawingml/2006/main">
              <a:ext uri="{FF2B5EF4-FFF2-40B4-BE49-F238E27FC236}">
                <a16:creationId xmlns:a16="http://schemas.microsoft.com/office/drawing/2014/main" id="{E7942A80-4DF0-46A2-84E2-9C9350907725}"/>
              </a:ext>
            </a:extLst>
          </p:cNvPr>
          <p:cNvSpPr>
            <a:spLocks xmlns:a="http://schemas.openxmlformats.org/drawingml/2006/main" noGrp="1"/>
          </p:cNvSpPr>
          <p:nvPr/>
        </p:nvSpPr>
        <p:spPr>
          <a:xfrm xmlns:a="http://schemas.openxmlformats.org/drawingml/2006/main">
            <a:off x="51435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0.805</a:t>
            </a:r>
          </a:p>
        </p:txBody>
      </p:sp>
      <p:sp>
        <p:nvSpPr>
          <p:cNvPr id="9" name="">
            <a:extLst xmlns:a="http://schemas.openxmlformats.org/drawingml/2006/main">
              <a:ext uri="{FF2B5EF4-FFF2-40B4-BE49-F238E27FC236}">
                <a16:creationId xmlns:a16="http://schemas.microsoft.com/office/drawing/2014/main" id="{D8FF01A9-53B0-48F5-B495-8771D29BA106}"/>
              </a:ext>
            </a:extLst>
          </p:cNvPr>
          <p:cNvSpPr>
            <a:spLocks xmlns:a="http://schemas.openxmlformats.org/drawingml/2006/main" noGrp="1"/>
          </p:cNvSpPr>
          <p:nvPr/>
        </p:nvSpPr>
        <p:spPr>
          <a:xfrm xmlns:a="http://schemas.openxmlformats.org/drawingml/2006/main">
            <a:off x="4295775"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22222"/>
                </a:solidFill>
                <a:latin typeface="Noto Sans JP"/>
                <a:ea typeface="Noto Sans JP"/>
                <a:cs typeface="Noto Sans JP"/>
              </a:defRPr>
            </a:pPr>
            <a:r>
              <a:rPr sz="2175" b="1">
                <a:solidFill>
                  <a:srgbClr val="222222"/>
                </a:solidFill>
                <a:latin typeface="Noto Sans JP"/>
                <a:ea typeface="Noto Sans JP"/>
                <a:cs typeface="Noto Sans JP"/>
              </a:rPr>
              <a:t>列置換</a:t>
            </a:r>
          </a:p>
        </p:txBody>
      </p:sp>
      <p:graphicFrame>
        <p:nvGraphicFramePr>
          <p:cNvPr id="26" name="Chart"/>
          <p:cNvGraphicFramePr/>
          <p:nvPr/>
        </p:nvGraphicFramePr>
        <p:xfrm>
          <a:off xmlns:a="http://schemas.openxmlformats.org/drawingml/2006/main" x="4295775"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d7f804ac38104c1b"/>
          </a:graphicData>
        </a:graphic>
      </p:graphicFrame>
      <p:sp>
        <p:nvSpPr>
          <p:cNvPr id="11" name="">
            <a:extLst xmlns:a="http://schemas.openxmlformats.org/drawingml/2006/main">
              <a:ext uri="{FF2B5EF4-FFF2-40B4-BE49-F238E27FC236}">
                <a16:creationId xmlns:a16="http://schemas.microsoft.com/office/drawing/2014/main" id="{4E31D88E-CCAA-46E0-9E9E-441584B42A13}"/>
              </a:ext>
            </a:extLst>
          </p:cNvPr>
          <p:cNvSpPr>
            <a:spLocks xmlns:a="http://schemas.openxmlformats.org/drawingml/2006/main" noGrp="1"/>
          </p:cNvSpPr>
          <p:nvPr/>
        </p:nvSpPr>
        <p:spPr>
          <a:xfrm xmlns:a="http://schemas.openxmlformats.org/drawingml/2006/main">
            <a:off x="4295775"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-0.014</a:t>
            </a:r>
          </a:p>
        </p:txBody>
      </p:sp>
      <p:sp>
        <p:nvSpPr>
          <p:cNvPr id="12" name="">
            <a:extLst xmlns:a="http://schemas.openxmlformats.org/drawingml/2006/main">
              <a:ext uri="{FF2B5EF4-FFF2-40B4-BE49-F238E27FC236}">
                <a16:creationId xmlns:a16="http://schemas.microsoft.com/office/drawing/2014/main" id="{637B3F15-D4DA-4957-9DC3-4F20E570E305}"/>
              </a:ext>
            </a:extLst>
          </p:cNvPr>
          <p:cNvSpPr>
            <a:spLocks xmlns:a="http://schemas.openxmlformats.org/drawingml/2006/main" noGrp="1"/>
          </p:cNvSpPr>
          <p:nvPr/>
        </p:nvSpPr>
        <p:spPr>
          <a:xfrm xmlns:a="http://schemas.openxmlformats.org/drawingml/2006/main">
            <a:off x="8077200" y="1905000"/>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Gaussian copula</a:t>
            </a:r>
          </a:p>
        </p:txBody>
      </p:sp>
      <p:graphicFrame>
        <p:nvGraphicFramePr>
          <p:cNvPr id="29" name="Chart"/>
          <p:cNvGraphicFramePr/>
          <p:nvPr/>
        </p:nvGraphicFramePr>
        <p:xfrm>
          <a:off xmlns:a="http://schemas.openxmlformats.org/drawingml/2006/main" x="8077200" y="2400300"/>
          <a:ext xmlns:a="http://schemas.openxmlformats.org/drawingml/2006/main" cx="3571875" cy="2781300"/>
        </p:xfrm>
        <a:graphic xmlns:a="http://schemas.openxmlformats.org/drawingml/2006/main">
          <a:graphicData uri="http://schemas.openxmlformats.org/drawingml/2006/chart">
            <c:chart xmlns:r="http://schemas.openxmlformats.org/officeDocument/2006/relationships" xmlns:c="http://schemas.openxmlformats.org/drawingml/2006/chart" r:id="R6c123be1136b4d78"/>
          </a:graphicData>
        </a:graphic>
      </p:graphicFrame>
      <p:sp>
        <p:nvSpPr>
          <p:cNvPr id="14" name="">
            <a:extLst xmlns:a="http://schemas.openxmlformats.org/drawingml/2006/main">
              <a:ext uri="{FF2B5EF4-FFF2-40B4-BE49-F238E27FC236}">
                <a16:creationId xmlns:a16="http://schemas.microsoft.com/office/drawing/2014/main" id="{6E3F7DA8-5017-4B95-A115-F37F36AEAA78}"/>
              </a:ext>
            </a:extLst>
          </p:cNvPr>
          <p:cNvSpPr>
            <a:spLocks xmlns:a="http://schemas.openxmlformats.org/drawingml/2006/main" noGrp="1"/>
          </p:cNvSpPr>
          <p:nvPr/>
        </p:nvSpPr>
        <p:spPr>
          <a:xfrm xmlns:a="http://schemas.openxmlformats.org/drawingml/2006/main">
            <a:off x="8077200" y="5162550"/>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22222"/>
                </a:solidFill>
                <a:latin typeface="Noto Sans JP"/>
                <a:ea typeface="Noto Sans JP"/>
                <a:cs typeface="Noto Sans JP"/>
              </a:defRPr>
            </a:pPr>
            <a:r>
              <a:rPr sz="1875" b="1">
                <a:solidFill>
                  <a:srgbClr val="222222"/>
                </a:solidFill>
                <a:latin typeface="Noto Sans JP"/>
                <a:ea typeface="Noto Sans JP"/>
                <a:cs typeface="Noto Sans JP"/>
              </a:rPr>
              <a:t>相関 r = 0.761</a:t>
            </a:r>
          </a:p>
        </p:txBody>
      </p:sp>
      <p:sp>
        <p:nvSpPr>
          <p:cNvPr id="15" name="">
            <a:extLst xmlns:a="http://schemas.openxmlformats.org/drawingml/2006/main">
              <a:ext uri="{FF2B5EF4-FFF2-40B4-BE49-F238E27FC236}">
                <a16:creationId xmlns:a16="http://schemas.microsoft.com/office/drawing/2014/main" id="{F24D0486-0549-4F27-AA9C-ABA5D39CDB8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A19402-53E4-46D3-8D1D-52D8D44E87E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この設定では、列置換で関係が崩れ、条件付き置換では関係が残る</a:t>
            </a:r>
          </a:p>
        </p:txBody>
      </p:sp>
    </p:spTree>
    <p:extLst>
      <p:ext uri="{BB962C8B-B14F-4D97-AF65-F5344CB8AC3E}">
        <p14:creationId xmlns:p14="http://schemas.microsoft.com/office/powerpoint/2010/main" val="199796245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4F62FD-8139-4E43-A56B-78B45098E79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合成データの確認で、何が分かるか</a:t>
            </a:r>
          </a:p>
        </p:txBody>
      </p:sp>
      <p:sp>
        <p:nvSpPr>
          <p:cNvPr id="2" name="">
            <a:extLst xmlns:a="http://schemas.openxmlformats.org/drawingml/2006/main">
              <a:ext uri="{FF2B5EF4-FFF2-40B4-BE49-F238E27FC236}">
                <a16:creationId xmlns:a16="http://schemas.microsoft.com/office/drawing/2014/main" id="{6C2700A5-0D16-4D1C-A9BF-E3920A3C397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C7A412-B2E4-4ABC-9FE1-25965A1F0E1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分類性能の証明ではなく、条件付き生成の動作を確認する実験。</a:t>
            </a:r>
          </a:p>
        </p:txBody>
      </p:sp>
      <p:sp>
        <p:nvSpPr>
          <p:cNvPr id="4" name="">
            <a:extLst xmlns:a="http://schemas.openxmlformats.org/drawingml/2006/main">
              <a:ext uri="{FF2B5EF4-FFF2-40B4-BE49-F238E27FC236}">
                <a16:creationId xmlns:a16="http://schemas.microsoft.com/office/drawing/2014/main" id="{F8825411-9B30-4EE7-AEF9-250ED68930E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D3DA7729-5394-4EA6-A8B3-C266DBE3AE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37</a:t>
            </a:r>
          </a:p>
        </p:txBody>
      </p:sp>
      <p:graphicFrame>
        <p:nvGraphicFramePr>
          <p:cNvPr id="15" name=""/>
          <p:cNvGraphicFramePr/>
          <p:nvPr/>
        </p:nvGraphicFramePr>
        <p:xfrm>
          <a:off xmlns:a="http://schemas.openxmlformats.org/drawingml/2006/main" x="514350" y="2085975"/>
          <a:ext xmlns:a="http://schemas.openxmlformats.org/drawingml/2006/main" cx="11163300" cy="2533650"/>
        </p:xfrm>
        <a:graphic xmlns:a="http://schemas.openxmlformats.org/drawingml/2006/main">
          <a:graphicData uri="http://schemas.openxmlformats.org/drawingml/2006/table">
            <a:tbl>
              <a:tblPr/>
              <a:tblGrid>
                <a:gridCol w="3721100"/>
                <a:gridCol w="3721100"/>
                <a:gridCol w="3721100"/>
              </a:tblGrid>
              <a:tr h="633413">
                <a:tc>
                  <a:txBody>
                    <a:bodyPr/>
                    <a:lstStyle/>
                    <a:p>
                      <a:pPr algn="ctr"/>
                      <a:r>
                        <a:rPr sz="2175" b="1">
                          <a:solidFill>
                            <a:srgbClr val="2E7D5B"/>
                          </a:solidFill>
                          <a:latin typeface="Noto Sans JP"/>
                          <a:ea typeface="Noto Sans JP"/>
                          <a:cs typeface="Noto Sans JP"/>
                        </a:rPr>
                        <a:t>対象</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相関</a:t>
                      </a:r>
                    </a:p>
                  </a:txBody>
                  <a:tcPr marL="91440" marR="91440" marT="45720" marB="45720" anchor="ctr">
                    <a:solidFill>
                      <a:srgbClr val="E7F2EC"/>
                    </a:solidFill>
                  </a:tcPr>
                </a:tc>
                <a:tc>
                  <a:txBody>
                    <a:bodyPr/>
                    <a:lstStyle/>
                    <a:p>
                      <a:pPr algn="ctr"/>
                      <a:r>
                        <a:rPr sz="2175" b="1">
                          <a:solidFill>
                            <a:srgbClr val="2E7D5B"/>
                          </a:solidFill>
                          <a:latin typeface="Noto Sans JP"/>
                          <a:ea typeface="Noto Sans JP"/>
                          <a:cs typeface="Noto Sans JP"/>
                        </a:rPr>
                        <a:t>E[(X₂′ − 0.8 X₁)²]</a:t>
                      </a:r>
                    </a:p>
                  </a:txBody>
                  <a:tcPr marL="91440" marR="91440" marT="45720" marB="45720" anchor="ctr">
                    <a:solidFill>
                      <a:srgbClr val="E7F2EC"/>
                    </a:solidFill>
                  </a:tcPr>
                </a:tc>
              </a:tr>
              <a:tr h="633413">
                <a:tc>
                  <a:txBody>
                    <a:bodyPr/>
                    <a:lstStyle/>
                    <a:p>
                      <a:pPr algn="ctr"/>
                      <a:r>
                        <a:rPr sz="2175" b="0">
                          <a:solidFill>
                            <a:srgbClr val="222222"/>
                          </a:solidFill>
                          <a:latin typeface="Noto Sans JP"/>
                          <a:ea typeface="Noto Sans JP"/>
                          <a:cs typeface="Noto Sans JP"/>
                        </a:rPr>
                        <a:t>元データ</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0.805</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0.352</a:t>
                      </a:r>
                    </a:p>
                  </a:txBody>
                  <a:tcPr marL="91440" marR="91440" marT="45720" marB="45720" anchor="ctr">
                    <a:solidFill>
                      <a:srgbClr val="FFFFFF"/>
                    </a:solidFill>
                  </a:tcPr>
                </a:tc>
              </a:tr>
              <a:tr h="633413">
                <a:tc>
                  <a:txBody>
                    <a:bodyPr/>
                    <a:lstStyle/>
                    <a:p>
                      <a:pPr algn="ctr"/>
                      <a:r>
                        <a:rPr sz="2175" b="0">
                          <a:solidFill>
                            <a:srgbClr val="222222"/>
                          </a:solidFill>
                          <a:latin typeface="Noto Sans JP"/>
                          <a:ea typeface="Noto Sans JP"/>
                          <a:cs typeface="Noto Sans JP"/>
                        </a:rPr>
                        <a:t>列置換</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-0.014</a:t>
                      </a:r>
                    </a:p>
                  </a:txBody>
                  <a:tcPr marL="91440" marR="91440" marT="45720" marB="45720" anchor="ctr">
                    <a:solidFill>
                      <a:srgbClr val="F6F6F6"/>
                    </a:solidFill>
                  </a:tcPr>
                </a:tc>
                <a:tc>
                  <a:txBody>
                    <a:bodyPr/>
                    <a:lstStyle/>
                    <a:p>
                      <a:pPr algn="ctr"/>
                      <a:r>
                        <a:rPr sz="2175" b="0">
                          <a:solidFill>
                            <a:srgbClr val="222222"/>
                          </a:solidFill>
                          <a:latin typeface="Noto Sans JP"/>
                          <a:ea typeface="Noto Sans JP"/>
                          <a:cs typeface="Noto Sans JP"/>
                        </a:rPr>
                        <a:t>1.653</a:t>
                      </a:r>
                    </a:p>
                  </a:txBody>
                  <a:tcPr marL="91440" marR="91440" marT="45720" marB="45720" anchor="ctr">
                    <a:solidFill>
                      <a:srgbClr val="F6F6F6"/>
                    </a:solidFill>
                  </a:tcPr>
                </a:tc>
              </a:tr>
              <a:tr h="633413">
                <a:tc>
                  <a:txBody>
                    <a:bodyPr/>
                    <a:lstStyle/>
                    <a:p>
                      <a:pPr algn="ctr"/>
                      <a:r>
                        <a:rPr sz="2175" b="0">
                          <a:solidFill>
                            <a:srgbClr val="222222"/>
                          </a:solidFill>
                          <a:latin typeface="Noto Sans JP"/>
                          <a:ea typeface="Noto Sans JP"/>
                          <a:cs typeface="Noto Sans JP"/>
                        </a:rPr>
                        <a:t>Gaussian copula</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0.761</a:t>
                      </a:r>
                    </a:p>
                  </a:txBody>
                  <a:tcPr marL="91440" marR="91440" marT="45720" marB="45720" anchor="ctr">
                    <a:solidFill>
                      <a:srgbClr val="FFFFFF"/>
                    </a:solidFill>
                  </a:tcPr>
                </a:tc>
                <a:tc>
                  <a:txBody>
                    <a:bodyPr/>
                    <a:lstStyle/>
                    <a:p>
                      <a:pPr algn="ctr"/>
                      <a:r>
                        <a:rPr sz="2175" b="0">
                          <a:solidFill>
                            <a:srgbClr val="222222"/>
                          </a:solidFill>
                          <a:latin typeface="Noto Sans JP"/>
                          <a:ea typeface="Noto Sans JP"/>
                          <a:cs typeface="Noto Sans JP"/>
                        </a:rPr>
                        <a:t>0.409</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E43AD55-FD57-4067-A512-7E91B00E0C89}"/>
              </a:ext>
            </a:extLst>
          </p:cNvPr>
          <p:cNvSpPr>
            <a:spLocks xmlns:a="http://schemas.openxmlformats.org/drawingml/2006/main" noGrp="1"/>
          </p:cNvSpPr>
          <p:nvPr/>
        </p:nvSpPr>
        <p:spPr>
          <a:xfrm xmlns:a="http://schemas.openxmlformats.org/drawingml/2006/main">
            <a:off x="619125" y="486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観測列X₁は両手法で不変。数値は2,500行全体で集計。</a:t>
            </a:r>
          </a:p>
        </p:txBody>
      </p:sp>
      <p:sp>
        <p:nvSpPr>
          <p:cNvPr id="8" name="">
            <a:extLst xmlns:a="http://schemas.openxmlformats.org/drawingml/2006/main">
              <a:ext uri="{FF2B5EF4-FFF2-40B4-BE49-F238E27FC236}">
                <a16:creationId xmlns:a16="http://schemas.microsoft.com/office/drawing/2014/main" id="{099D3736-D0E3-4778-B8E5-69B45EFA97F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A204A8-100D-4557-BA62-109E1E30FCAE}"/>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Gaussianの仮定に合う例での確認。実データやクラス保持は別に検証する</a:t>
            </a:r>
          </a:p>
        </p:txBody>
      </p:sp>
    </p:spTree>
    <p:extLst>
      <p:ext uri="{BB962C8B-B14F-4D97-AF65-F5344CB8AC3E}">
        <p14:creationId xmlns:p14="http://schemas.microsoft.com/office/powerpoint/2010/main" val="97285206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9AF075-CB1B-42A4-9CE0-7CFF3D6FCB6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比較実験：条件を何に揃えたか</a:t>
            </a:r>
          </a:p>
        </p:txBody>
      </p:sp>
      <p:sp>
        <p:nvSpPr>
          <p:cNvPr id="2" name="">
            <a:extLst xmlns:a="http://schemas.openxmlformats.org/drawingml/2006/main">
              <a:ext uri="{FF2B5EF4-FFF2-40B4-BE49-F238E27FC236}">
                <a16:creationId xmlns:a16="http://schemas.microsoft.com/office/drawing/2014/main" id="{1CF5D11A-7660-4C24-9885-B9CFCACC263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DD9974-1CB9-403E-A801-4161C965D1B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保存済みの探索的実験。原論文の結果の再現ではない。</a:t>
            </a:r>
          </a:p>
        </p:txBody>
      </p:sp>
      <p:sp>
        <p:nvSpPr>
          <p:cNvPr id="4" name="">
            <a:extLst xmlns:a="http://schemas.openxmlformats.org/drawingml/2006/main">
              <a:ext uri="{FF2B5EF4-FFF2-40B4-BE49-F238E27FC236}">
                <a16:creationId xmlns:a16="http://schemas.microsoft.com/office/drawing/2014/main" id="{B4B700B3-2E9C-4DA8-AFF2-3A6B96D4E7A3}"/>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06C380B5-87E7-4FA5-9233-EB20B7C45DD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38</a:t>
            </a:r>
          </a:p>
        </p:txBody>
      </p:sp>
      <p:graphicFrame>
        <p:nvGraphicFramePr>
          <p:cNvPr id="14" name=""/>
          <p:cNvGraphicFramePr/>
          <p:nvPr/>
        </p:nvGraphicFramePr>
        <p:xfrm>
          <a:off xmlns:a="http://schemas.openxmlformats.org/drawingml/2006/main" x="514350" y="1924050"/>
          <a:ext xmlns:a="http://schemas.openxmlformats.org/drawingml/2006/main" cx="11163300" cy="3438525"/>
        </p:xfrm>
        <a:graphic xmlns:a="http://schemas.openxmlformats.org/drawingml/2006/main">
          <a:graphicData uri="http://schemas.openxmlformats.org/drawingml/2006/table">
            <a:tbl>
              <a:tblPr/>
              <a:tblGrid>
                <a:gridCol w="2667000"/>
                <a:gridCol w="8496300"/>
              </a:tblGrid>
              <a:tr h="573088">
                <a:tc>
                  <a:txBody>
                    <a:bodyPr/>
                    <a:lstStyle/>
                    <a:p>
                      <a:pPr algn="ctr"/>
                      <a:r>
                        <a:rPr sz="18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共通条件</a:t>
                      </a:r>
                    </a:p>
                  </a:txBody>
                  <a:tcPr marL="91440" marR="91440" marT="45720" marB="45720" anchor="ctr">
                    <a:solidFill>
                      <a:srgbClr val="E7F2EC"/>
                    </a:solidFill>
                  </a:tcPr>
                </a:tc>
              </a:tr>
              <a:tr h="573088">
                <a:tc>
                  <a:txBody>
                    <a:bodyPr/>
                    <a:lstStyle/>
                    <a:p>
                      <a:pPr algn="ctr"/>
                      <a:r>
                        <a:rPr sz="1800" b="0">
                          <a:solidFill>
                            <a:srgbClr val="222222"/>
                          </a:solidFill>
                          <a:latin typeface="Noto Sans JP"/>
                          <a:ea typeface="Noto Sans JP"/>
                          <a:cs typeface="Noto Sans JP"/>
                        </a:rPr>
                        <a:t>データ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Breast Cancer：569行・30列・2クラス / Wine：178行・13列・3クラス</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分割</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訓練80%・テスト20%、訓練内ラベルあり30%（層化）</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seed = 11, 23, 37, 51, 67 の5回</a:t>
                      </a:r>
                    </a:p>
                  </a:txBody>
                  <a:tcPr marL="91440" marR="91440" marT="45720" marB="45720" anchor="ctr">
                    <a:solidFill>
                      <a:srgbClr val="FFFFFF"/>
                    </a:solidFill>
                  </a:tcPr>
                </a:tc>
              </a:tr>
              <a:tr h="573088">
                <a:tc>
                  <a:txBody>
                    <a:bodyPr/>
                    <a:lstStyle/>
                    <a:p>
                      <a:pPr algn="ctr"/>
                      <a:r>
                        <a:rPr sz="1800" b="0">
                          <a:solidFill>
                            <a:srgbClr val="222222"/>
                          </a:solidFill>
                          <a:latin typeface="Noto Sans JP"/>
                          <a:ea typeface="Noto Sans JP"/>
                          <a:cs typeface="Noto Sans JP"/>
                        </a:rPr>
                        <a:t>モデル・学習</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4層×32幅MLP、自己教師あり15 epoch、半教師あり300反復</a:t>
                      </a:r>
                    </a:p>
                  </a:txBody>
                  <a:tcPr marL="91440" marR="91440" marT="45720" marB="45720" anchor="ctr">
                    <a:solidFill>
                      <a:srgbClr val="F6F6F6"/>
                    </a:solidFill>
                  </a:tcPr>
                </a:tc>
              </a:tr>
              <a:tr h="573088">
                <a:tc>
                  <a:txBody>
                    <a:bodyPr/>
                    <a:lstStyle/>
                    <a:p>
                      <a:pPr algn="ctr"/>
                      <a:r>
                        <a:rPr sz="1800" b="0">
                          <a:solidFill>
                            <a:srgbClr val="222222"/>
                          </a:solidFill>
                          <a:latin typeface="Noto Sans JP"/>
                          <a:ea typeface="Noto Sans JP"/>
                          <a:cs typeface="Noto Sans JP"/>
                        </a:rPr>
                        <a:t>前処理・拡張</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訓練だけでMinMax、batch 64、マスク確率0.4、CPU</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17468F1-3215-422C-A16D-635EC12996D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DEA09F-D64C-4B49-93BD-13F5F03021A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因果的に比べたい部分：同じ学習枠組み内の「置換器」の違い</a:t>
            </a:r>
          </a:p>
        </p:txBody>
      </p:sp>
    </p:spTree>
    <p:extLst>
      <p:ext uri="{BB962C8B-B14F-4D97-AF65-F5344CB8AC3E}">
        <p14:creationId xmlns:p14="http://schemas.microsoft.com/office/powerpoint/2010/main" val="47968349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0F7D92-C63F-46D9-8972-17838868301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今回の再実行：同じ学習枠組みで比較</a:t>
            </a:r>
          </a:p>
        </p:txBody>
      </p:sp>
      <p:sp>
        <p:nvSpPr>
          <p:cNvPr id="2" name="">
            <a:extLst xmlns:a="http://schemas.openxmlformats.org/drawingml/2006/main">
              <a:ext uri="{FF2B5EF4-FFF2-40B4-BE49-F238E27FC236}">
                <a16:creationId xmlns:a16="http://schemas.microsoft.com/office/drawing/2014/main" id="{E4BF1218-8837-4506-A6A3-31ABFB3A7C9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C001B3-1F58-4ED2-A3DE-7EFCEBE550F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2026年10月4日、VIME内の2種類の置換器を5 seedで実行。</a:t>
            </a:r>
          </a:p>
        </p:txBody>
      </p:sp>
      <p:sp>
        <p:nvSpPr>
          <p:cNvPr id="4" name="">
            <a:extLst xmlns:a="http://schemas.openxmlformats.org/drawingml/2006/main">
              <a:ext uri="{FF2B5EF4-FFF2-40B4-BE49-F238E27FC236}">
                <a16:creationId xmlns:a16="http://schemas.microsoft.com/office/drawing/2014/main" id="{8AF2F2BB-2FB6-464E-8CFD-F2317C36E93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5824D92A-5CDF-453E-A79B-C14E08C7551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39</a:t>
            </a:r>
          </a:p>
        </p:txBody>
      </p:sp>
      <p:graphicFrame>
        <p:nvGraphicFramePr>
          <p:cNvPr id="15" name=""/>
          <p:cNvGraphicFramePr/>
          <p:nvPr/>
        </p:nvGraphicFramePr>
        <p:xfrm>
          <a:off xmlns:a="http://schemas.openxmlformats.org/drawingml/2006/main" x="514350" y="2076450"/>
          <a:ext xmlns:a="http://schemas.openxmlformats.org/drawingml/2006/main" cx="11163300" cy="2428875"/>
        </p:xfrm>
        <a:graphic xmlns:a="http://schemas.openxmlformats.org/drawingml/2006/main">
          <a:graphicData uri="http://schemas.openxmlformats.org/drawingml/2006/table">
            <a:tbl>
              <a:tblPr/>
              <a:tblGrid>
                <a:gridCol w="2790825"/>
                <a:gridCol w="2790825"/>
                <a:gridCol w="2790825"/>
                <a:gridCol w="2790825"/>
              </a:tblGrid>
              <a:tr h="809625">
                <a:tc>
                  <a:txBody>
                    <a:bodyPr/>
                    <a:lstStyle/>
                    <a:p>
                      <a:pPr algn="ctr"/>
                      <a:r>
                        <a:rPr sz="1950" b="1">
                          <a:solidFill>
                            <a:srgbClr val="2E7D5B"/>
                          </a:solidFill>
                          <a:latin typeface="Noto Sans JP"/>
                          <a:ea typeface="Noto Sans JP"/>
                          <a:cs typeface="Noto Sans JP"/>
                        </a:rPr>
                        <a:t>データ / ROC-AUC</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Gaussian copula</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差の95% CI</a:t>
                      </a:r>
                    </a:p>
                  </a:txBody>
                  <a:tcPr marL="91440" marR="91440" marT="45720" marB="45720" anchor="ctr">
                    <a:solidFill>
                      <a:srgbClr val="E7F2EC"/>
                    </a:solidFill>
                  </a:tcPr>
                </a:tc>
              </a:tr>
              <a:tr h="809625">
                <a:tc>
                  <a:txBody>
                    <a:bodyPr/>
                    <a:lstStyle/>
                    <a:p>
                      <a:pPr algn="ctr"/>
                      <a:r>
                        <a:rPr sz="195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[−0.005, +0.011]</a:t>
                      </a:r>
                    </a:p>
                  </a:txBody>
                  <a:tcPr marL="91440" marR="91440" marT="45720" marB="45720" anchor="ctr">
                    <a:solidFill>
                      <a:srgbClr val="FFFFFF"/>
                    </a:solidFill>
                  </a:tcPr>
                </a:tc>
              </a:tr>
              <a:tr h="809625">
                <a:tc>
                  <a:txBody>
                    <a:bodyPr/>
                    <a:lstStyle/>
                    <a:p>
                      <a:pPr algn="ctr"/>
                      <a:r>
                        <a:rPr sz="195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48893D9-413E-4337-B4B7-DBFDD51686B8}"/>
              </a:ext>
            </a:extLst>
          </p:cNvPr>
          <p:cNvSpPr>
            <a:spLocks xmlns:a="http://schemas.openxmlformats.org/drawingml/2006/main" noGrp="1"/>
          </p:cNvSpPr>
          <p:nvPr/>
        </p:nvSpPr>
        <p:spPr>
          <a:xfrm xmlns:a="http://schemas.openxmlformats.org/drawingml/2006/main">
            <a:off x="619125" y="4781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平均差：Breast Cancer +0.003 / Wine +0.021</a:t>
            </a:r>
          </a:p>
        </p:txBody>
      </p:sp>
      <p:sp>
        <p:nvSpPr>
          <p:cNvPr id="8" name="">
            <a:extLst xmlns:a="http://schemas.openxmlformats.org/drawingml/2006/main">
              <a:ext uri="{FF2B5EF4-FFF2-40B4-BE49-F238E27FC236}">
                <a16:creationId xmlns:a16="http://schemas.microsoft.com/office/drawing/2014/main" id="{95EB75D0-8E2C-447D-A276-BAEBC197DA3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83A5C5-34B9-44E2-A250-7FF474BBF1F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今回の比較だけで優位性は確定しない。再実行でもデータ・seedへの依存を確認</a:t>
            </a:r>
          </a:p>
        </p:txBody>
      </p:sp>
    </p:spTree>
    <p:extLst>
      <p:ext uri="{BB962C8B-B14F-4D97-AF65-F5344CB8AC3E}">
        <p14:creationId xmlns:p14="http://schemas.microsoft.com/office/powerpoint/2010/main" val="805010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4C3E17-21CD-47A9-8A75-FA6AAF98C24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再実行結果を、どう解釈するか</a:t>
            </a:r>
          </a:p>
        </p:txBody>
      </p:sp>
      <p:sp>
        <p:nvSpPr>
          <p:cNvPr id="2" name="">
            <a:extLst xmlns:a="http://schemas.openxmlformats.org/drawingml/2006/main">
              <a:ext uri="{FF2B5EF4-FFF2-40B4-BE49-F238E27FC236}">
                <a16:creationId xmlns:a16="http://schemas.microsoft.com/office/drawing/2014/main" id="{BFF07062-94FB-406A-B589-8B235202113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6F113-4474-4490-A9C9-5DF00658623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置換器を変えた効果は、仮定・データ・拡張強度によって変わる。</a:t>
            </a:r>
          </a:p>
        </p:txBody>
      </p:sp>
      <p:sp>
        <p:nvSpPr>
          <p:cNvPr id="4" name="">
            <a:extLst xmlns:a="http://schemas.openxmlformats.org/drawingml/2006/main">
              <a:ext uri="{FF2B5EF4-FFF2-40B4-BE49-F238E27FC236}">
                <a16:creationId xmlns:a16="http://schemas.microsoft.com/office/drawing/2014/main" id="{C5C0E9AC-E52B-4CB9-AA80-6915A0D5C85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F22E52A8-937B-47A3-9DEC-0B9B44E3DA7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40</a:t>
            </a:r>
          </a:p>
        </p:txBody>
      </p:sp>
      <p:sp>
        <p:nvSpPr>
          <p:cNvPr id="6" name="">
            <a:extLst xmlns:a="http://schemas.openxmlformats.org/drawingml/2006/main">
              <a:ext uri="{FF2B5EF4-FFF2-40B4-BE49-F238E27FC236}">
                <a16:creationId xmlns:a16="http://schemas.microsoft.com/office/drawing/2014/main" id="{6AB824F8-C943-4D47-9266-A993DE8F83DE}"/>
              </a:ext>
            </a:extLst>
          </p:cNvPr>
          <p:cNvSpPr>
            <a:spLocks xmlns:a="http://schemas.openxmlformats.org/drawingml/2006/main" noGrp="1"/>
          </p:cNvSpPr>
          <p:nvPr/>
        </p:nvSpPr>
        <p:spPr>
          <a:xfrm xmlns:a="http://schemas.openxmlformats.org/drawingml/2006/main">
            <a:off x="552450" y="19526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DCBA668-A657-443A-9593-777A82879490}"/>
              </a:ext>
            </a:extLst>
          </p:cNvPr>
          <p:cNvSpPr>
            <a:spLocks xmlns:a="http://schemas.openxmlformats.org/drawingml/2006/main" noGrp="1"/>
          </p:cNvSpPr>
          <p:nvPr/>
        </p:nvSpPr>
        <p:spPr>
          <a:xfrm xmlns:a="http://schemas.openxmlformats.org/drawingml/2006/main">
            <a:off x="1257300" y="19526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2手法は、同じデータ分割・モデル・学習予算で比較した。</a:t>
            </a:r>
          </a:p>
        </p:txBody>
      </p:sp>
      <p:sp>
        <p:nvSpPr>
          <p:cNvPr id="8" name="">
            <a:extLst xmlns:a="http://schemas.openxmlformats.org/drawingml/2006/main">
              <a:ext uri="{FF2B5EF4-FFF2-40B4-BE49-F238E27FC236}">
                <a16:creationId xmlns:a16="http://schemas.microsoft.com/office/drawing/2014/main" id="{D51D5D8F-0606-476F-B5FB-E75BA2B045B7}"/>
              </a:ext>
            </a:extLst>
          </p:cNvPr>
          <p:cNvSpPr>
            <a:spLocks xmlns:a="http://schemas.openxmlformats.org/drawingml/2006/main" noGrp="1"/>
          </p:cNvSpPr>
          <p:nvPr/>
        </p:nvSpPr>
        <p:spPr>
          <a:xfrm xmlns:a="http://schemas.openxmlformats.org/drawingml/2006/main">
            <a:off x="552450" y="27717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92D24BF-E85C-4754-B83C-D15E06219957}"/>
              </a:ext>
            </a:extLst>
          </p:cNvPr>
          <p:cNvSpPr>
            <a:spLocks xmlns:a="http://schemas.openxmlformats.org/drawingml/2006/main" noGrp="1"/>
          </p:cNvSpPr>
          <p:nvPr/>
        </p:nvSpPr>
        <p:spPr>
          <a:xfrm xmlns:a="http://schemas.openxmlformats.org/drawingml/2006/main">
            <a:off x="1257300" y="27717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小さなデータではseedで結果が変わる。5回だけでは不十分。</a:t>
            </a:r>
          </a:p>
        </p:txBody>
      </p:sp>
      <p:sp>
        <p:nvSpPr>
          <p:cNvPr id="10" name="">
            <a:extLst xmlns:a="http://schemas.openxmlformats.org/drawingml/2006/main">
              <a:ext uri="{FF2B5EF4-FFF2-40B4-BE49-F238E27FC236}">
                <a16:creationId xmlns:a16="http://schemas.microsoft.com/office/drawing/2014/main" id="{2E65DA62-491F-4F0C-8641-166B995F8B43}"/>
              </a:ext>
            </a:extLst>
          </p:cNvPr>
          <p:cNvSpPr>
            <a:spLocks xmlns:a="http://schemas.openxmlformats.org/drawingml/2006/main" noGrp="1"/>
          </p:cNvSpPr>
          <p:nvPr/>
        </p:nvSpPr>
        <p:spPr>
          <a:xfrm xmlns:a="http://schemas.openxmlformats.org/drawingml/2006/main">
            <a:off x="552450" y="359092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81F69B89-486D-475F-979A-C3761EBE9683}"/>
              </a:ext>
            </a:extLst>
          </p:cNvPr>
          <p:cNvSpPr>
            <a:spLocks xmlns:a="http://schemas.openxmlformats.org/drawingml/2006/main" noGrp="1"/>
          </p:cNvSpPr>
          <p:nvPr/>
        </p:nvSpPr>
        <p:spPr>
          <a:xfrm xmlns:a="http://schemas.openxmlformats.org/drawingml/2006/main">
            <a:off x="1257300" y="359092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保存済みの2手法のAUCと、今回の再実行の値が一致した。</a:t>
            </a:r>
          </a:p>
        </p:txBody>
      </p:sp>
      <p:sp>
        <p:nvSpPr>
          <p:cNvPr id="12" name="">
            <a:extLst xmlns:a="http://schemas.openxmlformats.org/drawingml/2006/main">
              <a:ext uri="{FF2B5EF4-FFF2-40B4-BE49-F238E27FC236}">
                <a16:creationId xmlns:a16="http://schemas.microsoft.com/office/drawing/2014/main" id="{EE503A1E-8F98-42E4-9B69-6F52A401C6DF}"/>
              </a:ext>
            </a:extLst>
          </p:cNvPr>
          <p:cNvSpPr>
            <a:spLocks xmlns:a="http://schemas.openxmlformats.org/drawingml/2006/main" noGrp="1"/>
          </p:cNvSpPr>
          <p:nvPr/>
        </p:nvSpPr>
        <p:spPr>
          <a:xfrm xmlns:a="http://schemas.openxmlformats.org/drawingml/2006/main">
            <a:off x="552450" y="4410075"/>
            <a:ext cx="47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AA168D7-5F29-4F1A-BEDB-9A2255580C47}"/>
              </a:ext>
            </a:extLst>
          </p:cNvPr>
          <p:cNvSpPr>
            <a:spLocks xmlns:a="http://schemas.openxmlformats.org/drawingml/2006/main" noGrp="1"/>
          </p:cNvSpPr>
          <p:nvPr/>
        </p:nvSpPr>
        <p:spPr>
          <a:xfrm xmlns:a="http://schemas.openxmlformats.org/drawingml/2006/main">
            <a:off x="1257300" y="4410075"/>
            <a:ext cx="1019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生成の関係保持と、分類への効果は切り分けて検証する。</a:t>
            </a:r>
          </a:p>
        </p:txBody>
      </p:sp>
      <p:sp>
        <p:nvSpPr>
          <p:cNvPr id="14" name="">
            <a:extLst xmlns:a="http://schemas.openxmlformats.org/drawingml/2006/main">
              <a:ext uri="{FF2B5EF4-FFF2-40B4-BE49-F238E27FC236}">
                <a16:creationId xmlns:a16="http://schemas.microsoft.com/office/drawing/2014/main" id="{0652650F-88F8-4E58-A3AC-550AEEA02D3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5017F8-F1EF-4D88-819C-10CACB0259A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次は、何を保ち何を変えた拡張が学習に役立つかを検証する</a:t>
            </a:r>
          </a:p>
        </p:txBody>
      </p:sp>
    </p:spTree>
    <p:extLst>
      <p:ext uri="{BB962C8B-B14F-4D97-AF65-F5344CB8AC3E}">
        <p14:creationId xmlns:p14="http://schemas.microsoft.com/office/powerpoint/2010/main" val="5552208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AE8353-0F39-4DCA-BE41-42FD6B71AFC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次の検証：何が良くなれば研究になるか</a:t>
            </a:r>
          </a:p>
        </p:txBody>
      </p:sp>
      <p:sp>
        <p:nvSpPr>
          <p:cNvPr id="2" name="">
            <a:extLst xmlns:a="http://schemas.openxmlformats.org/drawingml/2006/main">
              <a:ext uri="{FF2B5EF4-FFF2-40B4-BE49-F238E27FC236}">
                <a16:creationId xmlns:a16="http://schemas.microsoft.com/office/drawing/2014/main" id="{C43B7F96-5349-4B02-B19B-DD627B1A242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731DAA-C98C-47FC-BBB5-EF1D0F4BB7E4}"/>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分類性能だけでなく、生成の妥当性と学習課題の強度を測る。</a:t>
            </a:r>
          </a:p>
        </p:txBody>
      </p:sp>
      <p:sp>
        <p:nvSpPr>
          <p:cNvPr id="4" name="">
            <a:extLst xmlns:a="http://schemas.openxmlformats.org/drawingml/2006/main">
              <a:ext uri="{FF2B5EF4-FFF2-40B4-BE49-F238E27FC236}">
                <a16:creationId xmlns:a16="http://schemas.microsoft.com/office/drawing/2014/main" id="{772435EF-995D-4339-BE6F-582DDDE3EF5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今後の検証</a:t>
            </a:r>
          </a:p>
        </p:txBody>
      </p:sp>
      <p:sp>
        <p:nvSpPr>
          <p:cNvPr id="5" name="">
            <a:extLst xmlns:a="http://schemas.openxmlformats.org/drawingml/2006/main">
              <a:ext uri="{FF2B5EF4-FFF2-40B4-BE49-F238E27FC236}">
                <a16:creationId xmlns:a16="http://schemas.microsoft.com/office/drawing/2014/main" id="{4B47C784-3AE1-490F-AE5B-46DF1CE48E8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41</a:t>
            </a:r>
          </a:p>
        </p:txBody>
      </p:sp>
      <p:sp>
        <p:nvSpPr>
          <p:cNvPr id="6" name="">
            <a:extLst xmlns:a="http://schemas.openxmlformats.org/drawingml/2006/main">
              <a:ext uri="{FF2B5EF4-FFF2-40B4-BE49-F238E27FC236}">
                <a16:creationId xmlns:a16="http://schemas.microsoft.com/office/drawing/2014/main" id="{D863D8F0-0C14-4E55-A214-7CE4D6B61653}"/>
              </a:ext>
            </a:extLst>
          </p:cNvPr>
          <p:cNvSpPr>
            <a:spLocks xmlns:a="http://schemas.openxmlformats.org/drawingml/2006/main" noGrp="1"/>
          </p:cNvSpPr>
          <p:nvPr/>
        </p:nvSpPr>
        <p:spPr>
          <a:xfrm xmlns:a="http://schemas.openxmlformats.org/drawingml/2006/main">
            <a:off x="552450" y="1943100"/>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8E3CAA4F-14F7-47CF-BB4D-AB1CE8C55FC7}"/>
              </a:ext>
            </a:extLst>
          </p:cNvPr>
          <p:cNvSpPr>
            <a:spLocks xmlns:a="http://schemas.openxmlformats.org/drawingml/2006/main" noGrp="1"/>
          </p:cNvSpPr>
          <p:nvPr/>
        </p:nvSpPr>
        <p:spPr>
          <a:xfrm xmlns:a="http://schemas.openxmlformats.org/drawingml/2006/main">
            <a:off x="1257300" y="1943100"/>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生成品質：不自然な組合せ・近傍距離・変更量を確認。</a:t>
            </a:r>
          </a:p>
        </p:txBody>
      </p:sp>
      <p:sp>
        <p:nvSpPr>
          <p:cNvPr id="8" name="">
            <a:extLst xmlns:a="http://schemas.openxmlformats.org/drawingml/2006/main">
              <a:ext uri="{FF2B5EF4-FFF2-40B4-BE49-F238E27FC236}">
                <a16:creationId xmlns:a16="http://schemas.microsoft.com/office/drawing/2014/main" id="{82A9980D-FFE0-4C10-A80C-B551278E7720}"/>
              </a:ext>
            </a:extLst>
          </p:cNvPr>
          <p:cNvSpPr>
            <a:spLocks xmlns:a="http://schemas.openxmlformats.org/drawingml/2006/main" noGrp="1"/>
          </p:cNvSpPr>
          <p:nvPr/>
        </p:nvSpPr>
        <p:spPr>
          <a:xfrm xmlns:a="http://schemas.openxmlformats.org/drawingml/2006/main">
            <a:off x="552450" y="2764631"/>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D045166A-9194-4AFA-A83A-0DFE4C7910D2}"/>
              </a:ext>
            </a:extLst>
          </p:cNvPr>
          <p:cNvSpPr>
            <a:spLocks xmlns:a="http://schemas.openxmlformats.org/drawingml/2006/main" noGrp="1"/>
          </p:cNvSpPr>
          <p:nvPr/>
        </p:nvSpPr>
        <p:spPr>
          <a:xfrm xmlns:a="http://schemas.openxmlformats.org/drawingml/2006/main">
            <a:off x="1257300" y="2764631"/>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クラス保持：生成で意味が変わらないか、別途調べる。</a:t>
            </a:r>
          </a:p>
        </p:txBody>
      </p:sp>
      <p:sp>
        <p:nvSpPr>
          <p:cNvPr id="10" name="">
            <a:extLst xmlns:a="http://schemas.openxmlformats.org/drawingml/2006/main">
              <a:ext uri="{FF2B5EF4-FFF2-40B4-BE49-F238E27FC236}">
                <a16:creationId xmlns:a16="http://schemas.microsoft.com/office/drawing/2014/main" id="{90B47A7E-9553-455B-848F-43A89D8EE577}"/>
              </a:ext>
            </a:extLst>
          </p:cNvPr>
          <p:cNvSpPr>
            <a:spLocks xmlns:a="http://schemas.openxmlformats.org/drawingml/2006/main" noGrp="1"/>
          </p:cNvSpPr>
          <p:nvPr/>
        </p:nvSpPr>
        <p:spPr>
          <a:xfrm xmlns:a="http://schemas.openxmlformats.org/drawingml/2006/main">
            <a:off x="552450" y="3586163"/>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C2B23D47-D320-4F60-9F38-6EC25A08E12F}"/>
              </a:ext>
            </a:extLst>
          </p:cNvPr>
          <p:cNvSpPr>
            <a:spLocks xmlns:a="http://schemas.openxmlformats.org/drawingml/2006/main" noGrp="1"/>
          </p:cNvSpPr>
          <p:nvPr/>
        </p:nvSpPr>
        <p:spPr>
          <a:xfrm xmlns:a="http://schemas.openxmlformats.org/drawingml/2006/main">
            <a:off x="1257300" y="3586163"/>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分類評価：データとseedを増やし、差の不確実性を見る。</a:t>
            </a:r>
          </a:p>
        </p:txBody>
      </p:sp>
      <p:sp>
        <p:nvSpPr>
          <p:cNvPr id="12" name="">
            <a:extLst xmlns:a="http://schemas.openxmlformats.org/drawingml/2006/main">
              <a:ext uri="{FF2B5EF4-FFF2-40B4-BE49-F238E27FC236}">
                <a16:creationId xmlns:a16="http://schemas.microsoft.com/office/drawing/2014/main" id="{2133D333-54AB-4FFF-9C46-820C0D5F374E}"/>
              </a:ext>
            </a:extLst>
          </p:cNvPr>
          <p:cNvSpPr>
            <a:spLocks xmlns:a="http://schemas.openxmlformats.org/drawingml/2006/main" noGrp="1"/>
          </p:cNvSpPr>
          <p:nvPr/>
        </p:nvSpPr>
        <p:spPr>
          <a:xfrm xmlns:a="http://schemas.openxmlformats.org/drawingml/2006/main">
            <a:off x="552450" y="4407694"/>
            <a:ext cx="4762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3F8E532-465A-4939-8E8E-CFA85FBC975F}"/>
              </a:ext>
            </a:extLst>
          </p:cNvPr>
          <p:cNvSpPr>
            <a:spLocks xmlns:a="http://schemas.openxmlformats.org/drawingml/2006/main" noGrp="1"/>
          </p:cNvSpPr>
          <p:nvPr/>
        </p:nvSpPr>
        <p:spPr>
          <a:xfrm xmlns:a="http://schemas.openxmlformats.org/drawingml/2006/main">
            <a:off x="1257300" y="4407694"/>
            <a:ext cx="10191750" cy="7453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モデル仮定：Gaussianとt等を比較し、複雑化の効果を確認。</a:t>
            </a:r>
          </a:p>
        </p:txBody>
      </p:sp>
      <p:sp>
        <p:nvSpPr>
          <p:cNvPr id="14" name="">
            <a:extLst xmlns:a="http://schemas.openxmlformats.org/drawingml/2006/main">
              <a:ext uri="{FF2B5EF4-FFF2-40B4-BE49-F238E27FC236}">
                <a16:creationId xmlns:a16="http://schemas.microsoft.com/office/drawing/2014/main" id="{7C7407C4-40DA-4A49-A3E0-3428D4EF9EE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3A4EB0-F330-4B99-940B-5CBB2D9AB7E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依存を使う → 生成が変わる → 学習が改善する、の各段階を検証</a:t>
            </a:r>
          </a:p>
        </p:txBody>
      </p:sp>
    </p:spTree>
    <p:extLst>
      <p:ext uri="{BB962C8B-B14F-4D97-AF65-F5344CB8AC3E}">
        <p14:creationId xmlns:p14="http://schemas.microsoft.com/office/powerpoint/2010/main" val="200983056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DB82D7-819F-4262-8FAC-C323A1B32FE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今回の進捗のまとめ</a:t>
            </a:r>
          </a:p>
        </p:txBody>
      </p:sp>
      <p:sp>
        <p:nvSpPr>
          <p:cNvPr id="2" name="">
            <a:extLst xmlns:a="http://schemas.openxmlformats.org/drawingml/2006/main">
              <a:ext uri="{FF2B5EF4-FFF2-40B4-BE49-F238E27FC236}">
                <a16:creationId xmlns:a16="http://schemas.microsoft.com/office/drawing/2014/main" id="{DFBA0FEC-43C2-4A6A-9AB8-0E856B7D538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CD84EE-9912-4852-BC5C-515D5950A0D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「コピュラを使う予定」から、何を学びどう生成するかへ。</a:t>
            </a:r>
          </a:p>
        </p:txBody>
      </p:sp>
      <p:sp>
        <p:nvSpPr>
          <p:cNvPr id="4" name="">
            <a:extLst xmlns:a="http://schemas.openxmlformats.org/drawingml/2006/main">
              <a:ext uri="{FF2B5EF4-FFF2-40B4-BE49-F238E27FC236}">
                <a16:creationId xmlns:a16="http://schemas.microsoft.com/office/drawing/2014/main" id="{2B4EAD30-D36D-4183-A7B6-C709F526643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まとめ</a:t>
            </a:r>
          </a:p>
        </p:txBody>
      </p:sp>
      <p:sp>
        <p:nvSpPr>
          <p:cNvPr id="5" name="">
            <a:extLst xmlns:a="http://schemas.openxmlformats.org/drawingml/2006/main">
              <a:ext uri="{FF2B5EF4-FFF2-40B4-BE49-F238E27FC236}">
                <a16:creationId xmlns:a16="http://schemas.microsoft.com/office/drawing/2014/main" id="{F7A67A12-2B2D-4AA0-81BD-2C5B797A6A8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42</a:t>
            </a:r>
          </a:p>
        </p:txBody>
      </p:sp>
      <p:sp>
        <p:nvSpPr>
          <p:cNvPr id="6" name="">
            <a:extLst xmlns:a="http://schemas.openxmlformats.org/drawingml/2006/main">
              <a:ext uri="{FF2B5EF4-FFF2-40B4-BE49-F238E27FC236}">
                <a16:creationId xmlns:a16="http://schemas.microsoft.com/office/drawing/2014/main" id="{84D8967E-7717-4B07-A55F-B9907F0C9C1F}"/>
              </a:ext>
            </a:extLst>
          </p:cNvPr>
          <p:cNvSpPr>
            <a:spLocks xmlns:a="http://schemas.openxmlformats.org/drawingml/2006/main" noGrp="1"/>
          </p:cNvSpPr>
          <p:nvPr/>
        </p:nvSpPr>
        <p:spPr>
          <a:xfrm xmlns:a="http://schemas.openxmlformats.org/drawingml/2006/main">
            <a:off x="552450" y="1952625"/>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3E23223E-E8C7-434D-9C05-CD6E51D05BAA}"/>
              </a:ext>
            </a:extLst>
          </p:cNvPr>
          <p:cNvSpPr>
            <a:spLocks xmlns:a="http://schemas.openxmlformats.org/drawingml/2006/main" noGrp="1"/>
          </p:cNvSpPr>
          <p:nvPr/>
        </p:nvSpPr>
        <p:spPr>
          <a:xfrm xmlns:a="http://schemas.openxmlformats.org/drawingml/2006/main">
            <a:off x="1257300" y="1952625"/>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コピュラ：各列の分布と、位置の依存を分けて表す。</a:t>
            </a:r>
          </a:p>
        </p:txBody>
      </p:sp>
      <p:sp>
        <p:nvSpPr>
          <p:cNvPr id="8" name="">
            <a:extLst xmlns:a="http://schemas.openxmlformats.org/drawingml/2006/main">
              <a:ext uri="{FF2B5EF4-FFF2-40B4-BE49-F238E27FC236}">
                <a16:creationId xmlns:a16="http://schemas.microsoft.com/office/drawing/2014/main" id="{9B161BB7-4575-40D3-B5B5-67FF109D7CB2}"/>
              </a:ext>
            </a:extLst>
          </p:cNvPr>
          <p:cNvSpPr>
            <a:spLocks xmlns:a="http://schemas.openxmlformats.org/drawingml/2006/main" noGrp="1"/>
          </p:cNvSpPr>
          <p:nvPr/>
        </p:nvSpPr>
        <p:spPr>
          <a:xfrm xmlns:a="http://schemas.openxmlformats.org/drawingml/2006/main">
            <a:off x="552450" y="2776538"/>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D47887F-B63E-4976-84E6-53C64EBEDB22}"/>
              </a:ext>
            </a:extLst>
          </p:cNvPr>
          <p:cNvSpPr>
            <a:spLocks xmlns:a="http://schemas.openxmlformats.org/drawingml/2006/main" noGrp="1"/>
          </p:cNvSpPr>
          <p:nvPr/>
        </p:nvSpPr>
        <p:spPr>
          <a:xfrm xmlns:a="http://schemas.openxmlformats.org/drawingml/2006/main">
            <a:off x="1257300" y="2776538"/>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Gaussian：位置を潜在正規へ変換し、相関Rを推定。</a:t>
            </a:r>
          </a:p>
        </p:txBody>
      </p:sp>
      <p:sp>
        <p:nvSpPr>
          <p:cNvPr id="10" name="">
            <a:extLst xmlns:a="http://schemas.openxmlformats.org/drawingml/2006/main">
              <a:ext uri="{FF2B5EF4-FFF2-40B4-BE49-F238E27FC236}">
                <a16:creationId xmlns:a16="http://schemas.microsoft.com/office/drawing/2014/main" id="{9EF421B8-48FB-407B-8658-A73A0E021932}"/>
              </a:ext>
            </a:extLst>
          </p:cNvPr>
          <p:cNvSpPr>
            <a:spLocks xmlns:a="http://schemas.openxmlformats.org/drawingml/2006/main" noGrp="1"/>
          </p:cNvSpPr>
          <p:nvPr/>
        </p:nvSpPr>
        <p:spPr>
          <a:xfrm xmlns:a="http://schemas.openxmlformats.org/drawingml/2006/main">
            <a:off x="552450" y="3600450"/>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C939E0C-F0CB-46AB-A44A-477204F17173}"/>
              </a:ext>
            </a:extLst>
          </p:cNvPr>
          <p:cNvSpPr>
            <a:spLocks xmlns:a="http://schemas.openxmlformats.org/drawingml/2006/main" noGrp="1"/>
          </p:cNvSpPr>
          <p:nvPr/>
        </p:nvSpPr>
        <p:spPr>
          <a:xfrm xmlns:a="http://schemas.openxmlformats.org/drawingml/2006/main">
            <a:off x="1257300" y="3600450"/>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拡張：残した列を条件に、マスク列を同時に生成。</a:t>
            </a:r>
          </a:p>
        </p:txBody>
      </p:sp>
      <p:sp>
        <p:nvSpPr>
          <p:cNvPr id="12" name="">
            <a:extLst xmlns:a="http://schemas.openxmlformats.org/drawingml/2006/main">
              <a:ext uri="{FF2B5EF4-FFF2-40B4-BE49-F238E27FC236}">
                <a16:creationId xmlns:a16="http://schemas.microsoft.com/office/drawing/2014/main" id="{A1E3170E-3509-4687-A3A7-CFFCC0122E5F}"/>
              </a:ext>
            </a:extLst>
          </p:cNvPr>
          <p:cNvSpPr>
            <a:spLocks xmlns:a="http://schemas.openxmlformats.org/drawingml/2006/main" noGrp="1"/>
          </p:cNvSpPr>
          <p:nvPr/>
        </p:nvSpPr>
        <p:spPr>
          <a:xfrm xmlns:a="http://schemas.openxmlformats.org/drawingml/2006/main">
            <a:off x="552450" y="4424363"/>
            <a:ext cx="4762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8504CEE-DE67-4D97-891E-A189A3358486}"/>
              </a:ext>
            </a:extLst>
          </p:cNvPr>
          <p:cNvSpPr>
            <a:spLocks xmlns:a="http://schemas.openxmlformats.org/drawingml/2006/main" noGrp="1"/>
          </p:cNvSpPr>
          <p:nvPr/>
        </p:nvSpPr>
        <p:spPr>
          <a:xfrm xmlns:a="http://schemas.openxmlformats.org/drawingml/2006/main">
            <a:off x="1257300" y="4424363"/>
            <a:ext cx="10191750" cy="747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未検証：ラベル保持と、分類性能への継続的な効果。</a:t>
            </a:r>
          </a:p>
        </p:txBody>
      </p:sp>
      <p:sp>
        <p:nvSpPr>
          <p:cNvPr id="14" name="">
            <a:extLst xmlns:a="http://schemas.openxmlformats.org/drawingml/2006/main">
              <a:ext uri="{FF2B5EF4-FFF2-40B4-BE49-F238E27FC236}">
                <a16:creationId xmlns:a16="http://schemas.microsoft.com/office/drawing/2014/main" id="{3F26AA0A-E3CA-407B-BBF1-CEBA37F2B7C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182F46-863E-4EE9-ADBB-77AA5424DAF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提案の中心：VIMEの置換を、依存に基づく条件付き生成へ</a:t>
            </a:r>
          </a:p>
        </p:txBody>
      </p:sp>
    </p:spTree>
    <p:extLst>
      <p:ext uri="{BB962C8B-B14F-4D97-AF65-F5344CB8AC3E}">
        <p14:creationId xmlns:p14="http://schemas.microsoft.com/office/powerpoint/2010/main" val="12904515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D0DC23-28A1-4157-8D51-D4FF8E1075C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補足：保存済み結果との一致</a:t>
            </a:r>
          </a:p>
        </p:txBody>
      </p:sp>
      <p:sp>
        <p:nvSpPr>
          <p:cNvPr id="2" name="">
            <a:extLst xmlns:a="http://schemas.openxmlformats.org/drawingml/2006/main">
              <a:ext uri="{FF2B5EF4-FFF2-40B4-BE49-F238E27FC236}">
                <a16:creationId xmlns:a16="http://schemas.microsoft.com/office/drawing/2014/main" id="{23864673-167C-4B93-9220-21E85BE93F6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1C3B33-A82D-40F6-AA8A-3C7C6D3D4598}"/>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主指標ROC-AUC。5回の平均 ± 標準偏差。</a:t>
            </a:r>
          </a:p>
        </p:txBody>
      </p:sp>
      <p:sp>
        <p:nvSpPr>
          <p:cNvPr id="4" name="">
            <a:extLst xmlns:a="http://schemas.openxmlformats.org/drawingml/2006/main">
              <a:ext uri="{FF2B5EF4-FFF2-40B4-BE49-F238E27FC236}">
                <a16:creationId xmlns:a16="http://schemas.microsoft.com/office/drawing/2014/main" id="{B3A1E224-BFE0-4232-8785-48B63A905E0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実装と検証</a:t>
            </a:r>
          </a:p>
        </p:txBody>
      </p:sp>
      <p:sp>
        <p:nvSpPr>
          <p:cNvPr id="5" name="">
            <a:extLst xmlns:a="http://schemas.openxmlformats.org/drawingml/2006/main">
              <a:ext uri="{FF2B5EF4-FFF2-40B4-BE49-F238E27FC236}">
                <a16:creationId xmlns:a16="http://schemas.microsoft.com/office/drawing/2014/main" id="{2946A37B-3CBD-413E-9BD1-724EB26FF6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43</a:t>
            </a:r>
          </a:p>
        </p:txBody>
      </p:sp>
      <p:graphicFrame>
        <p:nvGraphicFramePr>
          <p:cNvPr id="15" name=""/>
          <p:cNvGraphicFramePr/>
          <p:nvPr/>
        </p:nvGraphicFramePr>
        <p:xfrm>
          <a:off xmlns:a="http://schemas.openxmlformats.org/drawingml/2006/main" x="514350" y="2076450"/>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2025" b="1">
                          <a:solidFill>
                            <a:srgbClr val="2E7D5B"/>
                          </a:solidFill>
                          <a:latin typeface="Noto Sans JP"/>
                          <a:ea typeface="Noto Sans JP"/>
                          <a:cs typeface="Noto Sans JP"/>
                        </a:rPr>
                        <a:t>データ</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VIME：Gaussian copula</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差の95% CI</a:t>
                      </a:r>
                    </a:p>
                  </a:txBody>
                  <a:tcPr marL="91440" marR="91440" marT="45720" marB="45720" anchor="ctr">
                    <a:solidFill>
                      <a:srgbClr val="E7F2EC"/>
                    </a:solidFill>
                  </a:tcPr>
                </a:tc>
              </a:tr>
              <a:tr h="796925">
                <a:tc>
                  <a:txBody>
                    <a:bodyPr/>
                    <a:lstStyle/>
                    <a:p>
                      <a:pPr algn="ctr"/>
                      <a:r>
                        <a:rPr sz="202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[−0.005, +0.011]</a:t>
                      </a:r>
                    </a:p>
                  </a:txBody>
                  <a:tcPr marL="91440" marR="91440" marT="45720" marB="45720" anchor="ctr">
                    <a:solidFill>
                      <a:srgbClr val="FFFFFF"/>
                    </a:solidFill>
                  </a:tcPr>
                </a:tc>
              </a:tr>
              <a:tr h="796925">
                <a:tc>
                  <a:txBody>
                    <a:bodyPr/>
                    <a:lstStyle/>
                    <a:p>
                      <a:pPr algn="ctr"/>
                      <a:r>
                        <a:rPr sz="202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[−0.079, +0.109]</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26739AA-40F3-47F4-9F0E-0EA20CC478B2}"/>
              </a:ext>
            </a:extLst>
          </p:cNvPr>
          <p:cNvSpPr>
            <a:spLocks xmlns:a="http://schemas.openxmlformats.org/drawingml/2006/main" noGrp="1"/>
          </p:cNvSpPr>
          <p:nvPr/>
        </p:nvSpPr>
        <p:spPr>
          <a:xfrm xmlns:a="http://schemas.openxmlformats.org/drawingml/2006/main">
            <a:off x="619125" y="47053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E0562B"/>
                </a:solidFill>
                <a:latin typeface="Noto Sans JP"/>
                <a:ea typeface="Noto Sans JP"/>
                <a:cs typeface="Noto Sans JP"/>
              </a:defRPr>
            </a:pPr>
            <a:r>
              <a:rPr sz="2100" b="1">
                <a:solidFill>
                  <a:srgbClr val="E0562B"/>
                </a:solidFill>
                <a:latin typeface="Noto Sans JP"/>
                <a:ea typeface="Noto Sans JP"/>
                <a:cs typeface="Noto Sans JP"/>
              </a:rPr>
              <a:t>平均差は +0.003 / +0.021。ただし、両方の区間が0を含む。</a:t>
            </a:r>
          </a:p>
        </p:txBody>
      </p:sp>
      <p:sp>
        <p:nvSpPr>
          <p:cNvPr id="8" name="">
            <a:extLst xmlns:a="http://schemas.openxmlformats.org/drawingml/2006/main">
              <a:ext uri="{FF2B5EF4-FFF2-40B4-BE49-F238E27FC236}">
                <a16:creationId xmlns:a16="http://schemas.microsoft.com/office/drawing/2014/main" id="{577731AC-A0F7-4B2A-A717-623E811AD63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C78130-B6DC-4CED-A7A6-1D917483271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実装と比較の入口はできた。性能改善という結論には、検証が不足</a:t>
            </a:r>
          </a:p>
        </p:txBody>
      </p:sp>
    </p:spTree>
    <p:extLst>
      <p:ext uri="{BB962C8B-B14F-4D97-AF65-F5344CB8AC3E}">
        <p14:creationId xmlns:p14="http://schemas.microsoft.com/office/powerpoint/2010/main" val="90020263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FA8DBA-83FE-4E6E-ABCB-6A5BBF085F1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補足：コピュラの数学的条件</a:t>
            </a:r>
          </a:p>
        </p:txBody>
      </p:sp>
      <p:sp>
        <p:nvSpPr>
          <p:cNvPr id="2" name="">
            <a:extLst xmlns:a="http://schemas.openxmlformats.org/drawingml/2006/main">
              <a:ext uri="{FF2B5EF4-FFF2-40B4-BE49-F238E27FC236}">
                <a16:creationId xmlns:a16="http://schemas.microsoft.com/office/drawing/2014/main" id="{CB240ED2-5B73-4E11-B619-724EE51571B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AE7414-E2E3-45EB-826A-8E4928155A1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確率分布として成立するための条件を、2変量で書く。</a:t>
            </a:r>
          </a:p>
        </p:txBody>
      </p:sp>
      <p:sp>
        <p:nvSpPr>
          <p:cNvPr id="4" name="">
            <a:extLst xmlns:a="http://schemas.openxmlformats.org/drawingml/2006/main">
              <a:ext uri="{FF2B5EF4-FFF2-40B4-BE49-F238E27FC236}">
                <a16:creationId xmlns:a16="http://schemas.microsoft.com/office/drawing/2014/main" id="{127E6460-33B0-44CA-BDFD-EBEA98F67EB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54AA1E70-C3C0-467B-817A-4FAA07B8486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44</a:t>
            </a:r>
          </a:p>
        </p:txBody>
      </p:sp>
      <p:sp>
        <p:nvSpPr>
          <p:cNvPr id="6" name="">
            <a:extLst xmlns:a="http://schemas.openxmlformats.org/drawingml/2006/main">
              <a:ext uri="{FF2B5EF4-FFF2-40B4-BE49-F238E27FC236}">
                <a16:creationId xmlns:a16="http://schemas.microsoft.com/office/drawing/2014/main" id="{C25E122D-8C42-432D-9B1F-364879AD1588}"/>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ADAB18-9774-4FF3-8828-C213563B71B4}"/>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C(u, 0) = C(0, v) = 0 ;  C(u, 1) = u ;  C(1, v) = v</a:t>
            </a:r>
          </a:p>
        </p:txBody>
      </p:sp>
      <p:sp>
        <p:nvSpPr>
          <p:cNvPr id="8" name="">
            <a:extLst xmlns:a="http://schemas.openxmlformats.org/drawingml/2006/main">
              <a:ext uri="{FF2B5EF4-FFF2-40B4-BE49-F238E27FC236}">
                <a16:creationId xmlns:a16="http://schemas.microsoft.com/office/drawing/2014/main" id="{2D8ECA74-B699-40B2-BB60-9A9A61BF31FE}"/>
              </a:ext>
            </a:extLst>
          </p:cNvPr>
          <p:cNvSpPr>
            <a:spLocks xmlns:a="http://schemas.openxmlformats.org/drawingml/2006/main" noGrp="1"/>
          </p:cNvSpPr>
          <p:nvPr/>
        </p:nvSpPr>
        <p:spPr>
          <a:xfrm xmlns:a="http://schemas.openxmlformats.org/drawingml/2006/main">
            <a:off x="628650" y="34671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任意の u₁ ≤ u₂, v₁ ≤ v₂ に対し、</a:t>
            </a:r>
          </a:p>
        </p:txBody>
      </p:sp>
      <p:sp>
        <p:nvSpPr>
          <p:cNvPr id="9" name="">
            <a:extLst xmlns:a="http://schemas.openxmlformats.org/drawingml/2006/main">
              <a:ext uri="{FF2B5EF4-FFF2-40B4-BE49-F238E27FC236}">
                <a16:creationId xmlns:a16="http://schemas.microsoft.com/office/drawing/2014/main" id="{E17B40F4-8AAF-452A-91FD-3E953CB16297}"/>
              </a:ext>
            </a:extLst>
          </p:cNvPr>
          <p:cNvSpPr>
            <a:spLocks xmlns:a="http://schemas.openxmlformats.org/drawingml/2006/main" noGrp="1"/>
          </p:cNvSpPr>
          <p:nvPr/>
        </p:nvSpPr>
        <p:spPr>
          <a:xfrm xmlns:a="http://schemas.openxmlformats.org/drawingml/2006/main">
            <a:off x="514350" y="3952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65E3CD-3956-4F48-832F-9AFF8EB5F218}"/>
              </a:ext>
            </a:extLst>
          </p:cNvPr>
          <p:cNvSpPr>
            <a:spLocks xmlns:a="http://schemas.openxmlformats.org/drawingml/2006/main" noGrp="1"/>
          </p:cNvSpPr>
          <p:nvPr/>
        </p:nvSpPr>
        <p:spPr>
          <a:xfrm xmlns:a="http://schemas.openxmlformats.org/drawingml/2006/main">
            <a:off x="704850" y="4048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2B6777"/>
                </a:solidFill>
                <a:latin typeface="Noto Sans JP"/>
                <a:ea typeface="Noto Sans JP"/>
                <a:cs typeface="Noto Sans JP"/>
              </a:defRPr>
            </a:pPr>
            <a:r>
              <a:rPr sz="2325" b="1">
                <a:solidFill>
                  <a:srgbClr val="2B6777"/>
                </a:solidFill>
                <a:latin typeface="Noto Sans JP"/>
                <a:ea typeface="Noto Sans JP"/>
                <a:cs typeface="Noto Sans JP"/>
              </a:rPr>
              <a:t>C(u₂,v₂) − C(u₁,v₂) − C(u₂,v₁) + C(u₁,v₁) ≥ 0</a:t>
            </a:r>
          </a:p>
        </p:txBody>
      </p:sp>
      <p:sp>
        <p:nvSpPr>
          <p:cNvPr id="11" name="">
            <a:extLst xmlns:a="http://schemas.openxmlformats.org/drawingml/2006/main">
              <a:ext uri="{FF2B5EF4-FFF2-40B4-BE49-F238E27FC236}">
                <a16:creationId xmlns:a16="http://schemas.microsoft.com/office/drawing/2014/main" id="{B83E9211-6083-4B28-93D2-21F8FF20D4A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CC9FF86-F81D-4E76-8EBE-E171B0B8091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左辺は、長方形 (u₁,u₂] × (v₁,v₂] に入る確率</a:t>
            </a:r>
          </a:p>
        </p:txBody>
      </p:sp>
    </p:spTree>
    <p:extLst>
      <p:ext uri="{BB962C8B-B14F-4D97-AF65-F5344CB8AC3E}">
        <p14:creationId xmlns:p14="http://schemas.microsoft.com/office/powerpoint/2010/main" val="174144247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BC92E1-59DD-423D-8159-BB39370DEE3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補足：一様になる理由と例外</a:t>
            </a:r>
          </a:p>
        </p:txBody>
      </p:sp>
      <p:sp>
        <p:nvSpPr>
          <p:cNvPr id="2" name="">
            <a:extLst xmlns:a="http://schemas.openxmlformats.org/drawingml/2006/main">
              <a:ext uri="{FF2B5EF4-FFF2-40B4-BE49-F238E27FC236}">
                <a16:creationId xmlns:a16="http://schemas.microsoft.com/office/drawing/2014/main" id="{F59BFE95-36EB-431D-A989-3BA46F0DB2C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9D501E-D11C-409B-BDEB-8F5FB43191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連続な累積分布を使う確率積分変換。</a:t>
            </a:r>
          </a:p>
        </p:txBody>
      </p:sp>
      <p:sp>
        <p:nvSpPr>
          <p:cNvPr id="4" name="">
            <a:extLst xmlns:a="http://schemas.openxmlformats.org/drawingml/2006/main">
              <a:ext uri="{FF2B5EF4-FFF2-40B4-BE49-F238E27FC236}">
                <a16:creationId xmlns:a16="http://schemas.microsoft.com/office/drawing/2014/main" id="{5C24B438-AFBC-4A6E-9AC9-FA339E2E516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45C5CDB9-5968-48F2-B64F-0E2523EE21C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45</a:t>
            </a:r>
          </a:p>
        </p:txBody>
      </p:sp>
      <p:sp>
        <p:nvSpPr>
          <p:cNvPr id="6" name="">
            <a:extLst xmlns:a="http://schemas.openxmlformats.org/drawingml/2006/main">
              <a:ext uri="{FF2B5EF4-FFF2-40B4-BE49-F238E27FC236}">
                <a16:creationId xmlns:a16="http://schemas.microsoft.com/office/drawing/2014/main" id="{1C79DBB3-F4DF-41F6-BBA1-D629A2733C58}"/>
              </a:ext>
            </a:extLst>
          </p:cNvPr>
          <p:cNvSpPr>
            <a:spLocks xmlns:a="http://schemas.openxmlformats.org/drawingml/2006/main" noGrp="1"/>
          </p:cNvSpPr>
          <p:nvPr/>
        </p:nvSpPr>
        <p:spPr>
          <a:xfrm xmlns:a="http://schemas.openxmlformats.org/drawingml/2006/main">
            <a:off x="514350" y="19526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FC5094-0F76-45F7-988C-FF12B15B17DF}"/>
              </a:ext>
            </a:extLst>
          </p:cNvPr>
          <p:cNvSpPr>
            <a:spLocks xmlns:a="http://schemas.openxmlformats.org/drawingml/2006/main" noGrp="1"/>
          </p:cNvSpPr>
          <p:nvPr/>
        </p:nvSpPr>
        <p:spPr>
          <a:xfrm xmlns:a="http://schemas.openxmlformats.org/drawingml/2006/main">
            <a:off x="704850" y="20478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00" b="1">
                <a:solidFill>
                  <a:srgbClr val="2B6777"/>
                </a:solidFill>
                <a:latin typeface="Noto Sans JP"/>
                <a:ea typeface="Noto Sans JP"/>
                <a:cs typeface="Noto Sans JP"/>
              </a:defRPr>
            </a:pPr>
            <a:r>
              <a:rPr sz="2400" b="1">
                <a:solidFill>
                  <a:srgbClr val="2B6777"/>
                </a:solidFill>
                <a:latin typeface="Noto Sans JP"/>
                <a:ea typeface="Noto Sans JP"/>
                <a:cs typeface="Noto Sans JP"/>
              </a:rPr>
              <a:t>P(U ≤ u) = P(Fₓ(X) ≤ u) = P(X ≤ Fₓ⁻¹(u)) = u</a:t>
            </a:r>
          </a:p>
        </p:txBody>
      </p:sp>
      <p:sp>
        <p:nvSpPr>
          <p:cNvPr id="8" name="">
            <a:extLst xmlns:a="http://schemas.openxmlformats.org/drawingml/2006/main">
              <a:ext uri="{FF2B5EF4-FFF2-40B4-BE49-F238E27FC236}">
                <a16:creationId xmlns:a16="http://schemas.microsoft.com/office/drawing/2014/main" id="{68EFFED5-CAB0-4955-B83A-500C52B7B917}"/>
              </a:ext>
            </a:extLst>
          </p:cNvPr>
          <p:cNvSpPr>
            <a:spLocks xmlns:a="http://schemas.openxmlformats.org/drawingml/2006/main" noGrp="1"/>
          </p:cNvSpPr>
          <p:nvPr/>
        </p:nvSpPr>
        <p:spPr>
          <a:xfrm xmlns:a="http://schemas.openxmlformats.org/drawingml/2006/main">
            <a:off x="514350" y="3381375"/>
            <a:ext cx="531495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418CAD-F001-43B8-ABAD-94C9AA6FC215}"/>
              </a:ext>
            </a:extLst>
          </p:cNvPr>
          <p:cNvSpPr>
            <a:spLocks xmlns:a="http://schemas.openxmlformats.org/drawingml/2006/main" noGrp="1"/>
          </p:cNvSpPr>
          <p:nvPr/>
        </p:nvSpPr>
        <p:spPr>
          <a:xfrm xmlns:a="http://schemas.openxmlformats.org/drawingml/2006/main">
            <a:off x="704850" y="349567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連続な場合</a:t>
            </a:r>
          </a:p>
        </p:txBody>
      </p:sp>
      <p:sp>
        <p:nvSpPr>
          <p:cNvPr id="10" name="">
            <a:extLst xmlns:a="http://schemas.openxmlformats.org/drawingml/2006/main">
              <a:ext uri="{FF2B5EF4-FFF2-40B4-BE49-F238E27FC236}">
                <a16:creationId xmlns:a16="http://schemas.microsoft.com/office/drawing/2014/main" id="{223192EA-2D30-44B7-98C3-465137BA1A68}"/>
              </a:ext>
            </a:extLst>
          </p:cNvPr>
          <p:cNvSpPr>
            <a:spLocks xmlns:a="http://schemas.openxmlformats.org/drawingml/2006/main" noGrp="1"/>
          </p:cNvSpPr>
          <p:nvPr/>
        </p:nvSpPr>
        <p:spPr>
          <a:xfrm xmlns:a="http://schemas.openxmlformats.org/drawingml/2006/main">
            <a:off x="704850" y="4048125"/>
            <a:ext cx="4933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累積位置uまでに入る割合はu。</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したがってUは一様になる。</a:t>
            </a:r>
          </a:p>
        </p:txBody>
      </p:sp>
      <p:sp>
        <p:nvSpPr>
          <p:cNvPr id="11" name="">
            <a:extLst xmlns:a="http://schemas.openxmlformats.org/drawingml/2006/main">
              <a:ext uri="{FF2B5EF4-FFF2-40B4-BE49-F238E27FC236}">
                <a16:creationId xmlns:a16="http://schemas.microsoft.com/office/drawing/2014/main" id="{85DFE053-2404-4828-BB6F-5AF78DE2716D}"/>
              </a:ext>
            </a:extLst>
          </p:cNvPr>
          <p:cNvSpPr>
            <a:spLocks xmlns:a="http://schemas.openxmlformats.org/drawingml/2006/main" noGrp="1"/>
          </p:cNvSpPr>
          <p:nvPr/>
        </p:nvSpPr>
        <p:spPr>
          <a:xfrm xmlns:a="http://schemas.openxmlformats.org/drawingml/2006/main">
            <a:off x="6076950" y="3381375"/>
            <a:ext cx="5600700" cy="18859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AEC5F8-64F5-4BC4-AAFF-49F670300F1B}"/>
              </a:ext>
            </a:extLst>
          </p:cNvPr>
          <p:cNvSpPr>
            <a:spLocks xmlns:a="http://schemas.openxmlformats.org/drawingml/2006/main" noGrp="1"/>
          </p:cNvSpPr>
          <p:nvPr/>
        </p:nvSpPr>
        <p:spPr>
          <a:xfrm xmlns:a="http://schemas.openxmlformats.org/drawingml/2006/main">
            <a:off x="6267450" y="34956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離散・同値のある場合</a:t>
            </a:r>
          </a:p>
        </p:txBody>
      </p:sp>
      <p:sp>
        <p:nvSpPr>
          <p:cNvPr id="13" name="">
            <a:extLst xmlns:a="http://schemas.openxmlformats.org/drawingml/2006/main">
              <a:ext uri="{FF2B5EF4-FFF2-40B4-BE49-F238E27FC236}">
                <a16:creationId xmlns:a16="http://schemas.microsoft.com/office/drawing/2014/main" id="{89A471E0-2C91-4D54-A970-C6C6CD3E234E}"/>
              </a:ext>
            </a:extLst>
          </p:cNvPr>
          <p:cNvSpPr>
            <a:spLocks xmlns:a="http://schemas.openxmlformats.org/drawingml/2006/main" noGrp="1"/>
          </p:cNvSpPr>
          <p:nvPr/>
        </p:nvSpPr>
        <p:spPr>
          <a:xfrm xmlns:a="http://schemas.openxmlformats.org/drawingml/2006/main">
            <a:off x="6267450" y="4048125"/>
            <a:ext cx="5219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位置に飛びができる。</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F(X)が連続一様とは限らない。</a:t>
            </a:r>
          </a:p>
          <a:p xmlns:a="http://schemas.openxmlformats.org/drawingml/2006/main">
            <a:pPr algn="l">
              <a:defRPr sz="1800" b="0">
                <a:solidFill>
                  <a:srgbClr val="222222"/>
                </a:solidFill>
                <a:latin typeface="Noto Sans JP"/>
                <a:ea typeface="Noto Sans JP"/>
                <a:cs typeface="Noto Sans JP"/>
              </a:defRPr>
            </a:pPr>
            <a:r>
              <a:rPr sz="1800" b="0">
                <a:solidFill>
                  <a:srgbClr val="222222"/>
                </a:solidFill>
                <a:latin typeface="Noto Sans JP"/>
                <a:ea typeface="Noto Sans JP"/>
                <a:cs typeface="Noto Sans JP"/>
              </a:rPr>
              <a:t>連続モデルの式をそのまま使わない。</a:t>
            </a:r>
          </a:p>
        </p:txBody>
      </p:sp>
      <p:sp>
        <p:nvSpPr>
          <p:cNvPr id="14" name="">
            <a:extLst xmlns:a="http://schemas.openxmlformats.org/drawingml/2006/main">
              <a:ext uri="{FF2B5EF4-FFF2-40B4-BE49-F238E27FC236}">
                <a16:creationId xmlns:a16="http://schemas.microsoft.com/office/drawing/2014/main" id="{4FDDE510-ACB3-4790-8A2E-FD74266622B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561BFD-BDDE-4476-A9D7-C232E51336D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「連続な周辺分布」という前提を付けて説明する</a:t>
            </a:r>
          </a:p>
        </p:txBody>
      </p:sp>
    </p:spTree>
    <p:extLst>
      <p:ext uri="{BB962C8B-B14F-4D97-AF65-F5344CB8AC3E}">
        <p14:creationId xmlns:p14="http://schemas.microsoft.com/office/powerpoint/2010/main" val="183805324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C50DF4-2281-4799-98C1-9981F17BDFE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補足：密度と条件付き分布</a:t>
            </a:r>
          </a:p>
        </p:txBody>
      </p:sp>
      <p:sp>
        <p:nvSpPr>
          <p:cNvPr id="2" name="">
            <a:extLst xmlns:a="http://schemas.openxmlformats.org/drawingml/2006/main">
              <a:ext uri="{FF2B5EF4-FFF2-40B4-BE49-F238E27FC236}">
                <a16:creationId xmlns:a16="http://schemas.microsoft.com/office/drawing/2014/main" id="{4696C5FC-AA07-445F-B246-89B641718AF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1DD1F6-DDB9-4875-B1A8-67E8D3F91A1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累積分布Cと、密度cは違うもの。</a:t>
            </a:r>
          </a:p>
        </p:txBody>
      </p:sp>
      <p:sp>
        <p:nvSpPr>
          <p:cNvPr id="4" name="">
            <a:extLst xmlns:a="http://schemas.openxmlformats.org/drawingml/2006/main">
              <a:ext uri="{FF2B5EF4-FFF2-40B4-BE49-F238E27FC236}">
                <a16:creationId xmlns:a16="http://schemas.microsoft.com/office/drawing/2014/main" id="{55291099-D801-4108-AB25-4F7B6FB9139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059C94A5-0325-427E-BCA9-37AF9089784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46</a:t>
            </a:r>
          </a:p>
        </p:txBody>
      </p:sp>
      <p:sp>
        <p:nvSpPr>
          <p:cNvPr id="6" name="">
            <a:extLst xmlns:a="http://schemas.openxmlformats.org/drawingml/2006/main">
              <a:ext uri="{FF2B5EF4-FFF2-40B4-BE49-F238E27FC236}">
                <a16:creationId xmlns:a16="http://schemas.microsoft.com/office/drawing/2014/main" id="{A7FBE337-361F-4ABA-A998-7643EE203196}"/>
              </a:ext>
            </a:extLst>
          </p:cNvPr>
          <p:cNvSpPr>
            <a:spLocks xmlns:a="http://schemas.openxmlformats.org/drawingml/2006/main" noGrp="1"/>
          </p:cNvSpPr>
          <p:nvPr/>
        </p:nvSpPr>
        <p:spPr>
          <a:xfrm xmlns:a="http://schemas.openxmlformats.org/drawingml/2006/main">
            <a:off x="514350" y="18859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2AC9F5-6FAF-442D-880A-E9F504684DD8}"/>
              </a:ext>
            </a:extLst>
          </p:cNvPr>
          <p:cNvSpPr>
            <a:spLocks xmlns:a="http://schemas.openxmlformats.org/drawingml/2006/main" noGrp="1"/>
          </p:cNvSpPr>
          <p:nvPr/>
        </p:nvSpPr>
        <p:spPr>
          <a:xfrm xmlns:a="http://schemas.openxmlformats.org/drawingml/2006/main">
            <a:off x="704850" y="19812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000" b="1">
                <a:solidFill>
                  <a:srgbClr val="2B6777"/>
                </a:solidFill>
                <a:latin typeface="Noto Sans JP"/>
                <a:ea typeface="Noto Sans JP"/>
                <a:cs typeface="Noto Sans JP"/>
              </a:defRPr>
            </a:pPr>
            <a:r>
              <a:rPr sz="3000" b="1">
                <a:solidFill>
                  <a:srgbClr val="2B6777"/>
                </a:solidFill>
                <a:latin typeface="Noto Sans JP"/>
                <a:ea typeface="Noto Sans JP"/>
                <a:cs typeface="Noto Sans JP"/>
              </a:rPr>
              <a:t>c(u, v) = ∂²C(u, v) / (∂u ∂v)</a:t>
            </a:r>
          </a:p>
        </p:txBody>
      </p:sp>
      <p:sp>
        <p:nvSpPr>
          <p:cNvPr id="8" name="">
            <a:extLst xmlns:a="http://schemas.openxmlformats.org/drawingml/2006/main">
              <a:ext uri="{FF2B5EF4-FFF2-40B4-BE49-F238E27FC236}">
                <a16:creationId xmlns:a16="http://schemas.microsoft.com/office/drawing/2014/main" id="{AA2920BF-8C7C-4EA9-9638-EAF2E321C2FD}"/>
              </a:ext>
            </a:extLst>
          </p:cNvPr>
          <p:cNvSpPr>
            <a:spLocks xmlns:a="http://schemas.openxmlformats.org/drawingml/2006/main" noGrp="1"/>
          </p:cNvSpPr>
          <p:nvPr/>
        </p:nvSpPr>
        <p:spPr>
          <a:xfrm xmlns:a="http://schemas.openxmlformats.org/drawingml/2006/main">
            <a:off x="514350" y="31908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9D71C4-6336-42F9-BCD1-BAE19F43D67C}"/>
              </a:ext>
            </a:extLst>
          </p:cNvPr>
          <p:cNvSpPr>
            <a:spLocks xmlns:a="http://schemas.openxmlformats.org/drawingml/2006/main" noGrp="1"/>
          </p:cNvSpPr>
          <p:nvPr/>
        </p:nvSpPr>
        <p:spPr>
          <a:xfrm xmlns:a="http://schemas.openxmlformats.org/drawingml/2006/main">
            <a:off x="704850" y="32861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fₓᵧ(x, y) = c(Fₓ(x), Fᵧ(y)) × fₓ(x) × fᵧ(y)</a:t>
            </a:r>
          </a:p>
        </p:txBody>
      </p:sp>
      <p:sp>
        <p:nvSpPr>
          <p:cNvPr id="10" name="">
            <a:extLst xmlns:a="http://schemas.openxmlformats.org/drawingml/2006/main">
              <a:ext uri="{FF2B5EF4-FFF2-40B4-BE49-F238E27FC236}">
                <a16:creationId xmlns:a16="http://schemas.microsoft.com/office/drawing/2014/main" id="{9ACD6AD2-3463-4A81-A2DC-FDBF8B532D7F}"/>
              </a:ext>
            </a:extLst>
          </p:cNvPr>
          <p:cNvSpPr>
            <a:spLocks xmlns:a="http://schemas.openxmlformats.org/drawingml/2006/main" noGrp="1"/>
          </p:cNvSpPr>
          <p:nvPr/>
        </p:nvSpPr>
        <p:spPr>
          <a:xfrm xmlns:a="http://schemas.openxmlformats.org/drawingml/2006/main">
            <a:off x="514350" y="44577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32B1CE-7B4F-48F4-A6A2-926842E2D745}"/>
              </a:ext>
            </a:extLst>
          </p:cNvPr>
          <p:cNvSpPr>
            <a:spLocks xmlns:a="http://schemas.openxmlformats.org/drawingml/2006/main" noGrp="1"/>
          </p:cNvSpPr>
          <p:nvPr/>
        </p:nvSpPr>
        <p:spPr>
          <a:xfrm xmlns:a="http://schemas.openxmlformats.org/drawingml/2006/main">
            <a:off x="704850" y="45529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1">
                <a:solidFill>
                  <a:srgbClr val="2B6777"/>
                </a:solidFill>
                <a:latin typeface="Noto Sans JP"/>
                <a:ea typeface="Noto Sans JP"/>
                <a:cs typeface="Noto Sans JP"/>
              </a:defRPr>
            </a:pPr>
            <a:r>
              <a:rPr sz="2475" b="1">
                <a:solidFill>
                  <a:srgbClr val="2B6777"/>
                </a:solidFill>
                <a:latin typeface="Noto Sans JP"/>
                <a:ea typeface="Noto Sans JP"/>
                <a:cs typeface="Noto Sans JP"/>
              </a:rPr>
              <a:t>fᵧ|ₓ(y | x) = c(Fₓ(x), Fᵧ(y)) × fᵧ(y)</a:t>
            </a:r>
          </a:p>
        </p:txBody>
      </p:sp>
      <p:sp>
        <p:nvSpPr>
          <p:cNvPr id="12" name="">
            <a:extLst xmlns:a="http://schemas.openxmlformats.org/drawingml/2006/main">
              <a:ext uri="{FF2B5EF4-FFF2-40B4-BE49-F238E27FC236}">
                <a16:creationId xmlns:a16="http://schemas.microsoft.com/office/drawing/2014/main" id="{510578EF-BFF6-45EE-807C-D04FEA76C5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25FE7B-29F9-4A55-9350-1FF9EF2D8C0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密度が存在する場合の式。すべてのコピュラに密度があるわけではない</a:t>
            </a:r>
          </a:p>
        </p:txBody>
      </p:sp>
    </p:spTree>
    <p:extLst>
      <p:ext uri="{BB962C8B-B14F-4D97-AF65-F5344CB8AC3E}">
        <p14:creationId xmlns:p14="http://schemas.microsoft.com/office/powerpoint/2010/main" val="82983307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CF7B49-D46D-41A3-9404-49D500BE161D}"/>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補足：Gaussian copulaの正式な式</a:t>
            </a:r>
          </a:p>
        </p:txBody>
      </p:sp>
      <p:sp>
        <p:nvSpPr>
          <p:cNvPr id="2" name="">
            <a:extLst xmlns:a="http://schemas.openxmlformats.org/drawingml/2006/main">
              <a:ext uri="{FF2B5EF4-FFF2-40B4-BE49-F238E27FC236}">
                <a16:creationId xmlns:a16="http://schemas.microsoft.com/office/drawing/2014/main" id="{685E0DAD-0E5D-48F8-BC1F-6B6A32B6AC29}"/>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76B5599-1F8B-4C2A-B796-325AD415FCC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ΦRは相関Rを持つ、多変量標準正規の累積分布。</a:t>
            </a:r>
          </a:p>
        </p:txBody>
      </p:sp>
      <p:sp>
        <p:nvSpPr>
          <p:cNvPr id="4" name="">
            <a:extLst xmlns:a="http://schemas.openxmlformats.org/drawingml/2006/main">
              <a:ext uri="{FF2B5EF4-FFF2-40B4-BE49-F238E27FC236}">
                <a16:creationId xmlns:a16="http://schemas.microsoft.com/office/drawing/2014/main" id="{AB8BE67D-5CB1-4B58-9549-85916A55661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9B8E8A3A-F356-4085-9415-D437C6091DA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47</a:t>
            </a:r>
          </a:p>
        </p:txBody>
      </p:sp>
      <p:sp>
        <p:nvSpPr>
          <p:cNvPr id="6" name="">
            <a:extLst xmlns:a="http://schemas.openxmlformats.org/drawingml/2006/main">
              <a:ext uri="{FF2B5EF4-FFF2-40B4-BE49-F238E27FC236}">
                <a16:creationId xmlns:a16="http://schemas.microsoft.com/office/drawing/2014/main" id="{9F4D30AD-3D36-4034-A3CA-96E280C18C51}"/>
              </a:ext>
            </a:extLst>
          </p:cNvPr>
          <p:cNvSpPr>
            <a:spLocks xmlns:a="http://schemas.openxmlformats.org/drawingml/2006/main" noGrp="1"/>
          </p:cNvSpPr>
          <p:nvPr/>
        </p:nvSpPr>
        <p:spPr>
          <a:xfrm xmlns:a="http://schemas.openxmlformats.org/drawingml/2006/main">
            <a:off x="514350" y="19812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96B553-9BF2-405B-9DA4-DD37E7E37597}"/>
              </a:ext>
            </a:extLst>
          </p:cNvPr>
          <p:cNvSpPr>
            <a:spLocks xmlns:a="http://schemas.openxmlformats.org/drawingml/2006/main" noGrp="1"/>
          </p:cNvSpPr>
          <p:nvPr/>
        </p:nvSpPr>
        <p:spPr>
          <a:xfrm xmlns:a="http://schemas.openxmlformats.org/drawingml/2006/main">
            <a:off x="704850" y="20764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625" b="1">
                <a:solidFill>
                  <a:srgbClr val="2B6777"/>
                </a:solidFill>
                <a:latin typeface="Noto Sans JP"/>
                <a:ea typeface="Noto Sans JP"/>
                <a:cs typeface="Noto Sans JP"/>
              </a:defRPr>
            </a:pPr>
            <a:r>
              <a:rPr sz="2625" b="1">
                <a:solidFill>
                  <a:srgbClr val="2B6777"/>
                </a:solidFill>
                <a:latin typeface="Noto Sans JP"/>
                <a:ea typeface="Noto Sans JP"/>
                <a:cs typeface="Noto Sans JP"/>
              </a:rPr>
              <a:t>C_R(u₁, …, u_d) = Φ_R(Φ⁻¹(u₁), …, Φ⁻¹(u_d))</a:t>
            </a:r>
          </a:p>
        </p:txBody>
      </p:sp>
      <p:sp>
        <p:nvSpPr>
          <p:cNvPr id="8" name="">
            <a:extLst xmlns:a="http://schemas.openxmlformats.org/drawingml/2006/main">
              <a:ext uri="{FF2B5EF4-FFF2-40B4-BE49-F238E27FC236}">
                <a16:creationId xmlns:a16="http://schemas.microsoft.com/office/drawing/2014/main" id="{E674FEF8-DA30-4D09-B763-95C483A422AB}"/>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C899AB62-2EB2-402C-B1C2-F5BDEE437962}"/>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各 uⱼ を標準正規のしきい値 zⱼへ変換する。</a:t>
            </a:r>
          </a:p>
        </p:txBody>
      </p:sp>
      <p:sp>
        <p:nvSpPr>
          <p:cNvPr id="10" name="">
            <a:extLst xmlns:a="http://schemas.openxmlformats.org/drawingml/2006/main">
              <a:ext uri="{FF2B5EF4-FFF2-40B4-BE49-F238E27FC236}">
                <a16:creationId xmlns:a16="http://schemas.microsoft.com/office/drawing/2014/main" id="{784BBD2E-8AE9-45ED-9282-8E1D25ACECD2}"/>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340FEF5D-6379-4D21-AEC0-8E57A99A7353}"/>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多変量正規モデルで P(Z₁ ≤ z₁, …, Z_d ≤ z_d) を求める。</a:t>
            </a:r>
          </a:p>
        </p:txBody>
      </p:sp>
      <p:sp>
        <p:nvSpPr>
          <p:cNvPr id="12" name="">
            <a:extLst xmlns:a="http://schemas.openxmlformats.org/drawingml/2006/main">
              <a:ext uri="{FF2B5EF4-FFF2-40B4-BE49-F238E27FC236}">
                <a16:creationId xmlns:a16="http://schemas.microsoft.com/office/drawing/2014/main" id="{D792178D-4231-4DBD-BDDD-E6B0BF2980F6}"/>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754F4AA3-AC22-4068-B876-D1911F647297}"/>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Rは、元の特徴のPearson相関行列とは一般に違う。</a:t>
            </a:r>
          </a:p>
        </p:txBody>
      </p:sp>
      <p:sp>
        <p:nvSpPr>
          <p:cNvPr id="14" name="">
            <a:extLst xmlns:a="http://schemas.openxmlformats.org/drawingml/2006/main">
              <a:ext uri="{FF2B5EF4-FFF2-40B4-BE49-F238E27FC236}">
                <a16:creationId xmlns:a16="http://schemas.microsoft.com/office/drawing/2014/main" id="{26C0635E-A711-4CDF-A5E0-5FF92FEF7C6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4C88B6F-1146-4D4B-B605-5AA21DB37D7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各列の形は自由にし、位置の同時分布へ正規の仮定を置く</a:t>
            </a:r>
          </a:p>
        </p:txBody>
      </p:sp>
    </p:spTree>
    <p:extLst>
      <p:ext uri="{BB962C8B-B14F-4D97-AF65-F5344CB8AC3E}">
        <p14:creationId xmlns:p14="http://schemas.microsoft.com/office/powerpoint/2010/main" val="152863847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3F2906-F183-4033-A15E-D79E478CDE8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補足：多変量の条件付き生成</a:t>
            </a:r>
          </a:p>
        </p:txBody>
      </p:sp>
      <p:sp>
        <p:nvSpPr>
          <p:cNvPr id="2" name="">
            <a:extLst xmlns:a="http://schemas.openxmlformats.org/drawingml/2006/main">
              <a:ext uri="{FF2B5EF4-FFF2-40B4-BE49-F238E27FC236}">
                <a16:creationId xmlns:a16="http://schemas.microsoft.com/office/drawing/2014/main" id="{AE07AF14-379E-4F2D-9626-9ABA9594D2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91463F-2ADC-4CD5-B10B-2F00C6A2D11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M：置換する列、O：そのまま残す列。</a:t>
            </a:r>
          </a:p>
        </p:txBody>
      </p:sp>
      <p:sp>
        <p:nvSpPr>
          <p:cNvPr id="4" name="">
            <a:extLst xmlns:a="http://schemas.openxmlformats.org/drawingml/2006/main">
              <a:ext uri="{FF2B5EF4-FFF2-40B4-BE49-F238E27FC236}">
                <a16:creationId xmlns:a16="http://schemas.microsoft.com/office/drawing/2014/main" id="{9E659DD6-B195-47C8-880F-95A61706462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CACCB695-4C0C-46CD-985A-2F99447190E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48</a:t>
            </a:r>
          </a:p>
        </p:txBody>
      </p:sp>
      <p:sp>
        <p:nvSpPr>
          <p:cNvPr id="6" name="">
            <a:extLst xmlns:a="http://schemas.openxmlformats.org/drawingml/2006/main">
              <a:ext uri="{FF2B5EF4-FFF2-40B4-BE49-F238E27FC236}">
                <a16:creationId xmlns:a16="http://schemas.microsoft.com/office/drawing/2014/main" id="{24FDCF2B-5EA0-492A-A9CF-FB5E081EA61B}"/>
              </a:ext>
            </a:extLst>
          </p:cNvPr>
          <p:cNvSpPr>
            <a:spLocks xmlns:a="http://schemas.openxmlformats.org/drawingml/2006/main" noGrp="1"/>
          </p:cNvSpPr>
          <p:nvPr/>
        </p:nvSpPr>
        <p:spPr>
          <a:xfrm xmlns:a="http://schemas.openxmlformats.org/drawingml/2006/main">
            <a:off x="514350" y="182880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5E4BF57-0ACF-48FC-A861-D44ADD8D724F}"/>
              </a:ext>
            </a:extLst>
          </p:cNvPr>
          <p:cNvSpPr>
            <a:spLocks xmlns:a="http://schemas.openxmlformats.org/drawingml/2006/main" noGrp="1"/>
          </p:cNvSpPr>
          <p:nvPr/>
        </p:nvSpPr>
        <p:spPr>
          <a:xfrm xmlns:a="http://schemas.openxmlformats.org/drawingml/2006/main">
            <a:off x="704850" y="192405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850" b="1">
                <a:solidFill>
                  <a:srgbClr val="2B6777"/>
                </a:solidFill>
                <a:latin typeface="Noto Sans JP"/>
                <a:ea typeface="Noto Sans JP"/>
                <a:cs typeface="Noto Sans JP"/>
              </a:defRPr>
            </a:pPr>
            <a:r>
              <a:rPr sz="2850" b="1">
                <a:solidFill>
                  <a:srgbClr val="2B6777"/>
                </a:solidFill>
                <a:latin typeface="Noto Sans JP"/>
                <a:ea typeface="Noto Sans JP"/>
                <a:cs typeface="Noto Sans JP"/>
              </a:rPr>
              <a:t>Z_M | Z_O = z_O ~ N(μ_M|O, Σ_M|O)</a:t>
            </a:r>
          </a:p>
        </p:txBody>
      </p:sp>
      <p:sp>
        <p:nvSpPr>
          <p:cNvPr id="8" name="">
            <a:extLst xmlns:a="http://schemas.openxmlformats.org/drawingml/2006/main">
              <a:ext uri="{FF2B5EF4-FFF2-40B4-BE49-F238E27FC236}">
                <a16:creationId xmlns:a16="http://schemas.microsoft.com/office/drawing/2014/main" id="{5829F9B0-9705-49E7-A705-2B18CBF0D75A}"/>
              </a:ext>
            </a:extLst>
          </p:cNvPr>
          <p:cNvSpPr>
            <a:spLocks xmlns:a="http://schemas.openxmlformats.org/drawingml/2006/main" noGrp="1"/>
          </p:cNvSpPr>
          <p:nvPr/>
        </p:nvSpPr>
        <p:spPr>
          <a:xfrm xmlns:a="http://schemas.openxmlformats.org/drawingml/2006/main">
            <a:off x="514350" y="30575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6F45EDD-5EBC-4F1E-9D39-3967B3394B62}"/>
              </a:ext>
            </a:extLst>
          </p:cNvPr>
          <p:cNvSpPr>
            <a:spLocks xmlns:a="http://schemas.openxmlformats.org/drawingml/2006/main" noGrp="1"/>
          </p:cNvSpPr>
          <p:nvPr/>
        </p:nvSpPr>
        <p:spPr>
          <a:xfrm xmlns:a="http://schemas.openxmlformats.org/drawingml/2006/main">
            <a:off x="704850" y="31527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μ_M|O = R_MO R_OO⁻¹ z_O</a:t>
            </a:r>
          </a:p>
        </p:txBody>
      </p:sp>
      <p:sp>
        <p:nvSpPr>
          <p:cNvPr id="10" name="">
            <a:extLst xmlns:a="http://schemas.openxmlformats.org/drawingml/2006/main">
              <a:ext uri="{FF2B5EF4-FFF2-40B4-BE49-F238E27FC236}">
                <a16:creationId xmlns:a16="http://schemas.microsoft.com/office/drawing/2014/main" id="{0D1E8801-7053-4011-8C54-A22EB1974CF4}"/>
              </a:ext>
            </a:extLst>
          </p:cNvPr>
          <p:cNvSpPr>
            <a:spLocks xmlns:a="http://schemas.openxmlformats.org/drawingml/2006/main" noGrp="1"/>
          </p:cNvSpPr>
          <p:nvPr/>
        </p:nvSpPr>
        <p:spPr>
          <a:xfrm xmlns:a="http://schemas.openxmlformats.org/drawingml/2006/main">
            <a:off x="514350" y="42862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808F70-7724-4D9F-BECB-F6B02E1CF395}"/>
              </a:ext>
            </a:extLst>
          </p:cNvPr>
          <p:cNvSpPr>
            <a:spLocks xmlns:a="http://schemas.openxmlformats.org/drawingml/2006/main" noGrp="1"/>
          </p:cNvSpPr>
          <p:nvPr/>
        </p:nvSpPr>
        <p:spPr>
          <a:xfrm xmlns:a="http://schemas.openxmlformats.org/drawingml/2006/main">
            <a:off x="704850" y="43815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Σ_M|O = R_MM − R_MO R_OO⁻¹ R_OM</a:t>
            </a:r>
          </a:p>
        </p:txBody>
      </p:sp>
      <p:sp>
        <p:nvSpPr>
          <p:cNvPr id="12" name="">
            <a:extLst xmlns:a="http://schemas.openxmlformats.org/drawingml/2006/main">
              <a:ext uri="{FF2B5EF4-FFF2-40B4-BE49-F238E27FC236}">
                <a16:creationId xmlns:a16="http://schemas.microsoft.com/office/drawing/2014/main" id="{F3AD2A5D-F0EE-42E6-841A-00DA7DF2400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EF1D03-2583-4477-B01C-859CB7E8993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平均で「合う位置」へ移し、共分散で「残るばらつき」を生成する</a:t>
            </a:r>
          </a:p>
        </p:txBody>
      </p:sp>
    </p:spTree>
    <p:extLst>
      <p:ext uri="{BB962C8B-B14F-4D97-AF65-F5344CB8AC3E}">
        <p14:creationId xmlns:p14="http://schemas.microsoft.com/office/powerpoint/2010/main" val="77253824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F557DB-947E-4C86-8FE6-2CDBA1BE5CA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補足：実装の数値上の扱い</a:t>
            </a:r>
          </a:p>
        </p:txBody>
      </p:sp>
      <p:sp>
        <p:nvSpPr>
          <p:cNvPr id="2" name="">
            <a:extLst xmlns:a="http://schemas.openxmlformats.org/drawingml/2006/main">
              <a:ext uri="{FF2B5EF4-FFF2-40B4-BE49-F238E27FC236}">
                <a16:creationId xmlns:a16="http://schemas.microsoft.com/office/drawing/2014/main" id="{BBC30BB6-DE9E-4B01-A7D0-C73F09B3CFB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EA5E2F-4255-4336-9511-F9EADEDAAFC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確率端点、相関行列、逆分位点に近似と安定化が入る。</a:t>
            </a:r>
          </a:p>
        </p:txBody>
      </p:sp>
      <p:sp>
        <p:nvSpPr>
          <p:cNvPr id="4" name="">
            <a:extLst xmlns:a="http://schemas.openxmlformats.org/drawingml/2006/main">
              <a:ext uri="{FF2B5EF4-FFF2-40B4-BE49-F238E27FC236}">
                <a16:creationId xmlns:a16="http://schemas.microsoft.com/office/drawing/2014/main" id="{E72594DD-1740-4F41-A8FC-F37235B5718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71677F55-CC00-4C17-ACAE-D529EB06E2E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49</a:t>
            </a:r>
          </a:p>
        </p:txBody>
      </p:sp>
      <p:graphicFrame>
        <p:nvGraphicFramePr>
          <p:cNvPr id="14" name=""/>
          <p:cNvGraphicFramePr/>
          <p:nvPr/>
        </p:nvGraphicFramePr>
        <p:xfrm>
          <a:off xmlns:a="http://schemas.openxmlformats.org/drawingml/2006/main" x="514350" y="1971675"/>
          <a:ext xmlns:a="http://schemas.openxmlformats.org/drawingml/2006/main" cx="11163300" cy="3352800"/>
        </p:xfrm>
        <a:graphic xmlns:a="http://schemas.openxmlformats.org/drawingml/2006/main">
          <a:graphicData uri="http://schemas.openxmlformats.org/drawingml/2006/table">
            <a:tbl>
              <a:tblPr/>
              <a:tblGrid>
                <a:gridCol w="2667000"/>
                <a:gridCol w="8496300"/>
              </a:tblGrid>
              <a:tr h="558800">
                <a:tc>
                  <a:txBody>
                    <a:bodyPr/>
                    <a:lstStyle/>
                    <a:p>
                      <a:pPr algn="ctr"/>
                      <a:r>
                        <a:rPr sz="172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725" b="1">
                          <a:solidFill>
                            <a:srgbClr val="2E7D5B"/>
                          </a:solidFill>
                          <a:latin typeface="Noto Sans JP"/>
                          <a:ea typeface="Noto Sans JP"/>
                          <a:cs typeface="Noto Sans JP"/>
                        </a:rPr>
                        <a:t>現在の実装</a:t>
                      </a:r>
                    </a:p>
                  </a:txBody>
                  <a:tcPr marL="91440" marR="91440" marT="45720" marB="45720" anchor="ctr">
                    <a:solidFill>
                      <a:srgbClr val="E7F2EC"/>
                    </a:solidFill>
                  </a:tcPr>
                </a:tc>
              </a:tr>
              <a:tr h="558800">
                <a:tc>
                  <a:txBody>
                    <a:bodyPr/>
                    <a:lstStyle/>
                    <a:p>
                      <a:pPr algn="ctr"/>
                      <a:r>
                        <a:rPr sz="1725" b="0">
                          <a:solidFill>
                            <a:srgbClr val="222222"/>
                          </a:solidFill>
                          <a:latin typeface="Noto Sans JP"/>
                          <a:ea typeface="Noto Sans JP"/>
                          <a:cs typeface="Noto Sans JP"/>
                        </a:rPr>
                        <a:t>周辺の位置</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平均順位、u=(r−0.5)/n、[10⁻⁶, 1−10⁻⁶]へクリップ</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相関推定</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潜在値の相関、0.05の対角縮小、固有値補正</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条件付き生成</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solve・共分散の対称化・微小対角補正・Cholesky</a:t>
                      </a:r>
                    </a:p>
                  </a:txBody>
                  <a:tcPr marL="91440" marR="91440" marT="45720" marB="45720" anchor="ctr">
                    <a:solidFill>
                      <a:srgbClr val="FFFFFF"/>
                    </a:solidFill>
                  </a:tcPr>
                </a:tc>
              </a:tr>
              <a:tr h="558800">
                <a:tc>
                  <a:txBody>
                    <a:bodyPr/>
                    <a:lstStyle/>
                    <a:p>
                      <a:pPr algn="ctr"/>
                      <a:r>
                        <a:rPr sz="1725" b="0">
                          <a:solidFill>
                            <a:srgbClr val="222222"/>
                          </a:solidFill>
                          <a:latin typeface="Noto Sans JP"/>
                          <a:ea typeface="Noto Sans JP"/>
                          <a:cs typeface="Noto Sans JP"/>
                        </a:rPr>
                        <a:t>元単位へ</a:t>
                      </a:r>
                    </a:p>
                  </a:txBody>
                  <a:tcPr marL="91440" marR="91440" marT="45720" marB="45720" anchor="ctr">
                    <a:solidFill>
                      <a:srgbClr val="F6F6F6"/>
                    </a:solidFill>
                  </a:tcPr>
                </a:tc>
                <a:tc>
                  <a:txBody>
                    <a:bodyPr/>
                    <a:lstStyle/>
                    <a:p>
                      <a:pPr algn="ctr"/>
                      <a:r>
                        <a:rPr sz="1725" b="0">
                          <a:solidFill>
                            <a:srgbClr val="222222"/>
                          </a:solidFill>
                          <a:latin typeface="Noto Sans JP"/>
                          <a:ea typeface="Noto Sans JP"/>
                          <a:cs typeface="Noto Sans JP"/>
                        </a:rPr>
                        <a:t>Φ(z) → 経験分位点を線形補間（未観測の値もあり得る）</a:t>
                      </a:r>
                    </a:p>
                  </a:txBody>
                  <a:tcPr marL="91440" marR="91440" marT="45720" marB="45720" anchor="ctr">
                    <a:solidFill>
                      <a:srgbClr val="F6F6F6"/>
                    </a:solidFill>
                  </a:tcPr>
                </a:tc>
              </a:tr>
              <a:tr h="558800">
                <a:tc>
                  <a:txBody>
                    <a:bodyPr/>
                    <a:lstStyle/>
                    <a:p>
                      <a:pPr algn="ctr"/>
                      <a:r>
                        <a:rPr sz="1725" b="0">
                          <a:solidFill>
                            <a:srgbClr val="222222"/>
                          </a:solidFill>
                          <a:latin typeface="Noto Sans JP"/>
                          <a:ea typeface="Noto Sans JP"/>
                          <a:cs typeface="Noto Sans JP"/>
                        </a:rPr>
                        <a:t>端のマスク</a:t>
                      </a:r>
                    </a:p>
                  </a:txBody>
                  <a:tcPr marL="91440" marR="91440" marT="45720" marB="45720" anchor="ctr">
                    <a:solidFill>
                      <a:srgbClr val="FFFFFF"/>
                    </a:solidFill>
                  </a:tcPr>
                </a:tc>
                <a:tc>
                  <a:txBody>
                    <a:bodyPr/>
                    <a:lstStyle/>
                    <a:p>
                      <a:pPr algn="ctr"/>
                      <a:r>
                        <a:rPr sz="1725" b="0">
                          <a:solidFill>
                            <a:srgbClr val="222222"/>
                          </a:solidFill>
                          <a:latin typeface="Noto Sans JP"/>
                          <a:ea typeface="Noto Sans JP"/>
                          <a:cs typeface="Noto Sans JP"/>
                        </a:rPr>
                        <a:t>マスクなし：変更なし / 全列マスク：無条件同時生成</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432912B-F7E0-4ECB-A155-45A74D3A1BA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426984-9F29-4041-A4B8-E23636BEDB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理論モデル、推定の近似、学習上の効果を分けて考える</a:t>
            </a:r>
          </a:p>
        </p:txBody>
      </p:sp>
    </p:spTree>
    <p:extLst>
      <p:ext uri="{BB962C8B-B14F-4D97-AF65-F5344CB8AC3E}">
        <p14:creationId xmlns:p14="http://schemas.microsoft.com/office/powerpoint/2010/main" val="60139230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E9C62B-34E7-482E-8D5F-FD590375523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補足：Student-t copula</a:t>
            </a:r>
          </a:p>
        </p:txBody>
      </p:sp>
      <p:sp>
        <p:nvSpPr>
          <p:cNvPr id="2" name="">
            <a:extLst xmlns:a="http://schemas.openxmlformats.org/drawingml/2006/main">
              <a:ext uri="{FF2B5EF4-FFF2-40B4-BE49-F238E27FC236}">
                <a16:creationId xmlns:a16="http://schemas.microsoft.com/office/drawing/2014/main" id="{C611570C-D3D9-49D2-BBCE-8A1B08DD7FE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18C0AAA-8C37-4473-BAE1-E0C385892A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上下両側の極端事象の共発生を表せる。</a:t>
            </a:r>
          </a:p>
        </p:txBody>
      </p:sp>
      <p:sp>
        <p:nvSpPr>
          <p:cNvPr id="4" name="">
            <a:extLst xmlns:a="http://schemas.openxmlformats.org/drawingml/2006/main">
              <a:ext uri="{FF2B5EF4-FFF2-40B4-BE49-F238E27FC236}">
                <a16:creationId xmlns:a16="http://schemas.microsoft.com/office/drawing/2014/main" id="{89D8D7D5-F151-4BD8-AF7E-B990D3467D1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34AED67A-24F1-4A2B-8975-76EFAAC03C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50</a:t>
            </a:r>
          </a:p>
        </p:txBody>
      </p:sp>
      <p:sp>
        <p:nvSpPr>
          <p:cNvPr id="6" name="">
            <a:extLst xmlns:a="http://schemas.openxmlformats.org/drawingml/2006/main">
              <a:ext uri="{FF2B5EF4-FFF2-40B4-BE49-F238E27FC236}">
                <a16:creationId xmlns:a16="http://schemas.microsoft.com/office/drawing/2014/main" id="{093F8EFE-7C1E-4576-AC85-EC39682E357E}"/>
              </a:ext>
            </a:extLst>
          </p:cNvPr>
          <p:cNvSpPr>
            <a:spLocks xmlns:a="http://schemas.openxmlformats.org/drawingml/2006/main" noGrp="1"/>
          </p:cNvSpPr>
          <p:nvPr/>
        </p:nvSpPr>
        <p:spPr>
          <a:xfrm xmlns:a="http://schemas.openxmlformats.org/drawingml/2006/main">
            <a:off x="514350" y="199072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18D5EA-DB9E-470C-95DD-83709D3688C2}"/>
              </a:ext>
            </a:extLst>
          </p:cNvPr>
          <p:cNvSpPr>
            <a:spLocks xmlns:a="http://schemas.openxmlformats.org/drawingml/2006/main" noGrp="1"/>
          </p:cNvSpPr>
          <p:nvPr/>
        </p:nvSpPr>
        <p:spPr>
          <a:xfrm xmlns:a="http://schemas.openxmlformats.org/drawingml/2006/main">
            <a:off x="704850" y="208597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75" b="1">
                <a:solidFill>
                  <a:srgbClr val="2B6777"/>
                </a:solidFill>
                <a:latin typeface="Noto Sans JP"/>
                <a:ea typeface="Noto Sans JP"/>
                <a:cs typeface="Noto Sans JP"/>
              </a:defRPr>
            </a:pPr>
            <a:r>
              <a:rPr sz="2775" b="1">
                <a:solidFill>
                  <a:srgbClr val="2B6777"/>
                </a:solidFill>
                <a:latin typeface="Noto Sans JP"/>
                <a:ea typeface="Noto Sans JP"/>
                <a:cs typeface="Noto Sans JP"/>
              </a:rPr>
              <a:t>C_ν,R(u) = t_ν,R(t_ν⁻¹(u₁), …, t_ν⁻¹(u_d))</a:t>
            </a:r>
          </a:p>
        </p:txBody>
      </p:sp>
      <p:sp>
        <p:nvSpPr>
          <p:cNvPr id="8" name="">
            <a:extLst xmlns:a="http://schemas.openxmlformats.org/drawingml/2006/main">
              <a:ext uri="{FF2B5EF4-FFF2-40B4-BE49-F238E27FC236}">
                <a16:creationId xmlns:a16="http://schemas.microsoft.com/office/drawing/2014/main" id="{4C8C5738-7CE4-4B86-8E85-2C0C4474CD49}"/>
              </a:ext>
            </a:extLst>
          </p:cNvPr>
          <p:cNvSpPr>
            <a:spLocks xmlns:a="http://schemas.openxmlformats.org/drawingml/2006/main" noGrp="1"/>
          </p:cNvSpPr>
          <p:nvPr/>
        </p:nvSpPr>
        <p:spPr>
          <a:xfrm xmlns:a="http://schemas.openxmlformats.org/drawingml/2006/main">
            <a:off x="514350" y="3400425"/>
            <a:ext cx="531495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9AA5EE-CEFD-4179-85CC-2A7F999FC131}"/>
              </a:ext>
            </a:extLst>
          </p:cNvPr>
          <p:cNvSpPr>
            <a:spLocks xmlns:a="http://schemas.openxmlformats.org/drawingml/2006/main" noGrp="1"/>
          </p:cNvSpPr>
          <p:nvPr/>
        </p:nvSpPr>
        <p:spPr>
          <a:xfrm xmlns:a="http://schemas.openxmlformats.org/drawingml/2006/main">
            <a:off x="704850" y="3514725"/>
            <a:ext cx="4933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E7D5B"/>
                </a:solidFill>
                <a:latin typeface="Noto Sans JP"/>
                <a:ea typeface="Noto Sans JP"/>
                <a:cs typeface="Noto Sans JP"/>
              </a:defRPr>
            </a:pPr>
            <a:r>
              <a:rPr sz="2175" b="1">
                <a:solidFill>
                  <a:srgbClr val="2E7D5B"/>
                </a:solidFill>
                <a:latin typeface="Noto Sans JP"/>
                <a:ea typeface="Noto Sans JP"/>
                <a:cs typeface="Noto Sans JP"/>
              </a:rPr>
              <a:t>向く可能性がある状況</a:t>
            </a:r>
          </a:p>
        </p:txBody>
      </p:sp>
      <p:sp>
        <p:nvSpPr>
          <p:cNvPr id="10" name="">
            <a:extLst xmlns:a="http://schemas.openxmlformats.org/drawingml/2006/main">
              <a:ext uri="{FF2B5EF4-FFF2-40B4-BE49-F238E27FC236}">
                <a16:creationId xmlns:a16="http://schemas.microsoft.com/office/drawing/2014/main" id="{50936900-5204-4E99-8698-EFBE9214312D}"/>
              </a:ext>
            </a:extLst>
          </p:cNvPr>
          <p:cNvSpPr>
            <a:spLocks xmlns:a="http://schemas.openxmlformats.org/drawingml/2006/main" noGrp="1"/>
          </p:cNvSpPr>
          <p:nvPr/>
        </p:nvSpPr>
        <p:spPr>
          <a:xfrm xmlns:a="http://schemas.openxmlformats.org/drawingml/2006/main">
            <a:off x="704850" y="4067175"/>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極端に大きい値と小さい値の</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両方で、共発生が重要。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金融・リスク等の依存のモデル。</a:t>
            </a:r>
          </a:p>
        </p:txBody>
      </p:sp>
      <p:sp>
        <p:nvSpPr>
          <p:cNvPr id="11" name="">
            <a:extLst xmlns:a="http://schemas.openxmlformats.org/drawingml/2006/main">
              <a:ext uri="{FF2B5EF4-FFF2-40B4-BE49-F238E27FC236}">
                <a16:creationId xmlns:a16="http://schemas.microsoft.com/office/drawing/2014/main" id="{04E2A2B4-5162-4187-A2C1-2CFB657932F2}"/>
              </a:ext>
            </a:extLst>
          </p:cNvPr>
          <p:cNvSpPr>
            <a:spLocks xmlns:a="http://schemas.openxmlformats.org/drawingml/2006/main" noGrp="1"/>
          </p:cNvSpPr>
          <p:nvPr/>
        </p:nvSpPr>
        <p:spPr>
          <a:xfrm xmlns:a="http://schemas.openxmlformats.org/drawingml/2006/main">
            <a:off x="6076950" y="3400425"/>
            <a:ext cx="5600700" cy="182880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56728C-BBE4-4416-AC83-F26DE4B79CF4}"/>
              </a:ext>
            </a:extLst>
          </p:cNvPr>
          <p:cNvSpPr>
            <a:spLocks xmlns:a="http://schemas.openxmlformats.org/drawingml/2006/main" noGrp="1"/>
          </p:cNvSpPr>
          <p:nvPr/>
        </p:nvSpPr>
        <p:spPr>
          <a:xfrm xmlns:a="http://schemas.openxmlformats.org/drawingml/2006/main">
            <a:off x="6267450" y="35147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注意点</a:t>
            </a:r>
          </a:p>
        </p:txBody>
      </p:sp>
      <p:sp>
        <p:nvSpPr>
          <p:cNvPr id="13" name="">
            <a:extLst xmlns:a="http://schemas.openxmlformats.org/drawingml/2006/main">
              <a:ext uri="{FF2B5EF4-FFF2-40B4-BE49-F238E27FC236}">
                <a16:creationId xmlns:a16="http://schemas.microsoft.com/office/drawing/2014/main" id="{DA7A5255-AE5F-440A-8B87-30357DBD7FB2}"/>
              </a:ext>
            </a:extLst>
          </p:cNvPr>
          <p:cNvSpPr>
            <a:spLocks xmlns:a="http://schemas.openxmlformats.org/drawingml/2006/main" noGrp="1"/>
          </p:cNvSpPr>
          <p:nvPr/>
        </p:nvSpPr>
        <p:spPr>
          <a:xfrm xmlns:a="http://schemas.openxmlformats.org/drawingml/2006/main">
            <a:off x="6267450" y="406717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自由度νの推定が必要。</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裾のサンプルが少ないと不安定。</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周辺の重い裾とは別の話。</a:t>
            </a:r>
          </a:p>
        </p:txBody>
      </p:sp>
      <p:sp>
        <p:nvSpPr>
          <p:cNvPr id="14" name="">
            <a:extLst xmlns:a="http://schemas.openxmlformats.org/drawingml/2006/main">
              <a:ext uri="{FF2B5EF4-FFF2-40B4-BE49-F238E27FC236}">
                <a16:creationId xmlns:a16="http://schemas.microsoft.com/office/drawing/2014/main" id="{31BAE3C8-61C0-4F00-9F79-C0F6662C4C8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511BFD-4253-4AA0-B28B-5BC77B0DA59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次の候補。ただし追加パラメータが性能を保証するわけではない</a:t>
            </a:r>
          </a:p>
        </p:txBody>
      </p:sp>
    </p:spTree>
    <p:extLst>
      <p:ext uri="{BB962C8B-B14F-4D97-AF65-F5344CB8AC3E}">
        <p14:creationId xmlns:p14="http://schemas.microsoft.com/office/powerpoint/2010/main" val="46336618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7F50791-B9C0-40B7-9A80-3C14D824686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補足：Clayton copula</a:t>
            </a:r>
          </a:p>
        </p:txBody>
      </p:sp>
      <p:sp>
        <p:nvSpPr>
          <p:cNvPr id="2" name="">
            <a:extLst xmlns:a="http://schemas.openxmlformats.org/drawingml/2006/main">
              <a:ext uri="{FF2B5EF4-FFF2-40B4-BE49-F238E27FC236}">
                <a16:creationId xmlns:a16="http://schemas.microsoft.com/office/drawing/2014/main" id="{55FCE420-FDA9-4DF2-8BAF-0159FE0D65A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2D2C3D-06B0-4595-9C17-8E8830641F3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小さい側の位置が一緒になる、下側の裾依存。</a:t>
            </a:r>
          </a:p>
        </p:txBody>
      </p:sp>
      <p:sp>
        <p:nvSpPr>
          <p:cNvPr id="4" name="">
            <a:extLst xmlns:a="http://schemas.openxmlformats.org/drawingml/2006/main">
              <a:ext uri="{FF2B5EF4-FFF2-40B4-BE49-F238E27FC236}">
                <a16:creationId xmlns:a16="http://schemas.microsoft.com/office/drawing/2014/main" id="{A4006146-5580-4403-BBC2-63D8F566E4A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6359D19C-3EBF-4F5E-A42C-7B2E17A750A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51</a:t>
            </a:r>
          </a:p>
        </p:txBody>
      </p:sp>
      <p:sp>
        <p:nvSpPr>
          <p:cNvPr id="6" name="">
            <a:extLst xmlns:a="http://schemas.openxmlformats.org/drawingml/2006/main">
              <a:ext uri="{FF2B5EF4-FFF2-40B4-BE49-F238E27FC236}">
                <a16:creationId xmlns:a16="http://schemas.microsoft.com/office/drawing/2014/main" id="{40511B02-0FCC-46B0-B369-030C122EE922}"/>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5A748E-14A9-4186-A513-BF37535B7E14}"/>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700" b="1">
                <a:solidFill>
                  <a:srgbClr val="2B6777"/>
                </a:solidFill>
                <a:latin typeface="Noto Sans JP"/>
                <a:ea typeface="Noto Sans JP"/>
                <a:cs typeface="Noto Sans JP"/>
              </a:defRPr>
            </a:pPr>
            <a:r>
              <a:rPr sz="2700" b="1">
                <a:solidFill>
                  <a:srgbClr val="2B6777"/>
                </a:solidFill>
                <a:latin typeface="Noto Sans JP"/>
                <a:ea typeface="Noto Sans JP"/>
                <a:cs typeface="Noto Sans JP"/>
              </a:rPr>
              <a:t>C_θ(u,v) = (u⁻ᶿ + v⁻ᶿ − 1)^(−1/θ) ,  θ &gt; 0</a:t>
            </a:r>
          </a:p>
        </p:txBody>
      </p:sp>
      <p:sp>
        <p:nvSpPr>
          <p:cNvPr id="8" name="">
            <a:extLst xmlns:a="http://schemas.openxmlformats.org/drawingml/2006/main">
              <a:ext uri="{FF2B5EF4-FFF2-40B4-BE49-F238E27FC236}">
                <a16:creationId xmlns:a16="http://schemas.microsoft.com/office/drawing/2014/main" id="{EE218C32-C3A5-4BD6-9545-BDAFFCAB638F}"/>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D6BD91B1-CEF3-4EFB-91A2-6FB78081B861}"/>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下位の収益・小さい測定値が同時に起こる依存に合う。</a:t>
            </a:r>
          </a:p>
        </p:txBody>
      </p:sp>
      <p:sp>
        <p:nvSpPr>
          <p:cNvPr id="10" name="">
            <a:extLst xmlns:a="http://schemas.openxmlformats.org/drawingml/2006/main">
              <a:ext uri="{FF2B5EF4-FFF2-40B4-BE49-F238E27FC236}">
                <a16:creationId xmlns:a16="http://schemas.microsoft.com/office/drawing/2014/main" id="{CFFE456C-11DA-45F3-A6F6-1D48D130BA10}"/>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E2EEF90-C587-4896-BAFE-2D168F57AC33}"/>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下側裾：λL = 2⁻¹/θ、上側裾：λU = 0。</a:t>
            </a:r>
          </a:p>
        </p:txBody>
      </p:sp>
      <p:sp>
        <p:nvSpPr>
          <p:cNvPr id="12" name="">
            <a:extLst xmlns:a="http://schemas.openxmlformats.org/drawingml/2006/main">
              <a:ext uri="{FF2B5EF4-FFF2-40B4-BE49-F238E27FC236}">
                <a16:creationId xmlns:a16="http://schemas.microsoft.com/office/drawing/2014/main" id="{CC4042C5-1263-4B70-A800-9B8EDF1FF03E}"/>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94743EBA-F926-4131-9753-202646148DD1}"/>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単一θの多変量形は、列ごとの関係の違いを表しにくい。</a:t>
            </a:r>
          </a:p>
        </p:txBody>
      </p:sp>
      <p:sp>
        <p:nvSpPr>
          <p:cNvPr id="14" name="">
            <a:extLst xmlns:a="http://schemas.openxmlformats.org/drawingml/2006/main">
              <a:ext uri="{FF2B5EF4-FFF2-40B4-BE49-F238E27FC236}">
                <a16:creationId xmlns:a16="http://schemas.microsoft.com/office/drawing/2014/main" id="{A58EE74E-6100-4FD5-81A6-69346445C64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B7F1E0-8AC2-48D3-AD95-2DEE8DA5FBB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片側の裾依存を明示して選ぶ。万能な非線形モデルではない</a:t>
            </a:r>
          </a:p>
        </p:txBody>
      </p:sp>
    </p:spTree>
    <p:extLst>
      <p:ext uri="{BB962C8B-B14F-4D97-AF65-F5344CB8AC3E}">
        <p14:creationId xmlns:p14="http://schemas.microsoft.com/office/powerpoint/2010/main" val="151963565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1F1896-30A5-4722-A3BE-E4C098F24E5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補足：Gumbel copulaとJoe</a:t>
            </a:r>
          </a:p>
        </p:txBody>
      </p:sp>
      <p:sp>
        <p:nvSpPr>
          <p:cNvPr id="2" name="">
            <a:extLst xmlns:a="http://schemas.openxmlformats.org/drawingml/2006/main">
              <a:ext uri="{FF2B5EF4-FFF2-40B4-BE49-F238E27FC236}">
                <a16:creationId xmlns:a16="http://schemas.microsoft.com/office/drawing/2014/main" id="{69051CEE-A984-41C1-B3E0-D6C9AEDAF8A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92ABFC-C404-40FE-BD71-A7104DE44FBD}"/>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大きい側の位置が一緒になる、上側の裾依存。</a:t>
            </a:r>
          </a:p>
        </p:txBody>
      </p:sp>
      <p:sp>
        <p:nvSpPr>
          <p:cNvPr id="4" name="">
            <a:extLst xmlns:a="http://schemas.openxmlformats.org/drawingml/2006/main">
              <a:ext uri="{FF2B5EF4-FFF2-40B4-BE49-F238E27FC236}">
                <a16:creationId xmlns:a16="http://schemas.microsoft.com/office/drawing/2014/main" id="{1A712782-3508-4328-9331-E76E930BB3F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82EEE0B5-9373-4D30-A4DD-FECF013354B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52</a:t>
            </a:r>
          </a:p>
        </p:txBody>
      </p:sp>
      <p:sp>
        <p:nvSpPr>
          <p:cNvPr id="6" name="">
            <a:extLst xmlns:a="http://schemas.openxmlformats.org/drawingml/2006/main">
              <a:ext uri="{FF2B5EF4-FFF2-40B4-BE49-F238E27FC236}">
                <a16:creationId xmlns:a16="http://schemas.microsoft.com/office/drawing/2014/main" id="{3D39F3D1-FFAC-4309-98A8-EEDABC82B6C5}"/>
              </a:ext>
            </a:extLst>
          </p:cNvPr>
          <p:cNvSpPr>
            <a:spLocks xmlns:a="http://schemas.openxmlformats.org/drawingml/2006/main" noGrp="1"/>
          </p:cNvSpPr>
          <p:nvPr/>
        </p:nvSpPr>
        <p:spPr>
          <a:xfrm xmlns:a="http://schemas.openxmlformats.org/drawingml/2006/main">
            <a:off x="514350" y="19621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31D5A9-8FDC-444C-A617-E104104AE212}"/>
              </a:ext>
            </a:extLst>
          </p:cNvPr>
          <p:cNvSpPr>
            <a:spLocks xmlns:a="http://schemas.openxmlformats.org/drawingml/2006/main" noGrp="1"/>
          </p:cNvSpPr>
          <p:nvPr/>
        </p:nvSpPr>
        <p:spPr>
          <a:xfrm xmlns:a="http://schemas.openxmlformats.org/drawingml/2006/main">
            <a:off x="704850" y="20574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C_θ(u,v) = exp{−[(−ln u)ᶿ + (−ln v)ᶿ]^(1/θ)}</a:t>
            </a:r>
          </a:p>
        </p:txBody>
      </p:sp>
      <p:graphicFrame>
        <p:nvGraphicFramePr>
          <p:cNvPr id="18" name=""/>
          <p:cNvGraphicFramePr/>
          <p:nvPr/>
        </p:nvGraphicFramePr>
        <p:xfrm>
          <a:off xmlns:a="http://schemas.openxmlformats.org/drawingml/2006/main" x="514350" y="3381375"/>
          <a:ext xmlns:a="http://schemas.openxmlformats.org/drawingml/2006/main" cx="11163300" cy="1990725"/>
        </p:xfrm>
        <a:graphic xmlns:a="http://schemas.openxmlformats.org/drawingml/2006/main">
          <a:graphicData uri="http://schemas.openxmlformats.org/drawingml/2006/table">
            <a:tbl>
              <a:tblPr/>
              <a:tblGrid>
                <a:gridCol w="2667000"/>
                <a:gridCol w="8496300"/>
              </a:tblGrid>
              <a:tr h="497681">
                <a:tc>
                  <a:txBody>
                    <a:bodyPr/>
                    <a:lstStyle/>
                    <a:p>
                      <a:pPr algn="ctr"/>
                      <a:r>
                        <a:rPr sz="1875" b="1">
                          <a:solidFill>
                            <a:srgbClr val="2E7D5B"/>
                          </a:solidFill>
                          <a:latin typeface="Noto Sans JP"/>
                          <a:ea typeface="Noto Sans JP"/>
                          <a:cs typeface="Noto Sans JP"/>
                        </a:rPr>
                        <a:t>Gumbelの設定</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特徴</a:t>
                      </a:r>
                    </a:p>
                  </a:txBody>
                  <a:tcPr marL="91440" marR="91440" marT="45720" marB="45720" anchor="ctr">
                    <a:solidFill>
                      <a:srgbClr val="E7F2EC"/>
                    </a:solidFill>
                  </a:tcPr>
                </a:tc>
              </a:tr>
              <a:tr h="497681">
                <a:tc>
                  <a:txBody>
                    <a:bodyPr/>
                    <a:lstStyle/>
                    <a:p>
                      <a:pPr algn="ctr"/>
                      <a:r>
                        <a:rPr sz="1875" b="0">
                          <a:solidFill>
                            <a:srgbClr val="222222"/>
                          </a:solidFill>
                          <a:latin typeface="Noto Sans JP"/>
                          <a:ea typeface="Noto Sans JP"/>
                          <a:cs typeface="Noto Sans JP"/>
                        </a:rPr>
                        <a:t>θ ≥ 1 / θ = 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θ=1なら独立。θが大きいほど強い依存。</a:t>
                      </a:r>
                    </a:p>
                  </a:txBody>
                  <a:tcPr marL="91440" marR="91440" marT="45720" marB="45720" anchor="ctr">
                    <a:solidFill>
                      <a:srgbClr val="FFFFFF"/>
                    </a:solidFill>
                  </a:tcPr>
                </a:tc>
              </a:tr>
              <a:tr h="497681">
                <a:tc>
                  <a:txBody>
                    <a:bodyPr/>
                    <a:lstStyle/>
                    <a:p>
                      <a:pPr algn="ctr"/>
                      <a:r>
                        <a:rPr sz="1875" b="0">
                          <a:solidFill>
                            <a:srgbClr val="222222"/>
                          </a:solidFill>
                          <a:latin typeface="Noto Sans JP"/>
                          <a:ea typeface="Noto Sans JP"/>
                          <a:cs typeface="Noto Sans JP"/>
                        </a:rPr>
                        <a:t>裾依存</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λU = 2 − 2¹/θ、λL = 0</a:t>
                      </a:r>
                    </a:p>
                  </a:txBody>
                  <a:tcPr marL="91440" marR="91440" marT="45720" marB="45720" anchor="ctr">
                    <a:solidFill>
                      <a:srgbClr val="F6F6F6"/>
                    </a:solidFill>
                  </a:tcPr>
                </a:tc>
              </a:tr>
              <a:tr h="497681">
                <a:tc>
                  <a:txBody>
                    <a:bodyPr/>
                    <a:lstStyle/>
                    <a:p>
                      <a:pPr algn="ctr"/>
                      <a:r>
                        <a:rPr sz="1875" b="0">
                          <a:solidFill>
                            <a:srgbClr val="222222"/>
                          </a:solidFill>
                          <a:latin typeface="Noto Sans JP"/>
                          <a:ea typeface="Noto Sans JP"/>
                          <a:cs typeface="Noto Sans JP"/>
                        </a:rPr>
                        <a:t>Joeとの関係</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Joeも上側裾依存。同じ裾係数でも内部の形は違う。</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CA399E8-9043-42AA-9F10-D225331102C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9780F6-DD00-49D0-BA8F-7659E254324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大雨・需要急増等、上側の共発生が重要なときの候補</a:t>
            </a:r>
          </a:p>
        </p:txBody>
      </p:sp>
    </p:spTree>
    <p:extLst>
      <p:ext uri="{BB962C8B-B14F-4D97-AF65-F5344CB8AC3E}">
        <p14:creationId xmlns:p14="http://schemas.microsoft.com/office/powerpoint/2010/main" val="160966508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217407-04DB-4A90-9174-3267290BFE1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補足：Frank copula</a:t>
            </a:r>
          </a:p>
        </p:txBody>
      </p:sp>
      <p:sp>
        <p:nvSpPr>
          <p:cNvPr id="2" name="">
            <a:extLst xmlns:a="http://schemas.openxmlformats.org/drawingml/2006/main">
              <a:ext uri="{FF2B5EF4-FFF2-40B4-BE49-F238E27FC236}">
                <a16:creationId xmlns:a16="http://schemas.microsoft.com/office/drawing/2014/main" id="{76CC5052-34B8-4387-9F5F-37F0A1186A1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37A9A6-7A3C-4EA7-9E95-81BEE6C2EAC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中央付近も含むなめらかな依存。上下の裾依存係数は0。</a:t>
            </a:r>
          </a:p>
        </p:txBody>
      </p:sp>
      <p:sp>
        <p:nvSpPr>
          <p:cNvPr id="4" name="">
            <a:extLst xmlns:a="http://schemas.openxmlformats.org/drawingml/2006/main">
              <a:ext uri="{FF2B5EF4-FFF2-40B4-BE49-F238E27FC236}">
                <a16:creationId xmlns:a16="http://schemas.microsoft.com/office/drawing/2014/main" id="{F47AFE9C-D10B-49E0-872D-50A1A25CF58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916300E-92C7-4D4E-8DB8-FC85AD7E95D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53</a:t>
            </a:r>
          </a:p>
        </p:txBody>
      </p:sp>
      <p:sp>
        <p:nvSpPr>
          <p:cNvPr id="6" name="">
            <a:extLst xmlns:a="http://schemas.openxmlformats.org/drawingml/2006/main">
              <a:ext uri="{FF2B5EF4-FFF2-40B4-BE49-F238E27FC236}">
                <a16:creationId xmlns:a16="http://schemas.microsoft.com/office/drawing/2014/main" id="{FCAB2793-211B-457F-9BD5-085E695F761B}"/>
              </a:ext>
            </a:extLst>
          </p:cNvPr>
          <p:cNvSpPr>
            <a:spLocks xmlns:a="http://schemas.openxmlformats.org/drawingml/2006/main" noGrp="1"/>
          </p:cNvSpPr>
          <p:nvPr/>
        </p:nvSpPr>
        <p:spPr>
          <a:xfrm xmlns:a="http://schemas.openxmlformats.org/drawingml/2006/main">
            <a:off x="514350" y="19335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2AB9DC-D971-47C8-8412-6A0E1DEA7AA2}"/>
              </a:ext>
            </a:extLst>
          </p:cNvPr>
          <p:cNvSpPr>
            <a:spLocks xmlns:a="http://schemas.openxmlformats.org/drawingml/2006/main" noGrp="1"/>
          </p:cNvSpPr>
          <p:nvPr/>
        </p:nvSpPr>
        <p:spPr>
          <a:xfrm xmlns:a="http://schemas.openxmlformats.org/drawingml/2006/main">
            <a:off x="704850" y="20288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C_θ(u,v) = −(1/θ) ln[1 + (e^(−θu) − 1)(e^(−θv) − 1)/(e^(−θ) − 1)]</a:t>
            </a:r>
          </a:p>
        </p:txBody>
      </p:sp>
      <p:sp>
        <p:nvSpPr>
          <p:cNvPr id="8" name="">
            <a:extLst xmlns:a="http://schemas.openxmlformats.org/drawingml/2006/main">
              <a:ext uri="{FF2B5EF4-FFF2-40B4-BE49-F238E27FC236}">
                <a16:creationId xmlns:a16="http://schemas.microsoft.com/office/drawing/2014/main" id="{79958532-2526-4B6C-82F8-3946D844FF98}"/>
              </a:ext>
            </a:extLst>
          </p:cNvPr>
          <p:cNvSpPr>
            <a:spLocks xmlns:a="http://schemas.openxmlformats.org/drawingml/2006/main" noGrp="1"/>
          </p:cNvSpPr>
          <p:nvPr/>
        </p:nvSpPr>
        <p:spPr>
          <a:xfrm xmlns:a="http://schemas.openxmlformats.org/drawingml/2006/main">
            <a:off x="552450" y="335280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9" name="">
            <a:extLst xmlns:a="http://schemas.openxmlformats.org/drawingml/2006/main">
              <a:ext uri="{FF2B5EF4-FFF2-40B4-BE49-F238E27FC236}">
                <a16:creationId xmlns:a16="http://schemas.microsoft.com/office/drawing/2014/main" id="{FABBDD1E-09E9-42AD-A01B-7BB8FF7ED174}"/>
              </a:ext>
            </a:extLst>
          </p:cNvPr>
          <p:cNvSpPr>
            <a:spLocks xmlns:a="http://schemas.openxmlformats.org/drawingml/2006/main" noGrp="1"/>
          </p:cNvSpPr>
          <p:nvPr/>
        </p:nvSpPr>
        <p:spPr>
          <a:xfrm xmlns:a="http://schemas.openxmlformats.org/drawingml/2006/main">
            <a:off x="1257300" y="335280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二変量ではθ&gt;0で正の依存、θ&lt;0で負の依存。</a:t>
            </a:r>
          </a:p>
        </p:txBody>
      </p:sp>
      <p:sp>
        <p:nvSpPr>
          <p:cNvPr id="10" name="">
            <a:extLst xmlns:a="http://schemas.openxmlformats.org/drawingml/2006/main">
              <a:ext uri="{FF2B5EF4-FFF2-40B4-BE49-F238E27FC236}">
                <a16:creationId xmlns:a16="http://schemas.microsoft.com/office/drawing/2014/main" id="{489CD2C6-716B-4257-B7FA-325FB8A16B5F}"/>
              </a:ext>
            </a:extLst>
          </p:cNvPr>
          <p:cNvSpPr>
            <a:spLocks xmlns:a="http://schemas.openxmlformats.org/drawingml/2006/main" noGrp="1"/>
          </p:cNvSpPr>
          <p:nvPr/>
        </p:nvSpPr>
        <p:spPr>
          <a:xfrm xmlns:a="http://schemas.openxmlformats.org/drawingml/2006/main">
            <a:off x="552450" y="4022725"/>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11" name="">
            <a:extLst xmlns:a="http://schemas.openxmlformats.org/drawingml/2006/main">
              <a:ext uri="{FF2B5EF4-FFF2-40B4-BE49-F238E27FC236}">
                <a16:creationId xmlns:a16="http://schemas.microsoft.com/office/drawing/2014/main" id="{B0181D4D-2150-4437-A1B4-2921E2091180}"/>
              </a:ext>
            </a:extLst>
          </p:cNvPr>
          <p:cNvSpPr>
            <a:spLocks xmlns:a="http://schemas.openxmlformats.org/drawingml/2006/main" noGrp="1"/>
          </p:cNvSpPr>
          <p:nvPr/>
        </p:nvSpPr>
        <p:spPr>
          <a:xfrm xmlns:a="http://schemas.openxmlformats.org/drawingml/2006/main">
            <a:off x="1257300" y="4022725"/>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θ→0で独立。上下の裾依存係数は0。</a:t>
            </a:r>
          </a:p>
        </p:txBody>
      </p:sp>
      <p:sp>
        <p:nvSpPr>
          <p:cNvPr id="12" name="">
            <a:extLst xmlns:a="http://schemas.openxmlformats.org/drawingml/2006/main">
              <a:ext uri="{FF2B5EF4-FFF2-40B4-BE49-F238E27FC236}">
                <a16:creationId xmlns:a16="http://schemas.microsoft.com/office/drawing/2014/main" id="{BEC78DB8-E9FC-4BD5-BD48-2E4DBD8D96AB}"/>
              </a:ext>
            </a:extLst>
          </p:cNvPr>
          <p:cNvSpPr>
            <a:spLocks xmlns:a="http://schemas.openxmlformats.org/drawingml/2006/main" noGrp="1"/>
          </p:cNvSpPr>
          <p:nvPr/>
        </p:nvSpPr>
        <p:spPr>
          <a:xfrm xmlns:a="http://schemas.openxmlformats.org/drawingml/2006/main">
            <a:off x="552450" y="4692650"/>
            <a:ext cx="4762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3" name="">
            <a:extLst xmlns:a="http://schemas.openxmlformats.org/drawingml/2006/main">
              <a:ext uri="{FF2B5EF4-FFF2-40B4-BE49-F238E27FC236}">
                <a16:creationId xmlns:a16="http://schemas.microsoft.com/office/drawing/2014/main" id="{6A87E0C6-0933-4772-B45E-60DE7DA33A4D}"/>
              </a:ext>
            </a:extLst>
          </p:cNvPr>
          <p:cNvSpPr>
            <a:spLocks xmlns:a="http://schemas.openxmlformats.org/drawingml/2006/main" noGrp="1"/>
          </p:cNvSpPr>
          <p:nvPr/>
        </p:nvSpPr>
        <p:spPr>
          <a:xfrm xmlns:a="http://schemas.openxmlformats.org/drawingml/2006/main">
            <a:off x="1257300" y="4692650"/>
            <a:ext cx="10191750" cy="59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極端な共発生より、中央を含む関係を重視する候補。</a:t>
            </a:r>
          </a:p>
        </p:txBody>
      </p:sp>
      <p:sp>
        <p:nvSpPr>
          <p:cNvPr id="14" name="">
            <a:extLst xmlns:a="http://schemas.openxmlformats.org/drawingml/2006/main">
              <a:ext uri="{FF2B5EF4-FFF2-40B4-BE49-F238E27FC236}">
                <a16:creationId xmlns:a16="http://schemas.microsoft.com/office/drawing/2014/main" id="{F69849B2-7920-4E26-8296-E444DE276B2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D2545A-55B5-452D-A723-1C9ADA96778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「裾依存が0」でも、全範囲で独立という意味ではない</a:t>
            </a:r>
          </a:p>
        </p:txBody>
      </p:sp>
    </p:spTree>
    <p:extLst>
      <p:ext uri="{BB962C8B-B14F-4D97-AF65-F5344CB8AC3E}">
        <p14:creationId xmlns:p14="http://schemas.microsoft.com/office/powerpoint/2010/main" val="125305257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D4ACB7-BD7E-48FD-8FBE-DB4BF9E4C68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補足：回転・Vine・ノンパラメトリック</a:t>
            </a:r>
          </a:p>
        </p:txBody>
      </p:sp>
      <p:sp>
        <p:nvSpPr>
          <p:cNvPr id="2" name="">
            <a:extLst xmlns:a="http://schemas.openxmlformats.org/drawingml/2006/main">
              <a:ext uri="{FF2B5EF4-FFF2-40B4-BE49-F238E27FC236}">
                <a16:creationId xmlns:a16="http://schemas.microsoft.com/office/drawing/2014/main" id="{A00C7CEB-BEFC-4322-94F1-66D4B2CDE6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028EED-3CAC-4A4F-968E-419AC81F2C2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単一の家族では足りない関係を、別の構成で扱う。</a:t>
            </a:r>
          </a:p>
        </p:txBody>
      </p:sp>
      <p:sp>
        <p:nvSpPr>
          <p:cNvPr id="4" name="">
            <a:extLst xmlns:a="http://schemas.openxmlformats.org/drawingml/2006/main">
              <a:ext uri="{FF2B5EF4-FFF2-40B4-BE49-F238E27FC236}">
                <a16:creationId xmlns:a16="http://schemas.microsoft.com/office/drawing/2014/main" id="{C7DF51A6-5F1C-4792-AEEF-6CF5ADA7299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補足・種類</a:t>
            </a:r>
          </a:p>
        </p:txBody>
      </p:sp>
      <p:sp>
        <p:nvSpPr>
          <p:cNvPr id="5" name="">
            <a:extLst xmlns:a="http://schemas.openxmlformats.org/drawingml/2006/main">
              <a:ext uri="{FF2B5EF4-FFF2-40B4-BE49-F238E27FC236}">
                <a16:creationId xmlns:a16="http://schemas.microsoft.com/office/drawing/2014/main" id="{F3ADEC30-0096-4B1A-96D5-D287FE2BC0E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54</a:t>
            </a:r>
          </a:p>
        </p:txBody>
      </p:sp>
      <p:graphicFrame>
        <p:nvGraphicFramePr>
          <p:cNvPr id="14" name=""/>
          <p:cNvGraphicFramePr/>
          <p:nvPr/>
        </p:nvGraphicFramePr>
        <p:xfrm>
          <a:off xmlns:a="http://schemas.openxmlformats.org/drawingml/2006/main" x="514350" y="2143125"/>
          <a:ext xmlns:a="http://schemas.openxmlformats.org/drawingml/2006/main" cx="11163300" cy="2647950"/>
        </p:xfrm>
        <a:graphic xmlns:a="http://schemas.openxmlformats.org/drawingml/2006/main">
          <a:graphicData uri="http://schemas.openxmlformats.org/drawingml/2006/table">
            <a:tbl>
              <a:tblPr/>
              <a:tblGrid>
                <a:gridCol w="3721100"/>
                <a:gridCol w="3721100"/>
                <a:gridCol w="3721100"/>
              </a:tblGrid>
              <a:tr h="661988">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特徴</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注意点</a:t>
                      </a:r>
                    </a:p>
                  </a:txBody>
                  <a:tcPr marL="91440" marR="91440" marT="45720" marB="45720" anchor="ctr">
                    <a:solidFill>
                      <a:srgbClr val="E7F2EC"/>
                    </a:solidFill>
                  </a:tcPr>
                </a:tc>
              </a:tr>
              <a:tr h="661988">
                <a:tc>
                  <a:txBody>
                    <a:bodyPr/>
                    <a:lstStyle/>
                    <a:p>
                      <a:pPr algn="ctr"/>
                      <a:r>
                        <a:rPr sz="1950" b="0">
                          <a:solidFill>
                            <a:srgbClr val="222222"/>
                          </a:solidFill>
                          <a:latin typeface="Noto Sans JP"/>
                          <a:ea typeface="Noto Sans JP"/>
                          <a:cs typeface="Noto Sans JP"/>
                        </a:rPr>
                        <a:t>回転コピュラ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依存の強いコーナーを変える</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90°・180°・270°で意味が異なる</a:t>
                      </a:r>
                    </a:p>
                  </a:txBody>
                  <a:tcPr marL="91440" marR="91440" marT="45720" marB="45720" anchor="ctr">
                    <a:solidFill>
                      <a:srgbClr val="FFFFFF"/>
                    </a:solidFill>
                  </a:tcPr>
                </a:tc>
              </a:tr>
              <a:tr h="661988">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ペアごとに別の家族を組合せる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構造・家族選択と条件付き計算が複雑</a:t>
                      </a:r>
                    </a:p>
                  </a:txBody>
                  <a:tcPr marL="91440" marR="91440" marT="45720" marB="45720" anchor="ctr">
                    <a:solidFill>
                      <a:srgbClr val="F6F6F6"/>
                    </a:solidFill>
                  </a:tcPr>
                </a:tc>
              </a:tr>
              <a:tr h="661988">
                <a:tc>
                  <a:txBody>
                    <a:bodyPr/>
                    <a:lstStyle/>
                    <a:p>
                      <a:pPr algn="ctr"/>
                      <a:r>
                        <a:rPr sz="1950" b="0">
                          <a:solidFill>
                            <a:srgbClr val="222222"/>
                          </a:solidFill>
                          <a:latin typeface="Noto Sans JP"/>
                          <a:ea typeface="Noto Sans JP"/>
                          <a:cs typeface="Noto Sans JP"/>
                        </a:rPr>
                        <a:t>経験 / 平滑化コピュラ</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特定家族の形を強く仮定しない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十分な標本が必要。高次元で疎になる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1CA529-D8FB-404F-A723-F95ECDBFB0EC}"/>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4D5998-E53C-4D29-A155-6FA9CDEEC103}"/>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柔軟さと、サンプル数・推定の安定性・計算量を比較する</a:t>
            </a:r>
          </a:p>
        </p:txBody>
      </p:sp>
    </p:spTree>
    <p:extLst>
      <p:ext uri="{BB962C8B-B14F-4D97-AF65-F5344CB8AC3E}">
        <p14:creationId xmlns:p14="http://schemas.microsoft.com/office/powerpoint/2010/main" val="136653530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6C673B-C616-43D8-96AA-14538E3C1F3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補足：順序変数とは？</a:t>
            </a:r>
          </a:p>
        </p:txBody>
      </p:sp>
      <p:sp>
        <p:nvSpPr>
          <p:cNvPr id="2" name="">
            <a:extLst xmlns:a="http://schemas.openxmlformats.org/drawingml/2006/main">
              <a:ext uri="{FF2B5EF4-FFF2-40B4-BE49-F238E27FC236}">
                <a16:creationId xmlns:a16="http://schemas.microsoft.com/office/drawing/2014/main" id="{BF2CCA38-5ED2-4D2E-9B00-C543734AEA4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A400D9-EEED-47CD-AE13-636772111E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順番はあるが、カテゴリ間の差が同じとは限らない変数。</a:t>
            </a:r>
          </a:p>
        </p:txBody>
      </p:sp>
      <p:sp>
        <p:nvSpPr>
          <p:cNvPr id="4" name="">
            <a:extLst xmlns:a="http://schemas.openxmlformats.org/drawingml/2006/main">
              <a:ext uri="{FF2B5EF4-FFF2-40B4-BE49-F238E27FC236}">
                <a16:creationId xmlns:a16="http://schemas.microsoft.com/office/drawing/2014/main" id="{593185CD-3563-4186-B266-DCB6D81374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9FF2D4BB-D3A6-4C09-B5DC-8C0D4975A2B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55</a:t>
            </a:r>
          </a:p>
        </p:txBody>
      </p:sp>
      <p:graphicFrame>
        <p:nvGraphicFramePr>
          <p:cNvPr id="15" name=""/>
          <p:cNvGraphicFramePr/>
          <p:nvPr/>
        </p:nvGraphicFramePr>
        <p:xfrm>
          <a:off xmlns:a="http://schemas.openxmlformats.org/drawingml/2006/main" x="514350" y="2076450"/>
          <a:ext xmlns:a="http://schemas.openxmlformats.org/drawingml/2006/main" cx="11163300" cy="2466975"/>
        </p:xfrm>
        <a:graphic xmlns:a="http://schemas.openxmlformats.org/drawingml/2006/main">
          <a:graphicData uri="http://schemas.openxmlformats.org/drawingml/2006/table">
            <a:tbl>
              <a:tblPr/>
              <a:tblGrid>
                <a:gridCol w="3721100"/>
                <a:gridCol w="3721100"/>
                <a:gridCol w="3721100"/>
              </a:tblGrid>
              <a:tr h="616744">
                <a:tc>
                  <a:txBody>
                    <a:bodyPr/>
                    <a:lstStyle/>
                    <a:p>
                      <a:pPr algn="ctr"/>
                      <a:r>
                        <a:rPr sz="2025" b="1">
                          <a:solidFill>
                            <a:srgbClr val="2E7D5B"/>
                          </a:solidFill>
                          <a:latin typeface="Noto Sans JP"/>
                          <a:ea typeface="Noto Sans JP"/>
                          <a:cs typeface="Noto Sans JP"/>
                        </a:rPr>
                        <a:t>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例</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考えるべきこと</a:t>
                      </a:r>
                    </a:p>
                  </a:txBody>
                  <a:tcPr marL="91440" marR="91440" marT="45720" marB="45720" anchor="ctr">
                    <a:solidFill>
                      <a:srgbClr val="E7F2EC"/>
                    </a:solidFill>
                  </a:tcPr>
                </a:tc>
              </a:tr>
              <a:tr h="616744">
                <a:tc>
                  <a:txBody>
                    <a:bodyPr/>
                    <a:lstStyle/>
                    <a:p>
                      <a:pPr algn="ctr"/>
                      <a:r>
                        <a:rPr sz="2025" b="0">
                          <a:solidFill>
                            <a:srgbClr val="222222"/>
                          </a:solidFill>
                          <a:latin typeface="Noto Sans JP"/>
                          <a:ea typeface="Noto Sans JP"/>
                          <a:cs typeface="Noto Sans JP"/>
                        </a:rPr>
                        <a:t>連続</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身長・体重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値と差が意味を持つ</a:t>
                      </a:r>
                    </a:p>
                  </a:txBody>
                  <a:tcPr marL="91440" marR="91440" marT="45720" marB="45720" anchor="ctr">
                    <a:solidFill>
                      <a:srgbClr val="FFFFFF"/>
                    </a:solidFill>
                  </a:tcPr>
                </a:tc>
              </a:tr>
              <a:tr h="616744">
                <a:tc>
                  <a:txBody>
                    <a:bodyPr/>
                    <a:lstStyle/>
                    <a:p>
                      <a:pPr algn="ctr"/>
                      <a:r>
                        <a:rPr sz="2025" b="0">
                          <a:solidFill>
                            <a:srgbClr val="222222"/>
                          </a:solidFill>
                          <a:latin typeface="Noto Sans JP"/>
                          <a:ea typeface="Noto Sans JP"/>
                          <a:cs typeface="Noto Sans JP"/>
                        </a:rPr>
                        <a:t>順序</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満足度：低・中・高 / 評価1〜5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大小の順番はある。間隔は保証されない。</a:t>
                      </a:r>
                    </a:p>
                  </a:txBody>
                  <a:tcPr marL="91440" marR="91440" marT="45720" marB="45720" anchor="ctr">
                    <a:solidFill>
                      <a:srgbClr val="F6F6F6"/>
                    </a:solidFill>
                  </a:tcPr>
                </a:tc>
              </a:tr>
              <a:tr h="616744">
                <a:tc>
                  <a:txBody>
                    <a:bodyPr/>
                    <a:lstStyle/>
                    <a:p>
                      <a:pPr algn="ctr"/>
                      <a:r>
                        <a:rPr sz="2025" b="0">
                          <a:solidFill>
                            <a:srgbClr val="222222"/>
                          </a:solidFill>
                          <a:latin typeface="Noto Sans JP"/>
                          <a:ea typeface="Noto Sans JP"/>
                          <a:cs typeface="Noto Sans JP"/>
                        </a:rPr>
                        <a:t>名義</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血液型・地域名</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自然な大小の順序がない</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C3403C-E90C-40CD-ADF8-DC1766FFDDF5}"/>
              </a:ext>
            </a:extLst>
          </p:cNvPr>
          <p:cNvSpPr>
            <a:spLocks xmlns:a="http://schemas.openxmlformats.org/drawingml/2006/main" noGrp="1"/>
          </p:cNvSpPr>
          <p:nvPr/>
        </p:nvSpPr>
        <p:spPr>
          <a:xfrm xmlns:a="http://schemas.openxmlformats.org/drawingml/2006/main">
            <a:off x="619125" y="481012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B6777"/>
                </a:solidFill>
                <a:latin typeface="Noto Sans JP"/>
                <a:ea typeface="Noto Sans JP"/>
                <a:cs typeface="Noto Sans JP"/>
              </a:defRPr>
            </a:pPr>
            <a:r>
              <a:rPr sz="2100" b="1">
                <a:solidFill>
                  <a:srgbClr val="2B6777"/>
                </a:solidFill>
                <a:latin typeface="Noto Sans JP"/>
                <a:ea typeface="Noto Sans JP"/>
                <a:cs typeface="Noto Sans JP"/>
              </a:rPr>
              <a:t>順序モデルの例：Z ≤ τ₁なら「低」、τ₁ &lt; Z ≤ τ₂なら「中」。</a:t>
            </a:r>
          </a:p>
        </p:txBody>
      </p:sp>
      <p:sp>
        <p:nvSpPr>
          <p:cNvPr id="8" name="">
            <a:extLst xmlns:a="http://schemas.openxmlformats.org/drawingml/2006/main">
              <a:ext uri="{FF2B5EF4-FFF2-40B4-BE49-F238E27FC236}">
                <a16:creationId xmlns:a16="http://schemas.microsoft.com/office/drawing/2014/main" id="{CE838FC2-56FB-449C-BE8F-BBEFFE90807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F845D8-334B-4EF6-B6C7-5FA63876B5E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今の連続特徴用の実装を、カテゴリへそのまま広げない</a:t>
            </a:r>
          </a:p>
        </p:txBody>
      </p:sp>
    </p:spTree>
    <p:extLst>
      <p:ext uri="{BB962C8B-B14F-4D97-AF65-F5344CB8AC3E}">
        <p14:creationId xmlns:p14="http://schemas.microsoft.com/office/powerpoint/2010/main" val="117892421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27B581-E75B-4C6B-A77A-84148C6A866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補足：混合型の欠損補完研究との接続</a:t>
            </a:r>
          </a:p>
        </p:txBody>
      </p:sp>
      <p:sp>
        <p:nvSpPr>
          <p:cNvPr id="2" name="">
            <a:extLst xmlns:a="http://schemas.openxmlformats.org/drawingml/2006/main">
              <a:ext uri="{FF2B5EF4-FFF2-40B4-BE49-F238E27FC236}">
                <a16:creationId xmlns:a16="http://schemas.microsoft.com/office/drawing/2014/main" id="{E6620FAB-7E58-48C9-941C-33980EA545E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829DF0-3B54-4520-9BA5-36AD4911773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Zhao &amp; Udell (2020)：Gaussian copulaで連続・順序変数を補完。</a:t>
            </a:r>
          </a:p>
        </p:txBody>
      </p:sp>
      <p:sp>
        <p:nvSpPr>
          <p:cNvPr id="4" name="">
            <a:extLst xmlns:a="http://schemas.openxmlformats.org/drawingml/2006/main">
              <a:ext uri="{FF2B5EF4-FFF2-40B4-BE49-F238E27FC236}">
                <a16:creationId xmlns:a16="http://schemas.microsoft.com/office/drawing/2014/main" id="{A067C151-53BE-4525-A1F6-0075BF57996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B027F73B-95C4-44AC-A0C7-E0C4E296AA64}"/>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56</a:t>
            </a:r>
          </a:p>
        </p:txBody>
      </p:sp>
      <p:sp>
        <p:nvSpPr>
          <p:cNvPr id="6" name="">
            <a:extLst xmlns:a="http://schemas.openxmlformats.org/drawingml/2006/main">
              <a:ext uri="{FF2B5EF4-FFF2-40B4-BE49-F238E27FC236}">
                <a16:creationId xmlns:a16="http://schemas.microsoft.com/office/drawing/2014/main" id="{FDF6B7C6-4C17-4E6A-A111-5D6ACE28F27E}"/>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71DFF766-1B8D-4BAC-A08C-FCEC1213E7CE}"/>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背景：実データには連続値と、順序カテゴリ、欠損が混在する。</a:t>
            </a:r>
          </a:p>
        </p:txBody>
      </p:sp>
      <p:sp>
        <p:nvSpPr>
          <p:cNvPr id="8" name="">
            <a:extLst xmlns:a="http://schemas.openxmlformats.org/drawingml/2006/main">
              <a:ext uri="{FF2B5EF4-FFF2-40B4-BE49-F238E27FC236}">
                <a16:creationId xmlns:a16="http://schemas.microsoft.com/office/drawing/2014/main" id="{B2F41006-D49A-463A-B432-E9D0DBE447B1}"/>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7C4F6B41-1355-4CFA-8999-16B8F95FCD96}"/>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手法：各型を潜在正規の値／区間として扱い、EMで依存を推定。</a:t>
            </a:r>
          </a:p>
        </p:txBody>
      </p:sp>
      <p:sp>
        <p:nvSpPr>
          <p:cNvPr id="10" name="">
            <a:extLst xmlns:a="http://schemas.openxmlformats.org/drawingml/2006/main">
              <a:ext uri="{FF2B5EF4-FFF2-40B4-BE49-F238E27FC236}">
                <a16:creationId xmlns:a16="http://schemas.microsoft.com/office/drawing/2014/main" id="{66AB91A0-1303-4272-A2FE-C4249AE563A2}"/>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B972A31-E6BF-4539-A2D9-6CE19E305D96}"/>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目的：観測値を条件に、欠損値を補う。</a:t>
            </a:r>
          </a:p>
        </p:txBody>
      </p:sp>
      <p:sp>
        <p:nvSpPr>
          <p:cNvPr id="12" name="">
            <a:extLst xmlns:a="http://schemas.openxmlformats.org/drawingml/2006/main">
              <a:ext uri="{FF2B5EF4-FFF2-40B4-BE49-F238E27FC236}">
                <a16:creationId xmlns:a16="http://schemas.microsoft.com/office/drawing/2014/main" id="{C6F9DD87-A439-4866-8769-07D85AEB75FE}"/>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3C7F51D3-310A-4D14-A149-A47905F00790}"/>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本研究：条件付けと型の扱いを参考にし、補完から拡張へつなぐ。</a:t>
            </a:r>
          </a:p>
        </p:txBody>
      </p:sp>
      <p:sp>
        <p:nvSpPr>
          <p:cNvPr id="14" name="">
            <a:extLst xmlns:a="http://schemas.openxmlformats.org/drawingml/2006/main">
              <a:ext uri="{FF2B5EF4-FFF2-40B4-BE49-F238E27FC236}">
                <a16:creationId xmlns:a16="http://schemas.microsoft.com/office/drawing/2014/main" id="{5022ACAB-4B4A-434D-86ED-E8A7CF655FC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B5B388-6438-44DC-88AF-967881AC966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接続できるのは生成の設計。欠損補完の結果は、拡張の効果の証明ではない</a:t>
            </a:r>
          </a:p>
        </p:txBody>
      </p:sp>
    </p:spTree>
    <p:extLst>
      <p:ext uri="{BB962C8B-B14F-4D97-AF65-F5344CB8AC3E}">
        <p14:creationId xmlns:p14="http://schemas.microsoft.com/office/powerpoint/2010/main" val="125670060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21E136-87EE-4EE6-B1A7-EBF1490DC09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補足：説明可能性の研究との接続</a:t>
            </a:r>
          </a:p>
        </p:txBody>
      </p:sp>
      <p:sp>
        <p:nvSpPr>
          <p:cNvPr id="2" name="">
            <a:extLst xmlns:a="http://schemas.openxmlformats.org/drawingml/2006/main">
              <a:ext uri="{FF2B5EF4-FFF2-40B4-BE49-F238E27FC236}">
                <a16:creationId xmlns:a16="http://schemas.microsoft.com/office/drawing/2014/main" id="{1C7A2142-F718-4A8C-8E76-41A607612D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205FC4-07F6-4B31-B373-DFCAA9C765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Aas, Jullum &amp; Løland (2021)：依存を考慮したShapley値の近似。</a:t>
            </a:r>
          </a:p>
        </p:txBody>
      </p:sp>
      <p:sp>
        <p:nvSpPr>
          <p:cNvPr id="4" name="">
            <a:extLst xmlns:a="http://schemas.openxmlformats.org/drawingml/2006/main">
              <a:ext uri="{FF2B5EF4-FFF2-40B4-BE49-F238E27FC236}">
                <a16:creationId xmlns:a16="http://schemas.microsoft.com/office/drawing/2014/main" id="{7B8B123C-086C-4832-B2A2-02F424B6005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補足・先行研究</a:t>
            </a:r>
          </a:p>
        </p:txBody>
      </p:sp>
      <p:sp>
        <p:nvSpPr>
          <p:cNvPr id="5" name="">
            <a:extLst xmlns:a="http://schemas.openxmlformats.org/drawingml/2006/main">
              <a:ext uri="{FF2B5EF4-FFF2-40B4-BE49-F238E27FC236}">
                <a16:creationId xmlns:a16="http://schemas.microsoft.com/office/drawing/2014/main" id="{5A26F8B9-2F14-4283-B1DA-8F488FFC46D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57</a:t>
            </a:r>
          </a:p>
        </p:txBody>
      </p:sp>
      <p:sp>
        <p:nvSpPr>
          <p:cNvPr id="6" name="">
            <a:extLst xmlns:a="http://schemas.openxmlformats.org/drawingml/2006/main">
              <a:ext uri="{FF2B5EF4-FFF2-40B4-BE49-F238E27FC236}">
                <a16:creationId xmlns:a16="http://schemas.microsoft.com/office/drawing/2014/main" id="{593977ED-ADD7-4E65-9787-09E1BA65174B}"/>
              </a:ext>
            </a:extLst>
          </p:cNvPr>
          <p:cNvSpPr>
            <a:spLocks xmlns:a="http://schemas.openxmlformats.org/drawingml/2006/main" noGrp="1"/>
          </p:cNvSpPr>
          <p:nvPr/>
        </p:nvSpPr>
        <p:spPr>
          <a:xfrm xmlns:a="http://schemas.openxmlformats.org/drawingml/2006/main">
            <a:off x="552450" y="194310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52709484-E909-4834-8AA1-C75C9F7BA129}"/>
              </a:ext>
            </a:extLst>
          </p:cNvPr>
          <p:cNvSpPr>
            <a:spLocks xmlns:a="http://schemas.openxmlformats.org/drawingml/2006/main" noGrp="1"/>
          </p:cNvSpPr>
          <p:nvPr/>
        </p:nvSpPr>
        <p:spPr>
          <a:xfrm xmlns:a="http://schemas.openxmlformats.org/drawingml/2006/main">
            <a:off x="1257300" y="194310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背景：一部特徴を固定し、残りを無条件に取ると、不自然な行を作り得る。</a:t>
            </a:r>
          </a:p>
        </p:txBody>
      </p:sp>
      <p:sp>
        <p:nvSpPr>
          <p:cNvPr id="8" name="">
            <a:extLst xmlns:a="http://schemas.openxmlformats.org/drawingml/2006/main">
              <a:ext uri="{FF2B5EF4-FFF2-40B4-BE49-F238E27FC236}">
                <a16:creationId xmlns:a16="http://schemas.microsoft.com/office/drawing/2014/main" id="{0CF8DF41-B21B-45D2-93F0-67EA81CC06C6}"/>
              </a:ext>
            </a:extLst>
          </p:cNvPr>
          <p:cNvSpPr>
            <a:spLocks xmlns:a="http://schemas.openxmlformats.org/drawingml/2006/main" noGrp="1"/>
          </p:cNvSpPr>
          <p:nvPr/>
        </p:nvSpPr>
        <p:spPr>
          <a:xfrm xmlns:a="http://schemas.openxmlformats.org/drawingml/2006/main">
            <a:off x="552450" y="275272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B3D65535-5E99-47B1-9ECD-89C2B2E54A85}"/>
              </a:ext>
            </a:extLst>
          </p:cNvPr>
          <p:cNvSpPr>
            <a:spLocks xmlns:a="http://schemas.openxmlformats.org/drawingml/2006/main" noGrp="1"/>
          </p:cNvSpPr>
          <p:nvPr/>
        </p:nvSpPr>
        <p:spPr>
          <a:xfrm xmlns:a="http://schemas.openxmlformats.org/drawingml/2006/main">
            <a:off x="1257300" y="275272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手法：条件付き分布をGaussian / copula / empirical等で近似。</a:t>
            </a:r>
          </a:p>
        </p:txBody>
      </p:sp>
      <p:sp>
        <p:nvSpPr>
          <p:cNvPr id="10" name="">
            <a:extLst xmlns:a="http://schemas.openxmlformats.org/drawingml/2006/main">
              <a:ext uri="{FF2B5EF4-FFF2-40B4-BE49-F238E27FC236}">
                <a16:creationId xmlns:a16="http://schemas.microsoft.com/office/drawing/2014/main" id="{A1D25637-F352-4CD1-B02C-15CEDEAE1EE5}"/>
              </a:ext>
            </a:extLst>
          </p:cNvPr>
          <p:cNvSpPr>
            <a:spLocks xmlns:a="http://schemas.openxmlformats.org/drawingml/2006/main" noGrp="1"/>
          </p:cNvSpPr>
          <p:nvPr/>
        </p:nvSpPr>
        <p:spPr>
          <a:xfrm xmlns:a="http://schemas.openxmlformats.org/drawingml/2006/main">
            <a:off x="552450" y="3562350"/>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1CC510E8-67F1-404C-A953-B26D90A857BA}"/>
              </a:ext>
            </a:extLst>
          </p:cNvPr>
          <p:cNvSpPr>
            <a:spLocks xmlns:a="http://schemas.openxmlformats.org/drawingml/2006/main" noGrp="1"/>
          </p:cNvSpPr>
          <p:nvPr/>
        </p:nvSpPr>
        <p:spPr>
          <a:xfrm xmlns:a="http://schemas.openxmlformats.org/drawingml/2006/main">
            <a:off x="1257300" y="3562350"/>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目的：特徴依存を考慮した、個別予測の説明を計算する。</a:t>
            </a:r>
          </a:p>
        </p:txBody>
      </p:sp>
      <p:sp>
        <p:nvSpPr>
          <p:cNvPr id="12" name="">
            <a:extLst xmlns:a="http://schemas.openxmlformats.org/drawingml/2006/main">
              <a:ext uri="{FF2B5EF4-FFF2-40B4-BE49-F238E27FC236}">
                <a16:creationId xmlns:a16="http://schemas.microsoft.com/office/drawing/2014/main" id="{3A63E023-0F05-4DF2-8503-B91DF5F153F4}"/>
              </a:ext>
            </a:extLst>
          </p:cNvPr>
          <p:cNvSpPr>
            <a:spLocks xmlns:a="http://schemas.openxmlformats.org/drawingml/2006/main" noGrp="1"/>
          </p:cNvSpPr>
          <p:nvPr/>
        </p:nvSpPr>
        <p:spPr>
          <a:xfrm xmlns:a="http://schemas.openxmlformats.org/drawingml/2006/main">
            <a:off x="552450" y="4371975"/>
            <a:ext cx="47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4</a:t>
            </a:r>
          </a:p>
        </p:txBody>
      </p:sp>
      <p:sp>
        <p:nvSpPr>
          <p:cNvPr id="13" name="">
            <a:extLst xmlns:a="http://schemas.openxmlformats.org/drawingml/2006/main">
              <a:ext uri="{FF2B5EF4-FFF2-40B4-BE49-F238E27FC236}">
                <a16:creationId xmlns:a16="http://schemas.microsoft.com/office/drawing/2014/main" id="{5B787BCA-3BF8-415F-904D-7CDB022A8790}"/>
              </a:ext>
            </a:extLst>
          </p:cNvPr>
          <p:cNvSpPr>
            <a:spLocks xmlns:a="http://schemas.openxmlformats.org/drawingml/2006/main" noGrp="1"/>
          </p:cNvSpPr>
          <p:nvPr/>
        </p:nvSpPr>
        <p:spPr>
          <a:xfrm xmlns:a="http://schemas.openxmlformats.org/drawingml/2006/main">
            <a:off x="1257300" y="4371975"/>
            <a:ext cx="10191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本研究：残す列を条件に生成する発想を、学習用拡張へ移す。</a:t>
            </a:r>
          </a:p>
        </p:txBody>
      </p:sp>
      <p:sp>
        <p:nvSpPr>
          <p:cNvPr id="14" name="">
            <a:extLst xmlns:a="http://schemas.openxmlformats.org/drawingml/2006/main">
              <a:ext uri="{FF2B5EF4-FFF2-40B4-BE49-F238E27FC236}">
                <a16:creationId xmlns:a16="http://schemas.microsoft.com/office/drawing/2014/main" id="{0C93DF83-0B2B-438E-ABE3-9147B79E3E6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9A1443-7628-4A77-87E9-7812D0CF6D3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同じ条件付き生成でも、目的と評価指標は異なる</a:t>
            </a:r>
          </a:p>
        </p:txBody>
      </p:sp>
    </p:spTree>
    <p:extLst>
      <p:ext uri="{BB962C8B-B14F-4D97-AF65-F5344CB8AC3E}">
        <p14:creationId xmlns:p14="http://schemas.microsoft.com/office/powerpoint/2010/main" val="156540201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DCA18F-AEE7-42B9-8C8F-E3C8FD23DE0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補足：先行研究2との比較で言える範囲</a:t>
            </a:r>
          </a:p>
        </p:txBody>
      </p:sp>
      <p:sp>
        <p:nvSpPr>
          <p:cNvPr id="2" name="">
            <a:extLst xmlns:a="http://schemas.openxmlformats.org/drawingml/2006/main">
              <a:ext uri="{FF2B5EF4-FFF2-40B4-BE49-F238E27FC236}">
                <a16:creationId xmlns:a16="http://schemas.microsoft.com/office/drawing/2014/main" id="{9675D384-CE7B-4C88-9A22-A78EAD99FAC7}"/>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7BE1A1-0CC7-4FB1-9A20-A017E1196D6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クラス条件付き置換と、特徴依存の条件付き置換は条件が違う。</a:t>
            </a:r>
          </a:p>
        </p:txBody>
      </p:sp>
      <p:sp>
        <p:nvSpPr>
          <p:cNvPr id="4" name="">
            <a:extLst xmlns:a="http://schemas.openxmlformats.org/drawingml/2006/main">
              <a:ext uri="{FF2B5EF4-FFF2-40B4-BE49-F238E27FC236}">
                <a16:creationId xmlns:a16="http://schemas.microsoft.com/office/drawing/2014/main" id="{33951BC7-4361-46D5-B1B2-7509A714749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00F17EA7-CED3-4DC9-81E5-4D99375D468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58</a:t>
            </a:r>
          </a:p>
        </p:txBody>
      </p:sp>
      <p:graphicFrame>
        <p:nvGraphicFramePr>
          <p:cNvPr id="14" name=""/>
          <p:cNvGraphicFramePr/>
          <p:nvPr/>
        </p:nvGraphicFramePr>
        <p:xfrm>
          <a:off xmlns:a="http://schemas.openxmlformats.org/drawingml/2006/main" x="514350" y="1933575"/>
          <a:ext xmlns:a="http://schemas.openxmlformats.org/drawingml/2006/main" cx="11163300" cy="3333750"/>
        </p:xfrm>
        <a:graphic xmlns:a="http://schemas.openxmlformats.org/drawingml/2006/main">
          <a:graphicData uri="http://schemas.openxmlformats.org/drawingml/2006/table">
            <a:tbl>
              <a:tblPr/>
              <a:tblGrid>
                <a:gridCol w="3721100"/>
                <a:gridCol w="3721100"/>
                <a:gridCol w="3721100"/>
              </a:tblGrid>
              <a:tr h="666750">
                <a:tc>
                  <a:txBody>
                    <a:bodyPr/>
                    <a:lstStyle/>
                    <a:p>
                      <a:pPr algn="ctr"/>
                      <a:r>
                        <a:rPr sz="1800" b="1">
                          <a:solidFill>
                            <a:srgbClr val="2E7D5B"/>
                          </a:solidFill>
                          <a:latin typeface="Noto Sans JP"/>
                          <a:ea typeface="Noto Sans JP"/>
                          <a:cs typeface="Noto Sans JP"/>
                        </a:rPr>
                        <a:t>観点</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クラス条件付き法</a:t>
                      </a:r>
                    </a:p>
                  </a:txBody>
                  <a:tcPr marL="91440" marR="91440" marT="45720" marB="45720" anchor="ctr">
                    <a:solidFill>
                      <a:srgbClr val="E7F2EC"/>
                    </a:solidFill>
                  </a:tcPr>
                </a:tc>
                <a:tc>
                  <a:txBody>
                    <a:bodyPr/>
                    <a:lstStyle/>
                    <a:p>
                      <a:pPr algn="ctr"/>
                      <a:r>
                        <a:rPr sz="1800" b="1">
                          <a:solidFill>
                            <a:srgbClr val="2E7D5B"/>
                          </a:solidFill>
                          <a:latin typeface="Noto Sans JP"/>
                          <a:ea typeface="Noto Sans JP"/>
                          <a:cs typeface="Noto Sans JP"/>
                        </a:rPr>
                        <a:t>今回のGaussian copula</a:t>
                      </a:r>
                    </a:p>
                  </a:txBody>
                  <a:tcPr marL="91440" marR="91440" marT="45720" marB="45720" anchor="ctr">
                    <a:solidFill>
                      <a:srgbClr val="E7F2EC"/>
                    </a:solidFill>
                  </a:tcPr>
                </a:tc>
              </a:tr>
              <a:tr h="666750">
                <a:tc>
                  <a:txBody>
                    <a:bodyPr/>
                    <a:lstStyle/>
                    <a:p>
                      <a:pPr algn="ctr"/>
                      <a:r>
                        <a:rPr sz="1800" b="0">
                          <a:solidFill>
                            <a:srgbClr val="222222"/>
                          </a:solidFill>
                          <a:latin typeface="Noto Sans JP"/>
                          <a:ea typeface="Noto Sans JP"/>
                          <a:cs typeface="Noto Sans JP"/>
                        </a:rPr>
                        <a:t>条件</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真／擬似クラス</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残した特徴の値</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強み</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同じクラス内の候補を使う</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特徴間の依存を使える</a:t>
                      </a:r>
                    </a:p>
                  </a:txBody>
                  <a:tcPr marL="91440" marR="91440" marT="45720" marB="45720" anchor="ctr">
                    <a:solidFill>
                      <a:srgbClr val="F6F6F6"/>
                    </a:solidFill>
                  </a:tcPr>
                </a:tc>
              </a:tr>
              <a:tr h="666750">
                <a:tc>
                  <a:txBody>
                    <a:bodyPr/>
                    <a:lstStyle/>
                    <a:p>
                      <a:pPr algn="ctr"/>
                      <a:r>
                        <a:rPr sz="1800" b="0">
                          <a:solidFill>
                            <a:srgbClr val="222222"/>
                          </a:solidFill>
                          <a:latin typeface="Noto Sans JP"/>
                          <a:ea typeface="Noto Sans JP"/>
                          <a:cs typeface="Noto Sans JP"/>
                        </a:rPr>
                        <a:t>課題</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擬似クラス誤りの影響</a:t>
                      </a:r>
                    </a:p>
                  </a:txBody>
                  <a:tcPr marL="91440" marR="91440" marT="45720" marB="45720" anchor="ctr">
                    <a:solidFill>
                      <a:srgbClr val="FFFFFF"/>
                    </a:solidFill>
                  </a:tcPr>
                </a:tc>
                <a:tc>
                  <a:txBody>
                    <a:bodyPr/>
                    <a:lstStyle/>
                    <a:p>
                      <a:pPr algn="ctr"/>
                      <a:r>
                        <a:rPr sz="1800" b="0">
                          <a:solidFill>
                            <a:srgbClr val="222222"/>
                          </a:solidFill>
                          <a:latin typeface="Noto Sans JP"/>
                          <a:ea typeface="Noto Sans JP"/>
                          <a:cs typeface="Noto Sans JP"/>
                        </a:rPr>
                        <a:t>全体分布からの生成はクラス保持を保証しない</a:t>
                      </a:r>
                    </a:p>
                  </a:txBody>
                  <a:tcPr marL="91440" marR="91440" marT="45720" marB="45720" anchor="ctr">
                    <a:solidFill>
                      <a:srgbClr val="FFFFFF"/>
                    </a:solidFill>
                  </a:tcPr>
                </a:tc>
              </a:tr>
              <a:tr h="666750">
                <a:tc>
                  <a:txBody>
                    <a:bodyPr/>
                    <a:lstStyle/>
                    <a:p>
                      <a:pPr algn="ctr"/>
                      <a:r>
                        <a:rPr sz="1800" b="0">
                          <a:solidFill>
                            <a:srgbClr val="222222"/>
                          </a:solidFill>
                          <a:latin typeface="Noto Sans JP"/>
                          <a:ea typeface="Noto Sans JP"/>
                          <a:cs typeface="Noto Sans JP"/>
                        </a:rPr>
                        <a:t>対照の解釈</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目的関数・前学習も異なる</a:t>
                      </a:r>
                    </a:p>
                  </a:txBody>
                  <a:tcPr marL="91440" marR="91440" marT="45720" marB="45720" anchor="ctr">
                    <a:solidFill>
                      <a:srgbClr val="F6F6F6"/>
                    </a:solidFill>
                  </a:tcPr>
                </a:tc>
                <a:tc>
                  <a:txBody>
                    <a:bodyPr/>
                    <a:lstStyle/>
                    <a:p>
                      <a:pPr algn="ctr"/>
                      <a:r>
                        <a:rPr sz="1800" b="0">
                          <a:solidFill>
                            <a:srgbClr val="222222"/>
                          </a:solidFill>
                          <a:latin typeface="Noto Sans JP"/>
                          <a:ea typeface="Noto Sans JP"/>
                          <a:cs typeface="Noto Sans JP"/>
                        </a:rPr>
                        <a:t>置換器の効果はVIME内で分離する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09ED2CE1-4A21-453C-A5A8-C95247E0261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42C57BA-AE90-45D4-A74B-5CA96F9CCBD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「擬似ラベル不要」と「クラスを保つ」は、同じ意味ではない</a:t>
            </a:r>
          </a:p>
        </p:txBody>
      </p:sp>
    </p:spTree>
    <p:extLst>
      <p:ext uri="{BB962C8B-B14F-4D97-AF65-F5344CB8AC3E}">
        <p14:creationId xmlns:p14="http://schemas.microsoft.com/office/powerpoint/2010/main" val="129322258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5A1B0-1475-4AFC-82B0-62770483F85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補足：評価指標の意味</a:t>
            </a:r>
          </a:p>
        </p:txBody>
      </p:sp>
      <p:sp>
        <p:nvSpPr>
          <p:cNvPr id="2" name="">
            <a:extLst xmlns:a="http://schemas.openxmlformats.org/drawingml/2006/main">
              <a:ext uri="{FF2B5EF4-FFF2-40B4-BE49-F238E27FC236}">
                <a16:creationId xmlns:a16="http://schemas.microsoft.com/office/drawing/2014/main" id="{EEA19CFD-5E8E-42E2-B4E8-E32D3A3A76C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A214E-3AC0-4E5E-AB91-35F37AB3330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クラス数・不均衡・確率の順位を分けて評価する。</a:t>
            </a:r>
          </a:p>
        </p:txBody>
      </p:sp>
      <p:sp>
        <p:nvSpPr>
          <p:cNvPr id="4" name="">
            <a:extLst xmlns:a="http://schemas.openxmlformats.org/drawingml/2006/main">
              <a:ext uri="{FF2B5EF4-FFF2-40B4-BE49-F238E27FC236}">
                <a16:creationId xmlns:a16="http://schemas.microsoft.com/office/drawing/2014/main" id="{93279FE7-892D-4254-9854-FF52E4FB6C1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AB17C63E-8B89-4A6E-AD03-E5DC3CC022AC}"/>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59</a:t>
            </a:r>
          </a:p>
        </p:txBody>
      </p:sp>
      <p:graphicFrame>
        <p:nvGraphicFramePr>
          <p:cNvPr id="14" name=""/>
          <p:cNvGraphicFramePr/>
          <p:nvPr/>
        </p:nvGraphicFramePr>
        <p:xfrm>
          <a:off xmlns:a="http://schemas.openxmlformats.org/drawingml/2006/main" x="514350" y="2019300"/>
          <a:ext xmlns:a="http://schemas.openxmlformats.org/drawingml/2006/main" cx="11163300" cy="2847975"/>
        </p:xfrm>
        <a:graphic xmlns:a="http://schemas.openxmlformats.org/drawingml/2006/main">
          <a:graphicData uri="http://schemas.openxmlformats.org/drawingml/2006/table">
            <a:tbl>
              <a:tblPr/>
              <a:tblGrid>
                <a:gridCol w="2667000"/>
                <a:gridCol w="8496300"/>
              </a:tblGrid>
              <a:tr h="569595">
                <a:tc>
                  <a:txBody>
                    <a:bodyPr/>
                    <a:lstStyle/>
                    <a:p>
                      <a:pPr algn="ctr"/>
                      <a:r>
                        <a:rPr sz="2025" b="1">
                          <a:solidFill>
                            <a:srgbClr val="2E7D5B"/>
                          </a:solidFill>
                          <a:latin typeface="Noto Sans JP"/>
                          <a:ea typeface="Noto Sans JP"/>
                          <a:cs typeface="Noto Sans JP"/>
                        </a:rPr>
                        <a:t>指標</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何を見るか</a:t>
                      </a:r>
                    </a:p>
                  </a:txBody>
                  <a:tcPr marL="91440" marR="91440" marT="45720" marB="45720" anchor="ctr">
                    <a:solidFill>
                      <a:srgbClr val="E7F2EC"/>
                    </a:solidFill>
                  </a:tcPr>
                </a:tc>
              </a:tr>
              <a:tr h="569595">
                <a:tc>
                  <a:txBody>
                    <a:bodyPr/>
                    <a:lstStyle/>
                    <a:p>
                      <a:pPr algn="ctr"/>
                      <a:r>
                        <a:rPr sz="2025" b="0">
                          <a:solidFill>
                            <a:srgbClr val="222222"/>
                          </a:solidFill>
                          <a:latin typeface="Noto Sans JP"/>
                          <a:ea typeface="Noto Sans JP"/>
                          <a:cs typeface="Noto Sans JP"/>
                        </a:rPr>
                        <a:t>ROC-AUC（主指標）</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予測スコアで正例を負例より高く並べられるか</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Balanced 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各クラスの再現率を同じ重みで平均</a:t>
                      </a:r>
                    </a:p>
                  </a:txBody>
                  <a:tcPr marL="91440" marR="91440" marT="45720" marB="45720" anchor="ctr">
                    <a:solidFill>
                      <a:srgbClr val="F6F6F6"/>
                    </a:solidFill>
                  </a:tcPr>
                </a:tc>
              </a:tr>
              <a:tr h="569595">
                <a:tc>
                  <a:txBody>
                    <a:bodyPr/>
                    <a:lstStyle/>
                    <a:p>
                      <a:pPr algn="ctr"/>
                      <a:r>
                        <a:rPr sz="2025" b="0">
                          <a:solidFill>
                            <a:srgbClr val="222222"/>
                          </a:solidFill>
                          <a:latin typeface="Noto Sans JP"/>
                          <a:ea typeface="Noto Sans JP"/>
                          <a:cs typeface="Noto Sans JP"/>
                        </a:rPr>
                        <a:t>Macro-F1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各クラスの適合率と再現率のバランスを平均</a:t>
                      </a:r>
                    </a:p>
                  </a:txBody>
                  <a:tcPr marL="91440" marR="91440" marT="45720" marB="45720" anchor="ctr">
                    <a:solidFill>
                      <a:srgbClr val="FFFFFF"/>
                    </a:solidFill>
                  </a:tcPr>
                </a:tc>
              </a:tr>
              <a:tr h="569595">
                <a:tc>
                  <a:txBody>
                    <a:bodyPr/>
                    <a:lstStyle/>
                    <a:p>
                      <a:pPr algn="ctr"/>
                      <a:r>
                        <a:rPr sz="2025" b="0">
                          <a:solidFill>
                            <a:srgbClr val="222222"/>
                          </a:solidFill>
                          <a:latin typeface="Noto Sans JP"/>
                          <a:ea typeface="Noto Sans JP"/>
                          <a:cs typeface="Noto Sans JP"/>
                        </a:rPr>
                        <a:t>Accuracy</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全体の正解割合。多数クラスの影響を受ける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74600FDD-C61B-41DC-A48C-2ED5C051783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C30945D-02CA-420A-A091-06C46EB6E47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AUCの小さな平均差だけで、拡張の有用性を結論しない</a:t>
            </a:r>
          </a:p>
        </p:txBody>
      </p:sp>
    </p:spTree>
    <p:extLst>
      <p:ext uri="{BB962C8B-B14F-4D97-AF65-F5344CB8AC3E}">
        <p14:creationId xmlns:p14="http://schemas.microsoft.com/office/powerpoint/2010/main" val="17119050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CEF892-DBDF-4376-8F17-6004796DD02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補足：保存結果の追加対照</a:t>
            </a:r>
          </a:p>
        </p:txBody>
      </p:sp>
      <p:sp>
        <p:nvSpPr>
          <p:cNvPr id="2" name="">
            <a:extLst xmlns:a="http://schemas.openxmlformats.org/drawingml/2006/main">
              <a:ext uri="{FF2B5EF4-FFF2-40B4-BE49-F238E27FC236}">
                <a16:creationId xmlns:a16="http://schemas.microsoft.com/office/drawing/2014/main" id="{0742F6B4-3B35-4706-AF35-F818259F2E0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569D6A-64A0-4921-B158-D1521C96F2DF}"/>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公式クラス条件付き対照学習は、ランダムマスク設定の参考比較。</a:t>
            </a:r>
          </a:p>
        </p:txBody>
      </p:sp>
      <p:sp>
        <p:nvSpPr>
          <p:cNvPr id="4" name="">
            <a:extLst xmlns:a="http://schemas.openxmlformats.org/drawingml/2006/main">
              <a:ext uri="{FF2B5EF4-FFF2-40B4-BE49-F238E27FC236}">
                <a16:creationId xmlns:a16="http://schemas.microsoft.com/office/drawing/2014/main" id="{9E5E2CF5-6671-4E73-A3C7-88D1AE7145C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補足・実験</a:t>
            </a:r>
          </a:p>
        </p:txBody>
      </p:sp>
      <p:sp>
        <p:nvSpPr>
          <p:cNvPr id="5" name="">
            <a:extLst xmlns:a="http://schemas.openxmlformats.org/drawingml/2006/main">
              <a:ext uri="{FF2B5EF4-FFF2-40B4-BE49-F238E27FC236}">
                <a16:creationId xmlns:a16="http://schemas.microsoft.com/office/drawing/2014/main" id="{EEF1C547-4203-4ED3-96D7-312661E1190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60</a:t>
            </a:r>
          </a:p>
        </p:txBody>
      </p:sp>
      <p:graphicFrame>
        <p:nvGraphicFramePr>
          <p:cNvPr id="15" name=""/>
          <p:cNvGraphicFramePr/>
          <p:nvPr/>
        </p:nvGraphicFramePr>
        <p:xfrm>
          <a:off xmlns:a="http://schemas.openxmlformats.org/drawingml/2006/main" x="514350" y="2085975"/>
          <a:ext xmlns:a="http://schemas.openxmlformats.org/drawingml/2006/main" cx="11163300" cy="2390775"/>
        </p:xfrm>
        <a:graphic xmlns:a="http://schemas.openxmlformats.org/drawingml/2006/main">
          <a:graphicData uri="http://schemas.openxmlformats.org/drawingml/2006/table">
            <a:tbl>
              <a:tblPr/>
              <a:tblGrid>
                <a:gridCol w="2790825"/>
                <a:gridCol w="2790825"/>
                <a:gridCol w="2790825"/>
                <a:gridCol w="2790825"/>
              </a:tblGrid>
              <a:tr h="796925">
                <a:tc>
                  <a:txBody>
                    <a:bodyPr/>
                    <a:lstStyle/>
                    <a:p>
                      <a:pPr algn="ctr"/>
                      <a:r>
                        <a:rPr sz="1875" b="1">
                          <a:solidFill>
                            <a:srgbClr val="2E7D5B"/>
                          </a:solidFill>
                          <a:latin typeface="Noto Sans JP"/>
                          <a:ea typeface="Noto Sans JP"/>
                          <a:cs typeface="Noto Sans JP"/>
                        </a:rPr>
                        <a:t>データ / AUC</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VIME列置換</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VIME copula</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クラス条件付き対照学習</a:t>
                      </a:r>
                    </a:p>
                  </a:txBody>
                  <a:tcPr marL="91440" marR="91440" marT="45720" marB="45720" anchor="ctr">
                    <a:solidFill>
                      <a:srgbClr val="E7F2EC"/>
                    </a:solidFill>
                  </a:tcPr>
                </a:tc>
              </a:tr>
              <a:tr h="796925">
                <a:tc>
                  <a:txBody>
                    <a:bodyPr/>
                    <a:lstStyle/>
                    <a:p>
                      <a:pPr algn="ctr"/>
                      <a:r>
                        <a:rPr sz="1875"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0.973 ± 0.017</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0.827 ± 0.084</a:t>
                      </a:r>
                    </a:p>
                  </a:txBody>
                  <a:tcPr marL="91440" marR="91440" marT="45720" marB="45720" anchor="ctr">
                    <a:solidFill>
                      <a:srgbClr val="FFFFFF"/>
                    </a:solidFill>
                  </a:tcPr>
                </a:tc>
              </a:tr>
              <a:tr h="796925">
                <a:tc>
                  <a:txBody>
                    <a:bodyPr/>
                    <a:lstStyle/>
                    <a:p>
                      <a:pPr algn="ctr"/>
                      <a:r>
                        <a:rPr sz="1875"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0.847 ± 0.130</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0.890 ± 0.077</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56D9E2C2-F7F3-4C2A-B538-2381B4E28F10}"/>
              </a:ext>
            </a:extLst>
          </p:cNvPr>
          <p:cNvSpPr>
            <a:spLocks xmlns:a="http://schemas.openxmlformats.org/drawingml/2006/main" noGrp="1"/>
          </p:cNvSpPr>
          <p:nvPr/>
        </p:nvSpPr>
        <p:spPr>
          <a:xfrm xmlns:a="http://schemas.openxmlformats.org/drawingml/2006/main">
            <a:off x="619125" y="4781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E0562B"/>
                </a:solidFill>
                <a:latin typeface="Noto Sans JP"/>
                <a:ea typeface="Noto Sans JP"/>
                <a:cs typeface="Noto Sans JP"/>
              </a:defRPr>
            </a:pPr>
            <a:r>
              <a:rPr sz="2175" b="1">
                <a:solidFill>
                  <a:srgbClr val="E0562B"/>
                </a:solidFill>
                <a:latin typeface="Noto Sans JP"/>
                <a:ea typeface="Noto Sans JP"/>
                <a:cs typeface="Noto Sans JP"/>
              </a:rPr>
              <a:t>条件付き生成が一律に優れる、という結果ではない。</a:t>
            </a:r>
          </a:p>
        </p:txBody>
      </p:sp>
      <p:sp>
        <p:nvSpPr>
          <p:cNvPr id="8" name="">
            <a:extLst xmlns:a="http://schemas.openxmlformats.org/drawingml/2006/main">
              <a:ext uri="{FF2B5EF4-FFF2-40B4-BE49-F238E27FC236}">
                <a16:creationId xmlns:a16="http://schemas.microsoft.com/office/drawing/2014/main" id="{B747C5FA-6443-4707-9C7A-6DC8D14EA3E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E89EB6-980B-470D-8360-E8B7D628A6C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第三法との差には、置換器以外の違いも含まれる</a:t>
            </a:r>
          </a:p>
        </p:txBody>
      </p:sp>
    </p:spTree>
    <p:extLst>
      <p:ext uri="{BB962C8B-B14F-4D97-AF65-F5344CB8AC3E}">
        <p14:creationId xmlns:p14="http://schemas.microsoft.com/office/powerpoint/2010/main" val="14222415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AE38E6-7549-4BF2-8383-70DF42B3F48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補足：研究で答える「なぜ？」</a:t>
            </a:r>
          </a:p>
        </p:txBody>
      </p:sp>
      <p:sp>
        <p:nvSpPr>
          <p:cNvPr id="2" name="">
            <a:extLst xmlns:a="http://schemas.openxmlformats.org/drawingml/2006/main">
              <a:ext uri="{FF2B5EF4-FFF2-40B4-BE49-F238E27FC236}">
                <a16:creationId xmlns:a16="http://schemas.microsoft.com/office/drawing/2014/main" id="{E6061C4A-BDAC-465F-84B8-8FAE2FB28E6D}"/>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023BD8-FBA9-4FC7-99B5-9C97D313765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意図と、現在の証拠を混同せずに答える。</a:t>
            </a:r>
          </a:p>
        </p:txBody>
      </p:sp>
      <p:sp>
        <p:nvSpPr>
          <p:cNvPr id="4" name="">
            <a:extLst xmlns:a="http://schemas.openxmlformats.org/drawingml/2006/main">
              <a:ext uri="{FF2B5EF4-FFF2-40B4-BE49-F238E27FC236}">
                <a16:creationId xmlns:a16="http://schemas.microsoft.com/office/drawing/2014/main" id="{6E71E913-C068-43B0-AE48-ACF27E6B293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補足・質疑</a:t>
            </a:r>
          </a:p>
        </p:txBody>
      </p:sp>
      <p:sp>
        <p:nvSpPr>
          <p:cNvPr id="5" name="">
            <a:extLst xmlns:a="http://schemas.openxmlformats.org/drawingml/2006/main">
              <a:ext uri="{FF2B5EF4-FFF2-40B4-BE49-F238E27FC236}">
                <a16:creationId xmlns:a16="http://schemas.microsoft.com/office/drawing/2014/main" id="{2CD1C368-8A68-4121-B398-411EF193E78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61</a:t>
            </a:r>
          </a:p>
        </p:txBody>
      </p:sp>
      <p:graphicFrame>
        <p:nvGraphicFramePr>
          <p:cNvPr id="14" name=""/>
          <p:cNvGraphicFramePr/>
          <p:nvPr/>
        </p:nvGraphicFramePr>
        <p:xfrm>
          <a:off xmlns:a="http://schemas.openxmlformats.org/drawingml/2006/main" x="514350" y="1981200"/>
          <a:ext xmlns:a="http://schemas.openxmlformats.org/drawingml/2006/main" cx="11163300" cy="3248025"/>
        </p:xfrm>
        <a:graphic xmlns:a="http://schemas.openxmlformats.org/drawingml/2006/main">
          <a:graphicData uri="http://schemas.openxmlformats.org/drawingml/2006/table">
            <a:tbl>
              <a:tblPr/>
              <a:tblGrid>
                <a:gridCol w="2667000"/>
                <a:gridCol w="8496300"/>
              </a:tblGrid>
              <a:tr h="649605">
                <a:tc>
                  <a:txBody>
                    <a:bodyPr/>
                    <a:lstStyle/>
                    <a:p>
                      <a:pPr algn="ctr"/>
                      <a:r>
                        <a:rPr sz="1875" b="1">
                          <a:solidFill>
                            <a:srgbClr val="2E7D5B"/>
                          </a:solidFill>
                          <a:latin typeface="Noto Sans JP"/>
                          <a:ea typeface="Noto Sans JP"/>
                          <a:cs typeface="Noto Sans JP"/>
                        </a:rPr>
                        <a:t>問い</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現時点の答え</a:t>
                      </a:r>
                    </a:p>
                  </a:txBody>
                  <a:tcPr marL="91440" marR="91440" marT="45720" marB="45720" anchor="ctr">
                    <a:solidFill>
                      <a:srgbClr val="E7F2EC"/>
                    </a:solidFill>
                  </a:tcPr>
                </a:tc>
              </a:tr>
              <a:tr h="649605">
                <a:tc>
                  <a:txBody>
                    <a:bodyPr/>
                    <a:lstStyle/>
                    <a:p>
                      <a:pPr algn="ctr"/>
                      <a:r>
                        <a:rPr sz="1875" b="0">
                          <a:solidFill>
                            <a:srgbClr val="222222"/>
                          </a:solidFill>
                          <a:latin typeface="Noto Sans JP"/>
                          <a:ea typeface="Noto Sans JP"/>
                          <a:cs typeface="Noto Sans JP"/>
                        </a:rPr>
                        <a:t>なぜコピュラ？</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周辺の形と依存を分け、観測列を条件に生成するため。</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なぜGaussian？</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多変量の条件付き分布が計算でき、比較を始めやすいため。</a:t>
                      </a:r>
                    </a:p>
                  </a:txBody>
                  <a:tcPr marL="91440" marR="91440" marT="45720" marB="45720" anchor="ctr">
                    <a:solidFill>
                      <a:srgbClr val="F6F6F6"/>
                    </a:solidFill>
                  </a:tcPr>
                </a:tc>
              </a:tr>
              <a:tr h="649605">
                <a:tc>
                  <a:txBody>
                    <a:bodyPr/>
                    <a:lstStyle/>
                    <a:p>
                      <a:pPr algn="ctr"/>
                      <a:r>
                        <a:rPr sz="1875" b="0">
                          <a:solidFill>
                            <a:srgbClr val="222222"/>
                          </a:solidFill>
                          <a:latin typeface="Noto Sans JP"/>
                          <a:ea typeface="Noto Sans JP"/>
                          <a:cs typeface="Noto Sans JP"/>
                        </a:rPr>
                        <a:t>なぜラベルなし？</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依存推定は特徴の組でできる。ただしラベル保持は別問題。</a:t>
                      </a:r>
                    </a:p>
                  </a:txBody>
                  <a:tcPr marL="91440" marR="91440" marT="45720" marB="45720" anchor="ctr">
                    <a:solidFill>
                      <a:srgbClr val="FFFFFF"/>
                    </a:solidFill>
                  </a:tcPr>
                </a:tc>
              </a:tr>
              <a:tr h="649605">
                <a:tc>
                  <a:txBody>
                    <a:bodyPr/>
                    <a:lstStyle/>
                    <a:p>
                      <a:pPr algn="ctr"/>
                      <a:r>
                        <a:rPr sz="1875" b="0">
                          <a:solidFill>
                            <a:srgbClr val="222222"/>
                          </a:solidFill>
                          <a:latin typeface="Noto Sans JP"/>
                          <a:ea typeface="Noto Sans JP"/>
                          <a:cs typeface="Noto Sans JP"/>
                        </a:rPr>
                        <a:t>なぜ性能がまだ不確か？</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少数データ・seed、モデルの仮定、拡張強度を検証中。</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CFEDDFCB-75F8-4F83-8591-A0DA05FBBCB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11A1DF-1500-467D-B763-00B3EB95222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教授・先輩に相談したい点：生成品質とクラス保持をどう評価するか</a:t>
            </a:r>
          </a:p>
        </p:txBody>
      </p:sp>
    </p:spTree>
    <p:extLst>
      <p:ext uri="{BB962C8B-B14F-4D97-AF65-F5344CB8AC3E}">
        <p14:creationId xmlns:p14="http://schemas.microsoft.com/office/powerpoint/2010/main" val="29666976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C5CA0C-3912-410A-8AA6-6CD0733667C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補足：裾依存係数の定義</a:t>
            </a:r>
          </a:p>
        </p:txBody>
      </p:sp>
      <p:sp>
        <p:nvSpPr>
          <p:cNvPr id="2" name="">
            <a:extLst xmlns:a="http://schemas.openxmlformats.org/drawingml/2006/main">
              <a:ext uri="{FF2B5EF4-FFF2-40B4-BE49-F238E27FC236}">
                <a16:creationId xmlns:a16="http://schemas.microsoft.com/office/drawing/2014/main" id="{9FF6CF81-55FF-43B4-919E-992993D9E28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E1C8D4-259D-43ED-B933-8F89DA6D77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極端な条件での確率を、端まで近づけた極限。</a:t>
            </a:r>
          </a:p>
        </p:txBody>
      </p:sp>
      <p:sp>
        <p:nvSpPr>
          <p:cNvPr id="4" name="">
            <a:extLst xmlns:a="http://schemas.openxmlformats.org/drawingml/2006/main">
              <a:ext uri="{FF2B5EF4-FFF2-40B4-BE49-F238E27FC236}">
                <a16:creationId xmlns:a16="http://schemas.microsoft.com/office/drawing/2014/main" id="{0BE3B7A7-5913-4DF3-B726-22AD6427D9B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補足・数学</a:t>
            </a:r>
          </a:p>
        </p:txBody>
      </p:sp>
      <p:sp>
        <p:nvSpPr>
          <p:cNvPr id="5" name="">
            <a:extLst xmlns:a="http://schemas.openxmlformats.org/drawingml/2006/main">
              <a:ext uri="{FF2B5EF4-FFF2-40B4-BE49-F238E27FC236}">
                <a16:creationId xmlns:a16="http://schemas.microsoft.com/office/drawing/2014/main" id="{F849D45A-F3F4-43EE-A2CB-E67D3A466CAD}"/>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62</a:t>
            </a:r>
          </a:p>
        </p:txBody>
      </p:sp>
      <p:sp>
        <p:nvSpPr>
          <p:cNvPr id="6" name="">
            <a:extLst xmlns:a="http://schemas.openxmlformats.org/drawingml/2006/main">
              <a:ext uri="{FF2B5EF4-FFF2-40B4-BE49-F238E27FC236}">
                <a16:creationId xmlns:a16="http://schemas.microsoft.com/office/drawing/2014/main" id="{A5F29417-866E-48FF-A1CF-191B6512D337}"/>
              </a:ext>
            </a:extLst>
          </p:cNvPr>
          <p:cNvSpPr>
            <a:spLocks xmlns:a="http://schemas.openxmlformats.org/drawingml/2006/main" noGrp="1"/>
          </p:cNvSpPr>
          <p:nvPr/>
        </p:nvSpPr>
        <p:spPr>
          <a:xfrm xmlns:a="http://schemas.openxmlformats.org/drawingml/2006/main">
            <a:off x="514350" y="1971675"/>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142B82-9AA8-41B8-84D8-F35FC929F8D0}"/>
              </a:ext>
            </a:extLst>
          </p:cNvPr>
          <p:cNvSpPr>
            <a:spLocks xmlns:a="http://schemas.openxmlformats.org/drawingml/2006/main" noGrp="1"/>
          </p:cNvSpPr>
          <p:nvPr/>
        </p:nvSpPr>
        <p:spPr>
          <a:xfrm xmlns:a="http://schemas.openxmlformats.org/drawingml/2006/main">
            <a:off x="704850" y="2066925"/>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λL = lim(q → 0) P(V ≤ q | U ≤ q)</a:t>
            </a:r>
          </a:p>
        </p:txBody>
      </p:sp>
      <p:sp>
        <p:nvSpPr>
          <p:cNvPr id="8" name="">
            <a:extLst xmlns:a="http://schemas.openxmlformats.org/drawingml/2006/main">
              <a:ext uri="{FF2B5EF4-FFF2-40B4-BE49-F238E27FC236}">
                <a16:creationId xmlns:a16="http://schemas.microsoft.com/office/drawing/2014/main" id="{ECC62D5C-33D5-433C-BE38-744CFA8810AD}"/>
              </a:ext>
            </a:extLst>
          </p:cNvPr>
          <p:cNvSpPr>
            <a:spLocks xmlns:a="http://schemas.openxmlformats.org/drawingml/2006/main" noGrp="1"/>
          </p:cNvSpPr>
          <p:nvPr/>
        </p:nvSpPr>
        <p:spPr>
          <a:xfrm xmlns:a="http://schemas.openxmlformats.org/drawingml/2006/main">
            <a:off x="514350" y="32956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64576A-76ED-4E11-A451-7D7D8841DEAC}"/>
              </a:ext>
            </a:extLst>
          </p:cNvPr>
          <p:cNvSpPr>
            <a:spLocks xmlns:a="http://schemas.openxmlformats.org/drawingml/2006/main" noGrp="1"/>
          </p:cNvSpPr>
          <p:nvPr/>
        </p:nvSpPr>
        <p:spPr>
          <a:xfrm xmlns:a="http://schemas.openxmlformats.org/drawingml/2006/main">
            <a:off x="704850" y="33909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λU = lim(q → 1) P(V &gt; q | U &gt; q)</a:t>
            </a:r>
          </a:p>
        </p:txBody>
      </p:sp>
      <p:sp>
        <p:nvSpPr>
          <p:cNvPr id="10" name="">
            <a:extLst xmlns:a="http://schemas.openxmlformats.org/drawingml/2006/main">
              <a:ext uri="{FF2B5EF4-FFF2-40B4-BE49-F238E27FC236}">
                <a16:creationId xmlns:a16="http://schemas.microsoft.com/office/drawing/2014/main" id="{2F52382C-5EF8-41DB-BEDD-239A3DA64B86}"/>
              </a:ext>
            </a:extLst>
          </p:cNvPr>
          <p:cNvSpPr>
            <a:spLocks xmlns:a="http://schemas.openxmlformats.org/drawingml/2006/main" noGrp="1"/>
          </p:cNvSpPr>
          <p:nvPr/>
        </p:nvSpPr>
        <p:spPr>
          <a:xfrm xmlns:a="http://schemas.openxmlformats.org/drawingml/2006/main">
            <a:off x="619125" y="4733925"/>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例：q = 0.99 で共発生があることと、極限が正であることは別。</a:t>
            </a:r>
          </a:p>
        </p:txBody>
      </p:sp>
      <p:sp>
        <p:nvSpPr>
          <p:cNvPr id="11" name="">
            <a:extLst xmlns:a="http://schemas.openxmlformats.org/drawingml/2006/main">
              <a:ext uri="{FF2B5EF4-FFF2-40B4-BE49-F238E27FC236}">
                <a16:creationId xmlns:a16="http://schemas.microsoft.com/office/drawing/2014/main" id="{8143D527-BC15-4CA0-919F-C4D3A6FC979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86B3F8-A889-4E44-BBDB-44AA927C146B}"/>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「裾依存が0」を「極端な領域でも独立」と解釈しない</a:t>
            </a:r>
          </a:p>
        </p:txBody>
      </p:sp>
    </p:spTree>
    <p:extLst>
      <p:ext uri="{BB962C8B-B14F-4D97-AF65-F5344CB8AC3E}">
        <p14:creationId xmlns:p14="http://schemas.microsoft.com/office/powerpoint/2010/main" val="20227262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F46579-61BB-409D-BBBB-6346BBAFC79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補足：VIMEで学習させる対象</a:t>
            </a:r>
          </a:p>
        </p:txBody>
      </p:sp>
      <p:sp>
        <p:nvSpPr>
          <p:cNvPr id="2" name="">
            <a:extLst xmlns:a="http://schemas.openxmlformats.org/drawingml/2006/main">
              <a:ext uri="{FF2B5EF4-FFF2-40B4-BE49-F238E27FC236}">
                <a16:creationId xmlns:a16="http://schemas.microsoft.com/office/drawing/2014/main" id="{3DB45847-7002-4A32-BAED-C6113A515E8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565C4D-6E84-4FD5-9564-7D1CE979DA7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生成の品質だけでなく、学習課題との組合せが結果を決める。</a:t>
            </a:r>
          </a:p>
        </p:txBody>
      </p:sp>
      <p:sp>
        <p:nvSpPr>
          <p:cNvPr id="4" name="">
            <a:extLst xmlns:a="http://schemas.openxmlformats.org/drawingml/2006/main">
              <a:ext uri="{FF2B5EF4-FFF2-40B4-BE49-F238E27FC236}">
                <a16:creationId xmlns:a16="http://schemas.microsoft.com/office/drawing/2014/main" id="{8BD9A8F2-0CC8-41CA-9CED-1DE26CB2C09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B9C4BB9D-2F52-4101-899E-09BED8329B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63</a:t>
            </a:r>
          </a:p>
        </p:txBody>
      </p:sp>
      <p:graphicFrame>
        <p:nvGraphicFramePr>
          <p:cNvPr id="14" name=""/>
          <p:cNvGraphicFramePr/>
          <p:nvPr/>
        </p:nvGraphicFramePr>
        <p:xfrm>
          <a:off xmlns:a="http://schemas.openxmlformats.org/drawingml/2006/main" x="514350" y="2000250"/>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875" b="1">
                          <a:solidFill>
                            <a:srgbClr val="2E7D5B"/>
                          </a:solidFill>
                          <a:latin typeface="Noto Sans JP"/>
                          <a:ea typeface="Noto Sans JP"/>
                          <a:cs typeface="Noto Sans JP"/>
                        </a:rPr>
                        <a:t>段階</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入力・学習目標</a:t>
                      </a:r>
                    </a:p>
                  </a:txBody>
                  <a:tcPr marL="91440" marR="91440" marT="45720" marB="45720" anchor="ctr">
                    <a:solidFill>
                      <a:srgbClr val="E7F2EC"/>
                    </a:solidFill>
                  </a:tcPr>
                </a:tc>
              </a:tr>
              <a:tr h="653415">
                <a:tc>
                  <a:txBody>
                    <a:bodyPr/>
                    <a:lstStyle/>
                    <a:p>
                      <a:pPr algn="ctr"/>
                      <a:r>
                        <a:rPr sz="1875" b="0">
                          <a:solidFill>
                            <a:srgbClr val="222222"/>
                          </a:solidFill>
                          <a:latin typeface="Noto Sans JP"/>
                          <a:ea typeface="Noto Sans JP"/>
                          <a:cs typeface="Noto Sans JP"/>
                        </a:rPr>
                        <a:t>自己教師あり：マスク推定</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置換後の行から、実際に値が変わった位置を予測（BCE）</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自己教師あり：元値復元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置換後の行から、元の行の値を復元（MSE、重み2）</a:t>
                      </a:r>
                    </a:p>
                  </a:txBody>
                  <a:tcPr marL="91440" marR="91440" marT="45720" marB="45720" anchor="ctr">
                    <a:solidFill>
                      <a:srgbClr val="F6F6F6"/>
                    </a:solidFill>
                  </a:tcPr>
                </a:tc>
              </a:tr>
              <a:tr h="653415">
                <a:tc>
                  <a:txBody>
                    <a:bodyPr/>
                    <a:lstStyle/>
                    <a:p>
                      <a:pPr algn="ctr"/>
                      <a:r>
                        <a:rPr sz="1875" b="0">
                          <a:solidFill>
                            <a:srgbClr val="222222"/>
                          </a:solidFill>
                          <a:latin typeface="Noto Sans JP"/>
                          <a:ea typeface="Noto Sans JP"/>
                          <a:cs typeface="Noto Sans JP"/>
                        </a:rPr>
                        <a:t>半教師あり：分類</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ラベルあり行の正解クラスを予測（交差エントロピー）</a:t>
                      </a:r>
                    </a:p>
                  </a:txBody>
                  <a:tcPr marL="91440" marR="91440" marT="45720" marB="45720" anchor="ctr">
                    <a:solidFill>
                      <a:srgbClr val="FFFFFF"/>
                    </a:solidFill>
                  </a:tcPr>
                </a:tc>
              </a:tr>
              <a:tr h="653415">
                <a:tc>
                  <a:txBody>
                    <a:bodyPr/>
                    <a:lstStyle/>
                    <a:p>
                      <a:pPr algn="ctr"/>
                      <a:r>
                        <a:rPr sz="1875" b="0">
                          <a:solidFill>
                            <a:srgbClr val="222222"/>
                          </a:solidFill>
                          <a:latin typeface="Noto Sans JP"/>
                          <a:ea typeface="Noto Sans JP"/>
                          <a:cs typeface="Noto Sans JP"/>
                        </a:rPr>
                        <a:t>半教師あり：一貫性</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同じ行の3拡張で、予測logitのばらつきを抑える</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731DEF5-2A4E-40BA-A444-01130A6ADB3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987E3A-14F2-4632-8B19-D53949F42BB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自然な置換でも、課題が簡単すぎる／意味が変わるなら効果は保証されない</a:t>
            </a:r>
          </a:p>
        </p:txBody>
      </p:sp>
    </p:spTree>
    <p:extLst>
      <p:ext uri="{BB962C8B-B14F-4D97-AF65-F5344CB8AC3E}">
        <p14:creationId xmlns:p14="http://schemas.microsoft.com/office/powerpoint/2010/main" val="86053726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51704E-935C-45F6-A2B1-033617415C9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補足：実装の呼び出しのイメージ</a:t>
            </a:r>
          </a:p>
        </p:txBody>
      </p:sp>
      <p:sp>
        <p:nvSpPr>
          <p:cNvPr id="2" name="">
            <a:extLst xmlns:a="http://schemas.openxmlformats.org/drawingml/2006/main">
              <a:ext uri="{FF2B5EF4-FFF2-40B4-BE49-F238E27FC236}">
                <a16:creationId xmlns:a16="http://schemas.microsoft.com/office/drawing/2014/main" id="{405294B4-D627-46BA-B55D-D2DAE6B97F5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16CF7D-AAC0-4FAD-9C2B-B053AF934FC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学習時に分布を覚え、拡張時に同じ生成器を呼ぶ。</a:t>
            </a:r>
          </a:p>
        </p:txBody>
      </p:sp>
      <p:sp>
        <p:nvSpPr>
          <p:cNvPr id="4" name="">
            <a:extLst xmlns:a="http://schemas.openxmlformats.org/drawingml/2006/main">
              <a:ext uri="{FF2B5EF4-FFF2-40B4-BE49-F238E27FC236}">
                <a16:creationId xmlns:a16="http://schemas.microsoft.com/office/drawing/2014/main" id="{8F780792-2662-4CD9-BA1F-6213AFBCB7D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補足・実装</a:t>
            </a:r>
          </a:p>
        </p:txBody>
      </p:sp>
      <p:sp>
        <p:nvSpPr>
          <p:cNvPr id="5" name="">
            <a:extLst xmlns:a="http://schemas.openxmlformats.org/drawingml/2006/main">
              <a:ext uri="{FF2B5EF4-FFF2-40B4-BE49-F238E27FC236}">
                <a16:creationId xmlns:a16="http://schemas.microsoft.com/office/drawing/2014/main" id="{604B2C86-92F4-4D08-BE33-6E5AD17FB11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64</a:t>
            </a:r>
          </a:p>
        </p:txBody>
      </p:sp>
      <p:sp>
        <p:nvSpPr>
          <p:cNvPr id="6" name="">
            <a:extLst xmlns:a="http://schemas.openxmlformats.org/drawingml/2006/main">
              <a:ext uri="{FF2B5EF4-FFF2-40B4-BE49-F238E27FC236}">
                <a16:creationId xmlns:a16="http://schemas.microsoft.com/office/drawing/2014/main" id="{8EF25A40-6CEC-48F5-B4E1-DB597BD76727}"/>
              </a:ext>
            </a:extLst>
          </p:cNvPr>
          <p:cNvSpPr>
            <a:spLocks xmlns:a="http://schemas.openxmlformats.org/drawingml/2006/main" noGrp="1"/>
          </p:cNvSpPr>
          <p:nvPr/>
        </p:nvSpPr>
        <p:spPr>
          <a:xfrm xmlns:a="http://schemas.openxmlformats.org/drawingml/2006/main">
            <a:off x="514350" y="1981200"/>
            <a:ext cx="11163300" cy="3371850"/>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A4C144-D331-49B8-80B9-3D6448DB32F5}"/>
              </a:ext>
            </a:extLst>
          </p:cNvPr>
          <p:cNvSpPr>
            <a:spLocks xmlns:a="http://schemas.openxmlformats.org/drawingml/2006/main" noGrp="1"/>
          </p:cNvSpPr>
          <p:nvPr/>
        </p:nvSpPr>
        <p:spPr>
          <a:xfrm xmlns:a="http://schemas.openxmlformats.org/drawingml/2006/main">
            <a:off x="762000" y="22098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 = GaussianCopulaCorruptor()</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copula.fit(x_unlabeled_train)</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mask = rng.random(x.shape) &lt; 0.4</a:t>
            </a:r>
          </a:p>
          <a:p xmlns:a="http://schemas.openxmlformats.org/drawingml/2006/main">
            <a:pPr algn="l">
              <a:defRPr sz="2175" b="0">
                <a:solidFill>
                  <a:srgbClr val="2B6777"/>
                </a:solidFill>
                <a:latin typeface="Noto Sans JP"/>
                <a:ea typeface="Noto Sans JP"/>
                <a:cs typeface="Noto Sans JP"/>
              </a:defRPr>
            </a:pPr>
            <a:r>
              <a:rPr sz="2175" b="0">
                <a:solidFill>
                  <a:srgbClr val="2B6777"/>
                </a:solidFill>
                <a:latin typeface="Noto Sans JP"/>
                <a:ea typeface="Noto Sans JP"/>
                <a:cs typeface="Noto Sans JP"/>
              </a:rPr>
              <a:t>x_aug = copula(x, mask, rng)</a:t>
            </a:r>
          </a:p>
        </p:txBody>
      </p:sp>
      <p:sp>
        <p:nvSpPr>
          <p:cNvPr id="8" name="">
            <a:extLst xmlns:a="http://schemas.openxmlformats.org/drawingml/2006/main">
              <a:ext uri="{FF2B5EF4-FFF2-40B4-BE49-F238E27FC236}">
                <a16:creationId xmlns:a16="http://schemas.microsoft.com/office/drawing/2014/main" id="{FAAC8BD8-A6A2-45A6-8505-7D466EBE22C9}"/>
              </a:ext>
            </a:extLst>
          </p:cNvPr>
          <p:cNvSpPr>
            <a:spLocks xmlns:a="http://schemas.openxmlformats.org/drawingml/2006/main" noGrp="1"/>
          </p:cNvSpPr>
          <p:nvPr/>
        </p:nvSpPr>
        <p:spPr>
          <a:xfrm xmlns:a="http://schemas.openxmlformats.org/drawingml/2006/main">
            <a:off x="723900" y="4810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22222"/>
                </a:solidFill>
                <a:latin typeface="Noto Sans JP"/>
                <a:ea typeface="Noto Sans JP"/>
                <a:cs typeface="Noto Sans JP"/>
              </a:defRPr>
            </a:pPr>
            <a:r>
              <a:rPr sz="2025" b="1">
                <a:solidFill>
                  <a:srgbClr val="222222"/>
                </a:solidFill>
                <a:latin typeface="Noto Sans JP"/>
                <a:ea typeface="Noto Sans JP"/>
                <a:cs typeface="Noto Sans JP"/>
              </a:rPr>
              <a:t>mask = True の列だけ置換。False の列は、その行の値を維持。</a:t>
            </a:r>
          </a:p>
        </p:txBody>
      </p:sp>
      <p:sp>
        <p:nvSpPr>
          <p:cNvPr id="9" name="">
            <a:extLst xmlns:a="http://schemas.openxmlformats.org/drawingml/2006/main">
              <a:ext uri="{FF2B5EF4-FFF2-40B4-BE49-F238E27FC236}">
                <a16:creationId xmlns:a16="http://schemas.microsoft.com/office/drawing/2014/main" id="{9243F118-C3C2-4330-836C-75553EF7FFDA}"/>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D3E935-CF5A-4671-A431-2339A645CFE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分類の比較では、VIMEClassifierにこの生成器を渡す</a:t>
            </a:r>
          </a:p>
        </p:txBody>
      </p:sp>
    </p:spTree>
    <p:extLst>
      <p:ext uri="{BB962C8B-B14F-4D97-AF65-F5344CB8AC3E}">
        <p14:creationId xmlns:p14="http://schemas.microsoft.com/office/powerpoint/2010/main" val="67561594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61A477-41F3-40DD-BB66-87B225E7FAE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参考文献・実装の根拠</a:t>
            </a:r>
          </a:p>
        </p:txBody>
      </p:sp>
      <p:sp>
        <p:nvSpPr>
          <p:cNvPr id="2" name="">
            <a:extLst xmlns:a="http://schemas.openxmlformats.org/drawingml/2006/main">
              <a:ext uri="{FF2B5EF4-FFF2-40B4-BE49-F238E27FC236}">
                <a16:creationId xmlns:a16="http://schemas.microsoft.com/office/drawing/2014/main" id="{82D73D42-7C9E-4DAF-A6F7-98C0601C083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36A524-4466-4555-84D1-645795B851A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説明の出典と、比較実験のデータを区別する。</a:t>
            </a:r>
          </a:p>
        </p:txBody>
      </p:sp>
      <p:sp>
        <p:nvSpPr>
          <p:cNvPr id="4" name="">
            <a:extLst xmlns:a="http://schemas.openxmlformats.org/drawingml/2006/main">
              <a:ext uri="{FF2B5EF4-FFF2-40B4-BE49-F238E27FC236}">
                <a16:creationId xmlns:a16="http://schemas.microsoft.com/office/drawing/2014/main" id="{6977432C-E0B7-4825-BD56-B0CDE0B9E7B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参考文献</a:t>
            </a:r>
          </a:p>
        </p:txBody>
      </p:sp>
      <p:sp>
        <p:nvSpPr>
          <p:cNvPr id="5" name="">
            <a:extLst xmlns:a="http://schemas.openxmlformats.org/drawingml/2006/main">
              <a:ext uri="{FF2B5EF4-FFF2-40B4-BE49-F238E27FC236}">
                <a16:creationId xmlns:a16="http://schemas.microsoft.com/office/drawing/2014/main" id="{E4E1BDCC-2C82-4CEA-B197-8FCC2D41367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65</a:t>
            </a:r>
          </a:p>
        </p:txBody>
      </p:sp>
      <p:sp>
        <p:nvSpPr>
          <p:cNvPr id="6" name="">
            <a:extLst xmlns:a="http://schemas.openxmlformats.org/drawingml/2006/main">
              <a:ext uri="{FF2B5EF4-FFF2-40B4-BE49-F238E27FC236}">
                <a16:creationId xmlns:a16="http://schemas.microsoft.com/office/drawing/2014/main" id="{F80DA863-1830-4FE6-B453-CDF12089ACFE}"/>
              </a:ext>
            </a:extLst>
          </p:cNvPr>
          <p:cNvSpPr>
            <a:spLocks xmlns:a="http://schemas.openxmlformats.org/drawingml/2006/main" noGrp="1"/>
          </p:cNvSpPr>
          <p:nvPr/>
        </p:nvSpPr>
        <p:spPr>
          <a:xfrm xmlns:a="http://schemas.openxmlformats.org/drawingml/2006/main">
            <a:off x="62865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基礎：Haugh, An Introduction to Copulas ／ Segers, Fundamentals of copulas</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種類：Demarta &amp; McNeil (2005) ／ Czado &amp; Nagler (2022)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応用：Zhao &amp; Udell (KDD 2020) ／ Aas et al. (2021)</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学習：Yoon et al., VIME (NeurIPS 2020) ／ Cui et al. (2024)</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実装：research-bench/src/tabular_research/corruption.py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比較：research-bench/scripts/quick_compare.py</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保存結果：research-bench/results/repeated_compare.json</a:t>
            </a:r>
          </a:p>
        </p:txBody>
      </p:sp>
      <p:sp>
        <p:nvSpPr>
          <p:cNvPr id="7" name="">
            <a:extLst xmlns:a="http://schemas.openxmlformats.org/drawingml/2006/main">
              <a:ext uri="{FF2B5EF4-FFF2-40B4-BE49-F238E27FC236}">
                <a16:creationId xmlns:a16="http://schemas.microsoft.com/office/drawing/2014/main" id="{6DCBCE29-5CE0-4C33-936A-1172CB58D18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C5E609-19F0-4B57-BA63-36DEEDD5ECF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本文は直感を優先。詳しい定義・数式・出典は補足とノートへ</a:t>
            </a:r>
          </a:p>
        </p:txBody>
      </p:sp>
    </p:spTree>
    <p:extLst>
      <p:ext uri="{BB962C8B-B14F-4D97-AF65-F5344CB8AC3E}">
        <p14:creationId xmlns:p14="http://schemas.microsoft.com/office/powerpoint/2010/main" val="4989547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2026-10-04T03:31:54.6290000Z</dcterms:created>
  <dcterms:modified xsi:type="dcterms:W3CDTF">2026-10-04T03:31:54.6290000Z</dcterms:modified>
</coreProperties>
</file>