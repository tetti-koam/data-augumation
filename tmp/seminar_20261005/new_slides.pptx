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2f7e304b75e4036" /><Relationship Type="http://schemas.openxmlformats.org/officeDocument/2006/relationships/extended-properties" Target="/docProps/app.xml" Id="Rf3f52d2fd79c467e" /><Relationship Type="http://schemas.openxmlformats.org/officeDocument/2006/relationships/officeDocument" Target="/ppt/presentation.xml" Id="Rc1e75ffea92f47ce" /></Relationships>
</file>

<file path=ppt/presentation.xml><?xml version="1.0" encoding="utf-8"?>
<p:presentation xmlns:p="http://schemas.openxmlformats.org/presentationml/2006/main">
  <p:sldMasterIdLst>
    <p:sldMasterId xmlns:r="http://schemas.openxmlformats.org/officeDocument/2006/relationships" id="2147483648" r:id="R896d07e8164041ec"/>
  </p:sldMasterIdLst>
  <p:notesMasterIdLst>
    <p:notesMasterId xmlns:r="http://schemas.openxmlformats.org/officeDocument/2006/relationships" r:id="R991765c374974547"/>
  </p:notesMasterIdLst>
  <p:sldIdLst>
    <p:sldId xmlns:r="http://schemas.openxmlformats.org/officeDocument/2006/relationships" id="256" r:id="R3824db0b972f4e5d"/>
    <p:sldId xmlns:r="http://schemas.openxmlformats.org/officeDocument/2006/relationships" id="257" r:id="R89614c9d2afb483e"/>
    <p:sldId xmlns:r="http://schemas.openxmlformats.org/officeDocument/2006/relationships" id="258" r:id="R6c13c11d20ea4824"/>
    <p:sldId xmlns:r="http://schemas.openxmlformats.org/officeDocument/2006/relationships" id="259" r:id="R1a578e2187c14d58"/>
    <p:sldId xmlns:r="http://schemas.openxmlformats.org/officeDocument/2006/relationships" id="260" r:id="Ref0fe5b9d8e74508"/>
    <p:sldId xmlns:r="http://schemas.openxmlformats.org/officeDocument/2006/relationships" id="261" r:id="R65cc5d08a40d4def"/>
    <p:sldId xmlns:r="http://schemas.openxmlformats.org/officeDocument/2006/relationships" id="262" r:id="Rba695ef6b93a41e8"/>
    <p:sldId xmlns:r="http://schemas.openxmlformats.org/officeDocument/2006/relationships" id="263" r:id="R6b902b3e82044e73"/>
    <p:sldId xmlns:r="http://schemas.openxmlformats.org/officeDocument/2006/relationships" id="264" r:id="R3f72c1a7d1124661"/>
    <p:sldId xmlns:r="http://schemas.openxmlformats.org/officeDocument/2006/relationships" id="265" r:id="R2fbd05b300d6418b"/>
    <p:sldId xmlns:r="http://schemas.openxmlformats.org/officeDocument/2006/relationships" id="266" r:id="R94ed16a076f04cc2"/>
    <p:sldId xmlns:r="http://schemas.openxmlformats.org/officeDocument/2006/relationships" id="267" r:id="Rd7c18d305e284e79"/>
    <p:sldId xmlns:r="http://schemas.openxmlformats.org/officeDocument/2006/relationships" id="268" r:id="R6fc5d77a63564d77"/>
    <p:sldId xmlns:r="http://schemas.openxmlformats.org/officeDocument/2006/relationships" id="269" r:id="R7eda617f940f477f"/>
    <p:sldId xmlns:r="http://schemas.openxmlformats.org/officeDocument/2006/relationships" id="270" r:id="R7a7b6d1458af4a00"/>
    <p:sldId xmlns:r="http://schemas.openxmlformats.org/officeDocument/2006/relationships" id="271" r:id="R82f71bd221824318"/>
    <p:sldId xmlns:r="http://schemas.openxmlformats.org/officeDocument/2006/relationships" id="272" r:id="R9f85acc4cf5a40f3"/>
    <p:sldId xmlns:r="http://schemas.openxmlformats.org/officeDocument/2006/relationships" id="273" r:id="R40635849c14b47da"/>
    <p:sldId xmlns:r="http://schemas.openxmlformats.org/officeDocument/2006/relationships" id="274" r:id="R6ba1521cc8d04a8b"/>
    <p:sldId xmlns:r="http://schemas.openxmlformats.org/officeDocument/2006/relationships" id="275" r:id="Re29ce68ca52742b5"/>
    <p:sldId xmlns:r="http://schemas.openxmlformats.org/officeDocument/2006/relationships" id="276" r:id="Rabf19b5d395d4a31"/>
    <p:sldId xmlns:r="http://schemas.openxmlformats.org/officeDocument/2006/relationships" id="277" r:id="Rbda4ab025bcf4c7b"/>
    <p:sldId xmlns:r="http://schemas.openxmlformats.org/officeDocument/2006/relationships" id="278" r:id="R07f06d04ad944397"/>
    <p:sldId xmlns:r="http://schemas.openxmlformats.org/officeDocument/2006/relationships" id="279" r:id="R7c7cfd0691ee4fa6"/>
    <p:sldId xmlns:r="http://schemas.openxmlformats.org/officeDocument/2006/relationships" id="280" r:id="R53bc3a14c51e4d7f"/>
    <p:sldId xmlns:r="http://schemas.openxmlformats.org/officeDocument/2006/relationships" id="281" r:id="R0f8483fd371546e5"/>
    <p:sldId xmlns:r="http://schemas.openxmlformats.org/officeDocument/2006/relationships" id="282" r:id="Rcff1ed264fe64d25"/>
    <p:sldId xmlns:r="http://schemas.openxmlformats.org/officeDocument/2006/relationships" id="283" r:id="R684fb8d41aea4c21"/>
    <p:sldId xmlns:r="http://schemas.openxmlformats.org/officeDocument/2006/relationships" id="284" r:id="R00ab4f818c214a1a"/>
    <p:sldId xmlns:r="http://schemas.openxmlformats.org/officeDocument/2006/relationships" id="285" r:id="R6d272c4d8be64ab6"/>
    <p:sldId xmlns:r="http://schemas.openxmlformats.org/officeDocument/2006/relationships" id="286" r:id="R6eea48c525d54338"/>
    <p:sldId xmlns:r="http://schemas.openxmlformats.org/officeDocument/2006/relationships" id="287" r:id="Rb58c9fe9b5684961"/>
    <p:sldId xmlns:r="http://schemas.openxmlformats.org/officeDocument/2006/relationships" id="288" r:id="R0190b9452ed64dc2"/>
    <p:sldId xmlns:r="http://schemas.openxmlformats.org/officeDocument/2006/relationships" id="289" r:id="R63e77f44f5c34961"/>
    <p:sldId xmlns:r="http://schemas.openxmlformats.org/officeDocument/2006/relationships" id="290" r:id="Rcab410033a8d4254"/>
    <p:sldId xmlns:r="http://schemas.openxmlformats.org/officeDocument/2006/relationships" id="291" r:id="R17fe8bacb5784e13"/>
    <p:sldId xmlns:r="http://schemas.openxmlformats.org/officeDocument/2006/relationships" id="292" r:id="R05dea1c384dd4d9c"/>
    <p:sldId xmlns:r="http://schemas.openxmlformats.org/officeDocument/2006/relationships" id="293" r:id="R4f30c3eb4095484d"/>
    <p:sldId xmlns:r="http://schemas.openxmlformats.org/officeDocument/2006/relationships" id="294" r:id="Rd20ab8766a4449a0"/>
    <p:sldId xmlns:r="http://schemas.openxmlformats.org/officeDocument/2006/relationships" id="295" r:id="Rcddc4df7d0f1472f"/>
    <p:sldId xmlns:r="http://schemas.openxmlformats.org/officeDocument/2006/relationships" id="296" r:id="Rb3a82fbe0d6b49cf"/>
    <p:sldId xmlns:r="http://schemas.openxmlformats.org/officeDocument/2006/relationships" id="297" r:id="R3266e2815c344ab3"/>
    <p:sldId xmlns:r="http://schemas.openxmlformats.org/officeDocument/2006/relationships" id="298" r:id="Rb634caa45cde468c"/>
    <p:sldId xmlns:r="http://schemas.openxmlformats.org/officeDocument/2006/relationships" id="299" r:id="R202a3a78ab8447e3"/>
    <p:sldId xmlns:r="http://schemas.openxmlformats.org/officeDocument/2006/relationships" id="300" r:id="R753785a0dded47f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59fa7b1e92f4efc" /><Relationship Type="http://schemas.openxmlformats.org/officeDocument/2006/relationships/slideMaster" Target="/ppt/slideMasters/slideMaster1.xml" Id="R896d07e8164041ec" /><Relationship Type="http://schemas.openxmlformats.org/officeDocument/2006/relationships/notesMaster" Target="/ppt/notesMasters/notesMaster1.xml" Id="R991765c374974547" /><Relationship Type="http://schemas.openxmlformats.org/officeDocument/2006/relationships/presProps" Target="/ppt/presProps.xml" Id="R62254e872bae42c5" /><Relationship Type="http://schemas.openxmlformats.org/officeDocument/2006/relationships/tableStyles" Target="/ppt/tableStyles.xml" Id="R297e82738a514651" /><Relationship Type="http://schemas.openxmlformats.org/officeDocument/2006/relationships/slide" Target="/ppt/slides/slide1.xml" Id="R3824db0b972f4e5d" /><Relationship Type="http://schemas.openxmlformats.org/officeDocument/2006/relationships/slide" Target="/ppt/slides/slide2.xml" Id="R89614c9d2afb483e" /><Relationship Type="http://schemas.openxmlformats.org/officeDocument/2006/relationships/slide" Target="/ppt/slides/slide3.xml" Id="R6c13c11d20ea4824" /><Relationship Type="http://schemas.openxmlformats.org/officeDocument/2006/relationships/slide" Target="/ppt/slides/slide4.xml" Id="R1a578e2187c14d58" /><Relationship Type="http://schemas.openxmlformats.org/officeDocument/2006/relationships/slide" Target="/ppt/slides/slide5.xml" Id="Ref0fe5b9d8e74508" /><Relationship Type="http://schemas.openxmlformats.org/officeDocument/2006/relationships/slide" Target="/ppt/slides/slide6.xml" Id="R65cc5d08a40d4def" /><Relationship Type="http://schemas.openxmlformats.org/officeDocument/2006/relationships/slide" Target="/ppt/slides/slide7.xml" Id="Rba695ef6b93a41e8" /><Relationship Type="http://schemas.openxmlformats.org/officeDocument/2006/relationships/slide" Target="/ppt/slides/slide8.xml" Id="R6b902b3e82044e73" /><Relationship Type="http://schemas.openxmlformats.org/officeDocument/2006/relationships/slide" Target="/ppt/slides/slide9.xml" Id="R3f72c1a7d1124661" /><Relationship Type="http://schemas.openxmlformats.org/officeDocument/2006/relationships/slide" Target="/ppt/slides/slide10.xml" Id="R2fbd05b300d6418b" /><Relationship Type="http://schemas.openxmlformats.org/officeDocument/2006/relationships/slide" Target="/ppt/slides/slide11.xml" Id="R94ed16a076f04cc2" /><Relationship Type="http://schemas.openxmlformats.org/officeDocument/2006/relationships/slide" Target="/ppt/slides/slide12.xml" Id="Rd7c18d305e284e79" /><Relationship Type="http://schemas.openxmlformats.org/officeDocument/2006/relationships/slide" Target="/ppt/slides/slide13.xml" Id="R6fc5d77a63564d77" /><Relationship Type="http://schemas.openxmlformats.org/officeDocument/2006/relationships/slide" Target="/ppt/slides/slide14.xml" Id="R7eda617f940f477f" /><Relationship Type="http://schemas.openxmlformats.org/officeDocument/2006/relationships/slide" Target="/ppt/slides/slide15.xml" Id="R7a7b6d1458af4a00" /><Relationship Type="http://schemas.openxmlformats.org/officeDocument/2006/relationships/slide" Target="/ppt/slides/slide16.xml" Id="R82f71bd221824318" /><Relationship Type="http://schemas.openxmlformats.org/officeDocument/2006/relationships/slide" Target="/ppt/slides/slide17.xml" Id="R9f85acc4cf5a40f3" /><Relationship Type="http://schemas.openxmlformats.org/officeDocument/2006/relationships/slide" Target="/ppt/slides/slide18.xml" Id="R40635849c14b47da" /><Relationship Type="http://schemas.openxmlformats.org/officeDocument/2006/relationships/slide" Target="/ppt/slides/slide19.xml" Id="R6ba1521cc8d04a8b" /><Relationship Type="http://schemas.openxmlformats.org/officeDocument/2006/relationships/slide" Target="/ppt/slides/slide20.xml" Id="Re29ce68ca52742b5" /><Relationship Type="http://schemas.openxmlformats.org/officeDocument/2006/relationships/slide" Target="/ppt/slides/slide21.xml" Id="Rabf19b5d395d4a31" /><Relationship Type="http://schemas.openxmlformats.org/officeDocument/2006/relationships/slide" Target="/ppt/slides/slide22.xml" Id="Rbda4ab025bcf4c7b" /><Relationship Type="http://schemas.openxmlformats.org/officeDocument/2006/relationships/slide" Target="/ppt/slides/slide23.xml" Id="R07f06d04ad944397" /><Relationship Type="http://schemas.openxmlformats.org/officeDocument/2006/relationships/slide" Target="/ppt/slides/slide24.xml" Id="R7c7cfd0691ee4fa6" /><Relationship Type="http://schemas.openxmlformats.org/officeDocument/2006/relationships/slide" Target="/ppt/slides/slide25.xml" Id="R53bc3a14c51e4d7f" /><Relationship Type="http://schemas.openxmlformats.org/officeDocument/2006/relationships/slide" Target="/ppt/slides/slide26.xml" Id="R0f8483fd371546e5" /><Relationship Type="http://schemas.openxmlformats.org/officeDocument/2006/relationships/slide" Target="/ppt/slides/slide27.xml" Id="Rcff1ed264fe64d25" /><Relationship Type="http://schemas.openxmlformats.org/officeDocument/2006/relationships/slide" Target="/ppt/slides/slide28.xml" Id="R684fb8d41aea4c21" /><Relationship Type="http://schemas.openxmlformats.org/officeDocument/2006/relationships/slide" Target="/ppt/slides/slide29.xml" Id="R00ab4f818c214a1a" /><Relationship Type="http://schemas.openxmlformats.org/officeDocument/2006/relationships/slide" Target="/ppt/slides/slide30.xml" Id="R6d272c4d8be64ab6" /><Relationship Type="http://schemas.openxmlformats.org/officeDocument/2006/relationships/slide" Target="/ppt/slides/slide31.xml" Id="R6eea48c525d54338" /><Relationship Type="http://schemas.openxmlformats.org/officeDocument/2006/relationships/slide" Target="/ppt/slides/slide32.xml" Id="Rb58c9fe9b5684961" /><Relationship Type="http://schemas.openxmlformats.org/officeDocument/2006/relationships/slide" Target="/ppt/slides/slide33.xml" Id="R0190b9452ed64dc2" /><Relationship Type="http://schemas.openxmlformats.org/officeDocument/2006/relationships/slide" Target="/ppt/slides/slide34.xml" Id="R63e77f44f5c34961" /><Relationship Type="http://schemas.openxmlformats.org/officeDocument/2006/relationships/slide" Target="/ppt/slides/slide35.xml" Id="Rcab410033a8d4254" /><Relationship Type="http://schemas.openxmlformats.org/officeDocument/2006/relationships/slide" Target="/ppt/slides/slide36.xml" Id="R17fe8bacb5784e13" /><Relationship Type="http://schemas.openxmlformats.org/officeDocument/2006/relationships/slide" Target="/ppt/slides/slide37.xml" Id="R05dea1c384dd4d9c" /><Relationship Type="http://schemas.openxmlformats.org/officeDocument/2006/relationships/slide" Target="/ppt/slides/slide38.xml" Id="R4f30c3eb4095484d" /><Relationship Type="http://schemas.openxmlformats.org/officeDocument/2006/relationships/slide" Target="/ppt/slides/slide39.xml" Id="Rd20ab8766a4449a0" /><Relationship Type="http://schemas.openxmlformats.org/officeDocument/2006/relationships/slide" Target="/ppt/slides/slide40.xml" Id="Rcddc4df7d0f1472f" /><Relationship Type="http://schemas.openxmlformats.org/officeDocument/2006/relationships/slide" Target="/ppt/slides/slide41.xml" Id="Rb3a82fbe0d6b49cf" /><Relationship Type="http://schemas.openxmlformats.org/officeDocument/2006/relationships/slide" Target="/ppt/slides/slide42.xml" Id="R3266e2815c344ab3" /><Relationship Type="http://schemas.openxmlformats.org/officeDocument/2006/relationships/slide" Target="/ppt/slides/slide43.xml" Id="Rb634caa45cde468c" /><Relationship Type="http://schemas.openxmlformats.org/officeDocument/2006/relationships/slide" Target="/ppt/slides/slide44.xml" Id="R202a3a78ab8447e3" /><Relationship Type="http://schemas.openxmlformats.org/officeDocument/2006/relationships/slide" Target="/ppt/slides/slide45.xml" Id="R753785a0dded47f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7fbc0a04e6849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eff1def18f74fa7" /><Relationship Type="http://schemas.openxmlformats.org/officeDocument/2006/relationships/notesMaster" Target="/ppt/notesMasters/notesMaster1.xml" Id="Rdeed4338167b49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b980132378174cb3" /><Relationship Type="http://schemas.openxmlformats.org/officeDocument/2006/relationships/notesMaster" Target="/ppt/notesMasters/notesMaster1.xml" Id="Rc926d8944f2f4c14" /></Relationships>
</file>

<file path=ppt/notesSlides/_rels/notesSlide3.xml.rels>&#65279;<?xml version="1.0" encoding="utf-8"?><Relationships xmlns="http://schemas.openxmlformats.org/package/2006/relationships"><Relationship Type="http://schemas.openxmlformats.org/officeDocument/2006/relationships/slide" Target="/ppt/slides/slide3.xml" Id="R4ff4f427e7554a1e" /><Relationship Type="http://schemas.openxmlformats.org/officeDocument/2006/relationships/notesMaster" Target="/ppt/notesMasters/notesMaster1.xml" Id="Rb28e86e90b1c4625" /></Relationships>
</file>

<file path=ppt/notesSlides/_rels/notesSlide4.xml.rels>&#65279;<?xml version="1.0" encoding="utf-8"?><Relationships xmlns="http://schemas.openxmlformats.org/package/2006/relationships"><Relationship Type="http://schemas.openxmlformats.org/officeDocument/2006/relationships/slide" Target="/ppt/slides/slide4.xml" Id="R942461dfa4cd49e2" /><Relationship Type="http://schemas.openxmlformats.org/officeDocument/2006/relationships/notesMaster" Target="/ppt/notesMasters/notesMaster1.xml" Id="Rbdd68cb4041b4a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867a4ef80fe4881" /><Relationship Type="http://schemas.openxmlformats.org/officeDocument/2006/relationships/notesMaster" Target="/ppt/notesMasters/notesMaster1.xml" Id="R7edef36451c449e6" /></Relationships>
</file>

<file path=ppt/notesSlides/_rels/notesSlide6.xml.rels>&#65279;<?xml version="1.0" encoding="utf-8"?><Relationships xmlns="http://schemas.openxmlformats.org/package/2006/relationships"><Relationship Type="http://schemas.openxmlformats.org/officeDocument/2006/relationships/slide" Target="/ppt/slides/slide6.xml" Id="R079e2db1c6994c7c" /><Relationship Type="http://schemas.openxmlformats.org/officeDocument/2006/relationships/notesMaster" Target="/ppt/notesMasters/notesMaster1.xml" Id="R3b6391c5754f4bfd" /></Relationships>
</file>

<file path=ppt/notesSlides/_rels/notesSlide7.xml.rels>&#65279;<?xml version="1.0" encoding="utf-8"?><Relationships xmlns="http://schemas.openxmlformats.org/package/2006/relationships"><Relationship Type="http://schemas.openxmlformats.org/officeDocument/2006/relationships/slide" Target="/ppt/slides/slide7.xml" Id="R78877ff2e1fc4e81" /><Relationship Type="http://schemas.openxmlformats.org/officeDocument/2006/relationships/notesMaster" Target="/ppt/notesMasters/notesMaster1.xml" Id="R356f67fe03944466" /></Relationships>
</file>

<file path=ppt/notesSlides/_rels/notesSlide8.xml.rels>&#65279;<?xml version="1.0" encoding="utf-8"?><Relationships xmlns="http://schemas.openxmlformats.org/package/2006/relationships"><Relationship Type="http://schemas.openxmlformats.org/officeDocument/2006/relationships/slide" Target="/ppt/slides/slide8.xml" Id="Rc50e11cd3797435a" /><Relationship Type="http://schemas.openxmlformats.org/officeDocument/2006/relationships/notesMaster" Target="/ppt/notesMasters/notesMaster1.xml" Id="R44fdc345b2194f2d"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b175109a954c74" /><Relationship Type="http://schemas.openxmlformats.org/officeDocument/2006/relationships/notesMaster" Target="/ppt/notesMasters/notesMaster1.xml" Id="R506091a3da7b448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f57f716f9fe47c0" /><Relationship Type="http://schemas.openxmlformats.org/officeDocument/2006/relationships/notesMaster" Target="/ppt/notesMasters/notesMaster1.xml" Id="R12ff888bb57548f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822eee278df473f" /><Relationship Type="http://schemas.openxmlformats.org/officeDocument/2006/relationships/notesMaster" Target="/ppt/notesMasters/notesMaster1.xml" Id="R738797695c73465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a3f922d35a44f4a" /><Relationship Type="http://schemas.openxmlformats.org/officeDocument/2006/relationships/notesMaster" Target="/ppt/notesMasters/notesMaster1.xml" Id="R17b3d845a40b4f8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9567fa8a6134d90" /><Relationship Type="http://schemas.openxmlformats.org/officeDocument/2006/relationships/notesMaster" Target="/ppt/notesMasters/notesMaster1.xml" Id="R3a28cc7ee14148f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f810f69e4224243" /><Relationship Type="http://schemas.openxmlformats.org/officeDocument/2006/relationships/notesMaster" Target="/ppt/notesMasters/notesMaster1.xml" Id="Rf72379c535a347a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a4ef437e1db42bf" /><Relationship Type="http://schemas.openxmlformats.org/officeDocument/2006/relationships/notesMaster" Target="/ppt/notesMasters/notesMaster1.xml" Id="R18e14cd97951496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cd9b748f81248dd" /><Relationship Type="http://schemas.openxmlformats.org/officeDocument/2006/relationships/notesMaster" Target="/ppt/notesMasters/notesMaster1.xml" Id="Rfeffa8f7bf794f5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63406a7465f486e" /><Relationship Type="http://schemas.openxmlformats.org/officeDocument/2006/relationships/notesMaster" Target="/ppt/notesMasters/notesMaster1.xml" Id="R8757b9f50b1d40f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9867a51579f496d" /><Relationship Type="http://schemas.openxmlformats.org/officeDocument/2006/relationships/notesMaster" Target="/ppt/notesMasters/notesMaster1.xml" Id="R2491b776c9a545d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9f8a374c79643e4" /><Relationship Type="http://schemas.openxmlformats.org/officeDocument/2006/relationships/notesMaster" Target="/ppt/notesMasters/notesMaster1.xml" Id="Rcc2455816c474ce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91141a833d6403e" /><Relationship Type="http://schemas.openxmlformats.org/officeDocument/2006/relationships/notesMaster" Target="/ppt/notesMasters/notesMaster1.xml" Id="R7e77019d7a7045c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8af67a25f8e40be" /><Relationship Type="http://schemas.openxmlformats.org/officeDocument/2006/relationships/notesMaster" Target="/ppt/notesMasters/notesMaster1.xml" Id="R082fdba5434143e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ed7cb22c6ba4cfa" /><Relationship Type="http://schemas.openxmlformats.org/officeDocument/2006/relationships/notesMaster" Target="/ppt/notesMasters/notesMaster1.xml" Id="R3ce2582db1e9491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2e6abf46ee542ea" /><Relationship Type="http://schemas.openxmlformats.org/officeDocument/2006/relationships/notesMaster" Target="/ppt/notesMasters/notesMaster1.xml" Id="Rc65f4ed88c28414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5ea359c9e764a42" /><Relationship Type="http://schemas.openxmlformats.org/officeDocument/2006/relationships/notesMaster" Target="/ppt/notesMasters/notesMaster1.xml" Id="Rbd08e440c2ba4fe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9d80dc871134775" /><Relationship Type="http://schemas.openxmlformats.org/officeDocument/2006/relationships/notesMaster" Target="/ppt/notesMasters/notesMaster1.xml" Id="R5d76683eaa87441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e32846a7c5c4ae7" /><Relationship Type="http://schemas.openxmlformats.org/officeDocument/2006/relationships/notesMaster" Target="/ppt/notesMasters/notesMaster1.xml" Id="Rd839de0fab4a4fe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1c687a211a2490b" /><Relationship Type="http://schemas.openxmlformats.org/officeDocument/2006/relationships/notesMaster" Target="/ppt/notesMasters/notesMaster1.xml" Id="R8c2fb1434367448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19df0b83b5048e4" /><Relationship Type="http://schemas.openxmlformats.org/officeDocument/2006/relationships/notesMaster" Target="/ppt/notesMasters/notesMaster1.xml" Id="Rc564a00807f647f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2053e2920574c33" /><Relationship Type="http://schemas.openxmlformats.org/officeDocument/2006/relationships/notesMaster" Target="/ppt/notesMasters/notesMaster1.xml" Id="R0d0287704e474b0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1213c1424da4a23" /><Relationship Type="http://schemas.openxmlformats.org/officeDocument/2006/relationships/notesMaster" Target="/ppt/notesMasters/notesMaster1.xml" Id="R9ef265a740a548e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52cd9e0ddf2451c" /><Relationship Type="http://schemas.openxmlformats.org/officeDocument/2006/relationships/notesMaster" Target="/ppt/notesMasters/notesMaster1.xml" Id="Re7fbce032013461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9f597893b3a4caf" /><Relationship Type="http://schemas.openxmlformats.org/officeDocument/2006/relationships/notesMaster" Target="/ppt/notesMasters/notesMaster1.xml" Id="R9929c0252dd84a5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884b523100b4e52" /><Relationship Type="http://schemas.openxmlformats.org/officeDocument/2006/relationships/notesMaster" Target="/ppt/notesMasters/notesMaster1.xml" Id="R33f8f312e4424b8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bef3e133ede493d" /><Relationship Type="http://schemas.openxmlformats.org/officeDocument/2006/relationships/notesMaster" Target="/ppt/notesMasters/notesMaster1.xml" Id="R98a46db855a746f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bd666b483ff4f31" /><Relationship Type="http://schemas.openxmlformats.org/officeDocument/2006/relationships/notesMaster" Target="/ppt/notesMasters/notesMaster1.xml" Id="R4bdce23694fb476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926d3e57d4a4301" /><Relationship Type="http://schemas.openxmlformats.org/officeDocument/2006/relationships/notesMaster" Target="/ppt/notesMasters/notesMaster1.xml" Id="R2862a2c9b03847c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851cac6139c498b" /><Relationship Type="http://schemas.openxmlformats.org/officeDocument/2006/relationships/notesMaster" Target="/ppt/notesMasters/notesMaster1.xml" Id="R6bb7d0f71f54426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f9ad87e5aa34941" /><Relationship Type="http://schemas.openxmlformats.org/officeDocument/2006/relationships/notesMaster" Target="/ppt/notesMasters/notesMaster1.xml" Id="R7b192f86f2df439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7d84573708c4561" /><Relationship Type="http://schemas.openxmlformats.org/officeDocument/2006/relationships/notesMaster" Target="/ppt/notesMasters/notesMaster1.xml" Id="R88011e6b73a7406d"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e26b39aaa5841f9" /><Relationship Type="http://schemas.openxmlformats.org/officeDocument/2006/relationships/notesMaster" Target="/ppt/notesMasters/notesMaster1.xml" Id="Re38b62ed9a1740d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ed2804547954e50" /><Relationship Type="http://schemas.openxmlformats.org/officeDocument/2006/relationships/notesMaster" Target="/ppt/notesMasters/notesMaster1.xml" Id="R75a9793860224d7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a47a8641f4c45ac" /><Relationship Type="http://schemas.openxmlformats.org/officeDocument/2006/relationships/notesMaster" Target="/ppt/notesMasters/notesMaster1.xml" Id="Re2c5371cea1e4dd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aa9484517b24875" /><Relationship Type="http://schemas.openxmlformats.org/officeDocument/2006/relationships/notesMaster" Target="/ppt/notesMasters/notesMaster1.xml" Id="Rae6012a973ee49f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8433b19a32a4a2b" /><Relationship Type="http://schemas.openxmlformats.org/officeDocument/2006/relationships/notesMaster" Target="/ppt/notesMasters/notesMaster1.xml" Id="R888de76f3cad414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eee880c98664e1a" /><Relationship Type="http://schemas.openxmlformats.org/officeDocument/2006/relationships/notesMaster" Target="/ppt/notesMasters/notesMaster1.xml" Id="R2a930126fff1448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初の4枚は前回の問題設定をそのまま残しました。そこに書かれた限界の一部は研究上の仮説であり、今回すべてを実証したわけではありません。今回の問いは、残す値を条件にして置換値をどう作るかです。まず身長と体重で考え、仕組みを定義し、実装へ接続します。</a:t>
            </a:r>
          </a:p>
          <a:p xmlns:a="http://schemas.openxmlformats.org/drawingml/2006/main">
            <a:r>
              <a:t/>
            </a:r>
          </a:p>
          <a:p xmlns:a="http://schemas.openxmlformats.org/drawingml/2006/main">
            <a:r>
              <a:t>次ページへのつなぎ：まず、体重だけ分かる人の身長を考える。</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以下はすべて説明用の架空例です。未知の身長が横軸なので、新しい人の点の位置はまだ決まりません。縦軸70kg付近の帯にいる人を集めることはできます。平均を取るなら点予測、値をランダムに選ぶなら条件付き生成です。近傍法は有効な比較対象です。</a:t>
            </a:r>
          </a:p>
          <a:p xmlns:a="http://schemas.openxmlformats.org/drawingml/2006/main">
            <a:r>
              <a:t/>
            </a:r>
          </a:p>
          <a:p xmlns:a="http://schemas.openxmlformats.org/drawingml/2006/main">
            <a:r>
              <a:t>次ページへのつなぎ：一つの身長ではなく、身長の分布を考える。</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連続変数のY=70という条件は確率ゼロの事象への通常の割り算ではなく、条件密度や正則条件付き分布で扱います。ここでは70kgを観測した際の身長の分布という直感を優先します。近傍法は近い観測行から、コピュラ法は推定した同時確率モデルから条件付き分布を求めます。コピュラは条件付き生成の唯一の方法ではありません。</a:t>
            </a:r>
          </a:p>
          <a:p xmlns:a="http://schemas.openxmlformats.org/drawingml/2006/main">
            <a:r>
              <a:t/>
            </a:r>
          </a:p>
          <a:p xmlns:a="http://schemas.openxmlformats.org/drawingml/2006/main">
            <a:r>
              <a:t>次ページへのつなぎ：その分布を作るため、値の分布と組合せを分ける。</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体重の集合48,57,68,82はどちらの列も同じ。各列の分布だけでは組合せは決まりません。コピュラは列を独立にする操作ではなく、周辺分布と依存構造で元の同時分布を表す仕組みです。</a:t>
            </a:r>
          </a:p>
          <a:p xmlns:a="http://schemas.openxmlformats.org/drawingml/2006/main">
            <a:r>
              <a:t/>
            </a:r>
          </a:p>
          <a:p xmlns:a="http://schemas.openxmlformats.org/drawingml/2006/main">
            <a:r>
              <a:t>次ページへのつなぎ：組合せを単位によらず表すため、各値を確率位置へ変える。</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ページの4人とは別の10人の説明用集団です。同じ集団を使って身長と体重の周辺を学びます。今回は70kg以下が7人と仮定しFY(70)=.7。累積確率は70kgそのものの確率ではありません。有限表の経験分布は階段状で、連続一様という理論と区別します。</a:t>
            </a:r>
          </a:p>
          <a:p xmlns:a="http://schemas.openxmlformats.org/drawingml/2006/main">
            <a:r>
              <a:t/>
            </a:r>
          </a:p>
          <a:p xmlns:a="http://schemas.openxmlformats.org/drawingml/2006/main">
            <a:r>
              <a:t>次ページへのつなぎ：一人につき、身長と体重の二つの位置を作る。</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人についてU=FX(X),V=FY(Y)を作ります。右の数値は説明用で、前ページ10人と一致する経験分布を全点で定めたものではありません。生の散布図でも依存は見えます。単調変換は順位を保ちますが、距離や形は変えるので一般に同一図ではありません。目的は周辺を共通化し依存を表すことです。</a:t>
            </a:r>
          </a:p>
          <a:p xmlns:a="http://schemas.openxmlformats.org/drawingml/2006/main">
            <a:r>
              <a:t/>
            </a:r>
          </a:p>
          <a:p xmlns:a="http://schemas.openxmlformats.org/drawingml/2006/main">
            <a:r>
              <a:t>次ページへのつなぎ：位置の組の分布を、コピュラという関数で定義する。</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定義は各成分がUniform(0,1)である同時CDFです。点の集合自体や相関係数そのものをコピュラとは呼びません。C(.6,.7)は身長位置下位60%かつ体重位置下位70%の確率であり、体重位置ちょうど.7を条件にした確率ではありません。一様周辺でも独立とは限りません。境界条件と独立minの説明は補足へ。</a:t>
            </a:r>
          </a:p>
          <a:p xmlns:a="http://schemas.openxmlformats.org/drawingml/2006/main">
            <a:r>
              <a:t/>
            </a:r>
          </a:p>
          <a:p xmlns:a="http://schemas.openxmlformats.org/drawingml/2006/main">
            <a:r>
              <a:t>次ページへのつなぎ：この定義を元の身長・体重に結びつける。</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Sklarの定理。Hは元のjoint CDF。連続周辺ならC一意、離散では周辺CDFの値域に制限した部分しか一意でない。これは分解の存在でありGaussianが真のcopulaという保証ではありません。生成では逆CDFで戻します。一般化逆FX^-1(u)=inf{x:FX(x)≥u}。</a:t>
            </a:r>
          </a:p>
          <a:p xmlns:a="http://schemas.openxmlformats.org/drawingml/2006/main">
            <a:r>
              <a:t/>
            </a:r>
          </a:p>
          <a:p xmlns:a="http://schemas.openxmlformats.org/drawingml/2006/main">
            <a:r>
              <a:t>次ページへのつなぎ：実際に条件付き分布を計算するため、Cのモデルを選ぶ。</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Gaussian copulaは周辺CDFと逆標準正規CDFにより潜在Zを作り、多変量正規N(0,R)を仮定します。元のX,Yが正規という仮定ではない。正規化は依存をGaussianに変える保証ではなく、Gaussian copulaの仮定を置いて近似する。条件式が解析的に求まるのが選択理由。U型や非対称裾等に万能でない。</a:t>
            </a:r>
          </a:p>
          <a:p xmlns:a="http://schemas.openxmlformats.org/drawingml/2006/main">
            <a:r>
              <a:t/>
            </a:r>
          </a:p>
          <a:p xmlns:a="http://schemas.openxmlformats.org/drawingml/2006/main">
            <a:r>
              <a:t>次ページへのつなぎ：まず、訓練データから周辺分布と相関Rを学ぶ。</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fitはラベルなし訓練データのみを使い、テストから推定しません。各列をソートし平均順位(r−.5)/nで位置を近似し端点を避ける。Φ^-1で変換しcorrcoefでRを推定。実装は.05identity shrinkageとjitterを入れる。ここでρ=.6は説明用で、実データの推定値ではありません。</a:t>
            </a:r>
          </a:p>
          <a:p xmlns:a="http://schemas.openxmlformats.org/drawingml/2006/main">
            <a:r>
              <a:t/>
            </a:r>
          </a:p>
          <a:p xmlns:a="http://schemas.openxmlformats.org/drawingml/2006/main">
            <a:r>
              <a:t>次ページへのつなぎ：学習したモデルに、観測した70kgという条件を入れる。</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一貫した説明例ではFY(70)=.7,zY=Φ^-1(.7)=.5244005、ρ=.6。条件Zx|Zy=zY~N(.3146403,.64)、標準偏差.8。ρ=1退化などは除く。数式は入力条件により平均が変わり、未知部分の不確実さは分散で残ることを表す。</a:t>
            </a:r>
          </a:p>
          <a:p xmlns:a="http://schemas.openxmlformats.org/drawingml/2006/main">
            <a:r>
              <a:t/>
            </a:r>
          </a:p>
          <a:p xmlns:a="http://schemas.openxmlformats.org/drawingml/2006/main">
            <a:r>
              <a:t>次ページへのつなぎ：この身長の分布から値を一つ引き、cmに戻す。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ε~N(0,1)を引きzX=.315+.8ε、u=Φ(zX)、x=FX^-1(u)。このスライドは3回の説明用の乱数であり等確率3択ではありません。身長の周辺は説明用N(170,10²)と仮定し、x=170+10zX。ε=-1,0,1で165.15,173.15,181.15。経験周辺は実装linear quantileで戻す。70kgへのPITは前10人例、身長は説明用正規で、実測を主張しない。</a:t>
            </a:r>
          </a:p>
          <a:p xmlns:a="http://schemas.openxmlformats.org/drawingml/2006/main">
            <a:r>
              <a:t/>
            </a:r>
          </a:p>
          <a:p xmlns:a="http://schemas.openxmlformats.org/drawingml/2006/main">
            <a:r>
              <a:t>次ページへのつなぎ：同じ操作を、VIMEで置換する特徴に適用する。</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欠損補完は未知の値を埋める目的、本研究は学習用拡張のため意図的にmaskした値を置き換える目的です。置換対象Mと観測列O。P(XM|XO)から同時生成。VIMEのmask/reconstructionとconsistency枠組みは同じ、corruptorだけ変更。自然な組合せが分類ラベルを保持するとは限らない。</a:t>
            </a:r>
          </a:p>
          <a:p xmlns:a="http://schemas.openxmlformats.org/drawingml/2006/main">
            <a:r>
              <a:t/>
            </a:r>
          </a:p>
          <a:p xmlns:a="http://schemas.openxmlformats.org/drawingml/2006/main">
            <a:r>
              <a:t>次ページへのつなぎ：まず、置換後に特徴の関係が保たれるかを確認する。</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合成2500行、Z2=.8Z1+.6ε、第一列固定、第二列全mask、seed20261004、生成rng314159。fitと生成は同じデータで汎化性能実験ではない。表示先頭180行、相関全2500。潜在相関shrink.05によりcopulaの関係が少し弱まる。Gaussianの仮定に合う例で、非Gaussian性能やクラス保持を証明しない。</a:t>
            </a:r>
          </a:p>
          <a:p xmlns:a="http://schemas.openxmlformats.org/drawingml/2006/main">
            <a:r>
              <a:t/>
            </a:r>
          </a:p>
          <a:p xmlns:a="http://schemas.openxmlformats.org/drawingml/2006/main">
            <a:r>
              <a:t>次ページへのつなぎ：次は、同じVIME条件で分類への効果を比較する。</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前版で実行済みの2026/10/4の実測結果で再実験ではありません。共通PyTorchVIME、80/20stratified split、label30%train、4x32MLP、self15epochs semi300iterations、batch64mask.4CPU、seed11,23,37,51,67。各2手法は同一環境で置換器のみ変更。原論文実験環境の完全再現ではありません。ROC AUC主指標二値positive、多クラスmacroOVR。95%CIはpaired seed差のbootstrap、両0含む。5回重複holdoutの探索比較。</a:t>
            </a:r>
          </a:p>
          <a:p xmlns:a="http://schemas.openxmlformats.org/drawingml/2006/main">
            <a:r>
              <a:t/>
            </a:r>
          </a:p>
          <a:p xmlns:a="http://schemas.openxmlformats.org/drawingml/2006/main">
            <a:r>
              <a:t>次ページへのつなぎ：最後に、確認できたことと今後の研究課題を整理する。</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本編の到達点です。近傍法から始めて条件付き分布という目的を示し、周辺と依存を分けるコピュラ、Gaussianによる実装へ進みました。研究課題は生成品質、元行からの変更量、class preservation、下流分類performanceを分けて評価すること。近傍によるjoint row resamplingも対照に含める。次ページから補足なので通常発表ではここで終える。</a:t>
            </a:r>
          </a:p>
          <a:p xmlns:a="http://schemas.openxmlformats.org/drawingml/2006/main">
            <a:r>
              <a:t/>
            </a:r>
          </a:p>
          <a:p xmlns:a="http://schemas.openxmlformats.org/drawingml/2006/main">
            <a:r>
              <a:t>次ページへのつなぎ：ここで本編終了。質問に応じて補足の定義・種類・実験条件へ進む。</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Vは0から1なのでV≤1は必ず成立します。そのためU≤uかつV≤1はU≤uと同じ事象です。さらにUが一様分布なのでP(U≤u)=uです。ここには独立という仮定は不要です。C(1,v)=vも同じです。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独立の定義P(A∩B)=P(A)P(B)を使います。1000人という例は期待される割合の説明であり有限標本で必ずこの人数になるという保証ではありません。身長が80%範囲の800人でも体重下位50%の割合が50%のままなので約400人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位置というのは身長cmと体重kgの数値が等しいことではありません。一つの位置Uに両方のしきい値を課すので厳しい方が残ります。U≤.8かつU≤.5はU≤.5です。一様性により確率.5。連続的な完全同方向依存は対角線に集中し通常の二次元密度を持ち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優れているかは真の依存構造、次元、標本数、目的、推定の安定性に依存します。この表は適する可能性のある条件です。全種類の完全な列挙ではありません。Archimedeanという共通枠組みの家族としてClayton Gumbel Frank Joeがあり、Vineは異なる家族を組み合わせる構成法です。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a:p xmlns:a="http://schemas.openxmlformats.org/drawingml/2006/main">
            <a:r>
              <a:t>https://doi.org/10.1111/j.1751-5823.2005.tb00254.x</a:t>
            </a:r>
          </a:p>
          <a:p xmlns:a="http://schemas.openxmlformats.org/drawingml/2006/main">
            <a:r>
              <a:t>https://www.annualreviews.org/content/journals/10.1146/annurev-statistics-040220-101153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潜在空間条件付きサンプリングは広い概念です。Gaussian copulaでは周辺CDFとΦ^-1による明示的変換を使い、Zの正規同時分布を仮定します。ニューラルencoderの学習表現を条件付き生成する手法は、一般に周辺が一様である制約やSklar分解を持ちません。両者は排他的ではなく、encoder潜在にcopulaを適用する設計も可能ですが現在実装してい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ソースはresearch-bench/scripts/quick_compare.pyとresults/repeated_compare.jsonです。列シャッフル版とGaussian版は同じVIME再実装内です。共通データ分割、ラベル比率、前処理、モデル、学習予算、初期seedを使う。方法ごとの乱数消費が違うので全学習過程で同じマスクを使うとまでは言いません。nviews3、λconsistency1、復元重み2、mask.4。テストはモデル選択に用いてい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eated_compare.jsonの保存結果です。差は同じseedに対応付けて計算した平均。95%CIはseed差のbootstrap。わずか5組の探索的比較で、繰り返しholdoutの訓練テストは重なり得る。95%CIには0が入り、改善実証や統計的優位を主張できません。wineは標準偏差が大きい。保存結果を今回再実行した結果と混同しません。</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[0,1]^2→[0,1]。境界条件と2-increasingでCDFを特徴付けます。矩形の確率の包含排除です。高次元では各直方体のCの交代和が非負というd-increasingに一般化します。これが単なる好きな曲線と確率分布を区別する条件です。</a:t>
            </a:r>
          </a:p>
          <a:p xmlns:a="http://schemas.openxmlformats.org/drawingml/2006/main">
            <a:r>
              <a:t/>
            </a:r>
          </a:p>
          <a:p xmlns:a="http://schemas.openxmlformats.org/drawingml/2006/main">
            <a:r>
              <a:t>出典・根拠</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FXが連続で狭義増加なら通常の逆関数で導出できます。単に連続の場合も一般化逆関数で定理成立。離散型ではPITは連続一様ではなく飛びがあります。ランダム化PIT U=F(X−)+W(F(X)−F(X−))などもあるが順序閾値潜在モデル等との目的違いに注意。実装の平均順位は一様性の近似で同値問題を完全解決するわけではありません。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十分な絶対連続性と微分可能性を仮定します。c=∂²C/∂u∂v。連鎖律からjoint densityを得ます。fX(x)&gt;0で割ると条件密度。Vの条件CDFは∂C(u,v)/∂u、U=uに条件付ける意味は正則条件付き分布を使います。V=U等の特異コピュラに通常の密度はありません。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の周辺は標準正規、相関行列は対角1で正定値（退化の場合半正定値）。多変量正規CDFで同時確率を計算します。パラメータRはd(d−1)/2個で、データが少なくdが大きければ正則化が必要です。Gaussianは変換後のPearsonでRを推定してい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をMとOの順へ並べるとブロック相関行列[[RMM,RMO],[ROM,ROO]]。ROO可逆を仮定。条件平均と共分散で一緒に引く。実装は逆行列を明示計算せずsolveを使い、正則化してCholeskyを取る。観測値が標準0でない場合にも式は平均0のjointモデルに対する条件式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コードcorruption.pyを根拠に記載。平均順位(r−.5)/n、クリップ1e−6、R=.95R+.05I、固有値min jitter1e−6。条件計算ではROO+jitterIをsolve、cov symmetric+jitter。端点クリップと線形分位点補間のため、厳密に理論的経験周辺を完全保存するとは言わない。マスク推定actualmask=x≠corruptedなので同値置換の場合実際マスク率が変わります。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νは1変量tCDF、tν,Rは多変量tCDF。自由度νとRを使う。λU=λL=2tν+1(−√((ν+1)(1−ρ)/(1+ρ)))。ν大でGaussianに近づく。ρ=0でも有限νでは共有スケールにより一般に独立ではない。周辺がtでないデータにもtコピュラを組み合わせられる。条件付きlatent tは自由度等が条件で変化するのでGaussian samplerを単に差し替えれば済む訳ではありません。</a:t>
            </a:r>
          </a:p>
          <a:p xmlns:a="http://schemas.openxmlformats.org/drawingml/2006/main">
            <a:r>
              <a:t/>
            </a:r>
          </a:p>
          <a:p xmlns:a="http://schemas.openxmlformats.org/drawingml/2006/main">
            <a:r>
              <a:t>出典・根拠</a:t>
            </a:r>
          </a:p>
          <a:p xmlns:a="http://schemas.openxmlformats.org/drawingml/2006/main">
            <a:r>
              <a:t>https://doi.org/10.1111/j.1751-5823.2005.tb00254.x</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はθ&gt;0の通常の正依存の場合に限定しています。二変量では負θも許す範囲があるがd次元では制約が変わります。λL=2^-1/θ、λU=0。θ→0で独立。θ高で強い同方向依存。上側の極端共発生には通常形は向かず180°回転で上側に変更でき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Gumbelθ≥1、θ=1で独立、λU=2−2^(1/θ)、λL=0。Joe同じθ≥1と裾係数ですが内部の依存形が異なり同一copulaではありません。Joe C=1−[(1−u)^θ+(1−v)^θ−(1−u)^θ(1−v)^θ]^(1/θ)。単一パラメータ交換可能多変量の制限あり。</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変量θ∈R{0}で正負の依存を扱いθ→0で独立。高次元で負thetaの一般化は制約があるため表の正負は二変量に限定。裾依存0でも有限の確率域で依存がないという意味ではありません。Gaussianとは別の依存形です。数式の括弧と分子をノートで読む。</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180°survival C=u+v−1+C(1−u,1−v)は上下の裾を交換。90/270で負依存のコーナーを扱います。Vineは条件付き2変量コピュラの積で多変量密度構成。simplifying assumptionは条件値によらず条件付きcopula一定であり条件付き独立ではない。経験/経験betaなどは柔軟だが高次元で条件付き推定が難しくなる。</a:t>
            </a:r>
          </a:p>
          <a:p xmlns:a="http://schemas.openxmlformats.org/drawingml/2006/main">
            <a:r>
              <a:t/>
            </a:r>
          </a:p>
          <a:p xmlns:a="http://schemas.openxmlformats.org/drawingml/2006/main">
            <a:r>
              <a:t>出典・根拠</a:t>
            </a:r>
          </a:p>
          <a:p xmlns:a="http://schemas.openxmlformats.org/drawingml/2006/main">
            <a:r>
              <a:t>https://www.annualreviews.org/content/journals/10.1146/annurev-statistics-040220-101153</a:t>
            </a:r>
          </a:p>
          <a:p xmlns:a="http://schemas.openxmlformats.org/drawingml/2006/main">
            <a:r>
              <a:t>https://arxiv.org/abs/1607.04430</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評価1〜5や低中高は順序カテゴリです。満足度5−4と2−1に同じ間隔を仮定できるとは限りません。名義変数は順番なし、連続変数は差に意味がある。順序Gaussian copulaは潜在連続Zを閾値で区切って観測カテゴリに対応させます。カテゴリを単なる連続順位として補間すると2.7など不適切な値が生じるため現在実装の対象外です。</a:t>
            </a:r>
          </a:p>
          <a:p xmlns:a="http://schemas.openxmlformats.org/drawingml/2006/main">
            <a:r>
              <a:t/>
            </a:r>
          </a:p>
          <a:p xmlns:a="http://schemas.openxmlformats.org/drawingml/2006/main">
            <a:r>
              <a:t>出典・根拠</a:t>
            </a:r>
          </a:p>
          <a:p xmlns:a="http://schemas.openxmlformats.org/drawingml/2006/main">
            <a:r>
              <a:t>https://arxiv.org/abs/1910.12845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Missing Value Imputation for Mixed Data via Gaussian Copula。混合型と欠損が現実の課題。各列の型を無視した一律距離や線形仮定への代わりに潜在Gaussian。順序値はZの区間、連続値は変換されたZ点。EMでRと条件期待を推定し逆変換。実験は合成/実データ、欠損補完誤差（連続NRMSE、順序MAE等条件に応じ）を比較。分類用拡張の優位を示す論文ではなく、本研究には型の扱いと条件分布設計が接続する。数値を未検証に引用せず、詳細実験は原論文参照。</a:t>
            </a:r>
          </a:p>
          <a:p xmlns:a="http://schemas.openxmlformats.org/drawingml/2006/main">
            <a:r>
              <a:t/>
            </a:r>
          </a:p>
          <a:p xmlns:a="http://schemas.openxmlformats.org/drawingml/2006/main">
            <a:r>
              <a:t>出典・根拠</a:t>
            </a:r>
          </a:p>
          <a:p xmlns:a="http://schemas.openxmlformats.org/drawingml/2006/main">
            <a:r>
              <a:t>https://arxiv.org/abs/1910.12845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Explaining individual predictions when features are dependent: More accurate approximations to Shapley values。KernelSHAP型の無条件周辺からの抽出は、残した特徴との依存を無視して不自然な入力を作り得る。論文はGaussian、Gaussian copula、empirical、hybrid conditional approximations。シミュレーションで基準Shapley値からのMAEと不自然入力を分析。銀行実データ28特徴ではhybridの使用。Gaussian copulaが常に勝つとは報告しない。本研究はP(XM|XO)を使う同じ生成問題に接続、目的は説明でなく学習拡張なので評価を改めて行う。</a:t>
            </a:r>
          </a:p>
          <a:p xmlns:a="http://schemas.openxmlformats.org/drawingml/2006/main">
            <a:r>
              <a:t/>
            </a:r>
          </a:p>
          <a:p xmlns:a="http://schemas.openxmlformats.org/drawingml/2006/main">
            <a:r>
              <a:t>出典・根拠</a:t>
            </a:r>
          </a:p>
          <a:p xmlns:a="http://schemas.openxmlformats.org/drawingml/2006/main">
            <a:r>
              <a:t>https://martinjullum.com/publication/aas-2021-explaining/aas-2021-explaining.pdf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Cui et al.2024は対照学習、擬似ラベルとクラス内corruption、特徴相関ベースmaskなど。公式コードの比較はrand_featsマスクなので完全な提案設定の再現とは言わない。今回のVIMEとの比較では目的関数などが異なるためcopula効果の因果分離はできません。単独の置換器比較はVIME2版を優先します。確認バイアスを本論文が不可逆と実証したとの断定は避けます。</a:t>
            </a:r>
          </a:p>
          <a:p xmlns:a="http://schemas.openxmlformats.org/drawingml/2006/main">
            <a:r>
              <a:t/>
            </a:r>
          </a:p>
          <a:p xmlns:a="http://schemas.openxmlformats.org/drawingml/2006/main">
            <a:r>
              <a:t>出典・根拠</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主指標macroROC AUC OVRは多クラスで各クラスvs残りAUCの単純平均。二値は陽性クラスのAUC（両クラス対称では同じ）。balanced accuracyは各クラスrecallの平均、macroF1は各クラスF1の平均、accuracyは全体正解率。テスト20%でwine36件と小さく不安定。5 seedsは独立サンプル5個とは異なる再分割。少標本CI過信しない。</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データと分割・幅とepoch予算は合わせるがself-supervised objective、optimizer、pseudo-label bootstrap等は異なる。論文全設定の再現ではない。VIME vs copulaの2行差からのみ置換器変更の効果を検討し、第三法の勝敗はアルゴリズム一式の小規模参考比較です。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各答えは研究者の設計意図か確立した数学的事実かを分けます。なぜGaussian=まず安定し扱いやすいconditional、なぜコピーでなく生成=observed valuesに連続調整し多様性を出せるが既知制約保証はない、なぜラベルなし=依存の推定にラベルは要らないがlabel invarianceとは別、なぜ性能不確定=小規模結果と仮定・強度が未検証。</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qは確率位置のしきい値。上下で極限をとる方向が異なる。λL=limq→0 C(q,q)/q、λU=limq→1 (1−2q+C(q,q))/(1−q)。Gaussianの非退化ρ∈(−1,1)は両方0、完全同方向ρ=1は1。有限qでは依存がある場合がある。</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https://doi.org/10.1111/j.1751-5823.2005.tb00254.x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実装：自己教師ありL=BCE(mask_hat,actualmask)+2MSE(x_hat,x)。actualmask=(x!=x_corrupted)。エンコーダは前学習後freeze、予測器をラベルありCEとラベルなし拡張3viewのlogit分散の一貫性で学習。λconsistency1。原論文はマスク推定復元と半教師ありregularizationの枠組みを提案、現在のPyTorch版の実装選択とは区別。ソースvime_torch.py。</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実際のCorruptor APIは__call__です。GaussianCopulaCorruptor().fit(x_u)後にcopula(x,mask,rng)。VIMEClassifierはpretrain内部でfitを呼びます。maskはTrueの列を置換。実験run_experiment.pyとrun_toy.pyから実行。ここはコード概念でなく現在APIに対応した抜粋。ラベルなし訓練のみfit、テスト禁止。</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スライドのノートには対応する原資料URLまたはローカル実装を記載しています。このスライドは主要出典の一覧です。公式文書・原論文中心。データや数学の説明例は説明用で、引用結果と区別してい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a:p xmlns:a="http://schemas.openxmlformats.org/drawingml/2006/main">
            <a:r>
              <a:t>https://doi.org/10.1111/j.1751-5823.2005.tb00254.x</a:t>
            </a:r>
          </a:p>
          <a:p xmlns:a="http://schemas.openxmlformats.org/drawingml/2006/main">
            <a:r>
              <a:t>https://www.annualreviews.org/content/journals/10.1146/annurev-statistics-040220-101153</a:t>
            </a:r>
          </a:p>
          <a:p xmlns:a="http://schemas.openxmlformats.org/drawingml/2006/main">
            <a:r>
              <a:t>https://arxiv.org/abs/1910.12845</a:t>
            </a:r>
          </a:p>
          <a:p xmlns:a="http://schemas.openxmlformats.org/drawingml/2006/main">
            <a:r>
              <a:t>https://martinjullum.com/publication/aas-2021-explaining/aas-2021-explaining.pdf</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d18678d6c534b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ced1e3ab0b94047" /><Relationship Type="http://schemas.openxmlformats.org/officeDocument/2006/relationships/slideLayout" Target="/ppt/slideLayouts/slideLayout1.xml" Id="Rabd8cb0a64454f3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bd8cb0a64454f3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0ab19905b8145b6" /><Relationship Type="http://schemas.openxmlformats.org/officeDocument/2006/relationships/notesSlide" Target="/ppt/notesSlides/notesSlide1.xml" Id="R6980fb822156464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5d37a97398a4f90" /><Relationship Type="http://schemas.openxmlformats.org/officeDocument/2006/relationships/notesSlide" Target="/ppt/notesSlides/notesSlide2.xml" Id="R060b4419d4ae464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5f003c6ca554d32" /><Relationship Type="http://schemas.openxmlformats.org/officeDocument/2006/relationships/notesSlide" Target="/ppt/notesSlides/notesSlide3.xml" Id="R48b1b9c8112c47b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cb6acb52ee9403e" /><Relationship Type="http://schemas.openxmlformats.org/officeDocument/2006/relationships/notesSlide" Target="/ppt/notesSlides/notesSlide4.xml" Id="R30d223614296405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8b5553c1d8b42e6" /><Relationship Type="http://schemas.openxmlformats.org/officeDocument/2006/relationships/notesSlide" Target="/ppt/notesSlides/notesSlide5.xml" Id="Rf353f1006374444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cdd10068b35443a" /><Relationship Type="http://schemas.openxmlformats.org/officeDocument/2006/relationships/notesSlide" Target="/ppt/notesSlides/notesSlide6.xml" Id="R3e70376ecf174c5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10810834b38469e" /><Relationship Type="http://schemas.openxmlformats.org/officeDocument/2006/relationships/notesSlide" Target="/ppt/notesSlides/notesSlide7.xml" Id="Reeb9be1fcdd04f8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5181b49a3f5479c" /><Relationship Type="http://schemas.openxmlformats.org/officeDocument/2006/relationships/notesSlide" Target="/ppt/notesSlides/notesSlide8.xml" Id="Rf56eda087ce6492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f7589efee6140e7" /><Relationship Type="http://schemas.openxmlformats.org/officeDocument/2006/relationships/notesSlide" Target="/ppt/notesSlides/notesSlide9.xml" Id="Rc12880a1945a49e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6fabe7dd4c84aa0" /><Relationship Type="http://schemas.openxmlformats.org/officeDocument/2006/relationships/notesSlide" Target="/ppt/notesSlides/notesSlide10.xml" Id="Re27f82e21f2c4fc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3e7a89cab3e40a1" /><Relationship Type="http://schemas.openxmlformats.org/officeDocument/2006/relationships/notesSlide" Target="/ppt/notesSlides/notesSlide11.xml" Id="R1680d921d27c4ab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7cb3f71b4a642a8" /><Relationship Type="http://schemas.openxmlformats.org/officeDocument/2006/relationships/notesSlide" Target="/ppt/notesSlides/notesSlide12.xml" Id="Rd816c75201274e2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3d68a0aa9cb40e2" /><Relationship Type="http://schemas.openxmlformats.org/officeDocument/2006/relationships/notesSlide" Target="/ppt/notesSlides/notesSlide13.xml" Id="R207b155497e44e1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34f75329d314ae9" /><Relationship Type="http://schemas.openxmlformats.org/officeDocument/2006/relationships/chart" Target="/ppt/slides/charts/chart1.xml" Id="R4141a0225f8b4aba" /><Relationship Type="http://schemas.openxmlformats.org/officeDocument/2006/relationships/chart" Target="/ppt/slides/charts/chart2.xml" Id="Rc9f2fe3d476b47c2" /><Relationship Type="http://schemas.openxmlformats.org/officeDocument/2006/relationships/chart" Target="/ppt/slides/charts/chart3.xml" Id="Rb67e5c0469934799" /><Relationship Type="http://schemas.openxmlformats.org/officeDocument/2006/relationships/notesSlide" Target="/ppt/notesSlides/notesSlide14.xml" Id="Rd50d9e731e214d2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f217efdb7164f6f" /><Relationship Type="http://schemas.openxmlformats.org/officeDocument/2006/relationships/notesSlide" Target="/ppt/notesSlides/notesSlide15.xml" Id="Rf732a638816b4f3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2716168dd734338" /><Relationship Type="http://schemas.openxmlformats.org/officeDocument/2006/relationships/notesSlide" Target="/ppt/notesSlides/notesSlide16.xml" Id="Rbc3ce98a4a7d481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d3be1ebf8c345b0" /><Relationship Type="http://schemas.openxmlformats.org/officeDocument/2006/relationships/notesSlide" Target="/ppt/notesSlides/notesSlide17.xml" Id="Rcec76287252c44e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26d6b68e31e4f93" /><Relationship Type="http://schemas.openxmlformats.org/officeDocument/2006/relationships/notesSlide" Target="/ppt/notesSlides/notesSlide18.xml" Id="Ra9c1efa7b19342d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c8b5166b2ca488a" /><Relationship Type="http://schemas.openxmlformats.org/officeDocument/2006/relationships/notesSlide" Target="/ppt/notesSlides/notesSlide19.xml" Id="Rcabe1edbd90d466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b9ce8c771da4a9a" /><Relationship Type="http://schemas.openxmlformats.org/officeDocument/2006/relationships/notesSlide" Target="/ppt/notesSlides/notesSlide20.xml" Id="Rca292eb3ee1542e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f63b91e8f814e7f" /><Relationship Type="http://schemas.openxmlformats.org/officeDocument/2006/relationships/notesSlide" Target="/ppt/notesSlides/notesSlide21.xml" Id="R002c59ff0e99412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25d8a90ac874f22" /><Relationship Type="http://schemas.openxmlformats.org/officeDocument/2006/relationships/notesSlide" Target="/ppt/notesSlides/notesSlide22.xml" Id="Rca1981309384497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57eaddcf6ae4aa5" /><Relationship Type="http://schemas.openxmlformats.org/officeDocument/2006/relationships/notesSlide" Target="/ppt/notesSlides/notesSlide23.xml" Id="R0fea700165a5480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a24c7fb629d4c37" /><Relationship Type="http://schemas.openxmlformats.org/officeDocument/2006/relationships/notesSlide" Target="/ppt/notesSlides/notesSlide24.xml" Id="R1a0f2b6fd8ef46c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9f8e91089f3476c" /><Relationship Type="http://schemas.openxmlformats.org/officeDocument/2006/relationships/notesSlide" Target="/ppt/notesSlides/notesSlide25.xml" Id="R295fbc38dcda43d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f8da195424a44d2" /><Relationship Type="http://schemas.openxmlformats.org/officeDocument/2006/relationships/notesSlide" Target="/ppt/notesSlides/notesSlide26.xml" Id="Ra4f2dd9ce1e744e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579ee35e91194d22" /><Relationship Type="http://schemas.openxmlformats.org/officeDocument/2006/relationships/notesSlide" Target="/ppt/notesSlides/notesSlide27.xml" Id="Rbf78cd8c137441f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021ca90f7cb4766" /><Relationship Type="http://schemas.openxmlformats.org/officeDocument/2006/relationships/notesSlide" Target="/ppt/notesSlides/notesSlide28.xml" Id="R3b3aed87101c439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6da7ddd93b04024" /><Relationship Type="http://schemas.openxmlformats.org/officeDocument/2006/relationships/notesSlide" Target="/ppt/notesSlides/notesSlide29.xml" Id="R88c4118d183b40b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cbef8c6c3e24cf9" /><Relationship Type="http://schemas.openxmlformats.org/officeDocument/2006/relationships/notesSlide" Target="/ppt/notesSlides/notesSlide30.xml" Id="R802982b97cd242d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47dee60d9574cc3" /><Relationship Type="http://schemas.openxmlformats.org/officeDocument/2006/relationships/notesSlide" Target="/ppt/notesSlides/notesSlide31.xml" Id="R89892591cdf14e3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f42e28835c134492" /><Relationship Type="http://schemas.openxmlformats.org/officeDocument/2006/relationships/notesSlide" Target="/ppt/notesSlides/notesSlide32.xml" Id="R8c936dae31e840d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7525ba72924e467a" /><Relationship Type="http://schemas.openxmlformats.org/officeDocument/2006/relationships/notesSlide" Target="/ppt/notesSlides/notesSlide33.xml" Id="R9feb4e5f9fda4eb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74c53f0c7d8f461f" /><Relationship Type="http://schemas.openxmlformats.org/officeDocument/2006/relationships/notesSlide" Target="/ppt/notesSlides/notesSlide34.xml" Id="Rf43a120c7eb8493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c94a37dc1cf44f2" /><Relationship Type="http://schemas.openxmlformats.org/officeDocument/2006/relationships/notesSlide" Target="/ppt/notesSlides/notesSlide35.xml" Id="R0d4edad9f7704b7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c06fe2cb3570439d" /><Relationship Type="http://schemas.openxmlformats.org/officeDocument/2006/relationships/notesSlide" Target="/ppt/notesSlides/notesSlide36.xml" Id="R1e4969b977d54d2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708475dd617c4752" /><Relationship Type="http://schemas.openxmlformats.org/officeDocument/2006/relationships/notesSlide" Target="/ppt/notesSlides/notesSlide37.xml" Id="R6b028229f9c049b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8d41679cd0194cdf" /><Relationship Type="http://schemas.openxmlformats.org/officeDocument/2006/relationships/notesSlide" Target="/ppt/notesSlides/notesSlide38.xml" Id="Rf5e1336287474a0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e55f4247d4644f43" /><Relationship Type="http://schemas.openxmlformats.org/officeDocument/2006/relationships/notesSlide" Target="/ppt/notesSlides/notesSlide39.xml" Id="R046a34ebeb094c6b"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a02e75e2dfc149c0" /><Relationship Type="http://schemas.openxmlformats.org/officeDocument/2006/relationships/notesSlide" Target="/ppt/notesSlides/notesSlide40.xml" Id="Rfa373d67ec37414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9ec1360c63694f93" /><Relationship Type="http://schemas.openxmlformats.org/officeDocument/2006/relationships/notesSlide" Target="/ppt/notesSlides/notesSlide41.xml" Id="R455802f0bb174633"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ba2ac951e5b74776" /><Relationship Type="http://schemas.openxmlformats.org/officeDocument/2006/relationships/notesSlide" Target="/ppt/notesSlides/notesSlide42.xml" Id="Ra3eaac8ef4d646e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7400ceca54c94ae9" /><Relationship Type="http://schemas.openxmlformats.org/officeDocument/2006/relationships/notesSlide" Target="/ppt/notesSlides/notesSlide43.xml" Id="Rbba6de903eba4da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c329fa7a5da420a" /><Relationship Type="http://schemas.openxmlformats.org/officeDocument/2006/relationships/notesSlide" Target="/ppt/notesSlides/notesSlide44.xml" Id="R8c7a34d055d5441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30c4f6fb5f1c4bb0" /><Relationship Type="http://schemas.openxmlformats.org/officeDocument/2006/relationships/notesSlide" Target="/ppt/notesSlides/notesSlide45.xml" Id="R9c99712986c9424a" /></Relationships>
</file>

<file path=ppt/slides/charts/chart1.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-0.210561</c:v>
              </c:pt>
              <c:pt idx="1">
                <c:v>-1.713056</c:v>
              </c:pt>
              <c:pt idx="2">
                <c:v>-0.624863</c:v>
              </c:pt>
              <c:pt idx="3">
                <c:v>0.700037</c:v>
              </c:pt>
              <c:pt idx="4">
                <c:v>-1.269596</c:v>
              </c:pt>
              <c:pt idx="5">
                <c:v>-0.01204</c:v>
              </c:pt>
              <c:pt idx="6">
                <c:v>0.133132</c:v>
              </c:pt>
              <c:pt idx="7">
                <c:v>0.437726</c:v>
              </c:pt>
              <c:pt idx="8">
                <c:v>2.036789</c:v>
              </c:pt>
              <c:pt idx="9">
                <c:v>-1.370433</c:v>
              </c:pt>
              <c:pt idx="10">
                <c:v>0.065495</c:v>
              </c:pt>
              <c:pt idx="11">
                <c:v>-0.862793</c:v>
              </c:pt>
              <c:pt idx="12">
                <c:v>1.453965</c:v>
              </c:pt>
              <c:pt idx="13">
                <c:v>1.306129</c:v>
              </c:pt>
              <c:pt idx="14">
                <c:v>-0.123963</c:v>
              </c:pt>
              <c:pt idx="15">
                <c:v>0.455768</c:v>
              </c:pt>
              <c:pt idx="16">
                <c:v>-1.035617</c:v>
              </c:pt>
              <c:pt idx="17">
                <c:v>-1.663404</c:v>
              </c:pt>
              <c:pt idx="18">
                <c:v>-2.516123</c:v>
              </c:pt>
              <c:pt idx="19">
                <c:v>0.694111</c:v>
              </c:pt>
              <c:pt idx="20">
                <c:v>-0.654308</c:v>
              </c:pt>
              <c:pt idx="21">
                <c:v>-0.218106</c:v>
              </c:pt>
              <c:pt idx="22">
                <c:v>-0.531666</c:v>
              </c:pt>
              <c:pt idx="23">
                <c:v>0.032668</c:v>
              </c:pt>
              <c:pt idx="24">
                <c:v>-0.025947</c:v>
              </c:pt>
              <c:pt idx="25">
                <c:v>-0.241011</c:v>
              </c:pt>
              <c:pt idx="26">
                <c:v>-1.10778</c:v>
              </c:pt>
              <c:pt idx="27">
                <c:v>0.288077</c:v>
              </c:pt>
              <c:pt idx="28">
                <c:v>-0.83871</c:v>
              </c:pt>
              <c:pt idx="29">
                <c:v>-0.29658</c:v>
              </c:pt>
              <c:pt idx="30">
                <c:v>-1.458526</c:v>
              </c:pt>
              <c:pt idx="31">
                <c:v>0.146215</c:v>
              </c:pt>
              <c:pt idx="32">
                <c:v>1.253883</c:v>
              </c:pt>
              <c:pt idx="33">
                <c:v>0.922958</c:v>
              </c:pt>
              <c:pt idx="34">
                <c:v>0.472563</c:v>
              </c:pt>
              <c:pt idx="35">
                <c:v>0.443993</c:v>
              </c:pt>
              <c:pt idx="36">
                <c:v>1.836666</c:v>
              </c:pt>
              <c:pt idx="37">
                <c:v>1.998814</c:v>
              </c:pt>
              <c:pt idx="38">
                <c:v>0.303016</c:v>
              </c:pt>
              <c:pt idx="39">
                <c:v>0.288125</c:v>
              </c:pt>
              <c:pt idx="40">
                <c:v>1.093635</c:v>
              </c:pt>
              <c:pt idx="41">
                <c:v>-0.619421</c:v>
              </c:pt>
              <c:pt idx="42">
                <c:v>-0.775727</c:v>
              </c:pt>
              <c:pt idx="43">
                <c:v>0.636762</c:v>
              </c:pt>
              <c:pt idx="44">
                <c:v>1.984869</c:v>
              </c:pt>
              <c:pt idx="45">
                <c:v>-0.50276</c:v>
              </c:pt>
              <c:pt idx="46">
                <c:v>0.473785</c:v>
              </c:pt>
              <c:pt idx="47">
                <c:v>-0.181957</c:v>
              </c:pt>
              <c:pt idx="48">
                <c:v>0.117176</c:v>
              </c:pt>
              <c:pt idx="49">
                <c:v>-0.104379</c:v>
              </c:pt>
              <c:pt idx="50">
                <c:v>-0.28131</c:v>
              </c:pt>
              <c:pt idx="51">
                <c:v>-1.22926</c:v>
              </c:pt>
              <c:pt idx="52">
                <c:v>0.787163</c:v>
              </c:pt>
              <c:pt idx="53">
                <c:v>-0.505629</c:v>
              </c:pt>
              <c:pt idx="54">
                <c:v>-1.456005</c:v>
              </c:pt>
              <c:pt idx="55">
                <c:v>0.038035</c:v>
              </c:pt>
              <c:pt idx="56">
                <c:v>-0.165187</c:v>
              </c:pt>
              <c:pt idx="57">
                <c:v>0.787543</c:v>
              </c:pt>
              <c:pt idx="58">
                <c:v>0.237884</c:v>
              </c:pt>
              <c:pt idx="59">
                <c:v>0.389573</c:v>
              </c:pt>
              <c:pt idx="60">
                <c:v>-0.416826</c:v>
              </c:pt>
              <c:pt idx="61">
                <c:v>0.19116</c:v>
              </c:pt>
              <c:pt idx="62">
                <c:v>-0.817319</c:v>
              </c:pt>
              <c:pt idx="63">
                <c:v>-1.305464</c:v>
              </c:pt>
              <c:pt idx="64">
                <c:v>1.361396</c:v>
              </c:pt>
              <c:pt idx="65">
                <c:v>0.520453</c:v>
              </c:pt>
              <c:pt idx="66">
                <c:v>-1.615519</c:v>
              </c:pt>
              <c:pt idx="67">
                <c:v>0.546359</c:v>
              </c:pt>
              <c:pt idx="68">
                <c:v>-1.656757</c:v>
              </c:pt>
              <c:pt idx="69">
                <c:v>-0.84341</c:v>
              </c:pt>
              <c:pt idx="70">
                <c:v>2.091688</c:v>
              </c:pt>
              <c:pt idx="71">
                <c:v>-0.222123</c:v>
              </c:pt>
              <c:pt idx="72">
                <c:v>0.614768</c:v>
              </c:pt>
              <c:pt idx="73">
                <c:v>0.863907</c:v>
              </c:pt>
              <c:pt idx="74">
                <c:v>-1.740884</c:v>
              </c:pt>
              <c:pt idx="75">
                <c:v>0.313218</c:v>
              </c:pt>
              <c:pt idx="76">
                <c:v>0.534711</c:v>
              </c:pt>
              <c:pt idx="77">
                <c:v>-1.480492</c:v>
              </c:pt>
              <c:pt idx="78">
                <c:v>-0.385907</c:v>
              </c:pt>
              <c:pt idx="79">
                <c:v>0.11407</c:v>
              </c:pt>
              <c:pt idx="80">
                <c:v>0.895041</c:v>
              </c:pt>
              <c:pt idx="81">
                <c:v>0.489411</c:v>
              </c:pt>
              <c:pt idx="82">
                <c:v>-0.73591</c:v>
              </c:pt>
              <c:pt idx="83">
                <c:v>0.233848</c:v>
              </c:pt>
              <c:pt idx="84">
                <c:v>0.408122</c:v>
              </c:pt>
              <c:pt idx="85">
                <c:v>-0.765441</c:v>
              </c:pt>
              <c:pt idx="86">
                <c:v>-1.570768</c:v>
              </c:pt>
              <c:pt idx="87">
                <c:v>0.357895</c:v>
              </c:pt>
              <c:pt idx="88">
                <c:v>0.909</c:v>
              </c:pt>
              <c:pt idx="89">
                <c:v>0.201396</c:v>
              </c:pt>
              <c:pt idx="90">
                <c:v>-0.070873</c:v>
              </c:pt>
              <c:pt idx="91">
                <c:v>1.546291</c:v>
              </c:pt>
              <c:pt idx="92">
                <c:v>1.296057</c:v>
              </c:pt>
              <c:pt idx="93">
                <c:v>0.615141</c:v>
              </c:pt>
              <c:pt idx="94">
                <c:v>-0.91846</c:v>
              </c:pt>
              <c:pt idx="95">
                <c:v>-0.719518</c:v>
              </c:pt>
              <c:pt idx="96">
                <c:v>-1.240074</c:v>
              </c:pt>
              <c:pt idx="97">
                <c:v>-0.694365</c:v>
              </c:pt>
              <c:pt idx="98">
                <c:v>0.476725</c:v>
              </c:pt>
              <c:pt idx="99">
                <c:v>0.348572</c:v>
              </c:pt>
              <c:pt idx="100">
                <c:v>-1.226755</c:v>
              </c:pt>
              <c:pt idx="101">
                <c:v>1.091137</c:v>
              </c:pt>
              <c:pt idx="102">
                <c:v>1.043307</c:v>
              </c:pt>
              <c:pt idx="103">
                <c:v>2.326211</c:v>
              </c:pt>
              <c:pt idx="104">
                <c:v>-0.718224</c:v>
              </c:pt>
              <c:pt idx="105">
                <c:v>0.611381</c:v>
              </c:pt>
              <c:pt idx="106">
                <c:v>2.069503</c:v>
              </c:pt>
              <c:pt idx="107">
                <c:v>0.357352</c:v>
              </c:pt>
              <c:pt idx="108">
                <c:v>1.278387</c:v>
              </c:pt>
              <c:pt idx="109">
                <c:v>0.334709</c:v>
              </c:pt>
              <c:pt idx="110">
                <c:v>-0.242152</c:v>
              </c:pt>
              <c:pt idx="111">
                <c:v>-1.047942</c:v>
              </c:pt>
              <c:pt idx="112">
                <c:v>0.074507</c:v>
              </c:pt>
              <c:pt idx="113">
                <c:v>-0.218564</c:v>
              </c:pt>
              <c:pt idx="114">
                <c:v>-1.560617</c:v>
              </c:pt>
              <c:pt idx="115">
                <c:v>-0.309118</c:v>
              </c:pt>
              <c:pt idx="116">
                <c:v>-1.057372</c:v>
              </c:pt>
              <c:pt idx="117">
                <c:v>-0.653348</c:v>
              </c:pt>
              <c:pt idx="118">
                <c:v>-0.49068</c:v>
              </c:pt>
              <c:pt idx="119">
                <c:v>0.998924</c:v>
              </c:pt>
              <c:pt idx="120">
                <c:v>1.025902</c:v>
              </c:pt>
              <c:pt idx="121">
                <c:v>0.157022</c:v>
              </c:pt>
              <c:pt idx="122">
                <c:v>-0.974692</c:v>
              </c:pt>
              <c:pt idx="123">
                <c:v>0.630976</c:v>
              </c:pt>
              <c:pt idx="124">
                <c:v>-1.414051</c:v>
              </c:pt>
              <c:pt idx="125">
                <c:v>-0.57502</c:v>
              </c:pt>
              <c:pt idx="126">
                <c:v>-0.540014</c:v>
              </c:pt>
              <c:pt idx="127">
                <c:v>0.64459</c:v>
              </c:pt>
              <c:pt idx="128">
                <c:v>-0.653106</c:v>
              </c:pt>
              <c:pt idx="129">
                <c:v>0.347963</c:v>
              </c:pt>
              <c:pt idx="130">
                <c:v>0.060361</c:v>
              </c:pt>
              <c:pt idx="131">
                <c:v>-0.342071</c:v>
              </c:pt>
              <c:pt idx="132">
                <c:v>-0.396855</c:v>
              </c:pt>
              <c:pt idx="133">
                <c:v>-0.751027</c:v>
              </c:pt>
              <c:pt idx="134">
                <c:v>0.279652</c:v>
              </c:pt>
              <c:pt idx="135">
                <c:v>0.249541</c:v>
              </c:pt>
              <c:pt idx="136">
                <c:v>1.452706</c:v>
              </c:pt>
              <c:pt idx="137">
                <c:v>0.772859</c:v>
              </c:pt>
              <c:pt idx="138">
                <c:v>0.495658</c:v>
              </c:pt>
              <c:pt idx="139">
                <c:v>0.347161</c:v>
              </c:pt>
              <c:pt idx="140">
                <c:v>0.37272</c:v>
              </c:pt>
              <c:pt idx="141">
                <c:v>2.16919</c:v>
              </c:pt>
              <c:pt idx="142">
                <c:v>1.594857</c:v>
              </c:pt>
              <c:pt idx="143">
                <c:v>1.235467</c:v>
              </c:pt>
              <c:pt idx="144">
                <c:v>0.486987</c:v>
              </c:pt>
              <c:pt idx="145">
                <c:v>-0.633328</c:v>
              </c:pt>
              <c:pt idx="146">
                <c:v>-1.143939</c:v>
              </c:pt>
              <c:pt idx="147">
                <c:v>1.387433</c:v>
              </c:pt>
              <c:pt idx="148">
                <c:v>-0.787109</c:v>
              </c:pt>
              <c:pt idx="149">
                <c:v>-0.53829</c:v>
              </c:pt>
              <c:pt idx="150">
                <c:v>0.722009</c:v>
              </c:pt>
              <c:pt idx="151">
                <c:v>-1.361264</c:v>
              </c:pt>
              <c:pt idx="152">
                <c:v>0.494698</c:v>
              </c:pt>
              <c:pt idx="153">
                <c:v>2.162272</c:v>
              </c:pt>
              <c:pt idx="154">
                <c:v>-0.287687</c:v>
              </c:pt>
              <c:pt idx="155">
                <c:v>0.795013</c:v>
              </c:pt>
              <c:pt idx="156">
                <c:v>-1.174578</c:v>
              </c:pt>
              <c:pt idx="157">
                <c:v>0.969031</c:v>
              </c:pt>
              <c:pt idx="158">
                <c:v>0.602076</c:v>
              </c:pt>
              <c:pt idx="159">
                <c:v>0.138562</c:v>
              </c:pt>
              <c:pt idx="160">
                <c:v>0.10879</c:v>
              </c:pt>
              <c:pt idx="161">
                <c:v>-0.112019</c:v>
              </c:pt>
              <c:pt idx="162">
                <c:v>-0.592551</c:v>
              </c:pt>
              <c:pt idx="163">
                <c:v>-0.317517</c:v>
              </c:pt>
              <c:pt idx="164">
                <c:v>-0.990106</c:v>
              </c:pt>
              <c:pt idx="165">
                <c:v>1.45095</c:v>
              </c:pt>
              <c:pt idx="166">
                <c:v>0.050371</c:v>
              </c:pt>
              <c:pt idx="167">
                <c:v>0.962529</c:v>
              </c:pt>
              <c:pt idx="168">
                <c:v>0.217266</c:v>
              </c:pt>
              <c:pt idx="169">
                <c:v>1.036899</c:v>
              </c:pt>
              <c:pt idx="170">
                <c:v>1.496596</c:v>
              </c:pt>
              <c:pt idx="171">
                <c:v>0.246041</c:v>
              </c:pt>
              <c:pt idx="172">
                <c:v>0.498105</c:v>
              </c:pt>
              <c:pt idx="173">
                <c:v>0.046019</c:v>
              </c:pt>
              <c:pt idx="174">
                <c:v>1.692766</c:v>
              </c:pt>
              <c:pt idx="175">
                <c:v>-0.356243</c:v>
              </c:pt>
              <c:pt idx="176">
                <c:v>0.229687</c:v>
              </c:pt>
              <c:pt idx="177">
                <c:v>0.811138</c:v>
              </c:pt>
              <c:pt idx="178">
                <c:v>0.005554</c:v>
              </c:pt>
              <c:pt idx="179">
                <c:v>0.32401</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slides/charts/chart2.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0.154852</c:v>
              </c:pt>
              <c:pt idx="1">
                <c:v>1.692766</c:v>
              </c:pt>
              <c:pt idx="2">
                <c:v>1.2041</c:v>
              </c:pt>
              <c:pt idx="3">
                <c:v>-0.165187</c:v>
              </c:pt>
              <c:pt idx="4">
                <c:v>-2.119382</c:v>
              </c:pt>
              <c:pt idx="5">
                <c:v>-1.316218</c:v>
              </c:pt>
              <c:pt idx="6">
                <c:v>1.530522</c:v>
              </c:pt>
              <c:pt idx="7">
                <c:v>0.688716</c:v>
              </c:pt>
              <c:pt idx="8">
                <c:v>1.711785</c:v>
              </c:pt>
              <c:pt idx="9">
                <c:v>-0.189384</c:v>
              </c:pt>
              <c:pt idx="10">
                <c:v>0.334709</c:v>
              </c:pt>
              <c:pt idx="11">
                <c:v>0.561395</c:v>
              </c:pt>
              <c:pt idx="12">
                <c:v>0.289951</c:v>
              </c:pt>
              <c:pt idx="13">
                <c:v>0.883718</c:v>
              </c:pt>
              <c:pt idx="14">
                <c:v>0.702595</c:v>
              </c:pt>
              <c:pt idx="15">
                <c:v>-0.022548</c:v>
              </c:pt>
              <c:pt idx="16">
                <c:v>-0.064899</c:v>
              </c:pt>
              <c:pt idx="17">
                <c:v>-0.049644</c:v>
              </c:pt>
              <c:pt idx="18">
                <c:v>0.156544</c:v>
              </c:pt>
              <c:pt idx="19">
                <c:v>-1.509061</c:v>
              </c:pt>
              <c:pt idx="20">
                <c:v>0.623168</c:v>
              </c:pt>
              <c:pt idx="21">
                <c:v>0.176928</c:v>
              </c:pt>
              <c:pt idx="22">
                <c:v>-0.411131</c:v>
              </c:pt>
              <c:pt idx="23">
                <c:v>-1.659642</c:v>
              </c:pt>
              <c:pt idx="24">
                <c:v>-0.773943</c:v>
              </c:pt>
              <c:pt idx="25">
                <c:v>-0.28131</c:v>
              </c:pt>
              <c:pt idx="26">
                <c:v>0.933047</c:v>
              </c:pt>
              <c:pt idx="27">
                <c:v>-1.044475</c:v>
              </c:pt>
              <c:pt idx="28">
                <c:v>-0.135962</c:v>
              </c:pt>
              <c:pt idx="29">
                <c:v>-0.387742</c:v>
              </c:pt>
              <c:pt idx="30">
                <c:v>-0.756091</c:v>
              </c:pt>
              <c:pt idx="31">
                <c:v>0.10879</c:v>
              </c:pt>
              <c:pt idx="32">
                <c:v>0.151379</c:v>
              </c:pt>
              <c:pt idx="33">
                <c:v>0.734898</c:v>
              </c:pt>
              <c:pt idx="34">
                <c:v>1.040196</c:v>
              </c:pt>
              <c:pt idx="35">
                <c:v>1.496904</c:v>
              </c:pt>
              <c:pt idx="36">
                <c:v>-1.869224</c:v>
              </c:pt>
              <c:pt idx="37">
                <c:v>1.211914</c:v>
              </c:pt>
              <c:pt idx="38">
                <c:v>0.479186</c:v>
              </c:pt>
              <c:pt idx="39">
                <c:v>0.419965</c:v>
              </c:pt>
              <c:pt idx="40">
                <c:v>0.313218</c:v>
              </c:pt>
              <c:pt idx="41">
                <c:v>0.486292</c:v>
              </c:pt>
              <c:pt idx="42">
                <c:v>-1.893808</c:v>
              </c:pt>
              <c:pt idx="43">
                <c:v>0.735796</c:v>
              </c:pt>
              <c:pt idx="44">
                <c:v>-0.00683</c:v>
              </c:pt>
              <c:pt idx="45">
                <c:v>-1.057372</c:v>
              </c:pt>
              <c:pt idx="46">
                <c:v>-0.802664</c:v>
              </c:pt>
              <c:pt idx="47">
                <c:v>-0.279013</c:v>
              </c:pt>
              <c:pt idx="48">
                <c:v>-0.84717</c:v>
              </c:pt>
              <c:pt idx="49">
                <c:v>-0.314709</c:v>
              </c:pt>
              <c:pt idx="50">
                <c:v>1.673556</c:v>
              </c:pt>
              <c:pt idx="51">
                <c:v>-1.72969</c:v>
              </c:pt>
              <c:pt idx="52">
                <c:v>0.370722</c:v>
              </c:pt>
              <c:pt idx="53">
                <c:v>-0.351058</c:v>
              </c:pt>
              <c:pt idx="54">
                <c:v>0.065495</c:v>
              </c:pt>
              <c:pt idx="55">
                <c:v>-0.309118</c:v>
              </c:pt>
              <c:pt idx="56">
                <c:v>0.257939</c:v>
              </c:pt>
              <c:pt idx="57">
                <c:v>0.263324</c:v>
              </c:pt>
              <c:pt idx="58">
                <c:v>0.368132</c:v>
              </c:pt>
              <c:pt idx="59">
                <c:v>-0.088227</c:v>
              </c:pt>
              <c:pt idx="60">
                <c:v>1.334336</c:v>
              </c:pt>
              <c:pt idx="61">
                <c:v>-0.380575</c:v>
              </c:pt>
              <c:pt idx="62">
                <c:v>-1.451974</c:v>
              </c:pt>
              <c:pt idx="63">
                <c:v>-0.889791</c:v>
              </c:pt>
              <c:pt idx="64">
                <c:v>-1.561402</c:v>
              </c:pt>
              <c:pt idx="65">
                <c:v>0.038035</c:v>
              </c:pt>
              <c:pt idx="66">
                <c:v>-0.024082</c:v>
              </c:pt>
              <c:pt idx="67">
                <c:v>-0.988527</c:v>
              </c:pt>
              <c:pt idx="68">
                <c:v>-1.323811</c:v>
              </c:pt>
              <c:pt idx="69">
                <c:v>1.373701</c:v>
              </c:pt>
              <c:pt idx="70">
                <c:v>0.72781</c:v>
              </c:pt>
              <c:pt idx="71">
                <c:v>-0.765441</c:v>
              </c:pt>
              <c:pt idx="72">
                <c:v>-0.540014</c:v>
              </c:pt>
              <c:pt idx="73">
                <c:v>0.610536</c:v>
              </c:pt>
              <c:pt idx="74">
                <c:v>0.032418</c:v>
              </c:pt>
              <c:pt idx="75">
                <c:v>0.297134</c:v>
              </c:pt>
              <c:pt idx="76">
                <c:v>0.791437</c:v>
              </c:pt>
              <c:pt idx="77">
                <c:v>0.096756</c:v>
              </c:pt>
              <c:pt idx="78">
                <c:v>-0.196929</c:v>
              </c:pt>
              <c:pt idx="79">
                <c:v>0.958014</c:v>
              </c:pt>
              <c:pt idx="80">
                <c:v>1.402107</c:v>
              </c:pt>
              <c:pt idx="81">
                <c:v>-1.04676</c:v>
              </c:pt>
              <c:pt idx="82">
                <c:v>0.694503</c:v>
              </c:pt>
              <c:pt idx="83">
                <c:v>0.437726</c:v>
              </c:pt>
              <c:pt idx="84">
                <c:v>0.791205</c:v>
              </c:pt>
              <c:pt idx="85">
                <c:v>-0.193767</c:v>
              </c:pt>
              <c:pt idx="86">
                <c:v>-0.953</c:v>
              </c:pt>
              <c:pt idx="87">
                <c:v>0.324699</c:v>
              </c:pt>
              <c:pt idx="88">
                <c:v>-0.254996</c:v>
              </c:pt>
              <c:pt idx="89">
                <c:v>0.543994</c:v>
              </c:pt>
              <c:pt idx="90">
                <c:v>1.396014</c:v>
              </c:pt>
              <c:pt idx="91">
                <c:v>1.307993</c:v>
              </c:pt>
              <c:pt idx="92">
                <c:v>-0.261602</c:v>
              </c:pt>
              <c:pt idx="93">
                <c:v>-0.770238</c:v>
              </c:pt>
              <c:pt idx="94">
                <c:v>0.498636</c:v>
              </c:pt>
              <c:pt idx="95">
                <c:v>-0.73591</c:v>
              </c:pt>
              <c:pt idx="96">
                <c:v>-1.211103</c:v>
              </c:pt>
              <c:pt idx="97">
                <c:v>-0.18509</c:v>
              </c:pt>
              <c:pt idx="98">
                <c:v>-0.516388</c:v>
              </c:pt>
              <c:pt idx="99">
                <c:v>0.114358</c:v>
              </c:pt>
              <c:pt idx="100">
                <c:v>1.66802</c:v>
              </c:pt>
              <c:pt idx="101">
                <c:v>1.639043</c:v>
              </c:pt>
              <c:pt idx="102">
                <c:v>-0.544429</c:v>
              </c:pt>
              <c:pt idx="103">
                <c:v>1.998814</c:v>
              </c:pt>
              <c:pt idx="104">
                <c:v>-0.865345</c:v>
              </c:pt>
              <c:pt idx="105">
                <c:v>-0.557361</c:v>
              </c:pt>
              <c:pt idx="106">
                <c:v>1.650099</c:v>
              </c:pt>
              <c:pt idx="107">
                <c:v>-1.103861</c:v>
              </c:pt>
              <c:pt idx="108">
                <c:v>1.05415</c:v>
              </c:pt>
              <c:pt idx="109">
                <c:v>-1.099749</c:v>
              </c:pt>
              <c:pt idx="110">
                <c:v>-2.264521</c:v>
              </c:pt>
              <c:pt idx="111">
                <c:v>-0.076407</c:v>
              </c:pt>
              <c:pt idx="112">
                <c:v>0.626669</c:v>
              </c:pt>
              <c:pt idx="113">
                <c:v>-0.667684</c:v>
              </c:pt>
              <c:pt idx="114">
                <c:v>-1.084337</c:v>
              </c:pt>
              <c:pt idx="115">
                <c:v>-1.019429</c:v>
              </c:pt>
              <c:pt idx="116">
                <c:v>-1.021514</c:v>
              </c:pt>
              <c:pt idx="117">
                <c:v>-1.547305</c:v>
              </c:pt>
              <c:pt idx="118">
                <c:v>0.936357</c:v>
              </c:pt>
              <c:pt idx="119">
                <c:v>-0.703806</c:v>
              </c:pt>
              <c:pt idx="120">
                <c:v>1.008951</c:v>
              </c:pt>
              <c:pt idx="121">
                <c:v>-0.345443</c:v>
              </c:pt>
              <c:pt idx="122">
                <c:v>-3.168357</c:v>
              </c:pt>
              <c:pt idx="123">
                <c:v>-0.980025</c:v>
              </c:pt>
              <c:pt idx="124">
                <c:v>1.284285</c:v>
              </c:pt>
              <c:pt idx="125">
                <c:v>-1.501302</c:v>
              </c:pt>
              <c:pt idx="126">
                <c:v>-1.789826</c:v>
              </c:pt>
              <c:pt idx="127">
                <c:v>-0.970874</c:v>
              </c:pt>
              <c:pt idx="128">
                <c:v>-1.373157</c:v>
              </c:pt>
              <c:pt idx="129">
                <c:v>-1.322447</c:v>
              </c:pt>
              <c:pt idx="130">
                <c:v>-1.19829</c:v>
              </c:pt>
              <c:pt idx="131">
                <c:v>0.727169</c:v>
              </c:pt>
              <c:pt idx="132">
                <c:v>-0.990349</c:v>
              </c:pt>
              <c:pt idx="133">
                <c:v>-0.429247</c:v>
              </c:pt>
              <c:pt idx="134">
                <c:v>0.088093</c:v>
              </c:pt>
              <c:pt idx="135">
                <c:v>0.23827</c:v>
              </c:pt>
              <c:pt idx="136">
                <c:v>-1.352049</c:v>
              </c:pt>
              <c:pt idx="137">
                <c:v>0.270667</c:v>
              </c:pt>
              <c:pt idx="138">
                <c:v>0.631655</c:v>
              </c:pt>
              <c:pt idx="139">
                <c:v>-0.984964</c:v>
              </c:pt>
              <c:pt idx="140">
                <c:v>-0.465059</c:v>
              </c:pt>
              <c:pt idx="141">
                <c:v>0.023637</c:v>
              </c:pt>
              <c:pt idx="142">
                <c:v>-0.30961</c:v>
              </c:pt>
              <c:pt idx="143">
                <c:v>0.103067</c:v>
              </c:pt>
              <c:pt idx="144">
                <c:v>0.489526</c:v>
              </c:pt>
              <c:pt idx="145">
                <c:v>-0.486709</c:v>
              </c:pt>
              <c:pt idx="146">
                <c:v>-0.390631</c:v>
              </c:pt>
              <c:pt idx="147">
                <c:v>-1.713056</c:v>
              </c:pt>
              <c:pt idx="148">
                <c:v>-0.932573</c:v>
              </c:pt>
              <c:pt idx="149">
                <c:v>1.047418</c:v>
              </c:pt>
              <c:pt idx="150">
                <c:v>-0.831799</c:v>
              </c:pt>
              <c:pt idx="151">
                <c:v>0.729138</c:v>
              </c:pt>
              <c:pt idx="152">
                <c:v>-1.188245</c:v>
              </c:pt>
              <c:pt idx="153">
                <c:v>0.573166</c:v>
              </c:pt>
              <c:pt idx="154">
                <c:v>-0.176346</c:v>
              </c:pt>
              <c:pt idx="155">
                <c:v>-0.838939</c:v>
              </c:pt>
              <c:pt idx="156">
                <c:v>-0.397515</c:v>
              </c:pt>
              <c:pt idx="157">
                <c:v>-1.343576</c:v>
              </c:pt>
              <c:pt idx="158">
                <c:v>1.429867</c:v>
              </c:pt>
              <c:pt idx="159">
                <c:v>-0.870907</c:v>
              </c:pt>
              <c:pt idx="160">
                <c:v>-1.539698</c:v>
              </c:pt>
              <c:pt idx="161">
                <c:v>-0.570847</c:v>
              </c:pt>
              <c:pt idx="162">
                <c:v>1.602503</c:v>
              </c:pt>
              <c:pt idx="163">
                <c:v>-0.776695</c:v>
              </c:pt>
              <c:pt idx="164">
                <c:v>0.166045</c:v>
              </c:pt>
              <c:pt idx="165">
                <c:v>-1.581756</c:v>
              </c:pt>
              <c:pt idx="166">
                <c:v>-0.804408</c:v>
              </c:pt>
              <c:pt idx="167">
                <c:v>-0.486435</c:v>
              </c:pt>
              <c:pt idx="168">
                <c:v>0.546359</c:v>
              </c:pt>
              <c:pt idx="169">
                <c:v>0.071947</c:v>
              </c:pt>
              <c:pt idx="170">
                <c:v>0.05505</c:v>
              </c:pt>
              <c:pt idx="171">
                <c:v>-0.152179</c:v>
              </c:pt>
              <c:pt idx="172">
                <c:v>-0.175767</c:v>
              </c:pt>
              <c:pt idx="173">
                <c:v>0.03749</c:v>
              </c:pt>
              <c:pt idx="174">
                <c:v>-1.230582</c:v>
              </c:pt>
              <c:pt idx="175">
                <c:v>0.011619</c:v>
              </c:pt>
              <c:pt idx="176">
                <c:v>0.401376</c:v>
              </c:pt>
              <c:pt idx="177">
                <c:v>1.984869</c:v>
              </c:pt>
              <c:pt idx="178">
                <c:v>-2.037904</c:v>
              </c:pt>
              <c:pt idx="179">
                <c:v>1.311426</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slides/charts/chart3.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E7D5B"/>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-1.207679</c:v>
              </c:pt>
              <c:pt idx="1">
                <c:v>0.064766</c:v>
              </c:pt>
              <c:pt idx="2">
                <c:v>-1.570259</c:v>
              </c:pt>
              <c:pt idx="3">
                <c:v>1.384693</c:v>
              </c:pt>
              <c:pt idx="4">
                <c:v>0.135435</c:v>
              </c:pt>
              <c:pt idx="5">
                <c:v>0.396892</c:v>
              </c:pt>
              <c:pt idx="6">
                <c:v>-0.730289</c:v>
              </c:pt>
              <c:pt idx="7">
                <c:v>-0.825686</c:v>
              </c:pt>
              <c:pt idx="8">
                <c:v>1.674796</c:v>
              </c:pt>
              <c:pt idx="9">
                <c:v>-1.352148</c:v>
              </c:pt>
              <c:pt idx="10">
                <c:v>0.42007</c:v>
              </c:pt>
              <c:pt idx="11">
                <c:v>-0.184197</c:v>
              </c:pt>
              <c:pt idx="12">
                <c:v>0.28811</c:v>
              </c:pt>
              <c:pt idx="13">
                <c:v>1.246442</c:v>
              </c:pt>
              <c:pt idx="14">
                <c:v>-0.09393</c:v>
              </c:pt>
              <c:pt idx="15">
                <c:v>1.246966</c:v>
              </c:pt>
              <c:pt idx="16">
                <c:v>0.795496</c:v>
              </c:pt>
              <c:pt idx="17">
                <c:v>-1.356663</c:v>
              </c:pt>
              <c:pt idx="18">
                <c:v>-0.769399</c:v>
              </c:pt>
              <c:pt idx="19">
                <c:v>0.947518</c:v>
              </c:pt>
              <c:pt idx="20">
                <c:v>-0.892739</c:v>
              </c:pt>
              <c:pt idx="21">
                <c:v>0.225308</c:v>
              </c:pt>
              <c:pt idx="22">
                <c:v>-1.247125</c:v>
              </c:pt>
              <c:pt idx="23">
                <c:v>1.434449</c:v>
              </c:pt>
              <c:pt idx="24">
                <c:v>0.054992</c:v>
              </c:pt>
              <c:pt idx="25">
                <c:v>0.813956</c:v>
              </c:pt>
              <c:pt idx="26">
                <c:v>-0.488947</c:v>
              </c:pt>
              <c:pt idx="27">
                <c:v>0.348582</c:v>
              </c:pt>
              <c:pt idx="28">
                <c:v>-1.215141</c:v>
              </c:pt>
              <c:pt idx="29">
                <c:v>-0.499056</c:v>
              </c:pt>
              <c:pt idx="30">
                <c:v>-0.974715</c:v>
              </c:pt>
              <c:pt idx="31">
                <c:v>0.302907</c:v>
              </c:pt>
              <c:pt idx="32">
                <c:v>1.292589</c:v>
              </c:pt>
              <c:pt idx="33">
                <c:v>-0.220465</c:v>
              </c:pt>
              <c:pt idx="34">
                <c:v>1.463912</c:v>
              </c:pt>
              <c:pt idx="35">
                <c:v>1.979694</c:v>
              </c:pt>
              <c:pt idx="36">
                <c:v>2.466763</c:v>
              </c:pt>
              <c:pt idx="37">
                <c:v>1.685241</c:v>
              </c:pt>
              <c:pt idx="38">
                <c:v>0.787442</c:v>
              </c:pt>
              <c:pt idx="39">
                <c:v>0.790908</c:v>
              </c:pt>
              <c:pt idx="40">
                <c:v>0.820316</c:v>
              </c:pt>
              <c:pt idx="41">
                <c:v>-0.618638</c:v>
              </c:pt>
              <c:pt idx="42">
                <c:v>0.308311</c:v>
              </c:pt>
              <c:pt idx="43">
                <c:v>0.703703</c:v>
              </c:pt>
              <c:pt idx="44">
                <c:v>-0.524314</c:v>
              </c:pt>
              <c:pt idx="45">
                <c:v>-0.138807</c:v>
              </c:pt>
              <c:pt idx="46">
                <c:v>-0.491427</c:v>
              </c:pt>
              <c:pt idx="47">
                <c:v>-0.972111</c:v>
              </c:pt>
              <c:pt idx="48">
                <c:v>-0.006774</c:v>
              </c:pt>
              <c:pt idx="49">
                <c:v>-0.189362</c:v>
              </c:pt>
              <c:pt idx="50">
                <c:v>1.509903</c:v>
              </c:pt>
              <c:pt idx="51">
                <c:v>-1.250143</c:v>
              </c:pt>
              <c:pt idx="52">
                <c:v>0.631667</c:v>
              </c:pt>
              <c:pt idx="53">
                <c:v>-1.688817</c:v>
              </c:pt>
              <c:pt idx="54">
                <c:v>-0.694026</c:v>
              </c:pt>
              <c:pt idx="55">
                <c:v>-1.48701</c:v>
              </c:pt>
              <c:pt idx="56">
                <c:v>-0.19868</c:v>
              </c:pt>
              <c:pt idx="57">
                <c:v>1.791275</c:v>
              </c:pt>
              <c:pt idx="58">
                <c:v>-1.243</c:v>
              </c:pt>
              <c:pt idx="59">
                <c:v>-0.898429</c:v>
              </c:pt>
              <c:pt idx="60">
                <c:v>-0.629558</c:v>
              </c:pt>
              <c:pt idx="61">
                <c:v>-0.616208</c:v>
              </c:pt>
              <c:pt idx="62">
                <c:v>1.007541</c:v>
              </c:pt>
              <c:pt idx="63">
                <c:v>-1.460317</c:v>
              </c:pt>
              <c:pt idx="64">
                <c:v>0.975727</c:v>
              </c:pt>
              <c:pt idx="65">
                <c:v>1.366773</c:v>
              </c:pt>
              <c:pt idx="66">
                <c:v>-0.681053</c:v>
              </c:pt>
              <c:pt idx="67">
                <c:v>0.993109</c:v>
              </c:pt>
              <c:pt idx="68">
                <c:v>-0.330262</c:v>
              </c:pt>
              <c:pt idx="69">
                <c:v>-0.430713</c:v>
              </c:pt>
              <c:pt idx="70">
                <c:v>1.293828</c:v>
              </c:pt>
              <c:pt idx="71">
                <c:v>0.024272</c:v>
              </c:pt>
              <c:pt idx="72">
                <c:v>0.659677</c:v>
              </c:pt>
              <c:pt idx="73">
                <c:v>-0.33779</c:v>
              </c:pt>
              <c:pt idx="74">
                <c:v>-1.213409</c:v>
              </c:pt>
              <c:pt idx="75">
                <c:v>0.165688</c:v>
              </c:pt>
              <c:pt idx="76">
                <c:v>-0.676667</c:v>
              </c:pt>
              <c:pt idx="77">
                <c:v>-1.544757</c:v>
              </c:pt>
              <c:pt idx="78">
                <c:v>-0.774826</c:v>
              </c:pt>
              <c:pt idx="79">
                <c:v>0.367864</c:v>
              </c:pt>
              <c:pt idx="80">
                <c:v>1.048536</c:v>
              </c:pt>
              <c:pt idx="81">
                <c:v>0.738652</c:v>
              </c:pt>
              <c:pt idx="82">
                <c:v>-0.476053</c:v>
              </c:pt>
              <c:pt idx="83">
                <c:v>0.162373</c:v>
              </c:pt>
              <c:pt idx="84">
                <c:v>0.658103</c:v>
              </c:pt>
              <c:pt idx="85">
                <c:v>-0.06447</c:v>
              </c:pt>
              <c:pt idx="86">
                <c:v>-0.410943</c:v>
              </c:pt>
              <c:pt idx="87">
                <c:v>-0.346004</c:v>
              </c:pt>
              <c:pt idx="88">
                <c:v>0.868093</c:v>
              </c:pt>
              <c:pt idx="89">
                <c:v>-0.886069</c:v>
              </c:pt>
              <c:pt idx="90">
                <c:v>-0.770308</c:v>
              </c:pt>
              <c:pt idx="91">
                <c:v>1.698136</c:v>
              </c:pt>
              <c:pt idx="92">
                <c:v>2.326309</c:v>
              </c:pt>
              <c:pt idx="93">
                <c:v>-0.686001</c:v>
              </c:pt>
              <c:pt idx="94">
                <c:v>-2.132552</c:v>
              </c:pt>
              <c:pt idx="95">
                <c:v>-0.200536</c:v>
              </c:pt>
              <c:pt idx="96">
                <c:v>-0.419482</c:v>
              </c:pt>
              <c:pt idx="97">
                <c:v>0.280446</c:v>
              </c:pt>
              <c:pt idx="98">
                <c:v>-0.891222</c:v>
              </c:pt>
              <c:pt idx="99">
                <c:v>-1.617071</c:v>
              </c:pt>
              <c:pt idx="100">
                <c:v>-1.210563</c:v>
              </c:pt>
              <c:pt idx="101">
                <c:v>0.629868</c:v>
              </c:pt>
              <c:pt idx="102">
                <c:v>1.536184</c:v>
              </c:pt>
              <c:pt idx="103">
                <c:v>2.328331</c:v>
              </c:pt>
              <c:pt idx="104">
                <c:v>0.66004</c:v>
              </c:pt>
              <c:pt idx="105">
                <c:v>1.364959</c:v>
              </c:pt>
              <c:pt idx="106">
                <c:v>0.828327</c:v>
              </c:pt>
              <c:pt idx="107">
                <c:v>0.42019</c:v>
              </c:pt>
              <c:pt idx="108">
                <c:v>-0.411046</c:v>
              </c:pt>
              <c:pt idx="109">
                <c:v>-0.282025</c:v>
              </c:pt>
              <c:pt idx="110">
                <c:v>-0.16105</c:v>
              </c:pt>
              <c:pt idx="111">
                <c:v>-0.921979</c:v>
              </c:pt>
              <c:pt idx="112">
                <c:v>0.160909</c:v>
              </c:pt>
              <c:pt idx="113">
                <c:v>-0.084663</c:v>
              </c:pt>
              <c:pt idx="114">
                <c:v>-1.133058</c:v>
              </c:pt>
              <c:pt idx="115">
                <c:v>-1.456001</c:v>
              </c:pt>
              <c:pt idx="116">
                <c:v>0.364198</c:v>
              </c:pt>
              <c:pt idx="117">
                <c:v>0.321771</c:v>
              </c:pt>
              <c:pt idx="118">
                <c:v>-0.090161</c:v>
              </c:pt>
              <c:pt idx="119">
                <c:v>-0.974607</c:v>
              </c:pt>
              <c:pt idx="120">
                <c:v>0.958443</c:v>
              </c:pt>
              <c:pt idx="121">
                <c:v>0.812339</c:v>
              </c:pt>
              <c:pt idx="122">
                <c:v>0.347138</c:v>
              </c:pt>
              <c:pt idx="123">
                <c:v>-1.729596</c:v>
              </c:pt>
              <c:pt idx="124">
                <c:v>-0.41609</c:v>
              </c:pt>
              <c:pt idx="125">
                <c:v>-1.124611</c:v>
              </c:pt>
              <c:pt idx="126">
                <c:v>-1.424591</c:v>
              </c:pt>
              <c:pt idx="127">
                <c:v>-0.227873</c:v>
              </c:pt>
              <c:pt idx="128">
                <c:v>0.009425</c:v>
              </c:pt>
              <c:pt idx="129">
                <c:v>0.294201</c:v>
              </c:pt>
              <c:pt idx="130">
                <c:v>-0.954002</c:v>
              </c:pt>
              <c:pt idx="131">
                <c:v>-0.643453</c:v>
              </c:pt>
              <c:pt idx="132">
                <c:v>-0.620035</c:v>
              </c:pt>
              <c:pt idx="133">
                <c:v>-0.119723</c:v>
              </c:pt>
              <c:pt idx="134">
                <c:v>-0.141193</c:v>
              </c:pt>
              <c:pt idx="135">
                <c:v>1.947863</c:v>
              </c:pt>
              <c:pt idx="136">
                <c:v>-0.17544</c:v>
              </c:pt>
              <c:pt idx="137">
                <c:v>0.229376</c:v>
              </c:pt>
              <c:pt idx="138">
                <c:v>0.110527</c:v>
              </c:pt>
              <c:pt idx="139">
                <c:v>0.759531</c:v>
              </c:pt>
              <c:pt idx="140">
                <c:v>-0.362518</c:v>
              </c:pt>
              <c:pt idx="141">
                <c:v>0.652581</c:v>
              </c:pt>
              <c:pt idx="142">
                <c:v>0.086383</c:v>
              </c:pt>
              <c:pt idx="143">
                <c:v>0.589134</c:v>
              </c:pt>
              <c:pt idx="144">
                <c:v>-1.418022</c:v>
              </c:pt>
              <c:pt idx="145">
                <c:v>0.59242</c:v>
              </c:pt>
              <c:pt idx="146">
                <c:v>-0.133603</c:v>
              </c:pt>
              <c:pt idx="147">
                <c:v>0.658893</c:v>
              </c:pt>
              <c:pt idx="148">
                <c:v>-0.279656</c:v>
              </c:pt>
              <c:pt idx="149">
                <c:v>-1.264674</c:v>
              </c:pt>
              <c:pt idx="150">
                <c:v>0.129999</c:v>
              </c:pt>
              <c:pt idx="151">
                <c:v>-2.310391</c:v>
              </c:pt>
              <c:pt idx="152">
                <c:v>0.244633</c:v>
              </c:pt>
              <c:pt idx="153">
                <c:v>1.75186</c:v>
              </c:pt>
              <c:pt idx="154">
                <c:v>-0.397619</c:v>
              </c:pt>
              <c:pt idx="155">
                <c:v>0.991293</c:v>
              </c:pt>
              <c:pt idx="156">
                <c:v>0.065839</c:v>
              </c:pt>
              <c:pt idx="157">
                <c:v>1.603367</c:v>
              </c:pt>
              <c:pt idx="158">
                <c:v>1.340417</c:v>
              </c:pt>
              <c:pt idx="159">
                <c:v>0.856541</c:v>
              </c:pt>
              <c:pt idx="160">
                <c:v>0.368811</c:v>
              </c:pt>
              <c:pt idx="161">
                <c:v>-0.379281</c:v>
              </c:pt>
              <c:pt idx="162">
                <c:v>-0.384054</c:v>
              </c:pt>
              <c:pt idx="163">
                <c:v>1.005433</c:v>
              </c:pt>
              <c:pt idx="164">
                <c:v>-0.75666</c:v>
              </c:pt>
              <c:pt idx="165">
                <c:v>0.951366</c:v>
              </c:pt>
              <c:pt idx="166">
                <c:v>-0.220448</c:v>
              </c:pt>
              <c:pt idx="167">
                <c:v>0.511093</c:v>
              </c:pt>
              <c:pt idx="168">
                <c:v>0.096636</c:v>
              </c:pt>
              <c:pt idx="169">
                <c:v>-0.448288</c:v>
              </c:pt>
              <c:pt idx="170">
                <c:v>1.480219</c:v>
              </c:pt>
              <c:pt idx="171">
                <c:v>-0.126432</c:v>
              </c:pt>
              <c:pt idx="172">
                <c:v>0.530964</c:v>
              </c:pt>
              <c:pt idx="173">
                <c:v>0.840949</c:v>
              </c:pt>
              <c:pt idx="174">
                <c:v>0.947136</c:v>
              </c:pt>
              <c:pt idx="175">
                <c:v>-0.735994</c:v>
              </c:pt>
              <c:pt idx="176">
                <c:v>0.166476</c:v>
              </c:pt>
              <c:pt idx="177">
                <c:v>1.400589</c:v>
              </c:pt>
              <c:pt idx="178">
                <c:v>1.668163</c:v>
              </c:pt>
              <c:pt idx="179">
                <c:v>0.332434</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1128711-B496-4B01-9485-3712570BE82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前回の問題設定から、生成方法へ</a:t>
            </a:r>
          </a:p>
        </p:txBody>
      </p:sp>
      <p:sp>
        <p:nvSpPr>
          <p:cNvPr id="2" name="">
            <a:extLst xmlns:a="http://schemas.openxmlformats.org/drawingml/2006/main">
              <a:ext uri="{FF2B5EF4-FFF2-40B4-BE49-F238E27FC236}">
                <a16:creationId xmlns:a16="http://schemas.microsoft.com/office/drawing/2014/main" id="{68CE1F74-4753-427B-A9A5-F0DCC99719C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F497721-B1F2-4C26-8322-CAF9B37FFB1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前回：特徴の関係を考慮したデータ拡張を検討する。</a:t>
            </a:r>
          </a:p>
        </p:txBody>
      </p:sp>
      <p:sp>
        <p:nvSpPr>
          <p:cNvPr id="4" name="">
            <a:extLst xmlns:a="http://schemas.openxmlformats.org/drawingml/2006/main">
              <a:ext uri="{FF2B5EF4-FFF2-40B4-BE49-F238E27FC236}">
                <a16:creationId xmlns:a16="http://schemas.microsoft.com/office/drawing/2014/main" id="{B6DCDBCE-72CA-4969-9E50-18962E65E8A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01602EC3-69E4-4763-8AB9-401B0C63181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a:t>
            </a:r>
          </a:p>
        </p:txBody>
      </p:sp>
      <p:sp>
        <p:nvSpPr>
          <p:cNvPr id="6" name="">
            <a:extLst xmlns:a="http://schemas.openxmlformats.org/drawingml/2006/main">
              <a:ext uri="{FF2B5EF4-FFF2-40B4-BE49-F238E27FC236}">
                <a16:creationId xmlns:a16="http://schemas.microsoft.com/office/drawing/2014/main" id="{10BCCE43-CE85-48BA-8D3A-988C1677CCD4}"/>
              </a:ext>
            </a:extLst>
          </p:cNvPr>
          <p:cNvSpPr>
            <a:spLocks xmlns:a="http://schemas.openxmlformats.org/drawingml/2006/main" noGrp="1"/>
          </p:cNvSpPr>
          <p:nvPr/>
        </p:nvSpPr>
        <p:spPr>
          <a:xfrm xmlns:a="http://schemas.openxmlformats.org/drawingml/2006/main">
            <a:off x="514350" y="2000250"/>
            <a:ext cx="5314950" cy="31051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4E38D07-7FCC-48FE-8FC6-9F6A46013F1D}"/>
              </a:ext>
            </a:extLst>
          </p:cNvPr>
          <p:cNvSpPr>
            <a:spLocks xmlns:a="http://schemas.openxmlformats.org/drawingml/2006/main" noGrp="1"/>
          </p:cNvSpPr>
          <p:nvPr/>
        </p:nvSpPr>
        <p:spPr>
          <a:xfrm xmlns:a="http://schemas.openxmlformats.org/drawingml/2006/main">
            <a:off x="704850" y="211455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既存の列置換</a:t>
            </a:r>
          </a:p>
        </p:txBody>
      </p:sp>
      <p:sp>
        <p:nvSpPr>
          <p:cNvPr id="8" name="">
            <a:extLst xmlns:a="http://schemas.openxmlformats.org/drawingml/2006/main">
              <a:ext uri="{FF2B5EF4-FFF2-40B4-BE49-F238E27FC236}">
                <a16:creationId xmlns:a16="http://schemas.microsoft.com/office/drawing/2014/main" id="{1D5FED6B-83BD-4925-96E5-FBF728AB3B1C}"/>
              </a:ext>
            </a:extLst>
          </p:cNvPr>
          <p:cNvSpPr>
            <a:spLocks xmlns:a="http://schemas.openxmlformats.org/drawingml/2006/main" noGrp="1"/>
          </p:cNvSpPr>
          <p:nvPr/>
        </p:nvSpPr>
        <p:spPr>
          <a:xfrm xmlns:a="http://schemas.openxmlformats.org/drawingml/2006/main">
            <a:off x="704850" y="2667000"/>
            <a:ext cx="493395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身長を別の人から取ると、</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残した体重との関係を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考慮できない。</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値の組合せが不自然になる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可能性がある。</a:t>
            </a:r>
          </a:p>
        </p:txBody>
      </p:sp>
      <p:sp>
        <p:nvSpPr>
          <p:cNvPr id="9" name="">
            <a:extLst xmlns:a="http://schemas.openxmlformats.org/drawingml/2006/main">
              <a:ext uri="{FF2B5EF4-FFF2-40B4-BE49-F238E27FC236}">
                <a16:creationId xmlns:a16="http://schemas.microsoft.com/office/drawing/2014/main" id="{BA8161F1-EF46-4836-9076-FF81A4B21AD8}"/>
              </a:ext>
            </a:extLst>
          </p:cNvPr>
          <p:cNvSpPr>
            <a:spLocks xmlns:a="http://schemas.openxmlformats.org/drawingml/2006/main" noGrp="1"/>
          </p:cNvSpPr>
          <p:nvPr/>
        </p:nvSpPr>
        <p:spPr>
          <a:xfrm xmlns:a="http://schemas.openxmlformats.org/drawingml/2006/main">
            <a:off x="6076950" y="2000250"/>
            <a:ext cx="5600700" cy="31051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B22F2EB-F30A-44FF-B712-F9E6D13471BD}"/>
              </a:ext>
            </a:extLst>
          </p:cNvPr>
          <p:cNvSpPr>
            <a:spLocks xmlns:a="http://schemas.openxmlformats.org/drawingml/2006/main" noGrp="1"/>
          </p:cNvSpPr>
          <p:nvPr/>
        </p:nvSpPr>
        <p:spPr>
          <a:xfrm xmlns:a="http://schemas.openxmlformats.org/drawingml/2006/main">
            <a:off x="6267450" y="211455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今回、具体化すること</a:t>
            </a:r>
          </a:p>
        </p:txBody>
      </p:sp>
      <p:sp>
        <p:nvSpPr>
          <p:cNvPr id="11" name="">
            <a:extLst xmlns:a="http://schemas.openxmlformats.org/drawingml/2006/main">
              <a:ext uri="{FF2B5EF4-FFF2-40B4-BE49-F238E27FC236}">
                <a16:creationId xmlns:a16="http://schemas.microsoft.com/office/drawing/2014/main" id="{32BEFF66-DBDC-4577-8C0F-91948215C8DA}"/>
              </a:ext>
            </a:extLst>
          </p:cNvPr>
          <p:cNvSpPr>
            <a:spLocks xmlns:a="http://schemas.openxmlformats.org/drawingml/2006/main" noGrp="1"/>
          </p:cNvSpPr>
          <p:nvPr/>
        </p:nvSpPr>
        <p:spPr>
          <a:xfrm xmlns:a="http://schemas.openxmlformats.org/drawingml/2006/main">
            <a:off x="6267450" y="2667000"/>
            <a:ext cx="52197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残した体重に合う</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身長の分布から生成する。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この仕組みをコピュラで作り、</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VIMEの置換器として使う。</a:t>
            </a:r>
          </a:p>
        </p:txBody>
      </p:sp>
      <p:sp>
        <p:nvSpPr>
          <p:cNvPr id="12" name="">
            <a:extLst xmlns:a="http://schemas.openxmlformats.org/drawingml/2006/main">
              <a:ext uri="{FF2B5EF4-FFF2-40B4-BE49-F238E27FC236}">
                <a16:creationId xmlns:a16="http://schemas.microsoft.com/office/drawing/2014/main" id="{C7491EF1-9902-49FD-A2F9-DFC980EE1F5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2F389C6-CC28-405D-A959-3EB8E9344A0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次の問い：体重が分かれば、身長をどう推測できるか？</a:t>
            </a:r>
          </a:p>
        </p:txBody>
      </p:sp>
    </p:spTree>
    <p:extLst>
      <p:ext uri="{BB962C8B-B14F-4D97-AF65-F5344CB8AC3E}">
        <p14:creationId xmlns:p14="http://schemas.microsoft.com/office/powerpoint/2010/main" val="21126568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00DA08A-8463-42A6-AD13-97C7D13E754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まず、似た体重の人を参考にする</a:t>
            </a:r>
          </a:p>
        </p:txBody>
      </p:sp>
      <p:sp>
        <p:nvSpPr>
          <p:cNvPr id="2" name="">
            <a:extLst xmlns:a="http://schemas.openxmlformats.org/drawingml/2006/main">
              <a:ext uri="{FF2B5EF4-FFF2-40B4-BE49-F238E27FC236}">
                <a16:creationId xmlns:a16="http://schemas.microsoft.com/office/drawing/2014/main" id="{E87B57E9-AB6F-4D2B-8466-C43B2D99DEA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5FA523E-1393-4C5E-BEF3-63926A12411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例：体重70 kgは分かるが、身長は分からない。</a:t>
            </a:r>
          </a:p>
        </p:txBody>
      </p:sp>
      <p:sp>
        <p:nvSpPr>
          <p:cNvPr id="4" name="">
            <a:extLst xmlns:a="http://schemas.openxmlformats.org/drawingml/2006/main">
              <a:ext uri="{FF2B5EF4-FFF2-40B4-BE49-F238E27FC236}">
                <a16:creationId xmlns:a16="http://schemas.microsoft.com/office/drawing/2014/main" id="{114AB60C-2A55-49BA-B681-F97BBAE4CD0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A4FD3150-BA8E-4487-824B-4C97E5CFD82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a:t>
            </a:r>
          </a:p>
        </p:txBody>
      </p:sp>
      <p:graphicFrame>
        <p:nvGraphicFramePr>
          <p:cNvPr id="15" name=""/>
          <p:cNvGraphicFramePr/>
          <p:nvPr/>
        </p:nvGraphicFramePr>
        <p:xfrm>
          <a:off xmlns:a="http://schemas.openxmlformats.org/drawingml/2006/main" x="514350" y="1981200"/>
          <a:ext xmlns:a="http://schemas.openxmlformats.org/drawingml/2006/main" cx="11163300" cy="2447925"/>
        </p:xfrm>
        <a:graphic xmlns:a="http://schemas.openxmlformats.org/drawingml/2006/main">
          <a:graphicData uri="http://schemas.openxmlformats.org/drawingml/2006/table">
            <a:tbl>
              <a:tblPr/>
              <a:tblGrid>
                <a:gridCol w="3721100"/>
                <a:gridCol w="3721100"/>
                <a:gridCol w="3721100"/>
              </a:tblGrid>
              <a:tr h="611981">
                <a:tc>
                  <a:txBody>
                    <a:bodyPr/>
                    <a:lstStyle/>
                    <a:p>
                      <a:pPr algn="ctr"/>
                      <a:r>
                        <a:rPr sz="2175" b="1">
                          <a:solidFill>
                            <a:srgbClr val="2E7D5B"/>
                          </a:solidFill>
                          <a:latin typeface="Noto Sans JP"/>
                          <a:ea typeface="Noto Sans JP"/>
                          <a:cs typeface="Noto Sans JP"/>
                        </a:rPr>
                        <a:t>参考にする人</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体重</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身長</a:t>
                      </a:r>
                    </a:p>
                  </a:txBody>
                  <a:tcPr marL="91440" marR="91440" marT="45720" marB="45720" anchor="ctr">
                    <a:solidFill>
                      <a:srgbClr val="E7F2EC"/>
                    </a:solidFill>
                  </a:tcPr>
                </a:tc>
              </a:tr>
              <a:tr h="611981">
                <a:tc>
                  <a:txBody>
                    <a:bodyPr/>
                    <a:lstStyle/>
                    <a:p>
                      <a:pPr algn="ctr"/>
                      <a:r>
                        <a:rPr sz="2175" b="0">
                          <a:solidFill>
                            <a:srgbClr val="222222"/>
                          </a:solidFill>
                          <a:latin typeface="Noto Sans JP"/>
                          <a:ea typeface="Noto Sans JP"/>
                          <a:cs typeface="Noto Sans JP"/>
                        </a:rPr>
                        <a:t>A</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69 kg</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168 cm</a:t>
                      </a:r>
                    </a:p>
                  </a:txBody>
                  <a:tcPr marL="91440" marR="91440" marT="45720" marB="45720" anchor="ctr">
                    <a:solidFill>
                      <a:srgbClr val="FFFFFF"/>
                    </a:solidFill>
                  </a:tcPr>
                </a:tc>
              </a:tr>
              <a:tr h="611981">
                <a:tc>
                  <a:txBody>
                    <a:bodyPr/>
                    <a:lstStyle/>
                    <a:p>
                      <a:pPr algn="ctr"/>
                      <a:r>
                        <a:rPr sz="2175" b="0">
                          <a:solidFill>
                            <a:srgbClr val="222222"/>
                          </a:solidFill>
                          <a:latin typeface="Noto Sans JP"/>
                          <a:ea typeface="Noto Sans JP"/>
                          <a:cs typeface="Noto Sans JP"/>
                        </a:rPr>
                        <a:t>B</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70 kg</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173 cm</a:t>
                      </a:r>
                    </a:p>
                  </a:txBody>
                  <a:tcPr marL="91440" marR="91440" marT="45720" marB="45720" anchor="ctr">
                    <a:solidFill>
                      <a:srgbClr val="F6F6F6"/>
                    </a:solidFill>
                  </a:tcPr>
                </a:tc>
              </a:tr>
              <a:tr h="611981">
                <a:tc>
                  <a:txBody>
                    <a:bodyPr/>
                    <a:lstStyle/>
                    <a:p>
                      <a:pPr algn="ctr"/>
                      <a:r>
                        <a:rPr sz="2175" b="0">
                          <a:solidFill>
                            <a:srgbClr val="222222"/>
                          </a:solidFill>
                          <a:latin typeface="Noto Sans JP"/>
                          <a:ea typeface="Noto Sans JP"/>
                          <a:cs typeface="Noto Sans JP"/>
                        </a:rPr>
                        <a:t>C</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71 kg</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178 cm</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DB99A714-494E-4834-82BF-C8CBFAC06C96}"/>
              </a:ext>
            </a:extLst>
          </p:cNvPr>
          <p:cNvSpPr>
            <a:spLocks xmlns:a="http://schemas.openxmlformats.org/drawingml/2006/main" noGrp="1"/>
          </p:cNvSpPr>
          <p:nvPr/>
        </p:nvSpPr>
        <p:spPr>
          <a:xfrm xmlns:a="http://schemas.openxmlformats.org/drawingml/2006/main">
            <a:off x="609600" y="46767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平均なら173 cm。拡張では、ばらつきを持つ身長を生成したい。</a:t>
            </a:r>
          </a:p>
        </p:txBody>
      </p:sp>
      <p:sp>
        <p:nvSpPr>
          <p:cNvPr id="8" name="">
            <a:extLst xmlns:a="http://schemas.openxmlformats.org/drawingml/2006/main">
              <a:ext uri="{FF2B5EF4-FFF2-40B4-BE49-F238E27FC236}">
                <a16:creationId xmlns:a16="http://schemas.microsoft.com/office/drawing/2014/main" id="{8C62933C-781A-4BFE-B74A-BDFBFFAB5D0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D0F3F0C-B419-4E23-9D91-B590E1767F4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次の問い：70 kgの人に合う「身長のばらつき」をどう表すか？</a:t>
            </a:r>
          </a:p>
        </p:txBody>
      </p:sp>
    </p:spTree>
    <p:extLst>
      <p:ext uri="{BB962C8B-B14F-4D97-AF65-F5344CB8AC3E}">
        <p14:creationId xmlns:p14="http://schemas.microsoft.com/office/powerpoint/2010/main" val="76089165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06E0969-7114-4D54-B81E-5CF92DDF6AD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推測したいものは、条件付き分布</a:t>
            </a:r>
          </a:p>
        </p:txBody>
      </p:sp>
      <p:sp>
        <p:nvSpPr>
          <p:cNvPr id="2" name="">
            <a:extLst xmlns:a="http://schemas.openxmlformats.org/drawingml/2006/main">
              <a:ext uri="{FF2B5EF4-FFF2-40B4-BE49-F238E27FC236}">
                <a16:creationId xmlns:a16="http://schemas.microsoft.com/office/drawing/2014/main" id="{436EDB81-1228-4EF9-A86E-F553BD1335B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331D65D-323F-4B88-AAEB-386DA43AB20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近い人の身長にも、168・173・178 cmという違いがある。</a:t>
            </a:r>
          </a:p>
        </p:txBody>
      </p:sp>
      <p:sp>
        <p:nvSpPr>
          <p:cNvPr id="4" name="">
            <a:extLst xmlns:a="http://schemas.openxmlformats.org/drawingml/2006/main">
              <a:ext uri="{FF2B5EF4-FFF2-40B4-BE49-F238E27FC236}">
                <a16:creationId xmlns:a16="http://schemas.microsoft.com/office/drawing/2014/main" id="{EEEFC9DD-7235-41D1-A1E0-186CC7204CC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C6788F9A-D217-4A86-B9ED-DE4539C0116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7</a:t>
            </a:r>
          </a:p>
        </p:txBody>
      </p:sp>
      <p:sp>
        <p:nvSpPr>
          <p:cNvPr id="6" name="">
            <a:extLst xmlns:a="http://schemas.openxmlformats.org/drawingml/2006/main">
              <a:ext uri="{FF2B5EF4-FFF2-40B4-BE49-F238E27FC236}">
                <a16:creationId xmlns:a16="http://schemas.microsoft.com/office/drawing/2014/main" id="{6BB53449-E8E0-4FE6-B2D0-1A97F7BA2D88}"/>
              </a:ext>
            </a:extLst>
          </p:cNvPr>
          <p:cNvSpPr>
            <a:spLocks xmlns:a="http://schemas.openxmlformats.org/drawingml/2006/main" noGrp="1"/>
          </p:cNvSpPr>
          <p:nvPr/>
        </p:nvSpPr>
        <p:spPr>
          <a:xfrm xmlns:a="http://schemas.openxmlformats.org/drawingml/2006/main">
            <a:off x="514350" y="18859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09713D7-CC86-439A-BD16-1CF99DA4FDE5}"/>
              </a:ext>
            </a:extLst>
          </p:cNvPr>
          <p:cNvSpPr>
            <a:spLocks xmlns:a="http://schemas.openxmlformats.org/drawingml/2006/main" noGrp="1"/>
          </p:cNvSpPr>
          <p:nvPr/>
        </p:nvSpPr>
        <p:spPr>
          <a:xfrm xmlns:a="http://schemas.openxmlformats.org/drawingml/2006/main">
            <a:off x="704850" y="19812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00" b="1">
                <a:solidFill>
                  <a:srgbClr val="2B6777"/>
                </a:solidFill>
                <a:latin typeface="Noto Sans JP"/>
                <a:ea typeface="Noto Sans JP"/>
                <a:cs typeface="Noto Sans JP"/>
              </a:defRPr>
            </a:pPr>
            <a:r>
              <a:rPr sz="3000" b="1">
                <a:solidFill>
                  <a:srgbClr val="2B6777"/>
                </a:solidFill>
                <a:latin typeface="Noto Sans JP"/>
                <a:ea typeface="Noto Sans JP"/>
                <a:cs typeface="Noto Sans JP"/>
              </a:rPr>
              <a:t>身長 X | 体重 Y = 70 kg の分布</a:t>
            </a:r>
          </a:p>
        </p:txBody>
      </p:sp>
      <p:sp>
        <p:nvSpPr>
          <p:cNvPr id="8" name="">
            <a:extLst xmlns:a="http://schemas.openxmlformats.org/drawingml/2006/main">
              <a:ext uri="{FF2B5EF4-FFF2-40B4-BE49-F238E27FC236}">
                <a16:creationId xmlns:a16="http://schemas.microsoft.com/office/drawing/2014/main" id="{F53FC205-B8F9-4E94-91B7-E49E7AC3BABE}"/>
              </a:ext>
            </a:extLst>
          </p:cNvPr>
          <p:cNvSpPr>
            <a:spLocks xmlns:a="http://schemas.openxmlformats.org/drawingml/2006/main" noGrp="1"/>
          </p:cNvSpPr>
          <p:nvPr/>
        </p:nvSpPr>
        <p:spPr>
          <a:xfrm xmlns:a="http://schemas.openxmlformats.org/drawingml/2006/main">
            <a:off x="514350" y="3343275"/>
            <a:ext cx="5314950" cy="19716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781C877-1214-4671-B700-3DDBA6FAC4F4}"/>
              </a:ext>
            </a:extLst>
          </p:cNvPr>
          <p:cNvSpPr>
            <a:spLocks xmlns:a="http://schemas.openxmlformats.org/drawingml/2006/main" noGrp="1"/>
          </p:cNvSpPr>
          <p:nvPr/>
        </p:nvSpPr>
        <p:spPr>
          <a:xfrm xmlns:a="http://schemas.openxmlformats.org/drawingml/2006/main">
            <a:off x="704850" y="34575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近傍を使う方法</a:t>
            </a:r>
          </a:p>
        </p:txBody>
      </p:sp>
      <p:sp>
        <p:nvSpPr>
          <p:cNvPr id="10" name="">
            <a:extLst xmlns:a="http://schemas.openxmlformats.org/drawingml/2006/main">
              <a:ext uri="{FF2B5EF4-FFF2-40B4-BE49-F238E27FC236}">
                <a16:creationId xmlns:a16="http://schemas.microsoft.com/office/drawing/2014/main" id="{21492E0E-9113-478E-8BDE-53576AA58274}"/>
              </a:ext>
            </a:extLst>
          </p:cNvPr>
          <p:cNvSpPr>
            <a:spLocks xmlns:a="http://schemas.openxmlformats.org/drawingml/2006/main" noGrp="1"/>
          </p:cNvSpPr>
          <p:nvPr/>
        </p:nvSpPr>
        <p:spPr>
          <a:xfrm xmlns:a="http://schemas.openxmlformats.org/drawingml/2006/main">
            <a:off x="704850" y="4010025"/>
            <a:ext cx="49339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70 kg付近の人を集め、</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その身長を参考にする。</a:t>
            </a:r>
          </a:p>
        </p:txBody>
      </p:sp>
      <p:sp>
        <p:nvSpPr>
          <p:cNvPr id="11" name="">
            <a:extLst xmlns:a="http://schemas.openxmlformats.org/drawingml/2006/main">
              <a:ext uri="{FF2B5EF4-FFF2-40B4-BE49-F238E27FC236}">
                <a16:creationId xmlns:a16="http://schemas.microsoft.com/office/drawing/2014/main" id="{03569E14-3EDB-4DF4-8CD1-8FE943BF7FCF}"/>
              </a:ext>
            </a:extLst>
          </p:cNvPr>
          <p:cNvSpPr>
            <a:spLocks xmlns:a="http://schemas.openxmlformats.org/drawingml/2006/main" noGrp="1"/>
          </p:cNvSpPr>
          <p:nvPr/>
        </p:nvSpPr>
        <p:spPr>
          <a:xfrm xmlns:a="http://schemas.openxmlformats.org/drawingml/2006/main">
            <a:off x="6076950" y="3343275"/>
            <a:ext cx="5600700" cy="19716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E565A3C-FF6D-4CE0-8375-E9AAE29F6D5E}"/>
              </a:ext>
            </a:extLst>
          </p:cNvPr>
          <p:cNvSpPr>
            <a:spLocks xmlns:a="http://schemas.openxmlformats.org/drawingml/2006/main" noGrp="1"/>
          </p:cNvSpPr>
          <p:nvPr/>
        </p:nvSpPr>
        <p:spPr>
          <a:xfrm xmlns:a="http://schemas.openxmlformats.org/drawingml/2006/main">
            <a:off x="6267450" y="34575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今回のコピュラ法</a:t>
            </a:r>
          </a:p>
        </p:txBody>
      </p:sp>
      <p:sp>
        <p:nvSpPr>
          <p:cNvPr id="13" name="">
            <a:extLst xmlns:a="http://schemas.openxmlformats.org/drawingml/2006/main">
              <a:ext uri="{FF2B5EF4-FFF2-40B4-BE49-F238E27FC236}">
                <a16:creationId xmlns:a16="http://schemas.microsoft.com/office/drawing/2014/main" id="{CE388B3F-9B55-47C6-843A-3B8FDC5F474A}"/>
              </a:ext>
            </a:extLst>
          </p:cNvPr>
          <p:cNvSpPr>
            <a:spLocks xmlns:a="http://schemas.openxmlformats.org/drawingml/2006/main" noGrp="1"/>
          </p:cNvSpPr>
          <p:nvPr/>
        </p:nvSpPr>
        <p:spPr>
          <a:xfrm xmlns:a="http://schemas.openxmlformats.org/drawingml/2006/main">
            <a:off x="6267450" y="4010025"/>
            <a:ext cx="52197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データ全体で関係をモデル化し、</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70 kgという条件で分布を求める。</a:t>
            </a:r>
          </a:p>
        </p:txBody>
      </p:sp>
      <p:sp>
        <p:nvSpPr>
          <p:cNvPr id="14" name="">
            <a:extLst xmlns:a="http://schemas.openxmlformats.org/drawingml/2006/main">
              <a:ext uri="{FF2B5EF4-FFF2-40B4-BE49-F238E27FC236}">
                <a16:creationId xmlns:a16="http://schemas.microsoft.com/office/drawing/2014/main" id="{6271BB88-E136-4189-9128-BAD14966FA5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DC42283-28AE-46A1-8AE5-A15B372C875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次の問い：コピュラは、データ全体の何をモデル化するのか？</a:t>
            </a:r>
          </a:p>
        </p:txBody>
      </p:sp>
    </p:spTree>
    <p:extLst>
      <p:ext uri="{BB962C8B-B14F-4D97-AF65-F5344CB8AC3E}">
        <p14:creationId xmlns:p14="http://schemas.microsoft.com/office/powerpoint/2010/main" val="22162082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471CAA8-B005-493B-AA6F-7DCF23FE786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値の分布と、値の組合せは別の情報</a:t>
            </a:r>
          </a:p>
        </p:txBody>
      </p:sp>
      <p:sp>
        <p:nvSpPr>
          <p:cNvPr id="2" name="">
            <a:extLst xmlns:a="http://schemas.openxmlformats.org/drawingml/2006/main">
              <a:ext uri="{FF2B5EF4-FFF2-40B4-BE49-F238E27FC236}">
                <a16:creationId xmlns:a16="http://schemas.microsoft.com/office/drawing/2014/main" id="{C777442C-CA60-482D-9BEC-7E24C462AF6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F699D31-69A8-434D-B5AC-B803110F7AE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条件付き分布を作るには、身長と体重の結びつきが必要。</a:t>
            </a:r>
          </a:p>
        </p:txBody>
      </p:sp>
      <p:sp>
        <p:nvSpPr>
          <p:cNvPr id="4" name="">
            <a:extLst xmlns:a="http://schemas.openxmlformats.org/drawingml/2006/main">
              <a:ext uri="{FF2B5EF4-FFF2-40B4-BE49-F238E27FC236}">
                <a16:creationId xmlns:a16="http://schemas.microsoft.com/office/drawing/2014/main" id="{A4E4543C-E534-428A-96E9-F14912927EF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130EFCE5-DF6E-4E96-8A29-A99ADEB3104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8</a:t>
            </a:r>
          </a:p>
        </p:txBody>
      </p:sp>
      <p:graphicFrame>
        <p:nvGraphicFramePr>
          <p:cNvPr id="15" name=""/>
          <p:cNvGraphicFramePr/>
          <p:nvPr/>
        </p:nvGraphicFramePr>
        <p:xfrm>
          <a:off xmlns:a="http://schemas.openxmlformats.org/drawingml/2006/main" x="514350" y="2009775"/>
          <a:ext xmlns:a="http://schemas.openxmlformats.org/drawingml/2006/main" cx="11163300" cy="2828925"/>
        </p:xfrm>
        <a:graphic xmlns:a="http://schemas.openxmlformats.org/drawingml/2006/main">
          <a:graphicData uri="http://schemas.openxmlformats.org/drawingml/2006/table">
            <a:tbl>
              <a:tblPr/>
              <a:tblGrid>
                <a:gridCol w="2790825"/>
                <a:gridCol w="2790825"/>
                <a:gridCol w="2790825"/>
                <a:gridCol w="2790825"/>
              </a:tblGrid>
              <a:tr h="565785">
                <a:tc>
                  <a:txBody>
                    <a:bodyPr/>
                    <a:lstStyle/>
                    <a:p>
                      <a:pPr algn="ctr"/>
                      <a:r>
                        <a:rPr sz="2100" b="1">
                          <a:solidFill>
                            <a:srgbClr val="2E7D5B"/>
                          </a:solidFill>
                          <a:latin typeface="Noto Sans JP"/>
                          <a:ea typeface="Noto Sans JP"/>
                          <a:cs typeface="Noto Sans JP"/>
                        </a:rPr>
                        <a:t>人</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身長 cm</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体重 kg</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体重を逆にした場合</a:t>
                      </a:r>
                    </a:p>
                  </a:txBody>
                  <a:tcPr marL="91440" marR="91440" marT="45720" marB="45720" anchor="ctr">
                    <a:solidFill>
                      <a:srgbClr val="E7F2EC"/>
                    </a:solidFill>
                  </a:tcPr>
                </a:tc>
              </a:tr>
              <a:tr h="565785">
                <a:tc>
                  <a:txBody>
                    <a:bodyPr/>
                    <a:lstStyle/>
                    <a:p>
                      <a:pPr algn="ctr"/>
                      <a:r>
                        <a:rPr sz="2100" b="0">
                          <a:solidFill>
                            <a:srgbClr val="222222"/>
                          </a:solidFill>
                          <a:latin typeface="Noto Sans JP"/>
                          <a:ea typeface="Noto Sans JP"/>
                          <a:cs typeface="Noto Sans JP"/>
                        </a:rPr>
                        <a:t>A</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155</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48</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82</a:t>
                      </a:r>
                    </a:p>
                  </a:txBody>
                  <a:tcPr marL="91440" marR="91440" marT="45720" marB="45720" anchor="ctr">
                    <a:solidFill>
                      <a:srgbClr val="FFFFFF"/>
                    </a:solidFill>
                  </a:tcPr>
                </a:tc>
              </a:tr>
              <a:tr h="565785">
                <a:tc>
                  <a:txBody>
                    <a:bodyPr/>
                    <a:lstStyle/>
                    <a:p>
                      <a:pPr algn="ctr"/>
                      <a:r>
                        <a:rPr sz="2100" b="0">
                          <a:solidFill>
                            <a:srgbClr val="222222"/>
                          </a:solidFill>
                          <a:latin typeface="Noto Sans JP"/>
                          <a:ea typeface="Noto Sans JP"/>
                          <a:cs typeface="Noto Sans JP"/>
                        </a:rPr>
                        <a:t>B</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165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57</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68</a:t>
                      </a:r>
                    </a:p>
                  </a:txBody>
                  <a:tcPr marL="91440" marR="91440" marT="45720" marB="45720" anchor="ctr">
                    <a:solidFill>
                      <a:srgbClr val="F6F6F6"/>
                    </a:solidFill>
                  </a:tcPr>
                </a:tc>
              </a:tr>
              <a:tr h="565785">
                <a:tc>
                  <a:txBody>
                    <a:bodyPr/>
                    <a:lstStyle/>
                    <a:p>
                      <a:pPr algn="ctr"/>
                      <a:r>
                        <a:rPr sz="2100" b="0">
                          <a:solidFill>
                            <a:srgbClr val="222222"/>
                          </a:solidFill>
                          <a:latin typeface="Noto Sans JP"/>
                          <a:ea typeface="Noto Sans JP"/>
                          <a:cs typeface="Noto Sans JP"/>
                        </a:rPr>
                        <a:t>C</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175</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68</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57</a:t>
                      </a:r>
                    </a:p>
                  </a:txBody>
                  <a:tcPr marL="91440" marR="91440" marT="45720" marB="45720" anchor="ctr">
                    <a:solidFill>
                      <a:srgbClr val="FFFFFF"/>
                    </a:solidFill>
                  </a:tcPr>
                </a:tc>
              </a:tr>
              <a:tr h="565785">
                <a:tc>
                  <a:txBody>
                    <a:bodyPr/>
                    <a:lstStyle/>
                    <a:p>
                      <a:pPr algn="ctr"/>
                      <a:r>
                        <a:rPr sz="2100" b="0">
                          <a:solidFill>
                            <a:srgbClr val="222222"/>
                          </a:solidFill>
                          <a:latin typeface="Noto Sans JP"/>
                          <a:ea typeface="Noto Sans JP"/>
                          <a:cs typeface="Noto Sans JP"/>
                        </a:rPr>
                        <a:t>D</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185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82</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48</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49226272-49B0-4002-81A7-D55FAAF12F79}"/>
              </a:ext>
            </a:extLst>
          </p:cNvPr>
          <p:cNvSpPr>
            <a:spLocks xmlns:a="http://schemas.openxmlformats.org/drawingml/2006/main" noGrp="1"/>
          </p:cNvSpPr>
          <p:nvPr/>
        </p:nvSpPr>
        <p:spPr>
          <a:xfrm xmlns:a="http://schemas.openxmlformats.org/drawingml/2006/main">
            <a:off x="609600" y="495300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1">
                <a:solidFill>
                  <a:srgbClr val="222222"/>
                </a:solidFill>
                <a:latin typeface="Noto Sans JP"/>
                <a:ea typeface="Noto Sans JP"/>
                <a:cs typeface="Noto Sans JP"/>
              </a:defRPr>
            </a:pPr>
            <a:r>
              <a:rPr sz="1950" b="1">
                <a:solidFill>
                  <a:srgbClr val="222222"/>
                </a:solidFill>
                <a:latin typeface="Noto Sans JP"/>
                <a:ea typeface="Noto Sans JP"/>
                <a:cs typeface="Noto Sans JP"/>
              </a:rPr>
              <a:t>各列の値の集合は同じでも、「高い人ほど重い」という関係は逆。</a:t>
            </a:r>
          </a:p>
        </p:txBody>
      </p:sp>
      <p:sp>
        <p:nvSpPr>
          <p:cNvPr id="8" name="">
            <a:extLst xmlns:a="http://schemas.openxmlformats.org/drawingml/2006/main">
              <a:ext uri="{FF2B5EF4-FFF2-40B4-BE49-F238E27FC236}">
                <a16:creationId xmlns:a16="http://schemas.microsoft.com/office/drawing/2014/main" id="{A692D260-42E2-46D8-8097-87C26E6BEF3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CECC395-0A1D-45AB-8798-F998505FB35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次の問い：「組合せの関係」を、どんな尺度で表すか？</a:t>
            </a:r>
          </a:p>
        </p:txBody>
      </p:sp>
    </p:spTree>
    <p:extLst>
      <p:ext uri="{BB962C8B-B14F-4D97-AF65-F5344CB8AC3E}">
        <p14:creationId xmlns:p14="http://schemas.microsoft.com/office/powerpoint/2010/main" val="10926804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507180-BBCE-4C83-A326-DDE389A0A04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値を「その値以下の割合」に変える</a:t>
            </a:r>
          </a:p>
        </p:txBody>
      </p:sp>
      <p:sp>
        <p:nvSpPr>
          <p:cNvPr id="2" name="">
            <a:extLst xmlns:a="http://schemas.openxmlformats.org/drawingml/2006/main">
              <a:ext uri="{FF2B5EF4-FFF2-40B4-BE49-F238E27FC236}">
                <a16:creationId xmlns:a16="http://schemas.microsoft.com/office/drawing/2014/main" id="{9DDB46E7-2D44-42A4-9209-868EF8B243E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68AE25A-AE17-47A1-BF34-5ADB8D4AB62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身長と体重の組合せを、共通の0〜1の尺度で表したい。</a:t>
            </a:r>
          </a:p>
        </p:txBody>
      </p:sp>
      <p:sp>
        <p:nvSpPr>
          <p:cNvPr id="4" name="">
            <a:extLst xmlns:a="http://schemas.openxmlformats.org/drawingml/2006/main">
              <a:ext uri="{FF2B5EF4-FFF2-40B4-BE49-F238E27FC236}">
                <a16:creationId xmlns:a16="http://schemas.microsoft.com/office/drawing/2014/main" id="{5AD306DB-DBC3-4088-9E9C-17E320DEDA7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FD7EBA4E-EE0B-4459-B2F3-60D131E4910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9</a:t>
            </a:r>
          </a:p>
        </p:txBody>
      </p:sp>
      <p:graphicFrame>
        <p:nvGraphicFramePr>
          <p:cNvPr id="16" name=""/>
          <p:cNvGraphicFramePr/>
          <p:nvPr/>
        </p:nvGraphicFramePr>
        <p:xfrm>
          <a:off xmlns:a="http://schemas.openxmlformats.org/drawingml/2006/main" x="514350" y="2076450"/>
          <a:ext xmlns:a="http://schemas.openxmlformats.org/drawingml/2006/main" cx="11163300" cy="1390650"/>
        </p:xfrm>
        <a:graphic xmlns:a="http://schemas.openxmlformats.org/drawingml/2006/main">
          <a:graphicData uri="http://schemas.openxmlformats.org/drawingml/2006/table">
            <a:tbl>
              <a:tblPr/>
              <a:tblGrid>
                <a:gridCol w="1014845"/>
                <a:gridCol w="1014845"/>
                <a:gridCol w="1014845"/>
                <a:gridCol w="1014845"/>
                <a:gridCol w="1014845"/>
                <a:gridCol w="1014845"/>
                <a:gridCol w="1014845"/>
                <a:gridCol w="1014845"/>
                <a:gridCol w="1014845"/>
                <a:gridCol w="1014845"/>
                <a:gridCol w="1014845"/>
              </a:tblGrid>
              <a:tr h="695325">
                <a:tc>
                  <a:txBody>
                    <a:bodyPr/>
                    <a:lstStyle/>
                    <a:p>
                      <a:pPr algn="ctr"/>
                      <a:r>
                        <a:rPr sz="1875" b="1">
                          <a:solidFill>
                            <a:srgbClr val="2E7D5B"/>
                          </a:solidFill>
                          <a:latin typeface="Noto Sans JP"/>
                          <a:ea typeface="Noto Sans JP"/>
                          <a:cs typeface="Noto Sans JP"/>
                        </a:rPr>
                        <a:t>小さい順</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1</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2</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3</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4</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5</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6</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7</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8</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9</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10</a:t>
                      </a:r>
                    </a:p>
                  </a:txBody>
                  <a:tcPr marL="91440" marR="91440" marT="45720" marB="45720" anchor="ctr">
                    <a:solidFill>
                      <a:srgbClr val="E7F2EC"/>
                    </a:solidFill>
                  </a:tcPr>
                </a:tc>
              </a:tr>
              <a:tr h="695325">
                <a:tc>
                  <a:txBody>
                    <a:bodyPr/>
                    <a:lstStyle/>
                    <a:p>
                      <a:pPr algn="ctr"/>
                      <a:r>
                        <a:rPr sz="1875" b="0">
                          <a:solidFill>
                            <a:srgbClr val="222222"/>
                          </a:solidFill>
                          <a:latin typeface="Noto Sans JP"/>
                          <a:ea typeface="Noto Sans JP"/>
                          <a:cs typeface="Noto Sans JP"/>
                        </a:rPr>
                        <a:t>体重 kg</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45</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50</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55</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60</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63</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67</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70</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75</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80</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90</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7AEE0C12-F4E5-45B0-9D26-A103C47B3F37}"/>
              </a:ext>
            </a:extLst>
          </p:cNvPr>
          <p:cNvSpPr>
            <a:spLocks xmlns:a="http://schemas.openxmlformats.org/drawingml/2006/main" noGrp="1"/>
          </p:cNvSpPr>
          <p:nvPr/>
        </p:nvSpPr>
        <p:spPr>
          <a:xfrm xmlns:a="http://schemas.openxmlformats.org/drawingml/2006/main">
            <a:off x="514350" y="36861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53C2F0D-1E4A-4C2B-8467-41ACA29B58BA}"/>
              </a:ext>
            </a:extLst>
          </p:cNvPr>
          <p:cNvSpPr>
            <a:spLocks xmlns:a="http://schemas.openxmlformats.org/drawingml/2006/main" noGrp="1"/>
          </p:cNvSpPr>
          <p:nvPr/>
        </p:nvSpPr>
        <p:spPr>
          <a:xfrm xmlns:a="http://schemas.openxmlformats.org/drawingml/2006/main">
            <a:off x="704850" y="37814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850" b="1">
                <a:solidFill>
                  <a:srgbClr val="2B6777"/>
                </a:solidFill>
                <a:latin typeface="Noto Sans JP"/>
                <a:ea typeface="Noto Sans JP"/>
                <a:cs typeface="Noto Sans JP"/>
              </a:defRPr>
            </a:pPr>
            <a:r>
              <a:rPr sz="2850" b="1">
                <a:solidFill>
                  <a:srgbClr val="2B6777"/>
                </a:solidFill>
                <a:latin typeface="Noto Sans JP"/>
                <a:ea typeface="Noto Sans JP"/>
                <a:cs typeface="Noto Sans JP"/>
              </a:rPr>
              <a:t>Fᵧ(70) = P(Y ≤ 70) ≈ 7 / 10 = 0.7</a:t>
            </a:r>
          </a:p>
        </p:txBody>
      </p:sp>
      <p:sp>
        <p:nvSpPr>
          <p:cNvPr id="9" name="">
            <a:extLst xmlns:a="http://schemas.openxmlformats.org/drawingml/2006/main">
              <a:ext uri="{FF2B5EF4-FFF2-40B4-BE49-F238E27FC236}">
                <a16:creationId xmlns:a16="http://schemas.microsoft.com/office/drawing/2014/main" id="{4F6EDE34-7672-47BC-99DE-3E74B2062F8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1528AD1-44AC-449F-B81B-D8C57B9476A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次の問い：身長も同じ方法で変えると、何が見えるか？</a:t>
            </a:r>
          </a:p>
        </p:txBody>
      </p:sp>
    </p:spTree>
    <p:extLst>
      <p:ext uri="{BB962C8B-B14F-4D97-AF65-F5344CB8AC3E}">
        <p14:creationId xmlns:p14="http://schemas.microsoft.com/office/powerpoint/2010/main" val="19090713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C418AE0-9E64-4524-92CD-18F5A379681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二つの確率位置の組で、関係を見る</a:t>
            </a:r>
          </a:p>
        </p:txBody>
      </p:sp>
      <p:sp>
        <p:nvSpPr>
          <p:cNvPr id="2" name="">
            <a:extLst xmlns:a="http://schemas.openxmlformats.org/drawingml/2006/main">
              <a:ext uri="{FF2B5EF4-FFF2-40B4-BE49-F238E27FC236}">
                <a16:creationId xmlns:a16="http://schemas.microsoft.com/office/drawing/2014/main" id="{44381575-C9A8-4982-BE39-0948DEDDD5F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E227F46-84FC-4BDF-B836-27D5296156A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体重70 kgを、体重分布の中の位置0.7へ変換した。</a:t>
            </a:r>
          </a:p>
        </p:txBody>
      </p:sp>
      <p:sp>
        <p:nvSpPr>
          <p:cNvPr id="4" name="">
            <a:extLst xmlns:a="http://schemas.openxmlformats.org/drawingml/2006/main">
              <a:ext uri="{FF2B5EF4-FFF2-40B4-BE49-F238E27FC236}">
                <a16:creationId xmlns:a16="http://schemas.microsoft.com/office/drawing/2014/main" id="{3566F052-A7AD-4F32-A9A6-47042E07F52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74F13321-AFC3-436D-9733-0D165044380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10</a:t>
            </a:r>
          </a:p>
        </p:txBody>
      </p:sp>
      <p:graphicFrame>
        <p:nvGraphicFramePr>
          <p:cNvPr id="15" name=""/>
          <p:cNvGraphicFramePr/>
          <p:nvPr/>
        </p:nvGraphicFramePr>
        <p:xfrm>
          <a:off xmlns:a="http://schemas.openxmlformats.org/drawingml/2006/main" x="514350" y="2009775"/>
          <a:ext xmlns:a="http://schemas.openxmlformats.org/drawingml/2006/main" cx="11163300" cy="2047875"/>
        </p:xfrm>
        <a:graphic xmlns:a="http://schemas.openxmlformats.org/drawingml/2006/main">
          <a:graphicData uri="http://schemas.openxmlformats.org/drawingml/2006/table">
            <a:tbl>
              <a:tblPr/>
              <a:tblGrid>
                <a:gridCol w="3721100"/>
                <a:gridCol w="3721100"/>
                <a:gridCol w="3721100"/>
              </a:tblGrid>
              <a:tr h="682625">
                <a:tc>
                  <a:txBody>
                    <a:bodyPr/>
                    <a:lstStyle/>
                    <a:p>
                      <a:pPr algn="ctr"/>
                      <a:r>
                        <a:rPr sz="2100" b="1">
                          <a:solidFill>
                            <a:srgbClr val="2E7D5B"/>
                          </a:solidFill>
                          <a:latin typeface="Noto Sans JP"/>
                          <a:ea typeface="Noto Sans JP"/>
                          <a:cs typeface="Noto Sans JP"/>
                        </a:rPr>
                        <a:t>一人の例</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元の値</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その値以下の割合</a:t>
                      </a:r>
                    </a:p>
                  </a:txBody>
                  <a:tcPr marL="91440" marR="91440" marT="45720" marB="45720" anchor="ctr">
                    <a:solidFill>
                      <a:srgbClr val="E7F2EC"/>
                    </a:solidFill>
                  </a:tcPr>
                </a:tc>
              </a:tr>
              <a:tr h="682625">
                <a:tc>
                  <a:txBody>
                    <a:bodyPr/>
                    <a:lstStyle/>
                    <a:p>
                      <a:pPr algn="ctr"/>
                      <a:r>
                        <a:rPr sz="2100" b="0">
                          <a:solidFill>
                            <a:srgbClr val="222222"/>
                          </a:solidFill>
                          <a:latin typeface="Noto Sans JP"/>
                          <a:ea typeface="Noto Sans JP"/>
                          <a:cs typeface="Noto Sans JP"/>
                        </a:rPr>
                        <a:t>身長 X</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約172.5 cm</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U = Fₓ(X) ≈ 0.6</a:t>
                      </a:r>
                    </a:p>
                  </a:txBody>
                  <a:tcPr marL="91440" marR="91440" marT="45720" marB="45720" anchor="ctr">
                    <a:solidFill>
                      <a:srgbClr val="FFFFFF"/>
                    </a:solidFill>
                  </a:tcPr>
                </a:tc>
              </a:tr>
              <a:tr h="682625">
                <a:tc>
                  <a:txBody>
                    <a:bodyPr/>
                    <a:lstStyle/>
                    <a:p>
                      <a:pPr algn="ctr"/>
                      <a:r>
                        <a:rPr sz="2100" b="0">
                          <a:solidFill>
                            <a:srgbClr val="222222"/>
                          </a:solidFill>
                          <a:latin typeface="Noto Sans JP"/>
                          <a:ea typeface="Noto Sans JP"/>
                          <a:cs typeface="Noto Sans JP"/>
                        </a:rPr>
                        <a:t>体重 Y</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70 kg</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V = Fᵧ(Y) = 0.7</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192ECEE4-3840-412A-A48D-AE7732537B05}"/>
              </a:ext>
            </a:extLst>
          </p:cNvPr>
          <p:cNvSpPr>
            <a:spLocks xmlns:a="http://schemas.openxmlformats.org/drawingml/2006/main" noGrp="1"/>
          </p:cNvSpPr>
          <p:nvPr/>
        </p:nvSpPr>
        <p:spPr>
          <a:xfrm xmlns:a="http://schemas.openxmlformats.org/drawingml/2006/main">
            <a:off x="647700" y="4333875"/>
            <a:ext cx="109061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この人を (0.6, 0.7) と表し、多くの人の位置の組を集める。</a:t>
            </a:r>
          </a:p>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連続な周辺では、UとVはそれぞれ一様分布になる。</a:t>
            </a:r>
          </a:p>
        </p:txBody>
      </p:sp>
      <p:sp>
        <p:nvSpPr>
          <p:cNvPr id="8" name="">
            <a:extLst xmlns:a="http://schemas.openxmlformats.org/drawingml/2006/main">
              <a:ext uri="{FF2B5EF4-FFF2-40B4-BE49-F238E27FC236}">
                <a16:creationId xmlns:a16="http://schemas.microsoft.com/office/drawing/2014/main" id="{13B5D910-7233-4F64-B4BC-272D4AB9EBBC}"/>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F1EF5F8-7092-44EC-8DCC-43C61E1D808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次の問い：位置の組が現れる確率を、どう定義するか？</a:t>
            </a:r>
          </a:p>
        </p:txBody>
      </p:sp>
    </p:spTree>
    <p:extLst>
      <p:ext uri="{BB962C8B-B14F-4D97-AF65-F5344CB8AC3E}">
        <p14:creationId xmlns:p14="http://schemas.microsoft.com/office/powerpoint/2010/main" val="46779823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7D9E362-63CA-4557-A684-3C533E24D78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コピュラは、位置の同時累積分布</a:t>
            </a:r>
          </a:p>
        </p:txBody>
      </p:sp>
      <p:sp>
        <p:nvSpPr>
          <p:cNvPr id="2" name="">
            <a:extLst xmlns:a="http://schemas.openxmlformats.org/drawingml/2006/main">
              <a:ext uri="{FF2B5EF4-FFF2-40B4-BE49-F238E27FC236}">
                <a16:creationId xmlns:a16="http://schemas.microsoft.com/office/drawing/2014/main" id="{335B0DA0-C5FC-4823-A4C8-942B3E7F896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82273F2-0EEC-4F48-96AA-0B2606AA309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各人の (U, V) を集めたので、同時に入る範囲の確率を考える。</a:t>
            </a:r>
          </a:p>
        </p:txBody>
      </p:sp>
      <p:sp>
        <p:nvSpPr>
          <p:cNvPr id="4" name="">
            <a:extLst xmlns:a="http://schemas.openxmlformats.org/drawingml/2006/main">
              <a:ext uri="{FF2B5EF4-FFF2-40B4-BE49-F238E27FC236}">
                <a16:creationId xmlns:a16="http://schemas.microsoft.com/office/drawing/2014/main" id="{1894C9B6-3385-4676-A166-F3E8AD1F251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DA300CD1-58B7-4BD3-A7A3-A09DF391C99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11</a:t>
            </a:r>
          </a:p>
        </p:txBody>
      </p:sp>
      <p:sp>
        <p:nvSpPr>
          <p:cNvPr id="6" name="">
            <a:extLst xmlns:a="http://schemas.openxmlformats.org/drawingml/2006/main">
              <a:ext uri="{FF2B5EF4-FFF2-40B4-BE49-F238E27FC236}">
                <a16:creationId xmlns:a16="http://schemas.microsoft.com/office/drawing/2014/main" id="{8043D3E1-2642-4A40-9D29-80BAC70D23F8}"/>
              </a:ext>
            </a:extLst>
          </p:cNvPr>
          <p:cNvSpPr>
            <a:spLocks xmlns:a="http://schemas.openxmlformats.org/drawingml/2006/main" noGrp="1"/>
          </p:cNvSpPr>
          <p:nvPr/>
        </p:nvSpPr>
        <p:spPr>
          <a:xfrm xmlns:a="http://schemas.openxmlformats.org/drawingml/2006/main">
            <a:off x="514350" y="18859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2B01048-6E4D-4CC9-B566-E51C0853DB9A}"/>
              </a:ext>
            </a:extLst>
          </p:cNvPr>
          <p:cNvSpPr>
            <a:spLocks xmlns:a="http://schemas.openxmlformats.org/drawingml/2006/main" noGrp="1"/>
          </p:cNvSpPr>
          <p:nvPr/>
        </p:nvSpPr>
        <p:spPr>
          <a:xfrm xmlns:a="http://schemas.openxmlformats.org/drawingml/2006/main">
            <a:off x="704850" y="19812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B6777"/>
                </a:solidFill>
                <a:latin typeface="Noto Sans JP"/>
                <a:ea typeface="Noto Sans JP"/>
                <a:cs typeface="Noto Sans JP"/>
              </a:defRPr>
            </a:pPr>
            <a:r>
              <a:rPr sz="3300" b="1">
                <a:solidFill>
                  <a:srgbClr val="2B6777"/>
                </a:solidFill>
                <a:latin typeface="Noto Sans JP"/>
                <a:ea typeface="Noto Sans JP"/>
                <a:cs typeface="Noto Sans JP"/>
              </a:rPr>
              <a:t>C(u, v) = P(U ≤ u, V ≤ v)</a:t>
            </a:r>
          </a:p>
        </p:txBody>
      </p:sp>
      <p:sp>
        <p:nvSpPr>
          <p:cNvPr id="8" name="">
            <a:extLst xmlns:a="http://schemas.openxmlformats.org/drawingml/2006/main">
              <a:ext uri="{FF2B5EF4-FFF2-40B4-BE49-F238E27FC236}">
                <a16:creationId xmlns:a16="http://schemas.microsoft.com/office/drawing/2014/main" id="{A34854DD-8A30-41C5-A329-1E7B54372333}"/>
              </a:ext>
            </a:extLst>
          </p:cNvPr>
          <p:cNvSpPr>
            <a:spLocks xmlns:a="http://schemas.openxmlformats.org/drawingml/2006/main" noGrp="1"/>
          </p:cNvSpPr>
          <p:nvPr/>
        </p:nvSpPr>
        <p:spPr>
          <a:xfrm xmlns:a="http://schemas.openxmlformats.org/drawingml/2006/main">
            <a:off x="552450" y="3333750"/>
            <a:ext cx="476250" cy="59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6B0A2E3F-377B-453D-9E0F-D58F0A8DF4EB}"/>
              </a:ext>
            </a:extLst>
          </p:cNvPr>
          <p:cNvSpPr>
            <a:spLocks xmlns:a="http://schemas.openxmlformats.org/drawingml/2006/main" noGrp="1"/>
          </p:cNvSpPr>
          <p:nvPr/>
        </p:nvSpPr>
        <p:spPr>
          <a:xfrm xmlns:a="http://schemas.openxmlformats.org/drawingml/2006/main">
            <a:off x="1257300" y="3333750"/>
            <a:ext cx="10191750" cy="59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u = 0.6：身長の位置が、低い側から60%まで。</a:t>
            </a:r>
          </a:p>
        </p:txBody>
      </p:sp>
      <p:sp>
        <p:nvSpPr>
          <p:cNvPr id="10" name="">
            <a:extLst xmlns:a="http://schemas.openxmlformats.org/drawingml/2006/main">
              <a:ext uri="{FF2B5EF4-FFF2-40B4-BE49-F238E27FC236}">
                <a16:creationId xmlns:a16="http://schemas.microsoft.com/office/drawing/2014/main" id="{367C0717-8734-4453-9784-407309BBCFAF}"/>
              </a:ext>
            </a:extLst>
          </p:cNvPr>
          <p:cNvSpPr>
            <a:spLocks xmlns:a="http://schemas.openxmlformats.org/drawingml/2006/main" noGrp="1"/>
          </p:cNvSpPr>
          <p:nvPr/>
        </p:nvSpPr>
        <p:spPr>
          <a:xfrm xmlns:a="http://schemas.openxmlformats.org/drawingml/2006/main">
            <a:off x="552450" y="4006850"/>
            <a:ext cx="476250" cy="59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C857EF4D-BF73-491A-BDD2-78D416D5B44F}"/>
              </a:ext>
            </a:extLst>
          </p:cNvPr>
          <p:cNvSpPr>
            <a:spLocks xmlns:a="http://schemas.openxmlformats.org/drawingml/2006/main" noGrp="1"/>
          </p:cNvSpPr>
          <p:nvPr/>
        </p:nvSpPr>
        <p:spPr>
          <a:xfrm xmlns:a="http://schemas.openxmlformats.org/drawingml/2006/main">
            <a:off x="1257300" y="4006850"/>
            <a:ext cx="10191750" cy="59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v = 0.7：体重の位置が、軽い側から70%まで。</a:t>
            </a:r>
          </a:p>
        </p:txBody>
      </p:sp>
      <p:sp>
        <p:nvSpPr>
          <p:cNvPr id="12" name="">
            <a:extLst xmlns:a="http://schemas.openxmlformats.org/drawingml/2006/main">
              <a:ext uri="{FF2B5EF4-FFF2-40B4-BE49-F238E27FC236}">
                <a16:creationId xmlns:a16="http://schemas.microsoft.com/office/drawing/2014/main" id="{A2A7C7B8-7E9C-44F8-9D77-FB1A2D89292E}"/>
              </a:ext>
            </a:extLst>
          </p:cNvPr>
          <p:cNvSpPr>
            <a:spLocks xmlns:a="http://schemas.openxmlformats.org/drawingml/2006/main" noGrp="1"/>
          </p:cNvSpPr>
          <p:nvPr/>
        </p:nvSpPr>
        <p:spPr>
          <a:xfrm xmlns:a="http://schemas.openxmlformats.org/drawingml/2006/main">
            <a:off x="552450" y="4679950"/>
            <a:ext cx="476250" cy="59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D33B854F-7ABA-4D42-9100-52A2649E98C6}"/>
              </a:ext>
            </a:extLst>
          </p:cNvPr>
          <p:cNvSpPr>
            <a:spLocks xmlns:a="http://schemas.openxmlformats.org/drawingml/2006/main" noGrp="1"/>
          </p:cNvSpPr>
          <p:nvPr/>
        </p:nvSpPr>
        <p:spPr>
          <a:xfrm xmlns:a="http://schemas.openxmlformats.org/drawingml/2006/main">
            <a:off x="1257300" y="4679950"/>
            <a:ext cx="10191750" cy="59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C(0.6, 0.7)：二つの条件を同時に満たす確率。</a:t>
            </a:r>
          </a:p>
        </p:txBody>
      </p:sp>
      <p:sp>
        <p:nvSpPr>
          <p:cNvPr id="14" name="">
            <a:extLst xmlns:a="http://schemas.openxmlformats.org/drawingml/2006/main">
              <a:ext uri="{FF2B5EF4-FFF2-40B4-BE49-F238E27FC236}">
                <a16:creationId xmlns:a16="http://schemas.microsoft.com/office/drawing/2014/main" id="{D428FD32-BD5A-4026-9ED1-C53E0FE88EC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37056C7-BA5D-4FF9-A82A-8F82E52F3EE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次の問い：この位置の確率から、元の値の確率をどう表すか？</a:t>
            </a:r>
          </a:p>
        </p:txBody>
      </p:sp>
    </p:spTree>
    <p:extLst>
      <p:ext uri="{BB962C8B-B14F-4D97-AF65-F5344CB8AC3E}">
        <p14:creationId xmlns:p14="http://schemas.microsoft.com/office/powerpoint/2010/main" val="163908456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D83D5F8-73CC-4C0F-80A7-357FC47A0F5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元の分布を、周辺分布とコピュラで表す</a:t>
            </a:r>
          </a:p>
        </p:txBody>
      </p:sp>
      <p:sp>
        <p:nvSpPr>
          <p:cNvPr id="2" name="">
            <a:extLst xmlns:a="http://schemas.openxmlformats.org/drawingml/2006/main">
              <a:ext uri="{FF2B5EF4-FFF2-40B4-BE49-F238E27FC236}">
                <a16:creationId xmlns:a16="http://schemas.microsoft.com/office/drawing/2014/main" id="{949CD8DC-F2AE-4569-924C-5DF5369CB08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B190FD2-0363-45D3-B60C-0553100F4F7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Cは位置の確率。元の値を位置へ変えれば、同じ範囲を指定できる。</a:t>
            </a:r>
          </a:p>
        </p:txBody>
      </p:sp>
      <p:sp>
        <p:nvSpPr>
          <p:cNvPr id="4" name="">
            <a:extLst xmlns:a="http://schemas.openxmlformats.org/drawingml/2006/main">
              <a:ext uri="{FF2B5EF4-FFF2-40B4-BE49-F238E27FC236}">
                <a16:creationId xmlns:a16="http://schemas.microsoft.com/office/drawing/2014/main" id="{13B6BBB6-A296-43AD-8A06-FC13807EA4E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ABE8D73B-7238-484F-A794-B3DCD3BCE84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12</a:t>
            </a:r>
          </a:p>
        </p:txBody>
      </p:sp>
      <p:sp>
        <p:nvSpPr>
          <p:cNvPr id="6" name="">
            <a:extLst xmlns:a="http://schemas.openxmlformats.org/drawingml/2006/main">
              <a:ext uri="{FF2B5EF4-FFF2-40B4-BE49-F238E27FC236}">
                <a16:creationId xmlns:a16="http://schemas.microsoft.com/office/drawing/2014/main" id="{5992C6D6-AA3A-4399-AA86-547994B31DC7}"/>
              </a:ext>
            </a:extLst>
          </p:cNvPr>
          <p:cNvSpPr>
            <a:spLocks xmlns:a="http://schemas.openxmlformats.org/drawingml/2006/main" noGrp="1"/>
          </p:cNvSpPr>
          <p:nvPr/>
        </p:nvSpPr>
        <p:spPr>
          <a:xfrm xmlns:a="http://schemas.openxmlformats.org/drawingml/2006/main">
            <a:off x="514350" y="19050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A329B50-9F8A-416C-A7BF-E61FDB0DE66A}"/>
              </a:ext>
            </a:extLst>
          </p:cNvPr>
          <p:cNvSpPr>
            <a:spLocks xmlns:a="http://schemas.openxmlformats.org/drawingml/2006/main" noGrp="1"/>
          </p:cNvSpPr>
          <p:nvPr/>
        </p:nvSpPr>
        <p:spPr>
          <a:xfrm xmlns:a="http://schemas.openxmlformats.org/drawingml/2006/main">
            <a:off x="704850" y="20002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150" b="1">
                <a:solidFill>
                  <a:srgbClr val="2B6777"/>
                </a:solidFill>
                <a:latin typeface="Noto Sans JP"/>
                <a:ea typeface="Noto Sans JP"/>
                <a:cs typeface="Noto Sans JP"/>
              </a:defRPr>
            </a:pPr>
            <a:r>
              <a:rPr sz="3150" b="1">
                <a:solidFill>
                  <a:srgbClr val="2B6777"/>
                </a:solidFill>
                <a:latin typeface="Noto Sans JP"/>
                <a:ea typeface="Noto Sans JP"/>
                <a:cs typeface="Noto Sans JP"/>
              </a:rPr>
              <a:t>H(x, y) = C(Fₓ(x), Fᵧ(y))</a:t>
            </a:r>
          </a:p>
        </p:txBody>
      </p:sp>
      <p:graphicFrame>
        <p:nvGraphicFramePr>
          <p:cNvPr id="18" name=""/>
          <p:cNvGraphicFramePr/>
          <p:nvPr/>
        </p:nvGraphicFramePr>
        <p:xfrm>
          <a:off xmlns:a="http://schemas.openxmlformats.org/drawingml/2006/main" x="514350" y="3333750"/>
          <a:ext xmlns:a="http://schemas.openxmlformats.org/drawingml/2006/main" cx="11163300" cy="2076450"/>
        </p:xfrm>
        <a:graphic xmlns:a="http://schemas.openxmlformats.org/drawingml/2006/main">
          <a:graphicData uri="http://schemas.openxmlformats.org/drawingml/2006/table">
            <a:tbl>
              <a:tblPr/>
              <a:tblGrid>
                <a:gridCol w="2667000"/>
                <a:gridCol w="8496300"/>
              </a:tblGrid>
              <a:tr h="519113">
                <a:tc>
                  <a:txBody>
                    <a:bodyPr/>
                    <a:lstStyle/>
                    <a:p>
                      <a:pPr algn="ctr"/>
                      <a:r>
                        <a:rPr sz="1875" b="1">
                          <a:solidFill>
                            <a:srgbClr val="2E7D5B"/>
                          </a:solidFill>
                          <a:latin typeface="Noto Sans JP"/>
                          <a:ea typeface="Noto Sans JP"/>
                          <a:cs typeface="Noto Sans JP"/>
                        </a:rPr>
                        <a:t>役割</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持っている情報</a:t>
                      </a:r>
                    </a:p>
                  </a:txBody>
                  <a:tcPr marL="91440" marR="91440" marT="45720" marB="45720" anchor="ctr">
                    <a:solidFill>
                      <a:srgbClr val="E7F2EC"/>
                    </a:solidFill>
                  </a:tcPr>
                </a:tc>
              </a:tr>
              <a:tr h="519113">
                <a:tc>
                  <a:txBody>
                    <a:bodyPr/>
                    <a:lstStyle/>
                    <a:p>
                      <a:pPr algn="ctr"/>
                      <a:r>
                        <a:rPr sz="1875" b="0">
                          <a:solidFill>
                            <a:srgbClr val="222222"/>
                          </a:solidFill>
                          <a:latin typeface="Noto Sans JP"/>
                          <a:ea typeface="Noto Sans JP"/>
                          <a:cs typeface="Noto Sans JP"/>
                        </a:rPr>
                        <a:t>Fₓ・Fᵧ：周辺分布</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どの身長・体重の値が、どれくらい存在するか</a:t>
                      </a:r>
                    </a:p>
                  </a:txBody>
                  <a:tcPr marL="91440" marR="91440" marT="45720" marB="45720" anchor="ctr">
                    <a:solidFill>
                      <a:srgbClr val="FFFFFF"/>
                    </a:solidFill>
                  </a:tcPr>
                </a:tc>
              </a:tr>
              <a:tr h="519113">
                <a:tc>
                  <a:txBody>
                    <a:bodyPr/>
                    <a:lstStyle/>
                    <a:p>
                      <a:pPr algn="ctr"/>
                      <a:r>
                        <a:rPr sz="1875" b="0">
                          <a:solidFill>
                            <a:srgbClr val="222222"/>
                          </a:solidFill>
                          <a:latin typeface="Noto Sans JP"/>
                          <a:ea typeface="Noto Sans JP"/>
                          <a:cs typeface="Noto Sans JP"/>
                        </a:rPr>
                        <a:t>C：コピュラ</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身長と体重の位置が、どう組み合わさるか</a:t>
                      </a:r>
                    </a:p>
                  </a:txBody>
                  <a:tcPr marL="91440" marR="91440" marT="45720" marB="45720" anchor="ctr">
                    <a:solidFill>
                      <a:srgbClr val="F6F6F6"/>
                    </a:solidFill>
                  </a:tcPr>
                </a:tc>
              </a:tr>
              <a:tr h="519113">
                <a:tc>
                  <a:txBody>
                    <a:bodyPr/>
                    <a:lstStyle/>
                    <a:p>
                      <a:pPr algn="ctr"/>
                      <a:r>
                        <a:rPr sz="1875" b="0">
                          <a:solidFill>
                            <a:srgbClr val="222222"/>
                          </a:solidFill>
                          <a:latin typeface="Noto Sans JP"/>
                          <a:ea typeface="Noto Sans JP"/>
                          <a:cs typeface="Noto Sans JP"/>
                        </a:rPr>
                        <a:t>生成するとき</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位置の組を作り、逆累積分布でcm・kgへ戻す</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BACB268A-E7A8-4FB5-A93A-6B715A1DF86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1CF218D-B4EB-4881-93B9-98E6853243B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次の問い：どのコピュラなら、条件付き生成を実装しやすいか？</a:t>
            </a:r>
          </a:p>
        </p:txBody>
      </p:sp>
    </p:spTree>
    <p:extLst>
      <p:ext uri="{BB962C8B-B14F-4D97-AF65-F5344CB8AC3E}">
        <p14:creationId xmlns:p14="http://schemas.microsoft.com/office/powerpoint/2010/main" val="43546387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241BF2A-2B07-498B-A624-B7D3D72334A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今回はGaussian copulaから始める</a:t>
            </a:r>
          </a:p>
        </p:txBody>
      </p:sp>
      <p:sp>
        <p:nvSpPr>
          <p:cNvPr id="2" name="">
            <a:extLst xmlns:a="http://schemas.openxmlformats.org/drawingml/2006/main">
              <a:ext uri="{FF2B5EF4-FFF2-40B4-BE49-F238E27FC236}">
                <a16:creationId xmlns:a16="http://schemas.microsoft.com/office/drawing/2014/main" id="{D0132706-BD3A-4323-AEAD-F2986385FB6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3DE8D57-69F5-48FB-A95A-2B8C02412C7F}"/>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分解の形は分かった。次は、位置どうしの関係に仮定を置く。</a:t>
            </a:r>
          </a:p>
        </p:txBody>
      </p:sp>
      <p:sp>
        <p:nvSpPr>
          <p:cNvPr id="4" name="">
            <a:extLst xmlns:a="http://schemas.openxmlformats.org/drawingml/2006/main">
              <a:ext uri="{FF2B5EF4-FFF2-40B4-BE49-F238E27FC236}">
                <a16:creationId xmlns:a16="http://schemas.microsoft.com/office/drawing/2014/main" id="{73707404-9CE8-4DE5-9506-6E7AEC2313D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CEB454A7-21BF-49A5-9A59-7E45A8A56B2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13</a:t>
            </a:r>
          </a:p>
        </p:txBody>
      </p:sp>
      <p:sp>
        <p:nvSpPr>
          <p:cNvPr id="6" name="">
            <a:extLst xmlns:a="http://schemas.openxmlformats.org/drawingml/2006/main">
              <a:ext uri="{FF2B5EF4-FFF2-40B4-BE49-F238E27FC236}">
                <a16:creationId xmlns:a16="http://schemas.microsoft.com/office/drawing/2014/main" id="{E43B575E-4B2C-4D75-9999-EDEF43A8FEB7}"/>
              </a:ext>
            </a:extLst>
          </p:cNvPr>
          <p:cNvSpPr>
            <a:spLocks xmlns:a="http://schemas.openxmlformats.org/drawingml/2006/main" noGrp="1"/>
          </p:cNvSpPr>
          <p:nvPr/>
        </p:nvSpPr>
        <p:spPr>
          <a:xfrm xmlns:a="http://schemas.openxmlformats.org/drawingml/2006/main">
            <a:off x="514350" y="18859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52B2AF7-FC4F-431B-AFF6-DF718C215A70}"/>
              </a:ext>
            </a:extLst>
          </p:cNvPr>
          <p:cNvSpPr>
            <a:spLocks xmlns:a="http://schemas.openxmlformats.org/drawingml/2006/main" noGrp="1"/>
          </p:cNvSpPr>
          <p:nvPr/>
        </p:nvSpPr>
        <p:spPr>
          <a:xfrm xmlns:a="http://schemas.openxmlformats.org/drawingml/2006/main">
            <a:off x="704850" y="19812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Zₓ = Φ⁻¹(U),  Zᵧ = Φ⁻¹(V)</a:t>
            </a:r>
          </a:p>
        </p:txBody>
      </p:sp>
      <p:sp>
        <p:nvSpPr>
          <p:cNvPr id="8" name="">
            <a:extLst xmlns:a="http://schemas.openxmlformats.org/drawingml/2006/main">
              <a:ext uri="{FF2B5EF4-FFF2-40B4-BE49-F238E27FC236}">
                <a16:creationId xmlns:a16="http://schemas.microsoft.com/office/drawing/2014/main" id="{E04FAD02-6ACC-4F3E-A380-D57CFB424844}"/>
              </a:ext>
            </a:extLst>
          </p:cNvPr>
          <p:cNvSpPr>
            <a:spLocks xmlns:a="http://schemas.openxmlformats.org/drawingml/2006/main" noGrp="1"/>
          </p:cNvSpPr>
          <p:nvPr/>
        </p:nvSpPr>
        <p:spPr>
          <a:xfrm xmlns:a="http://schemas.openxmlformats.org/drawingml/2006/main">
            <a:off x="628650" y="2971800"/>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725" b="0">
                <a:solidFill>
                  <a:srgbClr val="222222"/>
                </a:solidFill>
                <a:latin typeface="Noto Sans JP"/>
                <a:ea typeface="Noto Sans JP"/>
                <a:cs typeface="Noto Sans JP"/>
              </a:defRPr>
            </a:pPr>
            <a:r>
              <a:rPr sz="1725" b="0">
                <a:solidFill>
                  <a:srgbClr val="222222"/>
                </a:solidFill>
                <a:latin typeface="Noto Sans JP"/>
                <a:ea typeface="Noto Sans JP"/>
                <a:cs typeface="Noto Sans JP"/>
              </a:rPr>
              <a:t>Φは標準正規分布の累積分布。Φ⁻¹は確率位置を正規の値へ戻す。</a:t>
            </a:r>
          </a:p>
        </p:txBody>
      </p:sp>
      <p:sp>
        <p:nvSpPr>
          <p:cNvPr id="9" name="">
            <a:extLst xmlns:a="http://schemas.openxmlformats.org/drawingml/2006/main">
              <a:ext uri="{FF2B5EF4-FFF2-40B4-BE49-F238E27FC236}">
                <a16:creationId xmlns:a16="http://schemas.microsoft.com/office/drawing/2014/main" id="{12CEB86B-D101-4842-9BD5-DF770580963D}"/>
              </a:ext>
            </a:extLst>
          </p:cNvPr>
          <p:cNvSpPr>
            <a:spLocks xmlns:a="http://schemas.openxmlformats.org/drawingml/2006/main" noGrp="1"/>
          </p:cNvSpPr>
          <p:nvPr/>
        </p:nvSpPr>
        <p:spPr>
          <a:xfrm xmlns:a="http://schemas.openxmlformats.org/drawingml/2006/main">
            <a:off x="514350" y="3352800"/>
            <a:ext cx="5314950" cy="19335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5CB61A4-96B5-4DB1-96AB-82FE61294125}"/>
              </a:ext>
            </a:extLst>
          </p:cNvPr>
          <p:cNvSpPr>
            <a:spLocks xmlns:a="http://schemas.openxmlformats.org/drawingml/2006/main" noGrp="1"/>
          </p:cNvSpPr>
          <p:nvPr/>
        </p:nvSpPr>
        <p:spPr>
          <a:xfrm xmlns:a="http://schemas.openxmlformats.org/drawingml/2006/main">
            <a:off x="704850" y="34671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仮定すること</a:t>
            </a:r>
          </a:p>
        </p:txBody>
      </p:sp>
      <p:sp>
        <p:nvSpPr>
          <p:cNvPr id="11" name="">
            <a:extLst xmlns:a="http://schemas.openxmlformats.org/drawingml/2006/main">
              <a:ext uri="{FF2B5EF4-FFF2-40B4-BE49-F238E27FC236}">
                <a16:creationId xmlns:a16="http://schemas.microsoft.com/office/drawing/2014/main" id="{8B747030-2D11-4C62-B9D5-7985CE6F6704}"/>
              </a:ext>
            </a:extLst>
          </p:cNvPr>
          <p:cNvSpPr>
            <a:spLocks xmlns:a="http://schemas.openxmlformats.org/drawingml/2006/main" noGrp="1"/>
          </p:cNvSpPr>
          <p:nvPr/>
        </p:nvSpPr>
        <p:spPr>
          <a:xfrm xmlns:a="http://schemas.openxmlformats.org/drawingml/2006/main">
            <a:off x="704850" y="4019550"/>
            <a:ext cx="49339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ZₓとZᵧの同時分布を、</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相関ρを持つ正規分布で表す。</a:t>
            </a:r>
          </a:p>
        </p:txBody>
      </p:sp>
      <p:sp>
        <p:nvSpPr>
          <p:cNvPr id="12" name="">
            <a:extLst xmlns:a="http://schemas.openxmlformats.org/drawingml/2006/main">
              <a:ext uri="{FF2B5EF4-FFF2-40B4-BE49-F238E27FC236}">
                <a16:creationId xmlns:a16="http://schemas.microsoft.com/office/drawing/2014/main" id="{6E1411CC-C9A4-40AA-B610-77D7C09C3B4A}"/>
              </a:ext>
            </a:extLst>
          </p:cNvPr>
          <p:cNvSpPr>
            <a:spLocks xmlns:a="http://schemas.openxmlformats.org/drawingml/2006/main" noGrp="1"/>
          </p:cNvSpPr>
          <p:nvPr/>
        </p:nvSpPr>
        <p:spPr>
          <a:xfrm xmlns:a="http://schemas.openxmlformats.org/drawingml/2006/main">
            <a:off x="6076950" y="3352800"/>
            <a:ext cx="5600700" cy="19335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9DEAF1F-9093-4DBE-90CC-5ED9174345B9}"/>
              </a:ext>
            </a:extLst>
          </p:cNvPr>
          <p:cNvSpPr>
            <a:spLocks xmlns:a="http://schemas.openxmlformats.org/drawingml/2006/main" noGrp="1"/>
          </p:cNvSpPr>
          <p:nvPr/>
        </p:nvSpPr>
        <p:spPr>
          <a:xfrm xmlns:a="http://schemas.openxmlformats.org/drawingml/2006/main">
            <a:off x="6267450" y="34671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採用する理由と限界</a:t>
            </a:r>
          </a:p>
        </p:txBody>
      </p:sp>
      <p:sp>
        <p:nvSpPr>
          <p:cNvPr id="14" name="">
            <a:extLst xmlns:a="http://schemas.openxmlformats.org/drawingml/2006/main">
              <a:ext uri="{FF2B5EF4-FFF2-40B4-BE49-F238E27FC236}">
                <a16:creationId xmlns:a16="http://schemas.microsoft.com/office/drawing/2014/main" id="{0B3A4E85-76AE-470B-B928-3FDDAAF056CD}"/>
              </a:ext>
            </a:extLst>
          </p:cNvPr>
          <p:cNvSpPr>
            <a:spLocks xmlns:a="http://schemas.openxmlformats.org/drawingml/2006/main" noGrp="1"/>
          </p:cNvSpPr>
          <p:nvPr/>
        </p:nvSpPr>
        <p:spPr>
          <a:xfrm xmlns:a="http://schemas.openxmlformats.org/drawingml/2006/main">
            <a:off x="6267450" y="4019550"/>
            <a:ext cx="52197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条件付き分布を計算しやすい。</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複雑な依存をすべて表す保証はない。</a:t>
            </a:r>
          </a:p>
        </p:txBody>
      </p:sp>
      <p:sp>
        <p:nvSpPr>
          <p:cNvPr id="15" name="">
            <a:extLst xmlns:a="http://schemas.openxmlformats.org/drawingml/2006/main">
              <a:ext uri="{FF2B5EF4-FFF2-40B4-BE49-F238E27FC236}">
                <a16:creationId xmlns:a16="http://schemas.microsoft.com/office/drawing/2014/main" id="{68E5F2F8-E24E-4921-AEE8-7C466BEBA4A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DFFD165-D28D-490E-A9A6-0D47901D8F3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次の問い：周辺分布と相関ρを、データからどう求めるか？</a:t>
            </a:r>
          </a:p>
        </p:txBody>
      </p:sp>
    </p:spTree>
    <p:extLst>
      <p:ext uri="{BB962C8B-B14F-4D97-AF65-F5344CB8AC3E}">
        <p14:creationId xmlns:p14="http://schemas.microsoft.com/office/powerpoint/2010/main" val="121668873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E805887-27E1-4998-A1C7-140C61D4DDD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学習：各列の分布と、潜在相関を覚える</a:t>
            </a:r>
          </a:p>
        </p:txBody>
      </p:sp>
      <p:sp>
        <p:nvSpPr>
          <p:cNvPr id="2" name="">
            <a:extLst xmlns:a="http://schemas.openxmlformats.org/drawingml/2006/main">
              <a:ext uri="{FF2B5EF4-FFF2-40B4-BE49-F238E27FC236}">
                <a16:creationId xmlns:a16="http://schemas.microsoft.com/office/drawing/2014/main" id="{99A6297D-F56C-480F-A7DF-A800AF5E7C9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87FA2ED-702E-485A-8E6F-943A1B31D2D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Gaussian copulaを使うには、変換と相関ρを先に推定する。</a:t>
            </a:r>
          </a:p>
        </p:txBody>
      </p:sp>
      <p:sp>
        <p:nvSpPr>
          <p:cNvPr id="4" name="">
            <a:extLst xmlns:a="http://schemas.openxmlformats.org/drawingml/2006/main">
              <a:ext uri="{FF2B5EF4-FFF2-40B4-BE49-F238E27FC236}">
                <a16:creationId xmlns:a16="http://schemas.microsoft.com/office/drawing/2014/main" id="{1CED6696-5372-455D-AB81-084FAB244F5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C1E176E6-4C82-4D38-B102-EACF596C961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14</a:t>
            </a:r>
          </a:p>
        </p:txBody>
      </p:sp>
      <p:sp>
        <p:nvSpPr>
          <p:cNvPr id="6" name="">
            <a:extLst xmlns:a="http://schemas.openxmlformats.org/drawingml/2006/main">
              <a:ext uri="{FF2B5EF4-FFF2-40B4-BE49-F238E27FC236}">
                <a16:creationId xmlns:a16="http://schemas.microsoft.com/office/drawing/2014/main" id="{D76CF766-1789-436F-B94D-10BEFE0664B0}"/>
              </a:ext>
            </a:extLst>
          </p:cNvPr>
          <p:cNvSpPr>
            <a:spLocks xmlns:a="http://schemas.openxmlformats.org/drawingml/2006/main" noGrp="1"/>
          </p:cNvSpPr>
          <p:nvPr/>
        </p:nvSpPr>
        <p:spPr>
          <a:xfrm xmlns:a="http://schemas.openxmlformats.org/drawingml/2006/main">
            <a:off x="552450" y="1952625"/>
            <a:ext cx="476250" cy="7667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F6598D4A-2CE6-4766-B2F5-6577E06E9505}"/>
              </a:ext>
            </a:extLst>
          </p:cNvPr>
          <p:cNvSpPr>
            <a:spLocks xmlns:a="http://schemas.openxmlformats.org/drawingml/2006/main" noGrp="1"/>
          </p:cNvSpPr>
          <p:nvPr/>
        </p:nvSpPr>
        <p:spPr>
          <a:xfrm xmlns:a="http://schemas.openxmlformats.org/drawingml/2006/main">
            <a:off x="1257300" y="1952625"/>
            <a:ext cx="10191750" cy="7667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訓練データから、身長・体重それぞれの累積分布を推定。</a:t>
            </a:r>
          </a:p>
        </p:txBody>
      </p:sp>
      <p:sp>
        <p:nvSpPr>
          <p:cNvPr id="8" name="">
            <a:extLst xmlns:a="http://schemas.openxmlformats.org/drawingml/2006/main">
              <a:ext uri="{FF2B5EF4-FFF2-40B4-BE49-F238E27FC236}">
                <a16:creationId xmlns:a16="http://schemas.microsoft.com/office/drawing/2014/main" id="{EBAE1E60-12A5-45F8-828B-CC59F08BA974}"/>
              </a:ext>
            </a:extLst>
          </p:cNvPr>
          <p:cNvSpPr>
            <a:spLocks xmlns:a="http://schemas.openxmlformats.org/drawingml/2006/main" noGrp="1"/>
          </p:cNvSpPr>
          <p:nvPr/>
        </p:nvSpPr>
        <p:spPr>
          <a:xfrm xmlns:a="http://schemas.openxmlformats.org/drawingml/2006/main">
            <a:off x="552450" y="2795588"/>
            <a:ext cx="476250" cy="7667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2CA9E268-8802-4089-A634-1422137BA2AF}"/>
              </a:ext>
            </a:extLst>
          </p:cNvPr>
          <p:cNvSpPr>
            <a:spLocks xmlns:a="http://schemas.openxmlformats.org/drawingml/2006/main" noGrp="1"/>
          </p:cNvSpPr>
          <p:nvPr/>
        </p:nvSpPr>
        <p:spPr>
          <a:xfrm xmlns:a="http://schemas.openxmlformats.org/drawingml/2006/main">
            <a:off x="1257300" y="2795588"/>
            <a:ext cx="10191750" cy="7667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各値を確率位置にし、Φ⁻¹で潜在正規の値へ変換。</a:t>
            </a:r>
          </a:p>
        </p:txBody>
      </p:sp>
      <p:sp>
        <p:nvSpPr>
          <p:cNvPr id="10" name="">
            <a:extLst xmlns:a="http://schemas.openxmlformats.org/drawingml/2006/main">
              <a:ext uri="{FF2B5EF4-FFF2-40B4-BE49-F238E27FC236}">
                <a16:creationId xmlns:a16="http://schemas.microsoft.com/office/drawing/2014/main" id="{77086321-3A2B-46B3-B809-00607D5C4C59}"/>
              </a:ext>
            </a:extLst>
          </p:cNvPr>
          <p:cNvSpPr>
            <a:spLocks xmlns:a="http://schemas.openxmlformats.org/drawingml/2006/main" noGrp="1"/>
          </p:cNvSpPr>
          <p:nvPr/>
        </p:nvSpPr>
        <p:spPr>
          <a:xfrm xmlns:a="http://schemas.openxmlformats.org/drawingml/2006/main">
            <a:off x="552450" y="3638550"/>
            <a:ext cx="476250" cy="7667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256F9EF4-E170-4E09-9C00-061035284900}"/>
              </a:ext>
            </a:extLst>
          </p:cNvPr>
          <p:cNvSpPr>
            <a:spLocks xmlns:a="http://schemas.openxmlformats.org/drawingml/2006/main" noGrp="1"/>
          </p:cNvSpPr>
          <p:nvPr/>
        </p:nvSpPr>
        <p:spPr>
          <a:xfrm xmlns:a="http://schemas.openxmlformats.org/drawingml/2006/main">
            <a:off x="1257300" y="3638550"/>
            <a:ext cx="10191750" cy="7667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同じ人の潜在値の組から、相関ρを推定。</a:t>
            </a:r>
          </a:p>
        </p:txBody>
      </p:sp>
      <p:sp>
        <p:nvSpPr>
          <p:cNvPr id="12" name="">
            <a:extLst xmlns:a="http://schemas.openxmlformats.org/drawingml/2006/main">
              <a:ext uri="{FF2B5EF4-FFF2-40B4-BE49-F238E27FC236}">
                <a16:creationId xmlns:a16="http://schemas.microsoft.com/office/drawing/2014/main" id="{96FC944C-928A-45ED-ABC6-6307E69751C5}"/>
              </a:ext>
            </a:extLst>
          </p:cNvPr>
          <p:cNvSpPr>
            <a:spLocks xmlns:a="http://schemas.openxmlformats.org/drawingml/2006/main" noGrp="1"/>
          </p:cNvSpPr>
          <p:nvPr/>
        </p:nvSpPr>
        <p:spPr>
          <a:xfrm xmlns:a="http://schemas.openxmlformats.org/drawingml/2006/main">
            <a:off x="552450" y="4481513"/>
            <a:ext cx="476250" cy="7667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8DA23F18-01F2-467D-948D-7DDB8F5D5A1D}"/>
              </a:ext>
            </a:extLst>
          </p:cNvPr>
          <p:cNvSpPr>
            <a:spLocks xmlns:a="http://schemas.openxmlformats.org/drawingml/2006/main" noGrp="1"/>
          </p:cNvSpPr>
          <p:nvPr/>
        </p:nvSpPr>
        <p:spPr>
          <a:xfrm xmlns:a="http://schemas.openxmlformats.org/drawingml/2006/main">
            <a:off x="1257300" y="4481513"/>
            <a:ext cx="10191750" cy="7667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例として、推定した相関がρ = 0.6だったとする。</a:t>
            </a:r>
          </a:p>
        </p:txBody>
      </p:sp>
      <p:sp>
        <p:nvSpPr>
          <p:cNvPr id="14" name="">
            <a:extLst xmlns:a="http://schemas.openxmlformats.org/drawingml/2006/main">
              <a:ext uri="{FF2B5EF4-FFF2-40B4-BE49-F238E27FC236}">
                <a16:creationId xmlns:a16="http://schemas.microsoft.com/office/drawing/2014/main" id="{CB9BD364-1F35-40DE-B987-5765822962A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22BA70A-3CC5-448D-A410-A4CD3162A9B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次の問い：体重70 kgが分かったら、このモデルをどう使うか？</a:t>
            </a:r>
          </a:p>
        </p:txBody>
      </p:sp>
    </p:spTree>
    <p:extLst>
      <p:ext uri="{BB962C8B-B14F-4D97-AF65-F5344CB8AC3E}">
        <p14:creationId xmlns:p14="http://schemas.microsoft.com/office/powerpoint/2010/main" val="56395440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F9F5445-C0FD-4EBE-B43C-18CB2787888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生成：70 kgを条件に、身長の分布を求める</a:t>
            </a:r>
          </a:p>
        </p:txBody>
      </p:sp>
      <p:sp>
        <p:nvSpPr>
          <p:cNvPr id="2" name="">
            <a:extLst xmlns:a="http://schemas.openxmlformats.org/drawingml/2006/main">
              <a:ext uri="{FF2B5EF4-FFF2-40B4-BE49-F238E27FC236}">
                <a16:creationId xmlns:a16="http://schemas.microsoft.com/office/drawing/2014/main" id="{2CD6F2F1-26AF-4DC4-BF53-BC449C934E6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C8E325B-EE24-4572-B1DA-2D10740FA2C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周辺分布とρを学んだので、体重が既知の一人に適用する。</a:t>
            </a:r>
          </a:p>
        </p:txBody>
      </p:sp>
      <p:sp>
        <p:nvSpPr>
          <p:cNvPr id="4" name="">
            <a:extLst xmlns:a="http://schemas.openxmlformats.org/drawingml/2006/main">
              <a:ext uri="{FF2B5EF4-FFF2-40B4-BE49-F238E27FC236}">
                <a16:creationId xmlns:a16="http://schemas.microsoft.com/office/drawing/2014/main" id="{DA319AC8-EFC4-4234-8924-78BE6B12569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1F0D33FF-601C-4631-9458-2148B926F4D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15</a:t>
            </a:r>
          </a:p>
        </p:txBody>
      </p:sp>
      <p:sp>
        <p:nvSpPr>
          <p:cNvPr id="6" name="">
            <a:extLst xmlns:a="http://schemas.openxmlformats.org/drawingml/2006/main">
              <a:ext uri="{FF2B5EF4-FFF2-40B4-BE49-F238E27FC236}">
                <a16:creationId xmlns:a16="http://schemas.microsoft.com/office/drawing/2014/main" id="{C485BE92-CD5C-409C-BC02-929A791A4EC2}"/>
              </a:ext>
            </a:extLst>
          </p:cNvPr>
          <p:cNvSpPr>
            <a:spLocks xmlns:a="http://schemas.openxmlformats.org/drawingml/2006/main" noGrp="1"/>
          </p:cNvSpPr>
          <p:nvPr/>
        </p:nvSpPr>
        <p:spPr>
          <a:xfrm xmlns:a="http://schemas.openxmlformats.org/drawingml/2006/main">
            <a:off x="514350" y="18383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13B657B-7F94-4FC8-A336-32F35939C962}"/>
              </a:ext>
            </a:extLst>
          </p:cNvPr>
          <p:cNvSpPr>
            <a:spLocks xmlns:a="http://schemas.openxmlformats.org/drawingml/2006/main" noGrp="1"/>
          </p:cNvSpPr>
          <p:nvPr/>
        </p:nvSpPr>
        <p:spPr>
          <a:xfrm xmlns:a="http://schemas.openxmlformats.org/drawingml/2006/main">
            <a:off x="704850" y="19335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70 kg から v = 0.7、zᵧ = Φ⁻¹(0.7) ≈ 0.524</a:t>
            </a:r>
          </a:p>
        </p:txBody>
      </p:sp>
      <p:sp>
        <p:nvSpPr>
          <p:cNvPr id="8" name="">
            <a:extLst xmlns:a="http://schemas.openxmlformats.org/drawingml/2006/main">
              <a:ext uri="{FF2B5EF4-FFF2-40B4-BE49-F238E27FC236}">
                <a16:creationId xmlns:a16="http://schemas.microsoft.com/office/drawing/2014/main" id="{532919A0-5653-473A-A5A9-8BC278119BF5}"/>
              </a:ext>
            </a:extLst>
          </p:cNvPr>
          <p:cNvSpPr>
            <a:spLocks xmlns:a="http://schemas.openxmlformats.org/drawingml/2006/main" noGrp="1"/>
          </p:cNvSpPr>
          <p:nvPr/>
        </p:nvSpPr>
        <p:spPr>
          <a:xfrm xmlns:a="http://schemas.openxmlformats.org/drawingml/2006/main">
            <a:off x="514350" y="30575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F8E572D-17B3-4D25-946C-AB23BC66A433}"/>
              </a:ext>
            </a:extLst>
          </p:cNvPr>
          <p:cNvSpPr>
            <a:spLocks xmlns:a="http://schemas.openxmlformats.org/drawingml/2006/main" noGrp="1"/>
          </p:cNvSpPr>
          <p:nvPr/>
        </p:nvSpPr>
        <p:spPr>
          <a:xfrm xmlns:a="http://schemas.openxmlformats.org/drawingml/2006/main">
            <a:off x="704850" y="31527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850" b="1">
                <a:solidFill>
                  <a:srgbClr val="2B6777"/>
                </a:solidFill>
                <a:latin typeface="Noto Sans JP"/>
                <a:ea typeface="Noto Sans JP"/>
                <a:cs typeface="Noto Sans JP"/>
              </a:defRPr>
            </a:pPr>
            <a:r>
              <a:rPr sz="2850" b="1">
                <a:solidFill>
                  <a:srgbClr val="2B6777"/>
                </a:solidFill>
                <a:latin typeface="Noto Sans JP"/>
                <a:ea typeface="Noto Sans JP"/>
                <a:cs typeface="Noto Sans JP"/>
              </a:rPr>
              <a:t>Zₓ | Zᵧ = zᵧ ~ N(ρzᵧ, 1 − ρ²)</a:t>
            </a:r>
          </a:p>
        </p:txBody>
      </p:sp>
      <p:sp>
        <p:nvSpPr>
          <p:cNvPr id="10" name="">
            <a:extLst xmlns:a="http://schemas.openxmlformats.org/drawingml/2006/main">
              <a:ext uri="{FF2B5EF4-FFF2-40B4-BE49-F238E27FC236}">
                <a16:creationId xmlns:a16="http://schemas.microsoft.com/office/drawing/2014/main" id="{68EFF4AD-19EE-4BA7-9B5F-B88CF9CF7027}"/>
              </a:ext>
            </a:extLst>
          </p:cNvPr>
          <p:cNvSpPr>
            <a:spLocks xmlns:a="http://schemas.openxmlformats.org/drawingml/2006/main" noGrp="1"/>
          </p:cNvSpPr>
          <p:nvPr/>
        </p:nvSpPr>
        <p:spPr>
          <a:xfrm xmlns:a="http://schemas.openxmlformats.org/drawingml/2006/main">
            <a:off x="685800" y="4514850"/>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ρ = 0.6なら、平均0.315・標準偏差0.8。</a:t>
            </a:r>
          </a:p>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体重に合う中心の周りに、身長のばらつきを残す。</a:t>
            </a:r>
          </a:p>
        </p:txBody>
      </p:sp>
      <p:sp>
        <p:nvSpPr>
          <p:cNvPr id="11" name="">
            <a:extLst xmlns:a="http://schemas.openxmlformats.org/drawingml/2006/main">
              <a:ext uri="{FF2B5EF4-FFF2-40B4-BE49-F238E27FC236}">
                <a16:creationId xmlns:a16="http://schemas.microsoft.com/office/drawing/2014/main" id="{653EF305-3EBC-4935-B214-B47FF9436CD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9AABD8-F4FB-4434-ACE6-B172FEF494F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次の問い：潜在空間の数値を、どう身長cmに戻すか？</a:t>
            </a:r>
          </a:p>
        </p:txBody>
      </p:sp>
    </p:spTree>
    <p:extLst>
      <p:ext uri="{BB962C8B-B14F-4D97-AF65-F5344CB8AC3E}">
        <p14:creationId xmlns:p14="http://schemas.microsoft.com/office/powerpoint/2010/main" val="206193693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458EAE9-BE38-451C-AE36-57DA97FA188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生成：サンプリングして、身長cmへ戻す</a:t>
            </a:r>
          </a:p>
        </p:txBody>
      </p:sp>
      <p:sp>
        <p:nvSpPr>
          <p:cNvPr id="2" name="">
            <a:extLst xmlns:a="http://schemas.openxmlformats.org/drawingml/2006/main">
              <a:ext uri="{FF2B5EF4-FFF2-40B4-BE49-F238E27FC236}">
                <a16:creationId xmlns:a16="http://schemas.microsoft.com/office/drawing/2014/main" id="{7D7EB767-33F1-4D4C-A02C-F9563BA2F96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D2A63A6-F030-458C-B4A0-8C78FB19F9B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条件付き分布は N(平均0.315, 標準偏差0.8)。</a:t>
            </a:r>
          </a:p>
        </p:txBody>
      </p:sp>
      <p:sp>
        <p:nvSpPr>
          <p:cNvPr id="4" name="">
            <a:extLst xmlns:a="http://schemas.openxmlformats.org/drawingml/2006/main">
              <a:ext uri="{FF2B5EF4-FFF2-40B4-BE49-F238E27FC236}">
                <a16:creationId xmlns:a16="http://schemas.microsoft.com/office/drawing/2014/main" id="{4798E7A0-80AD-4C63-A971-E3CCEF5143C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AA60A28A-86ED-400F-BBDA-0C19233E169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16</a:t>
            </a:r>
          </a:p>
        </p:txBody>
      </p:sp>
      <p:graphicFrame>
        <p:nvGraphicFramePr>
          <p:cNvPr id="15" name=""/>
          <p:cNvGraphicFramePr/>
          <p:nvPr/>
        </p:nvGraphicFramePr>
        <p:xfrm>
          <a:off xmlns:a="http://schemas.openxmlformats.org/drawingml/2006/main" x="514350" y="2047875"/>
          <a:ext xmlns:a="http://schemas.openxmlformats.org/drawingml/2006/main" cx="11163300" cy="2428875"/>
        </p:xfrm>
        <a:graphic xmlns:a="http://schemas.openxmlformats.org/drawingml/2006/main">
          <a:graphicData uri="http://schemas.openxmlformats.org/drawingml/2006/table">
            <a:tbl>
              <a:tblPr/>
              <a:tblGrid>
                <a:gridCol w="2790825"/>
                <a:gridCol w="2790825"/>
                <a:gridCol w="2790825"/>
                <a:gridCol w="2790825"/>
              </a:tblGrid>
              <a:tr h="607219">
                <a:tc>
                  <a:txBody>
                    <a:bodyPr/>
                    <a:lstStyle/>
                    <a:p>
                      <a:pPr algn="ctr"/>
                      <a:r>
                        <a:rPr sz="2025" b="1">
                          <a:solidFill>
                            <a:srgbClr val="2E7D5B"/>
                          </a:solidFill>
                          <a:latin typeface="Noto Sans JP"/>
                          <a:ea typeface="Noto Sans JP"/>
                          <a:cs typeface="Noto Sans JP"/>
                        </a:rPr>
                        <a:t>引いた乱数 ε</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身長の潜在値 zₓ</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位置 u = Φ(zₓ)</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身長 Fₓ⁻¹(u)</a:t>
                      </a:r>
                    </a:p>
                  </a:txBody>
                  <a:tcPr marL="91440" marR="91440" marT="45720" marB="45720" anchor="ctr">
                    <a:solidFill>
                      <a:srgbClr val="E7F2EC"/>
                    </a:solidFill>
                  </a:tcPr>
                </a:tc>
              </a:tr>
              <a:tr h="607219">
                <a:tc>
                  <a:txBody>
                    <a:bodyPr/>
                    <a:lstStyle/>
                    <a:p>
                      <a:pPr algn="ctr"/>
                      <a:r>
                        <a:rPr sz="2025"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−0.485</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約0.314</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約165.2 cm</a:t>
                      </a:r>
                    </a:p>
                  </a:txBody>
                  <a:tcPr marL="91440" marR="91440" marT="45720" marB="45720" anchor="ctr">
                    <a:solidFill>
                      <a:srgbClr val="FFFFFF"/>
                    </a:solidFill>
                  </a:tcPr>
                </a:tc>
              </a:tr>
              <a:tr h="607219">
                <a:tc>
                  <a:txBody>
                    <a:bodyPr/>
                    <a:lstStyle/>
                    <a:p>
                      <a:pPr algn="ctr"/>
                      <a:r>
                        <a:rPr sz="2025" b="0">
                          <a:solidFill>
                            <a:srgbClr val="222222"/>
                          </a:solidFill>
                          <a:latin typeface="Noto Sans JP"/>
                          <a:ea typeface="Noto Sans JP"/>
                          <a:cs typeface="Noto Sans JP"/>
                        </a:rPr>
                        <a:t>0</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0.315</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約0.623</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約173.2 cm</a:t>
                      </a:r>
                    </a:p>
                  </a:txBody>
                  <a:tcPr marL="91440" marR="91440" marT="45720" marB="45720" anchor="ctr">
                    <a:solidFill>
                      <a:srgbClr val="F6F6F6"/>
                    </a:solidFill>
                  </a:tcPr>
                </a:tc>
              </a:tr>
              <a:tr h="607219">
                <a:tc>
                  <a:txBody>
                    <a:bodyPr/>
                    <a:lstStyle/>
                    <a:p>
                      <a:pPr algn="ctr"/>
                      <a:r>
                        <a:rPr sz="2025"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1.115</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約0.868</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約181.2 cm</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8C9727B1-0969-4751-AEC0-7569D5AD2947}"/>
              </a:ext>
            </a:extLst>
          </p:cNvPr>
          <p:cNvSpPr>
            <a:spLocks xmlns:a="http://schemas.openxmlformats.org/drawingml/2006/main" noGrp="1"/>
          </p:cNvSpPr>
          <p:nvPr/>
        </p:nvSpPr>
        <p:spPr>
          <a:xfrm xmlns:a="http://schemas.openxmlformats.org/drawingml/2006/main">
            <a:off x="628650" y="4591050"/>
            <a:ext cx="10953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説明用：身長の周辺分布を平均170 cm・標準偏差10 cmと仮定。</a:t>
            </a:r>
          </a:p>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実装では、訓練データから推定した分位点を使う。</a:t>
            </a:r>
          </a:p>
        </p:txBody>
      </p:sp>
      <p:sp>
        <p:nvSpPr>
          <p:cNvPr id="8" name="">
            <a:extLst xmlns:a="http://schemas.openxmlformats.org/drawingml/2006/main">
              <a:ext uri="{FF2B5EF4-FFF2-40B4-BE49-F238E27FC236}">
                <a16:creationId xmlns:a16="http://schemas.microsoft.com/office/drawing/2014/main" id="{4F5E7160-F6E4-4822-9A27-99827BAC184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9AD9BB1-E3DD-43FF-BF74-FA68D4EF598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次の問い：この生成を、研究のデータ拡張のどこへ入れるか？</a:t>
            </a:r>
          </a:p>
        </p:txBody>
      </p:sp>
    </p:spTree>
    <p:extLst>
      <p:ext uri="{BB962C8B-B14F-4D97-AF65-F5344CB8AC3E}">
        <p14:creationId xmlns:p14="http://schemas.microsoft.com/office/powerpoint/2010/main" val="86269793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93A8C14-8844-4F1F-8CDE-A2570E8F0AF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研究への接続：VIMEの置換器を変更する</a:t>
            </a:r>
          </a:p>
        </p:txBody>
      </p:sp>
      <p:sp>
        <p:nvSpPr>
          <p:cNvPr id="2" name="">
            <a:extLst xmlns:a="http://schemas.openxmlformats.org/drawingml/2006/main">
              <a:ext uri="{FF2B5EF4-FFF2-40B4-BE49-F238E27FC236}">
                <a16:creationId xmlns:a16="http://schemas.microsoft.com/office/drawing/2014/main" id="{3F6A93C4-AB9C-4494-BA35-977D5E0FEF6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8FE31A2-6938-4345-A365-1889E5591E7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70 kgを残して身長を作る操作を、一般の特徴量へ広げる。</a:t>
            </a:r>
          </a:p>
        </p:txBody>
      </p:sp>
      <p:sp>
        <p:nvSpPr>
          <p:cNvPr id="4" name="">
            <a:extLst xmlns:a="http://schemas.openxmlformats.org/drawingml/2006/main">
              <a:ext uri="{FF2B5EF4-FFF2-40B4-BE49-F238E27FC236}">
                <a16:creationId xmlns:a16="http://schemas.microsoft.com/office/drawing/2014/main" id="{BA8620B0-D60D-462F-BC21-6DB83C11B7F5}"/>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3F5505A0-165E-4FDB-8974-2034AC11BFC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17</a:t>
            </a:r>
          </a:p>
        </p:txBody>
      </p:sp>
      <p:graphicFrame>
        <p:nvGraphicFramePr>
          <p:cNvPr id="15" name=""/>
          <p:cNvGraphicFramePr/>
          <p:nvPr/>
        </p:nvGraphicFramePr>
        <p:xfrm>
          <a:off xmlns:a="http://schemas.openxmlformats.org/drawingml/2006/main" x="514350" y="1971675"/>
          <a:ext xmlns:a="http://schemas.openxmlformats.org/drawingml/2006/main" cx="11163300" cy="2981325"/>
        </p:xfrm>
        <a:graphic xmlns:a="http://schemas.openxmlformats.org/drawingml/2006/main">
          <a:graphicData uri="http://schemas.openxmlformats.org/drawingml/2006/table">
            <a:tbl>
              <a:tblPr/>
              <a:tblGrid>
                <a:gridCol w="2667000"/>
                <a:gridCol w="8496300"/>
              </a:tblGrid>
              <a:tr h="596265">
                <a:tc>
                  <a:txBody>
                    <a:bodyPr/>
                    <a:lstStyle/>
                    <a:p>
                      <a:pPr algn="ctr"/>
                      <a:r>
                        <a:rPr sz="1875" b="1">
                          <a:solidFill>
                            <a:srgbClr val="2E7D5B"/>
                          </a:solidFill>
                          <a:latin typeface="Noto Sans JP"/>
                          <a:ea typeface="Noto Sans JP"/>
                          <a:cs typeface="Noto Sans JP"/>
                        </a:rPr>
                        <a:t>段階</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今回の処理</a:t>
                      </a:r>
                    </a:p>
                  </a:txBody>
                  <a:tcPr marL="91440" marR="91440" marT="45720" marB="45720" anchor="ctr">
                    <a:solidFill>
                      <a:srgbClr val="E7F2EC"/>
                    </a:solidFill>
                  </a:tcPr>
                </a:tc>
              </a:tr>
              <a:tr h="596265">
                <a:tc>
                  <a:txBody>
                    <a:bodyPr/>
                    <a:lstStyle/>
                    <a:p>
                      <a:pPr algn="ctr"/>
                      <a:r>
                        <a:rPr sz="1875" b="0">
                          <a:solidFill>
                            <a:srgbClr val="222222"/>
                          </a:solidFill>
                          <a:latin typeface="Noto Sans JP"/>
                          <a:ea typeface="Noto Sans JP"/>
                          <a:cs typeface="Noto Sans JP"/>
                        </a:rPr>
                        <a:t>学習前</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ラベルなし訓練データで、周辺分布と潜在相関Rを推定</a:t>
                      </a:r>
                    </a:p>
                  </a:txBody>
                  <a:tcPr marL="91440" marR="91440" marT="45720" marB="45720" anchor="ctr">
                    <a:solidFill>
                      <a:srgbClr val="FFFFFF"/>
                    </a:solidFill>
                  </a:tcPr>
                </a:tc>
              </a:tr>
              <a:tr h="596265">
                <a:tc>
                  <a:txBody>
                    <a:bodyPr/>
                    <a:lstStyle/>
                    <a:p>
                      <a:pPr algn="ctr"/>
                      <a:r>
                        <a:rPr sz="1875" b="0">
                          <a:solidFill>
                            <a:srgbClr val="222222"/>
                          </a:solidFill>
                          <a:latin typeface="Noto Sans JP"/>
                          <a:ea typeface="Noto Sans JP"/>
                          <a:cs typeface="Noto Sans JP"/>
                        </a:rPr>
                        <a:t>拡張時</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置換する列Mを選び、残す列Oの値で条件付け</a:t>
                      </a:r>
                    </a:p>
                  </a:txBody>
                  <a:tcPr marL="91440" marR="91440" marT="45720" marB="45720" anchor="ctr">
                    <a:solidFill>
                      <a:srgbClr val="F6F6F6"/>
                    </a:solidFill>
                  </a:tcPr>
                </a:tc>
              </a:tr>
              <a:tr h="596265">
                <a:tc>
                  <a:txBody>
                    <a:bodyPr/>
                    <a:lstStyle/>
                    <a:p>
                      <a:pPr algn="ctr"/>
                      <a:r>
                        <a:rPr sz="1875" b="0">
                          <a:solidFill>
                            <a:srgbClr val="222222"/>
                          </a:solidFill>
                          <a:latin typeface="Noto Sans JP"/>
                          <a:ea typeface="Noto Sans JP"/>
                          <a:cs typeface="Noto Sans JP"/>
                        </a:rPr>
                        <a:t>生成</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P(X_M | X_O) からMの列をまとめて生成</a:t>
                      </a:r>
                    </a:p>
                  </a:txBody>
                  <a:tcPr marL="91440" marR="91440" marT="45720" marB="45720" anchor="ctr">
                    <a:solidFill>
                      <a:srgbClr val="FFFFFF"/>
                    </a:solidFill>
                  </a:tcPr>
                </a:tc>
              </a:tr>
              <a:tr h="596265">
                <a:tc>
                  <a:txBody>
                    <a:bodyPr/>
                    <a:lstStyle/>
                    <a:p>
                      <a:pPr algn="ctr"/>
                      <a:r>
                        <a:rPr sz="1875" b="0">
                          <a:solidFill>
                            <a:srgbClr val="222222"/>
                          </a:solidFill>
                          <a:latin typeface="Noto Sans JP"/>
                          <a:ea typeface="Noto Sans JP"/>
                          <a:cs typeface="Noto Sans JP"/>
                        </a:rPr>
                        <a:t>VIMEの学習</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置換後の行でマスク推定・復元・分類の一貫性を学習</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52BC988A-DB6B-425E-B051-D0CD686599FD}"/>
              </a:ext>
            </a:extLst>
          </p:cNvPr>
          <p:cNvSpPr>
            <a:spLocks xmlns:a="http://schemas.openxmlformats.org/drawingml/2006/main" noGrp="1"/>
          </p:cNvSpPr>
          <p:nvPr/>
        </p:nvSpPr>
        <p:spPr>
          <a:xfrm xmlns:a="http://schemas.openxmlformats.org/drawingml/2006/main">
            <a:off x="619125" y="507682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1">
                <a:solidFill>
                  <a:srgbClr val="222222"/>
                </a:solidFill>
                <a:latin typeface="Noto Sans JP"/>
                <a:ea typeface="Noto Sans JP"/>
                <a:cs typeface="Noto Sans JP"/>
              </a:defRPr>
            </a:pPr>
            <a:r>
              <a:rPr sz="1950" b="1">
                <a:solidFill>
                  <a:srgbClr val="222222"/>
                </a:solidFill>
                <a:latin typeface="Noto Sans JP"/>
                <a:ea typeface="Noto Sans JP"/>
                <a:cs typeface="Noto Sans JP"/>
              </a:rPr>
              <a:t>体重・年齢を残し、身長・腹囲をまとめて置換する場合にも使う。</a:t>
            </a:r>
          </a:p>
        </p:txBody>
      </p:sp>
      <p:sp>
        <p:nvSpPr>
          <p:cNvPr id="8" name="">
            <a:extLst xmlns:a="http://schemas.openxmlformats.org/drawingml/2006/main">
              <a:ext uri="{FF2B5EF4-FFF2-40B4-BE49-F238E27FC236}">
                <a16:creationId xmlns:a16="http://schemas.microsoft.com/office/drawing/2014/main" id="{AEC61B5B-22B8-44EA-B460-45BFA7F9C96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82E45E9-EE7A-4841-8196-B9A3DBE3621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次の問い：条件付き置換で、実際に関係が残るのか？</a:t>
            </a:r>
          </a:p>
        </p:txBody>
      </p:sp>
    </p:spTree>
    <p:extLst>
      <p:ext uri="{BB962C8B-B14F-4D97-AF65-F5344CB8AC3E}">
        <p14:creationId xmlns:p14="http://schemas.microsoft.com/office/powerpoint/2010/main" val="84982142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F0458C6-D6A7-425E-ABD5-246AACA877F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動作確認：関係を持つデータで置換する</a:t>
            </a:r>
          </a:p>
        </p:txBody>
      </p:sp>
      <p:sp>
        <p:nvSpPr>
          <p:cNvPr id="2" name="">
            <a:extLst xmlns:a="http://schemas.openxmlformats.org/drawingml/2006/main">
              <a:ext uri="{FF2B5EF4-FFF2-40B4-BE49-F238E27FC236}">
                <a16:creationId xmlns:a16="http://schemas.microsoft.com/office/drawing/2014/main" id="{4305C24C-07AB-4D4B-9066-D7E93324049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463AE44-2961-45E1-B866-A08769AC299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VIMEへ入れる前に、生成器そのものの動作を確認した。</a:t>
            </a:r>
          </a:p>
        </p:txBody>
      </p:sp>
      <p:sp>
        <p:nvSpPr>
          <p:cNvPr id="4" name="">
            <a:extLst xmlns:a="http://schemas.openxmlformats.org/drawingml/2006/main">
              <a:ext uri="{FF2B5EF4-FFF2-40B4-BE49-F238E27FC236}">
                <a16:creationId xmlns:a16="http://schemas.microsoft.com/office/drawing/2014/main" id="{1046F458-9101-406F-ADDA-5F931774FA5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C704A619-8222-40CE-B286-230D455A8E6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18</a:t>
            </a:r>
          </a:p>
        </p:txBody>
      </p:sp>
      <p:sp>
        <p:nvSpPr>
          <p:cNvPr id="6" name="">
            <a:extLst xmlns:a="http://schemas.openxmlformats.org/drawingml/2006/main">
              <a:ext uri="{FF2B5EF4-FFF2-40B4-BE49-F238E27FC236}">
                <a16:creationId xmlns:a16="http://schemas.microsoft.com/office/drawing/2014/main" id="{2CA92F80-CAA5-48E9-95BE-00933F9F2DAF}"/>
              </a:ext>
            </a:extLst>
          </p:cNvPr>
          <p:cNvSpPr>
            <a:spLocks xmlns:a="http://schemas.openxmlformats.org/drawingml/2006/main" noGrp="1"/>
          </p:cNvSpPr>
          <p:nvPr/>
        </p:nvSpPr>
        <p:spPr>
          <a:xfrm xmlns:a="http://schemas.openxmlformats.org/drawingml/2006/main">
            <a:off x="514350" y="1905000"/>
            <a:ext cx="3571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元データ</a:t>
            </a:r>
          </a:p>
        </p:txBody>
      </p:sp>
      <p:graphicFrame>
        <p:nvGraphicFramePr>
          <p:cNvPr id="23" name="Chart"/>
          <p:cNvGraphicFramePr/>
          <p:nvPr/>
        </p:nvGraphicFramePr>
        <p:xfrm>
          <a:off xmlns:a="http://schemas.openxmlformats.org/drawingml/2006/main" x="514350" y="2352675"/>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4141a0225f8b4aba"/>
          </a:graphicData>
        </a:graphic>
      </p:graphicFrame>
      <p:sp>
        <p:nvSpPr>
          <p:cNvPr id="8" name="">
            <a:extLst xmlns:a="http://schemas.openxmlformats.org/drawingml/2006/main">
              <a:ext uri="{FF2B5EF4-FFF2-40B4-BE49-F238E27FC236}">
                <a16:creationId xmlns:a16="http://schemas.microsoft.com/office/drawing/2014/main" id="{7EC00015-42D9-4AF3-AC59-3E752CE0826D}"/>
              </a:ext>
            </a:extLst>
          </p:cNvPr>
          <p:cNvSpPr>
            <a:spLocks xmlns:a="http://schemas.openxmlformats.org/drawingml/2006/main" noGrp="1"/>
          </p:cNvSpPr>
          <p:nvPr/>
        </p:nvSpPr>
        <p:spPr>
          <a:xfrm xmlns:a="http://schemas.openxmlformats.org/drawingml/2006/main">
            <a:off x="514350"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0.805</a:t>
            </a:r>
          </a:p>
        </p:txBody>
      </p:sp>
      <p:sp>
        <p:nvSpPr>
          <p:cNvPr id="9" name="">
            <a:extLst xmlns:a="http://schemas.openxmlformats.org/drawingml/2006/main">
              <a:ext uri="{FF2B5EF4-FFF2-40B4-BE49-F238E27FC236}">
                <a16:creationId xmlns:a16="http://schemas.microsoft.com/office/drawing/2014/main" id="{F3E3ECC6-3A04-44C3-BEAA-713B45133454}"/>
              </a:ext>
            </a:extLst>
          </p:cNvPr>
          <p:cNvSpPr>
            <a:spLocks xmlns:a="http://schemas.openxmlformats.org/drawingml/2006/main" noGrp="1"/>
          </p:cNvSpPr>
          <p:nvPr/>
        </p:nvSpPr>
        <p:spPr>
          <a:xfrm xmlns:a="http://schemas.openxmlformats.org/drawingml/2006/main">
            <a:off x="4295775" y="1905000"/>
            <a:ext cx="3571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列置換</a:t>
            </a:r>
          </a:p>
        </p:txBody>
      </p:sp>
      <p:graphicFrame>
        <p:nvGraphicFramePr>
          <p:cNvPr id="26" name="Chart"/>
          <p:cNvGraphicFramePr/>
          <p:nvPr/>
        </p:nvGraphicFramePr>
        <p:xfrm>
          <a:off xmlns:a="http://schemas.openxmlformats.org/drawingml/2006/main" x="4295775" y="2352675"/>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c9f2fe3d476b47c2"/>
          </a:graphicData>
        </a:graphic>
      </p:graphicFrame>
      <p:sp>
        <p:nvSpPr>
          <p:cNvPr id="11" name="">
            <a:extLst xmlns:a="http://schemas.openxmlformats.org/drawingml/2006/main">
              <a:ext uri="{FF2B5EF4-FFF2-40B4-BE49-F238E27FC236}">
                <a16:creationId xmlns:a16="http://schemas.microsoft.com/office/drawing/2014/main" id="{F563F6CB-5C1C-4208-B9DC-5BFE78B721B2}"/>
              </a:ext>
            </a:extLst>
          </p:cNvPr>
          <p:cNvSpPr>
            <a:spLocks xmlns:a="http://schemas.openxmlformats.org/drawingml/2006/main" noGrp="1"/>
          </p:cNvSpPr>
          <p:nvPr/>
        </p:nvSpPr>
        <p:spPr>
          <a:xfrm xmlns:a="http://schemas.openxmlformats.org/drawingml/2006/main">
            <a:off x="4295775"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-0.014</a:t>
            </a:r>
          </a:p>
        </p:txBody>
      </p:sp>
      <p:sp>
        <p:nvSpPr>
          <p:cNvPr id="12" name="">
            <a:extLst xmlns:a="http://schemas.openxmlformats.org/drawingml/2006/main">
              <a:ext uri="{FF2B5EF4-FFF2-40B4-BE49-F238E27FC236}">
                <a16:creationId xmlns:a16="http://schemas.microsoft.com/office/drawing/2014/main" id="{B10135F7-A256-4BE5-9F2A-741FB95FE2E9}"/>
              </a:ext>
            </a:extLst>
          </p:cNvPr>
          <p:cNvSpPr>
            <a:spLocks xmlns:a="http://schemas.openxmlformats.org/drawingml/2006/main" noGrp="1"/>
          </p:cNvSpPr>
          <p:nvPr/>
        </p:nvSpPr>
        <p:spPr>
          <a:xfrm xmlns:a="http://schemas.openxmlformats.org/drawingml/2006/main">
            <a:off x="8077200" y="1905000"/>
            <a:ext cx="3571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コピュラ置換</a:t>
            </a:r>
          </a:p>
        </p:txBody>
      </p:sp>
      <p:graphicFrame>
        <p:nvGraphicFramePr>
          <p:cNvPr id="29" name="Chart"/>
          <p:cNvGraphicFramePr/>
          <p:nvPr/>
        </p:nvGraphicFramePr>
        <p:xfrm>
          <a:off xmlns:a="http://schemas.openxmlformats.org/drawingml/2006/main" x="8077200" y="2352675"/>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b67e5c0469934799"/>
          </a:graphicData>
        </a:graphic>
      </p:graphicFrame>
      <p:sp>
        <p:nvSpPr>
          <p:cNvPr id="14" name="">
            <a:extLst xmlns:a="http://schemas.openxmlformats.org/drawingml/2006/main">
              <a:ext uri="{FF2B5EF4-FFF2-40B4-BE49-F238E27FC236}">
                <a16:creationId xmlns:a16="http://schemas.microsoft.com/office/drawing/2014/main" id="{2C0B7834-4AF2-4FA0-8C91-94B00027331F}"/>
              </a:ext>
            </a:extLst>
          </p:cNvPr>
          <p:cNvSpPr>
            <a:spLocks xmlns:a="http://schemas.openxmlformats.org/drawingml/2006/main" noGrp="1"/>
          </p:cNvSpPr>
          <p:nvPr/>
        </p:nvSpPr>
        <p:spPr>
          <a:xfrm xmlns:a="http://schemas.openxmlformats.org/drawingml/2006/main">
            <a:off x="8077200"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0.761</a:t>
            </a:r>
          </a:p>
        </p:txBody>
      </p:sp>
      <p:sp>
        <p:nvSpPr>
          <p:cNvPr id="15" name="">
            <a:extLst xmlns:a="http://schemas.openxmlformats.org/drawingml/2006/main">
              <a:ext uri="{FF2B5EF4-FFF2-40B4-BE49-F238E27FC236}">
                <a16:creationId xmlns:a16="http://schemas.microsoft.com/office/drawing/2014/main" id="{8EA8C9B5-ADE3-47AC-BE89-75D28C6808D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9A36AB3-CEBB-4103-AFBF-7E38D1E7D8F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次の問い：関係を保つ置換は、分類の学習にも役立つか？</a:t>
            </a:r>
          </a:p>
        </p:txBody>
      </p:sp>
    </p:spTree>
    <p:extLst>
      <p:ext uri="{BB962C8B-B14F-4D97-AF65-F5344CB8AC3E}">
        <p14:creationId xmlns:p14="http://schemas.microsoft.com/office/powerpoint/2010/main" val="61164909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56CD230-49B8-4C87-8FE4-08C9B996247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分類比較：平均は上がったが、効果は未確定</a:t>
            </a:r>
          </a:p>
        </p:txBody>
      </p:sp>
      <p:sp>
        <p:nvSpPr>
          <p:cNvPr id="2" name="">
            <a:extLst xmlns:a="http://schemas.openxmlformats.org/drawingml/2006/main">
              <a:ext uri="{FF2B5EF4-FFF2-40B4-BE49-F238E27FC236}">
                <a16:creationId xmlns:a16="http://schemas.microsoft.com/office/drawing/2014/main" id="{48E84765-8F99-4C7E-AA2E-C77CBB5B4AE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4C2D60D-EF58-4844-AE32-F075FC0B806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生成の関係保持と分類性能は別なので、VIME内で比較した。</a:t>
            </a:r>
          </a:p>
        </p:txBody>
      </p:sp>
      <p:sp>
        <p:nvSpPr>
          <p:cNvPr id="4" name="">
            <a:extLst xmlns:a="http://schemas.openxmlformats.org/drawingml/2006/main">
              <a:ext uri="{FF2B5EF4-FFF2-40B4-BE49-F238E27FC236}">
                <a16:creationId xmlns:a16="http://schemas.microsoft.com/office/drawing/2014/main" id="{A22C95FE-15BC-4BD7-BB3B-96F013E232D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8E0FC2FB-7DC8-439B-9D7D-099EF1B987E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19</a:t>
            </a:r>
          </a:p>
        </p:txBody>
      </p:sp>
      <p:graphicFrame>
        <p:nvGraphicFramePr>
          <p:cNvPr id="15" name=""/>
          <p:cNvGraphicFramePr/>
          <p:nvPr/>
        </p:nvGraphicFramePr>
        <p:xfrm>
          <a:off xmlns:a="http://schemas.openxmlformats.org/drawingml/2006/main" x="514350" y="2000250"/>
          <a:ext xmlns:a="http://schemas.openxmlformats.org/drawingml/2006/main" cx="11163300" cy="2047875"/>
        </p:xfrm>
        <a:graphic xmlns:a="http://schemas.openxmlformats.org/drawingml/2006/main">
          <a:graphicData uri="http://schemas.openxmlformats.org/drawingml/2006/table">
            <a:tbl>
              <a:tblPr/>
              <a:tblGrid>
                <a:gridCol w="3721100"/>
                <a:gridCol w="3721100"/>
                <a:gridCol w="3721100"/>
              </a:tblGrid>
              <a:tr h="682625">
                <a:tc>
                  <a:txBody>
                    <a:bodyPr/>
                    <a:lstStyle/>
                    <a:p>
                      <a:pPr algn="ctr"/>
                      <a:r>
                        <a:rPr sz="2025" b="1">
                          <a:solidFill>
                            <a:srgbClr val="2E7D5B"/>
                          </a:solidFill>
                          <a:latin typeface="Noto Sans JP"/>
                          <a:ea typeface="Noto Sans JP"/>
                          <a:cs typeface="Noto Sans JP"/>
                        </a:rPr>
                        <a:t>ROC-AUC：5回の平均 ± SD</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列置換</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コピュラ置換</a:t>
                      </a:r>
                    </a:p>
                  </a:txBody>
                  <a:tcPr marL="91440" marR="91440" marT="45720" marB="45720" anchor="ctr">
                    <a:solidFill>
                      <a:srgbClr val="E7F2EC"/>
                    </a:solidFill>
                  </a:tcPr>
                </a:tc>
              </a:tr>
              <a:tr h="682625">
                <a:tc>
                  <a:txBody>
                    <a:bodyPr/>
                    <a:lstStyle/>
                    <a:p>
                      <a:pPr algn="ctr"/>
                      <a:r>
                        <a:rPr sz="2025" b="0">
                          <a:solidFill>
                            <a:srgbClr val="222222"/>
                          </a:solidFill>
                          <a:latin typeface="Noto Sans JP"/>
                          <a:ea typeface="Noto Sans JP"/>
                          <a:cs typeface="Noto Sans JP"/>
                        </a:rPr>
                        <a:t>Breast Cancer（569行・30列）</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0.973 ± 0.017</a:t>
                      </a:r>
                    </a:p>
                  </a:txBody>
                  <a:tcPr marL="91440" marR="91440" marT="45720" marB="45720" anchor="ctr">
                    <a:solidFill>
                      <a:srgbClr val="FFFFFF"/>
                    </a:solidFill>
                  </a:tcPr>
                </a:tc>
              </a:tr>
              <a:tr h="682625">
                <a:tc>
                  <a:txBody>
                    <a:bodyPr/>
                    <a:lstStyle/>
                    <a:p>
                      <a:pPr algn="ctr"/>
                      <a:r>
                        <a:rPr sz="2025" b="0">
                          <a:solidFill>
                            <a:srgbClr val="222222"/>
                          </a:solidFill>
                          <a:latin typeface="Noto Sans JP"/>
                          <a:ea typeface="Noto Sans JP"/>
                          <a:cs typeface="Noto Sans JP"/>
                        </a:rPr>
                        <a:t>Wine（178行・13列）</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0.847 ± 0.130</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ECA29679-9C9A-4AD3-9EA5-84595CF24229}"/>
              </a:ext>
            </a:extLst>
          </p:cNvPr>
          <p:cNvSpPr>
            <a:spLocks xmlns:a="http://schemas.openxmlformats.org/drawingml/2006/main" noGrp="1"/>
          </p:cNvSpPr>
          <p:nvPr/>
        </p:nvSpPr>
        <p:spPr>
          <a:xfrm xmlns:a="http://schemas.openxmlformats.org/drawingml/2006/main">
            <a:off x="628650" y="4305300"/>
            <a:ext cx="10953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共通：訓練80%・テスト20%、訓練内ラベルあり30%、同じモデル・学習予算。</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平均差の95%区間は両方0を含む。少数データ・5回の探索的比較。</a:t>
            </a:r>
          </a:p>
        </p:txBody>
      </p:sp>
      <p:sp>
        <p:nvSpPr>
          <p:cNvPr id="8" name="">
            <a:extLst xmlns:a="http://schemas.openxmlformats.org/drawingml/2006/main">
              <a:ext uri="{FF2B5EF4-FFF2-40B4-BE49-F238E27FC236}">
                <a16:creationId xmlns:a16="http://schemas.microsoft.com/office/drawing/2014/main" id="{172D3C68-A83F-4D84-8A52-E25460209EB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DB439A9-4D0D-49F3-A0F8-668E79FAAB3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次の問い：何を追加検証すれば、研究の仮説を評価できるか？</a:t>
            </a:r>
          </a:p>
        </p:txBody>
      </p:sp>
    </p:spTree>
    <p:extLst>
      <p:ext uri="{BB962C8B-B14F-4D97-AF65-F5344CB8AC3E}">
        <p14:creationId xmlns:p14="http://schemas.microsoft.com/office/powerpoint/2010/main" val="51288040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DD126B2-38BE-4E51-BE72-8F056084361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今回の進捗と、次に検証すること</a:t>
            </a:r>
          </a:p>
        </p:txBody>
      </p:sp>
      <p:sp>
        <p:nvSpPr>
          <p:cNvPr id="2" name="">
            <a:extLst xmlns:a="http://schemas.openxmlformats.org/drawingml/2006/main">
              <a:ext uri="{FF2B5EF4-FFF2-40B4-BE49-F238E27FC236}">
                <a16:creationId xmlns:a16="http://schemas.microsoft.com/office/drawing/2014/main" id="{7EB51B3E-4D79-469D-AF68-A4D0824A389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201C61B-B7A6-46D1-81BE-B310DE15AD7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条件付き生成の実装と比較はできた。分類への有効性はまだ仮説。</a:t>
            </a:r>
          </a:p>
        </p:txBody>
      </p:sp>
      <p:sp>
        <p:nvSpPr>
          <p:cNvPr id="4" name="">
            <a:extLst xmlns:a="http://schemas.openxmlformats.org/drawingml/2006/main">
              <a:ext uri="{FF2B5EF4-FFF2-40B4-BE49-F238E27FC236}">
                <a16:creationId xmlns:a16="http://schemas.microsoft.com/office/drawing/2014/main" id="{7B60BB53-2FCE-409E-8E75-132928BD3232}"/>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本編：体重70 kgから身長を生成する</a:t>
            </a:r>
          </a:p>
        </p:txBody>
      </p:sp>
      <p:sp>
        <p:nvSpPr>
          <p:cNvPr id="5" name="">
            <a:extLst xmlns:a="http://schemas.openxmlformats.org/drawingml/2006/main">
              <a:ext uri="{FF2B5EF4-FFF2-40B4-BE49-F238E27FC236}">
                <a16:creationId xmlns:a16="http://schemas.microsoft.com/office/drawing/2014/main" id="{1C17B2E6-8C8E-4D0C-BC58-99990C7E1A4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20</a:t>
            </a:r>
          </a:p>
        </p:txBody>
      </p:sp>
      <p:sp>
        <p:nvSpPr>
          <p:cNvPr id="6" name="">
            <a:extLst xmlns:a="http://schemas.openxmlformats.org/drawingml/2006/main">
              <a:ext uri="{FF2B5EF4-FFF2-40B4-BE49-F238E27FC236}">
                <a16:creationId xmlns:a16="http://schemas.microsoft.com/office/drawing/2014/main" id="{B47BCABE-BF92-45C7-BAA5-385592EC5EB0}"/>
              </a:ext>
            </a:extLst>
          </p:cNvPr>
          <p:cNvSpPr>
            <a:spLocks xmlns:a="http://schemas.openxmlformats.org/drawingml/2006/main" noGrp="1"/>
          </p:cNvSpPr>
          <p:nvPr/>
        </p:nvSpPr>
        <p:spPr>
          <a:xfrm xmlns:a="http://schemas.openxmlformats.org/drawingml/2006/main">
            <a:off x="552450" y="1952625"/>
            <a:ext cx="476250" cy="7596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BA419725-1DC3-4BFB-A551-EDA75CC1B727}"/>
              </a:ext>
            </a:extLst>
          </p:cNvPr>
          <p:cNvSpPr>
            <a:spLocks xmlns:a="http://schemas.openxmlformats.org/drawingml/2006/main" noGrp="1"/>
          </p:cNvSpPr>
          <p:nvPr/>
        </p:nvSpPr>
        <p:spPr>
          <a:xfrm xmlns:a="http://schemas.openxmlformats.org/drawingml/2006/main">
            <a:off x="1257300" y="1952625"/>
            <a:ext cx="10191750" cy="7596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具体化：残した特徴を条件に、置換する特徴を同時に生成。</a:t>
            </a:r>
          </a:p>
        </p:txBody>
      </p:sp>
      <p:sp>
        <p:nvSpPr>
          <p:cNvPr id="8" name="">
            <a:extLst xmlns:a="http://schemas.openxmlformats.org/drawingml/2006/main">
              <a:ext uri="{FF2B5EF4-FFF2-40B4-BE49-F238E27FC236}">
                <a16:creationId xmlns:a16="http://schemas.microsoft.com/office/drawing/2014/main" id="{C0BE8C8B-1B2B-4523-A649-5F4E5BB7473A}"/>
              </a:ext>
            </a:extLst>
          </p:cNvPr>
          <p:cNvSpPr>
            <a:spLocks xmlns:a="http://schemas.openxmlformats.org/drawingml/2006/main" noGrp="1"/>
          </p:cNvSpPr>
          <p:nvPr/>
        </p:nvSpPr>
        <p:spPr>
          <a:xfrm xmlns:a="http://schemas.openxmlformats.org/drawingml/2006/main">
            <a:off x="552450" y="2788444"/>
            <a:ext cx="476250" cy="7596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5C0D73A0-E6E8-471F-80DC-5D76CD8C169F}"/>
              </a:ext>
            </a:extLst>
          </p:cNvPr>
          <p:cNvSpPr>
            <a:spLocks xmlns:a="http://schemas.openxmlformats.org/drawingml/2006/main" noGrp="1"/>
          </p:cNvSpPr>
          <p:nvPr/>
        </p:nvSpPr>
        <p:spPr>
          <a:xfrm xmlns:a="http://schemas.openxmlformats.org/drawingml/2006/main">
            <a:off x="1257300" y="2788444"/>
            <a:ext cx="10191750" cy="7596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確認済み：合成例で関係保持。VIME内で置換器を比較。</a:t>
            </a:r>
          </a:p>
        </p:txBody>
      </p:sp>
      <p:sp>
        <p:nvSpPr>
          <p:cNvPr id="10" name="">
            <a:extLst xmlns:a="http://schemas.openxmlformats.org/drawingml/2006/main">
              <a:ext uri="{FF2B5EF4-FFF2-40B4-BE49-F238E27FC236}">
                <a16:creationId xmlns:a16="http://schemas.microsoft.com/office/drawing/2014/main" id="{97794228-9598-4020-AAE4-29022920B80C}"/>
              </a:ext>
            </a:extLst>
          </p:cNvPr>
          <p:cNvSpPr>
            <a:spLocks xmlns:a="http://schemas.openxmlformats.org/drawingml/2006/main" noGrp="1"/>
          </p:cNvSpPr>
          <p:nvPr/>
        </p:nvSpPr>
        <p:spPr>
          <a:xfrm xmlns:a="http://schemas.openxmlformats.org/drawingml/2006/main">
            <a:off x="552450" y="3624263"/>
            <a:ext cx="476250" cy="7596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6587E7F9-C397-471C-9F3F-AC7853BD113B}"/>
              </a:ext>
            </a:extLst>
          </p:cNvPr>
          <p:cNvSpPr>
            <a:spLocks xmlns:a="http://schemas.openxmlformats.org/drawingml/2006/main" noGrp="1"/>
          </p:cNvSpPr>
          <p:nvPr/>
        </p:nvSpPr>
        <p:spPr>
          <a:xfrm xmlns:a="http://schemas.openxmlformats.org/drawingml/2006/main">
            <a:off x="1257300" y="3624263"/>
            <a:ext cx="10191750" cy="7596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課題：関係が自然でも、正解クラスを保つとは限らない。</a:t>
            </a:r>
          </a:p>
        </p:txBody>
      </p:sp>
      <p:sp>
        <p:nvSpPr>
          <p:cNvPr id="12" name="">
            <a:extLst xmlns:a="http://schemas.openxmlformats.org/drawingml/2006/main">
              <a:ext uri="{FF2B5EF4-FFF2-40B4-BE49-F238E27FC236}">
                <a16:creationId xmlns:a16="http://schemas.microsoft.com/office/drawing/2014/main" id="{5D01F017-3162-4C4A-A631-96F462E6A6FA}"/>
              </a:ext>
            </a:extLst>
          </p:cNvPr>
          <p:cNvSpPr>
            <a:spLocks xmlns:a="http://schemas.openxmlformats.org/drawingml/2006/main" noGrp="1"/>
          </p:cNvSpPr>
          <p:nvPr/>
        </p:nvSpPr>
        <p:spPr>
          <a:xfrm xmlns:a="http://schemas.openxmlformats.org/drawingml/2006/main">
            <a:off x="552450" y="4460081"/>
            <a:ext cx="476250" cy="7596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F5D4F7FB-CA9F-432D-8022-144841027FE0}"/>
              </a:ext>
            </a:extLst>
          </p:cNvPr>
          <p:cNvSpPr>
            <a:spLocks xmlns:a="http://schemas.openxmlformats.org/drawingml/2006/main" noGrp="1"/>
          </p:cNvSpPr>
          <p:nvPr/>
        </p:nvSpPr>
        <p:spPr>
          <a:xfrm xmlns:a="http://schemas.openxmlformats.org/drawingml/2006/main">
            <a:off x="1257300" y="4460081"/>
            <a:ext cx="10191750" cy="7596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次の比較：近傍法、データ・seedの追加、生成品質と変更量の評価。</a:t>
            </a:r>
          </a:p>
        </p:txBody>
      </p:sp>
      <p:sp>
        <p:nvSpPr>
          <p:cNvPr id="14" name="">
            <a:extLst xmlns:a="http://schemas.openxmlformats.org/drawingml/2006/main">
              <a:ext uri="{FF2B5EF4-FFF2-40B4-BE49-F238E27FC236}">
                <a16:creationId xmlns:a16="http://schemas.microsoft.com/office/drawing/2014/main" id="{E6AB14AA-F326-4AD7-AB1E-FFD4E11FCF7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C06090B-3485-4772-97BE-EE54FFC3130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相談したい点：生成の妥当性とクラス保持を、どう評価するか？</a:t>
            </a:r>
          </a:p>
        </p:txBody>
      </p:sp>
    </p:spTree>
    <p:extLst>
      <p:ext uri="{BB962C8B-B14F-4D97-AF65-F5344CB8AC3E}">
        <p14:creationId xmlns:p14="http://schemas.microsoft.com/office/powerpoint/2010/main" val="98778049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84E58AF-E770-429A-A052-E6963230BEA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 C(u, 1) = u なのか</a:t>
            </a:r>
          </a:p>
        </p:txBody>
      </p:sp>
      <p:sp>
        <p:nvSpPr>
          <p:cNvPr id="2" name="">
            <a:extLst xmlns:a="http://schemas.openxmlformats.org/drawingml/2006/main">
              <a:ext uri="{FF2B5EF4-FFF2-40B4-BE49-F238E27FC236}">
                <a16:creationId xmlns:a16="http://schemas.microsoft.com/office/drawing/2014/main" id="{D3E7A21C-995F-453B-BB2B-D0F682EA7A9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E325EB1-90C6-48B9-A79D-03DA1C6B104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体重側の条件を全範囲へ広げると、誰も除外されなくなる。</a:t>
            </a:r>
          </a:p>
        </p:txBody>
      </p:sp>
      <p:sp>
        <p:nvSpPr>
          <p:cNvPr id="4" name="">
            <a:extLst xmlns:a="http://schemas.openxmlformats.org/drawingml/2006/main">
              <a:ext uri="{FF2B5EF4-FFF2-40B4-BE49-F238E27FC236}">
                <a16:creationId xmlns:a16="http://schemas.microsoft.com/office/drawing/2014/main" id="{0BC55087-54F7-4DC7-8833-695EBBC5D90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423E3FD9-6392-4D44-8397-DD0F3A3A313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21</a:t>
            </a:r>
          </a:p>
        </p:txBody>
      </p:sp>
      <p:sp>
        <p:nvSpPr>
          <p:cNvPr id="6" name="">
            <a:extLst xmlns:a="http://schemas.openxmlformats.org/drawingml/2006/main">
              <a:ext uri="{FF2B5EF4-FFF2-40B4-BE49-F238E27FC236}">
                <a16:creationId xmlns:a16="http://schemas.microsoft.com/office/drawing/2014/main" id="{12978FC3-E995-427E-8995-2B1E78FEEA6B}"/>
              </a:ext>
            </a:extLst>
          </p:cNvPr>
          <p:cNvSpPr>
            <a:spLocks xmlns:a="http://schemas.openxmlformats.org/drawingml/2006/main" noGrp="1"/>
          </p:cNvSpPr>
          <p:nvPr/>
        </p:nvSpPr>
        <p:spPr>
          <a:xfrm xmlns:a="http://schemas.openxmlformats.org/drawingml/2006/main">
            <a:off x="514350" y="20002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1C30D01-2B27-4D7F-864C-E7B330748E8A}"/>
              </a:ext>
            </a:extLst>
          </p:cNvPr>
          <p:cNvSpPr>
            <a:spLocks xmlns:a="http://schemas.openxmlformats.org/drawingml/2006/main" noGrp="1"/>
          </p:cNvSpPr>
          <p:nvPr/>
        </p:nvSpPr>
        <p:spPr>
          <a:xfrm xmlns:a="http://schemas.openxmlformats.org/drawingml/2006/main">
            <a:off x="704850" y="20955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C(u, 1) = P(U ≤ u, V ≤ 1) = P(U ≤ u) = u</a:t>
            </a:r>
          </a:p>
        </p:txBody>
      </p:sp>
      <p:sp>
        <p:nvSpPr>
          <p:cNvPr id="8" name="">
            <a:extLst xmlns:a="http://schemas.openxmlformats.org/drawingml/2006/main">
              <a:ext uri="{FF2B5EF4-FFF2-40B4-BE49-F238E27FC236}">
                <a16:creationId xmlns:a16="http://schemas.microsoft.com/office/drawing/2014/main" id="{DC185AB6-6F65-4183-9D80-1CB8F581494A}"/>
              </a:ext>
            </a:extLst>
          </p:cNvPr>
          <p:cNvSpPr>
            <a:spLocks xmlns:a="http://schemas.openxmlformats.org/drawingml/2006/main" noGrp="1"/>
          </p:cNvSpPr>
          <p:nvPr/>
        </p:nvSpPr>
        <p:spPr>
          <a:xfrm xmlns:a="http://schemas.openxmlformats.org/drawingml/2006/main">
            <a:off x="552450" y="33337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2EA28F84-4E6D-4EB1-8601-99D052286A77}"/>
              </a:ext>
            </a:extLst>
          </p:cNvPr>
          <p:cNvSpPr>
            <a:spLocks xmlns:a="http://schemas.openxmlformats.org/drawingml/2006/main" noGrp="1"/>
          </p:cNvSpPr>
          <p:nvPr/>
        </p:nvSpPr>
        <p:spPr>
          <a:xfrm xmlns:a="http://schemas.openxmlformats.org/drawingml/2006/main">
            <a:off x="1257300" y="33337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V ≤ 1：体重の位置は必ず0〜1。全員が条件を満たす。</a:t>
            </a:r>
          </a:p>
        </p:txBody>
      </p:sp>
      <p:sp>
        <p:nvSpPr>
          <p:cNvPr id="10" name="">
            <a:extLst xmlns:a="http://schemas.openxmlformats.org/drawingml/2006/main">
              <a:ext uri="{FF2B5EF4-FFF2-40B4-BE49-F238E27FC236}">
                <a16:creationId xmlns:a16="http://schemas.microsoft.com/office/drawing/2014/main" id="{8783AD3A-1698-488B-90F6-B3DBFF88DA02}"/>
              </a:ext>
            </a:extLst>
          </p:cNvPr>
          <p:cNvSpPr>
            <a:spLocks xmlns:a="http://schemas.openxmlformats.org/drawingml/2006/main" noGrp="1"/>
          </p:cNvSpPr>
          <p:nvPr/>
        </p:nvSpPr>
        <p:spPr>
          <a:xfrm xmlns:a="http://schemas.openxmlformats.org/drawingml/2006/main">
            <a:off x="552450" y="39941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9710A6BE-42F4-4851-829C-2DB5630F17B2}"/>
              </a:ext>
            </a:extLst>
          </p:cNvPr>
          <p:cNvSpPr>
            <a:spLocks xmlns:a="http://schemas.openxmlformats.org/drawingml/2006/main" noGrp="1"/>
          </p:cNvSpPr>
          <p:nvPr/>
        </p:nvSpPr>
        <p:spPr>
          <a:xfrm xmlns:a="http://schemas.openxmlformats.org/drawingml/2006/main">
            <a:off x="1257300" y="39941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残る条件は U ≤ u だけ。</a:t>
            </a:r>
          </a:p>
        </p:txBody>
      </p:sp>
      <p:sp>
        <p:nvSpPr>
          <p:cNvPr id="12" name="">
            <a:extLst xmlns:a="http://schemas.openxmlformats.org/drawingml/2006/main">
              <a:ext uri="{FF2B5EF4-FFF2-40B4-BE49-F238E27FC236}">
                <a16:creationId xmlns:a16="http://schemas.microsoft.com/office/drawing/2014/main" id="{DF46BD01-B365-4356-A2EB-93F102AB2F95}"/>
              </a:ext>
            </a:extLst>
          </p:cNvPr>
          <p:cNvSpPr>
            <a:spLocks xmlns:a="http://schemas.openxmlformats.org/drawingml/2006/main" noGrp="1"/>
          </p:cNvSpPr>
          <p:nvPr/>
        </p:nvSpPr>
        <p:spPr>
          <a:xfrm xmlns:a="http://schemas.openxmlformats.org/drawingml/2006/main">
            <a:off x="552450" y="46545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7BE7FC52-D56A-42ED-ADB6-C3853E82EF27}"/>
              </a:ext>
            </a:extLst>
          </p:cNvPr>
          <p:cNvSpPr>
            <a:spLocks xmlns:a="http://schemas.openxmlformats.org/drawingml/2006/main" noGrp="1"/>
          </p:cNvSpPr>
          <p:nvPr/>
        </p:nvSpPr>
        <p:spPr>
          <a:xfrm xmlns:a="http://schemas.openxmlformats.org/drawingml/2006/main">
            <a:off x="1257300" y="46545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U は一様分布なので、U ≤ 0.8 の割合は0.8。</a:t>
            </a:r>
          </a:p>
        </p:txBody>
      </p:sp>
      <p:sp>
        <p:nvSpPr>
          <p:cNvPr id="14" name="">
            <a:extLst xmlns:a="http://schemas.openxmlformats.org/drawingml/2006/main">
              <a:ext uri="{FF2B5EF4-FFF2-40B4-BE49-F238E27FC236}">
                <a16:creationId xmlns:a16="http://schemas.microsoft.com/office/drawing/2014/main" id="{8C790A8B-467E-4643-BFA4-2FDCF205DAB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581AA39-726E-4B37-B589-EDF536FCCF4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どんな依存関係でも C(0.8, 1) = 0.8</a:t>
            </a:r>
          </a:p>
        </p:txBody>
      </p:sp>
    </p:spTree>
    <p:extLst>
      <p:ext uri="{BB962C8B-B14F-4D97-AF65-F5344CB8AC3E}">
        <p14:creationId xmlns:p14="http://schemas.microsoft.com/office/powerpoint/2010/main" val="38448051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E8D18A5-B4BA-4936-8D1A-B0E6D8E2E4D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独立なら、なぜ C(u, v) = uv？</a:t>
            </a:r>
          </a:p>
        </p:txBody>
      </p:sp>
      <p:sp>
        <p:nvSpPr>
          <p:cNvPr id="2" name="">
            <a:extLst xmlns:a="http://schemas.openxmlformats.org/drawingml/2006/main">
              <a:ext uri="{FF2B5EF4-FFF2-40B4-BE49-F238E27FC236}">
                <a16:creationId xmlns:a16="http://schemas.microsoft.com/office/drawing/2014/main" id="{6FFA37F2-ED2D-42C8-A67D-20C053A6E66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14E13F0-6936-4EA6-8F5E-F55A58C2A27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身長の位置で絞っても、体重の位置の分布が変わらない。</a:t>
            </a:r>
          </a:p>
        </p:txBody>
      </p:sp>
      <p:sp>
        <p:nvSpPr>
          <p:cNvPr id="4" name="">
            <a:extLst xmlns:a="http://schemas.openxmlformats.org/drawingml/2006/main">
              <a:ext uri="{FF2B5EF4-FFF2-40B4-BE49-F238E27FC236}">
                <a16:creationId xmlns:a16="http://schemas.microsoft.com/office/drawing/2014/main" id="{EB6589DD-E2D3-4146-B4CE-67B35B412DB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FC5E7D66-31A7-40FA-883A-C08FC6EC310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22</a:t>
            </a:r>
          </a:p>
        </p:txBody>
      </p:sp>
      <p:sp>
        <p:nvSpPr>
          <p:cNvPr id="6" name="">
            <a:extLst xmlns:a="http://schemas.openxmlformats.org/drawingml/2006/main">
              <a:ext uri="{FF2B5EF4-FFF2-40B4-BE49-F238E27FC236}">
                <a16:creationId xmlns:a16="http://schemas.microsoft.com/office/drawing/2014/main" id="{927C4C6B-6781-4559-98DB-1FCA7B4A5771}"/>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8BD153-89FA-40A6-B0D3-9B3041EAC5AB}"/>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C(u, v) = P(U ≤ u) × P(V ≤ v) = u × v</a:t>
            </a:r>
          </a:p>
        </p:txBody>
      </p:sp>
      <p:sp>
        <p:nvSpPr>
          <p:cNvPr id="8" name="">
            <a:extLst xmlns:a="http://schemas.openxmlformats.org/drawingml/2006/main">
              <a:ext uri="{FF2B5EF4-FFF2-40B4-BE49-F238E27FC236}">
                <a16:creationId xmlns:a16="http://schemas.microsoft.com/office/drawing/2014/main" id="{51C29127-EE0B-4F0B-B9C5-9F1B3179D128}"/>
              </a:ext>
            </a:extLst>
          </p:cNvPr>
          <p:cNvSpPr>
            <a:spLocks xmlns:a="http://schemas.openxmlformats.org/drawingml/2006/main" noGrp="1"/>
          </p:cNvSpPr>
          <p:nvPr/>
        </p:nvSpPr>
        <p:spPr>
          <a:xfrm xmlns:a="http://schemas.openxmlformats.org/drawingml/2006/main">
            <a:off x="552450" y="328612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5772CAEB-E076-4776-833F-01F3DE1B35CB}"/>
              </a:ext>
            </a:extLst>
          </p:cNvPr>
          <p:cNvSpPr>
            <a:spLocks xmlns:a="http://schemas.openxmlformats.org/drawingml/2006/main" noGrp="1"/>
          </p:cNvSpPr>
          <p:nvPr/>
        </p:nvSpPr>
        <p:spPr>
          <a:xfrm xmlns:a="http://schemas.openxmlformats.org/drawingml/2006/main">
            <a:off x="1257300" y="328612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例：身長の位置0.8以下 → 全体の80%。</a:t>
            </a:r>
          </a:p>
        </p:txBody>
      </p:sp>
      <p:sp>
        <p:nvSpPr>
          <p:cNvPr id="10" name="">
            <a:extLst xmlns:a="http://schemas.openxmlformats.org/drawingml/2006/main">
              <a:ext uri="{FF2B5EF4-FFF2-40B4-BE49-F238E27FC236}">
                <a16:creationId xmlns:a16="http://schemas.microsoft.com/office/drawing/2014/main" id="{3E7F5A66-6B6A-4004-B966-DC93E141E301}"/>
              </a:ext>
            </a:extLst>
          </p:cNvPr>
          <p:cNvSpPr>
            <a:spLocks xmlns:a="http://schemas.openxmlformats.org/drawingml/2006/main" noGrp="1"/>
          </p:cNvSpPr>
          <p:nvPr/>
        </p:nvSpPr>
        <p:spPr>
          <a:xfrm xmlns:a="http://schemas.openxmlformats.org/drawingml/2006/main">
            <a:off x="552450" y="397827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9608BE40-F6A0-43E4-898D-15DEF01F7617}"/>
              </a:ext>
            </a:extLst>
          </p:cNvPr>
          <p:cNvSpPr>
            <a:spLocks xmlns:a="http://schemas.openxmlformats.org/drawingml/2006/main" noGrp="1"/>
          </p:cNvSpPr>
          <p:nvPr/>
        </p:nvSpPr>
        <p:spPr>
          <a:xfrm xmlns:a="http://schemas.openxmlformats.org/drawingml/2006/main">
            <a:off x="1257300" y="397827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その集団でも、体重の位置0.5以下 → 50%。</a:t>
            </a:r>
          </a:p>
        </p:txBody>
      </p:sp>
      <p:sp>
        <p:nvSpPr>
          <p:cNvPr id="12" name="">
            <a:extLst xmlns:a="http://schemas.openxmlformats.org/drawingml/2006/main">
              <a:ext uri="{FF2B5EF4-FFF2-40B4-BE49-F238E27FC236}">
                <a16:creationId xmlns:a16="http://schemas.microsoft.com/office/drawing/2014/main" id="{E44DA89D-7D1F-49FE-B98E-81972ABF093F}"/>
              </a:ext>
            </a:extLst>
          </p:cNvPr>
          <p:cNvSpPr>
            <a:spLocks xmlns:a="http://schemas.openxmlformats.org/drawingml/2006/main" noGrp="1"/>
          </p:cNvSpPr>
          <p:nvPr/>
        </p:nvSpPr>
        <p:spPr>
          <a:xfrm xmlns:a="http://schemas.openxmlformats.org/drawingml/2006/main">
            <a:off x="552450" y="467042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98BB8F31-55D6-4209-B7E4-655D76A3B106}"/>
              </a:ext>
            </a:extLst>
          </p:cNvPr>
          <p:cNvSpPr>
            <a:spLocks xmlns:a="http://schemas.openxmlformats.org/drawingml/2006/main" noGrp="1"/>
          </p:cNvSpPr>
          <p:nvPr/>
        </p:nvSpPr>
        <p:spPr>
          <a:xfrm xmlns:a="http://schemas.openxmlformats.org/drawingml/2006/main">
            <a:off x="1257300" y="467042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両方を満たす割合 → 0.8 × 0.5 = 0.4。</a:t>
            </a:r>
          </a:p>
        </p:txBody>
      </p:sp>
      <p:sp>
        <p:nvSpPr>
          <p:cNvPr id="14" name="">
            <a:extLst xmlns:a="http://schemas.openxmlformats.org/drawingml/2006/main">
              <a:ext uri="{FF2B5EF4-FFF2-40B4-BE49-F238E27FC236}">
                <a16:creationId xmlns:a16="http://schemas.microsoft.com/office/drawing/2014/main" id="{388327C0-5EBB-479E-8FC1-0EB2D8BD8DF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5254B25-4966-42AD-8EAD-B6F625C7DB7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独立の意味：一方を知っても、もう一方の分布は変わらない</a:t>
            </a:r>
          </a:p>
        </p:txBody>
      </p:sp>
    </p:spTree>
    <p:extLst>
      <p:ext uri="{BB962C8B-B14F-4D97-AF65-F5344CB8AC3E}">
        <p14:creationId xmlns:p14="http://schemas.microsoft.com/office/powerpoint/2010/main" val="160066839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BEA7018-4B5C-49D0-9340-98CF1493AAF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完全に同じ位置なら、なぜ min？</a:t>
            </a:r>
          </a:p>
        </p:txBody>
      </p:sp>
      <p:sp>
        <p:nvSpPr>
          <p:cNvPr id="2" name="">
            <a:extLst xmlns:a="http://schemas.openxmlformats.org/drawingml/2006/main">
              <a:ext uri="{FF2B5EF4-FFF2-40B4-BE49-F238E27FC236}">
                <a16:creationId xmlns:a16="http://schemas.microsoft.com/office/drawing/2014/main" id="{7A7F17B0-C914-4A12-B6D9-3A33BB65375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4EC0DC1-0BFB-4B22-B7BA-498298ED987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V = U：身長と体重の「順位位置」がいつも一致する場合。</a:t>
            </a:r>
          </a:p>
        </p:txBody>
      </p:sp>
      <p:sp>
        <p:nvSpPr>
          <p:cNvPr id="4" name="">
            <a:extLst xmlns:a="http://schemas.openxmlformats.org/drawingml/2006/main">
              <a:ext uri="{FF2B5EF4-FFF2-40B4-BE49-F238E27FC236}">
                <a16:creationId xmlns:a16="http://schemas.microsoft.com/office/drawing/2014/main" id="{CB8B3C0C-48ED-4EB4-8E29-B077EC5C27F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2B194E9D-1D41-4140-AE71-D1D5F457AA4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23</a:t>
            </a:r>
          </a:p>
        </p:txBody>
      </p:sp>
      <p:sp>
        <p:nvSpPr>
          <p:cNvPr id="6" name="">
            <a:extLst xmlns:a="http://schemas.openxmlformats.org/drawingml/2006/main">
              <a:ext uri="{FF2B5EF4-FFF2-40B4-BE49-F238E27FC236}">
                <a16:creationId xmlns:a16="http://schemas.microsoft.com/office/drawing/2014/main" id="{56158AA4-54D1-470F-9CBD-1C60720D03AC}"/>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7A8F9DD-E7A9-4EAE-BABA-6AE3BBC8C9BF}"/>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C(u, v) = P(U ≤ u, U ≤ v) = P(U ≤ min(u, v))</a:t>
            </a:r>
          </a:p>
        </p:txBody>
      </p:sp>
      <p:sp>
        <p:nvSpPr>
          <p:cNvPr id="8" name="">
            <a:extLst xmlns:a="http://schemas.openxmlformats.org/drawingml/2006/main">
              <a:ext uri="{FF2B5EF4-FFF2-40B4-BE49-F238E27FC236}">
                <a16:creationId xmlns:a16="http://schemas.microsoft.com/office/drawing/2014/main" id="{12F48104-BB72-45FA-919F-8329AA3F0D69}"/>
              </a:ext>
            </a:extLst>
          </p:cNvPr>
          <p:cNvSpPr>
            <a:spLocks xmlns:a="http://schemas.openxmlformats.org/drawingml/2006/main" noGrp="1"/>
          </p:cNvSpPr>
          <p:nvPr/>
        </p:nvSpPr>
        <p:spPr>
          <a:xfrm xmlns:a="http://schemas.openxmlformats.org/drawingml/2006/main">
            <a:off x="552450" y="331470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C2197101-613C-401F-AF9C-CB43E49C9FBA}"/>
              </a:ext>
            </a:extLst>
          </p:cNvPr>
          <p:cNvSpPr>
            <a:spLocks xmlns:a="http://schemas.openxmlformats.org/drawingml/2006/main" noGrp="1"/>
          </p:cNvSpPr>
          <p:nvPr/>
        </p:nvSpPr>
        <p:spPr>
          <a:xfrm xmlns:a="http://schemas.openxmlformats.org/drawingml/2006/main">
            <a:off x="1257300" y="331470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例：U ≤ 0.8 かつ U ≤ 0.5。</a:t>
            </a:r>
          </a:p>
        </p:txBody>
      </p:sp>
      <p:sp>
        <p:nvSpPr>
          <p:cNvPr id="10" name="">
            <a:extLst xmlns:a="http://schemas.openxmlformats.org/drawingml/2006/main">
              <a:ext uri="{FF2B5EF4-FFF2-40B4-BE49-F238E27FC236}">
                <a16:creationId xmlns:a16="http://schemas.microsoft.com/office/drawing/2014/main" id="{3F848647-CC3C-41F1-852A-377B32C32809}"/>
              </a:ext>
            </a:extLst>
          </p:cNvPr>
          <p:cNvSpPr>
            <a:spLocks xmlns:a="http://schemas.openxmlformats.org/drawingml/2006/main" noGrp="1"/>
          </p:cNvSpPr>
          <p:nvPr/>
        </p:nvSpPr>
        <p:spPr>
          <a:xfrm xmlns:a="http://schemas.openxmlformats.org/drawingml/2006/main">
            <a:off x="552450" y="399415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D9C77646-967E-48F1-B71E-73020A3F1355}"/>
              </a:ext>
            </a:extLst>
          </p:cNvPr>
          <p:cNvSpPr>
            <a:spLocks xmlns:a="http://schemas.openxmlformats.org/drawingml/2006/main" noGrp="1"/>
          </p:cNvSpPr>
          <p:nvPr/>
        </p:nvSpPr>
        <p:spPr>
          <a:xfrm xmlns:a="http://schemas.openxmlformats.org/drawingml/2006/main">
            <a:off x="1257300" y="399415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両方を満たすのは U ≤ 0.5。</a:t>
            </a:r>
          </a:p>
        </p:txBody>
      </p:sp>
      <p:sp>
        <p:nvSpPr>
          <p:cNvPr id="12" name="">
            <a:extLst xmlns:a="http://schemas.openxmlformats.org/drawingml/2006/main">
              <a:ext uri="{FF2B5EF4-FFF2-40B4-BE49-F238E27FC236}">
                <a16:creationId xmlns:a16="http://schemas.microsoft.com/office/drawing/2014/main" id="{F17AFABC-FBAC-4D39-B94B-E9F14A53799B}"/>
              </a:ext>
            </a:extLst>
          </p:cNvPr>
          <p:cNvSpPr>
            <a:spLocks xmlns:a="http://schemas.openxmlformats.org/drawingml/2006/main" noGrp="1"/>
          </p:cNvSpPr>
          <p:nvPr/>
        </p:nvSpPr>
        <p:spPr>
          <a:xfrm xmlns:a="http://schemas.openxmlformats.org/drawingml/2006/main">
            <a:off x="552450" y="467360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B5084732-013C-4886-8F6F-890BFE9C6583}"/>
              </a:ext>
            </a:extLst>
          </p:cNvPr>
          <p:cNvSpPr>
            <a:spLocks xmlns:a="http://schemas.openxmlformats.org/drawingml/2006/main" noGrp="1"/>
          </p:cNvSpPr>
          <p:nvPr/>
        </p:nvSpPr>
        <p:spPr>
          <a:xfrm xmlns:a="http://schemas.openxmlformats.org/drawingml/2006/main">
            <a:off x="1257300" y="467360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したがって C(0.8, 0.5) = 0.5 = min(0.8, 0.5)。</a:t>
            </a:r>
          </a:p>
        </p:txBody>
      </p:sp>
      <p:sp>
        <p:nvSpPr>
          <p:cNvPr id="14" name="">
            <a:extLst xmlns:a="http://schemas.openxmlformats.org/drawingml/2006/main">
              <a:ext uri="{FF2B5EF4-FFF2-40B4-BE49-F238E27FC236}">
                <a16:creationId xmlns:a16="http://schemas.microsoft.com/office/drawing/2014/main" id="{750216DE-02A4-400C-9A11-D4476BDCD36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DCA72F5-BA0C-41B5-88E1-F34A9671E96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同じ位置に二つの条件をかけるため、小さい境界が残る</a:t>
            </a:r>
          </a:p>
        </p:txBody>
      </p:sp>
    </p:spTree>
    <p:extLst>
      <p:ext uri="{BB962C8B-B14F-4D97-AF65-F5344CB8AC3E}">
        <p14:creationId xmlns:p14="http://schemas.microsoft.com/office/powerpoint/2010/main" val="62810773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47456CF-11C9-4A5F-BCA3-05AC937619B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コピュラの種類と選ぶ観点</a:t>
            </a:r>
          </a:p>
        </p:txBody>
      </p:sp>
      <p:sp>
        <p:nvSpPr>
          <p:cNvPr id="2" name="">
            <a:extLst xmlns:a="http://schemas.openxmlformats.org/drawingml/2006/main">
              <a:ext uri="{FF2B5EF4-FFF2-40B4-BE49-F238E27FC236}">
                <a16:creationId xmlns:a16="http://schemas.microsoft.com/office/drawing/2014/main" id="{F2C47E45-2766-4164-87F7-C2B06BE4355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72A4728-F5BC-49F5-BE83-2CF27177C2DB}"/>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どの関係を重視するかによって、適したモデルが変わる。</a:t>
            </a:r>
          </a:p>
        </p:txBody>
      </p:sp>
      <p:sp>
        <p:nvSpPr>
          <p:cNvPr id="4" name="">
            <a:extLst xmlns:a="http://schemas.openxmlformats.org/drawingml/2006/main">
              <a:ext uri="{FF2B5EF4-FFF2-40B4-BE49-F238E27FC236}">
                <a16:creationId xmlns:a16="http://schemas.microsoft.com/office/drawing/2014/main" id="{ECBA152D-DEE2-4508-A313-720ADB0803F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A502B54E-2D1B-4D83-8E54-1AF9B3EF64E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24</a:t>
            </a:r>
          </a:p>
        </p:txBody>
      </p:sp>
      <p:graphicFrame>
        <p:nvGraphicFramePr>
          <p:cNvPr id="14" name=""/>
          <p:cNvGraphicFramePr/>
          <p:nvPr/>
        </p:nvGraphicFramePr>
        <p:xfrm>
          <a:off xmlns:a="http://schemas.openxmlformats.org/drawingml/2006/main" x="514350" y="1885950"/>
          <a:ext xmlns:a="http://schemas.openxmlformats.org/drawingml/2006/main" cx="11163300" cy="3524250"/>
        </p:xfrm>
        <a:graphic xmlns:a="http://schemas.openxmlformats.org/drawingml/2006/main">
          <a:graphicData uri="http://schemas.openxmlformats.org/drawingml/2006/table">
            <a:tbl>
              <a:tblPr/>
              <a:tblGrid>
                <a:gridCol w="3721100"/>
                <a:gridCol w="3721100"/>
                <a:gridCol w="3721100"/>
              </a:tblGrid>
              <a:tr h="587375">
                <a:tc>
                  <a:txBody>
                    <a:bodyPr/>
                    <a:lstStyle/>
                    <a:p>
                      <a:pPr algn="ctr"/>
                      <a:r>
                        <a:rPr sz="1800" b="1">
                          <a:solidFill>
                            <a:srgbClr val="2E7D5B"/>
                          </a:solidFill>
                          <a:latin typeface="Noto Sans JP"/>
                          <a:ea typeface="Noto Sans JP"/>
                          <a:cs typeface="Noto Sans JP"/>
                        </a:rPr>
                        <a:t>種類</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表せる主な関係</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検討するデータ・条件</a:t>
                      </a:r>
                    </a:p>
                  </a:txBody>
                  <a:tcPr marL="91440" marR="91440" marT="45720" marB="45720" anchor="ctr">
                    <a:solidFill>
                      <a:srgbClr val="E7F2EC"/>
                    </a:solidFill>
                  </a:tcPr>
                </a:tc>
              </a:tr>
              <a:tr h="587375">
                <a:tc>
                  <a:txBody>
                    <a:bodyPr/>
                    <a:lstStyle/>
                    <a:p>
                      <a:pPr algn="ctr"/>
                      <a:r>
                        <a:rPr sz="1800" b="0">
                          <a:solidFill>
                            <a:srgbClr val="222222"/>
                          </a:solidFill>
                          <a:latin typeface="Noto Sans JP"/>
                          <a:ea typeface="Noto Sans JP"/>
                          <a:cs typeface="Noto Sans JP"/>
                        </a:rPr>
                        <a:t>Gaussian</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潜在正規空間の相関</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まず安定した多変量の条件付き生成</a:t>
                      </a:r>
                    </a:p>
                  </a:txBody>
                  <a:tcPr marL="91440" marR="91440" marT="45720" marB="45720" anchor="ctr">
                    <a:solidFill>
                      <a:srgbClr val="FFFFFF"/>
                    </a:solidFill>
                  </a:tcPr>
                </a:tc>
              </a:tr>
              <a:tr h="587375">
                <a:tc>
                  <a:txBody>
                    <a:bodyPr/>
                    <a:lstStyle/>
                    <a:p>
                      <a:pPr algn="ctr"/>
                      <a:r>
                        <a:rPr sz="1800" b="0">
                          <a:solidFill>
                            <a:srgbClr val="222222"/>
                          </a:solidFill>
                          <a:latin typeface="Noto Sans JP"/>
                          <a:ea typeface="Noto Sans JP"/>
                          <a:cs typeface="Noto Sans JP"/>
                        </a:rPr>
                        <a:t>Student-t</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両側の極端値が同時に起こる</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上下の裾で共発生が重要</a:t>
                      </a:r>
                    </a:p>
                  </a:txBody>
                  <a:tcPr marL="91440" marR="91440" marT="45720" marB="45720" anchor="ctr">
                    <a:solidFill>
                      <a:srgbClr val="F6F6F6"/>
                    </a:solidFill>
                  </a:tcPr>
                </a:tc>
              </a:tr>
              <a:tr h="587375">
                <a:tc>
                  <a:txBody>
                    <a:bodyPr/>
                    <a:lstStyle/>
                    <a:p>
                      <a:pPr algn="ctr"/>
                      <a:r>
                        <a:rPr sz="1800" b="0">
                          <a:solidFill>
                            <a:srgbClr val="222222"/>
                          </a:solidFill>
                          <a:latin typeface="Noto Sans JP"/>
                          <a:ea typeface="Noto Sans JP"/>
                          <a:cs typeface="Noto Sans JP"/>
                        </a:rPr>
                        <a:t>Clayton / Gumbel / Joe</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片側の裾で強い依存</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小さい側 / 大きい側の共発生</a:t>
                      </a:r>
                    </a:p>
                  </a:txBody>
                  <a:tcPr marL="91440" marR="91440" marT="45720" marB="45720" anchor="ctr">
                    <a:solidFill>
                      <a:srgbClr val="FFFFFF"/>
                    </a:solidFill>
                  </a:tcPr>
                </a:tc>
              </a:tr>
              <a:tr h="587375">
                <a:tc>
                  <a:txBody>
                    <a:bodyPr/>
                    <a:lstStyle/>
                    <a:p>
                      <a:pPr algn="ctr"/>
                      <a:r>
                        <a:rPr sz="1800" b="0">
                          <a:solidFill>
                            <a:srgbClr val="222222"/>
                          </a:solidFill>
                          <a:latin typeface="Noto Sans JP"/>
                          <a:ea typeface="Noto Sans JP"/>
                          <a:cs typeface="Noto Sans JP"/>
                        </a:rPr>
                        <a:t>Frank</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両裾の依存係数は0</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中央のなめらかな依存</a:t>
                      </a:r>
                    </a:p>
                  </a:txBody>
                  <a:tcPr marL="91440" marR="91440" marT="45720" marB="45720" anchor="ctr">
                    <a:solidFill>
                      <a:srgbClr val="F6F6F6"/>
                    </a:solidFill>
                  </a:tcPr>
                </a:tc>
              </a:tr>
              <a:tr h="587375">
                <a:tc>
                  <a:txBody>
                    <a:bodyPr/>
                    <a:lstStyle/>
                    <a:p>
                      <a:pPr algn="ctr"/>
                      <a:r>
                        <a:rPr sz="1800" b="0">
                          <a:solidFill>
                            <a:srgbClr val="222222"/>
                          </a:solidFill>
                          <a:latin typeface="Noto Sans JP"/>
                          <a:ea typeface="Noto Sans JP"/>
                          <a:cs typeface="Noto Sans JP"/>
                        </a:rPr>
                        <a:t>Vine / ノンパラメトリック</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ペアごとの差 / 柔軟な形</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十分なデータとモデル選択の余裕</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5A2419EA-ADE7-43E6-87AA-FE07E4601E4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987CB23-2E8D-4CD3-AF2A-FBAA5BA3FEB2}"/>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種類を増やすほど、推定・選択・条件付き生成も複雑になる</a:t>
            </a:r>
          </a:p>
        </p:txBody>
      </p:sp>
    </p:spTree>
    <p:extLst>
      <p:ext uri="{BB962C8B-B14F-4D97-AF65-F5344CB8AC3E}">
        <p14:creationId xmlns:p14="http://schemas.microsoft.com/office/powerpoint/2010/main" val="212552576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C20646-2405-4C79-99A3-03BF02C9996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コピュラと「潜在空間での生成」</a:t>
            </a:r>
          </a:p>
        </p:txBody>
      </p:sp>
      <p:sp>
        <p:nvSpPr>
          <p:cNvPr id="2" name="">
            <a:extLst xmlns:a="http://schemas.openxmlformats.org/drawingml/2006/main">
              <a:ext uri="{FF2B5EF4-FFF2-40B4-BE49-F238E27FC236}">
                <a16:creationId xmlns:a16="http://schemas.microsoft.com/office/drawing/2014/main" id="{82FA56B4-088F-404B-BC81-6417BF367B5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39198D5-754E-44A2-8A09-37ACEEFFB1F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コピュラも潜在変数を使える。違いは、何をモデル化するか。</a:t>
            </a:r>
          </a:p>
        </p:txBody>
      </p:sp>
      <p:sp>
        <p:nvSpPr>
          <p:cNvPr id="4" name="">
            <a:extLst xmlns:a="http://schemas.openxmlformats.org/drawingml/2006/main">
              <a:ext uri="{FF2B5EF4-FFF2-40B4-BE49-F238E27FC236}">
                <a16:creationId xmlns:a16="http://schemas.microsoft.com/office/drawing/2014/main" id="{A7F0E96F-130A-422E-9D37-410EA4AA33D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6F3BD3E1-6F44-4163-808A-A4CB9B090F2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25</a:t>
            </a:r>
          </a:p>
        </p:txBody>
      </p:sp>
      <p:graphicFrame>
        <p:nvGraphicFramePr>
          <p:cNvPr id="14" name=""/>
          <p:cNvGraphicFramePr/>
          <p:nvPr/>
        </p:nvGraphicFramePr>
        <p:xfrm>
          <a:off xmlns:a="http://schemas.openxmlformats.org/drawingml/2006/main" x="514350" y="1943100"/>
          <a:ext xmlns:a="http://schemas.openxmlformats.org/drawingml/2006/main" cx="11163300" cy="3333750"/>
        </p:xfrm>
        <a:graphic xmlns:a="http://schemas.openxmlformats.org/drawingml/2006/main">
          <a:graphicData uri="http://schemas.openxmlformats.org/drawingml/2006/table">
            <a:tbl>
              <a:tblPr/>
              <a:tblGrid>
                <a:gridCol w="3721100"/>
                <a:gridCol w="3721100"/>
                <a:gridCol w="3721100"/>
              </a:tblGrid>
              <a:tr h="666750">
                <a:tc>
                  <a:txBody>
                    <a:bodyPr/>
                    <a:lstStyle/>
                    <a:p>
                      <a:pPr algn="ctr"/>
                      <a:r>
                        <a:rPr sz="1875" b="1">
                          <a:solidFill>
                            <a:srgbClr val="2E7D5B"/>
                          </a:solidFill>
                          <a:latin typeface="Noto Sans JP"/>
                          <a:ea typeface="Noto Sans JP"/>
                          <a:cs typeface="Noto Sans JP"/>
                        </a:rPr>
                        <a:t>観点</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Gaussian copulaの今回の実装</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encoder等の潜在生成</a:t>
                      </a:r>
                    </a:p>
                  </a:txBody>
                  <a:tcPr marL="91440" marR="91440" marT="45720" marB="45720" anchor="ctr">
                    <a:solidFill>
                      <a:srgbClr val="E7F2EC"/>
                    </a:solidFill>
                  </a:tcPr>
                </a:tc>
              </a:tr>
              <a:tr h="666750">
                <a:tc>
                  <a:txBody>
                    <a:bodyPr/>
                    <a:lstStyle/>
                    <a:p>
                      <a:pPr algn="ctr"/>
                      <a:r>
                        <a:rPr sz="1875" b="0">
                          <a:solidFill>
                            <a:srgbClr val="222222"/>
                          </a:solidFill>
                          <a:latin typeface="Noto Sans JP"/>
                          <a:ea typeface="Noto Sans JP"/>
                          <a:cs typeface="Noto Sans JP"/>
                        </a:rPr>
                        <a:t>変換</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各列の累積分布 → 逆正規</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学習したencoderで表現</a:t>
                      </a:r>
                    </a:p>
                  </a:txBody>
                  <a:tcPr marL="91440" marR="91440" marT="45720" marB="45720" anchor="ctr">
                    <a:solidFill>
                      <a:srgbClr val="FFFFFF"/>
                    </a:solidFill>
                  </a:tcPr>
                </a:tc>
              </a:tr>
              <a:tr h="666750">
                <a:tc>
                  <a:txBody>
                    <a:bodyPr/>
                    <a:lstStyle/>
                    <a:p>
                      <a:pPr algn="ctr"/>
                      <a:r>
                        <a:rPr sz="1875" b="0">
                          <a:solidFill>
                            <a:srgbClr val="222222"/>
                          </a:solidFill>
                          <a:latin typeface="Noto Sans JP"/>
                          <a:ea typeface="Noto Sans JP"/>
                          <a:cs typeface="Noto Sans JP"/>
                        </a:rPr>
                        <a:t>依存のモデル</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潜在正規の相関行列R</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モデル設計次第</a:t>
                      </a:r>
                    </a:p>
                  </a:txBody>
                  <a:tcPr marL="91440" marR="91440" marT="45720" marB="45720" anchor="ctr">
                    <a:solidFill>
                      <a:srgbClr val="F6F6F6"/>
                    </a:solidFill>
                  </a:tcPr>
                </a:tc>
              </a:tr>
              <a:tr h="666750">
                <a:tc>
                  <a:txBody>
                    <a:bodyPr/>
                    <a:lstStyle/>
                    <a:p>
                      <a:pPr algn="ctr"/>
                      <a:r>
                        <a:rPr sz="1875" b="0">
                          <a:solidFill>
                            <a:srgbClr val="222222"/>
                          </a:solidFill>
                          <a:latin typeface="Noto Sans JP"/>
                          <a:ea typeface="Noto Sans JP"/>
                          <a:cs typeface="Noto Sans JP"/>
                        </a:rPr>
                        <a:t>元へ戻す</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各列の逆累積分布</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decoder等</a:t>
                      </a:r>
                    </a:p>
                  </a:txBody>
                  <a:tcPr marL="91440" marR="91440" marT="45720" marB="45720" anchor="ctr">
                    <a:solidFill>
                      <a:srgbClr val="FFFFFF"/>
                    </a:solidFill>
                  </a:tcPr>
                </a:tc>
              </a:tr>
              <a:tr h="666750">
                <a:tc>
                  <a:txBody>
                    <a:bodyPr/>
                    <a:lstStyle/>
                    <a:p>
                      <a:pPr algn="ctr"/>
                      <a:r>
                        <a:rPr sz="1875" b="0">
                          <a:solidFill>
                            <a:srgbClr val="222222"/>
                          </a:solidFill>
                          <a:latin typeface="Noto Sans JP"/>
                          <a:ea typeface="Noto Sans JP"/>
                          <a:cs typeface="Noto Sans JP"/>
                        </a:rPr>
                        <a:t>条件</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残す元特徴の位置</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潜在表現・ラベル等、設計次第</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9C263058-E20F-4EA7-81A9-278DD3C9997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D023317-3C15-4861-A555-38E3A35EDCB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「潜在」は共通でも、コピュラには周辺と依存を分ける構造がある</a:t>
            </a:r>
          </a:p>
        </p:txBody>
      </p:sp>
    </p:spTree>
    <p:extLst>
      <p:ext uri="{BB962C8B-B14F-4D97-AF65-F5344CB8AC3E}">
        <p14:creationId xmlns:p14="http://schemas.microsoft.com/office/powerpoint/2010/main" val="208157012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B74C7AD-F411-41B5-B63D-9FA3E9AC160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比較実験：条件を何に揃えたか</a:t>
            </a:r>
          </a:p>
        </p:txBody>
      </p:sp>
      <p:sp>
        <p:nvSpPr>
          <p:cNvPr id="2" name="">
            <a:extLst xmlns:a="http://schemas.openxmlformats.org/drawingml/2006/main">
              <a:ext uri="{FF2B5EF4-FFF2-40B4-BE49-F238E27FC236}">
                <a16:creationId xmlns:a16="http://schemas.microsoft.com/office/drawing/2014/main" id="{2A8DFC2F-1777-4EA0-9192-CA0C550B25E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C5A6DCE-37A2-4018-878E-56E183B97DB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VIMEの2手法で共通の条件。原論文の実験表の再現ではない。</a:t>
            </a:r>
          </a:p>
        </p:txBody>
      </p:sp>
      <p:sp>
        <p:nvSpPr>
          <p:cNvPr id="4" name="">
            <a:extLst xmlns:a="http://schemas.openxmlformats.org/drawingml/2006/main">
              <a:ext uri="{FF2B5EF4-FFF2-40B4-BE49-F238E27FC236}">
                <a16:creationId xmlns:a16="http://schemas.microsoft.com/office/drawing/2014/main" id="{6CA6FD79-3A88-4AE0-BC1F-E3E3CAB8CB2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76A11AE2-0BE4-4B80-949D-70B4B8B3D1E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26</a:t>
            </a:r>
          </a:p>
        </p:txBody>
      </p:sp>
      <p:graphicFrame>
        <p:nvGraphicFramePr>
          <p:cNvPr id="14" name=""/>
          <p:cNvGraphicFramePr/>
          <p:nvPr/>
        </p:nvGraphicFramePr>
        <p:xfrm>
          <a:off xmlns:a="http://schemas.openxmlformats.org/drawingml/2006/main" x="514350" y="1924050"/>
          <a:ext xmlns:a="http://schemas.openxmlformats.org/drawingml/2006/main" cx="11163300" cy="3438525"/>
        </p:xfrm>
        <a:graphic xmlns:a="http://schemas.openxmlformats.org/drawingml/2006/main">
          <a:graphicData uri="http://schemas.openxmlformats.org/drawingml/2006/table">
            <a:tbl>
              <a:tblPr/>
              <a:tblGrid>
                <a:gridCol w="2667000"/>
                <a:gridCol w="8496300"/>
              </a:tblGrid>
              <a:tr h="573088">
                <a:tc>
                  <a:txBody>
                    <a:bodyPr/>
                    <a:lstStyle/>
                    <a:p>
                      <a:pPr algn="ctr"/>
                      <a:r>
                        <a:rPr sz="1800" b="1">
                          <a:solidFill>
                            <a:srgbClr val="2E7D5B"/>
                          </a:solidFill>
                          <a:latin typeface="Noto Sans JP"/>
                          <a:ea typeface="Noto Sans JP"/>
                          <a:cs typeface="Noto Sans JP"/>
                        </a:rPr>
                        <a:t>項目</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共通条件</a:t>
                      </a:r>
                    </a:p>
                  </a:txBody>
                  <a:tcPr marL="91440" marR="91440" marT="45720" marB="45720" anchor="ctr">
                    <a:solidFill>
                      <a:srgbClr val="E7F2EC"/>
                    </a:solidFill>
                  </a:tcPr>
                </a:tc>
              </a:tr>
              <a:tr h="573088">
                <a:tc>
                  <a:txBody>
                    <a:bodyPr/>
                    <a:lstStyle/>
                    <a:p>
                      <a:pPr algn="ctr"/>
                      <a:r>
                        <a:rPr sz="1800" b="0">
                          <a:solidFill>
                            <a:srgbClr val="222222"/>
                          </a:solidFill>
                          <a:latin typeface="Noto Sans JP"/>
                          <a:ea typeface="Noto Sans JP"/>
                          <a:cs typeface="Noto Sans JP"/>
                        </a:rPr>
                        <a:t>データ</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Breast Cancer：569行・30列・2クラス / Wine：178行・13列・3クラス</a:t>
                      </a:r>
                    </a:p>
                  </a:txBody>
                  <a:tcPr marL="91440" marR="91440" marT="45720" marB="45720" anchor="ctr">
                    <a:solidFill>
                      <a:srgbClr val="FFFFFF"/>
                    </a:solidFill>
                  </a:tcPr>
                </a:tc>
              </a:tr>
              <a:tr h="573088">
                <a:tc>
                  <a:txBody>
                    <a:bodyPr/>
                    <a:lstStyle/>
                    <a:p>
                      <a:pPr algn="ctr"/>
                      <a:r>
                        <a:rPr sz="1800" b="0">
                          <a:solidFill>
                            <a:srgbClr val="222222"/>
                          </a:solidFill>
                          <a:latin typeface="Noto Sans JP"/>
                          <a:ea typeface="Noto Sans JP"/>
                          <a:cs typeface="Noto Sans JP"/>
                        </a:rPr>
                        <a:t>分割</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訓練80%・テスト20%、訓練内ラベルあり30%（層化）</a:t>
                      </a:r>
                    </a:p>
                  </a:txBody>
                  <a:tcPr marL="91440" marR="91440" marT="45720" marB="45720" anchor="ctr">
                    <a:solidFill>
                      <a:srgbClr val="F6F6F6"/>
                    </a:solidFill>
                  </a:tcPr>
                </a:tc>
              </a:tr>
              <a:tr h="573088">
                <a:tc>
                  <a:txBody>
                    <a:bodyPr/>
                    <a:lstStyle/>
                    <a:p>
                      <a:pPr algn="ctr"/>
                      <a:r>
                        <a:rPr sz="1800" b="0">
                          <a:solidFill>
                            <a:srgbClr val="222222"/>
                          </a:solidFill>
                          <a:latin typeface="Noto Sans JP"/>
                          <a:ea typeface="Noto Sans JP"/>
                          <a:cs typeface="Noto Sans JP"/>
                        </a:rPr>
                        <a:t>繰り返し</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seed = 11, 23, 37, 51, 67 の5回</a:t>
                      </a:r>
                    </a:p>
                  </a:txBody>
                  <a:tcPr marL="91440" marR="91440" marT="45720" marB="45720" anchor="ctr">
                    <a:solidFill>
                      <a:srgbClr val="FFFFFF"/>
                    </a:solidFill>
                  </a:tcPr>
                </a:tc>
              </a:tr>
              <a:tr h="573088">
                <a:tc>
                  <a:txBody>
                    <a:bodyPr/>
                    <a:lstStyle/>
                    <a:p>
                      <a:pPr algn="ctr"/>
                      <a:r>
                        <a:rPr sz="1800" b="0">
                          <a:solidFill>
                            <a:srgbClr val="222222"/>
                          </a:solidFill>
                          <a:latin typeface="Noto Sans JP"/>
                          <a:ea typeface="Noto Sans JP"/>
                          <a:cs typeface="Noto Sans JP"/>
                        </a:rPr>
                        <a:t>モデル・学習</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4層×32幅MLP、自己教師あり15 epoch、半教師あり300反復</a:t>
                      </a:r>
                    </a:p>
                  </a:txBody>
                  <a:tcPr marL="91440" marR="91440" marT="45720" marB="45720" anchor="ctr">
                    <a:solidFill>
                      <a:srgbClr val="F6F6F6"/>
                    </a:solidFill>
                  </a:tcPr>
                </a:tc>
              </a:tr>
              <a:tr h="573088">
                <a:tc>
                  <a:txBody>
                    <a:bodyPr/>
                    <a:lstStyle/>
                    <a:p>
                      <a:pPr algn="ctr"/>
                      <a:r>
                        <a:rPr sz="1800" b="0">
                          <a:solidFill>
                            <a:srgbClr val="222222"/>
                          </a:solidFill>
                          <a:latin typeface="Noto Sans JP"/>
                          <a:ea typeface="Noto Sans JP"/>
                          <a:cs typeface="Noto Sans JP"/>
                        </a:rPr>
                        <a:t>前処理・拡張</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訓練だけでMinMax、batch 64、マスク確率0.4、CPU</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3564BD1D-9CAB-47F3-A266-3272000E877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232A69E-8FFC-41BB-92B6-54E24DA3696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因果的に比べたい部分：同じ学習枠組み内の「置換器」の違い</a:t>
            </a:r>
          </a:p>
        </p:txBody>
      </p:sp>
    </p:spTree>
    <p:extLst>
      <p:ext uri="{BB962C8B-B14F-4D97-AF65-F5344CB8AC3E}">
        <p14:creationId xmlns:p14="http://schemas.microsoft.com/office/powerpoint/2010/main" val="176225634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EC61398-A63C-4D37-917A-925D5333FA6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補足：保存済み結果との一致</a:t>
            </a:r>
          </a:p>
        </p:txBody>
      </p:sp>
      <p:sp>
        <p:nvSpPr>
          <p:cNvPr id="2" name="">
            <a:extLst xmlns:a="http://schemas.openxmlformats.org/drawingml/2006/main">
              <a:ext uri="{FF2B5EF4-FFF2-40B4-BE49-F238E27FC236}">
                <a16:creationId xmlns:a16="http://schemas.microsoft.com/office/drawing/2014/main" id="{95A1080E-9399-47EA-BD79-22BFCDE24EE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2BEF04B-E876-48DA-AF70-1E3EC4CA47E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主指標ROC-AUC。5回の平均 ± 標準偏差。</a:t>
            </a:r>
          </a:p>
        </p:txBody>
      </p:sp>
      <p:sp>
        <p:nvSpPr>
          <p:cNvPr id="4" name="">
            <a:extLst xmlns:a="http://schemas.openxmlformats.org/drawingml/2006/main">
              <a:ext uri="{FF2B5EF4-FFF2-40B4-BE49-F238E27FC236}">
                <a16:creationId xmlns:a16="http://schemas.microsoft.com/office/drawing/2014/main" id="{8C8BFF26-CA8A-4A1A-8466-1CC8D66102D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A6ED7A7C-73ED-495C-BA29-0444D8D5194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27</a:t>
            </a:r>
          </a:p>
        </p:txBody>
      </p:sp>
      <p:graphicFrame>
        <p:nvGraphicFramePr>
          <p:cNvPr id="15" name=""/>
          <p:cNvGraphicFramePr/>
          <p:nvPr/>
        </p:nvGraphicFramePr>
        <p:xfrm>
          <a:off xmlns:a="http://schemas.openxmlformats.org/drawingml/2006/main" x="514350" y="2076450"/>
          <a:ext xmlns:a="http://schemas.openxmlformats.org/drawingml/2006/main" cx="11163300" cy="2390775"/>
        </p:xfrm>
        <a:graphic xmlns:a="http://schemas.openxmlformats.org/drawingml/2006/main">
          <a:graphicData uri="http://schemas.openxmlformats.org/drawingml/2006/table">
            <a:tbl>
              <a:tblPr/>
              <a:tblGrid>
                <a:gridCol w="2790825"/>
                <a:gridCol w="2790825"/>
                <a:gridCol w="2790825"/>
                <a:gridCol w="2790825"/>
              </a:tblGrid>
              <a:tr h="796925">
                <a:tc>
                  <a:txBody>
                    <a:bodyPr/>
                    <a:lstStyle/>
                    <a:p>
                      <a:pPr algn="ctr"/>
                      <a:r>
                        <a:rPr sz="2025" b="1">
                          <a:solidFill>
                            <a:srgbClr val="2E7D5B"/>
                          </a:solidFill>
                          <a:latin typeface="Noto Sans JP"/>
                          <a:ea typeface="Noto Sans JP"/>
                          <a:cs typeface="Noto Sans JP"/>
                        </a:rPr>
                        <a:t>データ</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VIME：列置換</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VIME：Gaussian copula</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差の95% CI</a:t>
                      </a:r>
                    </a:p>
                  </a:txBody>
                  <a:tcPr marL="91440" marR="91440" marT="45720" marB="45720" anchor="ctr">
                    <a:solidFill>
                      <a:srgbClr val="E7F2EC"/>
                    </a:solidFill>
                  </a:tcPr>
                </a:tc>
              </a:tr>
              <a:tr h="796925">
                <a:tc>
                  <a:txBody>
                    <a:bodyPr/>
                    <a:lstStyle/>
                    <a:p>
                      <a:pPr algn="ctr"/>
                      <a:r>
                        <a:rPr sz="2025"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[−0.005, +0.011]</a:t>
                      </a:r>
                    </a:p>
                  </a:txBody>
                  <a:tcPr marL="91440" marR="91440" marT="45720" marB="45720" anchor="ctr">
                    <a:solidFill>
                      <a:srgbClr val="FFFFFF"/>
                    </a:solidFill>
                  </a:tcPr>
                </a:tc>
              </a:tr>
              <a:tr h="796925">
                <a:tc>
                  <a:txBody>
                    <a:bodyPr/>
                    <a:lstStyle/>
                    <a:p>
                      <a:pPr algn="ctr"/>
                      <a:r>
                        <a:rPr sz="2025"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[−0.079, +0.109]</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B735047A-9A3E-4B3E-8A71-1D6ADC704E84}"/>
              </a:ext>
            </a:extLst>
          </p:cNvPr>
          <p:cNvSpPr>
            <a:spLocks xmlns:a="http://schemas.openxmlformats.org/drawingml/2006/main" noGrp="1"/>
          </p:cNvSpPr>
          <p:nvPr/>
        </p:nvSpPr>
        <p:spPr>
          <a:xfrm xmlns:a="http://schemas.openxmlformats.org/drawingml/2006/main">
            <a:off x="619125" y="47053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E0562B"/>
                </a:solidFill>
                <a:latin typeface="Noto Sans JP"/>
                <a:ea typeface="Noto Sans JP"/>
                <a:cs typeface="Noto Sans JP"/>
              </a:defRPr>
            </a:pPr>
            <a:r>
              <a:rPr sz="2100" b="1">
                <a:solidFill>
                  <a:srgbClr val="E0562B"/>
                </a:solidFill>
                <a:latin typeface="Noto Sans JP"/>
                <a:ea typeface="Noto Sans JP"/>
                <a:cs typeface="Noto Sans JP"/>
              </a:rPr>
              <a:t>平均差は +0.003 / +0.021。ただし、両方の区間が0を含む。</a:t>
            </a:r>
          </a:p>
        </p:txBody>
      </p:sp>
      <p:sp>
        <p:nvSpPr>
          <p:cNvPr id="8" name="">
            <a:extLst xmlns:a="http://schemas.openxmlformats.org/drawingml/2006/main">
              <a:ext uri="{FF2B5EF4-FFF2-40B4-BE49-F238E27FC236}">
                <a16:creationId xmlns:a16="http://schemas.microsoft.com/office/drawing/2014/main" id="{32DE87D4-4456-4740-81C7-F074FEBAA8B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10855D4-1C68-4A0F-8D24-A9B711C5D19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実装と比較の入口はできた。性能改善という結論には、検証が不足</a:t>
            </a:r>
          </a:p>
        </p:txBody>
      </p:sp>
    </p:spTree>
    <p:extLst>
      <p:ext uri="{BB962C8B-B14F-4D97-AF65-F5344CB8AC3E}">
        <p14:creationId xmlns:p14="http://schemas.microsoft.com/office/powerpoint/2010/main" val="206926997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FC680FB-508F-4269-8FD1-9602E570B25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補足：コピュラの数学的条件</a:t>
            </a:r>
          </a:p>
        </p:txBody>
      </p:sp>
      <p:sp>
        <p:nvSpPr>
          <p:cNvPr id="2" name="">
            <a:extLst xmlns:a="http://schemas.openxmlformats.org/drawingml/2006/main">
              <a:ext uri="{FF2B5EF4-FFF2-40B4-BE49-F238E27FC236}">
                <a16:creationId xmlns:a16="http://schemas.microsoft.com/office/drawing/2014/main" id="{4596346E-C377-48BD-BA0D-FB0F47EA10D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912EB12-3BAF-4CBE-8154-A9BE2C9543C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確率分布として成立するための条件を、2変量で書く。</a:t>
            </a:r>
          </a:p>
        </p:txBody>
      </p:sp>
      <p:sp>
        <p:nvSpPr>
          <p:cNvPr id="4" name="">
            <a:extLst xmlns:a="http://schemas.openxmlformats.org/drawingml/2006/main">
              <a:ext uri="{FF2B5EF4-FFF2-40B4-BE49-F238E27FC236}">
                <a16:creationId xmlns:a16="http://schemas.microsoft.com/office/drawing/2014/main" id="{E1943086-B88B-4A8F-84ED-ECE2296B74D2}"/>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CE9E9478-7D36-4595-AE92-FEA707AD927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28</a:t>
            </a:r>
          </a:p>
        </p:txBody>
      </p:sp>
      <p:sp>
        <p:nvSpPr>
          <p:cNvPr id="6" name="">
            <a:extLst xmlns:a="http://schemas.openxmlformats.org/drawingml/2006/main">
              <a:ext uri="{FF2B5EF4-FFF2-40B4-BE49-F238E27FC236}">
                <a16:creationId xmlns:a16="http://schemas.microsoft.com/office/drawing/2014/main" id="{9C936EF1-58DF-4326-BAA6-854E081E1425}"/>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EC20286-55AD-4A63-952B-35A4856E7700}"/>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00" b="1">
                <a:solidFill>
                  <a:srgbClr val="2B6777"/>
                </a:solidFill>
                <a:latin typeface="Noto Sans JP"/>
                <a:ea typeface="Noto Sans JP"/>
                <a:cs typeface="Noto Sans JP"/>
              </a:defRPr>
            </a:pPr>
            <a:r>
              <a:rPr sz="2400" b="1">
                <a:solidFill>
                  <a:srgbClr val="2B6777"/>
                </a:solidFill>
                <a:latin typeface="Noto Sans JP"/>
                <a:ea typeface="Noto Sans JP"/>
                <a:cs typeface="Noto Sans JP"/>
              </a:rPr>
              <a:t>C(u, 0) = C(0, v) = 0 ;  C(u, 1) = u ;  C(1, v) = v</a:t>
            </a:r>
          </a:p>
        </p:txBody>
      </p:sp>
      <p:sp>
        <p:nvSpPr>
          <p:cNvPr id="8" name="">
            <a:extLst xmlns:a="http://schemas.openxmlformats.org/drawingml/2006/main">
              <a:ext uri="{FF2B5EF4-FFF2-40B4-BE49-F238E27FC236}">
                <a16:creationId xmlns:a16="http://schemas.microsoft.com/office/drawing/2014/main" id="{73D648D8-B257-459B-8FD9-0A523381D498}"/>
              </a:ext>
            </a:extLst>
          </p:cNvPr>
          <p:cNvSpPr>
            <a:spLocks xmlns:a="http://schemas.openxmlformats.org/drawingml/2006/main" noGrp="1"/>
          </p:cNvSpPr>
          <p:nvPr/>
        </p:nvSpPr>
        <p:spPr>
          <a:xfrm xmlns:a="http://schemas.openxmlformats.org/drawingml/2006/main">
            <a:off x="628650" y="34671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任意の u₁ ≤ u₂, v₁ ≤ v₂ に対し、</a:t>
            </a:r>
          </a:p>
        </p:txBody>
      </p:sp>
      <p:sp>
        <p:nvSpPr>
          <p:cNvPr id="9" name="">
            <a:extLst xmlns:a="http://schemas.openxmlformats.org/drawingml/2006/main">
              <a:ext uri="{FF2B5EF4-FFF2-40B4-BE49-F238E27FC236}">
                <a16:creationId xmlns:a16="http://schemas.microsoft.com/office/drawing/2014/main" id="{FF15D9DD-50D3-446B-A77B-007613315B91}"/>
              </a:ext>
            </a:extLst>
          </p:cNvPr>
          <p:cNvSpPr>
            <a:spLocks xmlns:a="http://schemas.openxmlformats.org/drawingml/2006/main" noGrp="1"/>
          </p:cNvSpPr>
          <p:nvPr/>
        </p:nvSpPr>
        <p:spPr>
          <a:xfrm xmlns:a="http://schemas.openxmlformats.org/drawingml/2006/main">
            <a:off x="514350" y="39528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3697C56-2FD2-4855-8572-6451C8B5EFED}"/>
              </a:ext>
            </a:extLst>
          </p:cNvPr>
          <p:cNvSpPr>
            <a:spLocks xmlns:a="http://schemas.openxmlformats.org/drawingml/2006/main" noGrp="1"/>
          </p:cNvSpPr>
          <p:nvPr/>
        </p:nvSpPr>
        <p:spPr>
          <a:xfrm xmlns:a="http://schemas.openxmlformats.org/drawingml/2006/main">
            <a:off x="704850" y="40481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C(u₂,v₂) − C(u₁,v₂) − C(u₂,v₁) + C(u₁,v₁) ≥ 0</a:t>
            </a:r>
          </a:p>
        </p:txBody>
      </p:sp>
      <p:sp>
        <p:nvSpPr>
          <p:cNvPr id="11" name="">
            <a:extLst xmlns:a="http://schemas.openxmlformats.org/drawingml/2006/main">
              <a:ext uri="{FF2B5EF4-FFF2-40B4-BE49-F238E27FC236}">
                <a16:creationId xmlns:a16="http://schemas.microsoft.com/office/drawing/2014/main" id="{F43B2000-D1E6-4525-83B9-E96D76E1E15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B2360B9-40E0-46D3-9E87-A4B21FE87F8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左辺は、長方形 (u₁,u₂] × (v₁,v₂] に入る確率</a:t>
            </a:r>
          </a:p>
        </p:txBody>
      </p:sp>
    </p:spTree>
    <p:extLst>
      <p:ext uri="{BB962C8B-B14F-4D97-AF65-F5344CB8AC3E}">
        <p14:creationId xmlns:p14="http://schemas.microsoft.com/office/powerpoint/2010/main" val="3312311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3401A4D-32B6-48F1-894A-1D4B007137F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補足：一様になる理由と例外</a:t>
            </a:r>
          </a:p>
        </p:txBody>
      </p:sp>
      <p:sp>
        <p:nvSpPr>
          <p:cNvPr id="2" name="">
            <a:extLst xmlns:a="http://schemas.openxmlformats.org/drawingml/2006/main">
              <a:ext uri="{FF2B5EF4-FFF2-40B4-BE49-F238E27FC236}">
                <a16:creationId xmlns:a16="http://schemas.microsoft.com/office/drawing/2014/main" id="{BB9B01DD-61A6-4E5A-9680-705EA84A1A4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BBFBDBE-3B36-440A-9675-970C0A301CC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連続な累積分布を使う確率積分変換。</a:t>
            </a:r>
          </a:p>
        </p:txBody>
      </p:sp>
      <p:sp>
        <p:nvSpPr>
          <p:cNvPr id="4" name="">
            <a:extLst xmlns:a="http://schemas.openxmlformats.org/drawingml/2006/main">
              <a:ext uri="{FF2B5EF4-FFF2-40B4-BE49-F238E27FC236}">
                <a16:creationId xmlns:a16="http://schemas.microsoft.com/office/drawing/2014/main" id="{DA968DDF-8600-40EF-8D42-E5351EF41B12}"/>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7779ACD8-8E46-41E1-A12B-4CCE39B2D3A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29</a:t>
            </a:r>
          </a:p>
        </p:txBody>
      </p:sp>
      <p:sp>
        <p:nvSpPr>
          <p:cNvPr id="6" name="">
            <a:extLst xmlns:a="http://schemas.openxmlformats.org/drawingml/2006/main">
              <a:ext uri="{FF2B5EF4-FFF2-40B4-BE49-F238E27FC236}">
                <a16:creationId xmlns:a16="http://schemas.microsoft.com/office/drawing/2014/main" id="{FACABB57-5A08-43D7-8042-1628662BAD38}"/>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3136236-436B-4964-9FCA-436A0243241D}"/>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00" b="1">
                <a:solidFill>
                  <a:srgbClr val="2B6777"/>
                </a:solidFill>
                <a:latin typeface="Noto Sans JP"/>
                <a:ea typeface="Noto Sans JP"/>
                <a:cs typeface="Noto Sans JP"/>
              </a:defRPr>
            </a:pPr>
            <a:r>
              <a:rPr sz="2400" b="1">
                <a:solidFill>
                  <a:srgbClr val="2B6777"/>
                </a:solidFill>
                <a:latin typeface="Noto Sans JP"/>
                <a:ea typeface="Noto Sans JP"/>
                <a:cs typeface="Noto Sans JP"/>
              </a:rPr>
              <a:t>P(U ≤ u) = P(Fₓ(X) ≤ u) = P(X ≤ Fₓ⁻¹(u)) = u</a:t>
            </a:r>
          </a:p>
        </p:txBody>
      </p:sp>
      <p:sp>
        <p:nvSpPr>
          <p:cNvPr id="8" name="">
            <a:extLst xmlns:a="http://schemas.openxmlformats.org/drawingml/2006/main">
              <a:ext uri="{FF2B5EF4-FFF2-40B4-BE49-F238E27FC236}">
                <a16:creationId xmlns:a16="http://schemas.microsoft.com/office/drawing/2014/main" id="{044AD2FC-9BC6-44AB-92DD-3700D80B41E7}"/>
              </a:ext>
            </a:extLst>
          </p:cNvPr>
          <p:cNvSpPr>
            <a:spLocks xmlns:a="http://schemas.openxmlformats.org/drawingml/2006/main" noGrp="1"/>
          </p:cNvSpPr>
          <p:nvPr/>
        </p:nvSpPr>
        <p:spPr>
          <a:xfrm xmlns:a="http://schemas.openxmlformats.org/drawingml/2006/main">
            <a:off x="514350" y="3381375"/>
            <a:ext cx="5314950" cy="18859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B14732F-E656-4452-B7A0-6791998C00CE}"/>
              </a:ext>
            </a:extLst>
          </p:cNvPr>
          <p:cNvSpPr>
            <a:spLocks xmlns:a="http://schemas.openxmlformats.org/drawingml/2006/main" noGrp="1"/>
          </p:cNvSpPr>
          <p:nvPr/>
        </p:nvSpPr>
        <p:spPr>
          <a:xfrm xmlns:a="http://schemas.openxmlformats.org/drawingml/2006/main">
            <a:off x="704850" y="34956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連続な場合</a:t>
            </a:r>
          </a:p>
        </p:txBody>
      </p:sp>
      <p:sp>
        <p:nvSpPr>
          <p:cNvPr id="10" name="">
            <a:extLst xmlns:a="http://schemas.openxmlformats.org/drawingml/2006/main">
              <a:ext uri="{FF2B5EF4-FFF2-40B4-BE49-F238E27FC236}">
                <a16:creationId xmlns:a16="http://schemas.microsoft.com/office/drawing/2014/main" id="{C47F6669-0A78-42BB-8262-97D8B976AEA7}"/>
              </a:ext>
            </a:extLst>
          </p:cNvPr>
          <p:cNvSpPr>
            <a:spLocks xmlns:a="http://schemas.openxmlformats.org/drawingml/2006/main" noGrp="1"/>
          </p:cNvSpPr>
          <p:nvPr/>
        </p:nvSpPr>
        <p:spPr>
          <a:xfrm xmlns:a="http://schemas.openxmlformats.org/drawingml/2006/main">
            <a:off x="704850" y="4048125"/>
            <a:ext cx="49339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累積位置uまでに入る割合はu。</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したがってUは一様になる。</a:t>
            </a:r>
          </a:p>
        </p:txBody>
      </p:sp>
      <p:sp>
        <p:nvSpPr>
          <p:cNvPr id="11" name="">
            <a:extLst xmlns:a="http://schemas.openxmlformats.org/drawingml/2006/main">
              <a:ext uri="{FF2B5EF4-FFF2-40B4-BE49-F238E27FC236}">
                <a16:creationId xmlns:a16="http://schemas.microsoft.com/office/drawing/2014/main" id="{849BBF75-C7BC-482D-8300-42340C603DDE}"/>
              </a:ext>
            </a:extLst>
          </p:cNvPr>
          <p:cNvSpPr>
            <a:spLocks xmlns:a="http://schemas.openxmlformats.org/drawingml/2006/main" noGrp="1"/>
          </p:cNvSpPr>
          <p:nvPr/>
        </p:nvSpPr>
        <p:spPr>
          <a:xfrm xmlns:a="http://schemas.openxmlformats.org/drawingml/2006/main">
            <a:off x="6076950" y="3381375"/>
            <a:ext cx="5600700" cy="18859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09E6C47-7EBA-4C57-A43F-166406EBF91D}"/>
              </a:ext>
            </a:extLst>
          </p:cNvPr>
          <p:cNvSpPr>
            <a:spLocks xmlns:a="http://schemas.openxmlformats.org/drawingml/2006/main" noGrp="1"/>
          </p:cNvSpPr>
          <p:nvPr/>
        </p:nvSpPr>
        <p:spPr>
          <a:xfrm xmlns:a="http://schemas.openxmlformats.org/drawingml/2006/main">
            <a:off x="6267450" y="34956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離散・同値のある場合</a:t>
            </a:r>
          </a:p>
        </p:txBody>
      </p:sp>
      <p:sp>
        <p:nvSpPr>
          <p:cNvPr id="13" name="">
            <a:extLst xmlns:a="http://schemas.openxmlformats.org/drawingml/2006/main">
              <a:ext uri="{FF2B5EF4-FFF2-40B4-BE49-F238E27FC236}">
                <a16:creationId xmlns:a16="http://schemas.microsoft.com/office/drawing/2014/main" id="{FED1D537-02A6-422C-9179-D56C9CBD20FE}"/>
              </a:ext>
            </a:extLst>
          </p:cNvPr>
          <p:cNvSpPr>
            <a:spLocks xmlns:a="http://schemas.openxmlformats.org/drawingml/2006/main" noGrp="1"/>
          </p:cNvSpPr>
          <p:nvPr/>
        </p:nvSpPr>
        <p:spPr>
          <a:xfrm xmlns:a="http://schemas.openxmlformats.org/drawingml/2006/main">
            <a:off x="6267450" y="4048125"/>
            <a:ext cx="52197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位置に飛びができる。</a:t>
            </a:r>
          </a:p>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F(X)が連続一様とは限らない。</a:t>
            </a:r>
          </a:p>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連続モデルの式をそのまま使わない。</a:t>
            </a:r>
          </a:p>
        </p:txBody>
      </p:sp>
      <p:sp>
        <p:nvSpPr>
          <p:cNvPr id="14" name="">
            <a:extLst xmlns:a="http://schemas.openxmlformats.org/drawingml/2006/main">
              <a:ext uri="{FF2B5EF4-FFF2-40B4-BE49-F238E27FC236}">
                <a16:creationId xmlns:a16="http://schemas.microsoft.com/office/drawing/2014/main" id="{3F582B33-9CFA-4DA8-BC17-EBCCF2D92D2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8B77317-E2BB-4666-8CA8-539360411BD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「連続な周辺分布」という前提を付けて説明する</a:t>
            </a:r>
          </a:p>
        </p:txBody>
      </p:sp>
    </p:spTree>
    <p:extLst>
      <p:ext uri="{BB962C8B-B14F-4D97-AF65-F5344CB8AC3E}">
        <p14:creationId xmlns:p14="http://schemas.microsoft.com/office/powerpoint/2010/main" val="190097205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8FA3137-6879-4CD0-84DB-CB338DCF18F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補足：密度と条件付き分布</a:t>
            </a:r>
          </a:p>
        </p:txBody>
      </p:sp>
      <p:sp>
        <p:nvSpPr>
          <p:cNvPr id="2" name="">
            <a:extLst xmlns:a="http://schemas.openxmlformats.org/drawingml/2006/main">
              <a:ext uri="{FF2B5EF4-FFF2-40B4-BE49-F238E27FC236}">
                <a16:creationId xmlns:a16="http://schemas.microsoft.com/office/drawing/2014/main" id="{60C7116B-2FEF-4956-84D0-E7E8127F5C2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F86C72B-6CCD-41C3-AAFF-9BE363BD81C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累積分布Cと、密度cは違うもの。</a:t>
            </a:r>
          </a:p>
        </p:txBody>
      </p:sp>
      <p:sp>
        <p:nvSpPr>
          <p:cNvPr id="4" name="">
            <a:extLst xmlns:a="http://schemas.openxmlformats.org/drawingml/2006/main">
              <a:ext uri="{FF2B5EF4-FFF2-40B4-BE49-F238E27FC236}">
                <a16:creationId xmlns:a16="http://schemas.microsoft.com/office/drawing/2014/main" id="{0FF410C9-ECD9-4341-84AD-D594FD017642}"/>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1348AD7E-0FBC-4CD9-B7A3-A9DCF5C8BBE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30</a:t>
            </a:r>
          </a:p>
        </p:txBody>
      </p:sp>
      <p:sp>
        <p:nvSpPr>
          <p:cNvPr id="6" name="">
            <a:extLst xmlns:a="http://schemas.openxmlformats.org/drawingml/2006/main">
              <a:ext uri="{FF2B5EF4-FFF2-40B4-BE49-F238E27FC236}">
                <a16:creationId xmlns:a16="http://schemas.microsoft.com/office/drawing/2014/main" id="{BBA6B95F-2344-41C7-A3A2-F894318A839A}"/>
              </a:ext>
            </a:extLst>
          </p:cNvPr>
          <p:cNvSpPr>
            <a:spLocks xmlns:a="http://schemas.openxmlformats.org/drawingml/2006/main" noGrp="1"/>
          </p:cNvSpPr>
          <p:nvPr/>
        </p:nvSpPr>
        <p:spPr>
          <a:xfrm xmlns:a="http://schemas.openxmlformats.org/drawingml/2006/main">
            <a:off x="514350" y="18859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B17320E-14E8-4FE3-8B8E-D1726FA9EF1B}"/>
              </a:ext>
            </a:extLst>
          </p:cNvPr>
          <p:cNvSpPr>
            <a:spLocks xmlns:a="http://schemas.openxmlformats.org/drawingml/2006/main" noGrp="1"/>
          </p:cNvSpPr>
          <p:nvPr/>
        </p:nvSpPr>
        <p:spPr>
          <a:xfrm xmlns:a="http://schemas.openxmlformats.org/drawingml/2006/main">
            <a:off x="704850" y="19812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00" b="1">
                <a:solidFill>
                  <a:srgbClr val="2B6777"/>
                </a:solidFill>
                <a:latin typeface="Noto Sans JP"/>
                <a:ea typeface="Noto Sans JP"/>
                <a:cs typeface="Noto Sans JP"/>
              </a:defRPr>
            </a:pPr>
            <a:r>
              <a:rPr sz="3000" b="1">
                <a:solidFill>
                  <a:srgbClr val="2B6777"/>
                </a:solidFill>
                <a:latin typeface="Noto Sans JP"/>
                <a:ea typeface="Noto Sans JP"/>
                <a:cs typeface="Noto Sans JP"/>
              </a:rPr>
              <a:t>c(u, v) = ∂²C(u, v) / (∂u ∂v)</a:t>
            </a:r>
          </a:p>
        </p:txBody>
      </p:sp>
      <p:sp>
        <p:nvSpPr>
          <p:cNvPr id="8" name="">
            <a:extLst xmlns:a="http://schemas.openxmlformats.org/drawingml/2006/main">
              <a:ext uri="{FF2B5EF4-FFF2-40B4-BE49-F238E27FC236}">
                <a16:creationId xmlns:a16="http://schemas.microsoft.com/office/drawing/2014/main" id="{D9442B4E-22FF-4F0B-BF09-CE3B8D790AA7}"/>
              </a:ext>
            </a:extLst>
          </p:cNvPr>
          <p:cNvSpPr>
            <a:spLocks xmlns:a="http://schemas.openxmlformats.org/drawingml/2006/main" noGrp="1"/>
          </p:cNvSpPr>
          <p:nvPr/>
        </p:nvSpPr>
        <p:spPr>
          <a:xfrm xmlns:a="http://schemas.openxmlformats.org/drawingml/2006/main">
            <a:off x="514350" y="31908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8C36D3D-CF9C-457E-9FA9-D2C72DB44924}"/>
              </a:ext>
            </a:extLst>
          </p:cNvPr>
          <p:cNvSpPr>
            <a:spLocks xmlns:a="http://schemas.openxmlformats.org/drawingml/2006/main" noGrp="1"/>
          </p:cNvSpPr>
          <p:nvPr/>
        </p:nvSpPr>
        <p:spPr>
          <a:xfrm xmlns:a="http://schemas.openxmlformats.org/drawingml/2006/main">
            <a:off x="704850" y="32861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75" b="1">
                <a:solidFill>
                  <a:srgbClr val="2B6777"/>
                </a:solidFill>
                <a:latin typeface="Noto Sans JP"/>
                <a:ea typeface="Noto Sans JP"/>
                <a:cs typeface="Noto Sans JP"/>
              </a:defRPr>
            </a:pPr>
            <a:r>
              <a:rPr sz="2475" b="1">
                <a:solidFill>
                  <a:srgbClr val="2B6777"/>
                </a:solidFill>
                <a:latin typeface="Noto Sans JP"/>
                <a:ea typeface="Noto Sans JP"/>
                <a:cs typeface="Noto Sans JP"/>
              </a:rPr>
              <a:t>fₓᵧ(x, y) = c(Fₓ(x), Fᵧ(y)) × fₓ(x) × fᵧ(y)</a:t>
            </a:r>
          </a:p>
        </p:txBody>
      </p:sp>
      <p:sp>
        <p:nvSpPr>
          <p:cNvPr id="10" name="">
            <a:extLst xmlns:a="http://schemas.openxmlformats.org/drawingml/2006/main">
              <a:ext uri="{FF2B5EF4-FFF2-40B4-BE49-F238E27FC236}">
                <a16:creationId xmlns:a16="http://schemas.microsoft.com/office/drawing/2014/main" id="{6D22B29B-4CB8-4E5F-A56A-1F8BF2317BC3}"/>
              </a:ext>
            </a:extLst>
          </p:cNvPr>
          <p:cNvSpPr>
            <a:spLocks xmlns:a="http://schemas.openxmlformats.org/drawingml/2006/main" noGrp="1"/>
          </p:cNvSpPr>
          <p:nvPr/>
        </p:nvSpPr>
        <p:spPr>
          <a:xfrm xmlns:a="http://schemas.openxmlformats.org/drawingml/2006/main">
            <a:off x="514350" y="44577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2CC7DDA-AB60-4E66-947D-8D2284414BE6}"/>
              </a:ext>
            </a:extLst>
          </p:cNvPr>
          <p:cNvSpPr>
            <a:spLocks xmlns:a="http://schemas.openxmlformats.org/drawingml/2006/main" noGrp="1"/>
          </p:cNvSpPr>
          <p:nvPr/>
        </p:nvSpPr>
        <p:spPr>
          <a:xfrm xmlns:a="http://schemas.openxmlformats.org/drawingml/2006/main">
            <a:off x="704850" y="45529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75" b="1">
                <a:solidFill>
                  <a:srgbClr val="2B6777"/>
                </a:solidFill>
                <a:latin typeface="Noto Sans JP"/>
                <a:ea typeface="Noto Sans JP"/>
                <a:cs typeface="Noto Sans JP"/>
              </a:defRPr>
            </a:pPr>
            <a:r>
              <a:rPr sz="2475" b="1">
                <a:solidFill>
                  <a:srgbClr val="2B6777"/>
                </a:solidFill>
                <a:latin typeface="Noto Sans JP"/>
                <a:ea typeface="Noto Sans JP"/>
                <a:cs typeface="Noto Sans JP"/>
              </a:rPr>
              <a:t>fᵧ|ₓ(y | x) = c(Fₓ(x), Fᵧ(y)) × fᵧ(y)</a:t>
            </a:r>
          </a:p>
        </p:txBody>
      </p:sp>
      <p:sp>
        <p:nvSpPr>
          <p:cNvPr id="12" name="">
            <a:extLst xmlns:a="http://schemas.openxmlformats.org/drawingml/2006/main">
              <a:ext uri="{FF2B5EF4-FFF2-40B4-BE49-F238E27FC236}">
                <a16:creationId xmlns:a16="http://schemas.microsoft.com/office/drawing/2014/main" id="{84CE7E03-9710-4645-AA16-1FE23641CC9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008E1A7-60C3-4DC9-8948-08BCDDCF7EF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密度が存在する場合の式。すべてのコピュラに密度があるわけではない</a:t>
            </a:r>
          </a:p>
        </p:txBody>
      </p:sp>
    </p:spTree>
    <p:extLst>
      <p:ext uri="{BB962C8B-B14F-4D97-AF65-F5344CB8AC3E}">
        <p14:creationId xmlns:p14="http://schemas.microsoft.com/office/powerpoint/2010/main" val="213855798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3226821-5AF4-4869-AD38-8F197DFAA59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補足：Gaussian copulaの正式な式</a:t>
            </a:r>
          </a:p>
        </p:txBody>
      </p:sp>
      <p:sp>
        <p:nvSpPr>
          <p:cNvPr id="2" name="">
            <a:extLst xmlns:a="http://schemas.openxmlformats.org/drawingml/2006/main">
              <a:ext uri="{FF2B5EF4-FFF2-40B4-BE49-F238E27FC236}">
                <a16:creationId xmlns:a16="http://schemas.microsoft.com/office/drawing/2014/main" id="{E01C9AFD-754F-4707-9DC9-BF9237F41B6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B83417A-87E9-4455-87F5-BD53C9DCCF9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ΦRは相関Rを持つ、多変量標準正規の累積分布。</a:t>
            </a:r>
          </a:p>
        </p:txBody>
      </p:sp>
      <p:sp>
        <p:nvSpPr>
          <p:cNvPr id="4" name="">
            <a:extLst xmlns:a="http://schemas.openxmlformats.org/drawingml/2006/main">
              <a:ext uri="{FF2B5EF4-FFF2-40B4-BE49-F238E27FC236}">
                <a16:creationId xmlns:a16="http://schemas.microsoft.com/office/drawing/2014/main" id="{1B365108-CAC4-4DD1-99BD-7417DF3FB8D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2B897B28-DAB1-4A30-9FC8-C66BCDCC6F5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31</a:t>
            </a:r>
          </a:p>
        </p:txBody>
      </p:sp>
      <p:sp>
        <p:nvSpPr>
          <p:cNvPr id="6" name="">
            <a:extLst xmlns:a="http://schemas.openxmlformats.org/drawingml/2006/main">
              <a:ext uri="{FF2B5EF4-FFF2-40B4-BE49-F238E27FC236}">
                <a16:creationId xmlns:a16="http://schemas.microsoft.com/office/drawing/2014/main" id="{5AEF1DB2-BDB9-4A87-ABFC-7C84C6541E1D}"/>
              </a:ext>
            </a:extLst>
          </p:cNvPr>
          <p:cNvSpPr>
            <a:spLocks xmlns:a="http://schemas.openxmlformats.org/drawingml/2006/main" noGrp="1"/>
          </p:cNvSpPr>
          <p:nvPr/>
        </p:nvSpPr>
        <p:spPr>
          <a:xfrm xmlns:a="http://schemas.openxmlformats.org/drawingml/2006/main">
            <a:off x="514350" y="19812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00B47EE-2FFC-4574-8DB0-931B3DEC2E15}"/>
              </a:ext>
            </a:extLst>
          </p:cNvPr>
          <p:cNvSpPr>
            <a:spLocks xmlns:a="http://schemas.openxmlformats.org/drawingml/2006/main" noGrp="1"/>
          </p:cNvSpPr>
          <p:nvPr/>
        </p:nvSpPr>
        <p:spPr>
          <a:xfrm xmlns:a="http://schemas.openxmlformats.org/drawingml/2006/main">
            <a:off x="704850" y="20764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625" b="1">
                <a:solidFill>
                  <a:srgbClr val="2B6777"/>
                </a:solidFill>
                <a:latin typeface="Noto Sans JP"/>
                <a:ea typeface="Noto Sans JP"/>
                <a:cs typeface="Noto Sans JP"/>
              </a:defRPr>
            </a:pPr>
            <a:r>
              <a:rPr sz="2625" b="1">
                <a:solidFill>
                  <a:srgbClr val="2B6777"/>
                </a:solidFill>
                <a:latin typeface="Noto Sans JP"/>
                <a:ea typeface="Noto Sans JP"/>
                <a:cs typeface="Noto Sans JP"/>
              </a:rPr>
              <a:t>C_R(u₁, …, u_d) = Φ_R(Φ⁻¹(u₁), …, Φ⁻¹(u_d))</a:t>
            </a:r>
          </a:p>
        </p:txBody>
      </p:sp>
      <p:sp>
        <p:nvSpPr>
          <p:cNvPr id="8" name="">
            <a:extLst xmlns:a="http://schemas.openxmlformats.org/drawingml/2006/main">
              <a:ext uri="{FF2B5EF4-FFF2-40B4-BE49-F238E27FC236}">
                <a16:creationId xmlns:a16="http://schemas.microsoft.com/office/drawing/2014/main" id="{607D1A94-6944-4AE7-A66B-EFD64F695576}"/>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37F2C9A3-D6DF-40DE-A2FA-3F1FCCD1B1BE}"/>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各 uⱼ を標準正規のしきい値 zⱼへ変換する。</a:t>
            </a:r>
          </a:p>
        </p:txBody>
      </p:sp>
      <p:sp>
        <p:nvSpPr>
          <p:cNvPr id="10" name="">
            <a:extLst xmlns:a="http://schemas.openxmlformats.org/drawingml/2006/main">
              <a:ext uri="{FF2B5EF4-FFF2-40B4-BE49-F238E27FC236}">
                <a16:creationId xmlns:a16="http://schemas.microsoft.com/office/drawing/2014/main" id="{0E6490E0-6905-48E8-8B76-CCFE930F82FE}"/>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9A62E0D3-BC92-4C1A-BA9D-6B7FBBE7BDD8}"/>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多変量正規モデルで P(Z₁ ≤ z₁, …, Z_d ≤ z_d) を求める。</a:t>
            </a:r>
          </a:p>
        </p:txBody>
      </p:sp>
      <p:sp>
        <p:nvSpPr>
          <p:cNvPr id="12" name="">
            <a:extLst xmlns:a="http://schemas.openxmlformats.org/drawingml/2006/main">
              <a:ext uri="{FF2B5EF4-FFF2-40B4-BE49-F238E27FC236}">
                <a16:creationId xmlns:a16="http://schemas.microsoft.com/office/drawing/2014/main" id="{F52EBEB1-6916-4ED1-B368-09CF52F63659}"/>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0FCD17D2-4164-422C-A5B1-7591AF47500F}"/>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Rは、元の特徴のPearson相関行列とは一般に違う。</a:t>
            </a:r>
          </a:p>
        </p:txBody>
      </p:sp>
      <p:sp>
        <p:nvSpPr>
          <p:cNvPr id="14" name="">
            <a:extLst xmlns:a="http://schemas.openxmlformats.org/drawingml/2006/main">
              <a:ext uri="{FF2B5EF4-FFF2-40B4-BE49-F238E27FC236}">
                <a16:creationId xmlns:a16="http://schemas.microsoft.com/office/drawing/2014/main" id="{F3861E9A-79CC-42C1-8A91-58E4C50D78C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59AE9BD-44AD-491E-92DB-25D50ED0EED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各列の形は自由にし、位置の同時分布へ正規の仮定を置く</a:t>
            </a:r>
          </a:p>
        </p:txBody>
      </p:sp>
    </p:spTree>
    <p:extLst>
      <p:ext uri="{BB962C8B-B14F-4D97-AF65-F5344CB8AC3E}">
        <p14:creationId xmlns:p14="http://schemas.microsoft.com/office/powerpoint/2010/main" val="168154645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0C024FF-3A5A-485B-ABFD-3E74DFA5F8F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補足：多変量の条件付き生成</a:t>
            </a:r>
          </a:p>
        </p:txBody>
      </p:sp>
      <p:sp>
        <p:nvSpPr>
          <p:cNvPr id="2" name="">
            <a:extLst xmlns:a="http://schemas.openxmlformats.org/drawingml/2006/main">
              <a:ext uri="{FF2B5EF4-FFF2-40B4-BE49-F238E27FC236}">
                <a16:creationId xmlns:a16="http://schemas.microsoft.com/office/drawing/2014/main" id="{99DFDA5F-38E5-45F5-956A-E8D003BD696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AB939AA-8873-4D5F-A4EB-A86D4978E62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M：置換する列、O：そのまま残す列。</a:t>
            </a:r>
          </a:p>
        </p:txBody>
      </p:sp>
      <p:sp>
        <p:nvSpPr>
          <p:cNvPr id="4" name="">
            <a:extLst xmlns:a="http://schemas.openxmlformats.org/drawingml/2006/main">
              <a:ext uri="{FF2B5EF4-FFF2-40B4-BE49-F238E27FC236}">
                <a16:creationId xmlns:a16="http://schemas.microsoft.com/office/drawing/2014/main" id="{6A3D5B1D-798D-447B-83DD-B60E7B80CF9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7DEA3FCD-9D36-4AC5-9E87-8D2CFE61885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32</a:t>
            </a:r>
          </a:p>
        </p:txBody>
      </p:sp>
      <p:sp>
        <p:nvSpPr>
          <p:cNvPr id="6" name="">
            <a:extLst xmlns:a="http://schemas.openxmlformats.org/drawingml/2006/main">
              <a:ext uri="{FF2B5EF4-FFF2-40B4-BE49-F238E27FC236}">
                <a16:creationId xmlns:a16="http://schemas.microsoft.com/office/drawing/2014/main" id="{0ACBC9DC-CB04-4CFD-8204-46A3C3507E2C}"/>
              </a:ext>
            </a:extLst>
          </p:cNvPr>
          <p:cNvSpPr>
            <a:spLocks xmlns:a="http://schemas.openxmlformats.org/drawingml/2006/main" noGrp="1"/>
          </p:cNvSpPr>
          <p:nvPr/>
        </p:nvSpPr>
        <p:spPr>
          <a:xfrm xmlns:a="http://schemas.openxmlformats.org/drawingml/2006/main">
            <a:off x="514350" y="18288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6B6B598-ADA2-4581-BD2D-7D3F3035737B}"/>
              </a:ext>
            </a:extLst>
          </p:cNvPr>
          <p:cNvSpPr>
            <a:spLocks xmlns:a="http://schemas.openxmlformats.org/drawingml/2006/main" noGrp="1"/>
          </p:cNvSpPr>
          <p:nvPr/>
        </p:nvSpPr>
        <p:spPr>
          <a:xfrm xmlns:a="http://schemas.openxmlformats.org/drawingml/2006/main">
            <a:off x="704850" y="19240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850" b="1">
                <a:solidFill>
                  <a:srgbClr val="2B6777"/>
                </a:solidFill>
                <a:latin typeface="Noto Sans JP"/>
                <a:ea typeface="Noto Sans JP"/>
                <a:cs typeface="Noto Sans JP"/>
              </a:defRPr>
            </a:pPr>
            <a:r>
              <a:rPr sz="2850" b="1">
                <a:solidFill>
                  <a:srgbClr val="2B6777"/>
                </a:solidFill>
                <a:latin typeface="Noto Sans JP"/>
                <a:ea typeface="Noto Sans JP"/>
                <a:cs typeface="Noto Sans JP"/>
              </a:rPr>
              <a:t>Z_M | Z_O = z_O ~ N(μ_M|O, Σ_M|O)</a:t>
            </a:r>
          </a:p>
        </p:txBody>
      </p:sp>
      <p:sp>
        <p:nvSpPr>
          <p:cNvPr id="8" name="">
            <a:extLst xmlns:a="http://schemas.openxmlformats.org/drawingml/2006/main">
              <a:ext uri="{FF2B5EF4-FFF2-40B4-BE49-F238E27FC236}">
                <a16:creationId xmlns:a16="http://schemas.microsoft.com/office/drawing/2014/main" id="{055CF662-6D00-4F4E-A098-AB266FD88682}"/>
              </a:ext>
            </a:extLst>
          </p:cNvPr>
          <p:cNvSpPr>
            <a:spLocks xmlns:a="http://schemas.openxmlformats.org/drawingml/2006/main" noGrp="1"/>
          </p:cNvSpPr>
          <p:nvPr/>
        </p:nvSpPr>
        <p:spPr>
          <a:xfrm xmlns:a="http://schemas.openxmlformats.org/drawingml/2006/main">
            <a:off x="514350" y="30575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4C56C71-2375-4E7E-A026-93916EBEB1C8}"/>
              </a:ext>
            </a:extLst>
          </p:cNvPr>
          <p:cNvSpPr>
            <a:spLocks xmlns:a="http://schemas.openxmlformats.org/drawingml/2006/main" noGrp="1"/>
          </p:cNvSpPr>
          <p:nvPr/>
        </p:nvSpPr>
        <p:spPr>
          <a:xfrm xmlns:a="http://schemas.openxmlformats.org/drawingml/2006/main">
            <a:off x="704850" y="31527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μ_M|O = R_MO R_OO⁻¹ z_O</a:t>
            </a:r>
          </a:p>
        </p:txBody>
      </p:sp>
      <p:sp>
        <p:nvSpPr>
          <p:cNvPr id="10" name="">
            <a:extLst xmlns:a="http://schemas.openxmlformats.org/drawingml/2006/main">
              <a:ext uri="{FF2B5EF4-FFF2-40B4-BE49-F238E27FC236}">
                <a16:creationId xmlns:a16="http://schemas.microsoft.com/office/drawing/2014/main" id="{E9D50FC2-A568-44E3-BB55-6A3B976E80BD}"/>
              </a:ext>
            </a:extLst>
          </p:cNvPr>
          <p:cNvSpPr>
            <a:spLocks xmlns:a="http://schemas.openxmlformats.org/drawingml/2006/main" noGrp="1"/>
          </p:cNvSpPr>
          <p:nvPr/>
        </p:nvSpPr>
        <p:spPr>
          <a:xfrm xmlns:a="http://schemas.openxmlformats.org/drawingml/2006/main">
            <a:off x="514350" y="42862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9CC12D9-8E36-4CF4-A6FC-138E10B67F69}"/>
              </a:ext>
            </a:extLst>
          </p:cNvPr>
          <p:cNvSpPr>
            <a:spLocks xmlns:a="http://schemas.openxmlformats.org/drawingml/2006/main" noGrp="1"/>
          </p:cNvSpPr>
          <p:nvPr/>
        </p:nvSpPr>
        <p:spPr>
          <a:xfrm xmlns:a="http://schemas.openxmlformats.org/drawingml/2006/main">
            <a:off x="704850" y="43815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Σ_M|O = R_MM − R_MO R_OO⁻¹ R_OM</a:t>
            </a:r>
          </a:p>
        </p:txBody>
      </p:sp>
      <p:sp>
        <p:nvSpPr>
          <p:cNvPr id="12" name="">
            <a:extLst xmlns:a="http://schemas.openxmlformats.org/drawingml/2006/main">
              <a:ext uri="{FF2B5EF4-FFF2-40B4-BE49-F238E27FC236}">
                <a16:creationId xmlns:a16="http://schemas.microsoft.com/office/drawing/2014/main" id="{91BB1E32-2319-4B50-86E2-1B69D3C621C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9E890F2-F034-40ED-A412-EB90D3F4F1E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平均で「合う位置」へ移し、共分散で「残るばらつき」を生成する</a:t>
            </a:r>
          </a:p>
        </p:txBody>
      </p:sp>
    </p:spTree>
    <p:extLst>
      <p:ext uri="{BB962C8B-B14F-4D97-AF65-F5344CB8AC3E}">
        <p14:creationId xmlns:p14="http://schemas.microsoft.com/office/powerpoint/2010/main" val="105783328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5665188-4096-4936-A86F-BC2DBE0AE3E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補足：実装の数値上の扱い</a:t>
            </a:r>
          </a:p>
        </p:txBody>
      </p:sp>
      <p:sp>
        <p:nvSpPr>
          <p:cNvPr id="2" name="">
            <a:extLst xmlns:a="http://schemas.openxmlformats.org/drawingml/2006/main">
              <a:ext uri="{FF2B5EF4-FFF2-40B4-BE49-F238E27FC236}">
                <a16:creationId xmlns:a16="http://schemas.microsoft.com/office/drawing/2014/main" id="{C23B109F-578E-4D6C-9B61-9EA8FC4BD94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5EC0E34-DC1F-4212-A7EE-C35AED0DBD3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確率端点、相関行列、逆分位点に近似と安定化が入る。</a:t>
            </a:r>
          </a:p>
        </p:txBody>
      </p:sp>
      <p:sp>
        <p:nvSpPr>
          <p:cNvPr id="4" name="">
            <a:extLst xmlns:a="http://schemas.openxmlformats.org/drawingml/2006/main">
              <a:ext uri="{FF2B5EF4-FFF2-40B4-BE49-F238E27FC236}">
                <a16:creationId xmlns:a16="http://schemas.microsoft.com/office/drawing/2014/main" id="{D8E8EF36-F4E8-4887-8B13-551D9BBBB22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060FE87E-B844-4BDB-8941-B02ADB23C1A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33</a:t>
            </a:r>
          </a:p>
        </p:txBody>
      </p:sp>
      <p:graphicFrame>
        <p:nvGraphicFramePr>
          <p:cNvPr id="14" name=""/>
          <p:cNvGraphicFramePr/>
          <p:nvPr/>
        </p:nvGraphicFramePr>
        <p:xfrm>
          <a:off xmlns:a="http://schemas.openxmlformats.org/drawingml/2006/main" x="514350" y="1971675"/>
          <a:ext xmlns:a="http://schemas.openxmlformats.org/drawingml/2006/main" cx="11163300" cy="3352800"/>
        </p:xfrm>
        <a:graphic xmlns:a="http://schemas.openxmlformats.org/drawingml/2006/main">
          <a:graphicData uri="http://schemas.openxmlformats.org/drawingml/2006/table">
            <a:tbl>
              <a:tblPr/>
              <a:tblGrid>
                <a:gridCol w="2667000"/>
                <a:gridCol w="8496300"/>
              </a:tblGrid>
              <a:tr h="558800">
                <a:tc>
                  <a:txBody>
                    <a:bodyPr/>
                    <a:lstStyle/>
                    <a:p>
                      <a:pPr algn="ctr"/>
                      <a:r>
                        <a:rPr sz="1725" b="1">
                          <a:solidFill>
                            <a:srgbClr val="2E7D5B"/>
                          </a:solidFill>
                          <a:latin typeface="Noto Sans JP"/>
                          <a:ea typeface="Noto Sans JP"/>
                          <a:cs typeface="Noto Sans JP"/>
                        </a:rPr>
                        <a:t>段階</a:t>
                      </a:r>
                    </a:p>
                  </a:txBody>
                  <a:tcPr marL="91440" marR="91440" marT="45720" marB="45720" anchor="ctr">
                    <a:solidFill>
                      <a:srgbClr val="E7F2EC"/>
                    </a:solidFill>
                  </a:tcPr>
                </a:tc>
                <a:tc>
                  <a:txBody>
                    <a:bodyPr/>
                    <a:lstStyle/>
                    <a:p>
                      <a:pPr algn="ctr"/>
                      <a:r>
                        <a:rPr sz="1725" b="1">
                          <a:solidFill>
                            <a:srgbClr val="2E7D5B"/>
                          </a:solidFill>
                          <a:latin typeface="Noto Sans JP"/>
                          <a:ea typeface="Noto Sans JP"/>
                          <a:cs typeface="Noto Sans JP"/>
                        </a:rPr>
                        <a:t>現在の実装</a:t>
                      </a:r>
                    </a:p>
                  </a:txBody>
                  <a:tcPr marL="91440" marR="91440" marT="45720" marB="45720" anchor="ctr">
                    <a:solidFill>
                      <a:srgbClr val="E7F2EC"/>
                    </a:solidFill>
                  </a:tcPr>
                </a:tc>
              </a:tr>
              <a:tr h="558800">
                <a:tc>
                  <a:txBody>
                    <a:bodyPr/>
                    <a:lstStyle/>
                    <a:p>
                      <a:pPr algn="ctr"/>
                      <a:r>
                        <a:rPr sz="1725" b="0">
                          <a:solidFill>
                            <a:srgbClr val="222222"/>
                          </a:solidFill>
                          <a:latin typeface="Noto Sans JP"/>
                          <a:ea typeface="Noto Sans JP"/>
                          <a:cs typeface="Noto Sans JP"/>
                        </a:rPr>
                        <a:t>周辺の位置</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平均順位、u=(r−0.5)/n、[10⁻⁶, 1−10⁻⁶]へクリップ</a:t>
                      </a:r>
                    </a:p>
                  </a:txBody>
                  <a:tcPr marL="91440" marR="91440" marT="45720" marB="45720" anchor="ctr">
                    <a:solidFill>
                      <a:srgbClr val="FFFFFF"/>
                    </a:solidFill>
                  </a:tcPr>
                </a:tc>
              </a:tr>
              <a:tr h="558800">
                <a:tc>
                  <a:txBody>
                    <a:bodyPr/>
                    <a:lstStyle/>
                    <a:p>
                      <a:pPr algn="ctr"/>
                      <a:r>
                        <a:rPr sz="1725" b="0">
                          <a:solidFill>
                            <a:srgbClr val="222222"/>
                          </a:solidFill>
                          <a:latin typeface="Noto Sans JP"/>
                          <a:ea typeface="Noto Sans JP"/>
                          <a:cs typeface="Noto Sans JP"/>
                        </a:rPr>
                        <a:t>相関推定</a:t>
                      </a:r>
                    </a:p>
                  </a:txBody>
                  <a:tcPr marL="91440" marR="91440" marT="45720" marB="45720" anchor="ctr">
                    <a:solidFill>
                      <a:srgbClr val="F6F6F6"/>
                    </a:solidFill>
                  </a:tcPr>
                </a:tc>
                <a:tc>
                  <a:txBody>
                    <a:bodyPr/>
                    <a:lstStyle/>
                    <a:p>
                      <a:pPr algn="ctr"/>
                      <a:r>
                        <a:rPr sz="1725" b="0">
                          <a:solidFill>
                            <a:srgbClr val="222222"/>
                          </a:solidFill>
                          <a:latin typeface="Noto Sans JP"/>
                          <a:ea typeface="Noto Sans JP"/>
                          <a:cs typeface="Noto Sans JP"/>
                        </a:rPr>
                        <a:t>潜在値の相関、0.05の対角縮小、固有値補正</a:t>
                      </a:r>
                    </a:p>
                  </a:txBody>
                  <a:tcPr marL="91440" marR="91440" marT="45720" marB="45720" anchor="ctr">
                    <a:solidFill>
                      <a:srgbClr val="F6F6F6"/>
                    </a:solidFill>
                  </a:tcPr>
                </a:tc>
              </a:tr>
              <a:tr h="558800">
                <a:tc>
                  <a:txBody>
                    <a:bodyPr/>
                    <a:lstStyle/>
                    <a:p>
                      <a:pPr algn="ctr"/>
                      <a:r>
                        <a:rPr sz="1725" b="0">
                          <a:solidFill>
                            <a:srgbClr val="222222"/>
                          </a:solidFill>
                          <a:latin typeface="Noto Sans JP"/>
                          <a:ea typeface="Noto Sans JP"/>
                          <a:cs typeface="Noto Sans JP"/>
                        </a:rPr>
                        <a:t>条件付き生成</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solve・共分散の対称化・微小対角補正・Cholesky</a:t>
                      </a:r>
                    </a:p>
                  </a:txBody>
                  <a:tcPr marL="91440" marR="91440" marT="45720" marB="45720" anchor="ctr">
                    <a:solidFill>
                      <a:srgbClr val="FFFFFF"/>
                    </a:solidFill>
                  </a:tcPr>
                </a:tc>
              </a:tr>
              <a:tr h="558800">
                <a:tc>
                  <a:txBody>
                    <a:bodyPr/>
                    <a:lstStyle/>
                    <a:p>
                      <a:pPr algn="ctr"/>
                      <a:r>
                        <a:rPr sz="1725" b="0">
                          <a:solidFill>
                            <a:srgbClr val="222222"/>
                          </a:solidFill>
                          <a:latin typeface="Noto Sans JP"/>
                          <a:ea typeface="Noto Sans JP"/>
                          <a:cs typeface="Noto Sans JP"/>
                        </a:rPr>
                        <a:t>元単位へ</a:t>
                      </a:r>
                    </a:p>
                  </a:txBody>
                  <a:tcPr marL="91440" marR="91440" marT="45720" marB="45720" anchor="ctr">
                    <a:solidFill>
                      <a:srgbClr val="F6F6F6"/>
                    </a:solidFill>
                  </a:tcPr>
                </a:tc>
                <a:tc>
                  <a:txBody>
                    <a:bodyPr/>
                    <a:lstStyle/>
                    <a:p>
                      <a:pPr algn="ctr"/>
                      <a:r>
                        <a:rPr sz="1725" b="0">
                          <a:solidFill>
                            <a:srgbClr val="222222"/>
                          </a:solidFill>
                          <a:latin typeface="Noto Sans JP"/>
                          <a:ea typeface="Noto Sans JP"/>
                          <a:cs typeface="Noto Sans JP"/>
                        </a:rPr>
                        <a:t>Φ(z) → 経験分位点を線形補間（未観測の値もあり得る）</a:t>
                      </a:r>
                    </a:p>
                  </a:txBody>
                  <a:tcPr marL="91440" marR="91440" marT="45720" marB="45720" anchor="ctr">
                    <a:solidFill>
                      <a:srgbClr val="F6F6F6"/>
                    </a:solidFill>
                  </a:tcPr>
                </a:tc>
              </a:tr>
              <a:tr h="558800">
                <a:tc>
                  <a:txBody>
                    <a:bodyPr/>
                    <a:lstStyle/>
                    <a:p>
                      <a:pPr algn="ctr"/>
                      <a:r>
                        <a:rPr sz="1725" b="0">
                          <a:solidFill>
                            <a:srgbClr val="222222"/>
                          </a:solidFill>
                          <a:latin typeface="Noto Sans JP"/>
                          <a:ea typeface="Noto Sans JP"/>
                          <a:cs typeface="Noto Sans JP"/>
                        </a:rPr>
                        <a:t>端のマスク</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マスクなし：変更なし / 全列マスク：無条件同時生成</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283DB776-F210-41D9-9BA7-B0B4A5772CC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5C31CEA-9537-4957-AA8F-8031CE68377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理論モデル、推定の近似、学習上の効果を分けて考える</a:t>
            </a:r>
          </a:p>
        </p:txBody>
      </p:sp>
    </p:spTree>
    <p:extLst>
      <p:ext uri="{BB962C8B-B14F-4D97-AF65-F5344CB8AC3E}">
        <p14:creationId xmlns:p14="http://schemas.microsoft.com/office/powerpoint/2010/main" val="56548402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62A5505-3A71-4831-8729-429B9D5AA3E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補足：Student-t copula</a:t>
            </a:r>
          </a:p>
        </p:txBody>
      </p:sp>
      <p:sp>
        <p:nvSpPr>
          <p:cNvPr id="2" name="">
            <a:extLst xmlns:a="http://schemas.openxmlformats.org/drawingml/2006/main">
              <a:ext uri="{FF2B5EF4-FFF2-40B4-BE49-F238E27FC236}">
                <a16:creationId xmlns:a16="http://schemas.microsoft.com/office/drawing/2014/main" id="{D6D8DC21-29CD-407A-9F7D-0B6A1014139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3EA8634-BFA1-461A-977C-853263F8443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上下両側の極端事象の共発生を表せる。</a:t>
            </a:r>
          </a:p>
        </p:txBody>
      </p:sp>
      <p:sp>
        <p:nvSpPr>
          <p:cNvPr id="4" name="">
            <a:extLst xmlns:a="http://schemas.openxmlformats.org/drawingml/2006/main">
              <a:ext uri="{FF2B5EF4-FFF2-40B4-BE49-F238E27FC236}">
                <a16:creationId xmlns:a16="http://schemas.microsoft.com/office/drawing/2014/main" id="{104CEBCA-6F18-48E2-BEDB-1D6F8BF5778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93019338-1CD6-4CAB-B87F-9CAF4F0F7D7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34</a:t>
            </a:r>
          </a:p>
        </p:txBody>
      </p:sp>
      <p:sp>
        <p:nvSpPr>
          <p:cNvPr id="6" name="">
            <a:extLst xmlns:a="http://schemas.openxmlformats.org/drawingml/2006/main">
              <a:ext uri="{FF2B5EF4-FFF2-40B4-BE49-F238E27FC236}">
                <a16:creationId xmlns:a16="http://schemas.microsoft.com/office/drawing/2014/main" id="{1C81049C-56BE-43B0-8E45-8E128CFA0C27}"/>
              </a:ext>
            </a:extLst>
          </p:cNvPr>
          <p:cNvSpPr>
            <a:spLocks xmlns:a="http://schemas.openxmlformats.org/drawingml/2006/main" noGrp="1"/>
          </p:cNvSpPr>
          <p:nvPr/>
        </p:nvSpPr>
        <p:spPr>
          <a:xfrm xmlns:a="http://schemas.openxmlformats.org/drawingml/2006/main">
            <a:off x="514350" y="19907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5CCBE91-AD09-460E-8EAF-6466DCFCF004}"/>
              </a:ext>
            </a:extLst>
          </p:cNvPr>
          <p:cNvSpPr>
            <a:spLocks xmlns:a="http://schemas.openxmlformats.org/drawingml/2006/main" noGrp="1"/>
          </p:cNvSpPr>
          <p:nvPr/>
        </p:nvSpPr>
        <p:spPr>
          <a:xfrm xmlns:a="http://schemas.openxmlformats.org/drawingml/2006/main">
            <a:off x="704850" y="20859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75" b="1">
                <a:solidFill>
                  <a:srgbClr val="2B6777"/>
                </a:solidFill>
                <a:latin typeface="Noto Sans JP"/>
                <a:ea typeface="Noto Sans JP"/>
                <a:cs typeface="Noto Sans JP"/>
              </a:defRPr>
            </a:pPr>
            <a:r>
              <a:rPr sz="2775" b="1">
                <a:solidFill>
                  <a:srgbClr val="2B6777"/>
                </a:solidFill>
                <a:latin typeface="Noto Sans JP"/>
                <a:ea typeface="Noto Sans JP"/>
                <a:cs typeface="Noto Sans JP"/>
              </a:rPr>
              <a:t>C_ν,R(u) = t_ν,R(t_ν⁻¹(u₁), …, t_ν⁻¹(u_d))</a:t>
            </a:r>
          </a:p>
        </p:txBody>
      </p:sp>
      <p:sp>
        <p:nvSpPr>
          <p:cNvPr id="8" name="">
            <a:extLst xmlns:a="http://schemas.openxmlformats.org/drawingml/2006/main">
              <a:ext uri="{FF2B5EF4-FFF2-40B4-BE49-F238E27FC236}">
                <a16:creationId xmlns:a16="http://schemas.microsoft.com/office/drawing/2014/main" id="{CA19F622-D59D-4907-8CDB-20E0F98C18EF}"/>
              </a:ext>
            </a:extLst>
          </p:cNvPr>
          <p:cNvSpPr>
            <a:spLocks xmlns:a="http://schemas.openxmlformats.org/drawingml/2006/main" noGrp="1"/>
          </p:cNvSpPr>
          <p:nvPr/>
        </p:nvSpPr>
        <p:spPr>
          <a:xfrm xmlns:a="http://schemas.openxmlformats.org/drawingml/2006/main">
            <a:off x="514350" y="3400425"/>
            <a:ext cx="5314950" cy="18288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C00C488-B67A-49F4-8294-6EBEDB246C7F}"/>
              </a:ext>
            </a:extLst>
          </p:cNvPr>
          <p:cNvSpPr>
            <a:spLocks xmlns:a="http://schemas.openxmlformats.org/drawingml/2006/main" noGrp="1"/>
          </p:cNvSpPr>
          <p:nvPr/>
        </p:nvSpPr>
        <p:spPr>
          <a:xfrm xmlns:a="http://schemas.openxmlformats.org/drawingml/2006/main">
            <a:off x="704850" y="35147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向く可能性がある状況</a:t>
            </a:r>
          </a:p>
        </p:txBody>
      </p:sp>
      <p:sp>
        <p:nvSpPr>
          <p:cNvPr id="10" name="">
            <a:extLst xmlns:a="http://schemas.openxmlformats.org/drawingml/2006/main">
              <a:ext uri="{FF2B5EF4-FFF2-40B4-BE49-F238E27FC236}">
                <a16:creationId xmlns:a16="http://schemas.microsoft.com/office/drawing/2014/main" id="{57313C9D-B169-4434-9A34-27EAB793120A}"/>
              </a:ext>
            </a:extLst>
          </p:cNvPr>
          <p:cNvSpPr>
            <a:spLocks xmlns:a="http://schemas.openxmlformats.org/drawingml/2006/main" noGrp="1"/>
          </p:cNvSpPr>
          <p:nvPr/>
        </p:nvSpPr>
        <p:spPr>
          <a:xfrm xmlns:a="http://schemas.openxmlformats.org/drawingml/2006/main">
            <a:off x="704850" y="4067175"/>
            <a:ext cx="4933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極端に大きい値と小さい値の</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両方で、共発生が重要。</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金融・リスク等の依存のモデル。</a:t>
            </a:r>
          </a:p>
        </p:txBody>
      </p:sp>
      <p:sp>
        <p:nvSpPr>
          <p:cNvPr id="11" name="">
            <a:extLst xmlns:a="http://schemas.openxmlformats.org/drawingml/2006/main">
              <a:ext uri="{FF2B5EF4-FFF2-40B4-BE49-F238E27FC236}">
                <a16:creationId xmlns:a16="http://schemas.microsoft.com/office/drawing/2014/main" id="{1785BB0F-EA9F-48A1-8F3C-50E318913EDC}"/>
              </a:ext>
            </a:extLst>
          </p:cNvPr>
          <p:cNvSpPr>
            <a:spLocks xmlns:a="http://schemas.openxmlformats.org/drawingml/2006/main" noGrp="1"/>
          </p:cNvSpPr>
          <p:nvPr/>
        </p:nvSpPr>
        <p:spPr>
          <a:xfrm xmlns:a="http://schemas.openxmlformats.org/drawingml/2006/main">
            <a:off x="6076950" y="3400425"/>
            <a:ext cx="5600700" cy="18288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093AC56-1236-4620-84F3-2A2A4259B22A}"/>
              </a:ext>
            </a:extLst>
          </p:cNvPr>
          <p:cNvSpPr>
            <a:spLocks xmlns:a="http://schemas.openxmlformats.org/drawingml/2006/main" noGrp="1"/>
          </p:cNvSpPr>
          <p:nvPr/>
        </p:nvSpPr>
        <p:spPr>
          <a:xfrm xmlns:a="http://schemas.openxmlformats.org/drawingml/2006/main">
            <a:off x="6267450" y="35147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注意点</a:t>
            </a:r>
          </a:p>
        </p:txBody>
      </p:sp>
      <p:sp>
        <p:nvSpPr>
          <p:cNvPr id="13" name="">
            <a:extLst xmlns:a="http://schemas.openxmlformats.org/drawingml/2006/main">
              <a:ext uri="{FF2B5EF4-FFF2-40B4-BE49-F238E27FC236}">
                <a16:creationId xmlns:a16="http://schemas.microsoft.com/office/drawing/2014/main" id="{C3BB3F17-B055-42A5-9865-6E24F2128B4D}"/>
              </a:ext>
            </a:extLst>
          </p:cNvPr>
          <p:cNvSpPr>
            <a:spLocks xmlns:a="http://schemas.openxmlformats.org/drawingml/2006/main" noGrp="1"/>
          </p:cNvSpPr>
          <p:nvPr/>
        </p:nvSpPr>
        <p:spPr>
          <a:xfrm xmlns:a="http://schemas.openxmlformats.org/drawingml/2006/main">
            <a:off x="6267450" y="4067175"/>
            <a:ext cx="5219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自由度νの推定が必要。</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裾のサンプルが少ないと不安定。</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周辺の重い裾とは別の話。</a:t>
            </a:r>
          </a:p>
        </p:txBody>
      </p:sp>
      <p:sp>
        <p:nvSpPr>
          <p:cNvPr id="14" name="">
            <a:extLst xmlns:a="http://schemas.openxmlformats.org/drawingml/2006/main">
              <a:ext uri="{FF2B5EF4-FFF2-40B4-BE49-F238E27FC236}">
                <a16:creationId xmlns:a16="http://schemas.microsoft.com/office/drawing/2014/main" id="{2048827D-BF85-41EE-9AED-CCDBD6A6CD8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7FEF9B3-81D0-4F95-83BD-26020862B32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次の候補。ただし追加パラメータが性能を保証するわけではない</a:t>
            </a:r>
          </a:p>
        </p:txBody>
      </p:sp>
    </p:spTree>
    <p:extLst>
      <p:ext uri="{BB962C8B-B14F-4D97-AF65-F5344CB8AC3E}">
        <p14:creationId xmlns:p14="http://schemas.microsoft.com/office/powerpoint/2010/main" val="90390767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4A98155-6F7A-412E-8410-24D08A047954}"/>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補足：Clayton copula</a:t>
            </a:r>
          </a:p>
        </p:txBody>
      </p:sp>
      <p:sp>
        <p:nvSpPr>
          <p:cNvPr id="2" name="">
            <a:extLst xmlns:a="http://schemas.openxmlformats.org/drawingml/2006/main">
              <a:ext uri="{FF2B5EF4-FFF2-40B4-BE49-F238E27FC236}">
                <a16:creationId xmlns:a16="http://schemas.microsoft.com/office/drawing/2014/main" id="{9D17E6CE-9F73-470F-A5E8-662E8363A8DB}"/>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58516B2-946F-4AEC-A585-E9003843D0E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小さい側の位置が一緒になる、下側の裾依存。</a:t>
            </a:r>
          </a:p>
        </p:txBody>
      </p:sp>
      <p:sp>
        <p:nvSpPr>
          <p:cNvPr id="4" name="">
            <a:extLst xmlns:a="http://schemas.openxmlformats.org/drawingml/2006/main">
              <a:ext uri="{FF2B5EF4-FFF2-40B4-BE49-F238E27FC236}">
                <a16:creationId xmlns:a16="http://schemas.microsoft.com/office/drawing/2014/main" id="{CF0EF1CD-ECCF-4C81-ABB4-5B9B513E9455}"/>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34E832F6-AFAA-4146-B395-0D16FA2A9D9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35</a:t>
            </a:r>
          </a:p>
        </p:txBody>
      </p:sp>
      <p:sp>
        <p:nvSpPr>
          <p:cNvPr id="6" name="">
            <a:extLst xmlns:a="http://schemas.openxmlformats.org/drawingml/2006/main">
              <a:ext uri="{FF2B5EF4-FFF2-40B4-BE49-F238E27FC236}">
                <a16:creationId xmlns:a16="http://schemas.microsoft.com/office/drawing/2014/main" id="{3540CE8D-0E93-4B41-AC1B-8E5E0B69EBC9}"/>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EB65F34-2599-4651-AAAA-5607DA61001B}"/>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C_θ(u,v) = (u⁻ᶿ + v⁻ᶿ − 1)^(−1/θ) ,  θ &gt; 0</a:t>
            </a:r>
          </a:p>
        </p:txBody>
      </p:sp>
      <p:sp>
        <p:nvSpPr>
          <p:cNvPr id="8" name="">
            <a:extLst xmlns:a="http://schemas.openxmlformats.org/drawingml/2006/main">
              <a:ext uri="{FF2B5EF4-FFF2-40B4-BE49-F238E27FC236}">
                <a16:creationId xmlns:a16="http://schemas.microsoft.com/office/drawing/2014/main" id="{AB0AB311-371A-42CA-B3ED-01771AEC9747}"/>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1BEAF3D8-A68F-48F4-B450-0AFD9F5E433D}"/>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下位の収益・小さい測定値が同時に起こる依存に合う。</a:t>
            </a:r>
          </a:p>
        </p:txBody>
      </p:sp>
      <p:sp>
        <p:nvSpPr>
          <p:cNvPr id="10" name="">
            <a:extLst xmlns:a="http://schemas.openxmlformats.org/drawingml/2006/main">
              <a:ext uri="{FF2B5EF4-FFF2-40B4-BE49-F238E27FC236}">
                <a16:creationId xmlns:a16="http://schemas.microsoft.com/office/drawing/2014/main" id="{F0B134BD-EAA5-4EF3-9E3B-4D3444599520}"/>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A6968181-84E0-4377-91D8-0C9B873319D6}"/>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下側裾：λL = 2^(−1/θ)、上側裾：λU = 0。</a:t>
            </a:r>
          </a:p>
        </p:txBody>
      </p:sp>
      <p:sp>
        <p:nvSpPr>
          <p:cNvPr id="12" name="">
            <a:extLst xmlns:a="http://schemas.openxmlformats.org/drawingml/2006/main">
              <a:ext uri="{FF2B5EF4-FFF2-40B4-BE49-F238E27FC236}">
                <a16:creationId xmlns:a16="http://schemas.microsoft.com/office/drawing/2014/main" id="{38F17752-401A-4B65-AF82-59A108E9AADF}"/>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A9B1B41C-4EE9-425F-B8F4-9F17D1148915}"/>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単一θの多変量形は、列ごとの関係の違いを表しにくい。</a:t>
            </a:r>
          </a:p>
        </p:txBody>
      </p:sp>
      <p:sp>
        <p:nvSpPr>
          <p:cNvPr id="14" name="">
            <a:extLst xmlns:a="http://schemas.openxmlformats.org/drawingml/2006/main">
              <a:ext uri="{FF2B5EF4-FFF2-40B4-BE49-F238E27FC236}">
                <a16:creationId xmlns:a16="http://schemas.microsoft.com/office/drawing/2014/main" id="{2CA6C32F-E917-4FE6-B050-30E7EB1CE2C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B658180-264B-4BB3-B21C-18D20D13F26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片側の裾依存を明示して選ぶ。万能な非線形モデルではない</a:t>
            </a:r>
          </a:p>
        </p:txBody>
      </p:sp>
    </p:spTree>
    <p:extLst>
      <p:ext uri="{BB962C8B-B14F-4D97-AF65-F5344CB8AC3E}">
        <p14:creationId xmlns:p14="http://schemas.microsoft.com/office/powerpoint/2010/main" val="205483157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C6FF59C-332F-4A12-A071-9F2B184C0CA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補足：Gumbel copulaとJoe</a:t>
            </a:r>
          </a:p>
        </p:txBody>
      </p:sp>
      <p:sp>
        <p:nvSpPr>
          <p:cNvPr id="2" name="">
            <a:extLst xmlns:a="http://schemas.openxmlformats.org/drawingml/2006/main">
              <a:ext uri="{FF2B5EF4-FFF2-40B4-BE49-F238E27FC236}">
                <a16:creationId xmlns:a16="http://schemas.microsoft.com/office/drawing/2014/main" id="{92642F36-04FA-4B9A-932E-617E4B3606B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7E3ECDC-6854-477B-A144-40BDC3A23A0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大きい側の位置が一緒になる、上側の裾依存。</a:t>
            </a:r>
          </a:p>
        </p:txBody>
      </p:sp>
      <p:sp>
        <p:nvSpPr>
          <p:cNvPr id="4" name="">
            <a:extLst xmlns:a="http://schemas.openxmlformats.org/drawingml/2006/main">
              <a:ext uri="{FF2B5EF4-FFF2-40B4-BE49-F238E27FC236}">
                <a16:creationId xmlns:a16="http://schemas.microsoft.com/office/drawing/2014/main" id="{867A17EF-CA3E-4AFE-A6D9-062EE500BEB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69D3BE00-6C41-44B6-A696-E7575786BED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36</a:t>
            </a:r>
          </a:p>
        </p:txBody>
      </p:sp>
      <p:sp>
        <p:nvSpPr>
          <p:cNvPr id="6" name="">
            <a:extLst xmlns:a="http://schemas.openxmlformats.org/drawingml/2006/main">
              <a:ext uri="{FF2B5EF4-FFF2-40B4-BE49-F238E27FC236}">
                <a16:creationId xmlns:a16="http://schemas.microsoft.com/office/drawing/2014/main" id="{69BF7DD4-7021-4B01-B9A2-3DA0925B9E1C}"/>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B82669A-2FD7-4D7C-945D-77A348562095}"/>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C_θ(u,v) = exp{−[(−ln u)ᶿ + (−ln v)ᶿ]^(1/θ)}</a:t>
            </a:r>
          </a:p>
        </p:txBody>
      </p:sp>
      <p:graphicFrame>
        <p:nvGraphicFramePr>
          <p:cNvPr id="18" name=""/>
          <p:cNvGraphicFramePr/>
          <p:nvPr/>
        </p:nvGraphicFramePr>
        <p:xfrm>
          <a:off xmlns:a="http://schemas.openxmlformats.org/drawingml/2006/main" x="514350" y="3381375"/>
          <a:ext xmlns:a="http://schemas.openxmlformats.org/drawingml/2006/main" cx="11163300" cy="1990725"/>
        </p:xfrm>
        <a:graphic xmlns:a="http://schemas.openxmlformats.org/drawingml/2006/main">
          <a:graphicData uri="http://schemas.openxmlformats.org/drawingml/2006/table">
            <a:tbl>
              <a:tblPr/>
              <a:tblGrid>
                <a:gridCol w="2667000"/>
                <a:gridCol w="8496300"/>
              </a:tblGrid>
              <a:tr h="497681">
                <a:tc>
                  <a:txBody>
                    <a:bodyPr/>
                    <a:lstStyle/>
                    <a:p>
                      <a:pPr algn="ctr"/>
                      <a:r>
                        <a:rPr sz="1875" b="1">
                          <a:solidFill>
                            <a:srgbClr val="2E7D5B"/>
                          </a:solidFill>
                          <a:latin typeface="Noto Sans JP"/>
                          <a:ea typeface="Noto Sans JP"/>
                          <a:cs typeface="Noto Sans JP"/>
                        </a:rPr>
                        <a:t>Gumbelの設定</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特徴</a:t>
                      </a:r>
                    </a:p>
                  </a:txBody>
                  <a:tcPr marL="91440" marR="91440" marT="45720" marB="45720" anchor="ctr">
                    <a:solidFill>
                      <a:srgbClr val="E7F2EC"/>
                    </a:solidFill>
                  </a:tcPr>
                </a:tc>
              </a:tr>
              <a:tr h="497681">
                <a:tc>
                  <a:txBody>
                    <a:bodyPr/>
                    <a:lstStyle/>
                    <a:p>
                      <a:pPr algn="ctr"/>
                      <a:r>
                        <a:rPr sz="1875" b="0">
                          <a:solidFill>
                            <a:srgbClr val="222222"/>
                          </a:solidFill>
                          <a:latin typeface="Noto Sans JP"/>
                          <a:ea typeface="Noto Sans JP"/>
                          <a:cs typeface="Noto Sans JP"/>
                        </a:rPr>
                        <a:t>θ ≥ 1 / θ = 1</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θ=1なら独立。θが大きいほど強い依存。</a:t>
                      </a:r>
                    </a:p>
                  </a:txBody>
                  <a:tcPr marL="91440" marR="91440" marT="45720" marB="45720" anchor="ctr">
                    <a:solidFill>
                      <a:srgbClr val="FFFFFF"/>
                    </a:solidFill>
                  </a:tcPr>
                </a:tc>
              </a:tr>
              <a:tr h="497681">
                <a:tc>
                  <a:txBody>
                    <a:bodyPr/>
                    <a:lstStyle/>
                    <a:p>
                      <a:pPr algn="ctr"/>
                      <a:r>
                        <a:rPr sz="1875" b="0">
                          <a:solidFill>
                            <a:srgbClr val="222222"/>
                          </a:solidFill>
                          <a:latin typeface="Noto Sans JP"/>
                          <a:ea typeface="Noto Sans JP"/>
                          <a:cs typeface="Noto Sans JP"/>
                        </a:rPr>
                        <a:t>裾依存</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λU = 2 − 2^(1/θ)、λL = 0</a:t>
                      </a:r>
                    </a:p>
                  </a:txBody>
                  <a:tcPr marL="91440" marR="91440" marT="45720" marB="45720" anchor="ctr">
                    <a:solidFill>
                      <a:srgbClr val="F6F6F6"/>
                    </a:solidFill>
                  </a:tcPr>
                </a:tc>
              </a:tr>
              <a:tr h="497681">
                <a:tc>
                  <a:txBody>
                    <a:bodyPr/>
                    <a:lstStyle/>
                    <a:p>
                      <a:pPr algn="ctr"/>
                      <a:r>
                        <a:rPr sz="1875" b="0">
                          <a:solidFill>
                            <a:srgbClr val="222222"/>
                          </a:solidFill>
                          <a:latin typeface="Noto Sans JP"/>
                          <a:ea typeface="Noto Sans JP"/>
                          <a:cs typeface="Noto Sans JP"/>
                        </a:rPr>
                        <a:t>Joeとの関係</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Joeも上側裾依存。同じ裾係数でも内部の形は違う。</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FDE3567C-D4B4-45D0-9496-4BF4157C312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DFA679C-306D-4F03-907D-FAB3F3447AB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大雨・需要急増等、上側の共発生が重要なときの候補</a:t>
            </a:r>
          </a:p>
        </p:txBody>
      </p:sp>
    </p:spTree>
    <p:extLst>
      <p:ext uri="{BB962C8B-B14F-4D97-AF65-F5344CB8AC3E}">
        <p14:creationId xmlns:p14="http://schemas.microsoft.com/office/powerpoint/2010/main" val="178563361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C891C9C-6346-4034-8D00-CA9E22EAA86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補足：Frank copula</a:t>
            </a:r>
          </a:p>
        </p:txBody>
      </p:sp>
      <p:sp>
        <p:nvSpPr>
          <p:cNvPr id="2" name="">
            <a:extLst xmlns:a="http://schemas.openxmlformats.org/drawingml/2006/main">
              <a:ext uri="{FF2B5EF4-FFF2-40B4-BE49-F238E27FC236}">
                <a16:creationId xmlns:a16="http://schemas.microsoft.com/office/drawing/2014/main" id="{484225EC-8733-443D-80B0-50A9867705F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9DDE430-1B02-4DED-959E-C47DA726D85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中央付近も含むなめらかな依存。上下の裾依存係数は0。</a:t>
            </a:r>
          </a:p>
        </p:txBody>
      </p:sp>
      <p:sp>
        <p:nvSpPr>
          <p:cNvPr id="4" name="">
            <a:extLst xmlns:a="http://schemas.openxmlformats.org/drawingml/2006/main">
              <a:ext uri="{FF2B5EF4-FFF2-40B4-BE49-F238E27FC236}">
                <a16:creationId xmlns:a16="http://schemas.microsoft.com/office/drawing/2014/main" id="{EAA565AF-C15E-47A9-8C81-DBAC31E7B5C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7E80E24C-171F-4210-85AC-8208A40A523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37</a:t>
            </a:r>
          </a:p>
        </p:txBody>
      </p:sp>
      <p:sp>
        <p:nvSpPr>
          <p:cNvPr id="6" name="">
            <a:extLst xmlns:a="http://schemas.openxmlformats.org/drawingml/2006/main">
              <a:ext uri="{FF2B5EF4-FFF2-40B4-BE49-F238E27FC236}">
                <a16:creationId xmlns:a16="http://schemas.microsoft.com/office/drawing/2014/main" id="{9895AFFA-F691-4BE1-825E-933977C6C4D2}"/>
              </a:ext>
            </a:extLst>
          </p:cNvPr>
          <p:cNvSpPr>
            <a:spLocks xmlns:a="http://schemas.openxmlformats.org/drawingml/2006/main" noGrp="1"/>
          </p:cNvSpPr>
          <p:nvPr/>
        </p:nvSpPr>
        <p:spPr>
          <a:xfrm xmlns:a="http://schemas.openxmlformats.org/drawingml/2006/main">
            <a:off x="514350" y="19335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2944BB0-131B-4759-A7C1-A7D6AC0DF1C9}"/>
              </a:ext>
            </a:extLst>
          </p:cNvPr>
          <p:cNvSpPr>
            <a:spLocks xmlns:a="http://schemas.openxmlformats.org/drawingml/2006/main" noGrp="1"/>
          </p:cNvSpPr>
          <p:nvPr/>
        </p:nvSpPr>
        <p:spPr>
          <a:xfrm xmlns:a="http://schemas.openxmlformats.org/drawingml/2006/main">
            <a:off x="704850" y="20288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00" b="1">
                <a:solidFill>
                  <a:srgbClr val="2B6777"/>
                </a:solidFill>
                <a:latin typeface="Noto Sans JP"/>
                <a:ea typeface="Noto Sans JP"/>
                <a:cs typeface="Noto Sans JP"/>
              </a:defRPr>
            </a:pPr>
            <a:r>
              <a:rPr sz="2100" b="1">
                <a:solidFill>
                  <a:srgbClr val="2B6777"/>
                </a:solidFill>
                <a:latin typeface="Noto Sans JP"/>
                <a:ea typeface="Noto Sans JP"/>
                <a:cs typeface="Noto Sans JP"/>
              </a:rPr>
              <a:t>C_θ(u,v) = −(1/θ) ln[1 + (e^(−θu) − 1)(e^(−θv) − 1)/(e^(−θ) − 1)]</a:t>
            </a:r>
          </a:p>
        </p:txBody>
      </p:sp>
      <p:sp>
        <p:nvSpPr>
          <p:cNvPr id="8" name="">
            <a:extLst xmlns:a="http://schemas.openxmlformats.org/drawingml/2006/main">
              <a:ext uri="{FF2B5EF4-FFF2-40B4-BE49-F238E27FC236}">
                <a16:creationId xmlns:a16="http://schemas.microsoft.com/office/drawing/2014/main" id="{C9A66DFF-414C-46D9-8C2A-664D9C8F4803}"/>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3CBC967F-26F0-4626-94AA-B5D06CCD0DC0}"/>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二変量ではθ&gt;0で正の依存、θ&lt;0で負の依存。</a:t>
            </a:r>
          </a:p>
        </p:txBody>
      </p:sp>
      <p:sp>
        <p:nvSpPr>
          <p:cNvPr id="10" name="">
            <a:extLst xmlns:a="http://schemas.openxmlformats.org/drawingml/2006/main">
              <a:ext uri="{FF2B5EF4-FFF2-40B4-BE49-F238E27FC236}">
                <a16:creationId xmlns:a16="http://schemas.microsoft.com/office/drawing/2014/main" id="{C5AB32F5-0E0E-4957-9DBD-AB31AB73DD6D}"/>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D67605BF-D8FB-4FE2-924D-DBA0D258CE9C}"/>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θ→0で独立。上下の裾依存係数は0。</a:t>
            </a:r>
          </a:p>
        </p:txBody>
      </p:sp>
      <p:sp>
        <p:nvSpPr>
          <p:cNvPr id="12" name="">
            <a:extLst xmlns:a="http://schemas.openxmlformats.org/drawingml/2006/main">
              <a:ext uri="{FF2B5EF4-FFF2-40B4-BE49-F238E27FC236}">
                <a16:creationId xmlns:a16="http://schemas.microsoft.com/office/drawing/2014/main" id="{8A294B0C-97B1-44B5-8084-A049D3C69E51}"/>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E6FDFBC9-E323-4E1A-B8B9-A7CE88D4C2E2}"/>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極端な共発生より、中央を含む関係を重視する候補。</a:t>
            </a:r>
          </a:p>
        </p:txBody>
      </p:sp>
      <p:sp>
        <p:nvSpPr>
          <p:cNvPr id="14" name="">
            <a:extLst xmlns:a="http://schemas.openxmlformats.org/drawingml/2006/main">
              <a:ext uri="{FF2B5EF4-FFF2-40B4-BE49-F238E27FC236}">
                <a16:creationId xmlns:a16="http://schemas.microsoft.com/office/drawing/2014/main" id="{A75F43FB-C07A-40AC-93BD-F3D3A4EA396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BE76CD8-489B-4DDF-928D-492808356DD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「裾依存が0」でも、全範囲で独立という意味ではない</a:t>
            </a:r>
          </a:p>
        </p:txBody>
      </p:sp>
    </p:spTree>
    <p:extLst>
      <p:ext uri="{BB962C8B-B14F-4D97-AF65-F5344CB8AC3E}">
        <p14:creationId xmlns:p14="http://schemas.microsoft.com/office/powerpoint/2010/main" val="75756837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0517CF0-F9E4-4F0D-8727-EF2D4EBC710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補足：回転・Vine・ノンパラメトリック</a:t>
            </a:r>
          </a:p>
        </p:txBody>
      </p:sp>
      <p:sp>
        <p:nvSpPr>
          <p:cNvPr id="2" name="">
            <a:extLst xmlns:a="http://schemas.openxmlformats.org/drawingml/2006/main">
              <a:ext uri="{FF2B5EF4-FFF2-40B4-BE49-F238E27FC236}">
                <a16:creationId xmlns:a16="http://schemas.microsoft.com/office/drawing/2014/main" id="{1E2B1AEA-4990-42C9-8335-DF3E56B2C2B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262E8BE-0E1E-4B35-9208-9DACEA20600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単一のモデルでは足りない関係を、別の構成で扱う。</a:t>
            </a:r>
          </a:p>
        </p:txBody>
      </p:sp>
      <p:sp>
        <p:nvSpPr>
          <p:cNvPr id="4" name="">
            <a:extLst xmlns:a="http://schemas.openxmlformats.org/drawingml/2006/main">
              <a:ext uri="{FF2B5EF4-FFF2-40B4-BE49-F238E27FC236}">
                <a16:creationId xmlns:a16="http://schemas.microsoft.com/office/drawing/2014/main" id="{D9310F5E-C6D3-4D0F-9E91-6D4804AAC0B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FD27D3B4-5FFD-47A5-AE98-07B14216660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38</a:t>
            </a:r>
          </a:p>
        </p:txBody>
      </p:sp>
      <p:graphicFrame>
        <p:nvGraphicFramePr>
          <p:cNvPr id="14" name=""/>
          <p:cNvGraphicFramePr/>
          <p:nvPr/>
        </p:nvGraphicFramePr>
        <p:xfrm>
          <a:off xmlns:a="http://schemas.openxmlformats.org/drawingml/2006/main" x="514350" y="2143125"/>
          <a:ext xmlns:a="http://schemas.openxmlformats.org/drawingml/2006/main" cx="11163300" cy="2647950"/>
        </p:xfrm>
        <a:graphic xmlns:a="http://schemas.openxmlformats.org/drawingml/2006/main">
          <a:graphicData uri="http://schemas.openxmlformats.org/drawingml/2006/table">
            <a:tbl>
              <a:tblPr/>
              <a:tblGrid>
                <a:gridCol w="3721100"/>
                <a:gridCol w="3721100"/>
                <a:gridCol w="3721100"/>
              </a:tblGrid>
              <a:tr h="661988">
                <a:tc>
                  <a:txBody>
                    <a:bodyPr/>
                    <a:lstStyle/>
                    <a:p>
                      <a:pPr algn="ctr"/>
                      <a:r>
                        <a:rPr sz="1950" b="1">
                          <a:solidFill>
                            <a:srgbClr val="2E7D5B"/>
                          </a:solidFill>
                          <a:latin typeface="Noto Sans JP"/>
                          <a:ea typeface="Noto Sans JP"/>
                          <a:cs typeface="Noto Sans JP"/>
                        </a:rPr>
                        <a:t>構成</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特徴</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注意点</a:t>
                      </a:r>
                    </a:p>
                  </a:txBody>
                  <a:tcPr marL="91440" marR="91440" marT="45720" marB="45720" anchor="ctr">
                    <a:solidFill>
                      <a:srgbClr val="E7F2EC"/>
                    </a:solidFill>
                  </a:tcPr>
                </a:tc>
              </a:tr>
              <a:tr h="661988">
                <a:tc>
                  <a:txBody>
                    <a:bodyPr/>
                    <a:lstStyle/>
                    <a:p>
                      <a:pPr algn="ctr"/>
                      <a:r>
                        <a:rPr sz="1950" b="0">
                          <a:solidFill>
                            <a:srgbClr val="222222"/>
                          </a:solidFill>
                          <a:latin typeface="Noto Sans JP"/>
                          <a:ea typeface="Noto Sans JP"/>
                          <a:cs typeface="Noto Sans JP"/>
                        </a:rPr>
                        <a:t>回転コピュラ</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依存の強いコーナーを変える</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90°・180°・270°で意味が異なる</a:t>
                      </a:r>
                    </a:p>
                  </a:txBody>
                  <a:tcPr marL="91440" marR="91440" marT="45720" marB="45720" anchor="ctr">
                    <a:solidFill>
                      <a:srgbClr val="FFFFFF"/>
                    </a:solidFill>
                  </a:tcPr>
                </a:tc>
              </a:tr>
              <a:tr h="661988">
                <a:tc>
                  <a:txBody>
                    <a:bodyPr/>
                    <a:lstStyle/>
                    <a:p>
                      <a:pPr algn="ctr"/>
                      <a:r>
                        <a:rPr sz="1950" b="0">
                          <a:solidFill>
                            <a:srgbClr val="222222"/>
                          </a:solidFill>
                          <a:latin typeface="Noto Sans JP"/>
                          <a:ea typeface="Noto Sans JP"/>
                          <a:cs typeface="Noto Sans JP"/>
                        </a:rPr>
                        <a:t>Vine</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ペアごとに別のコピュラを組合せる</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構造・モデル選択と条件付き計算が複雑</a:t>
                      </a:r>
                    </a:p>
                  </a:txBody>
                  <a:tcPr marL="91440" marR="91440" marT="45720" marB="45720" anchor="ctr">
                    <a:solidFill>
                      <a:srgbClr val="F6F6F6"/>
                    </a:solidFill>
                  </a:tcPr>
                </a:tc>
              </a:tr>
              <a:tr h="661988">
                <a:tc>
                  <a:txBody>
                    <a:bodyPr/>
                    <a:lstStyle/>
                    <a:p>
                      <a:pPr algn="ctr"/>
                      <a:r>
                        <a:rPr sz="1950" b="0">
                          <a:solidFill>
                            <a:srgbClr val="222222"/>
                          </a:solidFill>
                          <a:latin typeface="Noto Sans JP"/>
                          <a:ea typeface="Noto Sans JP"/>
                          <a:cs typeface="Noto Sans JP"/>
                        </a:rPr>
                        <a:t>経験 / 平滑化コピュラ</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特定家族の形を強く仮定しない</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十分な標本が必要。高次元で疎になる</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C122AA6-E21A-430A-AEAA-DBD911E8FFA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9510521-CF50-455D-83C2-A66386ADCA5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柔軟さと、サンプル数・推定の安定性・計算量を比較する</a:t>
            </a:r>
          </a:p>
        </p:txBody>
      </p:sp>
    </p:spTree>
    <p:extLst>
      <p:ext uri="{BB962C8B-B14F-4D97-AF65-F5344CB8AC3E}">
        <p14:creationId xmlns:p14="http://schemas.microsoft.com/office/powerpoint/2010/main" val="4049601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E3F5CC1-BC62-4CC3-B7B6-01003B92C2B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補足：順序変数とは？</a:t>
            </a:r>
          </a:p>
        </p:txBody>
      </p:sp>
      <p:sp>
        <p:nvSpPr>
          <p:cNvPr id="2" name="">
            <a:extLst xmlns:a="http://schemas.openxmlformats.org/drawingml/2006/main">
              <a:ext uri="{FF2B5EF4-FFF2-40B4-BE49-F238E27FC236}">
                <a16:creationId xmlns:a16="http://schemas.microsoft.com/office/drawing/2014/main" id="{584F9EF0-5244-45F1-9AE1-39CE6B68037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170ED88-0443-4EE3-9A9F-56D3FE59808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順番はあるが、カテゴリ間の差が同じとは限らない変数。</a:t>
            </a:r>
          </a:p>
        </p:txBody>
      </p:sp>
      <p:sp>
        <p:nvSpPr>
          <p:cNvPr id="4" name="">
            <a:extLst xmlns:a="http://schemas.openxmlformats.org/drawingml/2006/main">
              <a:ext uri="{FF2B5EF4-FFF2-40B4-BE49-F238E27FC236}">
                <a16:creationId xmlns:a16="http://schemas.microsoft.com/office/drawing/2014/main" id="{290AB439-94A4-4220-9A36-1477E5CBAB6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A2691C45-8FCA-48A8-A387-D2790651D21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39</a:t>
            </a:r>
          </a:p>
        </p:txBody>
      </p:sp>
      <p:graphicFrame>
        <p:nvGraphicFramePr>
          <p:cNvPr id="15" name=""/>
          <p:cNvGraphicFramePr/>
          <p:nvPr/>
        </p:nvGraphicFramePr>
        <p:xfrm>
          <a:off xmlns:a="http://schemas.openxmlformats.org/drawingml/2006/main" x="514350" y="2076450"/>
          <a:ext xmlns:a="http://schemas.openxmlformats.org/drawingml/2006/main" cx="11163300" cy="2466975"/>
        </p:xfrm>
        <a:graphic xmlns:a="http://schemas.openxmlformats.org/drawingml/2006/main">
          <a:graphicData uri="http://schemas.openxmlformats.org/drawingml/2006/table">
            <a:tbl>
              <a:tblPr/>
              <a:tblGrid>
                <a:gridCol w="3721100"/>
                <a:gridCol w="3721100"/>
                <a:gridCol w="3721100"/>
              </a:tblGrid>
              <a:tr h="616744">
                <a:tc>
                  <a:txBody>
                    <a:bodyPr/>
                    <a:lstStyle/>
                    <a:p>
                      <a:pPr algn="ctr"/>
                      <a:r>
                        <a:rPr sz="2025" b="1">
                          <a:solidFill>
                            <a:srgbClr val="2E7D5B"/>
                          </a:solidFill>
                          <a:latin typeface="Noto Sans JP"/>
                          <a:ea typeface="Noto Sans JP"/>
                          <a:cs typeface="Noto Sans JP"/>
                        </a:rPr>
                        <a:t>型</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例</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考えるべきこと</a:t>
                      </a:r>
                    </a:p>
                  </a:txBody>
                  <a:tcPr marL="91440" marR="91440" marT="45720" marB="45720" anchor="ctr">
                    <a:solidFill>
                      <a:srgbClr val="E7F2EC"/>
                    </a:solidFill>
                  </a:tcPr>
                </a:tc>
              </a:tr>
              <a:tr h="616744">
                <a:tc>
                  <a:txBody>
                    <a:bodyPr/>
                    <a:lstStyle/>
                    <a:p>
                      <a:pPr algn="ctr"/>
                      <a:r>
                        <a:rPr sz="2025" b="0">
                          <a:solidFill>
                            <a:srgbClr val="222222"/>
                          </a:solidFill>
                          <a:latin typeface="Noto Sans JP"/>
                          <a:ea typeface="Noto Sans JP"/>
                          <a:cs typeface="Noto Sans JP"/>
                        </a:rPr>
                        <a:t>連続</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身長・体重</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値と差が意味を持つ</a:t>
                      </a:r>
                    </a:p>
                  </a:txBody>
                  <a:tcPr marL="91440" marR="91440" marT="45720" marB="45720" anchor="ctr">
                    <a:solidFill>
                      <a:srgbClr val="FFFFFF"/>
                    </a:solidFill>
                  </a:tcPr>
                </a:tc>
              </a:tr>
              <a:tr h="616744">
                <a:tc>
                  <a:txBody>
                    <a:bodyPr/>
                    <a:lstStyle/>
                    <a:p>
                      <a:pPr algn="ctr"/>
                      <a:r>
                        <a:rPr sz="2025" b="0">
                          <a:solidFill>
                            <a:srgbClr val="222222"/>
                          </a:solidFill>
                          <a:latin typeface="Noto Sans JP"/>
                          <a:ea typeface="Noto Sans JP"/>
                          <a:cs typeface="Noto Sans JP"/>
                        </a:rPr>
                        <a:t>順序</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満足度：低・中・高 / 評価1〜5</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大小の順番はある。間隔は保証されない。</a:t>
                      </a:r>
                    </a:p>
                  </a:txBody>
                  <a:tcPr marL="91440" marR="91440" marT="45720" marB="45720" anchor="ctr">
                    <a:solidFill>
                      <a:srgbClr val="F6F6F6"/>
                    </a:solidFill>
                  </a:tcPr>
                </a:tc>
              </a:tr>
              <a:tr h="616744">
                <a:tc>
                  <a:txBody>
                    <a:bodyPr/>
                    <a:lstStyle/>
                    <a:p>
                      <a:pPr algn="ctr"/>
                      <a:r>
                        <a:rPr sz="2025" b="0">
                          <a:solidFill>
                            <a:srgbClr val="222222"/>
                          </a:solidFill>
                          <a:latin typeface="Noto Sans JP"/>
                          <a:ea typeface="Noto Sans JP"/>
                          <a:cs typeface="Noto Sans JP"/>
                        </a:rPr>
                        <a:t>名義</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血液型・地域名</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自然な大小の順序がない</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4C66AB95-04B9-4D05-93F6-755D6056548B}"/>
              </a:ext>
            </a:extLst>
          </p:cNvPr>
          <p:cNvSpPr>
            <a:spLocks xmlns:a="http://schemas.openxmlformats.org/drawingml/2006/main" noGrp="1"/>
          </p:cNvSpPr>
          <p:nvPr/>
        </p:nvSpPr>
        <p:spPr>
          <a:xfrm xmlns:a="http://schemas.openxmlformats.org/drawingml/2006/main">
            <a:off x="619125" y="48101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B6777"/>
                </a:solidFill>
                <a:latin typeface="Noto Sans JP"/>
                <a:ea typeface="Noto Sans JP"/>
                <a:cs typeface="Noto Sans JP"/>
              </a:defRPr>
            </a:pPr>
            <a:r>
              <a:rPr sz="2100" b="1">
                <a:solidFill>
                  <a:srgbClr val="2B6777"/>
                </a:solidFill>
                <a:latin typeface="Noto Sans JP"/>
                <a:ea typeface="Noto Sans JP"/>
                <a:cs typeface="Noto Sans JP"/>
              </a:rPr>
              <a:t>順序モデルの例：Z ≤ τ₁なら「低」、τ₁ &lt; Z ≤ τ₂なら「中」。</a:t>
            </a:r>
          </a:p>
        </p:txBody>
      </p:sp>
      <p:sp>
        <p:nvSpPr>
          <p:cNvPr id="8" name="">
            <a:extLst xmlns:a="http://schemas.openxmlformats.org/drawingml/2006/main">
              <a:ext uri="{FF2B5EF4-FFF2-40B4-BE49-F238E27FC236}">
                <a16:creationId xmlns:a16="http://schemas.microsoft.com/office/drawing/2014/main" id="{E25D1761-FB82-4BD8-95D6-9D3E1D4A2F7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B17613A-037F-4242-8C51-C213C7C916D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今の連続特徴用の実装を、カテゴリへそのまま広げない</a:t>
            </a:r>
          </a:p>
        </p:txBody>
      </p:sp>
    </p:spTree>
    <p:extLst>
      <p:ext uri="{BB962C8B-B14F-4D97-AF65-F5344CB8AC3E}">
        <p14:creationId xmlns:p14="http://schemas.microsoft.com/office/powerpoint/2010/main" val="97181546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9089E5D-6796-458E-A4DC-FDC1A9A408E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補足：混合型の欠損補完研究との接続</a:t>
            </a:r>
          </a:p>
        </p:txBody>
      </p:sp>
      <p:sp>
        <p:nvSpPr>
          <p:cNvPr id="2" name="">
            <a:extLst xmlns:a="http://schemas.openxmlformats.org/drawingml/2006/main">
              <a:ext uri="{FF2B5EF4-FFF2-40B4-BE49-F238E27FC236}">
                <a16:creationId xmlns:a16="http://schemas.microsoft.com/office/drawing/2014/main" id="{DE64BC6C-C6BB-4F12-9BB2-025951BF0C5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8D5A845-B0DE-429D-BAE7-B995512178D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Zhao &amp; Udell (2020)：Gaussian copulaで連続・順序変数を補完。</a:t>
            </a:r>
          </a:p>
        </p:txBody>
      </p:sp>
      <p:sp>
        <p:nvSpPr>
          <p:cNvPr id="4" name="">
            <a:extLst xmlns:a="http://schemas.openxmlformats.org/drawingml/2006/main">
              <a:ext uri="{FF2B5EF4-FFF2-40B4-BE49-F238E27FC236}">
                <a16:creationId xmlns:a16="http://schemas.microsoft.com/office/drawing/2014/main" id="{A4FFE8A2-BC6D-4489-8AE0-04F75426727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1056EA04-BCEA-4648-A98E-CBCF5946EF2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40</a:t>
            </a:r>
          </a:p>
        </p:txBody>
      </p:sp>
      <p:sp>
        <p:nvSpPr>
          <p:cNvPr id="6" name="">
            <a:extLst xmlns:a="http://schemas.openxmlformats.org/drawingml/2006/main">
              <a:ext uri="{FF2B5EF4-FFF2-40B4-BE49-F238E27FC236}">
                <a16:creationId xmlns:a16="http://schemas.microsoft.com/office/drawing/2014/main" id="{09F76621-B0F7-4B0E-89FD-318B6A858C8C}"/>
              </a:ext>
            </a:extLst>
          </p:cNvPr>
          <p:cNvSpPr>
            <a:spLocks xmlns:a="http://schemas.openxmlformats.org/drawingml/2006/main" noGrp="1"/>
          </p:cNvSpPr>
          <p:nvPr/>
        </p:nvSpPr>
        <p:spPr>
          <a:xfrm xmlns:a="http://schemas.openxmlformats.org/drawingml/2006/main">
            <a:off x="552450" y="194310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962F5B40-EE6A-411A-9FB0-676B5B23319D}"/>
              </a:ext>
            </a:extLst>
          </p:cNvPr>
          <p:cNvSpPr>
            <a:spLocks xmlns:a="http://schemas.openxmlformats.org/drawingml/2006/main" noGrp="1"/>
          </p:cNvSpPr>
          <p:nvPr/>
        </p:nvSpPr>
        <p:spPr>
          <a:xfrm xmlns:a="http://schemas.openxmlformats.org/drawingml/2006/main">
            <a:off x="1257300" y="194310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背景：実データには連続値と、順序カテゴリ、欠損が混在する。</a:t>
            </a:r>
          </a:p>
        </p:txBody>
      </p:sp>
      <p:sp>
        <p:nvSpPr>
          <p:cNvPr id="8" name="">
            <a:extLst xmlns:a="http://schemas.openxmlformats.org/drawingml/2006/main">
              <a:ext uri="{FF2B5EF4-FFF2-40B4-BE49-F238E27FC236}">
                <a16:creationId xmlns:a16="http://schemas.microsoft.com/office/drawing/2014/main" id="{1E760D6E-4442-4383-8BF0-A75853A75257}"/>
              </a:ext>
            </a:extLst>
          </p:cNvPr>
          <p:cNvSpPr>
            <a:spLocks xmlns:a="http://schemas.openxmlformats.org/drawingml/2006/main" noGrp="1"/>
          </p:cNvSpPr>
          <p:nvPr/>
        </p:nvSpPr>
        <p:spPr>
          <a:xfrm xmlns:a="http://schemas.openxmlformats.org/drawingml/2006/main">
            <a:off x="552450" y="275272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F9490CA3-2A9D-4D63-A4ED-0C1E8E48DE99}"/>
              </a:ext>
            </a:extLst>
          </p:cNvPr>
          <p:cNvSpPr>
            <a:spLocks xmlns:a="http://schemas.openxmlformats.org/drawingml/2006/main" noGrp="1"/>
          </p:cNvSpPr>
          <p:nvPr/>
        </p:nvSpPr>
        <p:spPr>
          <a:xfrm xmlns:a="http://schemas.openxmlformats.org/drawingml/2006/main">
            <a:off x="1257300" y="275272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手法：各型を潜在正規の値／区間として扱い、EMで依存を推定。</a:t>
            </a:r>
          </a:p>
        </p:txBody>
      </p:sp>
      <p:sp>
        <p:nvSpPr>
          <p:cNvPr id="10" name="">
            <a:extLst xmlns:a="http://schemas.openxmlformats.org/drawingml/2006/main">
              <a:ext uri="{FF2B5EF4-FFF2-40B4-BE49-F238E27FC236}">
                <a16:creationId xmlns:a16="http://schemas.microsoft.com/office/drawing/2014/main" id="{3249DCB5-6A0C-4C78-9BC0-CB860D2A1A81}"/>
              </a:ext>
            </a:extLst>
          </p:cNvPr>
          <p:cNvSpPr>
            <a:spLocks xmlns:a="http://schemas.openxmlformats.org/drawingml/2006/main" noGrp="1"/>
          </p:cNvSpPr>
          <p:nvPr/>
        </p:nvSpPr>
        <p:spPr>
          <a:xfrm xmlns:a="http://schemas.openxmlformats.org/drawingml/2006/main">
            <a:off x="552450" y="356235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E0B885B0-19BF-4103-8ADE-F8EBDA0D0815}"/>
              </a:ext>
            </a:extLst>
          </p:cNvPr>
          <p:cNvSpPr>
            <a:spLocks xmlns:a="http://schemas.openxmlformats.org/drawingml/2006/main" noGrp="1"/>
          </p:cNvSpPr>
          <p:nvPr/>
        </p:nvSpPr>
        <p:spPr>
          <a:xfrm xmlns:a="http://schemas.openxmlformats.org/drawingml/2006/main">
            <a:off x="1257300" y="356235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目的：観測値を条件に、欠損値を補う。</a:t>
            </a:r>
          </a:p>
        </p:txBody>
      </p:sp>
      <p:sp>
        <p:nvSpPr>
          <p:cNvPr id="12" name="">
            <a:extLst xmlns:a="http://schemas.openxmlformats.org/drawingml/2006/main">
              <a:ext uri="{FF2B5EF4-FFF2-40B4-BE49-F238E27FC236}">
                <a16:creationId xmlns:a16="http://schemas.microsoft.com/office/drawing/2014/main" id="{3E8A548E-B919-486D-B3DA-4395434383B3}"/>
              </a:ext>
            </a:extLst>
          </p:cNvPr>
          <p:cNvSpPr>
            <a:spLocks xmlns:a="http://schemas.openxmlformats.org/drawingml/2006/main" noGrp="1"/>
          </p:cNvSpPr>
          <p:nvPr/>
        </p:nvSpPr>
        <p:spPr>
          <a:xfrm xmlns:a="http://schemas.openxmlformats.org/drawingml/2006/main">
            <a:off x="552450" y="437197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80B0E3D9-A935-4DC4-B08D-E4BAAF4EAF8F}"/>
              </a:ext>
            </a:extLst>
          </p:cNvPr>
          <p:cNvSpPr>
            <a:spLocks xmlns:a="http://schemas.openxmlformats.org/drawingml/2006/main" noGrp="1"/>
          </p:cNvSpPr>
          <p:nvPr/>
        </p:nvSpPr>
        <p:spPr>
          <a:xfrm xmlns:a="http://schemas.openxmlformats.org/drawingml/2006/main">
            <a:off x="1257300" y="437197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本研究：条件付けと型の扱いを参考にし、補完から拡張へつなぐ。</a:t>
            </a:r>
          </a:p>
        </p:txBody>
      </p:sp>
      <p:sp>
        <p:nvSpPr>
          <p:cNvPr id="14" name="">
            <a:extLst xmlns:a="http://schemas.openxmlformats.org/drawingml/2006/main">
              <a:ext uri="{FF2B5EF4-FFF2-40B4-BE49-F238E27FC236}">
                <a16:creationId xmlns:a16="http://schemas.microsoft.com/office/drawing/2014/main" id="{4E82D181-BFB7-49CF-8CA0-D765E3BB16A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31A81BE-6DD9-4A9E-B10B-F865BADDCEC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接続できるのは生成の設計。欠損補完の結果は、拡張の効果の証明ではない</a:t>
            </a:r>
          </a:p>
        </p:txBody>
      </p:sp>
    </p:spTree>
    <p:extLst>
      <p:ext uri="{BB962C8B-B14F-4D97-AF65-F5344CB8AC3E}">
        <p14:creationId xmlns:p14="http://schemas.microsoft.com/office/powerpoint/2010/main" val="162670712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1CACCDE-ECEA-41E2-B8E7-A5A200D52FF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補足：説明可能性の研究との接続</a:t>
            </a:r>
          </a:p>
        </p:txBody>
      </p:sp>
      <p:sp>
        <p:nvSpPr>
          <p:cNvPr id="2" name="">
            <a:extLst xmlns:a="http://schemas.openxmlformats.org/drawingml/2006/main">
              <a:ext uri="{FF2B5EF4-FFF2-40B4-BE49-F238E27FC236}">
                <a16:creationId xmlns:a16="http://schemas.microsoft.com/office/drawing/2014/main" id="{ABAE0977-BFED-4A92-8922-E6F7133867B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8849875-21E2-49AB-8186-844C85FBD28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Aas, Jullum &amp; Løland (2021)：依存を考慮したShapley値の近似。</a:t>
            </a:r>
          </a:p>
        </p:txBody>
      </p:sp>
      <p:sp>
        <p:nvSpPr>
          <p:cNvPr id="4" name="">
            <a:extLst xmlns:a="http://schemas.openxmlformats.org/drawingml/2006/main">
              <a:ext uri="{FF2B5EF4-FFF2-40B4-BE49-F238E27FC236}">
                <a16:creationId xmlns:a16="http://schemas.microsoft.com/office/drawing/2014/main" id="{69CB5070-E26B-40F0-AE8B-EA6D3EA13F15}"/>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4A4F73A9-E7E2-41D4-BCF1-6F46887CFA5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41</a:t>
            </a:r>
          </a:p>
        </p:txBody>
      </p:sp>
      <p:sp>
        <p:nvSpPr>
          <p:cNvPr id="6" name="">
            <a:extLst xmlns:a="http://schemas.openxmlformats.org/drawingml/2006/main">
              <a:ext uri="{FF2B5EF4-FFF2-40B4-BE49-F238E27FC236}">
                <a16:creationId xmlns:a16="http://schemas.microsoft.com/office/drawing/2014/main" id="{5ABA29C4-495F-4B47-8FBB-6DEEB4816AB7}"/>
              </a:ext>
            </a:extLst>
          </p:cNvPr>
          <p:cNvSpPr>
            <a:spLocks xmlns:a="http://schemas.openxmlformats.org/drawingml/2006/main" noGrp="1"/>
          </p:cNvSpPr>
          <p:nvPr/>
        </p:nvSpPr>
        <p:spPr>
          <a:xfrm xmlns:a="http://schemas.openxmlformats.org/drawingml/2006/main">
            <a:off x="552450" y="194310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903010E9-F775-4FF9-A00F-20BB406BEDEB}"/>
              </a:ext>
            </a:extLst>
          </p:cNvPr>
          <p:cNvSpPr>
            <a:spLocks xmlns:a="http://schemas.openxmlformats.org/drawingml/2006/main" noGrp="1"/>
          </p:cNvSpPr>
          <p:nvPr/>
        </p:nvSpPr>
        <p:spPr>
          <a:xfrm xmlns:a="http://schemas.openxmlformats.org/drawingml/2006/main">
            <a:off x="1257300" y="194310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背景：一部特徴を固定し、残りを無条件に取ると、不自然な行を作り得る。</a:t>
            </a:r>
          </a:p>
        </p:txBody>
      </p:sp>
      <p:sp>
        <p:nvSpPr>
          <p:cNvPr id="8" name="">
            <a:extLst xmlns:a="http://schemas.openxmlformats.org/drawingml/2006/main">
              <a:ext uri="{FF2B5EF4-FFF2-40B4-BE49-F238E27FC236}">
                <a16:creationId xmlns:a16="http://schemas.microsoft.com/office/drawing/2014/main" id="{83B82595-04AA-4689-A0F9-B4E59D7BAB58}"/>
              </a:ext>
            </a:extLst>
          </p:cNvPr>
          <p:cNvSpPr>
            <a:spLocks xmlns:a="http://schemas.openxmlformats.org/drawingml/2006/main" noGrp="1"/>
          </p:cNvSpPr>
          <p:nvPr/>
        </p:nvSpPr>
        <p:spPr>
          <a:xfrm xmlns:a="http://schemas.openxmlformats.org/drawingml/2006/main">
            <a:off x="552450" y="275272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DCF05FB9-F05E-47D1-8D06-0282B68C76AB}"/>
              </a:ext>
            </a:extLst>
          </p:cNvPr>
          <p:cNvSpPr>
            <a:spLocks xmlns:a="http://schemas.openxmlformats.org/drawingml/2006/main" noGrp="1"/>
          </p:cNvSpPr>
          <p:nvPr/>
        </p:nvSpPr>
        <p:spPr>
          <a:xfrm xmlns:a="http://schemas.openxmlformats.org/drawingml/2006/main">
            <a:off x="1257300" y="275272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手法：条件付き分布をGaussian / copula / empirical等で近似。</a:t>
            </a:r>
          </a:p>
        </p:txBody>
      </p:sp>
      <p:sp>
        <p:nvSpPr>
          <p:cNvPr id="10" name="">
            <a:extLst xmlns:a="http://schemas.openxmlformats.org/drawingml/2006/main">
              <a:ext uri="{FF2B5EF4-FFF2-40B4-BE49-F238E27FC236}">
                <a16:creationId xmlns:a16="http://schemas.microsoft.com/office/drawing/2014/main" id="{9C696A6E-FD93-4FE4-A07D-7B1BB8C0C3D5}"/>
              </a:ext>
            </a:extLst>
          </p:cNvPr>
          <p:cNvSpPr>
            <a:spLocks xmlns:a="http://schemas.openxmlformats.org/drawingml/2006/main" noGrp="1"/>
          </p:cNvSpPr>
          <p:nvPr/>
        </p:nvSpPr>
        <p:spPr>
          <a:xfrm xmlns:a="http://schemas.openxmlformats.org/drawingml/2006/main">
            <a:off x="552450" y="356235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22B86C0B-8BE6-423F-8714-55A7E319D921}"/>
              </a:ext>
            </a:extLst>
          </p:cNvPr>
          <p:cNvSpPr>
            <a:spLocks xmlns:a="http://schemas.openxmlformats.org/drawingml/2006/main" noGrp="1"/>
          </p:cNvSpPr>
          <p:nvPr/>
        </p:nvSpPr>
        <p:spPr>
          <a:xfrm xmlns:a="http://schemas.openxmlformats.org/drawingml/2006/main">
            <a:off x="1257300" y="356235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目的：特徴依存を考慮した、個別予測の説明を計算する。</a:t>
            </a:r>
          </a:p>
        </p:txBody>
      </p:sp>
      <p:sp>
        <p:nvSpPr>
          <p:cNvPr id="12" name="">
            <a:extLst xmlns:a="http://schemas.openxmlformats.org/drawingml/2006/main">
              <a:ext uri="{FF2B5EF4-FFF2-40B4-BE49-F238E27FC236}">
                <a16:creationId xmlns:a16="http://schemas.microsoft.com/office/drawing/2014/main" id="{D3A13F7B-BE24-4061-86D6-BBB83B75C107}"/>
              </a:ext>
            </a:extLst>
          </p:cNvPr>
          <p:cNvSpPr>
            <a:spLocks xmlns:a="http://schemas.openxmlformats.org/drawingml/2006/main" noGrp="1"/>
          </p:cNvSpPr>
          <p:nvPr/>
        </p:nvSpPr>
        <p:spPr>
          <a:xfrm xmlns:a="http://schemas.openxmlformats.org/drawingml/2006/main">
            <a:off x="552450" y="437197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4C2D0CD8-A3E1-40B6-A49A-8E89FE0125A1}"/>
              </a:ext>
            </a:extLst>
          </p:cNvPr>
          <p:cNvSpPr>
            <a:spLocks xmlns:a="http://schemas.openxmlformats.org/drawingml/2006/main" noGrp="1"/>
          </p:cNvSpPr>
          <p:nvPr/>
        </p:nvSpPr>
        <p:spPr>
          <a:xfrm xmlns:a="http://schemas.openxmlformats.org/drawingml/2006/main">
            <a:off x="1257300" y="437197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本研究：残す列を条件に生成する発想を、学習用拡張へ移す。</a:t>
            </a:r>
          </a:p>
        </p:txBody>
      </p:sp>
      <p:sp>
        <p:nvSpPr>
          <p:cNvPr id="14" name="">
            <a:extLst xmlns:a="http://schemas.openxmlformats.org/drawingml/2006/main">
              <a:ext uri="{FF2B5EF4-FFF2-40B4-BE49-F238E27FC236}">
                <a16:creationId xmlns:a16="http://schemas.microsoft.com/office/drawing/2014/main" id="{9C98D33D-81FA-462E-A774-B2FC8240F46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E8EF883-F272-4011-B55A-59E389EF095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同じ条件付き生成でも、目的と評価指標は異なる</a:t>
            </a:r>
          </a:p>
        </p:txBody>
      </p:sp>
    </p:spTree>
    <p:extLst>
      <p:ext uri="{BB962C8B-B14F-4D97-AF65-F5344CB8AC3E}">
        <p14:creationId xmlns:p14="http://schemas.microsoft.com/office/powerpoint/2010/main" val="62178072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1EA405-FD96-490C-B92F-938B64E84F0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補足：先行研究2との比較で言える範囲</a:t>
            </a:r>
          </a:p>
        </p:txBody>
      </p:sp>
      <p:sp>
        <p:nvSpPr>
          <p:cNvPr id="2" name="">
            <a:extLst xmlns:a="http://schemas.openxmlformats.org/drawingml/2006/main">
              <a:ext uri="{FF2B5EF4-FFF2-40B4-BE49-F238E27FC236}">
                <a16:creationId xmlns:a16="http://schemas.microsoft.com/office/drawing/2014/main" id="{2ACC154B-590D-4D4F-960A-575568A44EE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FE4B941-3567-4FAF-973A-197BA52ED44F}"/>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クラス条件付き置換と、特徴依存の条件付き置換は条件が違う。</a:t>
            </a:r>
          </a:p>
        </p:txBody>
      </p:sp>
      <p:sp>
        <p:nvSpPr>
          <p:cNvPr id="4" name="">
            <a:extLst xmlns:a="http://schemas.openxmlformats.org/drawingml/2006/main">
              <a:ext uri="{FF2B5EF4-FFF2-40B4-BE49-F238E27FC236}">
                <a16:creationId xmlns:a16="http://schemas.microsoft.com/office/drawing/2014/main" id="{CAA17FD9-A1FB-4EDF-A0F9-D3F22D5D8D7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D89D3F0F-5693-4F6B-98AA-E95F09896D4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42</a:t>
            </a:r>
          </a:p>
        </p:txBody>
      </p:sp>
      <p:graphicFrame>
        <p:nvGraphicFramePr>
          <p:cNvPr id="14" name=""/>
          <p:cNvGraphicFramePr/>
          <p:nvPr/>
        </p:nvGraphicFramePr>
        <p:xfrm>
          <a:off xmlns:a="http://schemas.openxmlformats.org/drawingml/2006/main" x="514350" y="1933575"/>
          <a:ext xmlns:a="http://schemas.openxmlformats.org/drawingml/2006/main" cx="11163300" cy="3333750"/>
        </p:xfrm>
        <a:graphic xmlns:a="http://schemas.openxmlformats.org/drawingml/2006/main">
          <a:graphicData uri="http://schemas.openxmlformats.org/drawingml/2006/table">
            <a:tbl>
              <a:tblPr/>
              <a:tblGrid>
                <a:gridCol w="3721100"/>
                <a:gridCol w="3721100"/>
                <a:gridCol w="3721100"/>
              </a:tblGrid>
              <a:tr h="666750">
                <a:tc>
                  <a:txBody>
                    <a:bodyPr/>
                    <a:lstStyle/>
                    <a:p>
                      <a:pPr algn="ctr"/>
                      <a:r>
                        <a:rPr sz="1800" b="1">
                          <a:solidFill>
                            <a:srgbClr val="2E7D5B"/>
                          </a:solidFill>
                          <a:latin typeface="Noto Sans JP"/>
                          <a:ea typeface="Noto Sans JP"/>
                          <a:cs typeface="Noto Sans JP"/>
                        </a:rPr>
                        <a:t>観点</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クラス条件付き法</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今回のGaussian copula</a:t>
                      </a:r>
                    </a:p>
                  </a:txBody>
                  <a:tcPr marL="91440" marR="91440" marT="45720" marB="45720" anchor="ctr">
                    <a:solidFill>
                      <a:srgbClr val="E7F2EC"/>
                    </a:solidFill>
                  </a:tcPr>
                </a:tc>
              </a:tr>
              <a:tr h="666750">
                <a:tc>
                  <a:txBody>
                    <a:bodyPr/>
                    <a:lstStyle/>
                    <a:p>
                      <a:pPr algn="ctr"/>
                      <a:r>
                        <a:rPr sz="1800" b="0">
                          <a:solidFill>
                            <a:srgbClr val="222222"/>
                          </a:solidFill>
                          <a:latin typeface="Noto Sans JP"/>
                          <a:ea typeface="Noto Sans JP"/>
                          <a:cs typeface="Noto Sans JP"/>
                        </a:rPr>
                        <a:t>条件</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真／擬似クラス</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残した特徴の値</a:t>
                      </a:r>
                    </a:p>
                  </a:txBody>
                  <a:tcPr marL="91440" marR="91440" marT="45720" marB="45720" anchor="ctr">
                    <a:solidFill>
                      <a:srgbClr val="FFFFFF"/>
                    </a:solidFill>
                  </a:tcPr>
                </a:tc>
              </a:tr>
              <a:tr h="666750">
                <a:tc>
                  <a:txBody>
                    <a:bodyPr/>
                    <a:lstStyle/>
                    <a:p>
                      <a:pPr algn="ctr"/>
                      <a:r>
                        <a:rPr sz="1800" b="0">
                          <a:solidFill>
                            <a:srgbClr val="222222"/>
                          </a:solidFill>
                          <a:latin typeface="Noto Sans JP"/>
                          <a:ea typeface="Noto Sans JP"/>
                          <a:cs typeface="Noto Sans JP"/>
                        </a:rPr>
                        <a:t>強み</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同じクラス内の候補を使う</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特徴間の依存を使える</a:t>
                      </a:r>
                    </a:p>
                  </a:txBody>
                  <a:tcPr marL="91440" marR="91440" marT="45720" marB="45720" anchor="ctr">
                    <a:solidFill>
                      <a:srgbClr val="F6F6F6"/>
                    </a:solidFill>
                  </a:tcPr>
                </a:tc>
              </a:tr>
              <a:tr h="666750">
                <a:tc>
                  <a:txBody>
                    <a:bodyPr/>
                    <a:lstStyle/>
                    <a:p>
                      <a:pPr algn="ctr"/>
                      <a:r>
                        <a:rPr sz="1800" b="0">
                          <a:solidFill>
                            <a:srgbClr val="222222"/>
                          </a:solidFill>
                          <a:latin typeface="Noto Sans JP"/>
                          <a:ea typeface="Noto Sans JP"/>
                          <a:cs typeface="Noto Sans JP"/>
                        </a:rPr>
                        <a:t>課題</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擬似クラス誤りの影響</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全体分布からの生成はクラス保持を保証しない</a:t>
                      </a:r>
                    </a:p>
                  </a:txBody>
                  <a:tcPr marL="91440" marR="91440" marT="45720" marB="45720" anchor="ctr">
                    <a:solidFill>
                      <a:srgbClr val="FFFFFF"/>
                    </a:solidFill>
                  </a:tcPr>
                </a:tc>
              </a:tr>
              <a:tr h="666750">
                <a:tc>
                  <a:txBody>
                    <a:bodyPr/>
                    <a:lstStyle/>
                    <a:p>
                      <a:pPr algn="ctr"/>
                      <a:r>
                        <a:rPr sz="1800" b="0">
                          <a:solidFill>
                            <a:srgbClr val="222222"/>
                          </a:solidFill>
                          <a:latin typeface="Noto Sans JP"/>
                          <a:ea typeface="Noto Sans JP"/>
                          <a:cs typeface="Noto Sans JP"/>
                        </a:rPr>
                        <a:t>対照の解釈</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目的関数・前学習も異なる</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置換器の効果はVIME内で分離する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DEFEB14C-A6DA-4881-BC5E-1FD1C0A98DC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CE7828A-001E-4433-9C09-0EA93E47022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「擬似ラベル不要」と「クラスを保つ」は、同じ意味ではない</a:t>
            </a:r>
          </a:p>
        </p:txBody>
      </p:sp>
    </p:spTree>
    <p:extLst>
      <p:ext uri="{BB962C8B-B14F-4D97-AF65-F5344CB8AC3E}">
        <p14:creationId xmlns:p14="http://schemas.microsoft.com/office/powerpoint/2010/main" val="82770788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328A90-C289-418F-9981-ED21FA8ECB2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補足：評価指標の意味</a:t>
            </a:r>
          </a:p>
        </p:txBody>
      </p:sp>
      <p:sp>
        <p:nvSpPr>
          <p:cNvPr id="2" name="">
            <a:extLst xmlns:a="http://schemas.openxmlformats.org/drawingml/2006/main">
              <a:ext uri="{FF2B5EF4-FFF2-40B4-BE49-F238E27FC236}">
                <a16:creationId xmlns:a16="http://schemas.microsoft.com/office/drawing/2014/main" id="{B0052D6E-AFF4-4E7C-BAE5-46C2E9990B7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AB9ED6F-48D9-4F5E-A9CA-568B8A37E69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クラス数・不均衡・確率の順位を分けて評価する。</a:t>
            </a:r>
          </a:p>
        </p:txBody>
      </p:sp>
      <p:sp>
        <p:nvSpPr>
          <p:cNvPr id="4" name="">
            <a:extLst xmlns:a="http://schemas.openxmlformats.org/drawingml/2006/main">
              <a:ext uri="{FF2B5EF4-FFF2-40B4-BE49-F238E27FC236}">
                <a16:creationId xmlns:a16="http://schemas.microsoft.com/office/drawing/2014/main" id="{29C9F038-AF6C-478C-8EE7-15BA5687CA9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FC9A5BE3-D31E-4065-B97E-E961D8355D8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43</a:t>
            </a:r>
          </a:p>
        </p:txBody>
      </p:sp>
      <p:graphicFrame>
        <p:nvGraphicFramePr>
          <p:cNvPr id="14" name=""/>
          <p:cNvGraphicFramePr/>
          <p:nvPr/>
        </p:nvGraphicFramePr>
        <p:xfrm>
          <a:off xmlns:a="http://schemas.openxmlformats.org/drawingml/2006/main" x="514350" y="2019300"/>
          <a:ext xmlns:a="http://schemas.openxmlformats.org/drawingml/2006/main" cx="11163300" cy="2847975"/>
        </p:xfrm>
        <a:graphic xmlns:a="http://schemas.openxmlformats.org/drawingml/2006/main">
          <a:graphicData uri="http://schemas.openxmlformats.org/drawingml/2006/table">
            <a:tbl>
              <a:tblPr/>
              <a:tblGrid>
                <a:gridCol w="2667000"/>
                <a:gridCol w="8496300"/>
              </a:tblGrid>
              <a:tr h="569595">
                <a:tc>
                  <a:txBody>
                    <a:bodyPr/>
                    <a:lstStyle/>
                    <a:p>
                      <a:pPr algn="ctr"/>
                      <a:r>
                        <a:rPr sz="2025" b="1">
                          <a:solidFill>
                            <a:srgbClr val="2E7D5B"/>
                          </a:solidFill>
                          <a:latin typeface="Noto Sans JP"/>
                          <a:ea typeface="Noto Sans JP"/>
                          <a:cs typeface="Noto Sans JP"/>
                        </a:rPr>
                        <a:t>指標</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何を見るか</a:t>
                      </a:r>
                    </a:p>
                  </a:txBody>
                  <a:tcPr marL="91440" marR="91440" marT="45720" marB="45720" anchor="ctr">
                    <a:solidFill>
                      <a:srgbClr val="E7F2EC"/>
                    </a:solidFill>
                  </a:tcPr>
                </a:tc>
              </a:tr>
              <a:tr h="569595">
                <a:tc>
                  <a:txBody>
                    <a:bodyPr/>
                    <a:lstStyle/>
                    <a:p>
                      <a:pPr algn="ctr"/>
                      <a:r>
                        <a:rPr sz="2025" b="0">
                          <a:solidFill>
                            <a:srgbClr val="222222"/>
                          </a:solidFill>
                          <a:latin typeface="Noto Sans JP"/>
                          <a:ea typeface="Noto Sans JP"/>
                          <a:cs typeface="Noto Sans JP"/>
                        </a:rPr>
                        <a:t>ROC-AUC（主指標）</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予測スコアで正例を負例より高く並べられるか</a:t>
                      </a:r>
                    </a:p>
                  </a:txBody>
                  <a:tcPr marL="91440" marR="91440" marT="45720" marB="45720" anchor="ctr">
                    <a:solidFill>
                      <a:srgbClr val="FFFFFF"/>
                    </a:solidFill>
                  </a:tcPr>
                </a:tc>
              </a:tr>
              <a:tr h="569595">
                <a:tc>
                  <a:txBody>
                    <a:bodyPr/>
                    <a:lstStyle/>
                    <a:p>
                      <a:pPr algn="ctr"/>
                      <a:r>
                        <a:rPr sz="2025" b="0">
                          <a:solidFill>
                            <a:srgbClr val="222222"/>
                          </a:solidFill>
                          <a:latin typeface="Noto Sans JP"/>
                          <a:ea typeface="Noto Sans JP"/>
                          <a:cs typeface="Noto Sans JP"/>
                        </a:rPr>
                        <a:t>Balanced accuracy</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各クラスの再現率を同じ重みで平均</a:t>
                      </a:r>
                    </a:p>
                  </a:txBody>
                  <a:tcPr marL="91440" marR="91440" marT="45720" marB="45720" anchor="ctr">
                    <a:solidFill>
                      <a:srgbClr val="F6F6F6"/>
                    </a:solidFill>
                  </a:tcPr>
                </a:tc>
              </a:tr>
              <a:tr h="569595">
                <a:tc>
                  <a:txBody>
                    <a:bodyPr/>
                    <a:lstStyle/>
                    <a:p>
                      <a:pPr algn="ctr"/>
                      <a:r>
                        <a:rPr sz="2025" b="0">
                          <a:solidFill>
                            <a:srgbClr val="222222"/>
                          </a:solidFill>
                          <a:latin typeface="Noto Sans JP"/>
                          <a:ea typeface="Noto Sans JP"/>
                          <a:cs typeface="Noto Sans JP"/>
                        </a:rPr>
                        <a:t>Macro-F1</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各クラスの適合率と再現率のバランスを平均</a:t>
                      </a:r>
                    </a:p>
                  </a:txBody>
                  <a:tcPr marL="91440" marR="91440" marT="45720" marB="45720" anchor="ctr">
                    <a:solidFill>
                      <a:srgbClr val="FFFFFF"/>
                    </a:solidFill>
                  </a:tcPr>
                </a:tc>
              </a:tr>
              <a:tr h="569595">
                <a:tc>
                  <a:txBody>
                    <a:bodyPr/>
                    <a:lstStyle/>
                    <a:p>
                      <a:pPr algn="ctr"/>
                      <a:r>
                        <a:rPr sz="2025" b="0">
                          <a:solidFill>
                            <a:srgbClr val="222222"/>
                          </a:solidFill>
                          <a:latin typeface="Noto Sans JP"/>
                          <a:ea typeface="Noto Sans JP"/>
                          <a:cs typeface="Noto Sans JP"/>
                        </a:rPr>
                        <a:t>Accuracy</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全体の正解割合。多数クラスの影響を受ける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5BABAD83-74DA-48DE-90F5-A75C14BFF04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AD492F6-24DE-4EFE-BF84-C0DDE447C05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AUCの小さな平均差だけで、拡張の有用性を結論しない</a:t>
            </a:r>
          </a:p>
        </p:txBody>
      </p:sp>
    </p:spTree>
    <p:extLst>
      <p:ext uri="{BB962C8B-B14F-4D97-AF65-F5344CB8AC3E}">
        <p14:creationId xmlns:p14="http://schemas.microsoft.com/office/powerpoint/2010/main" val="107486173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5CCA392-1A4A-41F5-A434-90C41C1CC7F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補足：保存結果の追加対照</a:t>
            </a:r>
          </a:p>
        </p:txBody>
      </p:sp>
      <p:sp>
        <p:nvSpPr>
          <p:cNvPr id="2" name="">
            <a:extLst xmlns:a="http://schemas.openxmlformats.org/drawingml/2006/main">
              <a:ext uri="{FF2B5EF4-FFF2-40B4-BE49-F238E27FC236}">
                <a16:creationId xmlns:a16="http://schemas.microsoft.com/office/drawing/2014/main" id="{372E86D9-F7FC-4C13-A6E4-D30629E52A3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5FF434E-AAEA-4688-A9EF-7EBDC807026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公式クラス条件付き対照学習は、ランダムマスク設定の参考比較。</a:t>
            </a:r>
          </a:p>
        </p:txBody>
      </p:sp>
      <p:sp>
        <p:nvSpPr>
          <p:cNvPr id="4" name="">
            <a:extLst xmlns:a="http://schemas.openxmlformats.org/drawingml/2006/main">
              <a:ext uri="{FF2B5EF4-FFF2-40B4-BE49-F238E27FC236}">
                <a16:creationId xmlns:a16="http://schemas.microsoft.com/office/drawing/2014/main" id="{01C0454A-0204-438A-B2A0-23132D77247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6E885B96-215D-4C90-A8A1-BC07E609BBB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44</a:t>
            </a:r>
          </a:p>
        </p:txBody>
      </p:sp>
      <p:graphicFrame>
        <p:nvGraphicFramePr>
          <p:cNvPr id="15" name=""/>
          <p:cNvGraphicFramePr/>
          <p:nvPr/>
        </p:nvGraphicFramePr>
        <p:xfrm>
          <a:off xmlns:a="http://schemas.openxmlformats.org/drawingml/2006/main" x="514350" y="2085975"/>
          <a:ext xmlns:a="http://schemas.openxmlformats.org/drawingml/2006/main" cx="11163300" cy="2390775"/>
        </p:xfrm>
        <a:graphic xmlns:a="http://schemas.openxmlformats.org/drawingml/2006/main">
          <a:graphicData uri="http://schemas.openxmlformats.org/drawingml/2006/table">
            <a:tbl>
              <a:tblPr/>
              <a:tblGrid>
                <a:gridCol w="2790825"/>
                <a:gridCol w="2790825"/>
                <a:gridCol w="2790825"/>
                <a:gridCol w="2790825"/>
              </a:tblGrid>
              <a:tr h="796925">
                <a:tc>
                  <a:txBody>
                    <a:bodyPr/>
                    <a:lstStyle/>
                    <a:p>
                      <a:pPr algn="ctr"/>
                      <a:r>
                        <a:rPr sz="1875" b="1">
                          <a:solidFill>
                            <a:srgbClr val="2E7D5B"/>
                          </a:solidFill>
                          <a:latin typeface="Noto Sans JP"/>
                          <a:ea typeface="Noto Sans JP"/>
                          <a:cs typeface="Noto Sans JP"/>
                        </a:rPr>
                        <a:t>データ / AUC</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VIME列置換</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VIME copula</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クラス条件付き対照学習</a:t>
                      </a:r>
                    </a:p>
                  </a:txBody>
                  <a:tcPr marL="91440" marR="91440" marT="45720" marB="45720" anchor="ctr">
                    <a:solidFill>
                      <a:srgbClr val="E7F2EC"/>
                    </a:solidFill>
                  </a:tcPr>
                </a:tc>
              </a:tr>
              <a:tr h="796925">
                <a:tc>
                  <a:txBody>
                    <a:bodyPr/>
                    <a:lstStyle/>
                    <a:p>
                      <a:pPr algn="ctr"/>
                      <a:r>
                        <a:rPr sz="1875"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0.827 ± 0.084</a:t>
                      </a:r>
                    </a:p>
                  </a:txBody>
                  <a:tcPr marL="91440" marR="91440" marT="45720" marB="45720" anchor="ctr">
                    <a:solidFill>
                      <a:srgbClr val="FFFFFF"/>
                    </a:solidFill>
                  </a:tcPr>
                </a:tc>
              </a:tr>
              <a:tr h="796925">
                <a:tc>
                  <a:txBody>
                    <a:bodyPr/>
                    <a:lstStyle/>
                    <a:p>
                      <a:pPr algn="ctr"/>
                      <a:r>
                        <a:rPr sz="1875"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0.890 ± 0.077</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65523E0B-850A-4107-B611-43793518E0FD}"/>
              </a:ext>
            </a:extLst>
          </p:cNvPr>
          <p:cNvSpPr>
            <a:spLocks xmlns:a="http://schemas.openxmlformats.org/drawingml/2006/main" noGrp="1"/>
          </p:cNvSpPr>
          <p:nvPr/>
        </p:nvSpPr>
        <p:spPr>
          <a:xfrm xmlns:a="http://schemas.openxmlformats.org/drawingml/2006/main">
            <a:off x="619125" y="4781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条件付き生成が一律に優れる、という結果ではない。</a:t>
            </a:r>
          </a:p>
        </p:txBody>
      </p:sp>
      <p:sp>
        <p:nvSpPr>
          <p:cNvPr id="8" name="">
            <a:extLst xmlns:a="http://schemas.openxmlformats.org/drawingml/2006/main">
              <a:ext uri="{FF2B5EF4-FFF2-40B4-BE49-F238E27FC236}">
                <a16:creationId xmlns:a16="http://schemas.microsoft.com/office/drawing/2014/main" id="{6FA4BC31-90F4-4601-8F44-FA1ABA765BB8}"/>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D8345E-B5AC-41C8-8B3A-0BDF615C737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第三法との差には、置換器以外の違いも含まれる</a:t>
            </a:r>
          </a:p>
        </p:txBody>
      </p:sp>
    </p:spTree>
    <p:extLst>
      <p:ext uri="{BB962C8B-B14F-4D97-AF65-F5344CB8AC3E}">
        <p14:creationId xmlns:p14="http://schemas.microsoft.com/office/powerpoint/2010/main" val="191066393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B2F56D-9C83-4339-BA8B-A2F5F33BEE7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補足：研究で答える「なぜ？」</a:t>
            </a:r>
          </a:p>
        </p:txBody>
      </p:sp>
      <p:sp>
        <p:nvSpPr>
          <p:cNvPr id="2" name="">
            <a:extLst xmlns:a="http://schemas.openxmlformats.org/drawingml/2006/main">
              <a:ext uri="{FF2B5EF4-FFF2-40B4-BE49-F238E27FC236}">
                <a16:creationId xmlns:a16="http://schemas.microsoft.com/office/drawing/2014/main" id="{76353E1C-0B51-4C26-8C7B-31BF60B06A4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0C20107-0D90-4738-94F6-00F0DB49EB9F}"/>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意図と、現在の証拠を混同せずに答える。</a:t>
            </a:r>
          </a:p>
        </p:txBody>
      </p:sp>
      <p:sp>
        <p:nvSpPr>
          <p:cNvPr id="4" name="">
            <a:extLst xmlns:a="http://schemas.openxmlformats.org/drawingml/2006/main">
              <a:ext uri="{FF2B5EF4-FFF2-40B4-BE49-F238E27FC236}">
                <a16:creationId xmlns:a16="http://schemas.microsoft.com/office/drawing/2014/main" id="{9D4344D4-3926-4E6D-9927-CA76C5E2A18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補足・質疑</a:t>
            </a:r>
          </a:p>
        </p:txBody>
      </p:sp>
      <p:sp>
        <p:nvSpPr>
          <p:cNvPr id="5" name="">
            <a:extLst xmlns:a="http://schemas.openxmlformats.org/drawingml/2006/main">
              <a:ext uri="{FF2B5EF4-FFF2-40B4-BE49-F238E27FC236}">
                <a16:creationId xmlns:a16="http://schemas.microsoft.com/office/drawing/2014/main" id="{D8A2F7EE-C730-43F6-9EAC-6F58DF3E07D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45</a:t>
            </a:r>
          </a:p>
        </p:txBody>
      </p:sp>
      <p:graphicFrame>
        <p:nvGraphicFramePr>
          <p:cNvPr id="14" name=""/>
          <p:cNvGraphicFramePr/>
          <p:nvPr/>
        </p:nvGraphicFramePr>
        <p:xfrm>
          <a:off xmlns:a="http://schemas.openxmlformats.org/drawingml/2006/main" x="514350" y="1981200"/>
          <a:ext xmlns:a="http://schemas.openxmlformats.org/drawingml/2006/main" cx="11163300" cy="3248025"/>
        </p:xfrm>
        <a:graphic xmlns:a="http://schemas.openxmlformats.org/drawingml/2006/main">
          <a:graphicData uri="http://schemas.openxmlformats.org/drawingml/2006/table">
            <a:tbl>
              <a:tblPr/>
              <a:tblGrid>
                <a:gridCol w="2667000"/>
                <a:gridCol w="8496300"/>
              </a:tblGrid>
              <a:tr h="649605">
                <a:tc>
                  <a:txBody>
                    <a:bodyPr/>
                    <a:lstStyle/>
                    <a:p>
                      <a:pPr algn="ctr"/>
                      <a:r>
                        <a:rPr sz="1875" b="1">
                          <a:solidFill>
                            <a:srgbClr val="2E7D5B"/>
                          </a:solidFill>
                          <a:latin typeface="Noto Sans JP"/>
                          <a:ea typeface="Noto Sans JP"/>
                          <a:cs typeface="Noto Sans JP"/>
                        </a:rPr>
                        <a:t>問い</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現時点の答え</a:t>
                      </a:r>
                    </a:p>
                  </a:txBody>
                  <a:tcPr marL="91440" marR="91440" marT="45720" marB="45720" anchor="ctr">
                    <a:solidFill>
                      <a:srgbClr val="E7F2EC"/>
                    </a:solidFill>
                  </a:tcPr>
                </a:tc>
              </a:tr>
              <a:tr h="649605">
                <a:tc>
                  <a:txBody>
                    <a:bodyPr/>
                    <a:lstStyle/>
                    <a:p>
                      <a:pPr algn="ctr"/>
                      <a:r>
                        <a:rPr sz="1875" b="0">
                          <a:solidFill>
                            <a:srgbClr val="222222"/>
                          </a:solidFill>
                          <a:latin typeface="Noto Sans JP"/>
                          <a:ea typeface="Noto Sans JP"/>
                          <a:cs typeface="Noto Sans JP"/>
                        </a:rPr>
                        <a:t>なぜコピュラ？</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周辺の形と依存を分け、観測列を条件に生成するため。</a:t>
                      </a:r>
                    </a:p>
                  </a:txBody>
                  <a:tcPr marL="91440" marR="91440" marT="45720" marB="45720" anchor="ctr">
                    <a:solidFill>
                      <a:srgbClr val="FFFFFF"/>
                    </a:solidFill>
                  </a:tcPr>
                </a:tc>
              </a:tr>
              <a:tr h="649605">
                <a:tc>
                  <a:txBody>
                    <a:bodyPr/>
                    <a:lstStyle/>
                    <a:p>
                      <a:pPr algn="ctr"/>
                      <a:r>
                        <a:rPr sz="1875" b="0">
                          <a:solidFill>
                            <a:srgbClr val="222222"/>
                          </a:solidFill>
                          <a:latin typeface="Noto Sans JP"/>
                          <a:ea typeface="Noto Sans JP"/>
                          <a:cs typeface="Noto Sans JP"/>
                        </a:rPr>
                        <a:t>なぜGaussian？</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多変量の条件付き分布が計算でき、比較を始めやすいため。</a:t>
                      </a:r>
                    </a:p>
                  </a:txBody>
                  <a:tcPr marL="91440" marR="91440" marT="45720" marB="45720" anchor="ctr">
                    <a:solidFill>
                      <a:srgbClr val="F6F6F6"/>
                    </a:solidFill>
                  </a:tcPr>
                </a:tc>
              </a:tr>
              <a:tr h="649605">
                <a:tc>
                  <a:txBody>
                    <a:bodyPr/>
                    <a:lstStyle/>
                    <a:p>
                      <a:pPr algn="ctr"/>
                      <a:r>
                        <a:rPr sz="1875" b="0">
                          <a:solidFill>
                            <a:srgbClr val="222222"/>
                          </a:solidFill>
                          <a:latin typeface="Noto Sans JP"/>
                          <a:ea typeface="Noto Sans JP"/>
                          <a:cs typeface="Noto Sans JP"/>
                        </a:rPr>
                        <a:t>なぜラベルなし？</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依存推定は特徴の組でできる。ただしラベル保持は別問題。</a:t>
                      </a:r>
                    </a:p>
                  </a:txBody>
                  <a:tcPr marL="91440" marR="91440" marT="45720" marB="45720" anchor="ctr">
                    <a:solidFill>
                      <a:srgbClr val="FFFFFF"/>
                    </a:solidFill>
                  </a:tcPr>
                </a:tc>
              </a:tr>
              <a:tr h="649605">
                <a:tc>
                  <a:txBody>
                    <a:bodyPr/>
                    <a:lstStyle/>
                    <a:p>
                      <a:pPr algn="ctr"/>
                      <a:r>
                        <a:rPr sz="1875" b="0">
                          <a:solidFill>
                            <a:srgbClr val="222222"/>
                          </a:solidFill>
                          <a:latin typeface="Noto Sans JP"/>
                          <a:ea typeface="Noto Sans JP"/>
                          <a:cs typeface="Noto Sans JP"/>
                        </a:rPr>
                        <a:t>なぜ性能がまだ不確か？</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少数データ・seed、モデルの仮定、拡張強度を検証中。</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A409A313-27ED-4D68-B9BF-8191C29DA40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A492EB8-2F91-4AD6-9080-50B9F3887C9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教授・先輩に相談したい点：生成品質とクラス保持をどう評価するか</a:t>
            </a:r>
          </a:p>
        </p:txBody>
      </p:sp>
    </p:spTree>
    <p:extLst>
      <p:ext uri="{BB962C8B-B14F-4D97-AF65-F5344CB8AC3E}">
        <p14:creationId xmlns:p14="http://schemas.microsoft.com/office/powerpoint/2010/main" val="28410579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2065A20-379B-4DB8-A62B-A3FD22E4109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補足：裾依存係数の定義</a:t>
            </a:r>
          </a:p>
        </p:txBody>
      </p:sp>
      <p:sp>
        <p:nvSpPr>
          <p:cNvPr id="2" name="">
            <a:extLst xmlns:a="http://schemas.openxmlformats.org/drawingml/2006/main">
              <a:ext uri="{FF2B5EF4-FFF2-40B4-BE49-F238E27FC236}">
                <a16:creationId xmlns:a16="http://schemas.microsoft.com/office/drawing/2014/main" id="{A3CE6A80-4DBE-4BB1-9DD2-8A70982F0E8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AC01C3D-68FD-4902-B24A-5053B4ECB32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極端な条件での確率を、端まで近づけた極限。</a:t>
            </a:r>
          </a:p>
        </p:txBody>
      </p:sp>
      <p:sp>
        <p:nvSpPr>
          <p:cNvPr id="4" name="">
            <a:extLst xmlns:a="http://schemas.openxmlformats.org/drawingml/2006/main">
              <a:ext uri="{FF2B5EF4-FFF2-40B4-BE49-F238E27FC236}">
                <a16:creationId xmlns:a16="http://schemas.microsoft.com/office/drawing/2014/main" id="{986BDAD2-C770-402C-BF33-45B08EC82D9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25124F7D-7758-46D0-98B4-514007AAB11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46</a:t>
            </a:r>
          </a:p>
        </p:txBody>
      </p:sp>
      <p:sp>
        <p:nvSpPr>
          <p:cNvPr id="6" name="">
            <a:extLst xmlns:a="http://schemas.openxmlformats.org/drawingml/2006/main">
              <a:ext uri="{FF2B5EF4-FFF2-40B4-BE49-F238E27FC236}">
                <a16:creationId xmlns:a16="http://schemas.microsoft.com/office/drawing/2014/main" id="{20467B17-06FD-43E7-AACF-74937F46C74C}"/>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7D9B3A0-632A-4F99-B9A4-F6BD250E4A28}"/>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λL = lim(q → 0) P(V ≤ q | U ≤ q)</a:t>
            </a:r>
          </a:p>
        </p:txBody>
      </p:sp>
      <p:sp>
        <p:nvSpPr>
          <p:cNvPr id="8" name="">
            <a:extLst xmlns:a="http://schemas.openxmlformats.org/drawingml/2006/main">
              <a:ext uri="{FF2B5EF4-FFF2-40B4-BE49-F238E27FC236}">
                <a16:creationId xmlns:a16="http://schemas.microsoft.com/office/drawing/2014/main" id="{BA5914A0-158E-47BD-BEA0-10BC35672262}"/>
              </a:ext>
            </a:extLst>
          </p:cNvPr>
          <p:cNvSpPr>
            <a:spLocks xmlns:a="http://schemas.openxmlformats.org/drawingml/2006/main" noGrp="1"/>
          </p:cNvSpPr>
          <p:nvPr/>
        </p:nvSpPr>
        <p:spPr>
          <a:xfrm xmlns:a="http://schemas.openxmlformats.org/drawingml/2006/main">
            <a:off x="514350" y="32956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B69DB68-0845-4F6A-BD07-E4BC04E1316B}"/>
              </a:ext>
            </a:extLst>
          </p:cNvPr>
          <p:cNvSpPr>
            <a:spLocks xmlns:a="http://schemas.openxmlformats.org/drawingml/2006/main" noGrp="1"/>
          </p:cNvSpPr>
          <p:nvPr/>
        </p:nvSpPr>
        <p:spPr>
          <a:xfrm xmlns:a="http://schemas.openxmlformats.org/drawingml/2006/main">
            <a:off x="704850" y="33909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λU = lim(q → 1) P(V &gt; q | U &gt; q)</a:t>
            </a:r>
          </a:p>
        </p:txBody>
      </p:sp>
      <p:sp>
        <p:nvSpPr>
          <p:cNvPr id="10" name="">
            <a:extLst xmlns:a="http://schemas.openxmlformats.org/drawingml/2006/main">
              <a:ext uri="{FF2B5EF4-FFF2-40B4-BE49-F238E27FC236}">
                <a16:creationId xmlns:a16="http://schemas.microsoft.com/office/drawing/2014/main" id="{6307B52C-59F4-46EB-B8BD-C3467F4FCF0F}"/>
              </a:ext>
            </a:extLst>
          </p:cNvPr>
          <p:cNvSpPr>
            <a:spLocks xmlns:a="http://schemas.openxmlformats.org/drawingml/2006/main" noGrp="1"/>
          </p:cNvSpPr>
          <p:nvPr/>
        </p:nvSpPr>
        <p:spPr>
          <a:xfrm xmlns:a="http://schemas.openxmlformats.org/drawingml/2006/main">
            <a:off x="619125" y="47339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例：q = 0.99 で共発生があることと、極限が正であることは別。</a:t>
            </a:r>
          </a:p>
        </p:txBody>
      </p:sp>
      <p:sp>
        <p:nvSpPr>
          <p:cNvPr id="11" name="">
            <a:extLst xmlns:a="http://schemas.openxmlformats.org/drawingml/2006/main">
              <a:ext uri="{FF2B5EF4-FFF2-40B4-BE49-F238E27FC236}">
                <a16:creationId xmlns:a16="http://schemas.microsoft.com/office/drawing/2014/main" id="{F0EF009F-6026-48E6-9D1F-EA869524B05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EC6E79D-342A-40D6-B485-595D87A5D7C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「裾依存が0」を「極端な領域でも独立」と解釈しない</a:t>
            </a:r>
          </a:p>
        </p:txBody>
      </p:sp>
    </p:spTree>
    <p:extLst>
      <p:ext uri="{BB962C8B-B14F-4D97-AF65-F5344CB8AC3E}">
        <p14:creationId xmlns:p14="http://schemas.microsoft.com/office/powerpoint/2010/main" val="101513677"/>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43F9B1C-03CC-4E51-B738-34A43BDF5B4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補足：VIMEで学習させる対象</a:t>
            </a:r>
          </a:p>
        </p:txBody>
      </p:sp>
      <p:sp>
        <p:nvSpPr>
          <p:cNvPr id="2" name="">
            <a:extLst xmlns:a="http://schemas.openxmlformats.org/drawingml/2006/main">
              <a:ext uri="{FF2B5EF4-FFF2-40B4-BE49-F238E27FC236}">
                <a16:creationId xmlns:a16="http://schemas.microsoft.com/office/drawing/2014/main" id="{1BAEE871-0C86-4ABB-B5F0-D816F396389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D6F3249-F37F-4896-A196-772DD806644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生成の品質だけでなく、学習課題との組合せが結果を決める。</a:t>
            </a:r>
          </a:p>
        </p:txBody>
      </p:sp>
      <p:sp>
        <p:nvSpPr>
          <p:cNvPr id="4" name="">
            <a:extLst xmlns:a="http://schemas.openxmlformats.org/drawingml/2006/main">
              <a:ext uri="{FF2B5EF4-FFF2-40B4-BE49-F238E27FC236}">
                <a16:creationId xmlns:a16="http://schemas.microsoft.com/office/drawing/2014/main" id="{6440E925-06BE-414C-A225-8ADBFC008988}"/>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5CE4F490-AF4F-486E-ABEF-219B43FF068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47</a:t>
            </a:r>
          </a:p>
        </p:txBody>
      </p:sp>
      <p:graphicFrame>
        <p:nvGraphicFramePr>
          <p:cNvPr id="14" name=""/>
          <p:cNvGraphicFramePr/>
          <p:nvPr/>
        </p:nvGraphicFramePr>
        <p:xfrm>
          <a:off xmlns:a="http://schemas.openxmlformats.org/drawingml/2006/main" x="514350" y="2000250"/>
          <a:ext xmlns:a="http://schemas.openxmlformats.org/drawingml/2006/main" cx="11163300" cy="3267075"/>
        </p:xfrm>
        <a:graphic xmlns:a="http://schemas.openxmlformats.org/drawingml/2006/main">
          <a:graphicData uri="http://schemas.openxmlformats.org/drawingml/2006/table">
            <a:tbl>
              <a:tblPr/>
              <a:tblGrid>
                <a:gridCol w="2667000"/>
                <a:gridCol w="8496300"/>
              </a:tblGrid>
              <a:tr h="653415">
                <a:tc>
                  <a:txBody>
                    <a:bodyPr/>
                    <a:lstStyle/>
                    <a:p>
                      <a:pPr algn="ctr"/>
                      <a:r>
                        <a:rPr sz="1875" b="1">
                          <a:solidFill>
                            <a:srgbClr val="2E7D5B"/>
                          </a:solidFill>
                          <a:latin typeface="Noto Sans JP"/>
                          <a:ea typeface="Noto Sans JP"/>
                          <a:cs typeface="Noto Sans JP"/>
                        </a:rPr>
                        <a:t>段階</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入力・学習目標</a:t>
                      </a:r>
                    </a:p>
                  </a:txBody>
                  <a:tcPr marL="91440" marR="91440" marT="45720" marB="45720" anchor="ctr">
                    <a:solidFill>
                      <a:srgbClr val="E7F2EC"/>
                    </a:solidFill>
                  </a:tcPr>
                </a:tc>
              </a:tr>
              <a:tr h="653415">
                <a:tc>
                  <a:txBody>
                    <a:bodyPr/>
                    <a:lstStyle/>
                    <a:p>
                      <a:pPr algn="ctr"/>
                      <a:r>
                        <a:rPr sz="1875" b="0">
                          <a:solidFill>
                            <a:srgbClr val="222222"/>
                          </a:solidFill>
                          <a:latin typeface="Noto Sans JP"/>
                          <a:ea typeface="Noto Sans JP"/>
                          <a:cs typeface="Noto Sans JP"/>
                        </a:rPr>
                        <a:t>自己教師あり：マスク推定</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置換後の行から、実際に値が変わった位置を予測（BCE）</a:t>
                      </a:r>
                    </a:p>
                  </a:txBody>
                  <a:tcPr marL="91440" marR="91440" marT="45720" marB="45720" anchor="ctr">
                    <a:solidFill>
                      <a:srgbClr val="FFFFFF"/>
                    </a:solidFill>
                  </a:tcPr>
                </a:tc>
              </a:tr>
              <a:tr h="653415">
                <a:tc>
                  <a:txBody>
                    <a:bodyPr/>
                    <a:lstStyle/>
                    <a:p>
                      <a:pPr algn="ctr"/>
                      <a:r>
                        <a:rPr sz="1875" b="0">
                          <a:solidFill>
                            <a:srgbClr val="222222"/>
                          </a:solidFill>
                          <a:latin typeface="Noto Sans JP"/>
                          <a:ea typeface="Noto Sans JP"/>
                          <a:cs typeface="Noto Sans JP"/>
                        </a:rPr>
                        <a:t>自己教師あり：元値復元</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置換後の行から、元の行の値を復元（MSE、重み2）</a:t>
                      </a:r>
                    </a:p>
                  </a:txBody>
                  <a:tcPr marL="91440" marR="91440" marT="45720" marB="45720" anchor="ctr">
                    <a:solidFill>
                      <a:srgbClr val="F6F6F6"/>
                    </a:solidFill>
                  </a:tcPr>
                </a:tc>
              </a:tr>
              <a:tr h="653415">
                <a:tc>
                  <a:txBody>
                    <a:bodyPr/>
                    <a:lstStyle/>
                    <a:p>
                      <a:pPr algn="ctr"/>
                      <a:r>
                        <a:rPr sz="1875" b="0">
                          <a:solidFill>
                            <a:srgbClr val="222222"/>
                          </a:solidFill>
                          <a:latin typeface="Noto Sans JP"/>
                          <a:ea typeface="Noto Sans JP"/>
                          <a:cs typeface="Noto Sans JP"/>
                        </a:rPr>
                        <a:t>半教師あり：分類</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ラベルあり行の正解クラスを予測（交差エントロピー）</a:t>
                      </a:r>
                    </a:p>
                  </a:txBody>
                  <a:tcPr marL="91440" marR="91440" marT="45720" marB="45720" anchor="ctr">
                    <a:solidFill>
                      <a:srgbClr val="FFFFFF"/>
                    </a:solidFill>
                  </a:tcPr>
                </a:tc>
              </a:tr>
              <a:tr h="653415">
                <a:tc>
                  <a:txBody>
                    <a:bodyPr/>
                    <a:lstStyle/>
                    <a:p>
                      <a:pPr algn="ctr"/>
                      <a:r>
                        <a:rPr sz="1875" b="0">
                          <a:solidFill>
                            <a:srgbClr val="222222"/>
                          </a:solidFill>
                          <a:latin typeface="Noto Sans JP"/>
                          <a:ea typeface="Noto Sans JP"/>
                          <a:cs typeface="Noto Sans JP"/>
                        </a:rPr>
                        <a:t>半教師あり：一貫性</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同じ行の3拡張で、予測logitのばらつきを抑える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B20DEF32-44BA-40FF-81EC-48BD8641256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A8B919D-9260-438F-B6A2-F7E834D73D7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自然な置換でも、課題が簡単すぎる／意味が変わるなら効果は保証されない</a:t>
            </a:r>
          </a:p>
        </p:txBody>
      </p:sp>
    </p:spTree>
    <p:extLst>
      <p:ext uri="{BB962C8B-B14F-4D97-AF65-F5344CB8AC3E}">
        <p14:creationId xmlns:p14="http://schemas.microsoft.com/office/powerpoint/2010/main" val="210121775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377F93-F792-4139-924F-A37F8956F5E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補足：実装の呼び出しのイメージ</a:t>
            </a:r>
          </a:p>
        </p:txBody>
      </p:sp>
      <p:sp>
        <p:nvSpPr>
          <p:cNvPr id="2" name="">
            <a:extLst xmlns:a="http://schemas.openxmlformats.org/drawingml/2006/main">
              <a:ext uri="{FF2B5EF4-FFF2-40B4-BE49-F238E27FC236}">
                <a16:creationId xmlns:a16="http://schemas.microsoft.com/office/drawing/2014/main" id="{93D5CC55-785C-4E0D-B69E-1D4736E342B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640D1E2-968C-4801-AE48-03B74871C5DF}"/>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学習時に分布を覚え、拡張時に同じ生成器を呼ぶ。</a:t>
            </a:r>
          </a:p>
        </p:txBody>
      </p:sp>
      <p:sp>
        <p:nvSpPr>
          <p:cNvPr id="4" name="">
            <a:extLst xmlns:a="http://schemas.openxmlformats.org/drawingml/2006/main">
              <a:ext uri="{FF2B5EF4-FFF2-40B4-BE49-F238E27FC236}">
                <a16:creationId xmlns:a16="http://schemas.microsoft.com/office/drawing/2014/main" id="{CD5531A0-3A1A-46B6-89CF-047140B950C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928E4BB8-B2A0-4399-A067-B357978E7B2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48</a:t>
            </a:r>
          </a:p>
        </p:txBody>
      </p:sp>
      <p:sp>
        <p:nvSpPr>
          <p:cNvPr id="6" name="">
            <a:extLst xmlns:a="http://schemas.openxmlformats.org/drawingml/2006/main">
              <a:ext uri="{FF2B5EF4-FFF2-40B4-BE49-F238E27FC236}">
                <a16:creationId xmlns:a16="http://schemas.microsoft.com/office/drawing/2014/main" id="{3EF4DCB3-ED9F-4C51-9396-D7355372A650}"/>
              </a:ext>
            </a:extLst>
          </p:cNvPr>
          <p:cNvSpPr>
            <a:spLocks xmlns:a="http://schemas.openxmlformats.org/drawingml/2006/main" noGrp="1"/>
          </p:cNvSpPr>
          <p:nvPr/>
        </p:nvSpPr>
        <p:spPr>
          <a:xfrm xmlns:a="http://schemas.openxmlformats.org/drawingml/2006/main">
            <a:off x="514350" y="1981200"/>
            <a:ext cx="11163300" cy="33718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945F5EC-5818-4372-90E0-6BF7598EABE9}"/>
              </a:ext>
            </a:extLst>
          </p:cNvPr>
          <p:cNvSpPr>
            <a:spLocks xmlns:a="http://schemas.openxmlformats.org/drawingml/2006/main" noGrp="1"/>
          </p:cNvSpPr>
          <p:nvPr/>
        </p:nvSpPr>
        <p:spPr>
          <a:xfrm xmlns:a="http://schemas.openxmlformats.org/drawingml/2006/main">
            <a:off x="762000" y="2209800"/>
            <a:ext cx="106680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copula = GaussianCopulaCorruptor()</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copula.fit(x_unlabeled_train)</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mask = rng.random(x.shape) &lt; 0.4</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x_aug = copula(x, mask, rng)</a:t>
            </a:r>
          </a:p>
        </p:txBody>
      </p:sp>
      <p:sp>
        <p:nvSpPr>
          <p:cNvPr id="8" name="">
            <a:extLst xmlns:a="http://schemas.openxmlformats.org/drawingml/2006/main">
              <a:ext uri="{FF2B5EF4-FFF2-40B4-BE49-F238E27FC236}">
                <a16:creationId xmlns:a16="http://schemas.microsoft.com/office/drawing/2014/main" id="{FC5C106D-1880-4129-9BE7-97B793CB2770}"/>
              </a:ext>
            </a:extLst>
          </p:cNvPr>
          <p:cNvSpPr>
            <a:spLocks xmlns:a="http://schemas.openxmlformats.org/drawingml/2006/main" noGrp="1"/>
          </p:cNvSpPr>
          <p:nvPr/>
        </p:nvSpPr>
        <p:spPr>
          <a:xfrm xmlns:a="http://schemas.openxmlformats.org/drawingml/2006/main">
            <a:off x="723900" y="48101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1">
                <a:solidFill>
                  <a:srgbClr val="222222"/>
                </a:solidFill>
                <a:latin typeface="Noto Sans JP"/>
                <a:ea typeface="Noto Sans JP"/>
                <a:cs typeface="Noto Sans JP"/>
              </a:defRPr>
            </a:pPr>
            <a:r>
              <a:rPr sz="2025" b="1">
                <a:solidFill>
                  <a:srgbClr val="222222"/>
                </a:solidFill>
                <a:latin typeface="Noto Sans JP"/>
                <a:ea typeface="Noto Sans JP"/>
                <a:cs typeface="Noto Sans JP"/>
              </a:rPr>
              <a:t>mask = True の列だけ置換。False の列は、その行の値を維持。</a:t>
            </a:r>
          </a:p>
        </p:txBody>
      </p:sp>
      <p:sp>
        <p:nvSpPr>
          <p:cNvPr id="9" name="">
            <a:extLst xmlns:a="http://schemas.openxmlformats.org/drawingml/2006/main">
              <a:ext uri="{FF2B5EF4-FFF2-40B4-BE49-F238E27FC236}">
                <a16:creationId xmlns:a16="http://schemas.microsoft.com/office/drawing/2014/main" id="{AFDECF27-3E43-4660-B7FF-DA1F5A3A1AA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53D8C06-88AE-41F7-871E-B1E6647726D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分類の比較では、VIMEClassifierにこの生成器を渡す</a:t>
            </a:r>
          </a:p>
        </p:txBody>
      </p:sp>
    </p:spTree>
    <p:extLst>
      <p:ext uri="{BB962C8B-B14F-4D97-AF65-F5344CB8AC3E}">
        <p14:creationId xmlns:p14="http://schemas.microsoft.com/office/powerpoint/2010/main" val="123648061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4C4895-299A-47D3-904A-1B36A9C26A0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参考文献・実装の根拠</a:t>
            </a:r>
          </a:p>
        </p:txBody>
      </p:sp>
      <p:sp>
        <p:nvSpPr>
          <p:cNvPr id="2" name="">
            <a:extLst xmlns:a="http://schemas.openxmlformats.org/drawingml/2006/main">
              <a:ext uri="{FF2B5EF4-FFF2-40B4-BE49-F238E27FC236}">
                <a16:creationId xmlns:a16="http://schemas.microsoft.com/office/drawing/2014/main" id="{8E025067-5A21-4626-89EA-08ECA5CF07D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BB1F5A1-F52A-44A4-97A6-B506B5EF399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説明の出典と、比較実験のデータを区別する。</a:t>
            </a:r>
          </a:p>
        </p:txBody>
      </p:sp>
      <p:sp>
        <p:nvSpPr>
          <p:cNvPr id="4" name="">
            <a:extLst xmlns:a="http://schemas.openxmlformats.org/drawingml/2006/main">
              <a:ext uri="{FF2B5EF4-FFF2-40B4-BE49-F238E27FC236}">
                <a16:creationId xmlns:a16="http://schemas.microsoft.com/office/drawing/2014/main" id="{87EFB7F9-6493-448B-9D2D-47BFB96CD59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参考文献</a:t>
            </a:r>
          </a:p>
        </p:txBody>
      </p:sp>
      <p:sp>
        <p:nvSpPr>
          <p:cNvPr id="5" name="">
            <a:extLst xmlns:a="http://schemas.openxmlformats.org/drawingml/2006/main">
              <a:ext uri="{FF2B5EF4-FFF2-40B4-BE49-F238E27FC236}">
                <a16:creationId xmlns:a16="http://schemas.microsoft.com/office/drawing/2014/main" id="{33F7EA96-579D-4D1B-8885-70CCA66D6A6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49</a:t>
            </a:r>
          </a:p>
        </p:txBody>
      </p:sp>
      <p:sp>
        <p:nvSpPr>
          <p:cNvPr id="6" name="">
            <a:extLst xmlns:a="http://schemas.openxmlformats.org/drawingml/2006/main">
              <a:ext uri="{FF2B5EF4-FFF2-40B4-BE49-F238E27FC236}">
                <a16:creationId xmlns:a16="http://schemas.microsoft.com/office/drawing/2014/main" id="{E35BF5C1-8C84-486C-AEC8-ACB13F4B99C7}"/>
              </a:ext>
            </a:extLst>
          </p:cNvPr>
          <p:cNvSpPr>
            <a:spLocks xmlns:a="http://schemas.openxmlformats.org/drawingml/2006/main" noGrp="1"/>
          </p:cNvSpPr>
          <p:nvPr/>
        </p:nvSpPr>
        <p:spPr>
          <a:xfrm xmlns:a="http://schemas.openxmlformats.org/drawingml/2006/main">
            <a:off x="628650" y="1952625"/>
            <a:ext cx="1095375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基礎：Haugh, An Introduction to Copulas ／ Segers, Fundamentals of copulas</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種類：Demarta &amp; McNeil (2005) ／ Czado &amp; Nagler (2022)</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応用：Zhao &amp; Udell (KDD 2020) ／ Aas et al. (2021)</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学習：Yoon et al., VIME (NeurIPS 2020) ／ Cui et al. (2024)</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実装：research-bench/src/tabular_research/corruption.py</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比較：research-bench/scripts/quick_compare.py</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保存結果：research-bench/results/repeated_compare.json</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今回の再実行：比較実験/run_experiment.py・rerun_results.json</a:t>
            </a:r>
          </a:p>
        </p:txBody>
      </p:sp>
      <p:sp>
        <p:nvSpPr>
          <p:cNvPr id="7" name="">
            <a:extLst xmlns:a="http://schemas.openxmlformats.org/drawingml/2006/main">
              <a:ext uri="{FF2B5EF4-FFF2-40B4-BE49-F238E27FC236}">
                <a16:creationId xmlns:a16="http://schemas.microsoft.com/office/drawing/2014/main" id="{B5FB7E0A-9AE1-4B7C-BE80-75ED09D2E24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5F0FC7D-145E-43A3-BBB9-12BB050DA61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本文は直感を優先。詳しい定義・数式・出典は補足とノートへ</a:t>
            </a:r>
          </a:p>
        </p:txBody>
      </p:sp>
    </p:spTree>
    <p:extLst>
      <p:ext uri="{BB962C8B-B14F-4D97-AF65-F5344CB8AC3E}">
        <p14:creationId xmlns:p14="http://schemas.microsoft.com/office/powerpoint/2010/main" val="11040048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2026-10-04T04:22:06.9370000Z</dcterms:created>
  <dcterms:modified xsi:type="dcterms:W3CDTF">2026-10-04T04:22:06.9370000Z</dcterms:modified>
</coreProperties>
</file>