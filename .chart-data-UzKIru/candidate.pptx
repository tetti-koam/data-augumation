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af3c75a20e4ed2" /><Relationship Type="http://schemas.openxmlformats.org/officeDocument/2006/relationships/extended-properties" Target="/docProps/app.xml" Id="R8b413487eadd42c2" /><Relationship Type="http://schemas.openxmlformats.org/officeDocument/2006/relationships/officeDocument" Target="/ppt/presentation.xml" Id="R97f7cdba187343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7c5fb81b914ec1"/>
  </p:sldMasterIdLst>
  <p:notesMasterIdLst>
    <p:notesMasterId xmlns:r="http://schemas.openxmlformats.org/officeDocument/2006/relationships" r:id="R73710a1e4073475e"/>
  </p:notesMasterIdLst>
  <p:sldIdLst>
    <p:sldId xmlns:r="http://schemas.openxmlformats.org/officeDocument/2006/relationships" id="256" r:id="Rc26317f119824d4d"/>
    <p:sldId xmlns:r="http://schemas.openxmlformats.org/officeDocument/2006/relationships" id="257" r:id="Rf8786e6cd2884bc4"/>
    <p:sldId xmlns:r="http://schemas.openxmlformats.org/officeDocument/2006/relationships" id="258" r:id="Rcfbad976ec4449b9"/>
    <p:sldId xmlns:r="http://schemas.openxmlformats.org/officeDocument/2006/relationships" id="259" r:id="R1d7a72ee48034602"/>
    <p:sldId xmlns:r="http://schemas.openxmlformats.org/officeDocument/2006/relationships" id="260" r:id="R33529ea548ad45b1"/>
    <p:sldId xmlns:r="http://schemas.openxmlformats.org/officeDocument/2006/relationships" id="261" r:id="R40a0e0a6da054651"/>
    <p:sldId xmlns:r="http://schemas.openxmlformats.org/officeDocument/2006/relationships" id="262" r:id="Rcdf061175bf24dbd"/>
    <p:sldId xmlns:r="http://schemas.openxmlformats.org/officeDocument/2006/relationships" id="263" r:id="Rd7accedf707e4587"/>
    <p:sldId xmlns:r="http://schemas.openxmlformats.org/officeDocument/2006/relationships" id="264" r:id="Rc1f2a826338444f2"/>
    <p:sldId xmlns:r="http://schemas.openxmlformats.org/officeDocument/2006/relationships" id="265" r:id="R3d9180e909cf4937"/>
    <p:sldId xmlns:r="http://schemas.openxmlformats.org/officeDocument/2006/relationships" id="266" r:id="R919e861839c04676"/>
    <p:sldId xmlns:r="http://schemas.openxmlformats.org/officeDocument/2006/relationships" id="267" r:id="Ra81fbfa5428844e7"/>
    <p:sldId xmlns:r="http://schemas.openxmlformats.org/officeDocument/2006/relationships" id="268" r:id="R63838f1e346a4168"/>
    <p:sldId xmlns:r="http://schemas.openxmlformats.org/officeDocument/2006/relationships" id="269" r:id="R7f7f0afe0320429d"/>
    <p:sldId xmlns:r="http://schemas.openxmlformats.org/officeDocument/2006/relationships" id="270" r:id="Re25182ba28a0405a"/>
    <p:sldId xmlns:r="http://schemas.openxmlformats.org/officeDocument/2006/relationships" id="271" r:id="R8d88adb8f2bf4354"/>
    <p:sldId xmlns:r="http://schemas.openxmlformats.org/officeDocument/2006/relationships" id="272" r:id="Rcde4c19b4726443c"/>
    <p:sldId xmlns:r="http://schemas.openxmlformats.org/officeDocument/2006/relationships" id="273" r:id="Rce72263235a8444d"/>
    <p:sldId xmlns:r="http://schemas.openxmlformats.org/officeDocument/2006/relationships" id="274" r:id="R86076a46ab2b4911"/>
    <p:sldId xmlns:r="http://schemas.openxmlformats.org/officeDocument/2006/relationships" id="275" r:id="Rdc829947d0dd4d63"/>
    <p:sldId xmlns:r="http://schemas.openxmlformats.org/officeDocument/2006/relationships" id="276" r:id="R847169cefc894844"/>
    <p:sldId xmlns:r="http://schemas.openxmlformats.org/officeDocument/2006/relationships" id="277" r:id="R6697edd84d7a4c1b"/>
    <p:sldId xmlns:r="http://schemas.openxmlformats.org/officeDocument/2006/relationships" id="278" r:id="Rca682f98cff24d9e"/>
    <p:sldId xmlns:r="http://schemas.openxmlformats.org/officeDocument/2006/relationships" id="279" r:id="R2d78eede643743f9"/>
    <p:sldId xmlns:r="http://schemas.openxmlformats.org/officeDocument/2006/relationships" id="280" r:id="Re9a16d30c9e94865"/>
    <p:sldId xmlns:r="http://schemas.openxmlformats.org/officeDocument/2006/relationships" id="281" r:id="R6dcf47fbe97f48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94237de88f4a1f" /><Relationship Type="http://schemas.openxmlformats.org/officeDocument/2006/relationships/slideMaster" Target="/ppt/slideMasters/slideMaster1.xml" Id="R707c5fb81b914ec1" /><Relationship Type="http://schemas.openxmlformats.org/officeDocument/2006/relationships/notesMaster" Target="/ppt/notesMasters/notesMaster1.xml" Id="R73710a1e4073475e" /><Relationship Type="http://schemas.openxmlformats.org/officeDocument/2006/relationships/presProps" Target="/ppt/presProps.xml" Id="Rab6cd4b2a8634b45" /><Relationship Type="http://schemas.openxmlformats.org/officeDocument/2006/relationships/tableStyles" Target="/ppt/tableStyles.xml" Id="R25547683727b4620" /><Relationship Type="http://schemas.openxmlformats.org/officeDocument/2006/relationships/slide" Target="/ppt/slides/slide1.xml" Id="Rc26317f119824d4d" /><Relationship Type="http://schemas.openxmlformats.org/officeDocument/2006/relationships/slide" Target="/ppt/slides/slide2.xml" Id="Rf8786e6cd2884bc4" /><Relationship Type="http://schemas.openxmlformats.org/officeDocument/2006/relationships/slide" Target="/ppt/slides/slide3.xml" Id="Rcfbad976ec4449b9" /><Relationship Type="http://schemas.openxmlformats.org/officeDocument/2006/relationships/slide" Target="/ppt/slides/slide4.xml" Id="R1d7a72ee48034602" /><Relationship Type="http://schemas.openxmlformats.org/officeDocument/2006/relationships/slide" Target="/ppt/slides/slide5.xml" Id="R33529ea548ad45b1" /><Relationship Type="http://schemas.openxmlformats.org/officeDocument/2006/relationships/slide" Target="/ppt/slides/slide6.xml" Id="R40a0e0a6da054651" /><Relationship Type="http://schemas.openxmlformats.org/officeDocument/2006/relationships/slide" Target="/ppt/slides/slide7.xml" Id="Rcdf061175bf24dbd" /><Relationship Type="http://schemas.openxmlformats.org/officeDocument/2006/relationships/slide" Target="/ppt/slides/slide8.xml" Id="Rd7accedf707e4587" /><Relationship Type="http://schemas.openxmlformats.org/officeDocument/2006/relationships/slide" Target="/ppt/slides/slide9.xml" Id="Rc1f2a826338444f2" /><Relationship Type="http://schemas.openxmlformats.org/officeDocument/2006/relationships/slide" Target="/ppt/slides/slide10.xml" Id="R3d9180e909cf4937" /><Relationship Type="http://schemas.openxmlformats.org/officeDocument/2006/relationships/slide" Target="/ppt/slides/slide11.xml" Id="R919e861839c04676" /><Relationship Type="http://schemas.openxmlformats.org/officeDocument/2006/relationships/slide" Target="/ppt/slides/slide12.xml" Id="Ra81fbfa5428844e7" /><Relationship Type="http://schemas.openxmlformats.org/officeDocument/2006/relationships/slide" Target="/ppt/slides/slide13.xml" Id="R63838f1e346a4168" /><Relationship Type="http://schemas.openxmlformats.org/officeDocument/2006/relationships/slide" Target="/ppt/slides/slide14.xml" Id="R7f7f0afe0320429d" /><Relationship Type="http://schemas.openxmlformats.org/officeDocument/2006/relationships/slide" Target="/ppt/slides/slide15.xml" Id="Re25182ba28a0405a" /><Relationship Type="http://schemas.openxmlformats.org/officeDocument/2006/relationships/slide" Target="/ppt/slides/slide16.xml" Id="R8d88adb8f2bf4354" /><Relationship Type="http://schemas.openxmlformats.org/officeDocument/2006/relationships/slide" Target="/ppt/slides/slide17.xml" Id="Rcde4c19b4726443c" /><Relationship Type="http://schemas.openxmlformats.org/officeDocument/2006/relationships/slide" Target="/ppt/slides/slide18.xml" Id="Rce72263235a8444d" /><Relationship Type="http://schemas.openxmlformats.org/officeDocument/2006/relationships/slide" Target="/ppt/slides/slide19.xml" Id="R86076a46ab2b4911" /><Relationship Type="http://schemas.openxmlformats.org/officeDocument/2006/relationships/slide" Target="/ppt/slides/slide20.xml" Id="Rdc829947d0dd4d63" /><Relationship Type="http://schemas.openxmlformats.org/officeDocument/2006/relationships/slide" Target="/ppt/slides/slide21.xml" Id="R847169cefc894844" /><Relationship Type="http://schemas.openxmlformats.org/officeDocument/2006/relationships/slide" Target="/ppt/slides/slide22.xml" Id="R6697edd84d7a4c1b" /><Relationship Type="http://schemas.openxmlformats.org/officeDocument/2006/relationships/slide" Target="/ppt/slides/slide23.xml" Id="Rca682f98cff24d9e" /><Relationship Type="http://schemas.openxmlformats.org/officeDocument/2006/relationships/slide" Target="/ppt/slides/slide24.xml" Id="R2d78eede643743f9" /><Relationship Type="http://schemas.openxmlformats.org/officeDocument/2006/relationships/slide" Target="/ppt/slides/slide25.xml" Id="Re9a16d30c9e94865" /><Relationship Type="http://schemas.openxmlformats.org/officeDocument/2006/relationships/slide" Target="/ppt/slides/slide26.xml" Id="R6dcf47fbe97f48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d391e83e4b44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dcf935b29641a0" /><Relationship Type="http://schemas.openxmlformats.org/officeDocument/2006/relationships/notesMaster" Target="/ppt/notesMasters/notesMaster1.xml" Id="Rd32186750d954c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5eaec72c694129" /><Relationship Type="http://schemas.openxmlformats.org/officeDocument/2006/relationships/notesMaster" Target="/ppt/notesMasters/notesMaster1.xml" Id="R79be05ac6e2745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0d6fefcd154242" /><Relationship Type="http://schemas.openxmlformats.org/officeDocument/2006/relationships/notesMaster" Target="/ppt/notesMasters/notesMaster1.xml" Id="R486f4e0af74444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dcbe300e6f41e0" /><Relationship Type="http://schemas.openxmlformats.org/officeDocument/2006/relationships/notesMaster" Target="/ppt/notesMasters/notesMaster1.xml" Id="R472dbb437aef46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86821c75034a67" /><Relationship Type="http://schemas.openxmlformats.org/officeDocument/2006/relationships/notesMaster" Target="/ppt/notesMasters/notesMaster1.xml" Id="R8c0219f2fcd146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8023312daa4c67" /><Relationship Type="http://schemas.openxmlformats.org/officeDocument/2006/relationships/notesMaster" Target="/ppt/notesMasters/notesMaster1.xml" Id="Rbc13e874698c49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cc9cbe7bd74f94" /><Relationship Type="http://schemas.openxmlformats.org/officeDocument/2006/relationships/notesMaster" Target="/ppt/notesMasters/notesMaster1.xml" Id="R892b43b9eee541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81068223ab442e" /><Relationship Type="http://schemas.openxmlformats.org/officeDocument/2006/relationships/notesMaster" Target="/ppt/notesMasters/notesMaster1.xml" Id="Ra1f65dd3223c46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6eac7acb7748fa" /><Relationship Type="http://schemas.openxmlformats.org/officeDocument/2006/relationships/notesMaster" Target="/ppt/notesMasters/notesMaster1.xml" Id="R5399d2c8154846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52f34fc44d442e" /><Relationship Type="http://schemas.openxmlformats.org/officeDocument/2006/relationships/notesMaster" Target="/ppt/notesMasters/notesMaster1.xml" Id="Rad34ec234f0b41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93edce7f554bb2" /><Relationship Type="http://schemas.openxmlformats.org/officeDocument/2006/relationships/notesMaster" Target="/ppt/notesMasters/notesMaster1.xml" Id="Rf56a5e15e6f54e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d9ac63ffad485a" /><Relationship Type="http://schemas.openxmlformats.org/officeDocument/2006/relationships/notesMaster" Target="/ppt/notesMasters/notesMaster1.xml" Id="Rfcb32242731f49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5d782a105647d6" /><Relationship Type="http://schemas.openxmlformats.org/officeDocument/2006/relationships/notesMaster" Target="/ppt/notesMasters/notesMaster1.xml" Id="R8076f579153348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4fab927d904562" /><Relationship Type="http://schemas.openxmlformats.org/officeDocument/2006/relationships/notesMaster" Target="/ppt/notesMasters/notesMaster1.xml" Id="Rd08ed2daa0404e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6ff86f70064a4a" /><Relationship Type="http://schemas.openxmlformats.org/officeDocument/2006/relationships/notesMaster" Target="/ppt/notesMasters/notesMaster1.xml" Id="R39ea5738e6ed46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d2d56e1ce6455a" /><Relationship Type="http://schemas.openxmlformats.org/officeDocument/2006/relationships/notesMaster" Target="/ppt/notesMasters/notesMaster1.xml" Id="R1af8e5d7a5384ab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c0181a0f544cb7" /><Relationship Type="http://schemas.openxmlformats.org/officeDocument/2006/relationships/notesMaster" Target="/ppt/notesMasters/notesMaster1.xml" Id="R69a95a8e140340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064928e7f5c4f7c" /><Relationship Type="http://schemas.openxmlformats.org/officeDocument/2006/relationships/notesMaster" Target="/ppt/notesMasters/notesMaster1.xml" Id="R7a5e2ad6c84c4b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d426666eae248dc" /><Relationship Type="http://schemas.openxmlformats.org/officeDocument/2006/relationships/notesMaster" Target="/ppt/notesMasters/notesMaster1.xml" Id="R2d04004a5e884db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13a14324d74f78" /><Relationship Type="http://schemas.openxmlformats.org/officeDocument/2006/relationships/notesMaster" Target="/ppt/notesMasters/notesMaster1.xml" Id="R6c05a7864b3749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97fe8c08004701" /><Relationship Type="http://schemas.openxmlformats.org/officeDocument/2006/relationships/notesMaster" Target="/ppt/notesMasters/notesMaster1.xml" Id="Rcb6386ed4ba0402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d2c034ec0bf40ae" /><Relationship Type="http://schemas.openxmlformats.org/officeDocument/2006/relationships/notesMaster" Target="/ppt/notesMasters/notesMaster1.xml" Id="R221443d5294f4b8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74b7b864e764f88" /><Relationship Type="http://schemas.openxmlformats.org/officeDocument/2006/relationships/notesMaster" Target="/ppt/notesMasters/notesMaster1.xml" Id="Rf6cbb68d4b5a401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c8b878449954c44" /><Relationship Type="http://schemas.openxmlformats.org/officeDocument/2006/relationships/notesMaster" Target="/ppt/notesMasters/notesMaster1.xml" Id="Rfc3c34b0b24644e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76d3c5a23b04955" /><Relationship Type="http://schemas.openxmlformats.org/officeDocument/2006/relationships/notesMaster" Target="/ppt/notesMasters/notesMaster1.xml" Id="R48967e7a3db149a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fe6db853e714eb4" /><Relationship Type="http://schemas.openxmlformats.org/officeDocument/2006/relationships/notesMaster" Target="/ppt/notesMasters/notesMaster1.xml" Id="Rbdf5783d4fde46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2026年10月5日。M1 齊藤光汰。本編20枚。以降は実験条件と結果の補足。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中間発表の最後に述べた方針を振り返る。独立な列置換は依存を保つ保証がない。疑似ラベルを用いる拡張は誤りの影響を受け得る。これらが常に性能低下を生むという断定はしない。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https://papers.nips.cc/paper/2020/hash/7d97667a3e056acab9aaf653807b4a03-Abstract.html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身長・体重の数値は説明用の架空例。連続な周辺分布を基本に説明する。コピュラは一様周辺を持つ同時分布関数。周辺が連続ならSklar分解のコピュラは一意。任意の依存を一つの種類で捉える保証はない。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身長・体重の数値は説明用の架空例。連続な周辺分布を基本に説明する。4点の散布図は説明用で、推定結果ではない。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身長・体重の数値は説明用の架空例。連続な周辺分布を基本に説明する。F_Yは体重YのCDF。経験分布による0.7は有限表の割合で、厳密な連続一様とは区別する。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身長・体重の数値は説明用の架空例。連続な周辺分布を基本に説明する。連続CDFの場合にF(X)はUniform(0,1)。経験順位・同値・離散の扱いは近似が必要。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身長・体重の数値は説明用の架空例。連続な周辺分布を基本に説明する。架空の連続周辺を想定した位置。前の10人表とは別の説明例。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身長・体重の数値は説明用の架空例。連続な周辺分布を基本に説明する。U,Vは一様周辺。小文字u,vはしきい値、大文字U,Vは確率変数。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身長・体重の数値は説明用の架空例。連続な周辺分布を基本に説明する。10点から求める説明用の経験割合。母集団コピュラの推定とは区別。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身長・体重の数値は説明用の架空例。連続な周辺分布を基本に説明する。独立と完全同方向依存の厳密式。完全同方向U=Vは特異コピュラで密度を持たない。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身長・体重の数値は説明用の架空例。連続な周辺分布を基本に説明する。H=P(X≤x,Y≤y)。連続周辺ならCは一意。一般の周辺にも分解は存在するが一意性は値域上に限る。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身長・体重の数値は説明用の架空例。連続な周辺分布を基本に説明する。一般化逆F^-1(u)=inf{x:F(x)≥u}。F^-1は逆CDFであり逆数ではない。説明用周辺を仮定。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Y=70は連続の確率ゼロ事象で通常の確率比ではなく条件分布で扱う。表は70kg付近の近傍を用いた直感的例で、厳密条件分布の計算結果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身長・体重の数値は説明用の架空例。連続な周辺分布を基本に説明する。一般のコピュラから条件分布を求める。コピュラの定義Cそのものと条件分布を混同しない。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身長・体重の数値は説明用の架空例。連続な周辺分布を基本に説明する。Gaussianの元特徴の正規性は不要。tは有限自由度で非退化の相関に両裾依存。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  <a:p xmlns:a="http://schemas.openxmlformats.org/drawingml/2006/main">
            <a:r>
              <a:t>https://doi.org/10.1111/j.1751-5823.2005.tb00254.x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身長・体重の数値は説明用の架空例。連続な周辺分布を基本に説明する。正の依存を持つ標準形について説明。回転形は含めない。裾は確率位置の端の領域、周辺分布の裾とは区別。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Frankは二変量では正負依存、標準多変量は制約がある。Vineはペアコピュラの構成で単独の一族ではない。ノンパラメトリックは経験・平滑化などで条件付けと次元に課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  <a:p xmlns:a="http://schemas.openxmlformats.org/drawingml/2006/main">
            <a:r>
              <a:t>https://www.annualreviews.org/content/journals/10.1146/annurev-statistics-040220-101153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身長・体重の数値は説明用の架空例。連続な周辺分布を基本に説明する。選択は初期実験の設計判断で、最適性を主張しない。二変量条件正規は分散1-rho^2。rho=.6, FY70=.7の架空計算。元の周辺分布を正規と仮定する必要はない。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  <a:p xmlns:a="http://schemas.openxmlformats.org/drawingml/2006/main">
            <a:r>
              <a:t>https://papers.nips.cc/paper/2020/hash/7d97667a3e056acab9aaf653807b4a03-Abstract.html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根拠：tmp/seminar_20261005/rerun_results.json versions。ハードウェア機種やRAMは記録にないため記載しない。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根拠：load_breast_cancer / load_wineの公式説明とrun_experiment.py。乳がんは細胞核の測定特徴、Wineはワインの化学分析と3品種。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https://scikit-learn.org/stable/modules/generated/sklearn.datasets.load_breast_cancer.html</a:t>
            </a:r>
          </a:p>
          <a:p xmlns:a="http://schemas.openxmlformats.org/drawingml/2006/main">
            <a:r>
              <a:t>https://scikit-learn.org/stable/modules/generated/sklearn.datasets.load_wine.html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根拠：rerun_results.json runs内n_labeled n_unlabeled n_test。5seedとも同数。整数丸めにより30%と厳密一致しない。層化分割。ラベルなしはラベルを隠して使用。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根拠：research-bench/src/tabular_research/vime_torch.py と run_experiment.py。原論文の全実験の再現ではなく、この実装内の比較。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https://papers.nips.cc/paper/2020/hash/7d97667a3e056acab9aaf653807b4a03-Abstract.html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根拠：run_experiment.py と rerun_results.json protocol。MinMaxは訓練全体のみ、コピュラfitはラベルなし訓練のみ。再分割5回。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根拠：rerun_results.json summary。SDはddof1。差の区間はペア差のpercentile bootstrap、5seedの探索比較で不確実性大。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688fa109b4c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a1614ca29d4a93" /><Relationship Type="http://schemas.openxmlformats.org/officeDocument/2006/relationships/slideLayout" Target="/ppt/slideLayouts/slideLayout1.xml" Id="Rb64fc10a9a0d42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4fc10a9a0d42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beab0479a48cf" /><Relationship Type="http://schemas.openxmlformats.org/officeDocument/2006/relationships/notesSlide" Target="/ppt/notesSlides/notesSlide1.xml" Id="R0745019e800b4b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e56e891894b2d" /><Relationship Type="http://schemas.openxmlformats.org/officeDocument/2006/relationships/notesSlide" Target="/ppt/notesSlides/notesSlide2.xml" Id="Rea61cc558c344f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57244a59e453e" /><Relationship Type="http://schemas.openxmlformats.org/officeDocument/2006/relationships/notesSlide" Target="/ppt/notesSlides/notesSlide3.xml" Id="Rf97a32fc42ce4a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1fe178e4040ef" /><Relationship Type="http://schemas.openxmlformats.org/officeDocument/2006/relationships/notesSlide" Target="/ppt/notesSlides/notesSlide4.xml" Id="R3f37c1a2edf541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bcb060bc74a9e" /><Relationship Type="http://schemas.openxmlformats.org/officeDocument/2006/relationships/chart" Target="/ppt/slides/charts/chart1.xml" Id="Rcf3efbf1fe914e3d" /><Relationship Type="http://schemas.openxmlformats.org/officeDocument/2006/relationships/chart" Target="/ppt/slides/charts/chart2.xml" Id="R02fc804cbad74354" /><Relationship Type="http://schemas.openxmlformats.org/officeDocument/2006/relationships/notesSlide" Target="/ppt/notesSlides/notesSlide5.xml" Id="R6a4db61c9f9445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2e4a9e7d44217" /><Relationship Type="http://schemas.openxmlformats.org/officeDocument/2006/relationships/notesSlide" Target="/ppt/notesSlides/notesSlide6.xml" Id="R153242892c6448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e0bb716d04d2c" /><Relationship Type="http://schemas.openxmlformats.org/officeDocument/2006/relationships/notesSlide" Target="/ppt/notesSlides/notesSlide7.xml" Id="Rde23ba723edc4a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332e0a2424c44" /><Relationship Type="http://schemas.openxmlformats.org/officeDocument/2006/relationships/notesSlide" Target="/ppt/notesSlides/notesSlide8.xml" Id="R0144b331ceb34d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2c26472844f53" /><Relationship Type="http://schemas.openxmlformats.org/officeDocument/2006/relationships/notesSlide" Target="/ppt/notesSlides/notesSlide9.xml" Id="Reb24e6a259c849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6b0205bcd428f" /><Relationship Type="http://schemas.openxmlformats.org/officeDocument/2006/relationships/chart" Target="/ppt/slides/charts/chart3.xml" Id="R4200e18d52dd4614" /><Relationship Type="http://schemas.openxmlformats.org/officeDocument/2006/relationships/notesSlide" Target="/ppt/notesSlides/notesSlide10.xml" Id="Rc8efde8d6c6644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2c99ab31547a5" /><Relationship Type="http://schemas.openxmlformats.org/officeDocument/2006/relationships/notesSlide" Target="/ppt/notesSlides/notesSlide11.xml" Id="R4306aea6137e42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10042b4cd49bc" /><Relationship Type="http://schemas.openxmlformats.org/officeDocument/2006/relationships/notesSlide" Target="/ppt/notesSlides/notesSlide12.xml" Id="R1ae12076c2c446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834db6a0c4394" /><Relationship Type="http://schemas.openxmlformats.org/officeDocument/2006/relationships/notesSlide" Target="/ppt/notesSlides/notesSlide13.xml" Id="Rc73c4878889047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69a851c734d4a" /><Relationship Type="http://schemas.openxmlformats.org/officeDocument/2006/relationships/notesSlide" Target="/ppt/notesSlides/notesSlide14.xml" Id="Re55afce4460f4e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31ef242d249fd" /><Relationship Type="http://schemas.openxmlformats.org/officeDocument/2006/relationships/notesSlide" Target="/ppt/notesSlides/notesSlide15.xml" Id="Rdafc3a432e9445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3b5cfa8174b7b" /><Relationship Type="http://schemas.openxmlformats.org/officeDocument/2006/relationships/notesSlide" Target="/ppt/notesSlides/notesSlide16.xml" Id="R66cfdd213ce4488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523e65d274824" /><Relationship Type="http://schemas.openxmlformats.org/officeDocument/2006/relationships/notesSlide" Target="/ppt/notesSlides/notesSlide17.xml" Id="R81aee87475614e9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25c6f37f84d14" /><Relationship Type="http://schemas.openxmlformats.org/officeDocument/2006/relationships/notesSlide" Target="/ppt/notesSlides/notesSlide18.xml" Id="Rb726d7c23c9d43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1e11e665d4cbb" /><Relationship Type="http://schemas.openxmlformats.org/officeDocument/2006/relationships/notesSlide" Target="/ppt/notesSlides/notesSlide19.xml" Id="R9c780242f36f49f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7a1ec68774069" /><Relationship Type="http://schemas.openxmlformats.org/officeDocument/2006/relationships/notesSlide" Target="/ppt/notesSlides/notesSlide20.xml" Id="Rd5db2ab90b9642d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ac093e8c94992" /><Relationship Type="http://schemas.openxmlformats.org/officeDocument/2006/relationships/notesSlide" Target="/ppt/notesSlides/notesSlide21.xml" Id="Rff6cf5a1571940d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cd458a962419c" /><Relationship Type="http://schemas.openxmlformats.org/officeDocument/2006/relationships/notesSlide" Target="/ppt/notesSlides/notesSlide22.xml" Id="R8409ad0e6caf45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a13c582dd478b" /><Relationship Type="http://schemas.openxmlformats.org/officeDocument/2006/relationships/notesSlide" Target="/ppt/notesSlides/notesSlide23.xml" Id="Rc98f819628bd459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8c94a10094f6e" /><Relationship Type="http://schemas.openxmlformats.org/officeDocument/2006/relationships/notesSlide" Target="/ppt/notesSlides/notesSlide24.xml" Id="R29671c41299f494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4f5d4fff54374" /><Relationship Type="http://schemas.openxmlformats.org/officeDocument/2006/relationships/notesSlide" Target="/ppt/notesSlides/notesSlide25.xml" Id="R6ce157c52a7547c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e20cac3fe49bf" /><Relationship Type="http://schemas.openxmlformats.org/officeDocument/2006/relationships/notesSlide" Target="/ppt/notesSlides/notesSlide26.xml" Id="R03e142d35fd547a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説明用データ</c:v>
          </c:tx>
          <c:spPr>
            <a:solidFill xmlns:a="http://schemas.openxmlformats.org/drawingml/2006/main">
              <a:srgbClr val="2B6777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noFill xmlns:a="http://schemas.openxmlformats.org/drawingml/2006/main"/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155</c:v>
                </c:pt>
                <c:pt idx="1">
                  <c:v>165</c:v>
                </c:pt>
                <c:pt idx="2">
                  <c:v>175</c:v>
                </c:pt>
                <c:pt idx="3">
                  <c:v>185</c:v>
                </c:pt>
              </c:numCache>
            </c:numRef>
          </c:xVal>
          <c:yVal>
            <c:numRef>
              <c:f>'Chart Data'!$B$2:$B$5</c:f>
              <c:numCache>
                <c:formatCode>0.0</c:formatCode>
                <c:ptCount val="4"/>
                <c:pt idx="0">
                  <c:v>48</c:v>
                </c:pt>
                <c:pt idx="1">
                  <c:v>57</c:v>
                </c:pt>
                <c:pt idx="2">
                  <c:v>68</c:v>
                </c:pt>
                <c:pt idx="3">
                  <c:v>82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9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0E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体重 kg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90"/>
          <c:min val="15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0E0E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身長 cm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6F6F6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説明用データ</c:v>
          </c:tx>
          <c:spPr>
            <a:solidFill xmlns:a="http://schemas.openxmlformats.org/drawingml/2006/main">
              <a:srgbClr val="E0562B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noFill xmlns:a="http://schemas.openxmlformats.org/drawingml/2006/main"/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155</c:v>
                </c:pt>
                <c:pt idx="1">
                  <c:v>165</c:v>
                </c:pt>
                <c:pt idx="2">
                  <c:v>175</c:v>
                </c:pt>
                <c:pt idx="3">
                  <c:v>185</c:v>
                </c:pt>
              </c:numCache>
            </c:numRef>
          </c:xVal>
          <c:yVal>
            <c:numRef>
              <c:f>'Chart Data'!$B$2:$B$5</c:f>
              <c:numCache>
                <c:formatCode>0.0</c:formatCode>
                <c:ptCount val="4"/>
                <c:pt idx="0">
                  <c:v>82</c:v>
                </c:pt>
                <c:pt idx="1">
                  <c:v>68</c:v>
                </c:pt>
                <c:pt idx="2">
                  <c:v>57</c:v>
                </c:pt>
                <c:pt idx="3">
                  <c:v>48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9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0E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体重 kg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90"/>
          <c:min val="15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0E0E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身長 cm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6F6F6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範囲外</c:v>
          </c:tx>
          <c:spPr>
            <a:solidFill xmlns:a="http://schemas.openxmlformats.org/drawingml/2006/main">
              <a:srgbClr val="2B6777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0.6</c:v>
                </c:pt>
                <c:pt idx="1">
                  <c:v>0.7</c:v>
                </c:pt>
                <c:pt idx="2">
                  <c:v>0.8</c:v>
                </c:pt>
                <c:pt idx="3">
                  <c:v>0.9</c:v>
                </c:pt>
                <c:pt idx="4">
                  <c:v>0.95</c:v>
                </c:pt>
              </c:numCache>
            </c:numRef>
          </c:xVal>
          <c:yVal>
            <c:numRef>
              <c:f>'Chart Data'!$B$2:$B$6</c:f>
              <c:numCache>
                <c:formatCode>0.0</c:formatCode>
                <c:ptCount val="5"/>
                <c:pt idx="0">
                  <c:v>0.8</c:v>
                </c:pt>
                <c:pt idx="1">
                  <c:v>0.6</c:v>
                </c:pt>
                <c:pt idx="2">
                  <c:v>0.85</c:v>
                </c:pt>
                <c:pt idx="3">
                  <c:v>0.9</c:v>
                </c:pt>
                <c:pt idx="4">
                  <c:v>0.95</c:v>
                </c:pt>
              </c:numCache>
            </c:numRef>
          </c:yVal>
        </c:ser>
        <c:ser>
          <c:idx val="1"/>
          <c:order val="1"/>
          <c:tx>
            <c:v>両条件を満たす5人</c:v>
          </c:tx>
          <c:spPr>
            <a:solidFill xmlns:a="http://schemas.openxmlformats.org/drawingml/2006/main">
              <a:srgbClr val="E0562B"/>
            </a:solidFill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noFill xmlns:a="http://schemas.openxmlformats.org/drawingml/2006/main"/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</c:numCache>
            </c:numRef>
          </c:xVal>
          <c:yVal>
            <c:numRef>
              <c:f>'Chart Data'!$D$2:$D$6</c:f>
              <c:numCache>
                <c:formatCode>0.0</c:formatCode>
                <c:ptCount val="5"/>
                <c:pt idx="0">
                  <c:v>0.15</c:v>
                </c:pt>
                <c:pt idx="1">
                  <c:v>0.25</c:v>
                </c:pt>
                <c:pt idx="2">
                  <c:v>0.4</c:v>
                </c:pt>
                <c:pt idx="3">
                  <c:v>0.55</c:v>
                </c:pt>
                <c:pt idx="4">
                  <c:v>0.65</c:v>
                </c:pt>
              </c:numCache>
            </c:numRef>
          </c:yVal>
        </c:ser>
        <c:ser>
          <c:idx val="2"/>
          <c:order val="2"/>
          <c:tx>
            <c:v>u=0.6</c:v>
          </c:tx>
          <c:spPr>
            <a:solidFill xmlns:a="http://schemas.openxmlformats.org/drawingml/2006/main">
              <a:srgbClr val="2B6777"/>
            </a:solidFill>
            <a:ln xmlns:a="http://schemas.openxmlformats.org/drawingml/2006/main" w="19050">
              <a:solidFill>
                <a:srgbClr val="2B6777"/>
              </a:solidFill>
            </a:ln>
          </c:spPr>
          <c:marker>
            <c:symbol val="none"/>
            <c:size val="2"/>
          </c:marker>
          <c:xVal>
            <c:numRef>
              <c:f>'Chart Data'!$E$2:$E$6</c:f>
              <c:numCache>
                <c:formatCode>General</c:formatCode>
                <c:ptCount val="5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</c:numCache>
            </c:numRef>
          </c:xVal>
          <c:yVal>
            <c:numRef>
              <c:f>'Chart Data'!$F$2:$F$6</c:f>
              <c:numCache>
                <c:formatCode>0.0</c:formatCode>
                <c:ptCount val="5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yVal>
        </c:ser>
        <c:ser>
          <c:idx val="3"/>
          <c:order val="3"/>
          <c:tx>
            <c:v>v=0.7</c:v>
          </c:tx>
          <c:spPr>
            <a:solidFill xmlns:a="http://schemas.openxmlformats.org/drawingml/2006/main">
              <a:srgbClr val="2B6777"/>
            </a:solidFill>
            <a:ln xmlns:a="http://schemas.openxmlformats.org/drawingml/2006/main" w="19050">
              <a:solidFill>
                <a:srgbClr val="2B6777"/>
              </a:solidFill>
            </a:ln>
          </c:spPr>
          <c:marker>
            <c:symbol val="none"/>
            <c:size val="2"/>
          </c:marker>
          <c:xVal>
            <c:numRef>
              <c:f>'Chart Data'!$G$2:$G$6</c:f>
              <c:numCache>
                <c:formatCode>General</c:formatCode>
                <c:ptCount val="5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xVal>
          <c:yVal>
            <c:numRef>
              <c:f>'Chart Data'!$H$2:$H$6</c:f>
              <c:numCache>
                <c:formatCode>0.0</c:formatCode>
                <c:ptCount val="5"/>
                <c:pt idx="0">
                  <c:v>0.7</c:v>
                </c:pt>
                <c:pt idx="1">
                  <c:v>0.7</c:v>
                </c:pt>
                <c:pt idx="2">
                  <c:v>0.7</c:v>
                </c:pt>
                <c:pt idx="3">
                  <c:v>0.7</c:v>
                </c:pt>
                <c:pt idx="4">
                  <c:v>0.7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V：体重の位置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U：身長の位置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6F6F6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E532D-2C5B-4923-B412-460516B6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ゼミ発表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AEE55-232E-4335-956A-1EF0FD05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D0B7F-F0A9-46CC-B388-03EFE7A6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変数間の依存構造を考慮したデータ拡張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7603C-6F61-4EC9-87AD-47A35060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7CF1D-3737-477A-9073-2B5B9B5A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06008-468D-4E8A-92FD-8C98703D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コピュラの基礎と初期実験の方針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92AC9-8A1F-45F0-8B4B-F527FC67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M1 齊藤光汰</a:t>
            </a:r>
          </a:p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2026年10月5日</a:t>
            </a:r>
          </a:p>
        </p:txBody>
      </p:sp>
    </p:spTree>
    <p:extLst>
      <p:ext uri="{BB962C8B-B14F-4D97-AF65-F5344CB8AC3E}">
        <p14:creationId xmlns:p14="http://schemas.microsoft.com/office/powerpoint/2010/main" val="279376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97F13-A7EB-4221-812B-E4E2F4E6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本研究の問題設定と中間発表の振り返り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CAC25-ED2F-4927-89F1-E5B3CDF1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8EC07-1699-4357-96ED-5902863E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変数間の関係を考慮した、テーブルデータの拡張を目指す。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735C2-B2E9-4FEF-A220-849667FC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55B6B-C1FC-41C3-AE4F-045F648F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46EC9-43A3-4201-BC56-D837E1CE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953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列ごとに値を無作為に置換すると、身長と体重などの</a:t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組合せが不自然になる可能性がある。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疑似ラベルを条件に拡張すると、誤ったラベルの影響を</a:t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受ける可能性がある。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2CA1D-272A-4D81-BD60-42E41F15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7E0DB-0DD2-4412-B795-8F5FC271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中間発表で述べた方針：依存構造を扱うために、コピュラを使用する</a:t>
            </a:r>
          </a:p>
        </p:txBody>
      </p:sp>
    </p:spTree>
    <p:extLst>
      <p:ext uri="{BB962C8B-B14F-4D97-AF65-F5344CB8AC3E}">
        <p14:creationId xmlns:p14="http://schemas.microsoft.com/office/powerpoint/2010/main" val="1542973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67D85-E9A9-4D5A-AB4F-65FFBE41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コピュラとは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2DC78-DDA6-4F18-B979-598E2303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633EA-6EC7-4D57-B170-0F2F6188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各変数の分布と、変数どうしの依存を分けて表す確率モデル。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34E4C-DE19-401A-9725-4220F667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81A15-C1A9-4F1D-989C-C1277A4C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64F94-8AFD-415C-96C0-F5B17F10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953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例：身長の分布と体重の分布を、それぞれ別に扱う。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そのうえで「身長が高い人ほど体重も重い」といった</a:t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組合せの関係を、コピュラで表す。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研究では、残した特徴の値に合わせて、</a:t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置換する特徴の値を生成するために使う。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C101E-EA60-4718-8637-2E7F72C6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6EF17-04A9-465C-A886-3F11311D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まず、分布の形と組合せの関係を、例で分けて考える</a:t>
            </a:r>
          </a:p>
        </p:txBody>
      </p:sp>
    </p:spTree>
    <p:extLst>
      <p:ext uri="{BB962C8B-B14F-4D97-AF65-F5344CB8AC3E}">
        <p14:creationId xmlns:p14="http://schemas.microsoft.com/office/powerpoint/2010/main" val="1846985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1263F-549F-4B8C-A30C-0B6C8D0F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周辺分布と依存構造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2570F-7D0C-4E1E-8E0D-2C662546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A55F6-972B-4DCA-99F1-66733F20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周辺分布は「一つの列」、依存構造は「列どうしの組合せ」。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1D246-1F5F-4D58-9E76-61596248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F3359-BF5F-49E3-923E-65057157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57150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143125"/>
                <a:gridCol w="2143125"/>
              </a:tblGrid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 cm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体重 kg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57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185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82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E33BB-F5C0-41C1-B5D7-7EF2A289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28825"/>
            <a:ext cx="490537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身長の周辺分布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155・165・175・185 cmの分布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体重の周辺分布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48・57・68・82 kgの分布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依存構造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高い身長に、重い体重が対応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27879-6378-41A1-88B1-1DE1F9DB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FA630-1431-4C0B-ADA4-60169A2D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各列の値の出現頻度だけでは、組合せの関係は決まらない</a:t>
            </a:r>
          </a:p>
        </p:txBody>
      </p:sp>
    </p:spTree>
    <p:extLst>
      <p:ext uri="{BB962C8B-B14F-4D97-AF65-F5344CB8AC3E}">
        <p14:creationId xmlns:p14="http://schemas.microsoft.com/office/powerpoint/2010/main" val="1651971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4B7AD-A568-449F-8B54-1CF8D244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同じ周辺分布でも、依存は異なる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EEA57-0C27-4691-8D5B-F131C1E9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44DC3-8711-4C23-85EF-A9ACC9EB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体重の並びを逆にすると、各列の値は同じでも関係が変わる。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0D3EC-1D72-492E-B380-948F1A6A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7E94F-68D0-4C8F-9719-7D5C63EF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23875" y="2057400"/>
          <a:ext xmlns:a="http://schemas.openxmlformats.org/drawingml/2006/main" cx="5238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3efbf1fe914e3d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238875" y="2057400"/>
          <a:ext xmlns:a="http://schemas.openxmlformats.org/drawingml/2006/main" cx="5238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fc804cbad7435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5B679-6520-4965-A710-44213A57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430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高い人ほど重い組合せ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FC9EC-7E09-4CDA-9C4A-0C326CCF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430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0562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E0562B"/>
                </a:solidFill>
                <a:latin typeface="Noto Sans JP"/>
                <a:ea typeface="Noto Sans JP"/>
                <a:cs typeface="Noto Sans JP"/>
              </a:rPr>
              <a:t>高い人ほど軽い組合せ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27CEF-E544-4E17-88E1-CD04A5EC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66EC5-5CE6-42F3-83F7-EB32DCD0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コピュラが扱うのは、この組合せの違い</a:t>
            </a:r>
          </a:p>
        </p:txBody>
      </p:sp>
    </p:spTree>
    <p:extLst>
      <p:ext uri="{BB962C8B-B14F-4D97-AF65-F5344CB8AC3E}">
        <p14:creationId xmlns:p14="http://schemas.microsoft.com/office/powerpoint/2010/main" val="12359102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7C6DB-58DD-49AA-84B0-0C142282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累積分布関数の意味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4D961-64E8-4DFE-AA02-67FDBBAC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56E4E-9381-4EC3-ABDD-9D05C606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値を「その値以下が占める割合」に置き換える。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20E01-D886-4B68-95FC-3BBDB2C4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A7A66-D1E8-4DE0-BA77-836E944E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11163300" cy="904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14845"/>
                <a:gridCol w="1014845"/>
                <a:gridCol w="1014845"/>
                <a:gridCol w="1014845"/>
                <a:gridCol w="1014845"/>
                <a:gridCol w="1014845"/>
                <a:gridCol w="1014845"/>
                <a:gridCol w="1014845"/>
                <a:gridCol w="1014845"/>
                <a:gridCol w="1014845"/>
                <a:gridCol w="1014845"/>
              </a:tblGrid>
              <a:tr h="904875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体重 kg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45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55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63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67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70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75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80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90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32ECC-F2A8-412A-9672-6CCA440C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527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累積分布関数（CDF）の式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63FC3-8341-443C-8D1F-7A03F1F3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29025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2277F-FAA6-4383-A5E2-84FFD38C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24275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Fᵧ(70) = P(Y ≤ 70) ≈ 7 / 10 = 0.7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2C735-FB8F-4F13-82B0-0D03CFC4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Y：体重　P：確率　Fᵧ：体重の累積分布関数</a:t>
            </a:r>
          </a:p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10人中7人が70 kg以下なら、70 kgの位置は0.7。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7780E-EBDF-4A9E-A4F5-B6B126CA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A1B5F-7635-4E51-934B-E728A634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70 kgという値を、体重分布の中の位置0.7として表す</a:t>
            </a:r>
          </a:p>
        </p:txBody>
      </p:sp>
    </p:spTree>
    <p:extLst>
      <p:ext uri="{BB962C8B-B14F-4D97-AF65-F5344CB8AC3E}">
        <p14:creationId xmlns:p14="http://schemas.microsoft.com/office/powerpoint/2010/main" val="1103260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83B6E-5D59-4F06-90C6-57AA66CA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確率積分変換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60DAD-32E9-4CB5-9F5F-9FAE2C3E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18238-413D-41E5-8450-1CF1BB32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身長も体重も、0〜1の共通の尺度へ変換する。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A94B7-136C-4139-8847-CD78B7A9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2164B-C17C-4A25-AAF3-3ED15B26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E821F-5F66-4A74-A668-4CD98AAC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確率積分変換の式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D7344-1989-4AC2-BA1D-5B17A51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EF197-6A61-4024-8506-38625FEE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U = Fₓ(X),   V = Fᵧ(Y)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49069-D0C8-4277-BEEC-4907BF70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X：身長　Y：体重　U・V：各分布の中の累積確率位置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連続な周辺分布では、UとVはそれぞれ0〜1の一様分布。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一様分布でも、UとVが独立とは限らない。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B1CE3-C895-4706-A75D-B59BFE7D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DF72C-C10B-4F8E-B22F-6B03FBA3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単位や分布の形をそろえて、位置どうしの依存を見る</a:t>
            </a:r>
          </a:p>
        </p:txBody>
      </p:sp>
    </p:spTree>
    <p:extLst>
      <p:ext uri="{BB962C8B-B14F-4D97-AF65-F5344CB8AC3E}">
        <p14:creationId xmlns:p14="http://schemas.microsoft.com/office/powerpoint/2010/main" val="6638546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97AF1-200B-446A-B198-C5EE4628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元の値と確率位置の対応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A4105-D728-439C-8BF2-A48BAB01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3C491-629D-4C3E-9D29-4BE03312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同じ人の身長と体重を、一組の位置として表す。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56393-BDB2-41BC-922D-2FBA3CC2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1C24A-8F1B-4C03-9AE2-A1EF2BD5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143125"/>
          <a:ext xmlns:a="http://schemas.openxmlformats.org/drawingml/2006/main" cx="111633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2660"/>
                <a:gridCol w="2232660"/>
                <a:gridCol w="2232660"/>
                <a:gridCol w="2232660"/>
                <a:gridCol w="2232660"/>
              </a:tblGrid>
              <a:tr h="581025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 cm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体重 kg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身長の位置 U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体重の位置 V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57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0.30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0.35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0.70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185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82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0.90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0.85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1CF61-E95C-4F56-A80C-5F27D9B2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AA23C-4138-4D12-B44D-D209FFB9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高い身長と重い体重の関係は、UとVの組にも残る</a:t>
            </a:r>
          </a:p>
        </p:txBody>
      </p:sp>
    </p:spTree>
    <p:extLst>
      <p:ext uri="{BB962C8B-B14F-4D97-AF65-F5344CB8AC3E}">
        <p14:creationId xmlns:p14="http://schemas.microsoft.com/office/powerpoint/2010/main" val="9940755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D1E13-0737-4BC2-A5EF-1DC69AE8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コピュラの定義式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B0ED9-E5CA-4AA6-8728-4E25E499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27ED2-747C-4D9E-A86C-B952952E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二つの位置が、指定した範囲に同時に入る確率を表す。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E5867-5D8F-487B-9D4F-2BB2E733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E9D35-CC06-4424-BA3C-22366927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88397-7DCB-4163-A4DC-C10C9DC2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コピュラの定義：一様周辺を持つ同時累積分布関数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65424-595A-4148-860D-F909F829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BB779-11B3-41FE-8AF7-CC7B0D02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C(u, v) = P(U ≤ u, V ≤ v)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74392-06C0-4FC1-9EBA-E35B7DEC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C：コピュラ　u・v：位置の上限（0〜1）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C(0.6, 0.7) は「身長の位置が0.6以下」かつ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「体重の位置が0.7以下」を同時に満たす確率。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D9671-082B-47E0-BA7E-AB552A34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9BE67-99A7-4C6B-BF0F-C483BE36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Cは点の密度でも、体重を固定した条件付き確率でもない</a:t>
            </a:r>
          </a:p>
        </p:txBody>
      </p:sp>
    </p:spTree>
    <p:extLst>
      <p:ext uri="{BB962C8B-B14F-4D97-AF65-F5344CB8AC3E}">
        <p14:creationId xmlns:p14="http://schemas.microsoft.com/office/powerpoint/2010/main" val="647140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E40D3-D56A-46C1-8BB4-7D5B7C46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定義式を図で読む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A695E-574F-46F8-B535-CA41DB5E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FC9C2-16B4-4B07-8C54-6B86E6B2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左下の範囲に入る人の割合が、C(u, v)の意味。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DB287-E848-490B-A96F-0F267380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2DFA0-B247-4C91-8FA8-01513509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933575"/>
          <a:ext xmlns:a="http://schemas.openxmlformats.org/drawingml/2006/main" cx="623887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00e18d52dd461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56FD2-9B0A-4653-AA99-B6227B13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u = 0.6、v = 0.7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両条件を満たす点：5個</a:t>
            </a:r>
          </a:p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全体の点：10個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この例での割合</a:t>
            </a:r>
          </a:p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5 / 10 = 0.5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E5720-3D61-435F-A079-BDD3CAF3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A56BA-EE70-465B-BF00-C8F92F09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C(0.6, 0.7)を、この例では約0.5と読む</a:t>
            </a:r>
          </a:p>
        </p:txBody>
      </p:sp>
    </p:spTree>
    <p:extLst>
      <p:ext uri="{BB962C8B-B14F-4D97-AF65-F5344CB8AC3E}">
        <p14:creationId xmlns:p14="http://schemas.microsoft.com/office/powerpoint/2010/main" val="19110017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CEA29-B29D-462E-AC96-F3D4499B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依存が変わると、コピュラも変わる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BD627-BE2B-40DC-BDC9-71D6B2DE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09D16-C5B4-4B85-9C33-94CB3066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同じ位置の上限でも、依存によって同時確率が異なる。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C54D5-B02D-44AC-B5EA-9404EA94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BF91A-929A-4458-87F5-B4EAB2F1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6D021-CFB8-4B86-8314-F1A73862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81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独立コピュラの式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460C6-5BA1-4BE7-AF5C-27FCB16A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6C362-CA25-49B7-A805-8803D6F0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C(u, v) = uv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3F8A1-057C-4A66-8AAF-7B153693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独立なら、二つの確率を掛ける。C(0.6, 0.7) = 0.42。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C6886-5FDC-4112-A7EA-800126C7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909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完全同方向依存（U = V）の式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1D71B-EB28-40D9-97C9-A0763976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77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C(u, v) = min(u, v)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743A4-418A-484A-8C74-02D29951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minは小さい方。両条件を満たす範囲は0.6以下なので、0.6。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B0096-F75E-4728-84DD-181664C3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8F37A-DF9F-46CF-BDE4-43C8A7AB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一様な周辺分布が同じでも、Cの値は変わる</a:t>
            </a:r>
          </a:p>
        </p:txBody>
      </p:sp>
    </p:spTree>
    <p:extLst>
      <p:ext uri="{BB962C8B-B14F-4D97-AF65-F5344CB8AC3E}">
        <p14:creationId xmlns:p14="http://schemas.microsoft.com/office/powerpoint/2010/main" val="5384421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66CF3-25DD-43C1-8163-999EC256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Sklar（スクラー）の定理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F40C9-B198-45FA-862F-AA8CDEB9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28EB6-39ED-4037-85BA-C61A3C11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元の同時分布を、周辺分布とコピュラで表す。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03884-49C8-4289-9892-913CF8BB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FDCE1-0136-4856-8F59-2AC30BBD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FA4FD-32DA-479D-B384-2EF93362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Sklarの定理の式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56C66-9239-4512-9458-5BB059E7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C2A89-4B26-4E36-A959-BB7D651E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H(x, y) = C(Fₓ(x), Fᵧ(y))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CCBB2-DAE9-4820-9E94-0B43128F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H：身長と体重の同時累積分布関数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Fₓ・Fᵧ：各列の累積分布関数　C：位置どうしの依存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まずxとyを位置へ変換し、その位置の同時確率をCで求める。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連続な周辺分布では、対応するコピュラは一意に定まる。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EB8C2-C914-44E2-851C-400305CF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36D02-8B08-416C-978B-880114E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周辺の分布の形と、依存構造を分けてモデル化できる</a:t>
            </a:r>
          </a:p>
        </p:txBody>
      </p:sp>
    </p:spTree>
    <p:extLst>
      <p:ext uri="{BB962C8B-B14F-4D97-AF65-F5344CB8AC3E}">
        <p14:creationId xmlns:p14="http://schemas.microsoft.com/office/powerpoint/2010/main" val="13604582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413FB-EEAA-4AC3-A0C5-165B0A2C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逆累積分布による生成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1A824-DA93-4916-9BB5-B07B4293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3F0D0-83E4-4C56-9E28-9D9ECF4C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位置の組を生成した後、元の単位に戻す。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DA75E-6C5B-4BFE-87F9-C179ACD9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9DA6C-966B-4F5A-8A76-9CBD67D9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E5451-5969-4D9A-9D24-98C961A9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逆累積分布変換（逆変換法）の式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03A9E-5F00-4408-814F-EB20979A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E2E54-8092-4D61-8804-71DBE61E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X = Fₓ⁻¹(U),   Y = Fᵧ⁻¹(V)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C422E-B9F5-4715-8E08-68BAD831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F⁻¹：位置に対応する値を返す、逆累積分布関数（分位点関数）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例：身長の位置0.6に対応する値が172.5 cmなら、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Fₓ⁻¹(0.6) = 172.5 cm。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位置の組の依存を、身長・体重の組合せに反映する。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00486-7680-4A21-8C68-49294C51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97DE7-7700-41EF-95C9-14395C43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生成する位置の組に、どのような依存を持たせるかが重要</a:t>
            </a:r>
          </a:p>
        </p:txBody>
      </p:sp>
    </p:spTree>
    <p:extLst>
      <p:ext uri="{BB962C8B-B14F-4D97-AF65-F5344CB8AC3E}">
        <p14:creationId xmlns:p14="http://schemas.microsoft.com/office/powerpoint/2010/main" val="1285959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A117A-19DB-4BEF-A463-9FF9A7D0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条件付き分布の意味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A87B5-FB6C-4634-B290-18145D03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86378-4F89-4FC0-862D-A62593A8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研究では、残した値に合う分布から、置換する値を生成する。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8060E-63E1-4CF4-8C44-0A3C939D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DD39E-FA16-4621-A4B6-80A04BB9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B2F62-B737-44DD-AEB1-DC8C628F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条件付き分布の表記：X | Y = 70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14350" y="2695575"/>
          <a:ext xmlns:a="http://schemas.openxmlformats.org/drawingml/2006/main" cx="5381625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714625"/>
              </a:tblGrid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70 kg付近の人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168 cm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173 cm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178 cm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A34EC-3303-4DDE-B1BB-5A396568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38425"/>
            <a:ext cx="5238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X | Y = 70：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体重70 kgを観測したときの身長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平均値だけに固定せず、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条件に合うばらつきから生成する。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表は考え方を示す近傍の例。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62415-B6F5-4B42-92E5-9EB99817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982EB-BC2C-4940-BDA5-D86CE38F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「体重を残して身長を変える」を、条件付き生成として扱う</a:t>
            </a:r>
          </a:p>
        </p:txBody>
      </p:sp>
    </p:spTree>
    <p:extLst>
      <p:ext uri="{BB962C8B-B14F-4D97-AF65-F5344CB8AC3E}">
        <p14:creationId xmlns:p14="http://schemas.microsoft.com/office/powerpoint/2010/main" val="4796297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51362-765A-4CBD-A7A6-FCE66ACB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コピュラを用いた条件付き生成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11C8F-E8C8-4B6E-8228-E06D44F1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531E0-CC8A-4CDE-BD7B-026F3F39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値を位置へ変え、依存モデルで条件付けしてから、元へ戻す。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49E31-CBA2-469D-A9D4-050E7C42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AF76D-DE20-427B-9B04-C6172D78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15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2095500"/>
          <a:ext xmlns:a="http://schemas.openxmlformats.org/drawingml/2006/main" cx="111633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496300"/>
              </a:tblGrid>
              <a:tr h="690563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段階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体重70 kgを残し、身長を生成する例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条件を位置へ変換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 = Fᵧ(70) = 0.7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条件付きで位置を生成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 = 0.7 の条件下で、身長の位置 U を生成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元の単位へ変換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X = Fₓ⁻¹(U) で、身長cmへ戻す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76C4D-33EF-4AAD-87B9-BEE92FAD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使った式：累積分布変換と逆累積分布変換。</a:t>
            </a:r>
          </a:p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中央の生成方法は、選ぶコピュラの種類によって変わる。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A7520-ABAD-4CF8-BBB2-EDEB42D8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E861B-334B-4AA1-9922-3AEC46BD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条件付きの位置の生成が、既存の無作為な列置換との違い</a:t>
            </a:r>
          </a:p>
        </p:txBody>
      </p:sp>
    </p:spTree>
    <p:extLst>
      <p:ext uri="{BB962C8B-B14F-4D97-AF65-F5344CB8AC3E}">
        <p14:creationId xmlns:p14="http://schemas.microsoft.com/office/powerpoint/2010/main" val="286705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127D8-3398-4911-94E1-6AB71DE7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コピュラの説明のまとめ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29621-F659-4F11-A2B3-16E9DF94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E6833-455E-4560-B9A1-C7B2B330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分布の形を各列で扱い、組合せの関係をコピュラで扱う。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7D0D1-75B5-4DC2-804C-E5DD78A6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434BE-2A2E-47B9-989A-1DF918C5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095500"/>
          <a:ext xmlns:a="http://schemas.openxmlformats.org/drawingml/2006/main" cx="111633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750094"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要素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役割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身長・体重の例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周辺分布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各変数の値の出現頻度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身長の分布、体重の分布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コピュラ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確率位置どうしの依存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高い位置と重い位置の結びつき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条件付き生成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観測値に合う値を生成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70 kgを残して身長を生成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C0CD8-B904-48BC-B351-6F363F4D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55DDE-C568-43AA-B0C7-049A13B0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コピュラにはいくつか種類があり、表せる依存の形が異なる</a:t>
            </a:r>
          </a:p>
        </p:txBody>
      </p:sp>
    </p:spTree>
    <p:extLst>
      <p:ext uri="{BB962C8B-B14F-4D97-AF65-F5344CB8AC3E}">
        <p14:creationId xmlns:p14="http://schemas.microsoft.com/office/powerpoint/2010/main" val="12334122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4F916-0B0F-4ABF-8EF5-0CBE2132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Gaussian copulaとStudent-t copula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4F813-F464-4D68-9E96-779C76D5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4C439-0BDE-46BF-BD5C-D97590B0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どちらも、変換した空間で多変量分布を用いるコピュラ。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11C0F-FA07-466A-B324-92E3B48B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97558-32E4-46F5-B5D0-BB9753D4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9938B-E71A-42AC-8DA3-ADA0845E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Gaussian copula（ガウシアン・コピュラ）の式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818A8-EE45-4015-A03C-81B306CD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59EAC-48D8-419B-8E8D-71998D55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77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Cρ(u, v) = Φρ(Φ⁻¹(u), Φ⁻¹(v))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EEAA1-A0FF-4A7D-A85A-7BE2241C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Φ：標準正規CDF　Φ⁻¹：位置を正規の値に戻す逆CDF</a:t>
            </a:r>
          </a:p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Φρ：相関ρを持つ二変量標準正規CDF。ρで依存を表す。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705A7-2F58-4F53-AB0F-881DECC9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Student-t copula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正規分布の代わりにt分布を使う。上下両側の極端な値が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同時に出る依存を表せる。相関に加え自由度の推定が必要。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3FE49-9772-4707-BDEC-88F54FBD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B21EC-A228-48FF-976A-D3D7B113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Gaussianは条件付き計算が容易。Student-tは両側の裾依存を扱える</a:t>
            </a:r>
          </a:p>
        </p:txBody>
      </p:sp>
    </p:spTree>
    <p:extLst>
      <p:ext uri="{BB962C8B-B14F-4D97-AF65-F5344CB8AC3E}">
        <p14:creationId xmlns:p14="http://schemas.microsoft.com/office/powerpoint/2010/main" val="913184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8EBCB-B762-4D25-A318-B47B5440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Clayton・Gumbel・Joe copula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02B5A-EC8E-4A08-B26B-51DD89C8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0CB6E-2628-42A6-A14E-C79ABEDB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小さい側、大きい側など、特定の側で強い依存を表す。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4F896-2ABA-4941-8278-A0964CDA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02084-12FB-4EA3-A9B9-54023D52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18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105025"/>
          <a:ext xmlns:a="http://schemas.openxmlformats.org/drawingml/2006/main" cx="111633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種類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主な特徴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依存の例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Clayton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小さい値どうしの共発生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下側の裾依存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両方の指標が低い状態で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特に強く連動する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Gumbel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大きい値どうしの共発生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上側の裾依存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需要と負荷が非常に高い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状態で連動する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Joe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上側の裾依存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Gumbelとは内部の形が異なる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高い位置の共発生を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別の形でモデル化する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AF510-A17E-4804-9F7E-BDE27E31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E9C0F-AD3A-4253-923C-706DDAF0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裾とは分布の端の領域。どちら側の共発生を重視するかで選ぶ</a:t>
            </a:r>
          </a:p>
        </p:txBody>
      </p:sp>
    </p:spTree>
    <p:extLst>
      <p:ext uri="{BB962C8B-B14F-4D97-AF65-F5344CB8AC3E}">
        <p14:creationId xmlns:p14="http://schemas.microsoft.com/office/powerpoint/2010/main" val="13444529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D4CDD-68C2-445A-AB13-38A36B0D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Frank・Vine・ノンパラメトリック・コピュラ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CBEB9-4BF6-4FE6-9C1A-46C91F93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FF199-E82C-490D-A70E-FDA9E545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依存の対称性や、変数の組ごとの違いを扱う候補。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29482-A6A8-43DE-9D14-179FABF2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037B6-9ECA-4D6A-8B0A-70F97C7A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19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095500"/>
          <a:ext xmlns:a="http://schemas.openxmlformats.org/drawingml/2006/main" cx="1116330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769144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種類・構成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特徴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推定・生成の注意点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Frank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対称な依存。上下の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裾依存係数は0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裾依存が0でも、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独立という意味ではない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Vine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二変量のコピュラを組合せ、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ペアごとに異なる依存を表す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組合せ・種類・パラメータを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選ぶ必要がある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ノンパラメトリック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特定の一族に固定せず、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データから柔軟に推定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高次元や少数データでの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推定・条件付けが課題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5DBDC-65E8-4073-895F-406B3EE5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32DFB-5FF4-4266-A519-9789D540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柔軟なモデルほど、必要なデータ量と推定の負担も検討する</a:t>
            </a:r>
          </a:p>
        </p:txBody>
      </p:sp>
    </p:spTree>
    <p:extLst>
      <p:ext uri="{BB962C8B-B14F-4D97-AF65-F5344CB8AC3E}">
        <p14:creationId xmlns:p14="http://schemas.microsoft.com/office/powerpoint/2010/main" val="8870512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DB15B-EBF0-423D-A04C-9ABEEC83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初期実験で用いるコピュラ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6BC31-0E20-4992-99F3-33B0A396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23B13-1F7F-49D7-8248-6CF89F93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まずGaussian copulaを、VIMEの条件付き置換器に用いる。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C3BE4-02B6-4E1E-AD99-D819A186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D95A5-3C69-422A-AB89-886D0A44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9338B-9533-4503-AF31-BFED9F31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33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選択理由：多変量の条件付き分布を計算しやすく、</a:t>
            </a:r>
          </a:p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既存の列置換と、同じ学習条件で比較できる。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2A40B-D108-4D33-96F7-72E364B1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71800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条件付き正規分布の式（身長の潜在値を生成）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57881-AEC8-432A-9088-7CD59C70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CD68C-6DF1-4B2C-BDD6-77ADE202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Zₓ | Zᵧ = zᵧ  ~  N(ρzᵧ, 1 − ρ²)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7739A-8366-4A87-8BD3-7023239F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Zₓ・Zᵧ：Φ⁻¹で変換した値　ρ：潜在空間の相関</a:t>
            </a:r>
          </a:p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N(平均, 分散)：正規分布。残した体重に平均を合わせ、ばらつきを残す。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E8C62-AE76-47F9-AF36-0DA4821B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55F31-DDE1-4A48-AEA0-70DE5248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Gaussianで依存保持と分類性能を検証し、必要に応じて他の種類へ広げる</a:t>
            </a:r>
          </a:p>
        </p:txBody>
      </p:sp>
    </p:spTree>
    <p:extLst>
      <p:ext uri="{BB962C8B-B14F-4D97-AF65-F5344CB8AC3E}">
        <p14:creationId xmlns:p14="http://schemas.microsoft.com/office/powerpoint/2010/main" val="1993072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BFED6-4825-45F2-9A22-117C3B96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補足：実験環境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5AF92-3E4A-4E61-8776-1A2CC6C1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01DDE-604C-43A6-BFF8-CC3C2000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保存済みの2026年10月4日の実行記録に基づく。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20427-D450-49A4-8D9F-EF863816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5049E-11F6-415F-81FC-59C9D09C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095500"/>
          <a:ext xmlns:a="http://schemas.openxmlformats.org/drawingml/2006/main" cx="111633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496300"/>
              </a:tblGrid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実行環境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OS / CPU系統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macOS 26.3.1 / arm64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Python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3.12.14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主要ライブラリ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NumPy 2.5.3 / SciPy 1.18.1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scikit-learn 1.9.1 / PyTorch 2.14.1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計算デバイス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CPU / PyTorchのスレッド数1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E1785-D6DD-4955-B932-85B8DFEC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B7E6A-1FE1-4DB7-935F-40FC2A25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VIMEのPyTorch実装を用いた小規模な比較実験</a:t>
            </a:r>
          </a:p>
        </p:txBody>
      </p:sp>
    </p:spTree>
    <p:extLst>
      <p:ext uri="{BB962C8B-B14F-4D97-AF65-F5344CB8AC3E}">
        <p14:creationId xmlns:p14="http://schemas.microsoft.com/office/powerpoint/2010/main" val="10914677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37268-6877-4DC4-B3B3-940AA95D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補足：使用するデータ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6F53F-5027-47D4-9D16-7AC62EFE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50DF0-8113-478F-ADD1-F0EF382B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scikit-learnに付属する、数値特徴の分類データ。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64879-A871-4C8A-A3A0-82DBC08E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191B9-5354-4E9D-A08C-C878AA7A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038350"/>
          <a:ext xmlns:a="http://schemas.openxmlformats.org/drawingml/2006/main" cx="111633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Breast Cancer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Wine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行数 / 特徴数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569行 / 30特徴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178行 / 13特徴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データの内容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細胞核の大きさ・形状など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画像から求めた数値特徴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アルコール・酸・色など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ワインの化学分析値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分類ラベル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悪性 / 良性（2クラス）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ワインの品種（3クラス）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型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数値特徴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数値特徴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9E0C1-0C5A-437C-95B8-2A326AD9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4B070-0E11-449D-9DD3-42CD945A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ラベルは分類の正解。コピュラの依存推定にはラベルを使わない</a:t>
            </a:r>
          </a:p>
        </p:txBody>
      </p:sp>
    </p:spTree>
    <p:extLst>
      <p:ext uri="{BB962C8B-B14F-4D97-AF65-F5344CB8AC3E}">
        <p14:creationId xmlns:p14="http://schemas.microsoft.com/office/powerpoint/2010/main" val="14498366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2C0ED-5992-4AA1-9DBE-93E10C6A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補足：ラベル付きデータの設定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02481-0702-49E4-B3BD-E9A211C5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F8A51-F4B4-4303-A79F-BD525E6C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全体を訓練80%・テスト20%に分け、訓練の30%にラベルを付ける。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97118-DBDB-4155-8129-B124F8AD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5E840-F708-42F4-B295-08AFD0A4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2085975"/>
          <a:ext xmlns:a="http://schemas.openxmlformats.org/drawingml/2006/main" cx="11163300" cy="2962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592455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区分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Breast Cancer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Wine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ラベル付き訓練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136件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42件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ラベルなし訓練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319件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100件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訓練合計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455件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142件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テスト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114件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36件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BB855-B532-4EE5-AE84-94F6310B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クラス比を保つ層化分割。テストデータは学習や分布推定に使わない。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23CB4-F620-4C68-92D6-A698326F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F8A77-AB1E-4D41-A82B-F56D6D69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「30%」は全データに対する割合ではなく、訓練データ内の割合</a:t>
            </a:r>
          </a:p>
        </p:txBody>
      </p:sp>
    </p:spTree>
    <p:extLst>
      <p:ext uri="{BB962C8B-B14F-4D97-AF65-F5344CB8AC3E}">
        <p14:creationId xmlns:p14="http://schemas.microsoft.com/office/powerpoint/2010/main" val="18902455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BFE25-2C64-49A7-A9F9-81972729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補足：使用するモデル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86B6D-04F7-44F6-B347-777840DE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A5B95-2198-4C12-B04B-51C10DAA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VIMEの学習枠組みで、置換器だけを変更して比較する。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D5652-DA2E-47D6-A1D4-759C5403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8DE5D-B751-4DAA-8A13-A5A32FF6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1952625"/>
          <a:ext xmlns:a="http://schemas.openxmlformats.org/drawingml/2006/main" cx="111633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496300"/>
              </a:tblGrid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構成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今回の設定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エンコーダ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MLP：隠れ層4層、各層32ユニット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自己教師あり学習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変更位置の推定（BCE）と元値の復元（MSE）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分類器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エンコーダを固定し、隠れ幅32のMLPで分類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半教師あり学習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ラベル付きの交差エントロピー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＋ラベルなしの3拡張の予測一貫性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比較する置換器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列ごとの無作為置換 / Gaussian copula条件付き置換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BFCBB-9024-47F6-8DAB-6D2DCEAA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FF01C-9482-4EA9-B446-4AFBB34A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学習課題とモデルをそろえ、置換方法の違いを比較する</a:t>
            </a:r>
          </a:p>
        </p:txBody>
      </p:sp>
    </p:spTree>
    <p:extLst>
      <p:ext uri="{BB962C8B-B14F-4D97-AF65-F5344CB8AC3E}">
        <p14:creationId xmlns:p14="http://schemas.microsoft.com/office/powerpoint/2010/main" val="161925825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5E694-E20E-4BA7-9FB1-DFE82898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補足：学習条件と前処理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0DCA5-26E0-451B-AAEF-448C6348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5FA0E-CAB0-4350-B708-B127EDE4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同じデータ分割・乱数seed・学習予算で、2手法を比較する。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EFA37-20A8-48FB-A3FB-5F7258FB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8D481-DA92-414A-A6BB-71B3CA85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1971675"/>
          <a:ext xmlns:a="http://schemas.openxmlformats.org/drawingml/2006/main" cx="111633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496300"/>
              </a:tblGrid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共通設定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前処理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訓練データだけでMinMaxScalerを推定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学習回数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自己教師あり15 epoch / 半教師あり300反復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拡張・batch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各特徴のマスク確率0.4 / batch size 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損失重み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復元MSE：2 / 予測一貫性：1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繰り返し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seed = 11, 23, 37, 51, 67（5回）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B5BE3-3F83-459E-BB4B-CA2093ED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3F638-675D-49DD-8880-D5382105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コピュラの周辺分布と依存は、ラベルなし訓練データから推定する</a:t>
            </a:r>
          </a:p>
        </p:txBody>
      </p:sp>
    </p:spTree>
    <p:extLst>
      <p:ext uri="{BB962C8B-B14F-4D97-AF65-F5344CB8AC3E}">
        <p14:creationId xmlns:p14="http://schemas.microsoft.com/office/powerpoint/2010/main" val="7769283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5FFB7-F677-4D2E-B3B5-FD60F77F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補足：保存済みの初期実験結果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52AF7-B39B-4CA2-8983-012C15CA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EC2EE-278C-458B-A645-45224C0F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分類性能の平均差は小さく、改善の結論には追加検証が必要。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15692-4556-4036-8944-BC674B15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0B40D-AFCA-42C7-9F09-185580A2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2105025"/>
          <a:ext xmlns:a="http://schemas.openxmlformats.org/drawingml/2006/main" cx="111633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ROC-AUC：平均 ± SD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列置換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Gaussian copula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Breast Cancer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0.970 ± 0.012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0.973 ± 0.017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Wine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0.826 ± 0.068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0.847 ± 0.130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F538D-C234-4550-8D08-015E5164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平均差の95%区間</a:t>
            </a:r>
          </a:p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Breast Cancer：−0.005〜+0.011　Wine：−0.079〜+0.109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両方とも0を含む。少数データ・5回の探索的な比較。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88F67-179B-4F62-A5C1-03A4EC8F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0518F-1FA3-4401-AB23-7CB9E1C6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本編は手法の説明と選択まで。結果の詳細は質疑用の補足に置く</a:t>
            </a:r>
          </a:p>
        </p:txBody>
      </p:sp>
    </p:spTree>
    <p:extLst>
      <p:ext uri="{BB962C8B-B14F-4D97-AF65-F5344CB8AC3E}">
        <p14:creationId xmlns:p14="http://schemas.microsoft.com/office/powerpoint/2010/main" val="1971097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2026-10-05T00:49:00.4060000Z</dcterms:created>
  <dcterms:modified xsi:type="dcterms:W3CDTF">2026-10-05T00:49:00.4060000Z</dcterms:modified>
</coreProperties>
</file>