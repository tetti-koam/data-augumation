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pula/theme/theme1.xml" ContentType="application/vnd.openxmlformats-officedocument.theme+xml"/>
  <Override PartName="/ppt/copula/slideMasters/slideMaster1.xml" ContentType="application/vnd.openxmlformats-officedocument.presentationml.slideMaster+xml"/>
  <Override PartName="/ppt/copula/slideMasters/theme/theme2.xml" ContentType="application/vnd.openxmlformats-officedocument.theme+xml"/>
  <Override PartName="/ppt/copula/slideLayouts/slideLayout1.xml" ContentType="application/vnd.openxmlformats-officedocument.presentationml.slideLayout+xml"/>
  <Override PartName="/ppt/copula/notesMasters/notesMaster1.xml" ContentType="application/vnd.openxmlformats-officedocument.presentationml.notesMaster+xml"/>
  <Override PartName="/ppt/copula/notesMasters/theme/theme3.xml" ContentType="application/vnd.openxmlformats-officedocument.theme+xml"/>
  <Override PartName="/ppt/copula/presProps.xml" ContentType="application/vnd.openxmlformats-officedocument.presentationml.presProps+xml"/>
  <Override PartName="/ppt/copula/tableStyles.xml" ContentType="application/vnd.openxmlformats-officedocument.presentationml.tableStyles+xml"/>
  <Override PartName="/ppt/slides/slide101.xml" ContentType="application/vnd.openxmlformats-officedocument.presentationml.slide+xml"/>
  <Override PartName="/ppt/copula/notesSlides/notesSlide1.xml" ContentType="application/vnd.openxmlformats-officedocument.presentationml.notesSlide+xml"/>
  <Override PartName="/ppt/slides/slide102.xml" ContentType="application/vnd.openxmlformats-officedocument.presentationml.slide+xml"/>
  <Override PartName="/ppt/copula/notesSlides/notesSlide2.xml" ContentType="application/vnd.openxmlformats-officedocument.presentationml.notesSlide+xml"/>
  <Override PartName="/ppt/slides/slide103.xml" ContentType="application/vnd.openxmlformats-officedocument.presentationml.slide+xml"/>
  <Override PartName="/ppt/copula/notesSlides/notesSlide3.xml" ContentType="application/vnd.openxmlformats-officedocument.presentationml.notesSlide+xml"/>
  <Override PartName="/ppt/slides/slide104.xml" ContentType="application/vnd.openxmlformats-officedocument.presentationml.slide+xml"/>
  <Override PartName="/ppt/copula/notesSlides/notesSlide4.xml" ContentType="application/vnd.openxmlformats-officedocument.presentationml.notesSlide+xml"/>
  <Override PartName="/ppt/slides/slide105.xml" ContentType="application/vnd.openxmlformats-officedocument.presentationml.slide+xml"/>
  <Override PartName="/ppt/copula/notesSlides/notesSlide5.xml" ContentType="application/vnd.openxmlformats-officedocument.presentationml.notesSlide+xml"/>
  <Override PartName="/ppt/slides/slide106.xml" ContentType="application/vnd.openxmlformats-officedocument.presentationml.slide+xml"/>
  <Override PartName="/ppt/copula/notesSlides/notesSlide6.xml" ContentType="application/vnd.openxmlformats-officedocument.presentationml.notesSlide+xml"/>
  <Override PartName="/ppt/slides/slide107.xml" ContentType="application/vnd.openxmlformats-officedocument.presentationml.slide+xml"/>
  <Override PartName="/ppt/copula/notesSlides/notesSlide7.xml" ContentType="application/vnd.openxmlformats-officedocument.presentationml.notesSlide+xml"/>
  <Override PartName="/ppt/slides/slide108.xml" ContentType="application/vnd.openxmlformats-officedocument.presentationml.slide+xml"/>
  <Override PartName="/ppt/copula/notesSlides/notesSlide8.xml" ContentType="application/vnd.openxmlformats-officedocument.presentationml.notesSlide+xml"/>
  <Override PartName="/ppt/slides/slide109.xml" ContentType="application/vnd.openxmlformats-officedocument.presentationml.slide+xml"/>
  <Override PartName="/ppt/copula/notesSlides/notesSlide9.xml" ContentType="application/vnd.openxmlformats-officedocument.presentationml.notesSlide+xml"/>
  <Override PartName="/ppt/slides/slide110.xml" ContentType="application/vnd.openxmlformats-officedocument.presentationml.slide+xml"/>
  <Override PartName="/ppt/copula/notesSlides/notesSlide10.xml" ContentType="application/vnd.openxmlformats-officedocument.presentationml.notesSlide+xml"/>
  <Override PartName="/ppt/slides/slide111.xml" ContentType="application/vnd.openxmlformats-officedocument.presentationml.slide+xml"/>
  <Override PartName="/ppt/copula/notesSlides/notesSlide11.xml" ContentType="application/vnd.openxmlformats-officedocument.presentationml.notesSlide+xml"/>
  <Override PartName="/ppt/slides/slide112.xml" ContentType="application/vnd.openxmlformats-officedocument.presentationml.slide+xml"/>
  <Override PartName="/ppt/copula/notesSlides/notesSlide12.xml" ContentType="application/vnd.openxmlformats-officedocument.presentationml.notesSlide+xml"/>
  <Override PartName="/ppt/slides/slide113.xml" ContentType="application/vnd.openxmlformats-officedocument.presentationml.slide+xml"/>
  <Override PartName="/ppt/copula/notesSlides/notesSlide13.xml" ContentType="application/vnd.openxmlformats-officedocument.presentationml.notesSlide+xml"/>
  <Override PartName="/ppt/slides/slide114.xml" ContentType="application/vnd.openxmlformats-officedocument.presentationml.slide+xml"/>
  <Override PartName="/ppt/copula/slides/charts/chart1.xml" ContentType="application/vnd.openxmlformats-officedocument.drawingml.chart+xml"/>
  <Override PartName="/ppt/copula/slides/charts/chart2.xml" ContentType="application/vnd.openxmlformats-officedocument.drawingml.chart+xml"/>
  <Override PartName="/ppt/copula/slides/charts/chart3.xml" ContentType="application/vnd.openxmlformats-officedocument.drawingml.chart+xml"/>
  <Override PartName="/ppt/copula/notesSlides/notesSlide14.xml" ContentType="application/vnd.openxmlformats-officedocument.presentationml.notesSlide+xml"/>
  <Override PartName="/ppt/slides/slide115.xml" ContentType="application/vnd.openxmlformats-officedocument.presentationml.slide+xml"/>
  <Override PartName="/ppt/copula/notesSlides/notesSlide15.xml" ContentType="application/vnd.openxmlformats-officedocument.presentationml.notesSlide+xml"/>
  <Override PartName="/ppt/slides/slide116.xml" ContentType="application/vnd.openxmlformats-officedocument.presentationml.slide+xml"/>
  <Override PartName="/ppt/copula/notesSlides/notesSlide16.xml" ContentType="application/vnd.openxmlformats-officedocument.presentationml.notesSlide+xml"/>
  <Override PartName="/ppt/slides/slide117.xml" ContentType="application/vnd.openxmlformats-officedocument.presentationml.slide+xml"/>
  <Override PartName="/ppt/copula/notesSlides/notesSlide17.xml" ContentType="application/vnd.openxmlformats-officedocument.presentationml.notesSlide+xml"/>
  <Override PartName="/ppt/slides/slide118.xml" ContentType="application/vnd.openxmlformats-officedocument.presentationml.slide+xml"/>
  <Override PartName="/ppt/copula/notesSlides/notesSlide18.xml" ContentType="application/vnd.openxmlformats-officedocument.presentationml.notesSlide+xml"/>
  <Override PartName="/ppt/slides/slide119.xml" ContentType="application/vnd.openxmlformats-officedocument.presentationml.slide+xml"/>
  <Override PartName="/ppt/copula/notesSlides/notesSlide19.xml" ContentType="application/vnd.openxmlformats-officedocument.presentationml.notesSlide+xml"/>
  <Override PartName="/ppt/slides/slide120.xml" ContentType="application/vnd.openxmlformats-officedocument.presentationml.slide+xml"/>
  <Override PartName="/ppt/copula/notesSlides/notesSlide20.xml" ContentType="application/vnd.openxmlformats-officedocument.presentationml.notesSlide+xml"/>
  <Override PartName="/ppt/slides/slide121.xml" ContentType="application/vnd.openxmlformats-officedocument.presentationml.slide+xml"/>
  <Override PartName="/ppt/copula/notesSlides/notesSlide21.xml" ContentType="application/vnd.openxmlformats-officedocument.presentationml.notesSlide+xml"/>
  <Override PartName="/ppt/slides/slide122.xml" ContentType="application/vnd.openxmlformats-officedocument.presentationml.slide+xml"/>
  <Override PartName="/ppt/copula/notesSlides/notesSlide22.xml" ContentType="application/vnd.openxmlformats-officedocument.presentationml.notesSlide+xml"/>
  <Override PartName="/ppt/slides/slide123.xml" ContentType="application/vnd.openxmlformats-officedocument.presentationml.slide+xml"/>
  <Override PartName="/ppt/copula/notesSlides/notesSlide23.xml" ContentType="application/vnd.openxmlformats-officedocument.presentationml.notesSlide+xml"/>
  <Override PartName="/ppt/slides/slide124.xml" ContentType="application/vnd.openxmlformats-officedocument.presentationml.slide+xml"/>
  <Override PartName="/ppt/copula/notesSlides/notesSlide24.xml" ContentType="application/vnd.openxmlformats-officedocument.presentationml.notesSlide+xml"/>
  <Override PartName="/ppt/slides/slide125.xml" ContentType="application/vnd.openxmlformats-officedocument.presentationml.slide+xml"/>
  <Override PartName="/ppt/copula/notesSlides/notesSlide25.xml" ContentType="application/vnd.openxmlformats-officedocument.presentationml.notesSlide+xml"/>
  <Override PartName="/ppt/slides/slide126.xml" ContentType="application/vnd.openxmlformats-officedocument.presentationml.slide+xml"/>
  <Override PartName="/ppt/copula/notesSlides/notesSlide26.xml" ContentType="application/vnd.openxmlformats-officedocument.presentationml.notesSlide+xml"/>
  <Override PartName="/ppt/slides/slide127.xml" ContentType="application/vnd.openxmlformats-officedocument.presentationml.slide+xml"/>
  <Override PartName="/ppt/copula/notesSlides/notesSlide27.xml" ContentType="application/vnd.openxmlformats-officedocument.presentationml.notesSlide+xml"/>
  <Override PartName="/ppt/slides/slide128.xml" ContentType="application/vnd.openxmlformats-officedocument.presentationml.slide+xml"/>
  <Override PartName="/ppt/copula/notesSlides/notesSlide28.xml" ContentType="application/vnd.openxmlformats-officedocument.presentationml.notesSlide+xml"/>
  <Override PartName="/ppt/slides/slide129.xml" ContentType="application/vnd.openxmlformats-officedocument.presentationml.slide+xml"/>
  <Override PartName="/ppt/copula/notesSlides/notesSlide29.xml" ContentType="application/vnd.openxmlformats-officedocument.presentationml.notesSlide+xml"/>
  <Override PartName="/ppt/slides/slide130.xml" ContentType="application/vnd.openxmlformats-officedocument.presentationml.slide+xml"/>
  <Override PartName="/ppt/copula/notesSlides/notesSlide30.xml" ContentType="application/vnd.openxmlformats-officedocument.presentationml.notesSlide+xml"/>
  <Override PartName="/ppt/slides/slide131.xml" ContentType="application/vnd.openxmlformats-officedocument.presentationml.slide+xml"/>
  <Override PartName="/ppt/copula/notesSlides/notesSlide31.xml" ContentType="application/vnd.openxmlformats-officedocument.presentationml.notesSlide+xml"/>
  <Override PartName="/ppt/slides/slide132.xml" ContentType="application/vnd.openxmlformats-officedocument.presentationml.slide+xml"/>
  <Override PartName="/ppt/copula/notesSlides/notesSlide32.xml" ContentType="application/vnd.openxmlformats-officedocument.presentationml.notesSlide+xml"/>
  <Override PartName="/ppt/slides/slide133.xml" ContentType="application/vnd.openxmlformats-officedocument.presentationml.slide+xml"/>
  <Override PartName="/ppt/copula/notesSlides/notesSlide33.xml" ContentType="application/vnd.openxmlformats-officedocument.presentationml.notesSlide+xml"/>
  <Override PartName="/ppt/slides/slide134.xml" ContentType="application/vnd.openxmlformats-officedocument.presentationml.slide+xml"/>
  <Override PartName="/ppt/copula/notesSlides/notesSlide34.xml" ContentType="application/vnd.openxmlformats-officedocument.presentationml.notesSlide+xml"/>
  <Override PartName="/ppt/slides/slide135.xml" ContentType="application/vnd.openxmlformats-officedocument.presentationml.slide+xml"/>
  <Override PartName="/ppt/copula/notesSlides/notesSlide35.xml" ContentType="application/vnd.openxmlformats-officedocument.presentationml.notesSlide+xml"/>
  <Override PartName="/ppt/slides/slide136.xml" ContentType="application/vnd.openxmlformats-officedocument.presentationml.slide+xml"/>
  <Override PartName="/ppt/copula/notesSlides/notesSlide36.xml" ContentType="application/vnd.openxmlformats-officedocument.presentationml.notesSlide+xml"/>
  <Override PartName="/ppt/slides/slide137.xml" ContentType="application/vnd.openxmlformats-officedocument.presentationml.slide+xml"/>
  <Override PartName="/ppt/copula/notesSlides/notesSlide37.xml" ContentType="application/vnd.openxmlformats-officedocument.presentationml.notesSlide+xml"/>
  <Override PartName="/ppt/slides/slide138.xml" ContentType="application/vnd.openxmlformats-officedocument.presentationml.slide+xml"/>
  <Override PartName="/ppt/copula/notesSlides/notesSlide38.xml" ContentType="application/vnd.openxmlformats-officedocument.presentationml.notesSlide+xml"/>
  <Override PartName="/ppt/slides/slide139.xml" ContentType="application/vnd.openxmlformats-officedocument.presentationml.slide+xml"/>
  <Override PartName="/ppt/copula/notesSlides/notesSlide39.xml" ContentType="application/vnd.openxmlformats-officedocument.presentationml.notesSlide+xml"/>
  <Override PartName="/ppt/slides/slide140.xml" ContentType="application/vnd.openxmlformats-officedocument.presentationml.slide+xml"/>
  <Override PartName="/ppt/copula/notesSlides/notesSlide40.xml" ContentType="application/vnd.openxmlformats-officedocument.presentationml.notesSlide+xml"/>
  <Override PartName="/ppt/slides/slide141.xml" ContentType="application/vnd.openxmlformats-officedocument.presentationml.slide+xml"/>
  <Override PartName="/ppt/copula/notesSlides/notesSlide41.xml" ContentType="application/vnd.openxmlformats-officedocument.presentationml.notesSlide+xml"/>
  <Override PartName="/ppt/slides/slide142.xml" ContentType="application/vnd.openxmlformats-officedocument.presentationml.slide+xml"/>
  <Override PartName="/ppt/copula/notesSlides/notesSlide42.xml" ContentType="application/vnd.openxmlformats-officedocument.presentationml.notesSlide+xml"/>
  <Override PartName="/ppt/slides/slide143.xml" ContentType="application/vnd.openxmlformats-officedocument.presentationml.slide+xml"/>
  <Override PartName="/ppt/copula/notesSlides/notesSlide43.xml" ContentType="application/vnd.openxmlformats-officedocument.presentationml.notesSlide+xml"/>
  <Override PartName="/ppt/slides/slide144.xml" ContentType="application/vnd.openxmlformats-officedocument.presentationml.slide+xml"/>
  <Override PartName="/ppt/copula/notesSlides/notesSlide44.xml" ContentType="application/vnd.openxmlformats-officedocument.presentationml.notesSlide+xml"/>
  <Override PartName="/ppt/slides/slide145.xml" ContentType="application/vnd.openxmlformats-officedocument.presentationml.slide+xml"/>
  <Override PartName="/ppt/copula/notesSlides/notesSlide45.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5000" r:id="rIdCopula2"/>
  </p:sldMasterIdLst>
  <p:notesMasterIdLst>
    <p:notesMasterId r:id="rId23"/>
    <p:notesMasterId r:id="rIdCopula3"/>
  </p:notesMasterIdLst>
  <p:sldIdLst>
    <p:sldId id="256" r:id="rId2"/>
    <p:sldId id="257" r:id="rId3"/>
    <p:sldId id="296" r:id="rId4"/>
    <p:sldId id="315" r:id="rId5"/>
    <p:sldId id="1000" r:id="rIdCopula6"/>
    <p:sldId id="1001" r:id="rIdCopula7"/>
    <p:sldId id="1002" r:id="rIdCopula8"/>
    <p:sldId id="1003" r:id="rIdCopula9"/>
    <p:sldId id="1004" r:id="rIdCopula10"/>
    <p:sldId id="1005" r:id="rIdCopula11"/>
    <p:sldId id="1006" r:id="rIdCopula12"/>
    <p:sldId id="1007" r:id="rIdCopula13"/>
    <p:sldId id="1008" r:id="rIdCopula14"/>
    <p:sldId id="1009" r:id="rIdCopula15"/>
    <p:sldId id="1010" r:id="rIdCopula16"/>
    <p:sldId id="1011" r:id="rIdCopula17"/>
    <p:sldId id="1012" r:id="rIdCopula18"/>
    <p:sldId id="1013" r:id="rIdCopula19"/>
    <p:sldId id="1014" r:id="rIdCopula20"/>
    <p:sldId id="1015" r:id="rIdCopula21"/>
    <p:sldId id="1016" r:id="rIdCopula22"/>
    <p:sldId id="1017" r:id="rIdCopula23"/>
    <p:sldId id="1018" r:id="rIdCopula24"/>
    <p:sldId id="1019" r:id="rIdCopula25"/>
    <p:sldId id="1020" r:id="rIdCopula26"/>
    <p:sldId id="1021" r:id="rIdCopula27"/>
    <p:sldId id="1022" r:id="rIdCopula28"/>
    <p:sldId id="1023" r:id="rIdCopula29"/>
    <p:sldId id="1024" r:id="rIdCopula30"/>
    <p:sldId id="1025" r:id="rIdCopula31"/>
    <p:sldId id="1026" r:id="rIdCopula32"/>
    <p:sldId id="1027" r:id="rIdCopula33"/>
    <p:sldId id="1028" r:id="rIdCopula34"/>
    <p:sldId id="1029" r:id="rIdCopula35"/>
    <p:sldId id="1030" r:id="rIdCopula36"/>
    <p:sldId id="1031" r:id="rIdCopula37"/>
    <p:sldId id="1032" r:id="rIdCopula38"/>
    <p:sldId id="1033" r:id="rIdCopula39"/>
    <p:sldId id="1034" r:id="rIdCopula40"/>
    <p:sldId id="1035" r:id="rIdCopula41"/>
    <p:sldId id="1036" r:id="rIdCopula42"/>
    <p:sldId id="1037" r:id="rIdCopula43"/>
    <p:sldId id="1038" r:id="rIdCopula44"/>
    <p:sldId id="1039" r:id="rIdCopula45"/>
    <p:sldId id="1040" r:id="rIdCopula46"/>
    <p:sldId id="1041" r:id="rIdCopula47"/>
    <p:sldId id="1042" r:id="rIdCopula48"/>
    <p:sldId id="1043" r:id="rIdCopula49"/>
    <p:sldId id="1044" r:id="rIdCopula5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24" Type="http://schemas.openxmlformats.org/officeDocument/2006/relationships/presProps" Target="presProps.xml"/><Relationship Id="rId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4" Type="http://schemas.openxmlformats.org/officeDocument/2006/relationships/slide" Target="slides/slide3.xml"/><Relationship Id="rId27" Type="http://schemas.openxmlformats.org/officeDocument/2006/relationships/tableStyles" Target="tableStyles.xml"/><Relationship Id="rIdCopula1" Type="http://schemas.openxmlformats.org/officeDocument/2006/relationships/theme" Target="copula/theme/theme1.xml"/><Relationship Id="rIdCopula2" Type="http://schemas.openxmlformats.org/officeDocument/2006/relationships/slideMaster" Target="copula/slideMasters/slideMaster1.xml"/><Relationship Id="rIdCopula3" Type="http://schemas.openxmlformats.org/officeDocument/2006/relationships/notesMaster" Target="copula/notesMasters/notesMaster1.xml"/><Relationship Id="rIdCopula4" Type="http://schemas.openxmlformats.org/officeDocument/2006/relationships/presProps" Target="copula/presProps.xml"/><Relationship Id="rIdCopula5" Type="http://schemas.openxmlformats.org/officeDocument/2006/relationships/tableStyles" Target="copula/tableStyles.xml"/><Relationship Id="rIdCopula6" Type="http://schemas.openxmlformats.org/officeDocument/2006/relationships/slide" Target="slides/slide101.xml"/><Relationship Id="rIdCopula7" Type="http://schemas.openxmlformats.org/officeDocument/2006/relationships/slide" Target="slides/slide102.xml"/><Relationship Id="rIdCopula8" Type="http://schemas.openxmlformats.org/officeDocument/2006/relationships/slide" Target="slides/slide103.xml"/><Relationship Id="rIdCopula9" Type="http://schemas.openxmlformats.org/officeDocument/2006/relationships/slide" Target="slides/slide104.xml"/><Relationship Id="rIdCopula10" Type="http://schemas.openxmlformats.org/officeDocument/2006/relationships/slide" Target="slides/slide105.xml"/><Relationship Id="rIdCopula11" Type="http://schemas.openxmlformats.org/officeDocument/2006/relationships/slide" Target="slides/slide106.xml"/><Relationship Id="rIdCopula12" Type="http://schemas.openxmlformats.org/officeDocument/2006/relationships/slide" Target="slides/slide107.xml"/><Relationship Id="rIdCopula13" Type="http://schemas.openxmlformats.org/officeDocument/2006/relationships/slide" Target="slides/slide108.xml"/><Relationship Id="rIdCopula14" Type="http://schemas.openxmlformats.org/officeDocument/2006/relationships/slide" Target="slides/slide109.xml"/><Relationship Id="rIdCopula15" Type="http://schemas.openxmlformats.org/officeDocument/2006/relationships/slide" Target="slides/slide110.xml"/><Relationship Id="rIdCopula16" Type="http://schemas.openxmlformats.org/officeDocument/2006/relationships/slide" Target="slides/slide111.xml"/><Relationship Id="rIdCopula17" Type="http://schemas.openxmlformats.org/officeDocument/2006/relationships/slide" Target="slides/slide112.xml"/><Relationship Id="rIdCopula18" Type="http://schemas.openxmlformats.org/officeDocument/2006/relationships/slide" Target="slides/slide113.xml"/><Relationship Id="rIdCopula19" Type="http://schemas.openxmlformats.org/officeDocument/2006/relationships/slide" Target="slides/slide114.xml"/><Relationship Id="rIdCopula20" Type="http://schemas.openxmlformats.org/officeDocument/2006/relationships/slide" Target="slides/slide115.xml"/><Relationship Id="rIdCopula21" Type="http://schemas.openxmlformats.org/officeDocument/2006/relationships/slide" Target="slides/slide116.xml"/><Relationship Id="rIdCopula22" Type="http://schemas.openxmlformats.org/officeDocument/2006/relationships/slide" Target="slides/slide117.xml"/><Relationship Id="rIdCopula23" Type="http://schemas.openxmlformats.org/officeDocument/2006/relationships/slide" Target="slides/slide118.xml"/><Relationship Id="rIdCopula24" Type="http://schemas.openxmlformats.org/officeDocument/2006/relationships/slide" Target="slides/slide119.xml"/><Relationship Id="rIdCopula25" Type="http://schemas.openxmlformats.org/officeDocument/2006/relationships/slide" Target="slides/slide120.xml"/><Relationship Id="rIdCopula26" Type="http://schemas.openxmlformats.org/officeDocument/2006/relationships/slide" Target="slides/slide121.xml"/><Relationship Id="rIdCopula27" Type="http://schemas.openxmlformats.org/officeDocument/2006/relationships/slide" Target="slides/slide122.xml"/><Relationship Id="rIdCopula28" Type="http://schemas.openxmlformats.org/officeDocument/2006/relationships/slide" Target="slides/slide123.xml"/><Relationship Id="rIdCopula29" Type="http://schemas.openxmlformats.org/officeDocument/2006/relationships/slide" Target="slides/slide124.xml"/><Relationship Id="rIdCopula30" Type="http://schemas.openxmlformats.org/officeDocument/2006/relationships/slide" Target="slides/slide125.xml"/><Relationship Id="rIdCopula31" Type="http://schemas.openxmlformats.org/officeDocument/2006/relationships/slide" Target="slides/slide126.xml"/><Relationship Id="rIdCopula32" Type="http://schemas.openxmlformats.org/officeDocument/2006/relationships/slide" Target="slides/slide127.xml"/><Relationship Id="rIdCopula33" Type="http://schemas.openxmlformats.org/officeDocument/2006/relationships/slide" Target="slides/slide128.xml"/><Relationship Id="rIdCopula34" Type="http://schemas.openxmlformats.org/officeDocument/2006/relationships/slide" Target="slides/slide129.xml"/><Relationship Id="rIdCopula35" Type="http://schemas.openxmlformats.org/officeDocument/2006/relationships/slide" Target="slides/slide130.xml"/><Relationship Id="rIdCopula36" Type="http://schemas.openxmlformats.org/officeDocument/2006/relationships/slide" Target="slides/slide131.xml"/><Relationship Id="rIdCopula37" Type="http://schemas.openxmlformats.org/officeDocument/2006/relationships/slide" Target="slides/slide132.xml"/><Relationship Id="rIdCopula38" Type="http://schemas.openxmlformats.org/officeDocument/2006/relationships/slide" Target="slides/slide133.xml"/><Relationship Id="rIdCopula39" Type="http://schemas.openxmlformats.org/officeDocument/2006/relationships/slide" Target="slides/slide134.xml"/><Relationship Id="rIdCopula40" Type="http://schemas.openxmlformats.org/officeDocument/2006/relationships/slide" Target="slides/slide135.xml"/><Relationship Id="rIdCopula41" Type="http://schemas.openxmlformats.org/officeDocument/2006/relationships/slide" Target="slides/slide136.xml"/><Relationship Id="rIdCopula42" Type="http://schemas.openxmlformats.org/officeDocument/2006/relationships/slide" Target="slides/slide137.xml"/><Relationship Id="rIdCopula43" Type="http://schemas.openxmlformats.org/officeDocument/2006/relationships/slide" Target="slides/slide138.xml"/><Relationship Id="rIdCopula44" Type="http://schemas.openxmlformats.org/officeDocument/2006/relationships/slide" Target="slides/slide139.xml"/><Relationship Id="rIdCopula45" Type="http://schemas.openxmlformats.org/officeDocument/2006/relationships/slide" Target="slides/slide140.xml"/><Relationship Id="rIdCopula46" Type="http://schemas.openxmlformats.org/officeDocument/2006/relationships/slide" Target="slides/slide141.xml"/><Relationship Id="rIdCopula47" Type="http://schemas.openxmlformats.org/officeDocument/2006/relationships/slide" Target="slides/slide142.xml"/><Relationship Id="rIdCopula48" Type="http://schemas.openxmlformats.org/officeDocument/2006/relationships/slide" Target="slides/slide143.xml"/><Relationship Id="rIdCopula49" Type="http://schemas.openxmlformats.org/officeDocument/2006/relationships/slide" Target="slides/slide144.xml"/><Relationship Id="rIdCopula50" Type="http://schemas.openxmlformats.org/officeDocument/2006/relationships/slide" Target="slides/slide1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copula/notesMasters/_rels/notesMaster1.xml.rels><?xml version='1.0' encoding='UTF-8' standalone='yes'?>
<Relationships xmlns="http://schemas.openxmlformats.org/package/2006/relationships"><Relationship Type="http://schemas.openxmlformats.org/officeDocument/2006/relationships/theme" Target="theme/theme3.xml" Id="R05ad56d6c2754313"/></Relationships>
</file>

<file path=ppt/copul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copul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notesSlides/_rels/notesSlide1.xml.rels><?xml version='1.0' encoding='UTF-8' standalone='yes'?>
<Relationships xmlns="http://schemas.openxmlformats.org/package/2006/relationships"><Relationship Type="http://schemas.openxmlformats.org/officeDocument/2006/relationships/slide" Target="../../slides/slide101.xml" Id="R79507844f6794211"/><Relationship Type="http://schemas.openxmlformats.org/officeDocument/2006/relationships/notesMaster" Target="../notesMasters/notesMaster1.xml" Id="R30a01df1b5934a62"/></Relationships>
</file>

<file path=ppt/copula/notesSlides/_rels/notesSlide2.xml.rels><?xml version='1.0' encoding='UTF-8' standalone='yes'?>
<Relationships xmlns="http://schemas.openxmlformats.org/package/2006/relationships"><Relationship Type="http://schemas.openxmlformats.org/officeDocument/2006/relationships/slide" Target="../../slides/slide102.xml" Id="Rfce7be3543bf499a"/><Relationship Type="http://schemas.openxmlformats.org/officeDocument/2006/relationships/notesMaster" Target="../notesMasters/notesMaster1.xml" Id="Re8b1a91ff44f4c9c"/></Relationships>
</file>

<file path=ppt/copula/notesSlides/_rels/notesSlide3.xml.rels><?xml version='1.0' encoding='UTF-8' standalone='yes'?>
<Relationships xmlns="http://schemas.openxmlformats.org/package/2006/relationships"><Relationship Type="http://schemas.openxmlformats.org/officeDocument/2006/relationships/slide" Target="../../slides/slide103.xml" Id="R95425cb087ab4b29"/><Relationship Type="http://schemas.openxmlformats.org/officeDocument/2006/relationships/notesMaster" Target="../notesMasters/notesMaster1.xml" Id="R7a690516113a486c"/></Relationships>
</file>

<file path=ppt/copula/notesSlides/_rels/notesSlide4.xml.rels><?xml version='1.0' encoding='UTF-8' standalone='yes'?>
<Relationships xmlns="http://schemas.openxmlformats.org/package/2006/relationships"><Relationship Type="http://schemas.openxmlformats.org/officeDocument/2006/relationships/slide" Target="../../slides/slide104.xml" Id="R22d81f97b57d47e9"/><Relationship Type="http://schemas.openxmlformats.org/officeDocument/2006/relationships/notesMaster" Target="../notesMasters/notesMaster1.xml" Id="Rc774a96405f64720"/></Relationships>
</file>

<file path=ppt/copula/notesSlides/_rels/notesSlide5.xml.rels><?xml version='1.0' encoding='UTF-8' standalone='yes'?>
<Relationships xmlns="http://schemas.openxmlformats.org/package/2006/relationships"><Relationship Type="http://schemas.openxmlformats.org/officeDocument/2006/relationships/slide" Target="../../slides/slide105.xml" Id="R42800d786c884b6f"/><Relationship Type="http://schemas.openxmlformats.org/officeDocument/2006/relationships/notesMaster" Target="../notesMasters/notesMaster1.xml" Id="R9d53d165914b4a55"/></Relationships>
</file>

<file path=ppt/copula/notesSlides/_rels/notesSlide6.xml.rels><?xml version='1.0' encoding='UTF-8' standalone='yes'?>
<Relationships xmlns="http://schemas.openxmlformats.org/package/2006/relationships"><Relationship Type="http://schemas.openxmlformats.org/officeDocument/2006/relationships/slide" Target="../../slides/slide106.xml" Id="R26362ee0d4514dff"/><Relationship Type="http://schemas.openxmlformats.org/officeDocument/2006/relationships/notesMaster" Target="../notesMasters/notesMaster1.xml" Id="R60d26da2cb5d4f30"/></Relationships>
</file>

<file path=ppt/copula/notesSlides/_rels/notesSlide7.xml.rels><?xml version='1.0' encoding='UTF-8' standalone='yes'?>
<Relationships xmlns="http://schemas.openxmlformats.org/package/2006/relationships"><Relationship Type="http://schemas.openxmlformats.org/officeDocument/2006/relationships/slide" Target="../../slides/slide107.xml" Id="R7fe391a07a7e4f09"/><Relationship Type="http://schemas.openxmlformats.org/officeDocument/2006/relationships/notesMaster" Target="../notesMasters/notesMaster1.xml" Id="Rdc406d609da943db"/></Relationships>
</file>

<file path=ppt/copula/notesSlides/_rels/notesSlide8.xml.rels><?xml version='1.0' encoding='UTF-8' standalone='yes'?>
<Relationships xmlns="http://schemas.openxmlformats.org/package/2006/relationships"><Relationship Type="http://schemas.openxmlformats.org/officeDocument/2006/relationships/slide" Target="../../slides/slide108.xml" Id="R476b48062cca4a7d"/><Relationship Type="http://schemas.openxmlformats.org/officeDocument/2006/relationships/notesMaster" Target="../notesMasters/notesMaster1.xml" Id="Re8e0dbe2118e4e32"/></Relationships>
</file>

<file path=ppt/copula/notesSlides/_rels/notesSlide9.xml.rels><?xml version='1.0' encoding='UTF-8' standalone='yes'?>
<Relationships xmlns="http://schemas.openxmlformats.org/package/2006/relationships"><Relationship Type="http://schemas.openxmlformats.org/officeDocument/2006/relationships/slide" Target="../../slides/slide109.xml" Id="Rdce0df856a884db9"/><Relationship Type="http://schemas.openxmlformats.org/officeDocument/2006/relationships/notesMaster" Target="../notesMasters/notesMaster1.xml" Id="R137ecb49905c42f8"/></Relationships>
</file>

<file path=ppt/copula/notesSlides/_rels/notesSlide10.xml.rels><?xml version='1.0' encoding='UTF-8' standalone='yes'?>
<Relationships xmlns="http://schemas.openxmlformats.org/package/2006/relationships"><Relationship Type="http://schemas.openxmlformats.org/officeDocument/2006/relationships/slide" Target="../../slides/slide110.xml" Id="R802c9ff2e8d34db5"/><Relationship Type="http://schemas.openxmlformats.org/officeDocument/2006/relationships/notesMaster" Target="../notesMasters/notesMaster1.xml" Id="Rd152ec0abbfe46a1"/></Relationships>
</file>

<file path=ppt/copula/notesSlides/_rels/notesSlide11.xml.rels><?xml version='1.0' encoding='UTF-8' standalone='yes'?>
<Relationships xmlns="http://schemas.openxmlformats.org/package/2006/relationships"><Relationship Type="http://schemas.openxmlformats.org/officeDocument/2006/relationships/slide" Target="../../slides/slide111.xml" Id="R8b9f5f8966ef4231"/><Relationship Type="http://schemas.openxmlformats.org/officeDocument/2006/relationships/notesMaster" Target="../notesMasters/notesMaster1.xml" Id="R3c1c939f9f604d77"/></Relationships>
</file>

<file path=ppt/copula/notesSlides/_rels/notesSlide12.xml.rels><?xml version='1.0' encoding='UTF-8' standalone='yes'?>
<Relationships xmlns="http://schemas.openxmlformats.org/package/2006/relationships"><Relationship Type="http://schemas.openxmlformats.org/officeDocument/2006/relationships/slide" Target="../../slides/slide112.xml" Id="R96a99b35a3a14910"/><Relationship Type="http://schemas.openxmlformats.org/officeDocument/2006/relationships/notesMaster" Target="../notesMasters/notesMaster1.xml" Id="R9e7feca4db024bd2"/></Relationships>
</file>

<file path=ppt/copula/notesSlides/_rels/notesSlide13.xml.rels><?xml version='1.0' encoding='UTF-8' standalone='yes'?>
<Relationships xmlns="http://schemas.openxmlformats.org/package/2006/relationships"><Relationship Type="http://schemas.openxmlformats.org/officeDocument/2006/relationships/slide" Target="../../slides/slide113.xml" Id="R99cb9a7208b3424c"/><Relationship Type="http://schemas.openxmlformats.org/officeDocument/2006/relationships/notesMaster" Target="../notesMasters/notesMaster1.xml" Id="Rd264d065d7924301"/></Relationships>
</file>

<file path=ppt/copula/notesSlides/_rels/notesSlide14.xml.rels><?xml version='1.0' encoding='UTF-8' standalone='yes'?>
<Relationships xmlns="http://schemas.openxmlformats.org/package/2006/relationships"><Relationship Type="http://schemas.openxmlformats.org/officeDocument/2006/relationships/slide" Target="../../slides/slide114.xml" Id="Re8b84da4a5c94334"/><Relationship Type="http://schemas.openxmlformats.org/officeDocument/2006/relationships/notesMaster" Target="../notesMasters/notesMaster1.xml" Id="Rd9b6872e3f1a4cdb"/></Relationships>
</file>

<file path=ppt/copula/notesSlides/_rels/notesSlide15.xml.rels><?xml version='1.0' encoding='UTF-8' standalone='yes'?>
<Relationships xmlns="http://schemas.openxmlformats.org/package/2006/relationships"><Relationship Type="http://schemas.openxmlformats.org/officeDocument/2006/relationships/slide" Target="../../slides/slide115.xml" Id="R7b4afbfab6e940ec"/><Relationship Type="http://schemas.openxmlformats.org/officeDocument/2006/relationships/notesMaster" Target="../notesMasters/notesMaster1.xml" Id="R977c9bc5154a4930"/></Relationships>
</file>

<file path=ppt/copula/notesSlides/_rels/notesSlide16.xml.rels><?xml version='1.0' encoding='UTF-8' standalone='yes'?>
<Relationships xmlns="http://schemas.openxmlformats.org/package/2006/relationships"><Relationship Type="http://schemas.openxmlformats.org/officeDocument/2006/relationships/slide" Target="../../slides/slide116.xml" Id="R9a33ff57baf94911"/><Relationship Type="http://schemas.openxmlformats.org/officeDocument/2006/relationships/notesMaster" Target="../notesMasters/notesMaster1.xml" Id="R70ae3f0939d24566"/></Relationships>
</file>

<file path=ppt/copula/notesSlides/_rels/notesSlide17.xml.rels><?xml version='1.0' encoding='UTF-8' standalone='yes'?>
<Relationships xmlns="http://schemas.openxmlformats.org/package/2006/relationships"><Relationship Type="http://schemas.openxmlformats.org/officeDocument/2006/relationships/slide" Target="../../slides/slide117.xml" Id="Rc7259a18a2854c70"/><Relationship Type="http://schemas.openxmlformats.org/officeDocument/2006/relationships/notesMaster" Target="../notesMasters/notesMaster1.xml" Id="Rc943fb01cdcb4721"/></Relationships>
</file>

<file path=ppt/copula/notesSlides/_rels/notesSlide18.xml.rels><?xml version='1.0' encoding='UTF-8' standalone='yes'?>
<Relationships xmlns="http://schemas.openxmlformats.org/package/2006/relationships"><Relationship Type="http://schemas.openxmlformats.org/officeDocument/2006/relationships/slide" Target="../../slides/slide118.xml" Id="Re542870d467f42cc"/><Relationship Type="http://schemas.openxmlformats.org/officeDocument/2006/relationships/notesMaster" Target="../notesMasters/notesMaster1.xml" Id="R949b670306b5445d"/></Relationships>
</file>

<file path=ppt/copula/notesSlides/_rels/notesSlide19.xml.rels><?xml version='1.0' encoding='UTF-8' standalone='yes'?>
<Relationships xmlns="http://schemas.openxmlformats.org/package/2006/relationships"><Relationship Type="http://schemas.openxmlformats.org/officeDocument/2006/relationships/slide" Target="../../slides/slide119.xml" Id="R586068f6bd4c4be8"/><Relationship Type="http://schemas.openxmlformats.org/officeDocument/2006/relationships/notesMaster" Target="../notesMasters/notesMaster1.xml" Id="R672a322033a14d0c"/></Relationships>
</file>

<file path=ppt/copula/notesSlides/_rels/notesSlide20.xml.rels><?xml version='1.0' encoding='UTF-8' standalone='yes'?>
<Relationships xmlns="http://schemas.openxmlformats.org/package/2006/relationships"><Relationship Type="http://schemas.openxmlformats.org/officeDocument/2006/relationships/slide" Target="../../slides/slide120.xml" Id="R3a340633a50a45e9"/><Relationship Type="http://schemas.openxmlformats.org/officeDocument/2006/relationships/notesMaster" Target="../notesMasters/notesMaster1.xml" Id="R95e938ec7da94320"/></Relationships>
</file>

<file path=ppt/copula/notesSlides/_rels/notesSlide21.xml.rels><?xml version='1.0' encoding='UTF-8' standalone='yes'?>
<Relationships xmlns="http://schemas.openxmlformats.org/package/2006/relationships"><Relationship Type="http://schemas.openxmlformats.org/officeDocument/2006/relationships/slide" Target="../../slides/slide121.xml" Id="R89b2330c340b4fd6"/><Relationship Type="http://schemas.openxmlformats.org/officeDocument/2006/relationships/notesMaster" Target="../notesMasters/notesMaster1.xml" Id="R1a3f3ff288154cbc"/></Relationships>
</file>

<file path=ppt/copula/notesSlides/_rels/notesSlide22.xml.rels><?xml version='1.0' encoding='UTF-8' standalone='yes'?>
<Relationships xmlns="http://schemas.openxmlformats.org/package/2006/relationships"><Relationship Type="http://schemas.openxmlformats.org/officeDocument/2006/relationships/slide" Target="../../slides/slide122.xml" Id="Rcee8585e48434a79"/><Relationship Type="http://schemas.openxmlformats.org/officeDocument/2006/relationships/notesMaster" Target="../notesMasters/notesMaster1.xml" Id="Rf5c5b2cff7584dfb"/></Relationships>
</file>

<file path=ppt/copula/notesSlides/_rels/notesSlide23.xml.rels><?xml version='1.0' encoding='UTF-8' standalone='yes'?>
<Relationships xmlns="http://schemas.openxmlformats.org/package/2006/relationships"><Relationship Type="http://schemas.openxmlformats.org/officeDocument/2006/relationships/slide" Target="../../slides/slide123.xml" Id="Rbed254c05f894926"/><Relationship Type="http://schemas.openxmlformats.org/officeDocument/2006/relationships/notesMaster" Target="../notesMasters/notesMaster1.xml" Id="Rd37124c5adab4f25"/></Relationships>
</file>

<file path=ppt/copula/notesSlides/_rels/notesSlide24.xml.rels><?xml version='1.0' encoding='UTF-8' standalone='yes'?>
<Relationships xmlns="http://schemas.openxmlformats.org/package/2006/relationships"><Relationship Type="http://schemas.openxmlformats.org/officeDocument/2006/relationships/slide" Target="../../slides/slide124.xml" Id="R3ec4dd5fc1234a76"/><Relationship Type="http://schemas.openxmlformats.org/officeDocument/2006/relationships/notesMaster" Target="../notesMasters/notesMaster1.xml" Id="R8600ec3c78c8415a"/></Relationships>
</file>

<file path=ppt/copula/notesSlides/_rels/notesSlide25.xml.rels><?xml version='1.0' encoding='UTF-8' standalone='yes'?>
<Relationships xmlns="http://schemas.openxmlformats.org/package/2006/relationships"><Relationship Type="http://schemas.openxmlformats.org/officeDocument/2006/relationships/slide" Target="../../slides/slide125.xml" Id="R7ec206bf1901474e"/><Relationship Type="http://schemas.openxmlformats.org/officeDocument/2006/relationships/notesMaster" Target="../notesMasters/notesMaster1.xml" Id="R4667174d77024cdb"/></Relationships>
</file>

<file path=ppt/copula/notesSlides/_rels/notesSlide26.xml.rels><?xml version='1.0' encoding='UTF-8' standalone='yes'?>
<Relationships xmlns="http://schemas.openxmlformats.org/package/2006/relationships"><Relationship Type="http://schemas.openxmlformats.org/officeDocument/2006/relationships/slide" Target="../../slides/slide126.xml" Id="Rcef4dd2a1a9c420f"/><Relationship Type="http://schemas.openxmlformats.org/officeDocument/2006/relationships/notesMaster" Target="../notesMasters/notesMaster1.xml" Id="R5e0a3be2d9184003"/></Relationships>
</file>

<file path=ppt/copula/notesSlides/_rels/notesSlide27.xml.rels><?xml version='1.0' encoding='UTF-8' standalone='yes'?>
<Relationships xmlns="http://schemas.openxmlformats.org/package/2006/relationships"><Relationship Type="http://schemas.openxmlformats.org/officeDocument/2006/relationships/slide" Target="../../slides/slide127.xml" Id="R33f582891d3141b1"/><Relationship Type="http://schemas.openxmlformats.org/officeDocument/2006/relationships/notesMaster" Target="../notesMasters/notesMaster1.xml" Id="R7255c3b2b69247ed"/></Relationships>
</file>

<file path=ppt/copula/notesSlides/_rels/notesSlide28.xml.rels><?xml version='1.0' encoding='UTF-8' standalone='yes'?>
<Relationships xmlns="http://schemas.openxmlformats.org/package/2006/relationships"><Relationship Type="http://schemas.openxmlformats.org/officeDocument/2006/relationships/slide" Target="../../slides/slide128.xml" Id="Rcbd0f30e715c47bc"/><Relationship Type="http://schemas.openxmlformats.org/officeDocument/2006/relationships/notesMaster" Target="../notesMasters/notesMaster1.xml" Id="R9bef30f38194433a"/></Relationships>
</file>

<file path=ppt/copula/notesSlides/_rels/notesSlide29.xml.rels><?xml version='1.0' encoding='UTF-8' standalone='yes'?>
<Relationships xmlns="http://schemas.openxmlformats.org/package/2006/relationships"><Relationship Type="http://schemas.openxmlformats.org/officeDocument/2006/relationships/slide" Target="../../slides/slide129.xml" Id="R8ccc2bac269447e7"/><Relationship Type="http://schemas.openxmlformats.org/officeDocument/2006/relationships/notesMaster" Target="../notesMasters/notesMaster1.xml" Id="R98f9cd24535a4c34"/></Relationships>
</file>

<file path=ppt/copula/notesSlides/_rels/notesSlide30.xml.rels><?xml version='1.0' encoding='UTF-8' standalone='yes'?>
<Relationships xmlns="http://schemas.openxmlformats.org/package/2006/relationships"><Relationship Type="http://schemas.openxmlformats.org/officeDocument/2006/relationships/slide" Target="../../slides/slide130.xml" Id="R890f13fd31dd4249"/><Relationship Type="http://schemas.openxmlformats.org/officeDocument/2006/relationships/notesMaster" Target="../notesMasters/notesMaster1.xml" Id="Ra1cacce561eb4479"/></Relationships>
</file>

<file path=ppt/copula/notesSlides/_rels/notesSlide31.xml.rels><?xml version='1.0' encoding='UTF-8' standalone='yes'?>
<Relationships xmlns="http://schemas.openxmlformats.org/package/2006/relationships"><Relationship Type="http://schemas.openxmlformats.org/officeDocument/2006/relationships/slide" Target="../../slides/slide131.xml" Id="R623dbd0f8a984be7"/><Relationship Type="http://schemas.openxmlformats.org/officeDocument/2006/relationships/notesMaster" Target="../notesMasters/notesMaster1.xml" Id="Refa65710a5334e95"/></Relationships>
</file>

<file path=ppt/copula/notesSlides/_rels/notesSlide32.xml.rels><?xml version='1.0' encoding='UTF-8' standalone='yes'?>
<Relationships xmlns="http://schemas.openxmlformats.org/package/2006/relationships"><Relationship Type="http://schemas.openxmlformats.org/officeDocument/2006/relationships/slide" Target="../../slides/slide132.xml" Id="R358df0bfff9447d5"/><Relationship Type="http://schemas.openxmlformats.org/officeDocument/2006/relationships/notesMaster" Target="../notesMasters/notesMaster1.xml" Id="Ra3f0a93234014adf"/></Relationships>
</file>

<file path=ppt/copula/notesSlides/_rels/notesSlide33.xml.rels><?xml version='1.0' encoding='UTF-8' standalone='yes'?>
<Relationships xmlns="http://schemas.openxmlformats.org/package/2006/relationships"><Relationship Type="http://schemas.openxmlformats.org/officeDocument/2006/relationships/slide" Target="../../slides/slide133.xml" Id="Rc29e2b88b64142bf"/><Relationship Type="http://schemas.openxmlformats.org/officeDocument/2006/relationships/notesMaster" Target="../notesMasters/notesMaster1.xml" Id="R00394d640c894470"/></Relationships>
</file>

<file path=ppt/copula/notesSlides/_rels/notesSlide34.xml.rels><?xml version='1.0' encoding='UTF-8' standalone='yes'?>
<Relationships xmlns="http://schemas.openxmlformats.org/package/2006/relationships"><Relationship Type="http://schemas.openxmlformats.org/officeDocument/2006/relationships/slide" Target="../../slides/slide134.xml" Id="R8ed8bccf5cc44efc"/><Relationship Type="http://schemas.openxmlformats.org/officeDocument/2006/relationships/notesMaster" Target="../notesMasters/notesMaster1.xml" Id="R767379ab5b934593"/></Relationships>
</file>

<file path=ppt/copula/notesSlides/_rels/notesSlide35.xml.rels><?xml version='1.0' encoding='UTF-8' standalone='yes'?>
<Relationships xmlns="http://schemas.openxmlformats.org/package/2006/relationships"><Relationship Type="http://schemas.openxmlformats.org/officeDocument/2006/relationships/slide" Target="../../slides/slide135.xml" Id="R5e1cef10c1124aed"/><Relationship Type="http://schemas.openxmlformats.org/officeDocument/2006/relationships/notesMaster" Target="../notesMasters/notesMaster1.xml" Id="R0e0a50b4b01c476a"/></Relationships>
</file>

<file path=ppt/copula/notesSlides/_rels/notesSlide36.xml.rels><?xml version='1.0' encoding='UTF-8' standalone='yes'?>
<Relationships xmlns="http://schemas.openxmlformats.org/package/2006/relationships"><Relationship Type="http://schemas.openxmlformats.org/officeDocument/2006/relationships/slide" Target="../../slides/slide136.xml" Id="R3b448ed8b65549cb"/><Relationship Type="http://schemas.openxmlformats.org/officeDocument/2006/relationships/notesMaster" Target="../notesMasters/notesMaster1.xml" Id="Re05fa8a3a57c4156"/></Relationships>
</file>

<file path=ppt/copula/notesSlides/_rels/notesSlide37.xml.rels><?xml version='1.0' encoding='UTF-8' standalone='yes'?>
<Relationships xmlns="http://schemas.openxmlformats.org/package/2006/relationships"><Relationship Type="http://schemas.openxmlformats.org/officeDocument/2006/relationships/slide" Target="../../slides/slide137.xml" Id="Rbc0c9e8f86324f54"/><Relationship Type="http://schemas.openxmlformats.org/officeDocument/2006/relationships/notesMaster" Target="../notesMasters/notesMaster1.xml" Id="R46b1efdb4f744e00"/></Relationships>
</file>

<file path=ppt/copula/notesSlides/_rels/notesSlide38.xml.rels><?xml version='1.0' encoding='UTF-8' standalone='yes'?>
<Relationships xmlns="http://schemas.openxmlformats.org/package/2006/relationships"><Relationship Type="http://schemas.openxmlformats.org/officeDocument/2006/relationships/slide" Target="../../slides/slide138.xml" Id="R9d1cfca3075d4977"/><Relationship Type="http://schemas.openxmlformats.org/officeDocument/2006/relationships/notesMaster" Target="../notesMasters/notesMaster1.xml" Id="R50f003f48bc84ab2"/></Relationships>
</file>

<file path=ppt/copula/notesSlides/_rels/notesSlide39.xml.rels><?xml version='1.0' encoding='UTF-8' standalone='yes'?>
<Relationships xmlns="http://schemas.openxmlformats.org/package/2006/relationships"><Relationship Type="http://schemas.openxmlformats.org/officeDocument/2006/relationships/slide" Target="../../slides/slide139.xml" Id="R6f5dd5968e0a4196"/><Relationship Type="http://schemas.openxmlformats.org/officeDocument/2006/relationships/notesMaster" Target="../notesMasters/notesMaster1.xml" Id="R9a7897f9165146b2"/></Relationships>
</file>

<file path=ppt/copula/notesSlides/_rels/notesSlide40.xml.rels><?xml version='1.0' encoding='UTF-8' standalone='yes'?>
<Relationships xmlns="http://schemas.openxmlformats.org/package/2006/relationships"><Relationship Type="http://schemas.openxmlformats.org/officeDocument/2006/relationships/slide" Target="../../slides/slide140.xml" Id="R50c3bc753332438d"/><Relationship Type="http://schemas.openxmlformats.org/officeDocument/2006/relationships/notesMaster" Target="../notesMasters/notesMaster1.xml" Id="R6962f16db2f24125"/></Relationships>
</file>

<file path=ppt/copula/notesSlides/_rels/notesSlide41.xml.rels><?xml version='1.0' encoding='UTF-8' standalone='yes'?>
<Relationships xmlns="http://schemas.openxmlformats.org/package/2006/relationships"><Relationship Type="http://schemas.openxmlformats.org/officeDocument/2006/relationships/slide" Target="../../slides/slide141.xml" Id="Rf9decff1e2374214"/><Relationship Type="http://schemas.openxmlformats.org/officeDocument/2006/relationships/notesMaster" Target="../notesMasters/notesMaster1.xml" Id="Rd9f2236f465b4b4c"/></Relationships>
</file>

<file path=ppt/copula/notesSlides/_rels/notesSlide42.xml.rels><?xml version='1.0' encoding='UTF-8' standalone='yes'?>
<Relationships xmlns="http://schemas.openxmlformats.org/package/2006/relationships"><Relationship Type="http://schemas.openxmlformats.org/officeDocument/2006/relationships/slide" Target="../../slides/slide142.xml" Id="R46e49d13bfa547df"/><Relationship Type="http://schemas.openxmlformats.org/officeDocument/2006/relationships/notesMaster" Target="../notesMasters/notesMaster1.xml" Id="R48960d13b76a4e9d"/></Relationships>
</file>

<file path=ppt/copula/notesSlides/_rels/notesSlide43.xml.rels><?xml version='1.0' encoding='UTF-8' standalone='yes'?>
<Relationships xmlns="http://schemas.openxmlformats.org/package/2006/relationships"><Relationship Type="http://schemas.openxmlformats.org/officeDocument/2006/relationships/slide" Target="../../slides/slide143.xml" Id="R3832a0d8607c4b9d"/><Relationship Type="http://schemas.openxmlformats.org/officeDocument/2006/relationships/notesMaster" Target="../notesMasters/notesMaster1.xml" Id="Re1141c4347cb42a6"/></Relationships>
</file>

<file path=ppt/copula/notesSlides/_rels/notesSlide44.xml.rels><?xml version='1.0' encoding='UTF-8' standalone='yes'?>
<Relationships xmlns="http://schemas.openxmlformats.org/package/2006/relationships"><Relationship Type="http://schemas.openxmlformats.org/officeDocument/2006/relationships/slide" Target="../../slides/slide144.xml" Id="R5f32d55fefef4610"/><Relationship Type="http://schemas.openxmlformats.org/officeDocument/2006/relationships/notesMaster" Target="../notesMasters/notesMaster1.xml" Id="R4dfc5ceacada4386"/></Relationships>
</file>

<file path=ppt/copula/notesSlides/_rels/notesSlide45.xml.rels><?xml version='1.0' encoding='UTF-8' standalone='yes'?>
<Relationships xmlns="http://schemas.openxmlformats.org/package/2006/relationships"><Relationship Type="http://schemas.openxmlformats.org/officeDocument/2006/relationships/slide" Target="../../slides/slide145.xml" Id="R9bf97660d1c241dd"/><Relationship Type="http://schemas.openxmlformats.org/officeDocument/2006/relationships/notesMaster" Target="../notesMasters/notesMaster1.xml" Id="R7bc68ff8a90042e3"/></Relationships>
</file>

<file path=ppt/copul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4枚は前回の問題設定をそのまま残しました。そこに書かれた限界の一部は研究上の仮説であり、今回すべてを実証したわけではありません。今回の問いは、残す値を条件にして置換値をどう作るかです。まず身長と体重で考え、仕組みを定義し、実装へ接続します。</a:t>
            </a:r>
          </a:p>
          <a:p xmlns:a="http://schemas.openxmlformats.org/drawingml/2006/main">
            <a:r>
              <a:t/>
            </a:r>
          </a:p>
          <a:p xmlns:a="http://schemas.openxmlformats.org/drawingml/2006/main">
            <a:r>
              <a:t>次ページへのつなぎ：まず、体重だけ分かる人の身長を考える。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下はすべて説明用の架空例です。未知の身長が横軸なので、新しい人の点の位置はまだ決まりません。縦軸70kg付近の帯にいる人を集めることはできます。平均を取るなら点予測、値をランダムに選ぶなら条件付き生成です。近傍法は有効な比較対象です。</a:t>
            </a:r>
          </a:p>
          <a:p xmlns:a="http://schemas.openxmlformats.org/drawingml/2006/main">
            <a:r>
              <a:t/>
            </a:r>
          </a:p>
          <a:p xmlns:a="http://schemas.openxmlformats.org/drawingml/2006/main">
            <a:r>
              <a:t>次ページへのつなぎ：一つの身長ではなく、身長の分布を考える。</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変数のY=70という条件は確率ゼロの事象への通常の割り算ではなく、条件密度や正則条件付き分布で扱います。ここでは70kgを観測した際の身長の分布という直感を優先します。近傍法は近い観測行から、コピュラ法は推定した同時確率モデルから条件付き分布を求めます。コピュラは条件付き生成の唯一の方法ではありません。</a:t>
            </a:r>
          </a:p>
          <a:p xmlns:a="http://schemas.openxmlformats.org/drawingml/2006/main">
            <a:r>
              <a:t/>
            </a:r>
          </a:p>
          <a:p xmlns:a="http://schemas.openxmlformats.org/drawingml/2006/main">
            <a:r>
              <a:t>次ページへのつなぎ：その分布を作るため、値の分布と組合せを分ける。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体重の集合48,57,68,82はどちらの列も同じ。各列の分布だけでは組合せは決まりません。コピュラは列を独立にする操作ではなく、周辺分布と依存構造で元の同時分布を表す仕組みです。</a:t>
            </a:r>
          </a:p>
          <a:p xmlns:a="http://schemas.openxmlformats.org/drawingml/2006/main">
            <a:r>
              <a:t/>
            </a:r>
          </a:p>
          <a:p xmlns:a="http://schemas.openxmlformats.org/drawingml/2006/main">
            <a:r>
              <a:t>次ページへのつなぎ：組合せを単位によらず表すため、各値を確率位置へ変える。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4人とは別の10人の説明用集団です。同じ集団を使って身長と体重の周辺を学びます。今回は70kg以下が7人と仮定しFY(70)=.7。累積確率は70kgそのものの確率ではありません。有限表の経験分布は階段状で、連続一様という理論と区別します。</a:t>
            </a:r>
          </a:p>
          <a:p xmlns:a="http://schemas.openxmlformats.org/drawingml/2006/main">
            <a:r>
              <a:t/>
            </a:r>
          </a:p>
          <a:p xmlns:a="http://schemas.openxmlformats.org/drawingml/2006/main">
            <a:r>
              <a:t>次ページへのつなぎ：一人につき、身長と体重の二つの位置を作る。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人についてU=FX(X),V=FY(Y)を作ります。右の数値は説明用で、前ページ10人と一致する経験分布を全点で定めたものではありません。生の散布図でも依存は見えます。単調変換は順位を保ちますが、距離や形は変えるので一般に同一図ではありません。目的は周辺を共通化し依存を表すことです。</a:t>
            </a:r>
          </a:p>
          <a:p xmlns:a="http://schemas.openxmlformats.org/drawingml/2006/main">
            <a:r>
              <a:t/>
            </a:r>
          </a:p>
          <a:p xmlns:a="http://schemas.openxmlformats.org/drawingml/2006/main">
            <a:r>
              <a:t>次ページへのつなぎ：位置の組の分布を、コピュラという関数で定義する。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定義は各成分がUniform(0,1)である同時CDFです。点の集合自体や相関係数そのものをコピュラとは呼びません。C(.6,.7)は身長位置下位60%かつ体重位置下位70%の確率であり、体重位置ちょうど.7を条件にした確率ではありません。一様周辺でも独立とは限りません。境界条件と独立minの説明は補足へ。</a:t>
            </a:r>
          </a:p>
          <a:p xmlns:a="http://schemas.openxmlformats.org/drawingml/2006/main">
            <a:r>
              <a:t/>
            </a:r>
          </a:p>
          <a:p xmlns:a="http://schemas.openxmlformats.org/drawingml/2006/main">
            <a:r>
              <a:t>次ページへのつなぎ：この定義を元の身長・体重に結びつける。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Sklarの定理。Hは元のjoint CDF。連続周辺ならC一意、離散では周辺CDFの値域に制限した部分しか一意でない。これは分解の存在でありGaussianが真のcopulaという保証ではありません。生成では逆CDFで戻します。一般化逆FX^-1(u)=inf{x:FX(x)≥u}。</a:t>
            </a:r>
          </a:p>
          <a:p xmlns:a="http://schemas.openxmlformats.org/drawingml/2006/main">
            <a:r>
              <a:t/>
            </a:r>
          </a:p>
          <a:p xmlns:a="http://schemas.openxmlformats.org/drawingml/2006/main">
            <a:r>
              <a:t>次ページへのつなぎ：実際に条件付き分布を計算するため、Cのモデルを選ぶ。</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copulaは周辺CDFと逆標準正規CDFにより潜在Zを作り、多変量正規N(0,R)を仮定します。元のX,Yが正規という仮定ではない。正規化は依存をGaussianに変える保証ではなく、Gaussian copulaの仮定を置いて近似する。条件式が解析的に求まるのが選択理由。U型や非対称裾等に万能でない。</a:t>
            </a:r>
          </a:p>
          <a:p xmlns:a="http://schemas.openxmlformats.org/drawingml/2006/main">
            <a:r>
              <a:t/>
            </a:r>
          </a:p>
          <a:p xmlns:a="http://schemas.openxmlformats.org/drawingml/2006/main">
            <a:r>
              <a:t>次ページへのつなぎ：まず、訓練データから周辺分布と相関Rを学ぶ。</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fitはラベルなし訓練データのみを使い、テストから推定しません。各列をソートし平均順位(r−.5)/nで位置を近似し端点を避ける。Φ^-1で変換しcorrcoefでRを推定。実装は.05identity shrinkageとjitterを入れる。ここでρ=.6は説明用で、実データの推定値ではありません。</a:t>
            </a:r>
          </a:p>
          <a:p xmlns:a="http://schemas.openxmlformats.org/drawingml/2006/main">
            <a:r>
              <a:t/>
            </a:r>
          </a:p>
          <a:p xmlns:a="http://schemas.openxmlformats.org/drawingml/2006/main">
            <a:r>
              <a:t>次ページへのつなぎ：学習したモデルに、観測した70kgという条件を入れる。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一貫した説明例ではFY(70)=.7,zY=Φ^-1(.7)=.5244005、ρ=.6。条件Zx|Zy=zY~N(.3146403,.64)、標準偏差.8。ρ=1退化などは除く。数式は入力条件により平均が変わり、未知部分の不確実さは分散で残ることを表す。</a:t>
            </a:r>
          </a:p>
          <a:p xmlns:a="http://schemas.openxmlformats.org/drawingml/2006/main">
            <a:r>
              <a:t/>
            </a:r>
          </a:p>
          <a:p xmlns:a="http://schemas.openxmlformats.org/drawingml/2006/main">
            <a:r>
              <a:t>次ページへのつなぎ：この身長の分布から値を一つ引き、cmに戻す。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ε~N(0,1)を引きzX=.315+.8ε、u=Φ(zX)、x=FX^-1(u)。このスライドは3回の説明用の乱数であり等確率3択ではありません。身長の周辺は説明用N(170,10²)と仮定し、x=170+10zX。ε=-1,0,1で165.15,173.15,181.15。経験周辺は実装linear quantileで戻す。70kgへのPITは前10人例、身長は説明用正規で、実測を主張しない。</a:t>
            </a:r>
          </a:p>
          <a:p xmlns:a="http://schemas.openxmlformats.org/drawingml/2006/main">
            <a:r>
              <a:t/>
            </a:r>
          </a:p>
          <a:p xmlns:a="http://schemas.openxmlformats.org/drawingml/2006/main">
            <a:r>
              <a:t>次ページへのつなぎ：同じ操作を、VIMEで置換する特徴に適用する。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欠損補完は未知の値を埋める目的、本研究は学習用拡張のため意図的にmaskした値を置き換える目的です。置換対象Mと観測列O。P(XM|XO)から同時生成。VIMEのmask/reconstructionとconsistency枠組みは同じ、corruptorだけ変更。自然な組合せが分類ラベルを保持するとは限らない。</a:t>
            </a:r>
          </a:p>
          <a:p xmlns:a="http://schemas.openxmlformats.org/drawingml/2006/main">
            <a:r>
              <a:t/>
            </a:r>
          </a:p>
          <a:p xmlns:a="http://schemas.openxmlformats.org/drawingml/2006/main">
            <a:r>
              <a:t>次ページへのつなぎ：まず、置換後に特徴の関係が保たれるかを確認する。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成2500行、Z2=.8Z1+.6ε、第一列固定、第二列全mask、seed20261004、生成rng314159。fitと生成は同じデータで汎化性能実験ではない。表示先頭180行、相関全2500。潜在相関shrink.05によりcopulaの関係が少し弱まる。Gaussianの仮定に合う例で、非Gaussian性能やクラス保持を証明しない。</a:t>
            </a:r>
          </a:p>
          <a:p xmlns:a="http://schemas.openxmlformats.org/drawingml/2006/main">
            <a:r>
              <a:t/>
            </a:r>
          </a:p>
          <a:p xmlns:a="http://schemas.openxmlformats.org/drawingml/2006/main">
            <a:r>
              <a:t>次ページへのつなぎ：次は、同じVIME条件で分類への効果を比較する。</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前版で実行済みの2026/10/4の実測結果で再実験ではありません。共通PyTorchVIME、80/20stratified split、label30%train、4x32MLP、self15epochs semi300iterations、batch64mask.4CPU、seed11,23,37,51,67。各2手法は同一環境で置換器のみ変更。原論文実験環境の完全再現ではありません。ROC AUC主指標二値positive、多クラスmacroOVR。95%CIはpaired seed差のbootstrap、両0含む。5回重複holdoutの探索比較。</a:t>
            </a:r>
          </a:p>
          <a:p xmlns:a="http://schemas.openxmlformats.org/drawingml/2006/main">
            <a:r>
              <a:t/>
            </a:r>
          </a:p>
          <a:p xmlns:a="http://schemas.openxmlformats.org/drawingml/2006/main">
            <a:r>
              <a:t>次ページへのつなぎ：最後に、確認できたことと今後の研究課題を整理する。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本編の到達点です。近傍法から始めて条件付き分布という目的を示し、周辺と依存を分けるコピュラ、Gaussianによる実装へ進みました。研究課題は生成品質、元行からの変更量、class preservation、下流分類performanceを分けて評価すること。近傍によるjoint row resamplingも対照に含める。次ページから補足なので通常発表ではここで終える。</a:t>
            </a:r>
          </a:p>
          <a:p xmlns:a="http://schemas.openxmlformats.org/drawingml/2006/main">
            <a:r>
              <a:t/>
            </a:r>
          </a:p>
          <a:p xmlns:a="http://schemas.openxmlformats.org/drawingml/2006/main">
            <a:r>
              <a:t>次ページへのつなぎ：ここで本編終了。質問に応じて補足の定義・種類・実験条件へ進む。</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copula/slideLayouts/_rels/slideLayout1.xml.rels><?xml version='1.0' encoding='UTF-8' standalone='yes'?>
<Relationships xmlns="http://schemas.openxmlformats.org/package/2006/relationships"><Relationship Type="http://schemas.openxmlformats.org/officeDocument/2006/relationships/slideMaster" Target="../slideMasters/slideMaster1.xml" Id="R9f1775f99a4d4d92"/></Relationships>
</file>

<file path=ppt/copul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copula/slideMasters/_rels/slideMaster1.xml.rels><?xml version='1.0' encoding='UTF-8' standalone='yes'?>
<Relationships xmlns="http://schemas.openxmlformats.org/package/2006/relationships"><Relationship Type="http://schemas.openxmlformats.org/officeDocument/2006/relationships/theme" Target="theme/theme2.xml" Id="Rcc64a80233e943d3"/><Relationship Type="http://schemas.openxmlformats.org/officeDocument/2006/relationships/slideLayout" Target="../slideLayouts/slideLayout1.xml" Id="R70896c8c21bf4ff7"/></Relationships>
</file>

<file path=ppt/copul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896c8c21bf4f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copul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slides/charts/_rels/chart1.xml.rels><Relationships xmlns="http://schemas.openxmlformats.org/package/2006/relationships"><Relationship Id="rIdChartSnapshot1" Type="http://schemas.openxmlformats.org/officeDocument/2006/relationships/package" Target="../../../embeddings/chart-data-snapshot-001.xlsx"/></Relationships>
</file>

<file path=ppt/copula/slides/charts/_rels/chart2.xml.rels><Relationships xmlns="http://schemas.openxmlformats.org/package/2006/relationships"><Relationship Id="rIdChartSnapshot1" Type="http://schemas.openxmlformats.org/officeDocument/2006/relationships/package" Target="../../../embeddings/chart-data-snapshot-002.xlsx"/></Relationships>
</file>

<file path=ppt/copula/slides/charts/_rels/chart3.xml.rels><Relationships xmlns="http://schemas.openxmlformats.org/package/2006/relationships"><Relationship Id="rIdChartSnapshot1" Type="http://schemas.openxmlformats.org/officeDocument/2006/relationships/package" Target="../../../embeddings/chart-data-snapshot-003.xlsx"/></Relationships>
</file>

<file path=ppt/copula/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tableStyles.xml><?xml version="1.0" encoding="utf-8"?>
<a:tblStyleLst xmlns:a="http://schemas.openxmlformats.org/drawingml/2006/main" def="{5C22544A-7EE6-4342-B048-85BDC9FD1C3A}"/>
</file>

<file path=ppt/copul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Type="http://schemas.openxmlformats.org/officeDocument/2006/relationships/slideLayout" Target="../copula/slideLayouts/slideLayout1.xml" Id="Ra966f9509a6a44bd"/><Relationship Type="http://schemas.openxmlformats.org/officeDocument/2006/relationships/notesSlide" Target="../copula/notesSlides/notesSlide1.xml" Id="R74554d2ba8d744aa"/></Relationships>
</file>

<file path=ppt/slides/_rels/slide102.xml.rels><?xml version='1.0' encoding='UTF-8' standalone='yes'?>
<Relationships xmlns="http://schemas.openxmlformats.org/package/2006/relationships"><Relationship Type="http://schemas.openxmlformats.org/officeDocument/2006/relationships/slideLayout" Target="../copula/slideLayouts/slideLayout1.xml" Id="R22a22671cdf34dbc"/><Relationship Type="http://schemas.openxmlformats.org/officeDocument/2006/relationships/notesSlide" Target="../copula/notesSlides/notesSlide2.xml" Id="R419fdeb1197c4757"/></Relationships>
</file>

<file path=ppt/slides/_rels/slide103.xml.rels><?xml version='1.0' encoding='UTF-8' standalone='yes'?>
<Relationships xmlns="http://schemas.openxmlformats.org/package/2006/relationships"><Relationship Type="http://schemas.openxmlformats.org/officeDocument/2006/relationships/slideLayout" Target="../copula/slideLayouts/slideLayout1.xml" Id="R5067d18a23b9419a"/><Relationship Type="http://schemas.openxmlformats.org/officeDocument/2006/relationships/notesSlide" Target="../copula/notesSlides/notesSlide3.xml" Id="R8c91ae9eb7164a24"/></Relationships>
</file>

<file path=ppt/slides/_rels/slide104.xml.rels><?xml version='1.0' encoding='UTF-8' standalone='yes'?>
<Relationships xmlns="http://schemas.openxmlformats.org/package/2006/relationships"><Relationship Type="http://schemas.openxmlformats.org/officeDocument/2006/relationships/slideLayout" Target="../copula/slideLayouts/slideLayout1.xml" Id="R936c4121114b4756"/><Relationship Type="http://schemas.openxmlformats.org/officeDocument/2006/relationships/notesSlide" Target="../copula/notesSlides/notesSlide4.xml" Id="R78e4b41a234d4645"/></Relationships>
</file>

<file path=ppt/slides/_rels/slide105.xml.rels><?xml version='1.0' encoding='UTF-8' standalone='yes'?>
<Relationships xmlns="http://schemas.openxmlformats.org/package/2006/relationships"><Relationship Type="http://schemas.openxmlformats.org/officeDocument/2006/relationships/slideLayout" Target="../copula/slideLayouts/slideLayout1.xml" Id="R323661775f774cd7"/><Relationship Type="http://schemas.openxmlformats.org/officeDocument/2006/relationships/notesSlide" Target="../copula/notesSlides/notesSlide5.xml" Id="Rd75cf9f36e054838"/></Relationships>
</file>

<file path=ppt/slides/_rels/slide106.xml.rels><?xml version='1.0' encoding='UTF-8' standalone='yes'?>
<Relationships xmlns="http://schemas.openxmlformats.org/package/2006/relationships"><Relationship Type="http://schemas.openxmlformats.org/officeDocument/2006/relationships/slideLayout" Target="../copula/slideLayouts/slideLayout1.xml" Id="Rf82430b43dcb40e8"/><Relationship Type="http://schemas.openxmlformats.org/officeDocument/2006/relationships/notesSlide" Target="../copula/notesSlides/notesSlide6.xml" Id="Rf5e06219e41c4bfd"/></Relationships>
</file>

<file path=ppt/slides/_rels/slide107.xml.rels><?xml version='1.0' encoding='UTF-8' standalone='yes'?>
<Relationships xmlns="http://schemas.openxmlformats.org/package/2006/relationships"><Relationship Type="http://schemas.openxmlformats.org/officeDocument/2006/relationships/slideLayout" Target="../copula/slideLayouts/slideLayout1.xml" Id="R50f9a6ea0b3d4484"/><Relationship Type="http://schemas.openxmlformats.org/officeDocument/2006/relationships/notesSlide" Target="../copula/notesSlides/notesSlide7.xml" Id="R81b59a7779a94811"/></Relationships>
</file>

<file path=ppt/slides/_rels/slide108.xml.rels><?xml version='1.0' encoding='UTF-8' standalone='yes'?>
<Relationships xmlns="http://schemas.openxmlformats.org/package/2006/relationships"><Relationship Type="http://schemas.openxmlformats.org/officeDocument/2006/relationships/slideLayout" Target="../copula/slideLayouts/slideLayout1.xml" Id="Rb9eea24ea6de41c7"/><Relationship Type="http://schemas.openxmlformats.org/officeDocument/2006/relationships/notesSlide" Target="../copula/notesSlides/notesSlide8.xml" Id="R31dc02363b5943e4"/></Relationships>
</file>

<file path=ppt/slides/_rels/slide109.xml.rels><?xml version='1.0' encoding='UTF-8' standalone='yes'?>
<Relationships xmlns="http://schemas.openxmlformats.org/package/2006/relationships"><Relationship Type="http://schemas.openxmlformats.org/officeDocument/2006/relationships/slideLayout" Target="../copula/slideLayouts/slideLayout1.xml" Id="R238ef85626b74814"/><Relationship Type="http://schemas.openxmlformats.org/officeDocument/2006/relationships/notesSlide" Target="../copula/notesSlides/notesSlide9.xml" Id="Re466b5059bd94689"/></Relationships>
</file>

<file path=ppt/slides/_rels/slide110.xml.rels><?xml version='1.0' encoding='UTF-8' standalone='yes'?>
<Relationships xmlns="http://schemas.openxmlformats.org/package/2006/relationships"><Relationship Type="http://schemas.openxmlformats.org/officeDocument/2006/relationships/slideLayout" Target="../copula/slideLayouts/slideLayout1.xml" Id="Rd0c2bef63456410a"/><Relationship Type="http://schemas.openxmlformats.org/officeDocument/2006/relationships/notesSlide" Target="../copula/notesSlides/notesSlide10.xml" Id="R3a304f7ab6c749ea"/></Relationships>
</file>

<file path=ppt/slides/_rels/slide111.xml.rels><?xml version='1.0' encoding='UTF-8' standalone='yes'?>
<Relationships xmlns="http://schemas.openxmlformats.org/package/2006/relationships"><Relationship Type="http://schemas.openxmlformats.org/officeDocument/2006/relationships/slideLayout" Target="../copula/slideLayouts/slideLayout1.xml" Id="R0e4937e98fbf4f71"/><Relationship Type="http://schemas.openxmlformats.org/officeDocument/2006/relationships/notesSlide" Target="../copula/notesSlides/notesSlide11.xml" Id="R25b3d9f9207f4f23"/></Relationships>
</file>

<file path=ppt/slides/_rels/slide112.xml.rels><?xml version='1.0' encoding='UTF-8' standalone='yes'?>
<Relationships xmlns="http://schemas.openxmlformats.org/package/2006/relationships"><Relationship Type="http://schemas.openxmlformats.org/officeDocument/2006/relationships/slideLayout" Target="../copula/slideLayouts/slideLayout1.xml" Id="R80642b93c0114207"/><Relationship Type="http://schemas.openxmlformats.org/officeDocument/2006/relationships/notesSlide" Target="../copula/notesSlides/notesSlide12.xml" Id="R84b87060d3be4430"/></Relationships>
</file>

<file path=ppt/slides/_rels/slide113.xml.rels><?xml version='1.0' encoding='UTF-8' standalone='yes'?>
<Relationships xmlns="http://schemas.openxmlformats.org/package/2006/relationships"><Relationship Type="http://schemas.openxmlformats.org/officeDocument/2006/relationships/slideLayout" Target="../copula/slideLayouts/slideLayout1.xml" Id="Rebee4ec270984dfd"/><Relationship Type="http://schemas.openxmlformats.org/officeDocument/2006/relationships/notesSlide" Target="../copula/notesSlides/notesSlide13.xml" Id="Ra5983620ae6440ca"/></Relationships>
</file>

<file path=ppt/slides/_rels/slide114.xml.rels><?xml version='1.0' encoding='UTF-8' standalone='yes'?>
<Relationships xmlns="http://schemas.openxmlformats.org/package/2006/relationships"><Relationship Type="http://schemas.openxmlformats.org/officeDocument/2006/relationships/slideLayout" Target="../copula/slideLayouts/slideLayout1.xml" Id="R2c5aacdb16024c26"/><Relationship Type="http://schemas.openxmlformats.org/officeDocument/2006/relationships/chart" Target="../copula/slides/charts/chart1.xml" Id="Rd7fde7f5d3ca421b"/><Relationship Type="http://schemas.openxmlformats.org/officeDocument/2006/relationships/chart" Target="../copula/slides/charts/chart2.xml" Id="Rba7ce0a54030434b"/><Relationship Type="http://schemas.openxmlformats.org/officeDocument/2006/relationships/chart" Target="../copula/slides/charts/chart3.xml" Id="Rbe8d3e03c59e49bb"/><Relationship Type="http://schemas.openxmlformats.org/officeDocument/2006/relationships/notesSlide" Target="../copula/notesSlides/notesSlide14.xml" Id="R413462f7357f4006"/></Relationships>
</file>

<file path=ppt/slides/_rels/slide115.xml.rels><?xml version='1.0' encoding='UTF-8' standalone='yes'?>
<Relationships xmlns="http://schemas.openxmlformats.org/package/2006/relationships"><Relationship Type="http://schemas.openxmlformats.org/officeDocument/2006/relationships/slideLayout" Target="../copula/slideLayouts/slideLayout1.xml" Id="R12cae8f5621d4078"/><Relationship Type="http://schemas.openxmlformats.org/officeDocument/2006/relationships/notesSlide" Target="../copula/notesSlides/notesSlide15.xml" Id="R147085eef9f5438d"/></Relationships>
</file>

<file path=ppt/slides/_rels/slide116.xml.rels><?xml version='1.0' encoding='UTF-8' standalone='yes'?>
<Relationships xmlns="http://schemas.openxmlformats.org/package/2006/relationships"><Relationship Type="http://schemas.openxmlformats.org/officeDocument/2006/relationships/slideLayout" Target="../copula/slideLayouts/slideLayout1.xml" Id="R9b3ed40395a34b8e"/><Relationship Type="http://schemas.openxmlformats.org/officeDocument/2006/relationships/notesSlide" Target="../copula/notesSlides/notesSlide16.xml" Id="R77a6b5ff8f3d4b8f"/></Relationships>
</file>

<file path=ppt/slides/_rels/slide117.xml.rels><?xml version='1.0' encoding='UTF-8' standalone='yes'?>
<Relationships xmlns="http://schemas.openxmlformats.org/package/2006/relationships"><Relationship Type="http://schemas.openxmlformats.org/officeDocument/2006/relationships/slideLayout" Target="../copula/slideLayouts/slideLayout1.xml" Id="Rb085fef7bb56459b"/><Relationship Type="http://schemas.openxmlformats.org/officeDocument/2006/relationships/notesSlide" Target="../copula/notesSlides/notesSlide17.xml" Id="Rfcf459c78f484ea5"/></Relationships>
</file>

<file path=ppt/slides/_rels/slide118.xml.rels><?xml version='1.0' encoding='UTF-8' standalone='yes'?>
<Relationships xmlns="http://schemas.openxmlformats.org/package/2006/relationships"><Relationship Type="http://schemas.openxmlformats.org/officeDocument/2006/relationships/slideLayout" Target="../copula/slideLayouts/slideLayout1.xml" Id="R025f31ac69404e71"/><Relationship Type="http://schemas.openxmlformats.org/officeDocument/2006/relationships/notesSlide" Target="../copula/notesSlides/notesSlide18.xml" Id="Rfaa25f9bfc3e45a6"/></Relationships>
</file>

<file path=ppt/slides/_rels/slide119.xml.rels><?xml version='1.0' encoding='UTF-8' standalone='yes'?>
<Relationships xmlns="http://schemas.openxmlformats.org/package/2006/relationships"><Relationship Type="http://schemas.openxmlformats.org/officeDocument/2006/relationships/slideLayout" Target="../copula/slideLayouts/slideLayout1.xml" Id="R8e0f2284ac81409c"/><Relationship Type="http://schemas.openxmlformats.org/officeDocument/2006/relationships/notesSlide" Target="../copula/notesSlides/notesSlide19.xml" Id="Rfe593b7c16c14edb"/></Relationships>
</file>

<file path=ppt/slides/_rels/slide120.xml.rels><?xml version='1.0' encoding='UTF-8' standalone='yes'?>
<Relationships xmlns="http://schemas.openxmlformats.org/package/2006/relationships"><Relationship Type="http://schemas.openxmlformats.org/officeDocument/2006/relationships/slideLayout" Target="../copula/slideLayouts/slideLayout1.xml" Id="R24d1d8cc39aa4253"/><Relationship Type="http://schemas.openxmlformats.org/officeDocument/2006/relationships/notesSlide" Target="../copula/notesSlides/notesSlide20.xml" Id="Rc52943f3c12f4d84"/></Relationships>
</file>

<file path=ppt/slides/_rels/slide121.xml.rels><?xml version='1.0' encoding='UTF-8' standalone='yes'?>
<Relationships xmlns="http://schemas.openxmlformats.org/package/2006/relationships"><Relationship Type="http://schemas.openxmlformats.org/officeDocument/2006/relationships/slideLayout" Target="../copula/slideLayouts/slideLayout1.xml" Id="Rb43f303f3d8044f4"/><Relationship Type="http://schemas.openxmlformats.org/officeDocument/2006/relationships/notesSlide" Target="../copula/notesSlides/notesSlide21.xml" Id="R7c0435790e804900"/></Relationships>
</file>

<file path=ppt/slides/_rels/slide122.xml.rels><?xml version='1.0' encoding='UTF-8' standalone='yes'?>
<Relationships xmlns="http://schemas.openxmlformats.org/package/2006/relationships"><Relationship Type="http://schemas.openxmlformats.org/officeDocument/2006/relationships/slideLayout" Target="../copula/slideLayouts/slideLayout1.xml" Id="R076d078d77384dd6"/><Relationship Type="http://schemas.openxmlformats.org/officeDocument/2006/relationships/notesSlide" Target="../copula/notesSlides/notesSlide22.xml" Id="R097c8497f03a497c"/></Relationships>
</file>

<file path=ppt/slides/_rels/slide123.xml.rels><?xml version='1.0' encoding='UTF-8' standalone='yes'?>
<Relationships xmlns="http://schemas.openxmlformats.org/package/2006/relationships"><Relationship Type="http://schemas.openxmlformats.org/officeDocument/2006/relationships/slideLayout" Target="../copula/slideLayouts/slideLayout1.xml" Id="R533413ff6fa544ce"/><Relationship Type="http://schemas.openxmlformats.org/officeDocument/2006/relationships/notesSlide" Target="../copula/notesSlides/notesSlide23.xml" Id="R013a7e5fcb7d425f"/></Relationships>
</file>

<file path=ppt/slides/_rels/slide124.xml.rels><?xml version='1.0' encoding='UTF-8' standalone='yes'?>
<Relationships xmlns="http://schemas.openxmlformats.org/package/2006/relationships"><Relationship Type="http://schemas.openxmlformats.org/officeDocument/2006/relationships/slideLayout" Target="../copula/slideLayouts/slideLayout1.xml" Id="Raf010b6786604400"/><Relationship Type="http://schemas.openxmlformats.org/officeDocument/2006/relationships/notesSlide" Target="../copula/notesSlides/notesSlide24.xml" Id="R6baa8e4967a54261"/></Relationships>
</file>

<file path=ppt/slides/_rels/slide125.xml.rels><?xml version='1.0' encoding='UTF-8' standalone='yes'?>
<Relationships xmlns="http://schemas.openxmlformats.org/package/2006/relationships"><Relationship Type="http://schemas.openxmlformats.org/officeDocument/2006/relationships/slideLayout" Target="../copula/slideLayouts/slideLayout1.xml" Id="R05b74fb9fc884716"/><Relationship Type="http://schemas.openxmlformats.org/officeDocument/2006/relationships/notesSlide" Target="../copula/notesSlides/notesSlide25.xml" Id="Rcfc5e10ff2be4999"/></Relationships>
</file>

<file path=ppt/slides/_rels/slide126.xml.rels><?xml version='1.0' encoding='UTF-8' standalone='yes'?>
<Relationships xmlns="http://schemas.openxmlformats.org/package/2006/relationships"><Relationship Type="http://schemas.openxmlformats.org/officeDocument/2006/relationships/slideLayout" Target="../copula/slideLayouts/slideLayout1.xml" Id="Re883cb2580674208"/><Relationship Type="http://schemas.openxmlformats.org/officeDocument/2006/relationships/notesSlide" Target="../copula/notesSlides/notesSlide26.xml" Id="Rb6287a835b3c4752"/></Relationships>
</file>

<file path=ppt/slides/_rels/slide127.xml.rels><?xml version='1.0' encoding='UTF-8' standalone='yes'?>
<Relationships xmlns="http://schemas.openxmlformats.org/package/2006/relationships"><Relationship Type="http://schemas.openxmlformats.org/officeDocument/2006/relationships/slideLayout" Target="../copula/slideLayouts/slideLayout1.xml" Id="R68f18c8fa41f446c"/><Relationship Type="http://schemas.openxmlformats.org/officeDocument/2006/relationships/notesSlide" Target="../copula/notesSlides/notesSlide27.xml" Id="R430e3afb0d204712"/></Relationships>
</file>

<file path=ppt/slides/_rels/slide128.xml.rels><?xml version='1.0' encoding='UTF-8' standalone='yes'?>
<Relationships xmlns="http://schemas.openxmlformats.org/package/2006/relationships"><Relationship Type="http://schemas.openxmlformats.org/officeDocument/2006/relationships/slideLayout" Target="../copula/slideLayouts/slideLayout1.xml" Id="Rb821527ab118423e"/><Relationship Type="http://schemas.openxmlformats.org/officeDocument/2006/relationships/notesSlide" Target="../copula/notesSlides/notesSlide28.xml" Id="R82ec8d142c694880"/></Relationships>
</file>

<file path=ppt/slides/_rels/slide129.xml.rels><?xml version='1.0' encoding='UTF-8' standalone='yes'?>
<Relationships xmlns="http://schemas.openxmlformats.org/package/2006/relationships"><Relationship Type="http://schemas.openxmlformats.org/officeDocument/2006/relationships/slideLayout" Target="../copula/slideLayouts/slideLayout1.xml" Id="R382ce5fbfc7445ff"/><Relationship Type="http://schemas.openxmlformats.org/officeDocument/2006/relationships/notesSlide" Target="../copula/notesSlides/notesSlide29.xml" Id="R0ada807ac39b4b9e"/></Relationships>
</file>

<file path=ppt/slides/_rels/slide130.xml.rels><?xml version='1.0' encoding='UTF-8' standalone='yes'?>
<Relationships xmlns="http://schemas.openxmlformats.org/package/2006/relationships"><Relationship Type="http://schemas.openxmlformats.org/officeDocument/2006/relationships/slideLayout" Target="../copula/slideLayouts/slideLayout1.xml" Id="Rdf2a262989574ea7"/><Relationship Type="http://schemas.openxmlformats.org/officeDocument/2006/relationships/notesSlide" Target="../copula/notesSlides/notesSlide30.xml" Id="R5a9fe5706c0642a1"/></Relationships>
</file>

<file path=ppt/slides/_rels/slide131.xml.rels><?xml version='1.0' encoding='UTF-8' standalone='yes'?>
<Relationships xmlns="http://schemas.openxmlformats.org/package/2006/relationships"><Relationship Type="http://schemas.openxmlformats.org/officeDocument/2006/relationships/slideLayout" Target="../copula/slideLayouts/slideLayout1.xml" Id="Raff053fab2a5450c"/><Relationship Type="http://schemas.openxmlformats.org/officeDocument/2006/relationships/notesSlide" Target="../copula/notesSlides/notesSlide31.xml" Id="Raef34d13be264fe7"/></Relationships>
</file>

<file path=ppt/slides/_rels/slide132.xml.rels><?xml version='1.0' encoding='UTF-8' standalone='yes'?>
<Relationships xmlns="http://schemas.openxmlformats.org/package/2006/relationships"><Relationship Type="http://schemas.openxmlformats.org/officeDocument/2006/relationships/slideLayout" Target="../copula/slideLayouts/slideLayout1.xml" Id="R4d93c01fcf864581"/><Relationship Type="http://schemas.openxmlformats.org/officeDocument/2006/relationships/notesSlide" Target="../copula/notesSlides/notesSlide32.xml" Id="R3fcac10d4eb54dc4"/></Relationships>
</file>

<file path=ppt/slides/_rels/slide133.xml.rels><?xml version='1.0' encoding='UTF-8' standalone='yes'?>
<Relationships xmlns="http://schemas.openxmlformats.org/package/2006/relationships"><Relationship Type="http://schemas.openxmlformats.org/officeDocument/2006/relationships/slideLayout" Target="../copula/slideLayouts/slideLayout1.xml" Id="R257f6dd02fb8440e"/><Relationship Type="http://schemas.openxmlformats.org/officeDocument/2006/relationships/notesSlide" Target="../copula/notesSlides/notesSlide33.xml" Id="Rdbf90dd6bf684adb"/></Relationships>
</file>

<file path=ppt/slides/_rels/slide134.xml.rels><?xml version='1.0' encoding='UTF-8' standalone='yes'?>
<Relationships xmlns="http://schemas.openxmlformats.org/package/2006/relationships"><Relationship Type="http://schemas.openxmlformats.org/officeDocument/2006/relationships/slideLayout" Target="../copula/slideLayouts/slideLayout1.xml" Id="R679cbed73c014bfa"/><Relationship Type="http://schemas.openxmlformats.org/officeDocument/2006/relationships/notesSlide" Target="../copula/notesSlides/notesSlide34.xml" Id="Rc7a23865944248a5"/></Relationships>
</file>

<file path=ppt/slides/_rels/slide135.xml.rels><?xml version='1.0' encoding='UTF-8' standalone='yes'?>
<Relationships xmlns="http://schemas.openxmlformats.org/package/2006/relationships"><Relationship Type="http://schemas.openxmlformats.org/officeDocument/2006/relationships/slideLayout" Target="../copula/slideLayouts/slideLayout1.xml" Id="Ra22529e1f4d24522"/><Relationship Type="http://schemas.openxmlformats.org/officeDocument/2006/relationships/notesSlide" Target="../copula/notesSlides/notesSlide35.xml" Id="R95b6a9d394634964"/></Relationships>
</file>

<file path=ppt/slides/_rels/slide136.xml.rels><?xml version='1.0' encoding='UTF-8' standalone='yes'?>
<Relationships xmlns="http://schemas.openxmlformats.org/package/2006/relationships"><Relationship Type="http://schemas.openxmlformats.org/officeDocument/2006/relationships/slideLayout" Target="../copula/slideLayouts/slideLayout1.xml" Id="R660c836afe484614"/><Relationship Type="http://schemas.openxmlformats.org/officeDocument/2006/relationships/notesSlide" Target="../copula/notesSlides/notesSlide36.xml" Id="R2b04dbb90c484a7a"/></Relationships>
</file>

<file path=ppt/slides/_rels/slide137.xml.rels><?xml version='1.0' encoding='UTF-8' standalone='yes'?>
<Relationships xmlns="http://schemas.openxmlformats.org/package/2006/relationships"><Relationship Type="http://schemas.openxmlformats.org/officeDocument/2006/relationships/slideLayout" Target="../copula/slideLayouts/slideLayout1.xml" Id="R87d7a393a196482a"/><Relationship Type="http://schemas.openxmlformats.org/officeDocument/2006/relationships/notesSlide" Target="../copula/notesSlides/notesSlide37.xml" Id="R43dc523d3a2a4a92"/></Relationships>
</file>

<file path=ppt/slides/_rels/slide138.xml.rels><?xml version='1.0' encoding='UTF-8' standalone='yes'?>
<Relationships xmlns="http://schemas.openxmlformats.org/package/2006/relationships"><Relationship Type="http://schemas.openxmlformats.org/officeDocument/2006/relationships/slideLayout" Target="../copula/slideLayouts/slideLayout1.xml" Id="Rf2e4af66e7ea4263"/><Relationship Type="http://schemas.openxmlformats.org/officeDocument/2006/relationships/notesSlide" Target="../copula/notesSlides/notesSlide38.xml" Id="Raab50b585ec94999"/></Relationships>
</file>

<file path=ppt/slides/_rels/slide139.xml.rels><?xml version='1.0' encoding='UTF-8' standalone='yes'?>
<Relationships xmlns="http://schemas.openxmlformats.org/package/2006/relationships"><Relationship Type="http://schemas.openxmlformats.org/officeDocument/2006/relationships/slideLayout" Target="../copula/slideLayouts/slideLayout1.xml" Id="R3f723ca3e92a4c7d"/><Relationship Type="http://schemas.openxmlformats.org/officeDocument/2006/relationships/notesSlide" Target="../copula/notesSlides/notesSlide39.xml" Id="R629b2b96efc34e14"/></Relationships>
</file>

<file path=ppt/slides/_rels/slide140.xml.rels><?xml version='1.0' encoding='UTF-8' standalone='yes'?>
<Relationships xmlns="http://schemas.openxmlformats.org/package/2006/relationships"><Relationship Type="http://schemas.openxmlformats.org/officeDocument/2006/relationships/slideLayout" Target="../copula/slideLayouts/slideLayout1.xml" Id="Rc0dacb2030fa4174"/><Relationship Type="http://schemas.openxmlformats.org/officeDocument/2006/relationships/notesSlide" Target="../copula/notesSlides/notesSlide40.xml" Id="R15232dd460034cf9"/></Relationships>
</file>

<file path=ppt/slides/_rels/slide141.xml.rels><?xml version='1.0' encoding='UTF-8' standalone='yes'?>
<Relationships xmlns="http://schemas.openxmlformats.org/package/2006/relationships"><Relationship Type="http://schemas.openxmlformats.org/officeDocument/2006/relationships/slideLayout" Target="../copula/slideLayouts/slideLayout1.xml" Id="R7639a7e1911a498c"/><Relationship Type="http://schemas.openxmlformats.org/officeDocument/2006/relationships/notesSlide" Target="../copula/notesSlides/notesSlide41.xml" Id="R1f40e240b78c47c2"/></Relationships>
</file>

<file path=ppt/slides/_rels/slide142.xml.rels><?xml version='1.0' encoding='UTF-8' standalone='yes'?>
<Relationships xmlns="http://schemas.openxmlformats.org/package/2006/relationships"><Relationship Type="http://schemas.openxmlformats.org/officeDocument/2006/relationships/slideLayout" Target="../copula/slideLayouts/slideLayout1.xml" Id="Rcc5d2d0dc8e84a85"/><Relationship Type="http://schemas.openxmlformats.org/officeDocument/2006/relationships/notesSlide" Target="../copula/notesSlides/notesSlide42.xml" Id="R5861cc4bd7bc427b"/></Relationships>
</file>

<file path=ppt/slides/_rels/slide143.xml.rels><?xml version='1.0' encoding='UTF-8' standalone='yes'?>
<Relationships xmlns="http://schemas.openxmlformats.org/package/2006/relationships"><Relationship Type="http://schemas.openxmlformats.org/officeDocument/2006/relationships/slideLayout" Target="../copula/slideLayouts/slideLayout1.xml" Id="R65cea539b1164aa5"/><Relationship Type="http://schemas.openxmlformats.org/officeDocument/2006/relationships/notesSlide" Target="../copula/notesSlides/notesSlide43.xml" Id="Rbbc0ddb87d154ed7"/></Relationships>
</file>

<file path=ppt/slides/_rels/slide144.xml.rels><?xml version='1.0' encoding='UTF-8' standalone='yes'?>
<Relationships xmlns="http://schemas.openxmlformats.org/package/2006/relationships"><Relationship Type="http://schemas.openxmlformats.org/officeDocument/2006/relationships/slideLayout" Target="../copula/slideLayouts/slideLayout1.xml" Id="R5185a1f51daf4de5"/><Relationship Type="http://schemas.openxmlformats.org/officeDocument/2006/relationships/notesSlide" Target="../copula/notesSlides/notesSlide44.xml" Id="R7e6de3a9eeec4b99"/></Relationships>
</file>

<file path=ppt/slides/_rels/slide145.xml.rels><?xml version='1.0' encoding='UTF-8' standalone='yes'?>
<Relationships xmlns="http://schemas.openxmlformats.org/package/2006/relationships"><Relationship Type="http://schemas.openxmlformats.org/officeDocument/2006/relationships/slideLayout" Target="../copula/slideLayouts/slideLayout1.xml" Id="Rc9b67b95d77f4dc8"/><Relationship Type="http://schemas.openxmlformats.org/officeDocument/2006/relationships/notesSlide" Target="../copula/notesSlides/notesSlide45.xml" Id="R859d88b8bab94894"/></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B31A8C6-475D-4849-9A7E-DA3BC06CEB0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前回の問題設定から、生成方法へ</a:t>
            </a:r>
          </a:p>
        </p:txBody>
      </p:sp>
      <p:sp>
        <p:nvSpPr>
          <p:cNvPr id="2" name="">
            <a:extLst xmlns:a="http://schemas.openxmlformats.org/drawingml/2006/main">
              <a:ext uri="{FF2B5EF4-FFF2-40B4-BE49-F238E27FC236}">
                <a16:creationId xmlns:a16="http://schemas.microsoft.com/office/drawing/2014/main" id="{EAF81D17-6540-4F6D-87CD-8429F113273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EB9AD4-B185-4084-990E-6C63E8D0607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前回：特徴の関係を考慮したデータ拡張を検討する。</a:t>
            </a:r>
          </a:p>
        </p:txBody>
      </p:sp>
      <p:sp>
        <p:nvSpPr>
          <p:cNvPr id="4" name="">
            <a:extLst xmlns:a="http://schemas.openxmlformats.org/drawingml/2006/main">
              <a:ext uri="{FF2B5EF4-FFF2-40B4-BE49-F238E27FC236}">
                <a16:creationId xmlns:a16="http://schemas.microsoft.com/office/drawing/2014/main" id="{97E762B0-9E41-4476-9D8F-6579FA6D463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F4920539-6FA7-429F-A5C8-2032CBA53C2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B8FF2E78-824A-4458-9A83-A413034548E1}"/>
              </a:ext>
            </a:extLst>
          </p:cNvPr>
          <p:cNvSpPr>
            <a:spLocks xmlns:a="http://schemas.openxmlformats.org/drawingml/2006/main" noGrp="1"/>
          </p:cNvSpPr>
          <p:nvPr/>
        </p:nvSpPr>
        <p:spPr>
          <a:xfrm xmlns:a="http://schemas.openxmlformats.org/drawingml/2006/main">
            <a:off x="514350" y="2000250"/>
            <a:ext cx="5314950" cy="31051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84C67A-0718-423D-B395-D97B35271BB7}"/>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既存の列置換</a:t>
            </a:r>
          </a:p>
        </p:txBody>
      </p:sp>
      <p:sp>
        <p:nvSpPr>
          <p:cNvPr id="8" name="">
            <a:extLst xmlns:a="http://schemas.openxmlformats.org/drawingml/2006/main">
              <a:ext uri="{FF2B5EF4-FFF2-40B4-BE49-F238E27FC236}">
                <a16:creationId xmlns:a16="http://schemas.microsoft.com/office/drawing/2014/main" id="{B53C3B30-D3E7-4763-A04E-063AC59422CF}"/>
              </a:ext>
            </a:extLst>
          </p:cNvPr>
          <p:cNvSpPr>
            <a:spLocks xmlns:a="http://schemas.openxmlformats.org/drawingml/2006/main" noGrp="1"/>
          </p:cNvSpPr>
          <p:nvPr/>
        </p:nvSpPr>
        <p:spPr>
          <a:xfrm xmlns:a="http://schemas.openxmlformats.org/drawingml/2006/main">
            <a:off x="704850" y="2667000"/>
            <a:ext cx="49339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身長を別の人から取ると、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残した体重との関係を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考慮できない。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値の組合せが不自然になる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可能性がある。</a:t>
            </a:r>
          </a:p>
        </p:txBody>
      </p:sp>
      <p:sp>
        <p:nvSpPr>
          <p:cNvPr id="9" name="">
            <a:extLst xmlns:a="http://schemas.openxmlformats.org/drawingml/2006/main">
              <a:ext uri="{FF2B5EF4-FFF2-40B4-BE49-F238E27FC236}">
                <a16:creationId xmlns:a16="http://schemas.microsoft.com/office/drawing/2014/main" id="{02EC42E0-0B76-4899-8965-C0C3E31B1001}"/>
              </a:ext>
            </a:extLst>
          </p:cNvPr>
          <p:cNvSpPr>
            <a:spLocks xmlns:a="http://schemas.openxmlformats.org/drawingml/2006/main" noGrp="1"/>
          </p:cNvSpPr>
          <p:nvPr/>
        </p:nvSpPr>
        <p:spPr>
          <a:xfrm xmlns:a="http://schemas.openxmlformats.org/drawingml/2006/main">
            <a:off x="6076950" y="2000250"/>
            <a:ext cx="5600700" cy="31051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FAA25F4-0D00-4160-81E6-4579CDB0FABF}"/>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今回、具体化すること</a:t>
            </a:r>
          </a:p>
        </p:txBody>
      </p:sp>
      <p:sp>
        <p:nvSpPr>
          <p:cNvPr id="11" name="">
            <a:extLst xmlns:a="http://schemas.openxmlformats.org/drawingml/2006/main">
              <a:ext uri="{FF2B5EF4-FFF2-40B4-BE49-F238E27FC236}">
                <a16:creationId xmlns:a16="http://schemas.microsoft.com/office/drawing/2014/main" id="{0D0F3C5B-5EF1-4869-83D2-CAFF809B0CB3}"/>
              </a:ext>
            </a:extLst>
          </p:cNvPr>
          <p:cNvSpPr>
            <a:spLocks xmlns:a="http://schemas.openxmlformats.org/drawingml/2006/main" noGrp="1"/>
          </p:cNvSpPr>
          <p:nvPr/>
        </p:nvSpPr>
        <p:spPr>
          <a:xfrm xmlns:a="http://schemas.openxmlformats.org/drawingml/2006/main">
            <a:off x="6267450" y="2667000"/>
            <a:ext cx="52197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残した体重に合う</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身長の分布から生成する。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この仕組みをコピュラで作り、</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VIMEの置換器として使う。</a:t>
            </a:r>
          </a:p>
        </p:txBody>
      </p:sp>
      <p:sp>
        <p:nvSpPr>
          <p:cNvPr id="12" name="">
            <a:extLst xmlns:a="http://schemas.openxmlformats.org/drawingml/2006/main">
              <a:ext uri="{FF2B5EF4-FFF2-40B4-BE49-F238E27FC236}">
                <a16:creationId xmlns:a16="http://schemas.microsoft.com/office/drawing/2014/main" id="{71F24F86-0A98-471D-9652-FE48A71558B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6694A5-B1EB-4F23-8A03-8304FD5CE00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次の問い：体重が分かれば、身長をどう推測できるか？</a:t>
            </a:r>
          </a:p>
        </p:txBody>
      </p:sp>
    </p:spTree>
    <p:extLst>
      <p:ext uri="{BB962C8B-B14F-4D97-AF65-F5344CB8AC3E}">
        <p14:creationId xmlns:p14="http://schemas.microsoft.com/office/powerpoint/2010/main" val="548376312"/>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2843D5-B0D8-4208-8E91-A29B8E76EFD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まず、似た体重の人を参考にする</a:t>
            </a:r>
          </a:p>
        </p:txBody>
      </p:sp>
      <p:sp>
        <p:nvSpPr>
          <p:cNvPr id="2" name="">
            <a:extLst xmlns:a="http://schemas.openxmlformats.org/drawingml/2006/main">
              <a:ext uri="{FF2B5EF4-FFF2-40B4-BE49-F238E27FC236}">
                <a16:creationId xmlns:a16="http://schemas.microsoft.com/office/drawing/2014/main" id="{EFE1BAA8-796E-4C32-A5FF-DA81A5A175D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920E78-F098-4120-91A7-0BBDBBEF409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例：体重70 kgは分かるが、身長は分からない。</a:t>
            </a:r>
          </a:p>
        </p:txBody>
      </p:sp>
      <p:sp>
        <p:nvSpPr>
          <p:cNvPr id="4" name="">
            <a:extLst xmlns:a="http://schemas.openxmlformats.org/drawingml/2006/main">
              <a:ext uri="{FF2B5EF4-FFF2-40B4-BE49-F238E27FC236}">
                <a16:creationId xmlns:a16="http://schemas.microsoft.com/office/drawing/2014/main" id="{204C5A97-6997-4AD0-949F-E552449AD0E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2A9ABB53-65E3-40FF-A852-15472767DF9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graphicFrame>
        <p:nvGraphicFramePr>
          <p:cNvPr id="15" name=""/>
          <p:cNvGraphicFramePr/>
          <p:nvPr/>
        </p:nvGraphicFramePr>
        <p:xfrm>
          <a:off xmlns:a="http://schemas.openxmlformats.org/drawingml/2006/main" x="514350" y="1981200"/>
          <a:ext xmlns:a="http://schemas.openxmlformats.org/drawingml/2006/main" cx="11163300" cy="2447925"/>
        </p:xfrm>
        <a:graphic xmlns:a="http://schemas.openxmlformats.org/drawingml/2006/main">
          <a:graphicData uri="http://schemas.openxmlformats.org/drawingml/2006/table">
            <a:tbl>
              <a:tblPr/>
              <a:tblGrid>
                <a:gridCol w="3721100"/>
                <a:gridCol w="3721100"/>
                <a:gridCol w="3721100"/>
              </a:tblGrid>
              <a:tr h="611981">
                <a:tc>
                  <a:txBody>
                    <a:bodyPr/>
                    <a:lstStyle/>
                    <a:p>
                      <a:pPr algn="ctr"/>
                      <a:r>
                        <a:rPr sz="2175" b="1">
                          <a:solidFill>
                            <a:srgbClr val="2E7D5B"/>
                          </a:solidFill>
                          <a:latin typeface="Noto Sans JP"/>
                          <a:ea typeface="Noto Sans JP"/>
                          <a:cs typeface="Noto Sans JP"/>
                        </a:rPr>
                        <a:t>参考にする人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体重</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a:t>
                      </a:r>
                    </a:p>
                  </a:txBody>
                  <a:tcPr marL="91440" marR="91440" marT="45720" marB="45720" anchor="ctr">
                    <a:solidFill>
                      <a:srgbClr val="E7F2EC"/>
                    </a:solidFill>
                  </a:tcPr>
                </a:tc>
              </a:tr>
              <a:tr h="611981">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69 kg</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168 cm</a:t>
                      </a:r>
                    </a:p>
                  </a:txBody>
                  <a:tcPr marL="91440" marR="91440" marT="45720" marB="45720" anchor="ctr">
                    <a:solidFill>
                      <a:srgbClr val="FFFFFF"/>
                    </a:solidFill>
                  </a:tcPr>
                </a:tc>
              </a:tr>
              <a:tr h="611981">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173 cm</a:t>
                      </a:r>
                    </a:p>
                  </a:txBody>
                  <a:tcPr marL="91440" marR="91440" marT="45720" marB="45720" anchor="ctr">
                    <a:solidFill>
                      <a:srgbClr val="F6F6F6"/>
                    </a:solidFill>
                  </a:tcPr>
                </a:tc>
              </a:tr>
              <a:tr h="611981">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71 kg</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178 cm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7A1C0FF-D997-4262-A85E-6B5742B06898}"/>
              </a:ext>
            </a:extLst>
          </p:cNvPr>
          <p:cNvSpPr>
            <a:spLocks xmlns:a="http://schemas.openxmlformats.org/drawingml/2006/main" noGrp="1"/>
          </p:cNvSpPr>
          <p:nvPr/>
        </p:nvSpPr>
        <p:spPr>
          <a:xfrm xmlns:a="http://schemas.openxmlformats.org/drawingml/2006/main">
            <a:off x="609600" y="46767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平均なら173 cm。拡張では、ばらつきを持つ身長を生成したい。</a:t>
            </a:r>
          </a:p>
        </p:txBody>
      </p:sp>
      <p:sp>
        <p:nvSpPr>
          <p:cNvPr id="8" name="">
            <a:extLst xmlns:a="http://schemas.openxmlformats.org/drawingml/2006/main">
              <a:ext uri="{FF2B5EF4-FFF2-40B4-BE49-F238E27FC236}">
                <a16:creationId xmlns:a16="http://schemas.microsoft.com/office/drawing/2014/main" id="{38F12DE7-8EC1-452F-A744-C06359DFC95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1A0A57-5635-4CE8-B301-195ED0827F1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次の問い：70 kgの人に合う「身長のばらつき」をどう表すか？</a:t>
            </a:r>
          </a:p>
        </p:txBody>
      </p:sp>
    </p:spTree>
    <p:extLst>
      <p:ext uri="{BB962C8B-B14F-4D97-AF65-F5344CB8AC3E}">
        <p14:creationId xmlns:p14="http://schemas.microsoft.com/office/powerpoint/2010/main" val="62249263"/>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B5C247-B0FC-4301-A0FD-D86B0E9F3B2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推測したいものは、条件付き分布</a:t>
            </a:r>
          </a:p>
        </p:txBody>
      </p:sp>
      <p:sp>
        <p:nvSpPr>
          <p:cNvPr id="2" name="">
            <a:extLst xmlns:a="http://schemas.openxmlformats.org/drawingml/2006/main">
              <a:ext uri="{FF2B5EF4-FFF2-40B4-BE49-F238E27FC236}">
                <a16:creationId xmlns:a16="http://schemas.microsoft.com/office/drawing/2014/main" id="{40FDC2D1-6807-481F-BE63-CE2D9637EB4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147234-3116-4643-9A0E-3E98B7A7F5C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近い人の身長にも、168・173・178 cmという違いがある。</a:t>
            </a:r>
          </a:p>
        </p:txBody>
      </p:sp>
      <p:sp>
        <p:nvSpPr>
          <p:cNvPr id="4" name="">
            <a:extLst xmlns:a="http://schemas.openxmlformats.org/drawingml/2006/main">
              <a:ext uri="{FF2B5EF4-FFF2-40B4-BE49-F238E27FC236}">
                <a16:creationId xmlns:a16="http://schemas.microsoft.com/office/drawing/2014/main" id="{A488A127-652F-4FDD-B903-5243C50A772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0C6F6AF8-5165-479A-B982-9FAD05F4584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C5B6B5B8-07BE-4864-9DA0-AB26F9F47EC7}"/>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2F1DBD-DF8B-493F-A946-00D746DFB489}"/>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身長 X | 体重 Y = 70 kg の分布</a:t>
            </a:r>
          </a:p>
        </p:txBody>
      </p:sp>
      <p:sp>
        <p:nvSpPr>
          <p:cNvPr id="8" name="">
            <a:extLst xmlns:a="http://schemas.openxmlformats.org/drawingml/2006/main">
              <a:ext uri="{FF2B5EF4-FFF2-40B4-BE49-F238E27FC236}">
                <a16:creationId xmlns:a16="http://schemas.microsoft.com/office/drawing/2014/main" id="{18ECF865-F2B6-4F5B-8918-A1EAEEFE9FFE}"/>
              </a:ext>
            </a:extLst>
          </p:cNvPr>
          <p:cNvSpPr>
            <a:spLocks xmlns:a="http://schemas.openxmlformats.org/drawingml/2006/main" noGrp="1"/>
          </p:cNvSpPr>
          <p:nvPr/>
        </p:nvSpPr>
        <p:spPr>
          <a:xfrm xmlns:a="http://schemas.openxmlformats.org/drawingml/2006/main">
            <a:off x="514350" y="3343275"/>
            <a:ext cx="5314950" cy="1971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1E8043-BA9C-4A12-939F-5BE02FEE3B73}"/>
              </a:ext>
            </a:extLst>
          </p:cNvPr>
          <p:cNvSpPr>
            <a:spLocks xmlns:a="http://schemas.openxmlformats.org/drawingml/2006/main" noGrp="1"/>
          </p:cNvSpPr>
          <p:nvPr/>
        </p:nvSpPr>
        <p:spPr>
          <a:xfrm xmlns:a="http://schemas.openxmlformats.org/drawingml/2006/main">
            <a:off x="704850" y="34575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近傍を使う方法</a:t>
            </a:r>
          </a:p>
        </p:txBody>
      </p:sp>
      <p:sp>
        <p:nvSpPr>
          <p:cNvPr id="10" name="">
            <a:extLst xmlns:a="http://schemas.openxmlformats.org/drawingml/2006/main">
              <a:ext uri="{FF2B5EF4-FFF2-40B4-BE49-F238E27FC236}">
                <a16:creationId xmlns:a16="http://schemas.microsoft.com/office/drawing/2014/main" id="{B7E0B6D9-28F4-472E-A9E2-A2C7DA8AF7D6}"/>
              </a:ext>
            </a:extLst>
          </p:cNvPr>
          <p:cNvSpPr>
            <a:spLocks xmlns:a="http://schemas.openxmlformats.org/drawingml/2006/main" noGrp="1"/>
          </p:cNvSpPr>
          <p:nvPr/>
        </p:nvSpPr>
        <p:spPr>
          <a:xfrm xmlns:a="http://schemas.openxmlformats.org/drawingml/2006/main">
            <a:off x="704850" y="4010025"/>
            <a:ext cx="4933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70 kg付近の人を集め、</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その身長を参考にする。</a:t>
            </a:r>
          </a:p>
        </p:txBody>
      </p:sp>
      <p:sp>
        <p:nvSpPr>
          <p:cNvPr id="11" name="">
            <a:extLst xmlns:a="http://schemas.openxmlformats.org/drawingml/2006/main">
              <a:ext uri="{FF2B5EF4-FFF2-40B4-BE49-F238E27FC236}">
                <a16:creationId xmlns:a16="http://schemas.microsoft.com/office/drawing/2014/main" id="{EB72972D-E026-4E03-9B01-0ABA367CEB86}"/>
              </a:ext>
            </a:extLst>
          </p:cNvPr>
          <p:cNvSpPr>
            <a:spLocks xmlns:a="http://schemas.openxmlformats.org/drawingml/2006/main" noGrp="1"/>
          </p:cNvSpPr>
          <p:nvPr/>
        </p:nvSpPr>
        <p:spPr>
          <a:xfrm xmlns:a="http://schemas.openxmlformats.org/drawingml/2006/main">
            <a:off x="6076950" y="3343275"/>
            <a:ext cx="5600700" cy="1971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D2F0DCF-A3CD-49FB-B06E-1CCA102D7EEF}"/>
              </a:ext>
            </a:extLst>
          </p:cNvPr>
          <p:cNvSpPr>
            <a:spLocks xmlns:a="http://schemas.openxmlformats.org/drawingml/2006/main" noGrp="1"/>
          </p:cNvSpPr>
          <p:nvPr/>
        </p:nvSpPr>
        <p:spPr>
          <a:xfrm xmlns:a="http://schemas.openxmlformats.org/drawingml/2006/main">
            <a:off x="6267450" y="34575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今回のコピュラ法</a:t>
            </a:r>
          </a:p>
        </p:txBody>
      </p:sp>
      <p:sp>
        <p:nvSpPr>
          <p:cNvPr id="13" name="">
            <a:extLst xmlns:a="http://schemas.openxmlformats.org/drawingml/2006/main">
              <a:ext uri="{FF2B5EF4-FFF2-40B4-BE49-F238E27FC236}">
                <a16:creationId xmlns:a16="http://schemas.microsoft.com/office/drawing/2014/main" id="{B81A8C8B-CDB3-4651-9EE6-D8C0AF00364B}"/>
              </a:ext>
            </a:extLst>
          </p:cNvPr>
          <p:cNvSpPr>
            <a:spLocks xmlns:a="http://schemas.openxmlformats.org/drawingml/2006/main" noGrp="1"/>
          </p:cNvSpPr>
          <p:nvPr/>
        </p:nvSpPr>
        <p:spPr>
          <a:xfrm xmlns:a="http://schemas.openxmlformats.org/drawingml/2006/main">
            <a:off x="6267450" y="4010025"/>
            <a:ext cx="5219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データ全体で関係をモデル化し、</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70 kgという条件で分布を求める。</a:t>
            </a:r>
          </a:p>
        </p:txBody>
      </p:sp>
      <p:sp>
        <p:nvSpPr>
          <p:cNvPr id="14" name="">
            <a:extLst xmlns:a="http://schemas.openxmlformats.org/drawingml/2006/main">
              <a:ext uri="{FF2B5EF4-FFF2-40B4-BE49-F238E27FC236}">
                <a16:creationId xmlns:a16="http://schemas.microsoft.com/office/drawing/2014/main" id="{C5DD973F-6C09-4E34-8B5D-ED9FDF89755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6CEEE7-D0C8-4FA2-8D7A-896200327C5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次の問い：コピュラは、データ全体の何をモデル化するのか？</a:t>
            </a:r>
          </a:p>
        </p:txBody>
      </p:sp>
    </p:spTree>
    <p:extLst>
      <p:ext uri="{BB962C8B-B14F-4D97-AF65-F5344CB8AC3E}">
        <p14:creationId xmlns:p14="http://schemas.microsoft.com/office/powerpoint/2010/main" val="1940671136"/>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B16C61-BED4-47B9-A7AA-EC2361E89E7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値の分布と、値の組合せは別の情報</a:t>
            </a:r>
          </a:p>
        </p:txBody>
      </p:sp>
      <p:sp>
        <p:nvSpPr>
          <p:cNvPr id="2" name="">
            <a:extLst xmlns:a="http://schemas.openxmlformats.org/drawingml/2006/main">
              <a:ext uri="{FF2B5EF4-FFF2-40B4-BE49-F238E27FC236}">
                <a16:creationId xmlns:a16="http://schemas.microsoft.com/office/drawing/2014/main" id="{288AF33C-F480-4E50-AB9B-5DDD267D809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3593DD-8F9E-498C-9E56-E867EFA850C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条件付き分布を作るには、身長と体重の結びつきが必要。</a:t>
            </a:r>
          </a:p>
        </p:txBody>
      </p:sp>
      <p:sp>
        <p:nvSpPr>
          <p:cNvPr id="4" name="">
            <a:extLst xmlns:a="http://schemas.openxmlformats.org/drawingml/2006/main">
              <a:ext uri="{FF2B5EF4-FFF2-40B4-BE49-F238E27FC236}">
                <a16:creationId xmlns:a16="http://schemas.microsoft.com/office/drawing/2014/main" id="{16E50164-9D8C-400C-8095-A31D4D3390D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B2476654-0B5C-4EA8-BC55-F568B66F35C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15" name=""/>
          <p:cNvGraphicFramePr/>
          <p:nvPr/>
        </p:nvGraphicFramePr>
        <p:xfrm>
          <a:off xmlns:a="http://schemas.openxmlformats.org/drawingml/2006/main" x="514350" y="2009775"/>
          <a:ext xmlns:a="http://schemas.openxmlformats.org/drawingml/2006/main" cx="11163300" cy="2828925"/>
        </p:xfrm>
        <a:graphic xmlns:a="http://schemas.openxmlformats.org/drawingml/2006/main">
          <a:graphicData uri="http://schemas.openxmlformats.org/drawingml/2006/table">
            <a:tbl>
              <a:tblPr/>
              <a:tblGrid>
                <a:gridCol w="2790825"/>
                <a:gridCol w="2790825"/>
                <a:gridCol w="2790825"/>
                <a:gridCol w="2790825"/>
              </a:tblGrid>
              <a:tr h="565785">
                <a:tc>
                  <a:txBody>
                    <a:bodyPr/>
                    <a:lstStyle/>
                    <a:p>
                      <a:pPr algn="ctr"/>
                      <a:r>
                        <a:rPr sz="2100"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身長 cm</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 kg</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体重を逆にした場合</a:t>
                      </a:r>
                    </a:p>
                  </a:txBody>
                  <a:tcPr marL="91440" marR="91440" marT="45720" marB="45720" anchor="ctr">
                    <a:solidFill>
                      <a:srgbClr val="E7F2EC"/>
                    </a:solidFill>
                  </a:tcPr>
                </a:tc>
              </a:tr>
              <a:tr h="565785">
                <a:tc>
                  <a:txBody>
                    <a:bodyPr/>
                    <a:lstStyle/>
                    <a:p>
                      <a:pPr algn="ctr"/>
                      <a:r>
                        <a:rPr sz="2100"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82</a:t>
                      </a:r>
                    </a:p>
                  </a:txBody>
                  <a:tcPr marL="91440" marR="91440" marT="45720" marB="45720" anchor="ctr">
                    <a:solidFill>
                      <a:srgbClr val="FFFFFF"/>
                    </a:solidFill>
                  </a:tcPr>
                </a:tc>
              </a:tr>
              <a:tr h="565785">
                <a:tc>
                  <a:txBody>
                    <a:bodyPr/>
                    <a:lstStyle/>
                    <a:p>
                      <a:pPr algn="ctr"/>
                      <a:r>
                        <a:rPr sz="2100"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68</a:t>
                      </a:r>
                    </a:p>
                  </a:txBody>
                  <a:tcPr marL="91440" marR="91440" marT="45720" marB="45720" anchor="ctr">
                    <a:solidFill>
                      <a:srgbClr val="F6F6F6"/>
                    </a:solidFill>
                  </a:tcPr>
                </a:tc>
              </a:tr>
              <a:tr h="565785">
                <a:tc>
                  <a:txBody>
                    <a:bodyPr/>
                    <a:lstStyle/>
                    <a:p>
                      <a:pPr algn="ctr"/>
                      <a:r>
                        <a:rPr sz="2100"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57</a:t>
                      </a:r>
                    </a:p>
                  </a:txBody>
                  <a:tcPr marL="91440" marR="91440" marT="45720" marB="45720" anchor="ctr">
                    <a:solidFill>
                      <a:srgbClr val="FFFFFF"/>
                    </a:solidFill>
                  </a:tcPr>
                </a:tc>
              </a:tr>
              <a:tr h="565785">
                <a:tc>
                  <a:txBody>
                    <a:bodyPr/>
                    <a:lstStyle/>
                    <a:p>
                      <a:pPr algn="ctr"/>
                      <a:r>
                        <a:rPr sz="2100"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E6C7EAE-1695-433F-94A3-C12A2481560A}"/>
              </a:ext>
            </a:extLst>
          </p:cNvPr>
          <p:cNvSpPr>
            <a:spLocks xmlns:a="http://schemas.openxmlformats.org/drawingml/2006/main" noGrp="1"/>
          </p:cNvSpPr>
          <p:nvPr/>
        </p:nvSpPr>
        <p:spPr>
          <a:xfrm xmlns:a="http://schemas.openxmlformats.org/drawingml/2006/main">
            <a:off x="609600" y="4953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22222"/>
                </a:solidFill>
                <a:latin typeface="Noto Sans JP"/>
                <a:ea typeface="Noto Sans JP"/>
                <a:cs typeface="Noto Sans JP"/>
              </a:defRPr>
            </a:pPr>
            <a:r>
              <a:rPr sz="1950" b="1">
                <a:solidFill>
                  <a:srgbClr val="222222"/>
                </a:solidFill>
                <a:latin typeface="Noto Sans JP"/>
                <a:ea typeface="Noto Sans JP"/>
                <a:cs typeface="Noto Sans JP"/>
              </a:rPr>
              <a:t>各列の値の集合は同じでも、「高い人ほど重い」という関係は逆。</a:t>
            </a:r>
          </a:p>
        </p:txBody>
      </p:sp>
      <p:sp>
        <p:nvSpPr>
          <p:cNvPr id="8" name="">
            <a:extLst xmlns:a="http://schemas.openxmlformats.org/drawingml/2006/main">
              <a:ext uri="{FF2B5EF4-FFF2-40B4-BE49-F238E27FC236}">
                <a16:creationId xmlns:a16="http://schemas.microsoft.com/office/drawing/2014/main" id="{668FCAB8-DB57-4FF7-BD1A-4639A0B64CB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C80CD44-1DCE-4374-A633-909303D48C4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次の問い：「組合せの関係」を、どんな尺度で表すか？</a:t>
            </a:r>
          </a:p>
        </p:txBody>
      </p:sp>
    </p:spTree>
    <p:extLst>
      <p:ext uri="{BB962C8B-B14F-4D97-AF65-F5344CB8AC3E}">
        <p14:creationId xmlns:p14="http://schemas.microsoft.com/office/powerpoint/2010/main" val="818565505"/>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711CEC-C4DF-4D5D-8142-8451CDA5023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値を「その値以下の割合」に変える</a:t>
            </a:r>
          </a:p>
        </p:txBody>
      </p:sp>
      <p:sp>
        <p:nvSpPr>
          <p:cNvPr id="2" name="">
            <a:extLst xmlns:a="http://schemas.openxmlformats.org/drawingml/2006/main">
              <a:ext uri="{FF2B5EF4-FFF2-40B4-BE49-F238E27FC236}">
                <a16:creationId xmlns:a16="http://schemas.microsoft.com/office/drawing/2014/main" id="{89729BB5-9412-4D20-AC34-5F52B8E957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E62EC1-288F-474D-A80F-5247219D120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身長と体重の組合せを、共通の0〜1の尺度で表したい。</a:t>
            </a:r>
          </a:p>
        </p:txBody>
      </p:sp>
      <p:sp>
        <p:nvSpPr>
          <p:cNvPr id="4" name="">
            <a:extLst xmlns:a="http://schemas.openxmlformats.org/drawingml/2006/main">
              <a:ext uri="{FF2B5EF4-FFF2-40B4-BE49-F238E27FC236}">
                <a16:creationId xmlns:a16="http://schemas.microsoft.com/office/drawing/2014/main" id="{519952B0-8041-435F-B9BA-FCE4EAE0FA7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703E1AD4-FD50-43B5-9574-0471137CFC5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076450"/>
          <a:ext xmlns:a="http://schemas.openxmlformats.org/drawingml/2006/main" cx="11163300" cy="1390650"/>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5325">
                <a:tc>
                  <a:txBody>
                    <a:bodyPr/>
                    <a:lstStyle/>
                    <a:p>
                      <a:pPr algn="ctr"/>
                      <a:r>
                        <a:rPr sz="1875"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10</a:t>
                      </a:r>
                    </a:p>
                  </a:txBody>
                  <a:tcPr marL="91440" marR="91440" marT="45720" marB="45720" anchor="ctr">
                    <a:solidFill>
                      <a:srgbClr val="E7F2EC"/>
                    </a:solidFill>
                  </a:tcPr>
                </a:tc>
              </a:tr>
              <a:tr h="695325">
                <a:tc>
                  <a:txBody>
                    <a:bodyPr/>
                    <a:lstStyle/>
                    <a:p>
                      <a:pPr algn="ctr"/>
                      <a:r>
                        <a:rPr sz="1875" b="0">
                          <a:solidFill>
                            <a:srgbClr val="222222"/>
                          </a:solidFill>
                          <a:latin typeface="Noto Sans JP"/>
                          <a:ea typeface="Noto Sans JP"/>
                          <a:cs typeface="Noto Sans JP"/>
                        </a:rPr>
                        <a:t>体重 kg</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45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63</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90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2FFD193-810E-4D84-A77B-E14B4999E929}"/>
              </a:ext>
            </a:extLst>
          </p:cNvPr>
          <p:cNvSpPr>
            <a:spLocks xmlns:a="http://schemas.openxmlformats.org/drawingml/2006/main" noGrp="1"/>
          </p:cNvSpPr>
          <p:nvPr/>
        </p:nvSpPr>
        <p:spPr>
          <a:xfrm xmlns:a="http://schemas.openxmlformats.org/drawingml/2006/main">
            <a:off x="514350" y="36861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FC0EF0-1B6B-48BF-AABC-C5BD00036AD1}"/>
              </a:ext>
            </a:extLst>
          </p:cNvPr>
          <p:cNvSpPr>
            <a:spLocks xmlns:a="http://schemas.openxmlformats.org/drawingml/2006/main" noGrp="1"/>
          </p:cNvSpPr>
          <p:nvPr/>
        </p:nvSpPr>
        <p:spPr>
          <a:xfrm xmlns:a="http://schemas.openxmlformats.org/drawingml/2006/main">
            <a:off x="704850" y="37814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Fᵧ(70) = P(Y ≤ 70) ≈ 7 / 10 = 0.7</a:t>
            </a:r>
          </a:p>
        </p:txBody>
      </p:sp>
      <p:sp>
        <p:nvSpPr>
          <p:cNvPr id="9" name="">
            <a:extLst xmlns:a="http://schemas.openxmlformats.org/drawingml/2006/main">
              <a:ext uri="{FF2B5EF4-FFF2-40B4-BE49-F238E27FC236}">
                <a16:creationId xmlns:a16="http://schemas.microsoft.com/office/drawing/2014/main" id="{C2049809-0E69-4141-9F09-C6897C3E3E9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A996B33-5D03-44B6-90DB-3E6D953A53A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次の問い：身長も同じ方法で変えると、何が見えるか？</a:t>
            </a:r>
          </a:p>
        </p:txBody>
      </p:sp>
    </p:spTree>
    <p:extLst>
      <p:ext uri="{BB962C8B-B14F-4D97-AF65-F5344CB8AC3E}">
        <p14:creationId xmlns:p14="http://schemas.microsoft.com/office/powerpoint/2010/main" val="448479667"/>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F7566F-DF55-418C-8400-0D0A2BDC76F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二つの確率位置の組で、関係を見る</a:t>
            </a:r>
          </a:p>
        </p:txBody>
      </p:sp>
      <p:sp>
        <p:nvSpPr>
          <p:cNvPr id="2" name="">
            <a:extLst xmlns:a="http://schemas.openxmlformats.org/drawingml/2006/main">
              <a:ext uri="{FF2B5EF4-FFF2-40B4-BE49-F238E27FC236}">
                <a16:creationId xmlns:a16="http://schemas.microsoft.com/office/drawing/2014/main" id="{F43301BB-00D7-4F5D-B508-674493E7E4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541C61-3705-4F00-B73E-2C375C1E293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体重70 kgを、体重分布の中の位置0.7へ変換した。</a:t>
            </a:r>
          </a:p>
        </p:txBody>
      </p:sp>
      <p:sp>
        <p:nvSpPr>
          <p:cNvPr id="4" name="">
            <a:extLst xmlns:a="http://schemas.openxmlformats.org/drawingml/2006/main">
              <a:ext uri="{FF2B5EF4-FFF2-40B4-BE49-F238E27FC236}">
                <a16:creationId xmlns:a16="http://schemas.microsoft.com/office/drawing/2014/main" id="{0D2D9F15-D821-444E-AC2B-81F672D771A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2D15CB25-B760-4301-9188-E0C75A6B3E4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09775"/>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682625">
                <a:tc>
                  <a:txBody>
                    <a:bodyPr/>
                    <a:lstStyle/>
                    <a:p>
                      <a:pPr algn="ctr"/>
                      <a:r>
                        <a:rPr sz="2100" b="1">
                          <a:solidFill>
                            <a:srgbClr val="2E7D5B"/>
                          </a:solidFill>
                          <a:latin typeface="Noto Sans JP"/>
                          <a:ea typeface="Noto Sans JP"/>
                          <a:cs typeface="Noto Sans JP"/>
                        </a:rPr>
                        <a:t>一人の例</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元の値</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r>
              <a:tr h="682625">
                <a:tc>
                  <a:txBody>
                    <a:bodyPr/>
                    <a:lstStyle/>
                    <a:p>
                      <a:pPr algn="ctr"/>
                      <a:r>
                        <a:rPr sz="2100" b="0">
                          <a:solidFill>
                            <a:srgbClr val="222222"/>
                          </a:solidFill>
                          <a:latin typeface="Noto Sans JP"/>
                          <a:ea typeface="Noto Sans JP"/>
                          <a:cs typeface="Noto Sans JP"/>
                        </a:rPr>
                        <a:t>身長 X</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173 cm</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 = Fₓ(X) = 0.6</a:t>
                      </a:r>
                    </a:p>
                  </a:txBody>
                  <a:tcPr marL="91440" marR="91440" marT="45720" marB="45720" anchor="ctr">
                    <a:solidFill>
                      <a:srgbClr val="FFFFFF"/>
                    </a:solidFill>
                  </a:tcPr>
                </a:tc>
              </a:tr>
              <a:tr h="682625">
                <a:tc>
                  <a:txBody>
                    <a:bodyPr/>
                    <a:lstStyle/>
                    <a:p>
                      <a:pPr algn="ctr"/>
                      <a:r>
                        <a:rPr sz="2100" b="0">
                          <a:solidFill>
                            <a:srgbClr val="222222"/>
                          </a:solidFill>
                          <a:latin typeface="Noto Sans JP"/>
                          <a:ea typeface="Noto Sans JP"/>
                          <a:cs typeface="Noto Sans JP"/>
                        </a:rPr>
                        <a:t>体重 Y</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V = Fᵧ(Y) = 0.7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F9460CBC-2DC1-4BA6-8058-6DE7B9BD158C}"/>
              </a:ext>
            </a:extLst>
          </p:cNvPr>
          <p:cNvSpPr>
            <a:spLocks xmlns:a="http://schemas.openxmlformats.org/drawingml/2006/main" noGrp="1"/>
          </p:cNvSpPr>
          <p:nvPr/>
        </p:nvSpPr>
        <p:spPr>
          <a:xfrm xmlns:a="http://schemas.openxmlformats.org/drawingml/2006/main">
            <a:off x="647700" y="4333875"/>
            <a:ext cx="10906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この人を (0.6, 0.7) と表し、多くの人の位置の組を集める。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連続な周辺では、UとVはそれぞれ一様分布になる。</a:t>
            </a:r>
          </a:p>
        </p:txBody>
      </p:sp>
      <p:sp>
        <p:nvSpPr>
          <p:cNvPr id="8" name="">
            <a:extLst xmlns:a="http://schemas.openxmlformats.org/drawingml/2006/main">
              <a:ext uri="{FF2B5EF4-FFF2-40B4-BE49-F238E27FC236}">
                <a16:creationId xmlns:a16="http://schemas.microsoft.com/office/drawing/2014/main" id="{5AA020AA-C399-4D23-8B05-70F620EFA18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6F752B3-2D82-4597-A69C-A13C586920B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次の問い：位置の組が現れる確率を、どう定義するか？</a:t>
            </a:r>
          </a:p>
        </p:txBody>
      </p:sp>
    </p:spTree>
    <p:extLst>
      <p:ext uri="{BB962C8B-B14F-4D97-AF65-F5344CB8AC3E}">
        <p14:creationId xmlns:p14="http://schemas.microsoft.com/office/powerpoint/2010/main" val="68560051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0979D8-C817-4880-BB8B-0AB46B45985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コピュラは、位置の同時累積分布</a:t>
            </a:r>
          </a:p>
        </p:txBody>
      </p:sp>
      <p:sp>
        <p:nvSpPr>
          <p:cNvPr id="2" name="">
            <a:extLst xmlns:a="http://schemas.openxmlformats.org/drawingml/2006/main">
              <a:ext uri="{FF2B5EF4-FFF2-40B4-BE49-F238E27FC236}">
                <a16:creationId xmlns:a16="http://schemas.microsoft.com/office/drawing/2014/main" id="{063DD1C2-20EB-490F-A4F8-9122F074F0B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5B45E3-B0EF-44A2-855A-48C7BB33D36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各人の (U, V) を集めたので、同時に入る範囲の確率を考える。</a:t>
            </a:r>
          </a:p>
        </p:txBody>
      </p:sp>
      <p:sp>
        <p:nvSpPr>
          <p:cNvPr id="4" name="">
            <a:extLst xmlns:a="http://schemas.openxmlformats.org/drawingml/2006/main">
              <a:ext uri="{FF2B5EF4-FFF2-40B4-BE49-F238E27FC236}">
                <a16:creationId xmlns:a16="http://schemas.microsoft.com/office/drawing/2014/main" id="{4101122E-42F9-4546-AE83-138B410582D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436A4666-9934-40EC-9B6C-A98036AD3E5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sp>
        <p:nvSpPr>
          <p:cNvPr id="6" name="">
            <a:extLst xmlns:a="http://schemas.openxmlformats.org/drawingml/2006/main">
              <a:ext uri="{FF2B5EF4-FFF2-40B4-BE49-F238E27FC236}">
                <a16:creationId xmlns:a16="http://schemas.microsoft.com/office/drawing/2014/main" id="{67B5CA8E-1ECF-4D18-B368-C7090C24EBFC}"/>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CC9118-7D17-4736-A82B-810361F3E589}"/>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4A2915C4-C46F-4CEF-A4A8-3C6A9CB21039}"/>
              </a:ext>
            </a:extLst>
          </p:cNvPr>
          <p:cNvSpPr>
            <a:spLocks xmlns:a="http://schemas.openxmlformats.org/drawingml/2006/main" noGrp="1"/>
          </p:cNvSpPr>
          <p:nvPr/>
        </p:nvSpPr>
        <p:spPr>
          <a:xfrm xmlns:a="http://schemas.openxmlformats.org/drawingml/2006/main">
            <a:off x="552450" y="33337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C45227E6-E8C0-4D43-A7A2-49677110E368}"/>
              </a:ext>
            </a:extLst>
          </p:cNvPr>
          <p:cNvSpPr>
            <a:spLocks xmlns:a="http://schemas.openxmlformats.org/drawingml/2006/main" noGrp="1"/>
          </p:cNvSpPr>
          <p:nvPr/>
        </p:nvSpPr>
        <p:spPr>
          <a:xfrm xmlns:a="http://schemas.openxmlformats.org/drawingml/2006/main">
            <a:off x="1257300" y="33337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0.6：身長の位置が、低い側から60%まで。</a:t>
            </a:r>
          </a:p>
        </p:txBody>
      </p:sp>
      <p:sp>
        <p:nvSpPr>
          <p:cNvPr id="10" name="">
            <a:extLst xmlns:a="http://schemas.openxmlformats.org/drawingml/2006/main">
              <a:ext uri="{FF2B5EF4-FFF2-40B4-BE49-F238E27FC236}">
                <a16:creationId xmlns:a16="http://schemas.microsoft.com/office/drawing/2014/main" id="{28D3D4FD-BE66-49E1-A42F-2DAD3AE4E34F}"/>
              </a:ext>
            </a:extLst>
          </p:cNvPr>
          <p:cNvSpPr>
            <a:spLocks xmlns:a="http://schemas.openxmlformats.org/drawingml/2006/main" noGrp="1"/>
          </p:cNvSpPr>
          <p:nvPr/>
        </p:nvSpPr>
        <p:spPr>
          <a:xfrm xmlns:a="http://schemas.openxmlformats.org/drawingml/2006/main">
            <a:off x="552450" y="40068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62C0A70C-A1FC-4466-8C82-D68F20A54D70}"/>
              </a:ext>
            </a:extLst>
          </p:cNvPr>
          <p:cNvSpPr>
            <a:spLocks xmlns:a="http://schemas.openxmlformats.org/drawingml/2006/main" noGrp="1"/>
          </p:cNvSpPr>
          <p:nvPr/>
        </p:nvSpPr>
        <p:spPr>
          <a:xfrm xmlns:a="http://schemas.openxmlformats.org/drawingml/2006/main">
            <a:off x="1257300" y="40068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0.7：体重の位置が、軽い側から70%まで。</a:t>
            </a:r>
          </a:p>
        </p:txBody>
      </p:sp>
      <p:sp>
        <p:nvSpPr>
          <p:cNvPr id="12" name="">
            <a:extLst xmlns:a="http://schemas.openxmlformats.org/drawingml/2006/main">
              <a:ext uri="{FF2B5EF4-FFF2-40B4-BE49-F238E27FC236}">
                <a16:creationId xmlns:a16="http://schemas.microsoft.com/office/drawing/2014/main" id="{3C42E61D-9196-4EFF-A911-7D4E76053369}"/>
              </a:ext>
            </a:extLst>
          </p:cNvPr>
          <p:cNvSpPr>
            <a:spLocks xmlns:a="http://schemas.openxmlformats.org/drawingml/2006/main" noGrp="1"/>
          </p:cNvSpPr>
          <p:nvPr/>
        </p:nvSpPr>
        <p:spPr>
          <a:xfrm xmlns:a="http://schemas.openxmlformats.org/drawingml/2006/main">
            <a:off x="552450" y="46799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A539BD3D-F6EC-46D0-8759-3AB90FD2E5A4}"/>
              </a:ext>
            </a:extLst>
          </p:cNvPr>
          <p:cNvSpPr>
            <a:spLocks xmlns:a="http://schemas.openxmlformats.org/drawingml/2006/main" noGrp="1"/>
          </p:cNvSpPr>
          <p:nvPr/>
        </p:nvSpPr>
        <p:spPr>
          <a:xfrm xmlns:a="http://schemas.openxmlformats.org/drawingml/2006/main">
            <a:off x="1257300" y="46799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C(0.6, 0.7)：二つの条件を同時に満たす確率。</a:t>
            </a:r>
          </a:p>
        </p:txBody>
      </p:sp>
      <p:sp>
        <p:nvSpPr>
          <p:cNvPr id="14" name="">
            <a:extLst xmlns:a="http://schemas.openxmlformats.org/drawingml/2006/main">
              <a:ext uri="{FF2B5EF4-FFF2-40B4-BE49-F238E27FC236}">
                <a16:creationId xmlns:a16="http://schemas.microsoft.com/office/drawing/2014/main" id="{9F036D10-5A62-460A-8F25-4A9EC652060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3E67A0F-A507-4C4C-8F06-0595C4E6E46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次の問い：この位置の確率から、元の値の確率をどう表すか？</a:t>
            </a:r>
          </a:p>
        </p:txBody>
      </p:sp>
    </p:spTree>
    <p:extLst>
      <p:ext uri="{BB962C8B-B14F-4D97-AF65-F5344CB8AC3E}">
        <p14:creationId xmlns:p14="http://schemas.microsoft.com/office/powerpoint/2010/main" val="1855490233"/>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4478F5-9E65-4563-85B5-8C15FB64BCF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元の分布を、周辺分布とコピュラで表す</a:t>
            </a:r>
          </a:p>
        </p:txBody>
      </p:sp>
      <p:sp>
        <p:nvSpPr>
          <p:cNvPr id="2" name="">
            <a:extLst xmlns:a="http://schemas.openxmlformats.org/drawingml/2006/main">
              <a:ext uri="{FF2B5EF4-FFF2-40B4-BE49-F238E27FC236}">
                <a16:creationId xmlns:a16="http://schemas.microsoft.com/office/drawing/2014/main" id="{01D4ABF2-59C6-4474-AB78-FB228542893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B48EEB-8DFB-4251-851F-EBE64A068FE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Cは位置の確率。元の値を位置へ変えれば、同じ範囲を指定できる。</a:t>
            </a:r>
          </a:p>
        </p:txBody>
      </p:sp>
      <p:sp>
        <p:nvSpPr>
          <p:cNvPr id="4" name="">
            <a:extLst xmlns:a="http://schemas.openxmlformats.org/drawingml/2006/main">
              <a:ext uri="{FF2B5EF4-FFF2-40B4-BE49-F238E27FC236}">
                <a16:creationId xmlns:a16="http://schemas.microsoft.com/office/drawing/2014/main" id="{8E2B32F8-5DA4-4849-B569-39BFAF54A0B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048B9E79-5740-4B54-8C6A-227654C495F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74B38228-6C37-48CE-966E-1D86C86641AE}"/>
              </a:ext>
            </a:extLst>
          </p:cNvPr>
          <p:cNvSpPr>
            <a:spLocks xmlns:a="http://schemas.openxmlformats.org/drawingml/2006/main" noGrp="1"/>
          </p:cNvSpPr>
          <p:nvPr/>
        </p:nvSpPr>
        <p:spPr>
          <a:xfrm xmlns:a="http://schemas.openxmlformats.org/drawingml/2006/main">
            <a:off x="514350" y="19050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C04C0C-439A-44D8-8C31-1DBC84A1416A}"/>
              </a:ext>
            </a:extLst>
          </p:cNvPr>
          <p:cNvSpPr>
            <a:spLocks xmlns:a="http://schemas.openxmlformats.org/drawingml/2006/main" noGrp="1"/>
          </p:cNvSpPr>
          <p:nvPr/>
        </p:nvSpPr>
        <p:spPr>
          <a:xfrm xmlns:a="http://schemas.openxmlformats.org/drawingml/2006/main">
            <a:off x="704850" y="20002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2B6777"/>
                </a:solidFill>
                <a:latin typeface="Noto Sans JP"/>
                <a:ea typeface="Noto Sans JP"/>
                <a:cs typeface="Noto Sans JP"/>
              </a:defRPr>
            </a:pPr>
            <a:r>
              <a:rPr sz="3150" b="1">
                <a:solidFill>
                  <a:srgbClr val="2B6777"/>
                </a:solidFill>
                <a:latin typeface="Noto Sans JP"/>
                <a:ea typeface="Noto Sans JP"/>
                <a:cs typeface="Noto Sans JP"/>
              </a:rPr>
              <a:t>H(x, y) = C(Fₓ(x), Fᵧ(y))</a:t>
            </a:r>
          </a:p>
        </p:txBody>
      </p:sp>
      <p:graphicFrame>
        <p:nvGraphicFramePr>
          <p:cNvPr id="18" name=""/>
          <p:cNvGraphicFramePr/>
          <p:nvPr/>
        </p:nvGraphicFramePr>
        <p:xfrm>
          <a:off xmlns:a="http://schemas.openxmlformats.org/drawingml/2006/main" x="514350" y="3333750"/>
          <a:ext xmlns:a="http://schemas.openxmlformats.org/drawingml/2006/main" cx="11163300" cy="2076450"/>
        </p:xfrm>
        <a:graphic xmlns:a="http://schemas.openxmlformats.org/drawingml/2006/main">
          <a:graphicData uri="http://schemas.openxmlformats.org/drawingml/2006/table">
            <a:tbl>
              <a:tblPr/>
              <a:tblGrid>
                <a:gridCol w="2667000"/>
                <a:gridCol w="8496300"/>
              </a:tblGrid>
              <a:tr h="519113">
                <a:tc>
                  <a:txBody>
                    <a:bodyPr/>
                    <a:lstStyle/>
                    <a:p>
                      <a:pPr algn="ctr"/>
                      <a:r>
                        <a:rPr sz="1875" b="1">
                          <a:solidFill>
                            <a:srgbClr val="2E7D5B"/>
                          </a:solidFill>
                          <a:latin typeface="Noto Sans JP"/>
                          <a:ea typeface="Noto Sans JP"/>
                          <a:cs typeface="Noto Sans JP"/>
                        </a:rPr>
                        <a:t>役割</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持っている情報</a:t>
                      </a:r>
                    </a:p>
                  </a:txBody>
                  <a:tcPr marL="91440" marR="91440" marT="45720" marB="45720" anchor="ctr">
                    <a:solidFill>
                      <a:srgbClr val="E7F2EC"/>
                    </a:solidFill>
                  </a:tcPr>
                </a:tc>
              </a:tr>
              <a:tr h="519113">
                <a:tc>
                  <a:txBody>
                    <a:bodyPr/>
                    <a:lstStyle/>
                    <a:p>
                      <a:pPr algn="ctr"/>
                      <a:r>
                        <a:rPr sz="1875" b="0">
                          <a:solidFill>
                            <a:srgbClr val="222222"/>
                          </a:solidFill>
                          <a:latin typeface="Noto Sans JP"/>
                          <a:ea typeface="Noto Sans JP"/>
                          <a:cs typeface="Noto Sans JP"/>
                        </a:rPr>
                        <a:t>Fₓ・Fᵧ：周辺分布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どの身長・体重の値が、どれくらい存在するか</a:t>
                      </a:r>
                    </a:p>
                  </a:txBody>
                  <a:tcPr marL="91440" marR="91440" marT="45720" marB="45720" anchor="ctr">
                    <a:solidFill>
                      <a:srgbClr val="FFFFFF"/>
                    </a:solidFill>
                  </a:tcPr>
                </a:tc>
              </a:tr>
              <a:tr h="519113">
                <a:tc>
                  <a:txBody>
                    <a:bodyPr/>
                    <a:lstStyle/>
                    <a:p>
                      <a:pPr algn="ctr"/>
                      <a:r>
                        <a:rPr sz="1875" b="0">
                          <a:solidFill>
                            <a:srgbClr val="222222"/>
                          </a:solidFill>
                          <a:latin typeface="Noto Sans JP"/>
                          <a:ea typeface="Noto Sans JP"/>
                          <a:cs typeface="Noto Sans JP"/>
                        </a:rPr>
                        <a:t>C：コピュラ</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身長と体重の位置が、どう組み合わさるか</a:t>
                      </a:r>
                    </a:p>
                  </a:txBody>
                  <a:tcPr marL="91440" marR="91440" marT="45720" marB="45720" anchor="ctr">
                    <a:solidFill>
                      <a:srgbClr val="F6F6F6"/>
                    </a:solidFill>
                  </a:tcPr>
                </a:tc>
              </a:tr>
              <a:tr h="519113">
                <a:tc>
                  <a:txBody>
                    <a:bodyPr/>
                    <a:lstStyle/>
                    <a:p>
                      <a:pPr algn="ctr"/>
                      <a:r>
                        <a:rPr sz="1875" b="0">
                          <a:solidFill>
                            <a:srgbClr val="222222"/>
                          </a:solidFill>
                          <a:latin typeface="Noto Sans JP"/>
                          <a:ea typeface="Noto Sans JP"/>
                          <a:cs typeface="Noto Sans JP"/>
                        </a:rPr>
                        <a:t>生成するとき</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位置の組を作り、逆累積分布でcm・kgへ戻す</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DDC4CA8-92CF-4273-9F02-ECABE83D5DC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A8BAF4-E761-44B0-BA65-376B81DD1E1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次の問い：どのコピュラなら、条件付き生成を実装しやすいか？</a:t>
            </a:r>
          </a:p>
        </p:txBody>
      </p:sp>
    </p:spTree>
    <p:extLst>
      <p:ext uri="{BB962C8B-B14F-4D97-AF65-F5344CB8AC3E}">
        <p14:creationId xmlns:p14="http://schemas.microsoft.com/office/powerpoint/2010/main" val="750682581"/>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0B0668-B5AB-4762-A810-EF6E550C984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3DF6DA2A-A62D-488B-999E-D1517166063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1B8A88-0057-4AC3-ACD8-6B372D7E54D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分解の形は分かった。次は、位置どうしの関係に仮定を置く。</a:t>
            </a:r>
          </a:p>
        </p:txBody>
      </p:sp>
      <p:sp>
        <p:nvSpPr>
          <p:cNvPr id="4" name="">
            <a:extLst xmlns:a="http://schemas.openxmlformats.org/drawingml/2006/main">
              <a:ext uri="{FF2B5EF4-FFF2-40B4-BE49-F238E27FC236}">
                <a16:creationId xmlns:a16="http://schemas.microsoft.com/office/drawing/2014/main" id="{15DAD766-8BDB-42BD-B74C-715384EA7F8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0D605D8A-067D-451D-AE14-99A8E74720A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C3AD103B-6806-4FBE-A29C-1148E586C589}"/>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CDE9F26-C1AC-48D7-9C2C-427C9EEF859F}"/>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Zₓ = Φ⁻¹(U),  Zᵧ = Φ⁻¹(V)</a:t>
            </a:r>
          </a:p>
        </p:txBody>
      </p:sp>
      <p:sp>
        <p:nvSpPr>
          <p:cNvPr id="8" name="">
            <a:extLst xmlns:a="http://schemas.openxmlformats.org/drawingml/2006/main">
              <a:ext uri="{FF2B5EF4-FFF2-40B4-BE49-F238E27FC236}">
                <a16:creationId xmlns:a16="http://schemas.microsoft.com/office/drawing/2014/main" id="{7DDFE35E-4601-4D32-A96E-CA578FE8C8C4}"/>
              </a:ext>
            </a:extLst>
          </p:cNvPr>
          <p:cNvSpPr>
            <a:spLocks xmlns:a="http://schemas.openxmlformats.org/drawingml/2006/main" noGrp="1"/>
          </p:cNvSpPr>
          <p:nvPr/>
        </p:nvSpPr>
        <p:spPr>
          <a:xfrm xmlns:a="http://schemas.openxmlformats.org/drawingml/2006/main">
            <a:off x="514350" y="3352800"/>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6FA738-16F8-4163-A4B8-3F4E2D435A78}"/>
              </a:ext>
            </a:extLst>
          </p:cNvPr>
          <p:cNvSpPr>
            <a:spLocks xmlns:a="http://schemas.openxmlformats.org/drawingml/2006/main" noGrp="1"/>
          </p:cNvSpPr>
          <p:nvPr/>
        </p:nvSpPr>
        <p:spPr>
          <a:xfrm xmlns:a="http://schemas.openxmlformats.org/drawingml/2006/main">
            <a:off x="704850" y="34671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仮定すること</a:t>
            </a:r>
          </a:p>
        </p:txBody>
      </p:sp>
      <p:sp>
        <p:nvSpPr>
          <p:cNvPr id="10" name="">
            <a:extLst xmlns:a="http://schemas.openxmlformats.org/drawingml/2006/main">
              <a:ext uri="{FF2B5EF4-FFF2-40B4-BE49-F238E27FC236}">
                <a16:creationId xmlns:a16="http://schemas.microsoft.com/office/drawing/2014/main" id="{4FF56902-AE67-4D95-B4FA-E13541BD70CD}"/>
              </a:ext>
            </a:extLst>
          </p:cNvPr>
          <p:cNvSpPr>
            <a:spLocks xmlns:a="http://schemas.openxmlformats.org/drawingml/2006/main" noGrp="1"/>
          </p:cNvSpPr>
          <p:nvPr/>
        </p:nvSpPr>
        <p:spPr>
          <a:xfrm xmlns:a="http://schemas.openxmlformats.org/drawingml/2006/main">
            <a:off x="704850" y="4019550"/>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ZₓとZᵧの同時分布を、</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相関ρを持つ正規分布で表す。</a:t>
            </a:r>
          </a:p>
        </p:txBody>
      </p:sp>
      <p:sp>
        <p:nvSpPr>
          <p:cNvPr id="11" name="">
            <a:extLst xmlns:a="http://schemas.openxmlformats.org/drawingml/2006/main">
              <a:ext uri="{FF2B5EF4-FFF2-40B4-BE49-F238E27FC236}">
                <a16:creationId xmlns:a16="http://schemas.microsoft.com/office/drawing/2014/main" id="{6F327145-C8CD-4CF3-A360-9CF8E918166A}"/>
              </a:ext>
            </a:extLst>
          </p:cNvPr>
          <p:cNvSpPr>
            <a:spLocks xmlns:a="http://schemas.openxmlformats.org/drawingml/2006/main" noGrp="1"/>
          </p:cNvSpPr>
          <p:nvPr/>
        </p:nvSpPr>
        <p:spPr>
          <a:xfrm xmlns:a="http://schemas.openxmlformats.org/drawingml/2006/main">
            <a:off x="6076950" y="3352800"/>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513AEAC-A83E-40CA-9715-AD3CACB9BC52}"/>
              </a:ext>
            </a:extLst>
          </p:cNvPr>
          <p:cNvSpPr>
            <a:spLocks xmlns:a="http://schemas.openxmlformats.org/drawingml/2006/main" noGrp="1"/>
          </p:cNvSpPr>
          <p:nvPr/>
        </p:nvSpPr>
        <p:spPr>
          <a:xfrm xmlns:a="http://schemas.openxmlformats.org/drawingml/2006/main">
            <a:off x="6267450" y="34671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採用する理由と限界</a:t>
            </a:r>
          </a:p>
        </p:txBody>
      </p:sp>
      <p:sp>
        <p:nvSpPr>
          <p:cNvPr id="13" name="">
            <a:extLst xmlns:a="http://schemas.openxmlformats.org/drawingml/2006/main">
              <a:ext uri="{FF2B5EF4-FFF2-40B4-BE49-F238E27FC236}">
                <a16:creationId xmlns:a16="http://schemas.microsoft.com/office/drawing/2014/main" id="{888F89DA-8115-4205-A6BC-CA232A500DCF}"/>
              </a:ext>
            </a:extLst>
          </p:cNvPr>
          <p:cNvSpPr>
            <a:spLocks xmlns:a="http://schemas.openxmlformats.org/drawingml/2006/main" noGrp="1"/>
          </p:cNvSpPr>
          <p:nvPr/>
        </p:nvSpPr>
        <p:spPr>
          <a:xfrm xmlns:a="http://schemas.openxmlformats.org/drawingml/2006/main">
            <a:off x="6267450" y="4019550"/>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条件付き分布を計算しやすい。</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複雑な依存をすべて表す保証はない。</a:t>
            </a:r>
          </a:p>
        </p:txBody>
      </p:sp>
      <p:sp>
        <p:nvSpPr>
          <p:cNvPr id="14" name="">
            <a:extLst xmlns:a="http://schemas.openxmlformats.org/drawingml/2006/main">
              <a:ext uri="{FF2B5EF4-FFF2-40B4-BE49-F238E27FC236}">
                <a16:creationId xmlns:a16="http://schemas.microsoft.com/office/drawing/2014/main" id="{3DB0B90C-424A-472B-BC69-CC7A0FFA659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7D00382-6DF9-4B13-A90A-06018E171F4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次の問い：周辺分布と相関ρを、データからどう求めるか？</a:t>
            </a:r>
          </a:p>
        </p:txBody>
      </p:sp>
    </p:spTree>
    <p:extLst>
      <p:ext uri="{BB962C8B-B14F-4D97-AF65-F5344CB8AC3E}">
        <p14:creationId xmlns:p14="http://schemas.microsoft.com/office/powerpoint/2010/main" val="1350500132"/>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3FF0221-85D8-4C72-B6E9-0D5EF7FE5C7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学習：各列の分布と、潜在相関を覚える</a:t>
            </a:r>
          </a:p>
        </p:txBody>
      </p:sp>
      <p:sp>
        <p:nvSpPr>
          <p:cNvPr id="2" name="">
            <a:extLst xmlns:a="http://schemas.openxmlformats.org/drawingml/2006/main">
              <a:ext uri="{FF2B5EF4-FFF2-40B4-BE49-F238E27FC236}">
                <a16:creationId xmlns:a16="http://schemas.microsoft.com/office/drawing/2014/main" id="{0FC94D34-61B0-4A91-85D8-7B854777A15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D522EA-910A-4A89-BD82-86E71095A46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Gaussian copulaを使うには、変換と相関ρを先に推定する。</a:t>
            </a:r>
          </a:p>
        </p:txBody>
      </p:sp>
      <p:sp>
        <p:nvSpPr>
          <p:cNvPr id="4" name="">
            <a:extLst xmlns:a="http://schemas.openxmlformats.org/drawingml/2006/main">
              <a:ext uri="{FF2B5EF4-FFF2-40B4-BE49-F238E27FC236}">
                <a16:creationId xmlns:a16="http://schemas.microsoft.com/office/drawing/2014/main" id="{BC96746B-E70C-471D-9399-04E615F3296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DD0D66A3-7EA9-48D8-A440-39887700BAA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A5308ADD-1CA5-4C58-A4F1-0AC38215B6C8}"/>
              </a:ext>
            </a:extLst>
          </p:cNvPr>
          <p:cNvSpPr>
            <a:spLocks xmlns:a="http://schemas.openxmlformats.org/drawingml/2006/main" noGrp="1"/>
          </p:cNvSpPr>
          <p:nvPr/>
        </p:nvSpPr>
        <p:spPr>
          <a:xfrm xmlns:a="http://schemas.openxmlformats.org/drawingml/2006/main">
            <a:off x="552450" y="1952625"/>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5CC4CE74-BA97-422E-96B6-532B9C21062D}"/>
              </a:ext>
            </a:extLst>
          </p:cNvPr>
          <p:cNvSpPr>
            <a:spLocks xmlns:a="http://schemas.openxmlformats.org/drawingml/2006/main" noGrp="1"/>
          </p:cNvSpPr>
          <p:nvPr/>
        </p:nvSpPr>
        <p:spPr>
          <a:xfrm xmlns:a="http://schemas.openxmlformats.org/drawingml/2006/main">
            <a:off x="1257300" y="1952625"/>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訓練データから、身長・体重それぞれの累積分布を推定。</a:t>
            </a:r>
          </a:p>
        </p:txBody>
      </p:sp>
      <p:sp>
        <p:nvSpPr>
          <p:cNvPr id="8" name="">
            <a:extLst xmlns:a="http://schemas.openxmlformats.org/drawingml/2006/main">
              <a:ext uri="{FF2B5EF4-FFF2-40B4-BE49-F238E27FC236}">
                <a16:creationId xmlns:a16="http://schemas.microsoft.com/office/drawing/2014/main" id="{DE342182-6195-426C-A480-2C79199F1468}"/>
              </a:ext>
            </a:extLst>
          </p:cNvPr>
          <p:cNvSpPr>
            <a:spLocks xmlns:a="http://schemas.openxmlformats.org/drawingml/2006/main" noGrp="1"/>
          </p:cNvSpPr>
          <p:nvPr/>
        </p:nvSpPr>
        <p:spPr>
          <a:xfrm xmlns:a="http://schemas.openxmlformats.org/drawingml/2006/main">
            <a:off x="552450" y="2795588"/>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B5982B54-4843-4642-A9CC-0997B107B9D0}"/>
              </a:ext>
            </a:extLst>
          </p:cNvPr>
          <p:cNvSpPr>
            <a:spLocks xmlns:a="http://schemas.openxmlformats.org/drawingml/2006/main" noGrp="1"/>
          </p:cNvSpPr>
          <p:nvPr/>
        </p:nvSpPr>
        <p:spPr>
          <a:xfrm xmlns:a="http://schemas.openxmlformats.org/drawingml/2006/main">
            <a:off x="1257300" y="2795588"/>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各値を確率位置にし、Φ⁻¹で潜在正規の値へ変換。</a:t>
            </a:r>
          </a:p>
        </p:txBody>
      </p:sp>
      <p:sp>
        <p:nvSpPr>
          <p:cNvPr id="10" name="">
            <a:extLst xmlns:a="http://schemas.openxmlformats.org/drawingml/2006/main">
              <a:ext uri="{FF2B5EF4-FFF2-40B4-BE49-F238E27FC236}">
                <a16:creationId xmlns:a16="http://schemas.microsoft.com/office/drawing/2014/main" id="{D6BBC619-B5B7-4E61-A46E-D86A275C44AA}"/>
              </a:ext>
            </a:extLst>
          </p:cNvPr>
          <p:cNvSpPr>
            <a:spLocks xmlns:a="http://schemas.openxmlformats.org/drawingml/2006/main" noGrp="1"/>
          </p:cNvSpPr>
          <p:nvPr/>
        </p:nvSpPr>
        <p:spPr>
          <a:xfrm xmlns:a="http://schemas.openxmlformats.org/drawingml/2006/main">
            <a:off x="552450" y="3638550"/>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A5987589-7C9A-45A0-BE1F-30A23DE997FA}"/>
              </a:ext>
            </a:extLst>
          </p:cNvPr>
          <p:cNvSpPr>
            <a:spLocks xmlns:a="http://schemas.openxmlformats.org/drawingml/2006/main" noGrp="1"/>
          </p:cNvSpPr>
          <p:nvPr/>
        </p:nvSpPr>
        <p:spPr>
          <a:xfrm xmlns:a="http://schemas.openxmlformats.org/drawingml/2006/main">
            <a:off x="1257300" y="3638550"/>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同じ人の潜在値の組から、相関ρを推定。</a:t>
            </a:r>
          </a:p>
        </p:txBody>
      </p:sp>
      <p:sp>
        <p:nvSpPr>
          <p:cNvPr id="12" name="">
            <a:extLst xmlns:a="http://schemas.openxmlformats.org/drawingml/2006/main">
              <a:ext uri="{FF2B5EF4-FFF2-40B4-BE49-F238E27FC236}">
                <a16:creationId xmlns:a16="http://schemas.microsoft.com/office/drawing/2014/main" id="{4747B54D-FB61-4C48-AC6A-B1296802BE33}"/>
              </a:ext>
            </a:extLst>
          </p:cNvPr>
          <p:cNvSpPr>
            <a:spLocks xmlns:a="http://schemas.openxmlformats.org/drawingml/2006/main" noGrp="1"/>
          </p:cNvSpPr>
          <p:nvPr/>
        </p:nvSpPr>
        <p:spPr>
          <a:xfrm xmlns:a="http://schemas.openxmlformats.org/drawingml/2006/main">
            <a:off x="552450" y="4481513"/>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F0518C08-9ADC-466D-A8A5-E2D85A4E068A}"/>
              </a:ext>
            </a:extLst>
          </p:cNvPr>
          <p:cNvSpPr>
            <a:spLocks xmlns:a="http://schemas.openxmlformats.org/drawingml/2006/main" noGrp="1"/>
          </p:cNvSpPr>
          <p:nvPr/>
        </p:nvSpPr>
        <p:spPr>
          <a:xfrm xmlns:a="http://schemas.openxmlformats.org/drawingml/2006/main">
            <a:off x="1257300" y="4481513"/>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例として、推定した相関がρ = 0.6だったとする。</a:t>
            </a:r>
          </a:p>
        </p:txBody>
      </p:sp>
      <p:sp>
        <p:nvSpPr>
          <p:cNvPr id="14" name="">
            <a:extLst xmlns:a="http://schemas.openxmlformats.org/drawingml/2006/main">
              <a:ext uri="{FF2B5EF4-FFF2-40B4-BE49-F238E27FC236}">
                <a16:creationId xmlns:a16="http://schemas.microsoft.com/office/drawing/2014/main" id="{06EE25BC-2BDB-494F-9ADC-DE587110D95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99855F0-4239-4346-90AC-DCF07F1DAE1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次の問い：体重70 kgが分かったら、このモデルをどう使うか？</a:t>
            </a:r>
          </a:p>
        </p:txBody>
      </p:sp>
    </p:spTree>
    <p:extLst>
      <p:ext uri="{BB962C8B-B14F-4D97-AF65-F5344CB8AC3E}">
        <p14:creationId xmlns:p14="http://schemas.microsoft.com/office/powerpoint/2010/main" val="1667714110"/>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11E050-3E05-4127-A192-4F472637EE3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生成：70 kgを条件に、身長の分布を求める</a:t>
            </a:r>
          </a:p>
        </p:txBody>
      </p:sp>
      <p:sp>
        <p:nvSpPr>
          <p:cNvPr id="2" name="">
            <a:extLst xmlns:a="http://schemas.openxmlformats.org/drawingml/2006/main">
              <a:ext uri="{FF2B5EF4-FFF2-40B4-BE49-F238E27FC236}">
                <a16:creationId xmlns:a16="http://schemas.microsoft.com/office/drawing/2014/main" id="{A5DB65D8-82D8-4591-92E9-0D8529FBC8B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23D987-3BCB-4F5A-BDBF-B31C7F8E2D6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周辺分布とρを学んだので、体重が既知の一人に適用する。</a:t>
            </a:r>
          </a:p>
        </p:txBody>
      </p:sp>
      <p:sp>
        <p:nvSpPr>
          <p:cNvPr id="4" name="">
            <a:extLst xmlns:a="http://schemas.openxmlformats.org/drawingml/2006/main">
              <a:ext uri="{FF2B5EF4-FFF2-40B4-BE49-F238E27FC236}">
                <a16:creationId xmlns:a16="http://schemas.microsoft.com/office/drawing/2014/main" id="{594D58D5-804C-466E-9AB4-BC9A22D95B1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E8B317E5-8315-419A-9FD6-60F241FE6D0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sp>
        <p:nvSpPr>
          <p:cNvPr id="6" name="">
            <a:extLst xmlns:a="http://schemas.openxmlformats.org/drawingml/2006/main">
              <a:ext uri="{FF2B5EF4-FFF2-40B4-BE49-F238E27FC236}">
                <a16:creationId xmlns:a16="http://schemas.microsoft.com/office/drawing/2014/main" id="{5CE18CC6-DABA-4161-A29C-EB15031A8F7E}"/>
              </a:ext>
            </a:extLst>
          </p:cNvPr>
          <p:cNvSpPr>
            <a:spLocks xmlns:a="http://schemas.openxmlformats.org/drawingml/2006/main" noGrp="1"/>
          </p:cNvSpPr>
          <p:nvPr/>
        </p:nvSpPr>
        <p:spPr>
          <a:xfrm xmlns:a="http://schemas.openxmlformats.org/drawingml/2006/main">
            <a:off x="514350" y="18383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25B7AA-1057-4F98-B7D2-E169F290677C}"/>
              </a:ext>
            </a:extLst>
          </p:cNvPr>
          <p:cNvSpPr>
            <a:spLocks xmlns:a="http://schemas.openxmlformats.org/drawingml/2006/main" noGrp="1"/>
          </p:cNvSpPr>
          <p:nvPr/>
        </p:nvSpPr>
        <p:spPr>
          <a:xfrm xmlns:a="http://schemas.openxmlformats.org/drawingml/2006/main">
            <a:off x="704850" y="19335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70 kg から v = 0.7、zᵧ = Φ⁻¹(0.7) ≈ 0.524</a:t>
            </a:r>
          </a:p>
        </p:txBody>
      </p:sp>
      <p:sp>
        <p:nvSpPr>
          <p:cNvPr id="8" name="">
            <a:extLst xmlns:a="http://schemas.openxmlformats.org/drawingml/2006/main">
              <a:ext uri="{FF2B5EF4-FFF2-40B4-BE49-F238E27FC236}">
                <a16:creationId xmlns:a16="http://schemas.microsoft.com/office/drawing/2014/main" id="{7172E8E3-CE2A-4C17-8944-A1A31E35D319}"/>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EE52F9-11B9-4135-921B-A20799F8B016}"/>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Zₓ | Zᵧ = zᵧ ~ N(ρzᵧ, 1 − ρ²)</a:t>
            </a:r>
          </a:p>
        </p:txBody>
      </p:sp>
      <p:sp>
        <p:nvSpPr>
          <p:cNvPr id="10" name="">
            <a:extLst xmlns:a="http://schemas.openxmlformats.org/drawingml/2006/main">
              <a:ext uri="{FF2B5EF4-FFF2-40B4-BE49-F238E27FC236}">
                <a16:creationId xmlns:a16="http://schemas.microsoft.com/office/drawing/2014/main" id="{4113638D-1E08-4807-AA49-95A726D4AE47}"/>
              </a:ext>
            </a:extLst>
          </p:cNvPr>
          <p:cNvSpPr>
            <a:spLocks xmlns:a="http://schemas.openxmlformats.org/drawingml/2006/main" noGrp="1"/>
          </p:cNvSpPr>
          <p:nvPr/>
        </p:nvSpPr>
        <p:spPr>
          <a:xfrm xmlns:a="http://schemas.openxmlformats.org/drawingml/2006/main">
            <a:off x="685800" y="45148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ρ = 0.6なら、平均0.315・標準偏差0.8。</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体重に合う中心の周りに、身長のばらつきを残す。</a:t>
            </a:r>
          </a:p>
        </p:txBody>
      </p:sp>
      <p:sp>
        <p:nvSpPr>
          <p:cNvPr id="11" name="">
            <a:extLst xmlns:a="http://schemas.openxmlformats.org/drawingml/2006/main">
              <a:ext uri="{FF2B5EF4-FFF2-40B4-BE49-F238E27FC236}">
                <a16:creationId xmlns:a16="http://schemas.microsoft.com/office/drawing/2014/main" id="{A51B82DF-95D2-4897-BADC-737EE41D30D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E17CCF-FE35-4172-8C97-77EF3FF1288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次の問い：潜在空間の数値を、どう身長cmに戻すか？</a:t>
            </a:r>
          </a:p>
        </p:txBody>
      </p:sp>
    </p:spTree>
    <p:extLst>
      <p:ext uri="{BB962C8B-B14F-4D97-AF65-F5344CB8AC3E}">
        <p14:creationId xmlns:p14="http://schemas.microsoft.com/office/powerpoint/2010/main" val="1009466141"/>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F458B9-3234-4612-9420-2D06E8979C3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生成：サンプリングして、身長cmへ戻す</a:t>
            </a:r>
          </a:p>
        </p:txBody>
      </p:sp>
      <p:sp>
        <p:nvSpPr>
          <p:cNvPr id="2" name="">
            <a:extLst xmlns:a="http://schemas.openxmlformats.org/drawingml/2006/main">
              <a:ext uri="{FF2B5EF4-FFF2-40B4-BE49-F238E27FC236}">
                <a16:creationId xmlns:a16="http://schemas.microsoft.com/office/drawing/2014/main" id="{76C61CB4-A15B-436B-8DE2-ACFD41297CF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E36BD6-2CBF-47A4-889F-70AF43B1CDB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条件付き分布は N(平均0.315, 標準偏差0.8)。</a:t>
            </a:r>
          </a:p>
        </p:txBody>
      </p:sp>
      <p:sp>
        <p:nvSpPr>
          <p:cNvPr id="4" name="">
            <a:extLst xmlns:a="http://schemas.openxmlformats.org/drawingml/2006/main">
              <a:ext uri="{FF2B5EF4-FFF2-40B4-BE49-F238E27FC236}">
                <a16:creationId xmlns:a16="http://schemas.microsoft.com/office/drawing/2014/main" id="{372F6F94-9CCC-4F03-8F64-13308B9B0B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22F6276A-8C8F-42D1-98A0-665AF65FA7E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graphicFrame>
        <p:nvGraphicFramePr>
          <p:cNvPr id="15" name=""/>
          <p:cNvGraphicFramePr/>
          <p:nvPr/>
        </p:nvGraphicFramePr>
        <p:xfrm>
          <a:off xmlns:a="http://schemas.openxmlformats.org/drawingml/2006/main" x="514350" y="2047875"/>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607219">
                <a:tc>
                  <a:txBody>
                    <a:bodyPr/>
                    <a:lstStyle/>
                    <a:p>
                      <a:pPr algn="ctr"/>
                      <a:r>
                        <a:rPr sz="2025" b="1">
                          <a:solidFill>
                            <a:srgbClr val="2E7D5B"/>
                          </a:solidFill>
                          <a:latin typeface="Noto Sans JP"/>
                          <a:ea typeface="Noto Sans JP"/>
                          <a:cs typeface="Noto Sans JP"/>
                        </a:rPr>
                        <a:t>引いた乱数 ε</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身長の潜在値 zₓ</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位置 u = Φ(zₓ)</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 Fₓ⁻¹(u)</a:t>
                      </a:r>
                    </a:p>
                  </a:txBody>
                  <a:tcPr marL="91440" marR="91440" marT="45720" marB="45720" anchor="ctr">
                    <a:solidFill>
                      <a:srgbClr val="E7F2EC"/>
                    </a:solidFill>
                  </a:tcPr>
                </a:tc>
              </a:tr>
              <a:tr h="607219">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−0.485</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約0.314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約165.2 cm</a:t>
                      </a:r>
                    </a:p>
                  </a:txBody>
                  <a:tcPr marL="91440" marR="91440" marT="45720" marB="45720" anchor="ctr">
                    <a:solidFill>
                      <a:srgbClr val="FFFFFF"/>
                    </a:solidFill>
                  </a:tcPr>
                </a:tc>
              </a:tr>
              <a:tr h="607219">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0.315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約0.623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約173.2 cm</a:t>
                      </a:r>
                    </a:p>
                  </a:txBody>
                  <a:tcPr marL="91440" marR="91440" marT="45720" marB="45720" anchor="ctr">
                    <a:solidFill>
                      <a:srgbClr val="F6F6F6"/>
                    </a:solidFill>
                  </a:tcPr>
                </a:tc>
              </a:tr>
              <a:tr h="607219">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1.115</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約0.868</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約181.2 cm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71E5598-B4F6-4B0D-AD10-B39DE37A4BFD}"/>
              </a:ext>
            </a:extLst>
          </p:cNvPr>
          <p:cNvSpPr>
            <a:spLocks xmlns:a="http://schemas.openxmlformats.org/drawingml/2006/main" noGrp="1"/>
          </p:cNvSpPr>
          <p:nvPr/>
        </p:nvSpPr>
        <p:spPr>
          <a:xfrm xmlns:a="http://schemas.openxmlformats.org/drawingml/2006/main">
            <a:off x="628650" y="4591050"/>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説明用：身長の周辺分布を平均170 cm・標準偏差10 cmと仮定。</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実装では、訓練データから推定した分位点を使う。</a:t>
            </a:r>
          </a:p>
        </p:txBody>
      </p:sp>
      <p:sp>
        <p:nvSpPr>
          <p:cNvPr id="8" name="">
            <a:extLst xmlns:a="http://schemas.openxmlformats.org/drawingml/2006/main">
              <a:ext uri="{FF2B5EF4-FFF2-40B4-BE49-F238E27FC236}">
                <a16:creationId xmlns:a16="http://schemas.microsoft.com/office/drawing/2014/main" id="{B72AF79F-7C15-4D6C-8026-9D02252C60C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82E727-F566-4C85-AADE-80D1BFBC017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次の問い：この生成を、研究のデータ拡張のどこへ入れるか？</a:t>
            </a:r>
          </a:p>
        </p:txBody>
      </p:sp>
    </p:spTree>
    <p:extLst>
      <p:ext uri="{BB962C8B-B14F-4D97-AF65-F5344CB8AC3E}">
        <p14:creationId xmlns:p14="http://schemas.microsoft.com/office/powerpoint/2010/main" val="1053466818"/>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74F9A7-51C6-436F-95E5-B55173B1B5A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研究への接続：VIMEの置換器を変更する</a:t>
            </a:r>
          </a:p>
        </p:txBody>
      </p:sp>
      <p:sp>
        <p:nvSpPr>
          <p:cNvPr id="2" name="">
            <a:extLst xmlns:a="http://schemas.openxmlformats.org/drawingml/2006/main">
              <a:ext uri="{FF2B5EF4-FFF2-40B4-BE49-F238E27FC236}">
                <a16:creationId xmlns:a16="http://schemas.microsoft.com/office/drawing/2014/main" id="{9FCE7C28-372D-48E8-9EA9-4ED7E181BF2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621E67-2826-488C-8352-BF74CC467A2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70 kgを残して身長を作る操作を、一般の特徴量へ広げる。</a:t>
            </a:r>
          </a:p>
        </p:txBody>
      </p:sp>
      <p:sp>
        <p:nvSpPr>
          <p:cNvPr id="4" name="">
            <a:extLst xmlns:a="http://schemas.openxmlformats.org/drawingml/2006/main">
              <a:ext uri="{FF2B5EF4-FFF2-40B4-BE49-F238E27FC236}">
                <a16:creationId xmlns:a16="http://schemas.microsoft.com/office/drawing/2014/main" id="{263D4F4F-153E-4F67-B47F-B8D269BAB92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320C4551-E1B5-48C6-90A1-4A97EDD49F0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graphicFrame>
        <p:nvGraphicFramePr>
          <p:cNvPr id="15" name=""/>
          <p:cNvGraphicFramePr/>
          <p:nvPr/>
        </p:nvGraphicFramePr>
        <p:xfrm>
          <a:off xmlns:a="http://schemas.openxmlformats.org/drawingml/2006/main" x="514350" y="1971675"/>
          <a:ext xmlns:a="http://schemas.openxmlformats.org/drawingml/2006/main" cx="11163300" cy="2981325"/>
        </p:xfrm>
        <a:graphic xmlns:a="http://schemas.openxmlformats.org/drawingml/2006/main">
          <a:graphicData uri="http://schemas.openxmlformats.org/drawingml/2006/table">
            <a:tbl>
              <a:tblPr/>
              <a:tblGrid>
                <a:gridCol w="2667000"/>
                <a:gridCol w="8496300"/>
              </a:tblGrid>
              <a:tr h="59626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今回の処理</a:t>
                      </a:r>
                    </a:p>
                  </a:txBody>
                  <a:tcPr marL="91440" marR="91440" marT="45720" marB="45720" anchor="ctr">
                    <a:solidFill>
                      <a:srgbClr val="E7F2EC"/>
                    </a:solidFill>
                  </a:tcPr>
                </a:tc>
              </a:tr>
              <a:tr h="596265">
                <a:tc>
                  <a:txBody>
                    <a:bodyPr/>
                    <a:lstStyle/>
                    <a:p>
                      <a:pPr algn="ctr"/>
                      <a:r>
                        <a:rPr sz="1875" b="0">
                          <a:solidFill>
                            <a:srgbClr val="222222"/>
                          </a:solidFill>
                          <a:latin typeface="Noto Sans JP"/>
                          <a:ea typeface="Noto Sans JP"/>
                          <a:cs typeface="Noto Sans JP"/>
                        </a:rPr>
                        <a:t>学習前</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ラベルなし訓練データで、周辺分布と潜在相関Rを推定</a:t>
                      </a:r>
                    </a:p>
                  </a:txBody>
                  <a:tcPr marL="91440" marR="91440" marT="45720" marB="45720" anchor="ctr">
                    <a:solidFill>
                      <a:srgbClr val="FFFFFF"/>
                    </a:solidFill>
                  </a:tcPr>
                </a:tc>
              </a:tr>
              <a:tr h="596265">
                <a:tc>
                  <a:txBody>
                    <a:bodyPr/>
                    <a:lstStyle/>
                    <a:p>
                      <a:pPr algn="ctr"/>
                      <a:r>
                        <a:rPr sz="1875" b="0">
                          <a:solidFill>
                            <a:srgbClr val="222222"/>
                          </a:solidFill>
                          <a:latin typeface="Noto Sans JP"/>
                          <a:ea typeface="Noto Sans JP"/>
                          <a:cs typeface="Noto Sans JP"/>
                        </a:rPr>
                        <a:t>拡張時</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置換する列Mを選び、残す列Oの値で条件付け</a:t>
                      </a:r>
                    </a:p>
                  </a:txBody>
                  <a:tcPr marL="91440" marR="91440" marT="45720" marB="45720" anchor="ctr">
                    <a:solidFill>
                      <a:srgbClr val="F6F6F6"/>
                    </a:solidFill>
                  </a:tcPr>
                </a:tc>
              </a:tr>
              <a:tr h="596265">
                <a:tc>
                  <a:txBody>
                    <a:bodyPr/>
                    <a:lstStyle/>
                    <a:p>
                      <a:pPr algn="ctr"/>
                      <a:r>
                        <a:rPr sz="1875" b="0">
                          <a:solidFill>
                            <a:srgbClr val="222222"/>
                          </a:solidFill>
                          <a:latin typeface="Noto Sans JP"/>
                          <a:ea typeface="Noto Sans JP"/>
                          <a:cs typeface="Noto Sans JP"/>
                        </a:rPr>
                        <a:t>生成</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 xml:space="preserve">P(X</a:t>
                      </a:r>
                      <a:r>
                        <a:rPr sz="1350" b="0" baseline="-25000">
                          <a:solidFill>
                            <a:srgbClr val="222222"/>
                          </a:solidFill>
                          <a:latin typeface="Noto Sans JP"/>
                          <a:ea typeface="Noto Sans JP"/>
                          <a:cs typeface="Noto Sans JP"/>
                        </a:rPr>
                        <a:t xml:space="preserve">M</a:t>
                      </a:r>
                      <a:r>
                        <a:rPr sz="1875" b="0">
                          <a:solidFill>
                            <a:srgbClr val="222222"/>
                          </a:solidFill>
                          <a:latin typeface="Noto Sans JP"/>
                          <a:ea typeface="Noto Sans JP"/>
                          <a:cs typeface="Noto Sans JP"/>
                        </a:rPr>
                        <a:t xml:space="preserve"> | X</a:t>
                      </a:r>
                      <a:r>
                        <a:rPr sz="1350" b="0" baseline="-25000">
                          <a:solidFill>
                            <a:srgbClr val="222222"/>
                          </a:solidFill>
                          <a:latin typeface="Noto Sans JP"/>
                          <a:ea typeface="Noto Sans JP"/>
                          <a:cs typeface="Noto Sans JP"/>
                        </a:rPr>
                        <a:t xml:space="preserve">O</a:t>
                      </a:r>
                      <a:r>
                        <a:rPr sz="1875" b="0">
                          <a:solidFill>
                            <a:srgbClr val="222222"/>
                          </a:solidFill>
                          <a:latin typeface="Noto Sans JP"/>
                          <a:ea typeface="Noto Sans JP"/>
                          <a:cs typeface="Noto Sans JP"/>
                        </a:rPr>
                        <a:t xml:space="preserve">) からMの列をまとめて生成</a:t>
                      </a:r>
                    </a:p>
                  </a:txBody>
                  <a:tcPr marL="91440" marR="91440" marT="45720" marB="45720" anchor="ctr">
                    <a:solidFill>
                      <a:srgbClr val="FFFFFF"/>
                    </a:solidFill>
                  </a:tcPr>
                </a:tc>
              </a:tr>
              <a:tr h="596265">
                <a:tc>
                  <a:txBody>
                    <a:bodyPr/>
                    <a:lstStyle/>
                    <a:p>
                      <a:pPr algn="ctr"/>
                      <a:r>
                        <a:rPr sz="1875" b="0">
                          <a:solidFill>
                            <a:srgbClr val="222222"/>
                          </a:solidFill>
                          <a:latin typeface="Noto Sans JP"/>
                          <a:ea typeface="Noto Sans JP"/>
                          <a:cs typeface="Noto Sans JP"/>
                        </a:rPr>
                        <a:t>VIMEの学習</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置換後の行でマスク推定・復元・分類の一貫性を学習</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7E3F4710-63E1-4104-9F7C-5A35AB88EB62}"/>
              </a:ext>
            </a:extLst>
          </p:cNvPr>
          <p:cNvSpPr>
            <a:spLocks xmlns:a="http://schemas.openxmlformats.org/drawingml/2006/main" noGrp="1"/>
          </p:cNvSpPr>
          <p:nvPr/>
        </p:nvSpPr>
        <p:spPr>
          <a:xfrm xmlns:a="http://schemas.openxmlformats.org/drawingml/2006/main">
            <a:off x="619125" y="5076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22222"/>
                </a:solidFill>
                <a:latin typeface="Noto Sans JP"/>
                <a:ea typeface="Noto Sans JP"/>
                <a:cs typeface="Noto Sans JP"/>
              </a:defRPr>
            </a:pPr>
            <a:r>
              <a:rPr sz="1950" b="1">
                <a:solidFill>
                  <a:srgbClr val="222222"/>
                </a:solidFill>
                <a:latin typeface="Noto Sans JP"/>
                <a:ea typeface="Noto Sans JP"/>
                <a:cs typeface="Noto Sans JP"/>
              </a:rPr>
              <a:t>体重・年齢を残し、身長・腹囲をまとめて置換する場合にも使う。</a:t>
            </a:r>
          </a:p>
        </p:txBody>
      </p:sp>
      <p:sp>
        <p:nvSpPr>
          <p:cNvPr id="8" name="">
            <a:extLst xmlns:a="http://schemas.openxmlformats.org/drawingml/2006/main">
              <a:ext uri="{FF2B5EF4-FFF2-40B4-BE49-F238E27FC236}">
                <a16:creationId xmlns:a16="http://schemas.microsoft.com/office/drawing/2014/main" id="{C41799A6-D01A-4F0D-AB7C-E257932FD6D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DB977E-7BAB-4D37-9094-3660295B778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次の問い：条件付き置換で、実際に関係が残るのか？</a:t>
            </a:r>
          </a:p>
        </p:txBody>
      </p:sp>
    </p:spTree>
    <p:extLst>
      <p:ext uri="{BB962C8B-B14F-4D97-AF65-F5344CB8AC3E}">
        <p14:creationId xmlns:p14="http://schemas.microsoft.com/office/powerpoint/2010/main" val="1886695396"/>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E22893-28E2-4C76-BA9F-C050B196D83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動作確認：関係を持つデータで置換する</a:t>
            </a:r>
          </a:p>
        </p:txBody>
      </p:sp>
      <p:sp>
        <p:nvSpPr>
          <p:cNvPr id="2" name="">
            <a:extLst xmlns:a="http://schemas.openxmlformats.org/drawingml/2006/main">
              <a:ext uri="{FF2B5EF4-FFF2-40B4-BE49-F238E27FC236}">
                <a16:creationId xmlns:a16="http://schemas.microsoft.com/office/drawing/2014/main" id="{0D455729-A594-430C-9889-EE2292A3601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50DBAE-D03D-4E01-A21E-BCADCF5B51F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VIMEへ入れる前に、生成器そのものの動作を確認した。</a:t>
            </a:r>
          </a:p>
        </p:txBody>
      </p:sp>
      <p:sp>
        <p:nvSpPr>
          <p:cNvPr id="4" name="">
            <a:extLst xmlns:a="http://schemas.openxmlformats.org/drawingml/2006/main">
              <a:ext uri="{FF2B5EF4-FFF2-40B4-BE49-F238E27FC236}">
                <a16:creationId xmlns:a16="http://schemas.microsoft.com/office/drawing/2014/main" id="{EAC83B05-614B-4689-A88D-F213718381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887A87A8-CE19-4BC3-9BFC-D0D668F8EDB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48903F30-7A62-4F0A-971D-5BCA50A979E5}"/>
              </a:ext>
            </a:extLst>
          </p:cNvPr>
          <p:cNvSpPr>
            <a:spLocks xmlns:a="http://schemas.openxmlformats.org/drawingml/2006/main" noGrp="1"/>
          </p:cNvSpPr>
          <p:nvPr/>
        </p:nvSpPr>
        <p:spPr>
          <a:xfrm xmlns:a="http://schemas.openxmlformats.org/drawingml/2006/main">
            <a:off x="514350"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d7fde7f5d3ca421b"/>
          </a:graphicData>
        </a:graphic>
      </p:graphicFrame>
      <p:sp>
        <p:nvSpPr>
          <p:cNvPr id="8" name="">
            <a:extLst xmlns:a="http://schemas.openxmlformats.org/drawingml/2006/main">
              <a:ext uri="{FF2B5EF4-FFF2-40B4-BE49-F238E27FC236}">
                <a16:creationId xmlns:a16="http://schemas.microsoft.com/office/drawing/2014/main" id="{BF08D019-9D3C-4F7C-9239-FE1D183E43CB}"/>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4886AE5E-000E-4384-8C35-5A9E9221E4A0}"/>
              </a:ext>
            </a:extLst>
          </p:cNvPr>
          <p:cNvSpPr>
            <a:spLocks xmlns:a="http://schemas.openxmlformats.org/drawingml/2006/main" noGrp="1"/>
          </p:cNvSpPr>
          <p:nvPr/>
        </p:nvSpPr>
        <p:spPr>
          <a:xfrm xmlns:a="http://schemas.openxmlformats.org/drawingml/2006/main">
            <a:off x="4295775"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ba7ce0a54030434b"/>
          </a:graphicData>
        </a:graphic>
      </p:graphicFrame>
      <p:sp>
        <p:nvSpPr>
          <p:cNvPr id="11" name="">
            <a:extLst xmlns:a="http://schemas.openxmlformats.org/drawingml/2006/main">
              <a:ext uri="{FF2B5EF4-FFF2-40B4-BE49-F238E27FC236}">
                <a16:creationId xmlns:a16="http://schemas.microsoft.com/office/drawing/2014/main" id="{7BB15303-0E17-4280-8620-B11EAC1F502E}"/>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92AE930A-13DE-48C2-BDE1-284836B7A76A}"/>
              </a:ext>
            </a:extLst>
          </p:cNvPr>
          <p:cNvSpPr>
            <a:spLocks xmlns:a="http://schemas.openxmlformats.org/drawingml/2006/main" noGrp="1"/>
          </p:cNvSpPr>
          <p:nvPr/>
        </p:nvSpPr>
        <p:spPr>
          <a:xfrm xmlns:a="http://schemas.openxmlformats.org/drawingml/2006/main">
            <a:off x="8077200"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コピュラ置換</a:t>
            </a:r>
          </a:p>
        </p:txBody>
      </p:sp>
      <p:graphicFrame>
        <p:nvGraphicFramePr>
          <p:cNvPr id="29" name="Chart"/>
          <p:cNvGraphicFramePr/>
          <p:nvPr/>
        </p:nvGraphicFramePr>
        <p:xfrm>
          <a:off xmlns:a="http://schemas.openxmlformats.org/drawingml/2006/main" x="8077200"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be8d3e03c59e49bb"/>
          </a:graphicData>
        </a:graphic>
      </p:graphicFrame>
      <p:sp>
        <p:nvSpPr>
          <p:cNvPr id="14" name="">
            <a:extLst xmlns:a="http://schemas.openxmlformats.org/drawingml/2006/main">
              <a:ext uri="{FF2B5EF4-FFF2-40B4-BE49-F238E27FC236}">
                <a16:creationId xmlns:a16="http://schemas.microsoft.com/office/drawing/2014/main" id="{9F7786B7-51B8-47A2-A8E0-3491A867A456}"/>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3E7F8C9F-C628-4D8A-A6C2-97593C0BB57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FDB47D-146A-4BC4-A939-B7929E46148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次の問い：関係を保つ置換は、分類の学習にも役立つか？</a:t>
            </a:r>
          </a:p>
        </p:txBody>
      </p:sp>
    </p:spTree>
    <p:extLst>
      <p:ext uri="{BB962C8B-B14F-4D97-AF65-F5344CB8AC3E}">
        <p14:creationId xmlns:p14="http://schemas.microsoft.com/office/powerpoint/2010/main" val="565520861"/>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1ED7BD-CCA0-47C3-8D7E-60328A49112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分類比較：平均は上がったが、効果は未確定</a:t>
            </a:r>
          </a:p>
        </p:txBody>
      </p:sp>
      <p:sp>
        <p:nvSpPr>
          <p:cNvPr id="2" name="">
            <a:extLst xmlns:a="http://schemas.openxmlformats.org/drawingml/2006/main">
              <a:ext uri="{FF2B5EF4-FFF2-40B4-BE49-F238E27FC236}">
                <a16:creationId xmlns:a16="http://schemas.microsoft.com/office/drawing/2014/main" id="{17E6FFDD-AB21-4BE4-BD32-25DBF1590C1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087045-91B7-49AE-8B24-59CA38361E4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生成の関係保持と分類性能は別なので、VIME内で比較した。</a:t>
            </a:r>
          </a:p>
        </p:txBody>
      </p:sp>
      <p:sp>
        <p:nvSpPr>
          <p:cNvPr id="4" name="">
            <a:extLst xmlns:a="http://schemas.openxmlformats.org/drawingml/2006/main">
              <a:ext uri="{FF2B5EF4-FFF2-40B4-BE49-F238E27FC236}">
                <a16:creationId xmlns:a16="http://schemas.microsoft.com/office/drawing/2014/main" id="{426CA575-5BAE-494C-A870-AE083680F5E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DFCEAD47-8156-4228-AE81-7A6B3AAA505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5" name=""/>
          <p:cNvGraphicFramePr/>
          <p:nvPr/>
        </p:nvGraphicFramePr>
        <p:xfrm>
          <a:off xmlns:a="http://schemas.openxmlformats.org/drawingml/2006/main" x="514350" y="200025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682625">
                <a:tc>
                  <a:txBody>
                    <a:bodyPr/>
                    <a:lstStyle/>
                    <a:p>
                      <a:pPr algn="ctr"/>
                      <a:r>
                        <a:rPr sz="2025" b="1">
                          <a:solidFill>
                            <a:srgbClr val="2E7D5B"/>
                          </a:solidFill>
                          <a:latin typeface="Noto Sans JP"/>
                          <a:ea typeface="Noto Sans JP"/>
                          <a:cs typeface="Noto Sans JP"/>
                        </a:rPr>
                        <a:t>ROC-AUC：5回の平均 ± SD</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コピュラ置換</a:t>
                      </a:r>
                    </a:p>
                  </a:txBody>
                  <a:tcPr marL="91440" marR="91440" marT="45720" marB="45720" anchor="ctr">
                    <a:solidFill>
                      <a:srgbClr val="E7F2EC"/>
                    </a:solidFill>
                  </a:tcPr>
                </a:tc>
              </a:tr>
              <a:tr h="682625">
                <a:tc>
                  <a:txBody>
                    <a:bodyPr/>
                    <a:lstStyle/>
                    <a:p>
                      <a:pPr algn="ctr"/>
                      <a:r>
                        <a:rPr sz="2025" b="0">
                          <a:solidFill>
                            <a:srgbClr val="222222"/>
                          </a:solidFill>
                          <a:latin typeface="Noto Sans JP"/>
                          <a:ea typeface="Noto Sans JP"/>
                          <a:cs typeface="Noto Sans JP"/>
                        </a:rPr>
                        <a:t>Breast Cancer（569行・30列）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r>
              <a:tr h="682625">
                <a:tc>
                  <a:txBody>
                    <a:bodyPr/>
                    <a:lstStyle/>
                    <a:p>
                      <a:pPr algn="ctr"/>
                      <a:r>
                        <a:rPr sz="2025" b="0">
                          <a:solidFill>
                            <a:srgbClr val="222222"/>
                          </a:solidFill>
                          <a:latin typeface="Noto Sans JP"/>
                          <a:ea typeface="Noto Sans JP"/>
                          <a:cs typeface="Noto Sans JP"/>
                        </a:rPr>
                        <a:t>Wine（178行・13列）</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AE14E8F-002F-457A-A63E-05A1949B49D8}"/>
              </a:ext>
            </a:extLst>
          </p:cNvPr>
          <p:cNvSpPr>
            <a:spLocks xmlns:a="http://schemas.openxmlformats.org/drawingml/2006/main" noGrp="1"/>
          </p:cNvSpPr>
          <p:nvPr/>
        </p:nvSpPr>
        <p:spPr>
          <a:xfrm xmlns:a="http://schemas.openxmlformats.org/drawingml/2006/main">
            <a:off x="628650" y="430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共通：訓練80%・テスト20%、訓練内ラベルあり30%、同じモデル・学習予算。</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平均差の95%区間は両方0を含む。少数データ・5回の探索的比較。</a:t>
            </a:r>
          </a:p>
        </p:txBody>
      </p:sp>
      <p:sp>
        <p:nvSpPr>
          <p:cNvPr id="8" name="">
            <a:extLst xmlns:a="http://schemas.openxmlformats.org/drawingml/2006/main">
              <a:ext uri="{FF2B5EF4-FFF2-40B4-BE49-F238E27FC236}">
                <a16:creationId xmlns:a16="http://schemas.microsoft.com/office/drawing/2014/main" id="{236C80B4-6ADA-4BE8-B8AB-EFB817D1164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E033AF-AD9D-496A-B79C-30765A5D1D6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次の問い：何を追加検証すれば、研究の仮説を評価できるか？</a:t>
            </a:r>
          </a:p>
        </p:txBody>
      </p:sp>
    </p:spTree>
    <p:extLst>
      <p:ext uri="{BB962C8B-B14F-4D97-AF65-F5344CB8AC3E}">
        <p14:creationId xmlns:p14="http://schemas.microsoft.com/office/powerpoint/2010/main" val="724061173"/>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8CFC54-9F21-45FE-8E5E-E82C9CAC053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今回の進捗と、次に検証すること</a:t>
            </a:r>
          </a:p>
        </p:txBody>
      </p:sp>
      <p:sp>
        <p:nvSpPr>
          <p:cNvPr id="2" name="">
            <a:extLst xmlns:a="http://schemas.openxmlformats.org/drawingml/2006/main">
              <a:ext uri="{FF2B5EF4-FFF2-40B4-BE49-F238E27FC236}">
                <a16:creationId xmlns:a16="http://schemas.microsoft.com/office/drawing/2014/main" id="{016F890E-5B5F-4FE9-A92B-28740624ECB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2562ED-FD12-4032-9163-74B700E4E61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条件付き生成の実装と比較はできた。分類への有効性はまだ仮説。</a:t>
            </a:r>
          </a:p>
        </p:txBody>
      </p:sp>
      <p:sp>
        <p:nvSpPr>
          <p:cNvPr id="4" name="">
            <a:extLst xmlns:a="http://schemas.openxmlformats.org/drawingml/2006/main">
              <a:ext uri="{FF2B5EF4-FFF2-40B4-BE49-F238E27FC236}">
                <a16:creationId xmlns:a16="http://schemas.microsoft.com/office/drawing/2014/main" id="{9C75D8A9-C775-48E8-89EC-C5E011CFF0D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2218D1AC-0AC6-4CAB-A513-0D5CAE434A1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774D66D6-14ED-4119-8A83-288D947B20D7}"/>
              </a:ext>
            </a:extLst>
          </p:cNvPr>
          <p:cNvSpPr>
            <a:spLocks xmlns:a="http://schemas.openxmlformats.org/drawingml/2006/main" noGrp="1"/>
          </p:cNvSpPr>
          <p:nvPr/>
        </p:nvSpPr>
        <p:spPr>
          <a:xfrm xmlns:a="http://schemas.openxmlformats.org/drawingml/2006/main">
            <a:off x="552450" y="1952625"/>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44499560-1B20-466F-8D64-C5B5375AF5E5}"/>
              </a:ext>
            </a:extLst>
          </p:cNvPr>
          <p:cNvSpPr>
            <a:spLocks xmlns:a="http://schemas.openxmlformats.org/drawingml/2006/main" noGrp="1"/>
          </p:cNvSpPr>
          <p:nvPr/>
        </p:nvSpPr>
        <p:spPr>
          <a:xfrm xmlns:a="http://schemas.openxmlformats.org/drawingml/2006/main">
            <a:off x="1257300" y="1952625"/>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具体化：残した特徴を条件に、置換する特徴を同時に生成。</a:t>
            </a:r>
          </a:p>
        </p:txBody>
      </p:sp>
      <p:sp>
        <p:nvSpPr>
          <p:cNvPr id="8" name="">
            <a:extLst xmlns:a="http://schemas.openxmlformats.org/drawingml/2006/main">
              <a:ext uri="{FF2B5EF4-FFF2-40B4-BE49-F238E27FC236}">
                <a16:creationId xmlns:a16="http://schemas.microsoft.com/office/drawing/2014/main" id="{CAB0A3A1-A28B-4656-9E6D-B313AE08F28A}"/>
              </a:ext>
            </a:extLst>
          </p:cNvPr>
          <p:cNvSpPr>
            <a:spLocks xmlns:a="http://schemas.openxmlformats.org/drawingml/2006/main" noGrp="1"/>
          </p:cNvSpPr>
          <p:nvPr/>
        </p:nvSpPr>
        <p:spPr>
          <a:xfrm xmlns:a="http://schemas.openxmlformats.org/drawingml/2006/main">
            <a:off x="552450" y="2788444"/>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E76BFC24-E745-4D56-9270-D7E23C632820}"/>
              </a:ext>
            </a:extLst>
          </p:cNvPr>
          <p:cNvSpPr>
            <a:spLocks xmlns:a="http://schemas.openxmlformats.org/drawingml/2006/main" noGrp="1"/>
          </p:cNvSpPr>
          <p:nvPr/>
        </p:nvSpPr>
        <p:spPr>
          <a:xfrm xmlns:a="http://schemas.openxmlformats.org/drawingml/2006/main">
            <a:off x="1257300" y="2788444"/>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確認済み：合成例で関係保持。VIME内で置換器を比較。</a:t>
            </a:r>
          </a:p>
        </p:txBody>
      </p:sp>
      <p:sp>
        <p:nvSpPr>
          <p:cNvPr id="10" name="">
            <a:extLst xmlns:a="http://schemas.openxmlformats.org/drawingml/2006/main">
              <a:ext uri="{FF2B5EF4-FFF2-40B4-BE49-F238E27FC236}">
                <a16:creationId xmlns:a16="http://schemas.microsoft.com/office/drawing/2014/main" id="{6A610076-0A53-4124-9C69-A2251FD6ECD7}"/>
              </a:ext>
            </a:extLst>
          </p:cNvPr>
          <p:cNvSpPr>
            <a:spLocks xmlns:a="http://schemas.openxmlformats.org/drawingml/2006/main" noGrp="1"/>
          </p:cNvSpPr>
          <p:nvPr/>
        </p:nvSpPr>
        <p:spPr>
          <a:xfrm xmlns:a="http://schemas.openxmlformats.org/drawingml/2006/main">
            <a:off x="552450" y="3624263"/>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CA91EDC-5787-4B2A-8183-9953685E1A87}"/>
              </a:ext>
            </a:extLst>
          </p:cNvPr>
          <p:cNvSpPr>
            <a:spLocks xmlns:a="http://schemas.openxmlformats.org/drawingml/2006/main" noGrp="1"/>
          </p:cNvSpPr>
          <p:nvPr/>
        </p:nvSpPr>
        <p:spPr>
          <a:xfrm xmlns:a="http://schemas.openxmlformats.org/drawingml/2006/main">
            <a:off x="1257300" y="3624263"/>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課題：関係が自然でも、正解クラスを保つとは限らない。</a:t>
            </a:r>
          </a:p>
        </p:txBody>
      </p:sp>
      <p:sp>
        <p:nvSpPr>
          <p:cNvPr id="12" name="">
            <a:extLst xmlns:a="http://schemas.openxmlformats.org/drawingml/2006/main">
              <a:ext uri="{FF2B5EF4-FFF2-40B4-BE49-F238E27FC236}">
                <a16:creationId xmlns:a16="http://schemas.microsoft.com/office/drawing/2014/main" id="{A1F0D76E-ACDB-41EF-B12B-162E4A003630}"/>
              </a:ext>
            </a:extLst>
          </p:cNvPr>
          <p:cNvSpPr>
            <a:spLocks xmlns:a="http://schemas.openxmlformats.org/drawingml/2006/main" noGrp="1"/>
          </p:cNvSpPr>
          <p:nvPr/>
        </p:nvSpPr>
        <p:spPr>
          <a:xfrm xmlns:a="http://schemas.openxmlformats.org/drawingml/2006/main">
            <a:off x="552450" y="4460081"/>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71E855C1-89B5-4D5E-851D-87B9DB0427D4}"/>
              </a:ext>
            </a:extLst>
          </p:cNvPr>
          <p:cNvSpPr>
            <a:spLocks xmlns:a="http://schemas.openxmlformats.org/drawingml/2006/main" noGrp="1"/>
          </p:cNvSpPr>
          <p:nvPr/>
        </p:nvSpPr>
        <p:spPr>
          <a:xfrm xmlns:a="http://schemas.openxmlformats.org/drawingml/2006/main">
            <a:off x="1257300" y="4460081"/>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次の比較：近傍法、データ・seedの追加、生成品質と変更量の評価。</a:t>
            </a:r>
          </a:p>
        </p:txBody>
      </p:sp>
      <p:sp>
        <p:nvSpPr>
          <p:cNvPr id="14" name="">
            <a:extLst xmlns:a="http://schemas.openxmlformats.org/drawingml/2006/main">
              <a:ext uri="{FF2B5EF4-FFF2-40B4-BE49-F238E27FC236}">
                <a16:creationId xmlns:a16="http://schemas.microsoft.com/office/drawing/2014/main" id="{275D8CDC-9062-41E5-AB7E-BF5C2452122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64E71B9-B13F-4319-83C5-3A3AEEACA55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相談したい点：生成の妥当性とクラス保持を、どう評価するか？</a:t>
            </a:r>
          </a:p>
        </p:txBody>
      </p:sp>
    </p:spTree>
    <p:extLst>
      <p:ext uri="{BB962C8B-B14F-4D97-AF65-F5344CB8AC3E}">
        <p14:creationId xmlns:p14="http://schemas.microsoft.com/office/powerpoint/2010/main" val="698163582"/>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E18445-9299-4594-81BB-81D470FCF59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96F4A361-5F8D-4EF0-AE4B-C90D19D4CF2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C7F0AE-F745-43CD-BA04-165D090E7BD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647A738C-89EB-4B27-AE9F-B2E0CE564F4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4A9D582-C465-47E3-9719-336EBA2EDAD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6856B04E-EDB6-434E-8A12-828F054E0ECA}"/>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8DFA307-B64C-4D68-B460-88B7D845A753}"/>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48A604AF-8361-4081-A20E-3555B128AFB8}"/>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55B98A9-AEC2-440B-8046-36E7E15E6CC4}"/>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61F45F0F-54E8-458F-BB56-AEFD789EEC01}"/>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35B5B330-48CF-496C-8933-42151E3B41D2}"/>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51755FAA-CDC0-45C0-8714-F786B2881DA7}"/>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C0D255F-0634-430A-9AAD-499CF4822911}"/>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7FC15F45-B726-4A01-88BE-7DA8300147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287686-653A-445F-B4F5-F05FC46DDE1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183718368"/>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F4F7F6-0BA4-4FF2-AD08-7F7F541ED2E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1849F25E-38B2-4147-B7ED-12394ECC014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CEBA94-AC92-46E6-9753-083F0BDB61E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84CC19F9-991D-4CEB-AA0D-EF982F2200E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572727F-C10F-49B1-932F-A7621B216AE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sp>
        <p:nvSpPr>
          <p:cNvPr id="6" name="">
            <a:extLst xmlns:a="http://schemas.openxmlformats.org/drawingml/2006/main">
              <a:ext uri="{FF2B5EF4-FFF2-40B4-BE49-F238E27FC236}">
                <a16:creationId xmlns:a16="http://schemas.microsoft.com/office/drawing/2014/main" id="{69453148-1431-45FA-84A8-7259CA858CEB}"/>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03646F-7A1D-4EB5-BE80-BC4FBBEEBE12}"/>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C45ACDBF-A715-40D4-B04B-2D0671376C11}"/>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50615E6-B4B9-469D-B0F3-3260B7746BB3}"/>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5A213AD8-A149-4A98-BA17-59415B1247A7}"/>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CB538E9-DEBC-460F-91DC-70ADF863BD6D}"/>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0EBCDF7A-5170-4A9C-A134-05C00F26F7A4}"/>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2149881D-4DF1-409C-938A-DCD7008D9603}"/>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CFAD5440-3040-4583-B516-C5B79CD0656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D9E07D2-3A3C-410E-B76E-3A578A26C6C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110608096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41F673-3B50-43DD-A203-390FFDD58E9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251BED00-3A89-4E7D-A491-BF27BAF323E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20A54D-D11B-496A-884C-046B2506F3E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28887CDA-6976-4CC0-909D-6D45BE6FF39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A66A383-EFF6-40C0-95EE-9ACDE2B4A87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F48E9C7C-9171-4FBE-B6EE-FFE384C0F986}"/>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6E28469-8360-456C-8D79-1EB02E1C1991}"/>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D8C04F86-0CD2-4AB3-851C-3D334AD686CF}"/>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ACB3E7F2-136C-4F39-9F29-0026CACFEAA0}"/>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4044254B-EAB5-43DB-8580-225E01225720}"/>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A13C19A-3936-4054-ACB9-4D2B37A771E2}"/>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1DFD8713-9AB7-42B6-932C-D7A25509DD56}"/>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CB18DA9E-60C6-42E8-83FD-F570B61DDD74}"/>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2BA57FB0-F5DB-456D-9AFF-C8F70685A9E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4216EC-12FA-4D59-96E7-144D0E2E2AF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1079702294"/>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6096A5-1413-45B1-97B4-48591E1A04A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1AACA4BD-74CC-4A76-B82D-0BC5903ECFD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3A3303-D35C-47ED-B9BB-F9D959B94DA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CC342330-AE19-4B0E-816A-EA02887F43F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C58C9ED-81C2-4369-AE4A-8ADBDDE867B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C838BE1-3C3B-4012-AFE8-2E6E6F343EC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BBF9E4-931E-4695-8F04-CE422F022E1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370800943"/>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0CB607-FB3D-4B47-A814-4C8834B12A5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8EC5572F-4DE6-41E8-8537-51EAF8AB2CC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8BE8EB-6818-4888-8483-D98E5246A3E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6E8BA5DE-D285-434F-8AA2-804FFE3DC90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8D6396B1-D440-42A5-AEA6-831DBCB6EFF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AF12B1F-E937-4074-8458-D9B357BEAAF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9D6E38-84FF-4CD4-BFB9-1B4A5C04605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1069282515"/>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9D067B-0D12-432A-8CA8-E9BA3B8F214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27C4B510-72EA-4624-933F-74724F62232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2101BE-0635-4B15-B025-EAF8BEBF7DF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VIMEの2手法で共通の条件。原論文の実験表の再現ではない。</a:t>
            </a:r>
          </a:p>
        </p:txBody>
      </p:sp>
      <p:sp>
        <p:nvSpPr>
          <p:cNvPr id="4" name="">
            <a:extLst xmlns:a="http://schemas.openxmlformats.org/drawingml/2006/main">
              <a:ext uri="{FF2B5EF4-FFF2-40B4-BE49-F238E27FC236}">
                <a16:creationId xmlns:a16="http://schemas.microsoft.com/office/drawing/2014/main" id="{5A5E9CF3-EBFA-4DE3-AC0F-635B3E7647A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5AFD40E0-6C32-4365-8159-63FD46D1A47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6B588F2-8242-4EC0-8897-38684CE7622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091D399-8F79-4562-A4C9-BAC00B31D5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1086833874"/>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73EA51-5AF0-4DF5-9E90-2CCACCE41DB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補足：保存済み結果との一致</a:t>
            </a:r>
          </a:p>
        </p:txBody>
      </p:sp>
      <p:sp>
        <p:nvSpPr>
          <p:cNvPr id="2" name="">
            <a:extLst xmlns:a="http://schemas.openxmlformats.org/drawingml/2006/main">
              <a:ext uri="{FF2B5EF4-FFF2-40B4-BE49-F238E27FC236}">
                <a16:creationId xmlns:a16="http://schemas.microsoft.com/office/drawing/2014/main" id="{A77208E0-EE0E-4878-AAAA-2E0BE8E573F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4577F7-6A6A-46C4-BE32-1176C8228C7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C66FB679-4D94-4643-A947-C7F2F94364E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A778899C-D152-4779-877D-5554ED13664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2D9A058-E97E-4189-AA02-D70A4F1D60F3}"/>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BB853D4D-D2EA-4120-909D-DC04F44E6E6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D1EDCEB-68E7-4B48-8B80-80B6110E851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453711048"/>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6F48F8-7BEA-4CCA-B9F6-FE696CF0B76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AA5D4D08-5AB4-4FE6-A163-74204FA490C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92C963-2C89-46BF-AC87-F17B0C810D8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4801B4CF-0F82-4218-9098-E2A2AD7EB51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9CE02D7B-0593-47DE-9F70-CF4445FD6A9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78EDA9CC-7E21-4DBA-BA3B-292DD9AACB5C}"/>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536F3B-0CD7-4686-9A21-41C289DF2F7C}"/>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89F87E79-006B-49DE-90F5-6F4505110351}"/>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DAA268BE-75D0-461D-B4A7-157A2E1FB970}"/>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94284F-AE99-4209-89CC-543E8B499E17}"/>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83CDFEAD-6C9B-4556-BB78-5A469B57E25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F0C1B2-A0CB-471C-B2FB-33AF02EEBBD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1921722193"/>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6D5424-6640-4E4B-AB96-377B7959690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300A1EC0-019A-4E0D-84F0-421DD150D2E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6662F4-1F1C-4302-85D1-793332B2441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508C1EBC-D6ED-47FE-9CF0-1258BDF5663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9F5E7C90-A4A7-4C89-AB64-A442CA1B942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6781C4F5-BF17-4513-BDB9-64CBDE0DD5B8}"/>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772D00-FAC3-4225-85D8-E2F5757F9AB3}"/>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D3B6CD26-E653-47C2-A9EF-1AB4C40CF219}"/>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8F1CB6-BFB0-4940-A3DA-3D80FB402066}"/>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717CBDCD-A68C-4B77-8959-C064445B1922}"/>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AB1818BD-E0C7-416C-ACC6-DEB901A1985E}"/>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206E2D-6A64-4803-B99C-92766F6FA2D9}"/>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5C671E53-EA86-46F0-92F0-15DA3A3AF81F}"/>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73A0B4D8-BE15-4040-B2C4-271B9C2EABF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484846-469F-4466-AA49-3F604719745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312622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02D8699-E645-413A-AB29-5F7FA6A8005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9587D7B2-5D6F-45B0-B706-429029774AC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7A2178-F903-4920-AF36-4A5B83334F2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737F0237-41FC-4F48-B6C1-0BF25830A51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CC4BA9E8-B1B3-449A-9763-8D43F61C472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6C5E2F4A-EDD1-4B76-9AE5-A9B09F10AD5E}"/>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E40138-B8AA-422C-9F6E-D8EB8022D5ED}"/>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AFC3921E-AB4F-4DF2-AAC2-E6FF7D16B3D3}"/>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3117690-0B05-4820-889E-C76E18A52DB5}"/>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65AD7E1F-0D41-4FF3-AE0B-A83B78183373}"/>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98DD90-37F2-456E-A9B2-3956312F12F0}"/>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88F892BA-1E37-48AC-B734-2D0C2512EFA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E07928-E69E-40EA-935F-B27CA418C8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1227374966"/>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1B197F-CCE1-46D8-9B4D-F820D2C1AE4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16065B0A-AC19-4440-B09C-F5EE0805552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204B08-EA51-4DA2-878A-F597CCAA71A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9A4F0ECD-CA12-4903-89E4-2A37760857C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46533B5E-AE10-4879-BFC7-1BC005DB2F0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1BCA718F-9EAB-498D-8D35-4C829C0070EC}"/>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629539-70F7-4C23-B849-7650B2EE84DA}"/>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 xml:space="preserve">C</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(u₁, …, 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 = Φ</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(Φ⁻¹(u₁), …, Φ⁻¹(u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4DDEF213-E812-431F-B6E7-036FEA46C0FE}"/>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4905A2A3-BE15-4425-822E-FF9BDE15A019}"/>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094BFD86-DA11-42E4-864D-762B6CEF13E2}"/>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A5EF6D54-41EC-4FA3-A734-837AD73A276E}"/>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多変量正規モデルで P(Z₁ ≤ z₁,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を求める。</a:t>
            </a:r>
          </a:p>
        </p:txBody>
      </p:sp>
      <p:sp>
        <p:nvSpPr>
          <p:cNvPr id="12" name="">
            <a:extLst xmlns:a="http://schemas.openxmlformats.org/drawingml/2006/main">
              <a:ext uri="{FF2B5EF4-FFF2-40B4-BE49-F238E27FC236}">
                <a16:creationId xmlns:a16="http://schemas.microsoft.com/office/drawing/2014/main" id="{301589E2-5F13-4A14-900A-F334EFC30EF3}"/>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13D5341F-54CD-44CA-8348-CD0DA31FFCCC}"/>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CE95D61A-4D2B-4184-987C-D3EDE2E5AB9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1A8526-68E1-47BE-A763-FDA3164A142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1626803027"/>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84E2C71-999D-4C10-B406-ABEC43D612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3F7426DE-3F78-4C01-B3A4-0C25250A004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BF9980-2B9F-48A3-85AE-F95CBDFFD47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766ECFB8-1DC6-4D2C-ACBA-EAAA639FB33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BD472E55-71B4-42BD-A59F-0B28BE059CB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B690E25C-82B7-44AD-96AA-95BFE5104161}"/>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1F64D8-F251-4B47-944F-51BD128BBB88}"/>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 xml:space="preserve">Z</a:t>
            </a:r>
            <a:r>
              <a:rPr sz="2052" b="1" baseline="-25000">
                <a:solidFill>
                  <a:srgbClr val="2B6777"/>
                </a:solidFill>
                <a:latin typeface="Noto Sans JP"/>
                <a:ea typeface="Noto Sans JP"/>
                <a:cs typeface="Noto Sans JP"/>
              </a:rPr>
              <a:t xml:space="preserve">M</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N(μ</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 Σ</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04983AEB-FF81-41BB-A609-E6C336693CF0}"/>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63B51E-6D6A-4F48-9EDE-75D61B1F2E16}"/>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 xml:space="preserve">μ</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 R</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R</a:t>
            </a:r>
            <a:r>
              <a:rPr sz="2106" b="1" baseline="-25000">
                <a:solidFill>
                  <a:srgbClr val="2B6777"/>
                </a:solidFill>
                <a:latin typeface="Noto Sans JP"/>
                <a:ea typeface="Noto Sans JP"/>
                <a:cs typeface="Noto Sans JP"/>
              </a:rPr>
              <a:t xml:space="preserve">OO</a:t>
            </a:r>
            <a:r>
              <a:rPr sz="2925" b="1">
                <a:solidFill>
                  <a:srgbClr val="2B6777"/>
                </a:solidFill>
                <a:latin typeface="Noto Sans JP"/>
                <a:ea typeface="Noto Sans JP"/>
                <a:cs typeface="Noto Sans JP"/>
              </a:rPr>
              <a:t xml:space="preserve">⁻¹ z</a:t>
            </a:r>
            <a:r>
              <a:rPr sz="2106" b="1" baseline="-25000">
                <a:solidFill>
                  <a:srgbClr val="2B6777"/>
                </a:solidFill>
                <a:latin typeface="Noto Sans JP"/>
                <a:ea typeface="Noto Sans JP"/>
                <a:cs typeface="Noto Sans JP"/>
              </a:rPr>
              <a:t xml:space="preserve">O</a:t>
            </a:r>
          </a:p>
        </p:txBody>
      </p:sp>
      <p:sp>
        <p:nvSpPr>
          <p:cNvPr id="10" name="">
            <a:extLst xmlns:a="http://schemas.openxmlformats.org/drawingml/2006/main">
              <a:ext uri="{FF2B5EF4-FFF2-40B4-BE49-F238E27FC236}">
                <a16:creationId xmlns:a16="http://schemas.microsoft.com/office/drawing/2014/main" id="{60F2B12A-17B8-4AF9-A6F2-5433646FD2DA}"/>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B802344-1AA2-4E45-9E86-F5835EEB03B4}"/>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Σ</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MM</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R</a:t>
            </a:r>
            <a:r>
              <a:rPr sz="1944" b="1" baseline="-25000">
                <a:solidFill>
                  <a:srgbClr val="2B6777"/>
                </a:solidFill>
                <a:latin typeface="Noto Sans JP"/>
                <a:ea typeface="Noto Sans JP"/>
                <a:cs typeface="Noto Sans JP"/>
              </a:rPr>
              <a:t xml:space="preserve">OO</a:t>
            </a:r>
            <a:r>
              <a:rPr sz="2700" b="1">
                <a:solidFill>
                  <a:srgbClr val="2B6777"/>
                </a:solidFill>
                <a:latin typeface="Noto Sans JP"/>
                <a:ea typeface="Noto Sans JP"/>
                <a:cs typeface="Noto Sans JP"/>
              </a:rPr>
              <a:t xml:space="preserve">⁻¹ R</a:t>
            </a:r>
            <a:r>
              <a:rPr sz="1944" b="1" baseline="-25000">
                <a:solidFill>
                  <a:srgbClr val="2B6777"/>
                </a:solidFill>
                <a:latin typeface="Noto Sans JP"/>
                <a:ea typeface="Noto Sans JP"/>
                <a:cs typeface="Noto Sans JP"/>
              </a:rPr>
              <a:t xml:space="preserve">OM</a:t>
            </a:r>
          </a:p>
        </p:txBody>
      </p:sp>
      <p:sp>
        <p:nvSpPr>
          <p:cNvPr id="12" name="">
            <a:extLst xmlns:a="http://schemas.openxmlformats.org/drawingml/2006/main">
              <a:ext uri="{FF2B5EF4-FFF2-40B4-BE49-F238E27FC236}">
                <a16:creationId xmlns:a16="http://schemas.microsoft.com/office/drawing/2014/main" id="{91E24911-C0A2-41B0-BD9E-969F48348B7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1F24A0-F638-444F-B8B6-F19ECB9D377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2034514592"/>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D6BFEE-1607-49B7-A6AE-5DA71107C52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D5F50734-CBF5-44F9-AF7C-CB6F6D5DE6E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AD2C82-C9EF-4473-B434-A06A6CFECAF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CDD35EDE-20F7-414D-AC3C-4DE0E6DA23F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7159118F-317B-44E8-BD8C-5AAC1BF6982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92F2F98-95B0-4687-8D0F-1B81A50D7E7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6BB3C9-8D84-4777-A18C-F057D99EA09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1961523"/>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427C84A-57B5-4B31-BAB0-04E3F3897BB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C4F2BB04-CCE5-4567-B097-7D7E376FE98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55FD5C-25F2-43C8-9B87-B2326467A3D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B80D7315-173D-40E7-AD76-575CA57E06D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E17EB521-7A90-4673-B269-48DA226160F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sp>
        <p:nvSpPr>
          <p:cNvPr id="6" name="">
            <a:extLst xmlns:a="http://schemas.openxmlformats.org/drawingml/2006/main">
              <a:ext uri="{FF2B5EF4-FFF2-40B4-BE49-F238E27FC236}">
                <a16:creationId xmlns:a16="http://schemas.microsoft.com/office/drawing/2014/main" id="{C4764826-90AB-4F4B-81A3-B00418E458F8}"/>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4BD8274-0F5D-4848-B185-8E350297C9B9}"/>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 xml:space="preserve">C</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(u) = t</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⁻¹(u₁), …, 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a:t>
            </a:r>
            <a:r>
              <a:rPr sz="1998" b="1" baseline="-25000">
                <a:solidFill>
                  <a:srgbClr val="2B6777"/>
                </a:solidFill>
                <a:latin typeface="Noto Sans JP"/>
                <a:ea typeface="Noto Sans JP"/>
                <a:cs typeface="Noto Sans JP"/>
              </a:rPr>
              <a:t xml:space="preserve">d</a:t>
            </a:r>
            <a:r>
              <a:rPr sz="277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7D4F9174-F965-4A0C-AD4E-A4E8D6489ABC}"/>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AFEA02-CAA2-4FD7-887D-9836BB42A668}"/>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BADA1689-6475-4C57-8013-6ED516E53312}"/>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65D04B13-3F37-4CAF-8E2B-5EFE79B3AE59}"/>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068DFD-665D-460C-B457-EAC7D1978158}"/>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C2CC4942-F149-4548-A1BB-4D49C870610C}"/>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7D27BC10-E12D-42AE-A910-604AFFB8682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1350708-91D1-43C6-A963-29A3352105B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181494097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FB5FA9-32D6-41BF-AA82-51DE3ADC5E0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EB9DFF26-F11F-42FD-A07B-D32F1A83B79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74EC3D-DE7E-4D8C-A540-625BE14C744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C0D0BC9E-FD04-4811-B68A-607561902A9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35B602AF-6868-416A-85D5-95B2A1C6548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95F7E692-F682-4B64-A004-698B6A7A1CBF}"/>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FB6B1C9-E706-486B-859D-3EF735C49EC9}"/>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C_θ(u,v) = (u⁻ᶿ + v⁻ᶿ − 1)</a:t>
            </a:r>
            <a:r>
              <a:rPr sz="1944" b="1" baseline="30000">
                <a:solidFill>
                  <a:srgbClr val="2B6777"/>
                </a:solidFill>
                <a:latin typeface="Noto Sans JP"/>
                <a:ea typeface="Noto Sans JP"/>
                <a:cs typeface="Noto Sans JP"/>
              </a:rPr>
              <a:t xml:space="preserve">−1/θ</a:t>
            </a:r>
            <a:r>
              <a:rPr sz="2700" b="1">
                <a:solidFill>
                  <a:srgbClr val="2B6777"/>
                </a:solidFill>
                <a:latin typeface="Noto Sans JP"/>
                <a:ea typeface="Noto Sans JP"/>
                <a:cs typeface="Noto Sans JP"/>
              </a:rPr>
              <a:t xml:space="preserve"> ,  θ &gt; 0</a:t>
            </a:r>
          </a:p>
        </p:txBody>
      </p:sp>
      <p:sp>
        <p:nvSpPr>
          <p:cNvPr id="8" name="">
            <a:extLst xmlns:a="http://schemas.openxmlformats.org/drawingml/2006/main">
              <a:ext uri="{FF2B5EF4-FFF2-40B4-BE49-F238E27FC236}">
                <a16:creationId xmlns:a16="http://schemas.microsoft.com/office/drawing/2014/main" id="{DC889EEA-0F38-4A6D-AF07-9A758E6864ED}"/>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E0693563-747A-4FEB-9155-22C021C0AF0B}"/>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430DF063-A463-4940-ADB3-A42F012C7959}"/>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34696884-0C27-4C09-B6A7-503403A45ED1}"/>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下側裾：λL = 2</a:t>
            </a:r>
            <a:r>
              <a:rPr sz="1458" b="0" baseline="30000">
                <a:solidFill>
                  <a:srgbClr val="222222"/>
                </a:solidFill>
                <a:latin typeface="Noto Sans JP"/>
                <a:ea typeface="Noto Sans JP"/>
                <a:cs typeface="Noto Sans JP"/>
              </a:rPr>
              <a:t xml:space="preserve">−1/θ</a:t>
            </a:r>
            <a:r>
              <a:rPr sz="2025" b="0">
                <a:solidFill>
                  <a:srgbClr val="222222"/>
                </a:solidFill>
                <a:latin typeface="Noto Sans JP"/>
                <a:ea typeface="Noto Sans JP"/>
                <a:cs typeface="Noto Sans JP"/>
              </a:rPr>
              <a:t xml:space="preserve">、上側裾：λU = 0。</a:t>
            </a:r>
          </a:p>
        </p:txBody>
      </p:sp>
      <p:sp>
        <p:nvSpPr>
          <p:cNvPr id="12" name="">
            <a:extLst xmlns:a="http://schemas.openxmlformats.org/drawingml/2006/main">
              <a:ext uri="{FF2B5EF4-FFF2-40B4-BE49-F238E27FC236}">
                <a16:creationId xmlns:a16="http://schemas.microsoft.com/office/drawing/2014/main" id="{C5D78195-5DE9-4185-8808-B9519D02B8A2}"/>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960EAC4-C3F5-4F53-900E-22B8DF5919B3}"/>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3C8F3AF1-2632-4965-A43C-F703D3C515A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98DC7E0-C14D-495F-B30D-94294F0737A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1817992191"/>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B8AA44-F338-4C69-9089-454880381AE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743DF9A1-9866-40A3-8FDE-4103D88801C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3886C1-151F-493C-9730-F7544D3C6EB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F6E0F3CD-5C55-4659-9A92-B078F2D5133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C75C52E0-0FFD-4D33-89C0-46F65BF68F6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15DEA1D2-0CD2-4B5F-A9EB-778C0D9EB302}"/>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9298373-43AD-487C-AFB2-D3E9177DF945}"/>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 xml:space="preserve">C_θ(u,v) = exp{−[(−ln u)ᶿ + (−ln v)ᶿ]</a:t>
            </a:r>
            <a:r>
              <a:rPr sz="1836" b="1" baseline="30000">
                <a:solidFill>
                  <a:srgbClr val="2B6777"/>
                </a:solidFill>
                <a:latin typeface="Noto Sans JP"/>
                <a:ea typeface="Noto Sans JP"/>
                <a:cs typeface="Noto Sans JP"/>
              </a:rPr>
              <a:t xml:space="preserve">1/θ</a:t>
            </a:r>
            <a:r>
              <a:rPr sz="2550" b="1">
                <a:solidFill>
                  <a:srgbClr val="2B6777"/>
                </a:solidFill>
                <a:latin typeface="Noto Sans JP"/>
                <a:ea typeface="Noto Sans JP"/>
                <a:cs typeface="Noto Sans JP"/>
              </a:rPr>
              <a:t xml:space="preserve">}</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 xml:space="preserve">λU = 2 − 2</a:t>
                      </a:r>
                      <a:r>
                        <a:rPr sz="1350" b="0" baseline="30000">
                          <a:solidFill>
                            <a:srgbClr val="222222"/>
                          </a:solidFill>
                          <a:latin typeface="Noto Sans JP"/>
                          <a:ea typeface="Noto Sans JP"/>
                          <a:cs typeface="Noto Sans JP"/>
                        </a:rPr>
                        <a:t xml:space="preserve">1/θ</a:t>
                      </a:r>
                      <a:r>
                        <a:rPr sz="1875" b="0">
                          <a:solidFill>
                            <a:srgbClr val="222222"/>
                          </a:solidFill>
                          <a:latin typeface="Noto Sans JP"/>
                          <a:ea typeface="Noto Sans JP"/>
                          <a:cs typeface="Noto Sans JP"/>
                        </a:rPr>
                        <a:t xml:space="preserve">、λL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3916D8C-1320-4499-8DC4-71D1D07D565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F26295-2DE5-4A3F-BA69-A919DA7B3A4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2121053435"/>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CB6030-B4BA-4DAD-BB61-0782415E13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2E5CF41F-F9A0-4684-9F1A-3933073F8A4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083E36-B554-4E62-822E-57FF78CDF83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3DF82115-8C84-4EAC-8D47-94BA0FDFD4C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6D5F64E-A783-439B-9519-1863A1EC349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sp>
        <p:nvSpPr>
          <p:cNvPr id="6" name="">
            <a:extLst xmlns:a="http://schemas.openxmlformats.org/drawingml/2006/main">
              <a:ext uri="{FF2B5EF4-FFF2-40B4-BE49-F238E27FC236}">
                <a16:creationId xmlns:a16="http://schemas.microsoft.com/office/drawing/2014/main" id="{846AF265-59E7-4C84-8C1D-F578C4B3A936}"/>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905710-84F5-473E-8F75-0BC9B3DA887D}"/>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 xml:space="preserve">C_θ(u,v) = −(1/θ) ln[1 + (e</a:t>
            </a:r>
            <a:r>
              <a:rPr sz="1512" b="1" baseline="30000">
                <a:solidFill>
                  <a:srgbClr val="2B6777"/>
                </a:solidFill>
                <a:latin typeface="Noto Sans JP"/>
                <a:ea typeface="Noto Sans JP"/>
                <a:cs typeface="Noto Sans JP"/>
              </a:rPr>
              <a:t xml:space="preserve">−θu</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−θv</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a:t>
            </a:r>
            <a:r>
              <a:rPr sz="2100" b="1">
                <a:solidFill>
                  <a:srgbClr val="2B6777"/>
                </a:solidFill>
                <a:latin typeface="Noto Sans JP"/>
                <a:ea typeface="Noto Sans JP"/>
                <a:cs typeface="Noto Sans JP"/>
              </a:rPr>
              <a:t xml:space="preserve"> − 1)]</a:t>
            </a:r>
          </a:p>
        </p:txBody>
      </p:sp>
      <p:sp>
        <p:nvSpPr>
          <p:cNvPr id="8" name="">
            <a:extLst xmlns:a="http://schemas.openxmlformats.org/drawingml/2006/main">
              <a:ext uri="{FF2B5EF4-FFF2-40B4-BE49-F238E27FC236}">
                <a16:creationId xmlns:a16="http://schemas.microsoft.com/office/drawing/2014/main" id="{2E704104-8B8B-49D9-A363-BEA4E317F662}"/>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8D862A8C-D548-4AC4-BCE7-47942C027A54}"/>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FE53C4C0-655D-4E12-A88A-31322D5A312E}"/>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6C10980-6DDF-4276-83AD-E5486CC7C9C0}"/>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B83AFAC6-3E17-46B2-9EEB-13CE0FF86E40}"/>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DAC81CB-04B6-42D9-A519-FE3559C3C0BC}"/>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45E36A79-412F-4F77-A6A9-E778AD3E94E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B47DA8F-528D-465D-932F-E0579CCDC1E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91502317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AF1DA1-56D3-49BD-B221-5D14719FF15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5C763822-6AB1-47BC-9976-EA7A117A19F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87DC1C-2C37-4379-8953-06E8E7EB1EA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単一のモデルでは足りない関係を、別の構成で扱う。</a:t>
            </a:r>
          </a:p>
        </p:txBody>
      </p:sp>
      <p:sp>
        <p:nvSpPr>
          <p:cNvPr id="4" name="">
            <a:extLst xmlns:a="http://schemas.openxmlformats.org/drawingml/2006/main">
              <a:ext uri="{FF2B5EF4-FFF2-40B4-BE49-F238E27FC236}">
                <a16:creationId xmlns:a16="http://schemas.microsoft.com/office/drawing/2014/main" id="{9B339298-B0BB-4BCD-AD66-2F4B6645B13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9A4F27C1-E834-4AC2-976A-884EA1963CA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ペアごとに別のコピュラを組合せる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構造・モデル選択と条件付き計算が複雑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E3CD85-E99C-411C-9FD3-5347B1FFBA1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97D63D-4E77-4813-8F4E-3D821F87379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747315912"/>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22FA33-AE95-4182-A1A6-8E45256D31C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31AC30D3-2E15-4618-8370-CA9669F09BD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5A31ED-7B69-464F-8BB5-4AA8CE0D855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D3232CF0-6CAF-4D7B-A9B2-7904C17DC8B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9FF4C9F6-75C9-4C40-8DCD-47359185F6A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84D14ED-DAC0-4480-A369-DE597EFE2548}"/>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E0121772-1B60-4978-90C2-6B29DFC35FD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BC60CD-F3A6-4A00-83D8-9C8CEDC79B4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1780842463"/>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707110-0838-4933-B310-91A97EAA566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1AC1BA03-3B56-4045-8002-4AE6DDF44DC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FC5453-E043-48B0-AE1D-D70ED8E9AAB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58022DEA-59B6-446A-B6A4-62B83BF8440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741CDD3F-F64D-4E9A-B948-03B63BE5B20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278015FB-3D88-470B-8F6E-4B3D9CA93039}"/>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196E8A77-AE22-40CB-867A-61C56132B5D9}"/>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5B55502A-F084-4E8A-907E-D499684CAD33}"/>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5C8C65A-D9AC-4F96-84E0-30BC7D69790A}"/>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4E38C764-580F-4423-8AF1-BF3FC0039A8F}"/>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63EB76C9-DA6D-4A16-8D85-C14F2DBEF283}"/>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DBC1C5DD-01B5-4EA9-8F19-472C4BDEF56B}"/>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7D17F0E5-88F6-4ECB-AEE0-29A2B2EBB3B7}"/>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6F9DABFE-5B9A-4B27-9228-DAAEB013854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B638050-B800-491C-9A73-44DFF665DC4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438020793"/>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B7BC0C6-B851-4E14-9CE6-702437F2088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C5326CCD-FEB0-42A4-870A-5DB841EF7F1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52410D-AF8F-408F-A45E-718A0A59D78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31FFDBC9-08BE-4F5A-9DB9-9E9DA2C22A3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6748048E-70C4-4DE9-B84C-2229CC492F7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FEB026B2-B173-4D0F-BECC-68D0783793C0}"/>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E676CDE-EAE4-4D28-A449-7CDFDFC89704}"/>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F2AD7410-7FBF-46A4-8B61-D6430CB10043}"/>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115B712-A204-4B6D-AC22-2A1A6AEBFD6A}"/>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2BADD971-3DF3-4CE9-B2CD-B172665FB83D}"/>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717F25CB-BB63-4CA7-B83C-D57E6505B90F}"/>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74923831-E46A-4148-8B43-C271A4042F3D}"/>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7667F4FA-5BA4-4A3E-A2C8-78FC217E83AE}"/>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18B67981-8C49-47CC-9186-627CF3018BD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21B4B38-6B21-42AF-971F-2D36D6ECE17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984025492"/>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066DF8-B02E-4BDB-ABEE-B5C50889694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A7BA27D2-79E9-4FA1-BC0B-067005F007C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5F7DDD-F6F4-403F-B2A4-E498F43A8FB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2B87D7BE-316C-4D3B-9513-DA206240A3D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574656D5-D788-4E8D-ABEA-BC65E334AA7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2D2B0FC4-A391-4BF5-8E7F-960193B22AF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E1E07B8-ABC6-442A-8B1A-34D54141B39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376405357"/>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BBF55A-2911-46C3-A4DA-0EBD9C0AA26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A3814470-C2B0-44F1-89D4-F8CE95C5544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D4E2AD-F205-41E5-A045-B09F6EB5914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3BCFE682-6575-4C76-9034-16181C31A81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51BB1524-C28B-4703-9208-09A39FA3E5A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54540D7-043C-4F67-A6AD-F4E1B777BB3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6118527-B627-4120-879E-21C03A3AA6B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1931608510"/>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4FCBDB-EF9B-43D9-BD4A-C6F3A21CFE2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DA6A92CF-A964-4D14-9D7D-D89CDFBFDDA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DC06DEF-AC81-46A6-9F1D-E5395FE889D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C0572B1C-4D43-4BBE-BAC6-DF91B177B8E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F4D7D380-71D8-4C33-80BB-85169DA56EB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BD86369D-ED34-4874-8B7A-44BB2C9992D8}"/>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42091E23-63E6-44C2-99BB-FA863AACC77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D5E4C66-6A8F-44FB-AB55-92E2E80FA13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1389459822"/>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C9B1EF-9559-4A28-A751-0D4ED2B9DE5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0C75CD4A-477D-4548-B82D-14551B07E3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5D701E-08AE-493B-8D75-0A17CAE05FB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A4CBD362-C5B2-491B-A736-F4645C60908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40BC24C5-6512-4B9F-B6D8-41192404013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E97FBD6-2C0A-4349-B474-E9B8C74BDBD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B218B8-282C-489C-8A3C-E1110370DC3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76340298"/>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BD3167-173F-4343-A184-F3EACE3634E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C045BF8D-0C8E-478F-8B62-105746F2740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BE1141-0803-46CA-92DA-B512865247A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4AFAD0F3-9156-4F2A-814E-F95877E6356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FD97427F-F77D-4404-B3BA-87B58571185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043A3648-13FD-467C-B2B1-B8A6E28D3513}"/>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CAC828D-B29B-4552-AC11-C6FE28B46395}"/>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39CBD406-A4DC-469E-813C-C904C3DB127E}"/>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3449E1-A792-4A03-8583-56628B2B30E1}"/>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3BA807C0-98C1-4E3A-9879-FA0DEBCDDC39}"/>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F7FFD800-D1ED-450B-917D-DFA69C5FCF3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48B8CF-10D0-45CC-814C-21012FE71C3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1805579386"/>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FF1061-5D34-4D43-A14A-31C8006F0A4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299146C4-2457-4782-B974-BEC814F2D27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DF8C78-68AB-4CC8-9F1C-584D5301043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5062296C-606D-44B7-8DA4-51AE8E7E222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90A73C3C-E97A-499F-BCA6-B4F65A91FB5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0B7B0999-E783-4975-B2BA-4814F3CD0E4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0D8A19-CCCB-447C-80B0-DD858065691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679978894"/>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B42906-B4A6-40DE-8D4D-4379D0A9061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7B0CA260-9278-4B7B-B88F-7ECC92CB1C5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1B8A75-A43C-442A-9BDB-AC15C913A7E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656DA1D5-9267-4D5A-8B1A-0E9344FF011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29DC823D-984B-4A70-9DD8-143D4CE0EBD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2919FEA9-47BD-4482-AE23-8B29F445DCBA}"/>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68E27E-131A-4406-8D51-183906790BBF}"/>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CF968EE0-FD85-437E-94A3-6F7A78B0675C}"/>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4CCF4D08-C2B3-4F6E-AB10-C6F36EA9312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9E48EF-1D39-4B84-B207-5969DF23D7F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1783912529"/>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9AA900-1F6B-4501-8C3A-1E797F1361A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BC3680F3-CE31-4BE3-940F-A9F2134DAD7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F206FE-42BF-4962-9DEF-3AD8852F137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319E32FE-61EF-460A-AF19-BA36F3A4F18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F2917EA1-2B24-46CF-A3F4-E3852DF988D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sp>
        <p:nvSpPr>
          <p:cNvPr id="6" name="">
            <a:extLst xmlns:a="http://schemas.openxmlformats.org/drawingml/2006/main">
              <a:ext uri="{FF2B5EF4-FFF2-40B4-BE49-F238E27FC236}">
                <a16:creationId xmlns:a16="http://schemas.microsoft.com/office/drawing/2014/main" id="{37B22FED-617A-48D4-B9FB-21B0A9FD2BB6}"/>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種類：Demarta &amp; McNeil (2005) ／ Czado &amp; Nagler (2022)</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応用：Zhao &amp; Udell (KDD 2020) ／ Aas et al. (2021)</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学習：Yoon et al., VIME (NeurIPS 2020) ／ Cui et al. (2024)</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実装：research-bench/src/tabular_research/corruption.py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比較：research-bench/scripts/quick_compare.py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保存結果：research-bench/results/repeated_compare.json</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今回の再実行：比較実験/run_experiment.py・rerun_results.json</a:t>
            </a:r>
          </a:p>
        </p:txBody>
      </p:sp>
      <p:sp>
        <p:nvSpPr>
          <p:cNvPr id="7" name="">
            <a:extLst xmlns:a="http://schemas.openxmlformats.org/drawingml/2006/main">
              <a:ext uri="{FF2B5EF4-FFF2-40B4-BE49-F238E27FC236}">
                <a16:creationId xmlns:a16="http://schemas.microsoft.com/office/drawing/2014/main" id="{89CDB5F9-4FAA-4ACD-B406-FBD8B621AF6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B02DECB-BFA3-47B2-B5C8-B95A9CA662C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1333373978"/>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