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02306d7f8e4b13" /><Relationship Type="http://schemas.openxmlformats.org/officeDocument/2006/relationships/extended-properties" Target="/docProps/app.xml" Id="R7411337f1c6b4c8c" /><Relationship Type="http://schemas.openxmlformats.org/officeDocument/2006/relationships/officeDocument" Target="/ppt/presentation.xml" Id="Rc655b066afea4784" /></Relationships>
</file>

<file path=ppt/presentation.xml><?xml version="1.0" encoding="utf-8"?>
<p:presentation xmlns:p="http://schemas.openxmlformats.org/presentationml/2006/main">
  <p:sldMasterIdLst>
    <p:sldMasterId xmlns:r="http://schemas.openxmlformats.org/officeDocument/2006/relationships" id="2147483648" r:id="R7a5084ee2e8946ce"/>
  </p:sldMasterIdLst>
  <p:notesMasterIdLst>
    <p:notesMasterId xmlns:r="http://schemas.openxmlformats.org/officeDocument/2006/relationships" r:id="Rddb78c2d451c4d88"/>
  </p:notesMasterIdLst>
  <p:sldIdLst>
    <p:sldId xmlns:r="http://schemas.openxmlformats.org/officeDocument/2006/relationships" id="256" r:id="R69a3d2257c584347"/>
    <p:sldId xmlns:r="http://schemas.openxmlformats.org/officeDocument/2006/relationships" id="257" r:id="Rb1dbccd6835e44d9"/>
    <p:sldId xmlns:r="http://schemas.openxmlformats.org/officeDocument/2006/relationships" id="258" r:id="R46be9f24c14445af"/>
    <p:sldId xmlns:r="http://schemas.openxmlformats.org/officeDocument/2006/relationships" id="259" r:id="R68011ba4658b4629"/>
    <p:sldId xmlns:r="http://schemas.openxmlformats.org/officeDocument/2006/relationships" id="260" r:id="R966011e990ce4700"/>
    <p:sldId xmlns:r="http://schemas.openxmlformats.org/officeDocument/2006/relationships" id="261" r:id="R48412cb60e65411d"/>
    <p:sldId xmlns:r="http://schemas.openxmlformats.org/officeDocument/2006/relationships" id="262" r:id="R3e16d52ac2a745fc"/>
    <p:sldId xmlns:r="http://schemas.openxmlformats.org/officeDocument/2006/relationships" id="263" r:id="R7672d40dcdaf4e7e"/>
    <p:sldId xmlns:r="http://schemas.openxmlformats.org/officeDocument/2006/relationships" id="264" r:id="R65a1713c3ce0408f"/>
    <p:sldId xmlns:r="http://schemas.openxmlformats.org/officeDocument/2006/relationships" id="265" r:id="R93ad2d7542084e9a"/>
    <p:sldId xmlns:r="http://schemas.openxmlformats.org/officeDocument/2006/relationships" id="266" r:id="R3d6cb369f4f94b78"/>
    <p:sldId xmlns:r="http://schemas.openxmlformats.org/officeDocument/2006/relationships" id="267" r:id="Rf07195badba345f7"/>
    <p:sldId xmlns:r="http://schemas.openxmlformats.org/officeDocument/2006/relationships" id="268" r:id="Rb20dbe3468ea43fc"/>
    <p:sldId xmlns:r="http://schemas.openxmlformats.org/officeDocument/2006/relationships" id="269" r:id="Raa77359993974492"/>
    <p:sldId xmlns:r="http://schemas.openxmlformats.org/officeDocument/2006/relationships" id="270" r:id="R0e1192adbc594811"/>
    <p:sldId xmlns:r="http://schemas.openxmlformats.org/officeDocument/2006/relationships" id="271" r:id="R9822a91661a84263"/>
    <p:sldId xmlns:r="http://schemas.openxmlformats.org/officeDocument/2006/relationships" id="272" r:id="R25e3b50dfaf048cd"/>
    <p:sldId xmlns:r="http://schemas.openxmlformats.org/officeDocument/2006/relationships" id="273" r:id="R9242c56bf2d04eac"/>
    <p:sldId xmlns:r="http://schemas.openxmlformats.org/officeDocument/2006/relationships" id="274" r:id="Rf07cbe06dc614aaf"/>
    <p:sldId xmlns:r="http://schemas.openxmlformats.org/officeDocument/2006/relationships" id="275" r:id="R20484f7f3b6544c3"/>
    <p:sldId xmlns:r="http://schemas.openxmlformats.org/officeDocument/2006/relationships" id="276" r:id="R0a3bcd8df5f245ae"/>
    <p:sldId xmlns:r="http://schemas.openxmlformats.org/officeDocument/2006/relationships" id="277" r:id="R3ea0a205189047cb"/>
    <p:sldId xmlns:r="http://schemas.openxmlformats.org/officeDocument/2006/relationships" id="278" r:id="R4388d67164fb4a10"/>
    <p:sldId xmlns:r="http://schemas.openxmlformats.org/officeDocument/2006/relationships" id="279" r:id="Rb8172ee957734611"/>
    <p:sldId xmlns:r="http://schemas.openxmlformats.org/officeDocument/2006/relationships" id="280" r:id="R7c8d36dbd33c4166"/>
    <p:sldId xmlns:r="http://schemas.openxmlformats.org/officeDocument/2006/relationships" id="281" r:id="Reee68214cda948c9"/>
    <p:sldId xmlns:r="http://schemas.openxmlformats.org/officeDocument/2006/relationships" id="282" r:id="Reb5c024c6cb242ef"/>
    <p:sldId xmlns:r="http://schemas.openxmlformats.org/officeDocument/2006/relationships" id="283" r:id="R5f03c299efb648cc"/>
    <p:sldId xmlns:r="http://schemas.openxmlformats.org/officeDocument/2006/relationships" id="284" r:id="Rd3ce15bc31d74974"/>
    <p:sldId xmlns:r="http://schemas.openxmlformats.org/officeDocument/2006/relationships" id="285" r:id="Racbb5003a11743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b850d009a54383" /><Relationship Type="http://schemas.openxmlformats.org/officeDocument/2006/relationships/slideMaster" Target="/ppt/slideMasters/slideMaster1.xml" Id="R7a5084ee2e8946ce" /><Relationship Type="http://schemas.openxmlformats.org/officeDocument/2006/relationships/notesMaster" Target="/ppt/notesMasters/notesMaster1.xml" Id="Rddb78c2d451c4d88" /><Relationship Type="http://schemas.openxmlformats.org/officeDocument/2006/relationships/presProps" Target="/ppt/presProps.xml" Id="R05c87855803f4864" /><Relationship Type="http://schemas.openxmlformats.org/officeDocument/2006/relationships/tableStyles" Target="/ppt/tableStyles.xml" Id="Rfd34bcd4410a44d0" /><Relationship Type="http://schemas.openxmlformats.org/officeDocument/2006/relationships/slide" Target="/ppt/slides/slide1.xml" Id="R69a3d2257c584347" /><Relationship Type="http://schemas.openxmlformats.org/officeDocument/2006/relationships/slide" Target="/ppt/slides/slide2.xml" Id="Rb1dbccd6835e44d9" /><Relationship Type="http://schemas.openxmlformats.org/officeDocument/2006/relationships/slide" Target="/ppt/slides/slide3.xml" Id="R46be9f24c14445af" /><Relationship Type="http://schemas.openxmlformats.org/officeDocument/2006/relationships/slide" Target="/ppt/slides/slide4.xml" Id="R68011ba4658b4629" /><Relationship Type="http://schemas.openxmlformats.org/officeDocument/2006/relationships/slide" Target="/ppt/slides/slide5.xml" Id="R966011e990ce4700" /><Relationship Type="http://schemas.openxmlformats.org/officeDocument/2006/relationships/slide" Target="/ppt/slides/slide6.xml" Id="R48412cb60e65411d" /><Relationship Type="http://schemas.openxmlformats.org/officeDocument/2006/relationships/slide" Target="/ppt/slides/slide7.xml" Id="R3e16d52ac2a745fc" /><Relationship Type="http://schemas.openxmlformats.org/officeDocument/2006/relationships/slide" Target="/ppt/slides/slide8.xml" Id="R7672d40dcdaf4e7e" /><Relationship Type="http://schemas.openxmlformats.org/officeDocument/2006/relationships/slide" Target="/ppt/slides/slide9.xml" Id="R65a1713c3ce0408f" /><Relationship Type="http://schemas.openxmlformats.org/officeDocument/2006/relationships/slide" Target="/ppt/slides/slide10.xml" Id="R93ad2d7542084e9a" /><Relationship Type="http://schemas.openxmlformats.org/officeDocument/2006/relationships/slide" Target="/ppt/slides/slide11.xml" Id="R3d6cb369f4f94b78" /><Relationship Type="http://schemas.openxmlformats.org/officeDocument/2006/relationships/slide" Target="/ppt/slides/slide12.xml" Id="Rf07195badba345f7" /><Relationship Type="http://schemas.openxmlformats.org/officeDocument/2006/relationships/slide" Target="/ppt/slides/slide13.xml" Id="Rb20dbe3468ea43fc" /><Relationship Type="http://schemas.openxmlformats.org/officeDocument/2006/relationships/slide" Target="/ppt/slides/slide14.xml" Id="Raa77359993974492" /><Relationship Type="http://schemas.openxmlformats.org/officeDocument/2006/relationships/slide" Target="/ppt/slides/slide15.xml" Id="R0e1192adbc594811" /><Relationship Type="http://schemas.openxmlformats.org/officeDocument/2006/relationships/slide" Target="/ppt/slides/slide16.xml" Id="R9822a91661a84263" /><Relationship Type="http://schemas.openxmlformats.org/officeDocument/2006/relationships/slide" Target="/ppt/slides/slide17.xml" Id="R25e3b50dfaf048cd" /><Relationship Type="http://schemas.openxmlformats.org/officeDocument/2006/relationships/slide" Target="/ppt/slides/slide18.xml" Id="R9242c56bf2d04eac" /><Relationship Type="http://schemas.openxmlformats.org/officeDocument/2006/relationships/slide" Target="/ppt/slides/slide19.xml" Id="Rf07cbe06dc614aaf" /><Relationship Type="http://schemas.openxmlformats.org/officeDocument/2006/relationships/slide" Target="/ppt/slides/slide20.xml" Id="R20484f7f3b6544c3" /><Relationship Type="http://schemas.openxmlformats.org/officeDocument/2006/relationships/slide" Target="/ppt/slides/slide21.xml" Id="R0a3bcd8df5f245ae" /><Relationship Type="http://schemas.openxmlformats.org/officeDocument/2006/relationships/slide" Target="/ppt/slides/slide22.xml" Id="R3ea0a205189047cb" /><Relationship Type="http://schemas.openxmlformats.org/officeDocument/2006/relationships/slide" Target="/ppt/slides/slide23.xml" Id="R4388d67164fb4a10" /><Relationship Type="http://schemas.openxmlformats.org/officeDocument/2006/relationships/slide" Target="/ppt/slides/slide24.xml" Id="Rb8172ee957734611" /><Relationship Type="http://schemas.openxmlformats.org/officeDocument/2006/relationships/slide" Target="/ppt/slides/slide25.xml" Id="R7c8d36dbd33c4166" /><Relationship Type="http://schemas.openxmlformats.org/officeDocument/2006/relationships/slide" Target="/ppt/slides/slide26.xml" Id="Reee68214cda948c9" /><Relationship Type="http://schemas.openxmlformats.org/officeDocument/2006/relationships/slide" Target="/ppt/slides/slide27.xml" Id="Reb5c024c6cb242ef" /><Relationship Type="http://schemas.openxmlformats.org/officeDocument/2006/relationships/slide" Target="/ppt/slides/slide28.xml" Id="R5f03c299efb648cc" /><Relationship Type="http://schemas.openxmlformats.org/officeDocument/2006/relationships/slide" Target="/ppt/slides/slide29.xml" Id="Rd3ce15bc31d74974" /><Relationship Type="http://schemas.openxmlformats.org/officeDocument/2006/relationships/slide" Target="/ppt/slides/slide30.xml" Id="Racbb5003a11743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b2100f3ba140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f2bf4753934f17" /><Relationship Type="http://schemas.openxmlformats.org/officeDocument/2006/relationships/notesMaster" Target="/ppt/notesMasters/notesMaster1.xml" Id="R06f2b9427c5b48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aab46e59ef4586" /><Relationship Type="http://schemas.openxmlformats.org/officeDocument/2006/relationships/notesMaster" Target="/ppt/notesMasters/notesMaster1.xml" Id="R315ed2d2451141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7313982ac64256" /><Relationship Type="http://schemas.openxmlformats.org/officeDocument/2006/relationships/notesMaster" Target="/ppt/notesMasters/notesMaster1.xml" Id="Rdae9f3b690b349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b7d4b354114d17" /><Relationship Type="http://schemas.openxmlformats.org/officeDocument/2006/relationships/notesMaster" Target="/ppt/notesMasters/notesMaster1.xml" Id="Rfbe3c25deea441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b4ceabe1b34c26" /><Relationship Type="http://schemas.openxmlformats.org/officeDocument/2006/relationships/notesMaster" Target="/ppt/notesMasters/notesMaster1.xml" Id="R5da415182cb543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97ad8a5ddf4eb6" /><Relationship Type="http://schemas.openxmlformats.org/officeDocument/2006/relationships/notesMaster" Target="/ppt/notesMasters/notesMaster1.xml" Id="Rbe8ba4c261bf4b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a4acc842be4479" /><Relationship Type="http://schemas.openxmlformats.org/officeDocument/2006/relationships/notesMaster" Target="/ppt/notesMasters/notesMaster1.xml" Id="R0b6d7d6a545645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e03ddf17234ab3" /><Relationship Type="http://schemas.openxmlformats.org/officeDocument/2006/relationships/notesMaster" Target="/ppt/notesMasters/notesMaster1.xml" Id="Rcfc1ada84ca442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0bdb4412494356" /><Relationship Type="http://schemas.openxmlformats.org/officeDocument/2006/relationships/notesMaster" Target="/ppt/notesMasters/notesMaster1.xml" Id="R82213397e12044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f2b8c6c0e649b1" /><Relationship Type="http://schemas.openxmlformats.org/officeDocument/2006/relationships/notesMaster" Target="/ppt/notesMasters/notesMaster1.xml" Id="Ra2c0035a3ef144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29b6e313d84ba4" /><Relationship Type="http://schemas.openxmlformats.org/officeDocument/2006/relationships/notesMaster" Target="/ppt/notesMasters/notesMaster1.xml" Id="R6952add743064e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11b184c5514a38" /><Relationship Type="http://schemas.openxmlformats.org/officeDocument/2006/relationships/notesMaster" Target="/ppt/notesMasters/notesMaster1.xml" Id="Re7839893ddde43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3e719f11b948ca" /><Relationship Type="http://schemas.openxmlformats.org/officeDocument/2006/relationships/notesMaster" Target="/ppt/notesMasters/notesMaster1.xml" Id="R7e1343be35b046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247f96db004755" /><Relationship Type="http://schemas.openxmlformats.org/officeDocument/2006/relationships/notesMaster" Target="/ppt/notesMasters/notesMaster1.xml" Id="Re58f5a11b14a47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3264c79b034892" /><Relationship Type="http://schemas.openxmlformats.org/officeDocument/2006/relationships/notesMaster" Target="/ppt/notesMasters/notesMaster1.xml" Id="R1b03b1052bed40d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dd5796eb8d4f0e" /><Relationship Type="http://schemas.openxmlformats.org/officeDocument/2006/relationships/notesMaster" Target="/ppt/notesMasters/notesMaster1.xml" Id="R6e697314bfda42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96febef8d749ff" /><Relationship Type="http://schemas.openxmlformats.org/officeDocument/2006/relationships/notesMaster" Target="/ppt/notesMasters/notesMaster1.xml" Id="R14e4d93714a141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4ae27d1fb04d52" /><Relationship Type="http://schemas.openxmlformats.org/officeDocument/2006/relationships/notesMaster" Target="/ppt/notesMasters/notesMaster1.xml" Id="R2e2f9080363349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8fd3c3a9a544a62" /><Relationship Type="http://schemas.openxmlformats.org/officeDocument/2006/relationships/notesMaster" Target="/ppt/notesMasters/notesMaster1.xml" Id="Ra7279ffd95444db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f87501f9604953" /><Relationship Type="http://schemas.openxmlformats.org/officeDocument/2006/relationships/notesMaster" Target="/ppt/notesMasters/notesMaster1.xml" Id="R7567c172df8f43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4af340275f4131" /><Relationship Type="http://schemas.openxmlformats.org/officeDocument/2006/relationships/notesMaster" Target="/ppt/notesMasters/notesMaster1.xml" Id="R6d9add1ede7341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0210564a40b46b6" /><Relationship Type="http://schemas.openxmlformats.org/officeDocument/2006/relationships/notesMaster" Target="/ppt/notesMasters/notesMaster1.xml" Id="Rf734f6166c8e43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c93ad3b12a40cd" /><Relationship Type="http://schemas.openxmlformats.org/officeDocument/2006/relationships/notesMaster" Target="/ppt/notesMasters/notesMaster1.xml" Id="R7544768e13a945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69975b65ef4420" /><Relationship Type="http://schemas.openxmlformats.org/officeDocument/2006/relationships/notesMaster" Target="/ppt/notesMasters/notesMaster1.xml" Id="Rcae8173d778b4f4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ee71313d789450d" /><Relationship Type="http://schemas.openxmlformats.org/officeDocument/2006/relationships/notesMaster" Target="/ppt/notesMasters/notesMaster1.xml" Id="R9c36134e0cbc42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65a073052ad4b24" /><Relationship Type="http://schemas.openxmlformats.org/officeDocument/2006/relationships/notesMaster" Target="/ppt/notesMasters/notesMaster1.xml" Id="R535a2e1f00e6457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ea2cdc5f956452b" /><Relationship Type="http://schemas.openxmlformats.org/officeDocument/2006/relationships/notesMaster" Target="/ppt/notesMasters/notesMaster1.xml" Id="Rb3d9b0c8155e4fb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2f0e4e6111e4c13" /><Relationship Type="http://schemas.openxmlformats.org/officeDocument/2006/relationships/notesMaster" Target="/ppt/notesMasters/notesMaster1.xml" Id="R9f14c8d8e1a841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908d10e90604417" /><Relationship Type="http://schemas.openxmlformats.org/officeDocument/2006/relationships/notesMaster" Target="/ppt/notesMasters/notesMaster1.xml" Id="Rb6a13acfb3e04ff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458aae553af4c4c" /><Relationship Type="http://schemas.openxmlformats.org/officeDocument/2006/relationships/notesMaster" Target="/ppt/notesMasters/notesMaster1.xml" Id="R9720ae2a55714c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本発表では、全サンプルにラベルがある不均衡分類を対象にします。少数クラスを増やすだけでなく、生成例のクラスらしさを守る条件を検討します。実験結果ではなく、比較と改善の計画を発表します。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最初から特定の手法が勝つと仮定しません。各手法が失敗する条件を人工データで見つけ、その原因に対応する改善を加えます。次に、今回どこまでを対象にするかを説明します。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不均衡はクラス件数の偏りを指します。ラベルなしデータやカテゴリ列の扱いは次の段階とします。まず連続値に限定することで、生成方法による違いを切り分けます。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これは説明用の計算例であり、実験結果ではありません。多数クラスだけを当ててもAccuracyは高くなります。少数クラスを拾えているかを別の指標で確認する必要があります。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合成データは観測した少数例に依存します。情報のない領域を正しく埋められるとは限りません。生成例が誤った領域に入ると、分類境界を悪化させる可能性があります。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ラベル保持とは、生成した特徴に対して付けたラベルが妥当であることです。人工データでは真の生成分布を使って診断します。実データでは正解が不明なので、制約や近傍は代理指標として扱い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共通の目的は少数クラスの訓練行を増やすことです。VIMEの入力破損と過剰サンプリングは目的が違うため、同一の手法として集計しません。以下では各手法を、仕組み、問題、改善候補の順で説明します。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いうシャッフルは行順の並べ替えではなく、列ごとに値を組み替える処理です。例えば同じクラスに(身長,体重)=(150,45),(180,80)があると、(150,80)も生成しえます。これは仕組みの説明例であり、その組み合わせが必ず不正という意味ではありません。</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グループは訓練データの依存関係やドメイン知識から決めます。相関が低くても非線形依存は残りえます。グループ化が常に正しいとせず、単純シャッフルとの差で効果を検証します。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連続変数についてu_j=F_j(x_j)、z_j=Φ⁻¹(u_j)と変換します。zを多変量正規分布でモデル化し、生成後にx_j=F_j⁻¹(Φ(z_j))と戻します。順位の端では確率のクリッピングが必要です。推定は訓練データ内の各クラスで行い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正則化の例はRλ=(1−λ)Rhat+λIです。λは検証データで選びます。局所モデルは多峰性への候補ですが、集団を分けるほど推定件数が減ります。相関の改善だけで分類性能の改善を判断しません。</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SMOTEは近傍を使った補間です。近傍探索の距離は尺度に左右されるので、前処理も訓練データ内で適合します。出典：Chawla et al. (2002), https://www.cs.cmu.edu/afs/cs/project/jair/pub/volume16/chawla02a.pdf</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少数クラスが二つの島に分かれた場合、近傍数が大きいと島をまたぐ可能性があります。境界付近を一律に捨てると重要な難例を失うため、除外率とRecallも確認します。問題はデータ構造に依存する仮説として検証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本発表で用いる操作上の定義です。名称だけで既存の特定手法と同一だとは主張しません。正規化された空間で距離を測る利点を仮説としますが、Gaussian copula変換だけで特徴が独立になるわけではありません。</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逆変換は非線形なので、変換空間での線分は元の空間で直線とは限りません。生成後に検査しますが、訓練分類器の予測だけで採否を決めると、その分類器の偏りを増幅する可能性があります。採択後だけでなく採択前の生成品質も報告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TGANは条件付きGANとtraining-by-samplingなどを使うテーブル生成法です。条件指定のAPIや内部処理はライブラリ実装で確認します。少数クラスの条件で生成しても、実際のラベルの意味が正しい保証はありません。出典：Xu et al. (2019), https://papers.nips.cc/paper/2019/hash/254ed7d2de3b23ab10936522dd547b78-Abstract.html</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が動くことと分類性能が上がることは別の評価です。生成行が訓練行とどれだけ近いか、特定領域に集中していないかを見ます。近傍距離だけで暗記を断定せず、同じ尺度にそろえて他手法と比較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ulaGANという名称の既存実装があるため、単なる組み合わせを新規性としません。独自案ではクラス条件、変換の適合範囲、CTGAN内部正規化との関係を固定します。既存実装と同一かは仕様・ソース確認が必要です。参考：SDV公式 https://docs.sdv.dev/sdgym/benchmarking/run/local</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らは効果が未検証の改善候補です。最初から全部を入れると寄与を切り分けられません。クラス内生成が基本定義に入る手法では、それを追加改善として二重計上しません。制約違反行を捨てた場合は候補数と採択数も記録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A,B,Cを使い、必要に応じて非線形性や特徴数を変えます。一度にすべてを変えず、比較したい要因だけを変えます。真の分布から十分な独立テスト標本を得ることで、少ないテスト件数による揺れを抑え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例として多数:少数=5:1,20:1を候補とします。比率を変える実験では多数側を固定して少数を間引き、少数の絶対件数も必ず記録します。比率と標本数の効果を分離する補助実験も検討します。分類器はロジスティック回帰と木モデルを候補とし、共通の設定探索予算を与え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テストデータを含めて生成器や正規化を適合すると、評価に漏洩が起きます。交差検証では各foldの訓練部分だけで再適合します。実データのテスト分布は人為的に均等化しません。出典：imbalanced-learn https://imbalanced-learn.org/0.14/common_pitfalls.html</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値分類のPR-AUCは少数クラスを陽性として計算方式を固定します。Recallだけを上げて多数を誤検知していないか、Precisionも確認します。人工データでは真のクラス事後確率で生成点を診断しますが、重なり領域ではラベルを確定できないので、不確実性も扱います。実データの近傍一致率は代理指標で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述べるのは結果の解釈ルールであり、実験で得た結論ではありません。制約違反が減っても簡単な点だけを残した可能性があります。性能と採択率、生成の多様性を一緒に読みます。平均の小差だけで手法の優位性を主張しません。</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最初にシャッフル、Gaussian copula、SMOTEと対照群で評価基盤を作ります。次に複合手法と改善前後を比較します。実データは既存リポジトリの候補から、ライセンス、特徴型、少数件数を確認して選定します。ラベルなしデータへの拡張は、この比較が安定した後に進め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類や半教師ありに拡張するだけで新規性が成立するとは限りません。本研究では失敗条件と改善効果の対応を明らかにすることを目指します。今回の発表は実験計画であり、特定手法の優位性や既存論文との差分はまだ確定していません。</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SMOTE https://www.cs.cmu.edu/afs/cs/project/jair/pub/volume16/chawla02a.pdf</a:t>
            </a:r>
          </a:p>
          <a:p xmlns:a="http://schemas.openxmlformats.org/drawingml/2006/main">
            <a:r>
              <a:t>CTGAN https://papers.nips.cc/paper/2019/hash/254ed7d2de3b23ab10936522dd547b78-Abstract.html</a:t>
            </a:r>
          </a:p>
          <a:p xmlns:a="http://schemas.openxmlformats.org/drawingml/2006/main">
            <a:r>
              <a:t>SDV https://docs.sdv.dev/sdgym/benchmarking/run/local</a:t>
            </a:r>
          </a:p>
          <a:p xmlns:a="http://schemas.openxmlformats.org/drawingml/2006/main">
            <a:r>
              <a:t>imbalanced-learn https://imbalanced-learn.org/0.14/common_pitfalls.html</a:t>
            </a:r>
          </a:p>
          <a:p xmlns:a="http://schemas.openxmlformats.org/drawingml/2006/main">
            <a:r>
              <a:t>ユーザー共有論文 https://www.sciencedirect.com/science/article/pii/S0925231226020369 はアクセス制限で本文未確認。回帰を扱うという位置づけと分類への新規性は今後確認する。</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リポジトリREADMEとresearch-bench/READMEに基づきます。既存実装は連続数値のGaussian copulaを対象とし、カテゴリやラベル保持を保証しません。今回の比較に使う場合はクラス別fitと生成インターフェースを別途確認します。既存実験の性能を今回の結果として流用しません。</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macro F1は各クラスのF1を単純平均した値です。二値分類のbalanced accuracyは陽性と陰性のRecallの平均です。ゼロ除算時の扱いを固定します。PR-AUCはaverage precisionなど実装上の定義を記録します。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①が主題で、このスライドは②への接続です。隠した真のラベルは学習や採択には使わず、診断用にのみ保持します。ラベル率とクラス不均衡を別々に変え、疑似ラベルの誤りが生成を通じて増幅するかを確認します。</a:t>
            </a:r>
          </a:p>
          <a:p xmlns:a="http://schemas.openxmlformats.org/drawingml/2006/main">
            <a:r>
              <a:t/>
            </a:r>
          </a:p>
          <a:p xmlns:a="http://schemas.openxmlformats.org/drawingml/2006/main">
            <a:r>
              <a:t>発表の位置づけ：研究計画。記載した問題は検証対象の仮説を含む。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acdcd63b0b41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9b3ffa555b4d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3d16e1b93a846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5be0114d1149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ed69c430b946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bf8eec9baf47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B22EB8-D098-4D77-9E4D-ADC4B5F156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0D27FD-4AAE-4AE8-B439-0FB6B964D2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F8ABAC-BF63-46E1-A72E-88A5A765E4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3EC20C-3C0B-4BF7-85D6-5E1E0C66A2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8E297A-78A4-4BAE-A2AD-83A5C8EFB8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11EA7B-9F04-4B33-A2B6-8E085328DC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8F90ED-B6D4-4DBC-871E-A1B85C6437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0EB00F-C13E-4EC4-B909-C37AE0A58F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8343EB-AAA7-47CB-B886-BE9BB48D7F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4A47A9-DA48-4AB7-9AFC-CA303F52FD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9c81d2416847f3" /><Relationship Type="http://schemas.openxmlformats.org/officeDocument/2006/relationships/slideLayout" Target="/ppt/slideLayouts/slideLayout1.xml" Id="R2e6a7a81dbec4b91" /><Relationship Type="http://schemas.openxmlformats.org/officeDocument/2006/relationships/slideLayout" Target="/ppt/slideLayouts/slideLayout2.xml" Id="R9d904fe659c24d8e" /><Relationship Type="http://schemas.openxmlformats.org/officeDocument/2006/relationships/slideLayout" Target="/ppt/slideLayouts/slideLayout3.xml" Id="R88d4e80f68b74bf9" /><Relationship Type="http://schemas.openxmlformats.org/officeDocument/2006/relationships/slideLayout" Target="/ppt/slideLayouts/slideLayout4.xml" Id="Re95270921c6a423a" /><Relationship Type="http://schemas.openxmlformats.org/officeDocument/2006/relationships/slideLayout" Target="/ppt/slideLayouts/slideLayout5.xml" Id="R7551504910d24eb7" /><Relationship Type="http://schemas.openxmlformats.org/officeDocument/2006/relationships/slideLayout" Target="/ppt/slideLayouts/slideLayout6.xml" Id="R7ce06b3b05464a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6a7a81dbec4b91"/>
    <p:sldLayoutId xmlns:r="http://schemas.openxmlformats.org/officeDocument/2006/relationships" id="2147483650" r:id="R9d904fe659c24d8e"/>
    <p:sldLayoutId xmlns:r="http://schemas.openxmlformats.org/officeDocument/2006/relationships" id="2147483651" r:id="R88d4e80f68b74bf9"/>
    <p:sldLayoutId xmlns:r="http://schemas.openxmlformats.org/officeDocument/2006/relationships" id="2147483652" r:id="Re95270921c6a423a"/>
    <p:sldLayoutId xmlns:r="http://schemas.openxmlformats.org/officeDocument/2006/relationships" id="2147483653" r:id="R7551504910d24eb7"/>
    <p:sldLayoutId xmlns:r="http://schemas.openxmlformats.org/officeDocument/2006/relationships" id="2147483654" r:id="R7ce06b3b05464a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ea596247bc4dcb" /><Relationship Type="http://schemas.openxmlformats.org/officeDocument/2006/relationships/notesSlide" Target="/ppt/notesSlides/notesSlide1.xml" Id="R3ab4e2aea2d045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04dcf5d8b5410b" /><Relationship Type="http://schemas.openxmlformats.org/officeDocument/2006/relationships/notesSlide" Target="/ppt/notesSlides/notesSlide2.xml" Id="R47222554e17044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1281e749c04bcb" /><Relationship Type="http://schemas.openxmlformats.org/officeDocument/2006/relationships/notesSlide" Target="/ppt/notesSlides/notesSlide3.xml" Id="Rc753c620915546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8b92d008d24649" /><Relationship Type="http://schemas.openxmlformats.org/officeDocument/2006/relationships/notesSlide" Target="/ppt/notesSlides/notesSlide4.xml" Id="Rb2e36552d3db4d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c3b54d272a4e16" /><Relationship Type="http://schemas.openxmlformats.org/officeDocument/2006/relationships/notesSlide" Target="/ppt/notesSlides/notesSlide5.xml" Id="R15427fc3061448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ae86fad1d646f4" /><Relationship Type="http://schemas.openxmlformats.org/officeDocument/2006/relationships/notesSlide" Target="/ppt/notesSlides/notesSlide6.xml" Id="Rb1a8621549da4f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2d4938bd6c46a7" /><Relationship Type="http://schemas.openxmlformats.org/officeDocument/2006/relationships/notesSlide" Target="/ppt/notesSlides/notesSlide7.xml" Id="R0120a597548d4b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3d75cab55a49f3" /><Relationship Type="http://schemas.openxmlformats.org/officeDocument/2006/relationships/notesSlide" Target="/ppt/notesSlides/notesSlide8.xml" Id="Rcc9fa96ab4ef4e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d3c4f9b223c4adc" /><Relationship Type="http://schemas.openxmlformats.org/officeDocument/2006/relationships/notesSlide" Target="/ppt/notesSlides/notesSlide9.xml" Id="R0db78e90560649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2e47711d1b34b03" /><Relationship Type="http://schemas.openxmlformats.org/officeDocument/2006/relationships/notesSlide" Target="/ppt/notesSlides/notesSlide10.xml" Id="Rdabc34ac8b9746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fa8aa9049ae4858" /><Relationship Type="http://schemas.openxmlformats.org/officeDocument/2006/relationships/notesSlide" Target="/ppt/notesSlides/notesSlide11.xml" Id="R0be46995b0434a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3505e2c06e3497c" /><Relationship Type="http://schemas.openxmlformats.org/officeDocument/2006/relationships/notesSlide" Target="/ppt/notesSlides/notesSlide12.xml" Id="R93b0b25e21d143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d2fd2ba695b42ee" /><Relationship Type="http://schemas.openxmlformats.org/officeDocument/2006/relationships/notesSlide" Target="/ppt/notesSlides/notesSlide13.xml" Id="Re2bb71f9c2be4c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6434b2981eb4a1c" /><Relationship Type="http://schemas.openxmlformats.org/officeDocument/2006/relationships/notesSlide" Target="/ppt/notesSlides/notesSlide14.xml" Id="R7f1c081ff4e647c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eaaa5037c3e428e" /><Relationship Type="http://schemas.openxmlformats.org/officeDocument/2006/relationships/notesSlide" Target="/ppt/notesSlides/notesSlide15.xml" Id="R84f36638cb944a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3afea105699466a" /><Relationship Type="http://schemas.openxmlformats.org/officeDocument/2006/relationships/notesSlide" Target="/ppt/notesSlides/notesSlide16.xml" Id="Rd465258c379b48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de721b170964d98" /><Relationship Type="http://schemas.openxmlformats.org/officeDocument/2006/relationships/notesSlide" Target="/ppt/notesSlides/notesSlide17.xml" Id="Rc01f50abe7bb40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40b79b2b9664425" /><Relationship Type="http://schemas.openxmlformats.org/officeDocument/2006/relationships/notesSlide" Target="/ppt/notesSlides/notesSlide18.xml" Id="R7c59cd7f5502476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73f111d85594dae" /><Relationship Type="http://schemas.openxmlformats.org/officeDocument/2006/relationships/notesSlide" Target="/ppt/notesSlides/notesSlide19.xml" Id="Re7216642bb0f41e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47aa22c57fb4905" /><Relationship Type="http://schemas.openxmlformats.org/officeDocument/2006/relationships/notesSlide" Target="/ppt/notesSlides/notesSlide20.xml" Id="R531129450b7847f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2c6beb70075439d" /><Relationship Type="http://schemas.openxmlformats.org/officeDocument/2006/relationships/notesSlide" Target="/ppt/notesSlides/notesSlide21.xml" Id="Ra54468f0c6734f0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60f19f1b2ea4bdf" /><Relationship Type="http://schemas.openxmlformats.org/officeDocument/2006/relationships/notesSlide" Target="/ppt/notesSlides/notesSlide22.xml" Id="Rbb5e1ceb3df9492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71ef35d1a9d4f71" /><Relationship Type="http://schemas.openxmlformats.org/officeDocument/2006/relationships/notesSlide" Target="/ppt/notesSlides/notesSlide23.xml" Id="R6d7f205c319049b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e711f081b6347e6" /><Relationship Type="http://schemas.openxmlformats.org/officeDocument/2006/relationships/notesSlide" Target="/ppt/notesSlides/notesSlide24.xml" Id="Rc6529116b992464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7dd41c11e69407e" /><Relationship Type="http://schemas.openxmlformats.org/officeDocument/2006/relationships/notesSlide" Target="/ppt/notesSlides/notesSlide25.xml" Id="R7f7ea890efc1466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a33f3d4e2c047ac" /><Relationship Type="http://schemas.openxmlformats.org/officeDocument/2006/relationships/notesSlide" Target="/ppt/notesSlides/notesSlide26.xml" Id="R647006e6a7524e4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b093f1ca8174fa0" /><Relationship Type="http://schemas.openxmlformats.org/officeDocument/2006/relationships/notesSlide" Target="/ppt/notesSlides/notesSlide27.xml" Id="Rc849799a3b9d4a7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fa973d73b5f4a68" /><Relationship Type="http://schemas.openxmlformats.org/officeDocument/2006/relationships/notesSlide" Target="/ppt/notesSlides/notesSlide28.xml" Id="R25f4ce46da384d6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e8128539c734bc5" /><Relationship Type="http://schemas.openxmlformats.org/officeDocument/2006/relationships/notesSlide" Target="/ppt/notesSlides/notesSlide29.xml" Id="R2e0d904b47424f0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69563083fd84e16" /><Relationship Type="http://schemas.openxmlformats.org/officeDocument/2006/relationships/notesSlide" Target="/ppt/notesSlides/notesSlide30.xml" Id="Rbb4afbe116c64e11" /></Relationships>
</file>

<file path=ppt/slides/slide1.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3A9D695-42D6-43E4-9FC9-981B0B37EFCB}"/>
              </a:ext>
            </a:extLst>
          </p:cNvPr>
          <p:cNvSpPr>
            <a:spLocks xmlns:a="http://schemas.openxmlformats.org/drawingml/2006/main" noGrp="1"/>
          </p:cNvSpPr>
          <p:nvPr/>
        </p:nvSpPr>
        <p:spPr>
          <a:xfrm xmlns:a="http://schemas.openxmlformats.org/drawingml/2006/main">
            <a:off x="762000" y="1381125"/>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defRPr>
            </a:defPPr>
            <a:lvl1pPr>
              <a:defRPr sz="4350" b="1">
                <a:solidFill>
                  <a:srgbClr val="FFFFFF"/>
                </a:solidFill>
              </a:defRPr>
            </a:lvl1pPr>
            <a:lvl2pPr>
              <a:defRPr sz="4350" b="1">
                <a:solidFill>
                  <a:srgbClr val="FFFFFF"/>
                </a:solidFill>
              </a:defRPr>
            </a:lvl2pPr>
            <a:lvl3pPr>
              <a:defRPr sz="4350" b="1">
                <a:solidFill>
                  <a:srgbClr val="FFFFFF"/>
                </a:solidFill>
              </a:defRPr>
            </a:lvl3pPr>
            <a:lvl4pPr>
              <a:defRPr sz="4350" b="1">
                <a:solidFill>
                  <a:srgbClr val="FFFFFF"/>
                </a:solidFill>
              </a:defRPr>
            </a:lvl4pPr>
            <a:lvl5pPr>
              <a:defRPr sz="4350" b="1">
                <a:solidFill>
                  <a:srgbClr val="FFFFFF"/>
                </a:solidFill>
              </a:defRPr>
            </a:lvl5pPr>
            <a:lvl6pPr>
              <a:defRPr sz="4350" b="1">
                <a:solidFill>
                  <a:srgbClr val="FFFFFF"/>
                </a:solidFill>
              </a:defRPr>
            </a:lvl6pPr>
            <a:lvl7pPr>
              <a:defRPr sz="4350" b="1">
                <a:solidFill>
                  <a:srgbClr val="FFFFFF"/>
                </a:solidFill>
              </a:defRPr>
            </a:lvl7pPr>
            <a:lvl8pPr>
              <a:defRPr sz="4350" b="1">
                <a:solidFill>
                  <a:srgbClr val="FFFFFF"/>
                </a:solidFill>
              </a:defRPr>
            </a:lvl8pPr>
            <a:lvl9pPr>
              <a:defRPr sz="4350" b="1">
                <a:solidFill>
                  <a:srgbClr val="FFFFFF"/>
                </a:solidFill>
              </a:defRPr>
            </a:lvl9pPr>
          </a:lstStyle>
          <a:p xmlns:a="http://schemas.openxmlformats.org/drawingml/2006/main">
            <a:pPr>
              <a:defRPr sz="4350" b="1">
                <a:solidFill>
                  <a:srgbClr val="FFFFFF"/>
                </a:solidFill>
              </a:defRPr>
            </a:pPr>
            <a:r>
              <a:rPr sz="4350" b="1">
                <a:solidFill>
                  <a:srgbClr val="FFFFFF"/>
                </a:solidFill>
              </a:rPr>
              <a:t>不均衡分類における</a:t>
            </a:r>
          </a:p>
          <a:p xmlns:a="http://schemas.openxmlformats.org/drawingml/2006/main">
            <a:pPr>
              <a:defRPr sz="4350" b="1">
                <a:solidFill>
                  <a:srgbClr val="FFFFFF"/>
                </a:solidFill>
              </a:defRPr>
            </a:pPr>
            <a:r>
              <a:rPr sz="4350" b="1">
                <a:solidFill>
                  <a:srgbClr val="FFFFFF"/>
                </a:solidFill>
              </a:rPr>
              <a:t>テーブルデータ拡張</a:t>
            </a:r>
          </a:p>
        </p:txBody>
      </p:sp>
      <p:sp>
        <p:nvSpPr>
          <p:cNvPr id="3" name="">
            <a:extLst xmlns:a="http://schemas.openxmlformats.org/drawingml/2006/main">
              <a:ext uri="{FF2B5EF4-FFF2-40B4-BE49-F238E27FC236}">
                <a16:creationId xmlns:a16="http://schemas.microsoft.com/office/drawing/2014/main" id="{68C1D1CF-7EC9-4AF8-9722-979D28D88188}"/>
              </a:ext>
            </a:extLst>
          </p:cNvPr>
          <p:cNvSpPr>
            <a:spLocks xmlns:a="http://schemas.openxmlformats.org/drawingml/2006/main" noGrp="1"/>
          </p:cNvSpPr>
          <p:nvPr/>
        </p:nvSpPr>
        <p:spPr>
          <a:xfrm xmlns:a="http://schemas.openxmlformats.org/drawingml/2006/main">
            <a:off x="800100" y="3476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BED7E7"/>
                </a:solidFill>
              </a:defRPr>
            </a:defPPr>
            <a:lvl1pPr>
              <a:defRPr sz="2400" b="0">
                <a:solidFill>
                  <a:srgbClr val="BED7E7"/>
                </a:solidFill>
              </a:defRPr>
            </a:lvl1pPr>
            <a:lvl2pPr>
              <a:defRPr sz="2400" b="0">
                <a:solidFill>
                  <a:srgbClr val="BED7E7"/>
                </a:solidFill>
              </a:defRPr>
            </a:lvl2pPr>
            <a:lvl3pPr>
              <a:defRPr sz="2400" b="0">
                <a:solidFill>
                  <a:srgbClr val="BED7E7"/>
                </a:solidFill>
              </a:defRPr>
            </a:lvl3pPr>
            <a:lvl4pPr>
              <a:defRPr sz="2400" b="0">
                <a:solidFill>
                  <a:srgbClr val="BED7E7"/>
                </a:solidFill>
              </a:defRPr>
            </a:lvl4pPr>
            <a:lvl5pPr>
              <a:defRPr sz="2400" b="0">
                <a:solidFill>
                  <a:srgbClr val="BED7E7"/>
                </a:solidFill>
              </a:defRPr>
            </a:lvl5pPr>
            <a:lvl6pPr>
              <a:defRPr sz="2400" b="0">
                <a:solidFill>
                  <a:srgbClr val="BED7E7"/>
                </a:solidFill>
              </a:defRPr>
            </a:lvl6pPr>
            <a:lvl7pPr>
              <a:defRPr sz="2400" b="0">
                <a:solidFill>
                  <a:srgbClr val="BED7E7"/>
                </a:solidFill>
              </a:defRPr>
            </a:lvl7pPr>
            <a:lvl8pPr>
              <a:defRPr sz="2400" b="0">
                <a:solidFill>
                  <a:srgbClr val="BED7E7"/>
                </a:solidFill>
              </a:defRPr>
            </a:lvl8pPr>
            <a:lvl9pPr>
              <a:defRPr sz="2400" b="0">
                <a:solidFill>
                  <a:srgbClr val="BED7E7"/>
                </a:solidFill>
              </a:defRPr>
            </a:lvl9pPr>
          </a:lstStyle>
          <a:p xmlns:a="http://schemas.openxmlformats.org/drawingml/2006/main">
            <a:pPr>
              <a:defRPr sz="2400" b="0">
                <a:solidFill>
                  <a:srgbClr val="BED7E7"/>
                </a:solidFill>
              </a:defRPr>
            </a:pPr>
            <a:r>
              <a:rPr sz="2400" b="0">
                <a:solidFill>
                  <a:srgbClr val="BED7E7"/>
                </a:solidFill>
              </a:rPr>
              <a:t>全ラベル付きデータでの問題点と改善案</a:t>
            </a:r>
          </a:p>
        </p:txBody>
      </p:sp>
      <p:sp>
        <p:nvSpPr>
          <p:cNvPr id="4" name="">
            <a:extLst xmlns:a="http://schemas.openxmlformats.org/drawingml/2006/main">
              <a:ext uri="{FF2B5EF4-FFF2-40B4-BE49-F238E27FC236}">
                <a16:creationId xmlns:a16="http://schemas.microsoft.com/office/drawing/2014/main" id="{944C52A5-D678-4B85-8150-F1EF1B4C693C}"/>
              </a:ext>
            </a:extLst>
          </p:cNvPr>
          <p:cNvSpPr>
            <a:spLocks xmlns:a="http://schemas.openxmlformats.org/drawingml/2006/main" noGrp="1"/>
          </p:cNvSpPr>
          <p:nvPr/>
        </p:nvSpPr>
        <p:spPr>
          <a:xfrm xmlns:a="http://schemas.openxmlformats.org/drawingml/2006/main">
            <a:off x="8001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ED7E7"/>
                </a:solidFill>
              </a:defRPr>
            </a:defPPr>
            <a:lvl1pPr>
              <a:defRPr sz="1725" b="0">
                <a:solidFill>
                  <a:srgbClr val="BED7E7"/>
                </a:solidFill>
              </a:defRPr>
            </a:lvl1pPr>
            <a:lvl2pPr>
              <a:defRPr sz="1725" b="0">
                <a:solidFill>
                  <a:srgbClr val="BED7E7"/>
                </a:solidFill>
              </a:defRPr>
            </a:lvl2pPr>
            <a:lvl3pPr>
              <a:defRPr sz="1725" b="0">
                <a:solidFill>
                  <a:srgbClr val="BED7E7"/>
                </a:solidFill>
              </a:defRPr>
            </a:lvl3pPr>
            <a:lvl4pPr>
              <a:defRPr sz="1725" b="0">
                <a:solidFill>
                  <a:srgbClr val="BED7E7"/>
                </a:solidFill>
              </a:defRPr>
            </a:lvl4pPr>
            <a:lvl5pPr>
              <a:defRPr sz="1725" b="0">
                <a:solidFill>
                  <a:srgbClr val="BED7E7"/>
                </a:solidFill>
              </a:defRPr>
            </a:lvl5pPr>
            <a:lvl6pPr>
              <a:defRPr sz="1725" b="0">
                <a:solidFill>
                  <a:srgbClr val="BED7E7"/>
                </a:solidFill>
              </a:defRPr>
            </a:lvl6pPr>
            <a:lvl7pPr>
              <a:defRPr sz="1725" b="0">
                <a:solidFill>
                  <a:srgbClr val="BED7E7"/>
                </a:solidFill>
              </a:defRPr>
            </a:lvl7pPr>
            <a:lvl8pPr>
              <a:defRPr sz="1725" b="0">
                <a:solidFill>
                  <a:srgbClr val="BED7E7"/>
                </a:solidFill>
              </a:defRPr>
            </a:lvl8pPr>
            <a:lvl9pPr>
              <a:defRPr sz="1725" b="0">
                <a:solidFill>
                  <a:srgbClr val="BED7E7"/>
                </a:solidFill>
              </a:defRPr>
            </a:lvl9pPr>
          </a:lstStyle>
          <a:p xmlns:a="http://schemas.openxmlformats.org/drawingml/2006/main">
            <a:pPr>
              <a:defRPr sz="1725" b="0">
                <a:solidFill>
                  <a:srgbClr val="BED7E7"/>
                </a:solidFill>
              </a:defRPr>
            </a:pPr>
            <a:r>
              <a:rPr sz="1725" b="0">
                <a:solidFill>
                  <a:srgbClr val="BED7E7"/>
                </a:solidFill>
              </a:rPr>
              <a:t>ゼミ発表 ／ 研究計画</a:t>
            </a:r>
          </a:p>
        </p:txBody>
      </p:sp>
    </p:spTree>
    <p:extLst>
      <p:ext uri="{BB962C8B-B14F-4D97-AF65-F5344CB8AC3E}">
        <p14:creationId xmlns:p14="http://schemas.microsoft.com/office/powerpoint/2010/main" val="1314771101"/>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2F043E3-EC13-4543-8F94-6B4FC1263470}"/>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研究の問い</a:t>
            </a:r>
          </a:p>
        </p:txBody>
      </p:sp>
      <p:sp>
        <p:nvSpPr>
          <p:cNvPr id="3" name="">
            <a:extLst xmlns:a="http://schemas.openxmlformats.org/drawingml/2006/main">
              <a:ext uri="{FF2B5EF4-FFF2-40B4-BE49-F238E27FC236}">
                <a16:creationId xmlns:a16="http://schemas.microsoft.com/office/drawing/2014/main" id="{DE201DC3-4E7F-43AD-90DB-9B499BA29D38}"/>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どのデータ構造で生成が失敗するか</a:t>
            </a:r>
          </a:p>
        </p:txBody>
      </p:sp>
      <p:sp>
        <p:nvSpPr>
          <p:cNvPr id="4" name="">
            <a:extLst xmlns:a="http://schemas.openxmlformats.org/drawingml/2006/main">
              <a:ext uri="{FF2B5EF4-FFF2-40B4-BE49-F238E27FC236}">
                <a16:creationId xmlns:a16="http://schemas.microsoft.com/office/drawing/2014/main" id="{A27D555F-90DD-4A41-A776-93CA3D58ED25}"/>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失敗を抑える制約は、分類性能を改善するか</a:t>
            </a:r>
          </a:p>
        </p:txBody>
      </p:sp>
      <p:sp>
        <p:nvSpPr>
          <p:cNvPr id="5" name="">
            <a:extLst xmlns:a="http://schemas.openxmlformats.org/drawingml/2006/main">
              <a:ext uri="{FF2B5EF4-FFF2-40B4-BE49-F238E27FC236}">
                <a16:creationId xmlns:a16="http://schemas.microsoft.com/office/drawing/2014/main" id="{68DB4E43-253E-4176-8CD9-54C073526188}"/>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02</a:t>
            </a:r>
          </a:p>
        </p:txBody>
      </p:sp>
    </p:spTree>
    <p:extLst>
      <p:ext uri="{BB962C8B-B14F-4D97-AF65-F5344CB8AC3E}">
        <p14:creationId xmlns:p14="http://schemas.microsoft.com/office/powerpoint/2010/main" val="519988605"/>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B4CBC58-F4A6-4F26-BE3F-14A66DC25B9F}"/>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今回の対象と発表の流れ</a:t>
            </a:r>
          </a:p>
        </p:txBody>
      </p:sp>
      <p:sp>
        <p:nvSpPr>
          <p:cNvPr id="3" name="">
            <a:extLst xmlns:a="http://schemas.openxmlformats.org/drawingml/2006/main">
              <a:ext uri="{FF2B5EF4-FFF2-40B4-BE49-F238E27FC236}">
                <a16:creationId xmlns:a16="http://schemas.microsoft.com/office/drawing/2014/main" id="{B43B315B-6389-4FE2-9D26-E10F098F58D2}"/>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対象：全件ラベル付きの二値分類</a:t>
            </a:r>
          </a:p>
          <a:p xmlns:a="http://schemas.openxmlformats.org/drawingml/2006/main">
            <a:pPr>
              <a:defRPr sz="2700" b="1">
                <a:solidFill>
                  <a:srgbClr val="172B4D"/>
                </a:solidFill>
              </a:defRPr>
            </a:pPr>
            <a:r>
              <a:rPr sz="2700" b="1">
                <a:solidFill>
                  <a:srgbClr val="172B4D"/>
                </a:solidFill>
              </a:rPr>
              <a:t>最初は連続値の特徴に限定</a:t>
            </a:r>
          </a:p>
        </p:txBody>
      </p:sp>
      <p:sp>
        <p:nvSpPr>
          <p:cNvPr id="4" name="">
            <a:extLst xmlns:a="http://schemas.openxmlformats.org/drawingml/2006/main">
              <a:ext uri="{FF2B5EF4-FFF2-40B4-BE49-F238E27FC236}">
                <a16:creationId xmlns:a16="http://schemas.microsoft.com/office/drawing/2014/main" id="{218CA085-B909-47C2-BC41-68A6F2461270}"/>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背景と評価 ／ ６手法の仕組みと問題</a:t>
            </a:r>
          </a:p>
          <a:p xmlns:a="http://schemas.openxmlformats.org/drawingml/2006/main">
            <a:pPr>
              <a:defRPr sz="2250" b="0">
                <a:solidFill>
                  <a:srgbClr val="336C81"/>
                </a:solidFill>
              </a:defRPr>
            </a:pPr>
            <a:r>
              <a:rPr sz="2250" b="0">
                <a:solidFill>
                  <a:srgbClr val="336C81"/>
                </a:solidFill>
              </a:rPr>
              <a:t>改善案 ／ 比較実験 ／ 次の課題</a:t>
            </a:r>
          </a:p>
        </p:txBody>
      </p:sp>
      <p:sp>
        <p:nvSpPr>
          <p:cNvPr id="5" name="">
            <a:extLst xmlns:a="http://schemas.openxmlformats.org/drawingml/2006/main">
              <a:ext uri="{FF2B5EF4-FFF2-40B4-BE49-F238E27FC236}">
                <a16:creationId xmlns:a16="http://schemas.microsoft.com/office/drawing/2014/main" id="{7EF70B3A-DF4C-4973-97F1-D39B39C78B57}"/>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03</a:t>
            </a:r>
          </a:p>
        </p:txBody>
      </p:sp>
    </p:spTree>
    <p:extLst>
      <p:ext uri="{BB962C8B-B14F-4D97-AF65-F5344CB8AC3E}">
        <p14:creationId xmlns:p14="http://schemas.microsoft.com/office/powerpoint/2010/main" val="46929858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326E082-9C48-4E0A-9976-20C13B140096}"/>
              </a:ext>
            </a:extLst>
          </p:cNvPr>
          <p:cNvSpPr>
            <a:spLocks xmlns:a="http://schemas.openxmlformats.org/drawingml/2006/main" noGrp="1"/>
          </p:cNvSpPr>
          <p:nvPr/>
        </p:nvSpPr>
        <p:spPr>
          <a:xfrm xmlns:a="http://schemas.openxmlformats.org/drawingml/2006/main">
            <a:off x="68580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クラス不均衡とAccuracyの限界</a:t>
            </a:r>
          </a:p>
        </p:txBody>
      </p:sp>
      <p:sp>
        <p:nvSpPr>
          <p:cNvPr id="3" name="">
            <a:extLst xmlns:a="http://schemas.openxmlformats.org/drawingml/2006/main">
              <a:ext uri="{FF2B5EF4-FFF2-40B4-BE49-F238E27FC236}">
                <a16:creationId xmlns:a16="http://schemas.microsoft.com/office/drawing/2014/main" id="{CB670409-410B-4E7B-B1C0-1FD46966E471}"/>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04</a:t>
            </a:r>
          </a:p>
        </p:txBody>
      </p:sp>
      <p:graphicFrame>
        <p:nvGraphicFramePr>
          <p:cNvPr id="4" name="">
            <a:extLst xmlns:a="http://schemas.openxmlformats.org/drawingml/2006/main">
              <a:ext uri="{FF2B5EF4-FFF2-40B4-BE49-F238E27FC236}">
                <a16:creationId xmlns:a16="http://schemas.microsoft.com/office/drawing/2014/main" id="{551A7A83-E059-4D0E-9F9D-FC563323BCB3}"/>
              </a:ext>
            </a:extLst>
          </p:cNvPr>
          <p:cNvGraphicFramePr/>
          <p:nvPr/>
        </p:nvGraphicFramePr>
        <p:xfrm>
          <a:off xmlns:a="http://schemas.openxmlformats.org/drawingml/2006/main" x="723900" y="1685925"/>
          <a:ext xmlns:a="http://schemas.openxmlformats.org/drawingml/2006/main" cx="10744200" cy="2381250"/>
        </p:xfrm>
        <a:graphic xmlns:a="http://schemas.openxmlformats.org/drawingml/2006/main">
          <a:graphicData uri="http://schemas.openxmlformats.org/drawingml/2006/table">
            <a:tbl>
              <a:tblPr/>
              <a:tblGrid>
                <a:gridCol w="3810000"/>
                <a:gridCol w="3467100"/>
                <a:gridCol w="3467100"/>
              </a:tblGrid>
              <a:tr h="793750">
                <a:tc>
                  <a:txBody>
                    <a:bodyPr/>
                    <a:lstStyle/>
                    <a:p>
                      <a:r>
                        <a:rPr sz="1875" b="1">
                          <a:solidFill>
                            <a:srgbClr val="FFFFFF"/>
                          </a:solidFill>
                        </a:rPr>
                        <a:t>真のクラス</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多数と予測</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少数と予測</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793750">
                <a:tc>
                  <a:txBody>
                    <a:bodyPr/>
                    <a:lstStyle/>
                    <a:p>
                      <a:r>
                        <a:rPr sz="1800" b="0">
                          <a:solidFill>
                            <a:srgbClr val="172B4D"/>
                          </a:solidFill>
                        </a:rPr>
                        <a:t>多数クラス</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950件</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0件</a:t>
                      </a:r>
                    </a:p>
                  </a:txBody>
                  <a:tcPr marL="91440" marR="91440" marT="45720" marB="45720">
                    <a:lnR w="9525">
                      <a:solidFill>
                        <a:srgbClr val="D7E1E8"/>
                      </a:solidFill>
                      <a:prstDash val="solid"/>
                    </a:lnR>
                    <a:lnB w="9525">
                      <a:solidFill>
                        <a:srgbClr val="D7E1E8"/>
                      </a:solidFill>
                      <a:prstDash val="solid"/>
                    </a:lnB>
                    <a:solidFill>
                      <a:srgbClr val="EDF3F7"/>
                    </a:solidFill>
                  </a:tcPr>
                </a:tc>
              </a:tr>
              <a:tr h="793750">
                <a:tc>
                  <a:txBody>
                    <a:bodyPr/>
                    <a:lstStyle/>
                    <a:p>
                      <a:r>
                        <a:rPr sz="1800" b="0">
                          <a:solidFill>
                            <a:srgbClr val="172B4D"/>
                          </a:solidFill>
                        </a:rPr>
                        <a:t>少数クラス</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50件</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0件</a:t>
                      </a:r>
                    </a:p>
                  </a:txBody>
                  <a:tcPr marL="91440" marR="91440" marT="45720" marB="45720">
                    <a:lnR w="9525">
                      <a:solidFill>
                        <a:srgbClr val="D7E1E8"/>
                      </a:solidFill>
                      <a:prstDash val="solid"/>
                    </a:lnR>
                    <a:lnB w="9525">
                      <a:solidFill>
                        <a:srgbClr val="D7E1E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B0138A1-AC2A-4678-8320-7E42A36006D7}"/>
              </a:ext>
            </a:extLst>
          </p:cNvPr>
          <p:cNvSpPr>
            <a:spLocks xmlns:a="http://schemas.openxmlformats.org/drawingml/2006/main" noGrp="1"/>
          </p:cNvSpPr>
          <p:nvPr/>
        </p:nvSpPr>
        <p:spPr>
          <a:xfrm xmlns:a="http://schemas.openxmlformats.org/drawingml/2006/main">
            <a:off x="781050" y="4572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336C81"/>
                </a:solidFill>
              </a:defRPr>
            </a:defPPr>
            <a:lvl1pPr>
              <a:defRPr sz="2850" b="1">
                <a:solidFill>
                  <a:srgbClr val="336C81"/>
                </a:solidFill>
              </a:defRPr>
            </a:lvl1pPr>
            <a:lvl2pPr>
              <a:defRPr sz="2850" b="1">
                <a:solidFill>
                  <a:srgbClr val="336C81"/>
                </a:solidFill>
              </a:defRPr>
            </a:lvl2pPr>
            <a:lvl3pPr>
              <a:defRPr sz="2850" b="1">
                <a:solidFill>
                  <a:srgbClr val="336C81"/>
                </a:solidFill>
              </a:defRPr>
            </a:lvl3pPr>
            <a:lvl4pPr>
              <a:defRPr sz="2850" b="1">
                <a:solidFill>
                  <a:srgbClr val="336C81"/>
                </a:solidFill>
              </a:defRPr>
            </a:lvl4pPr>
            <a:lvl5pPr>
              <a:defRPr sz="2850" b="1">
                <a:solidFill>
                  <a:srgbClr val="336C81"/>
                </a:solidFill>
              </a:defRPr>
            </a:lvl5pPr>
            <a:lvl6pPr>
              <a:defRPr sz="2850" b="1">
                <a:solidFill>
                  <a:srgbClr val="336C81"/>
                </a:solidFill>
              </a:defRPr>
            </a:lvl6pPr>
            <a:lvl7pPr>
              <a:defRPr sz="2850" b="1">
                <a:solidFill>
                  <a:srgbClr val="336C81"/>
                </a:solidFill>
              </a:defRPr>
            </a:lvl7pPr>
            <a:lvl8pPr>
              <a:defRPr sz="2850" b="1">
                <a:solidFill>
                  <a:srgbClr val="336C81"/>
                </a:solidFill>
              </a:defRPr>
            </a:lvl8pPr>
            <a:lvl9pPr>
              <a:defRPr sz="2850" b="1">
                <a:solidFill>
                  <a:srgbClr val="336C81"/>
                </a:solidFill>
              </a:defRPr>
            </a:lvl9pPr>
          </a:lstStyle>
          <a:p xmlns:a="http://schemas.openxmlformats.org/drawingml/2006/main">
            <a:pPr>
              <a:defRPr sz="2850" b="1">
                <a:solidFill>
                  <a:srgbClr val="336C81"/>
                </a:solidFill>
              </a:defRPr>
            </a:pPr>
            <a:r>
              <a:rPr sz="2850" b="1">
                <a:solidFill>
                  <a:srgbClr val="336C81"/>
                </a:solidFill>
              </a:rPr>
              <a:t>Accuracy 95%     少数クラスRecall 0%</a:t>
            </a:r>
          </a:p>
        </p:txBody>
      </p:sp>
      <p:sp>
        <p:nvSpPr>
          <p:cNvPr id="6" name="">
            <a:extLst xmlns:a="http://schemas.openxmlformats.org/drawingml/2006/main">
              <a:ext uri="{FF2B5EF4-FFF2-40B4-BE49-F238E27FC236}">
                <a16:creationId xmlns:a16="http://schemas.microsoft.com/office/drawing/2014/main" id="{67DD275E-7DC3-4447-9093-A011750DE227}"/>
              </a:ext>
            </a:extLst>
          </p:cNvPr>
          <p:cNvSpPr>
            <a:spLocks xmlns:a="http://schemas.openxmlformats.org/drawingml/2006/main" noGrp="1"/>
          </p:cNvSpPr>
          <p:nvPr/>
        </p:nvSpPr>
        <p:spPr>
          <a:xfrm xmlns:a="http://schemas.openxmlformats.org/drawingml/2006/main">
            <a:off x="781050" y="54292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B4D"/>
                </a:solidFill>
              </a:defRPr>
            </a:defPPr>
            <a:lvl1pPr>
              <a:defRPr sz="1875" b="0">
                <a:solidFill>
                  <a:srgbClr val="172B4D"/>
                </a:solidFill>
              </a:defRPr>
            </a:lvl1pPr>
            <a:lvl2pPr>
              <a:defRPr sz="1875" b="0">
                <a:solidFill>
                  <a:srgbClr val="172B4D"/>
                </a:solidFill>
              </a:defRPr>
            </a:lvl2pPr>
            <a:lvl3pPr>
              <a:defRPr sz="1875" b="0">
                <a:solidFill>
                  <a:srgbClr val="172B4D"/>
                </a:solidFill>
              </a:defRPr>
            </a:lvl3pPr>
            <a:lvl4pPr>
              <a:defRPr sz="1875" b="0">
                <a:solidFill>
                  <a:srgbClr val="172B4D"/>
                </a:solidFill>
              </a:defRPr>
            </a:lvl4pPr>
            <a:lvl5pPr>
              <a:defRPr sz="1875" b="0">
                <a:solidFill>
                  <a:srgbClr val="172B4D"/>
                </a:solidFill>
              </a:defRPr>
            </a:lvl5pPr>
            <a:lvl6pPr>
              <a:defRPr sz="1875" b="0">
                <a:solidFill>
                  <a:srgbClr val="172B4D"/>
                </a:solidFill>
              </a:defRPr>
            </a:lvl6pPr>
            <a:lvl7pPr>
              <a:defRPr sz="1875" b="0">
                <a:solidFill>
                  <a:srgbClr val="172B4D"/>
                </a:solidFill>
              </a:defRPr>
            </a:lvl7pPr>
            <a:lvl8pPr>
              <a:defRPr sz="1875" b="0">
                <a:solidFill>
                  <a:srgbClr val="172B4D"/>
                </a:solidFill>
              </a:defRPr>
            </a:lvl8pPr>
            <a:lvl9pPr>
              <a:defRPr sz="1875" b="0">
                <a:solidFill>
                  <a:srgbClr val="172B4D"/>
                </a:solidFill>
              </a:defRPr>
            </a:lvl9pPr>
          </a:lstStyle>
          <a:p xmlns:a="http://schemas.openxmlformats.org/drawingml/2006/main">
            <a:pPr>
              <a:defRPr sz="1875" b="0">
                <a:solidFill>
                  <a:srgbClr val="172B4D"/>
                </a:solidFill>
              </a:defRPr>
            </a:pPr>
            <a:r>
              <a:rPr sz="1875" b="0">
                <a:solidFill>
                  <a:srgbClr val="172B4D"/>
                </a:solidFill>
              </a:rPr>
              <a:t>説明用の計算例：全件を多数クラスと予測した場合</a:t>
            </a:r>
          </a:p>
        </p:txBody>
      </p:sp>
    </p:spTree>
    <p:extLst>
      <p:ext uri="{BB962C8B-B14F-4D97-AF65-F5344CB8AC3E}">
        <p14:creationId xmlns:p14="http://schemas.microsoft.com/office/powerpoint/2010/main" val="1347817130"/>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6816388-9868-4E76-BBED-9059BCAF09F4}"/>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データ拡張で改善したいもの</a:t>
            </a:r>
          </a:p>
        </p:txBody>
      </p:sp>
      <p:sp>
        <p:nvSpPr>
          <p:cNvPr id="3" name="">
            <a:extLst xmlns:a="http://schemas.openxmlformats.org/drawingml/2006/main">
              <a:ext uri="{FF2B5EF4-FFF2-40B4-BE49-F238E27FC236}">
                <a16:creationId xmlns:a16="http://schemas.microsoft.com/office/drawing/2014/main" id="{4FEDE3AC-DE73-4CD9-9D10-A5F61C877527}"/>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少数クラスの学習例を増やし、</a:t>
            </a:r>
          </a:p>
          <a:p xmlns:a="http://schemas.openxmlformats.org/drawingml/2006/main">
            <a:pPr>
              <a:defRPr sz="2700" b="1">
                <a:solidFill>
                  <a:srgbClr val="172B4D"/>
                </a:solidFill>
              </a:defRPr>
            </a:pPr>
            <a:r>
              <a:rPr sz="2700" b="1">
                <a:solidFill>
                  <a:srgbClr val="172B4D"/>
                </a:solidFill>
              </a:rPr>
              <a:t>分類器が学習できる範囲を広げる</a:t>
            </a:r>
          </a:p>
        </p:txBody>
      </p:sp>
      <p:sp>
        <p:nvSpPr>
          <p:cNvPr id="4" name="">
            <a:extLst xmlns:a="http://schemas.openxmlformats.org/drawingml/2006/main">
              <a:ext uri="{FF2B5EF4-FFF2-40B4-BE49-F238E27FC236}">
                <a16:creationId xmlns:a16="http://schemas.microsoft.com/office/drawing/2014/main" id="{2FBB9019-18F9-4871-908C-A9BDDCD0640C}"/>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目標：未知の実データで少数クラスを識別する</a:t>
            </a:r>
          </a:p>
          <a:p xmlns:a="http://schemas.openxmlformats.org/drawingml/2006/main">
            <a:pPr>
              <a:defRPr sz="2250" b="0">
                <a:solidFill>
                  <a:srgbClr val="336C81"/>
                </a:solidFill>
              </a:defRPr>
            </a:pPr>
            <a:r>
              <a:rPr sz="2250" b="0">
                <a:solidFill>
                  <a:srgbClr val="336C81"/>
                </a:solidFill>
              </a:rPr>
              <a:t>注意：件数を揃えても性能向上は保証しない</a:t>
            </a:r>
          </a:p>
        </p:txBody>
      </p:sp>
      <p:sp>
        <p:nvSpPr>
          <p:cNvPr id="5" name="">
            <a:extLst xmlns:a="http://schemas.openxmlformats.org/drawingml/2006/main">
              <a:ext uri="{FF2B5EF4-FFF2-40B4-BE49-F238E27FC236}">
                <a16:creationId xmlns:a16="http://schemas.microsoft.com/office/drawing/2014/main" id="{F4873D42-C35C-4FFF-8085-BAB06CA18D2C}"/>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05</a:t>
            </a:r>
          </a:p>
        </p:txBody>
      </p:sp>
    </p:spTree>
    <p:extLst>
      <p:ext uri="{BB962C8B-B14F-4D97-AF65-F5344CB8AC3E}">
        <p14:creationId xmlns:p14="http://schemas.microsoft.com/office/powerpoint/2010/main" val="1092602900"/>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A259EC2-C012-46FF-AFC0-2CDA4842A9D7}"/>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共通する問題：ラベルを保てるか</a:t>
            </a:r>
          </a:p>
        </p:txBody>
      </p:sp>
      <p:sp>
        <p:nvSpPr>
          <p:cNvPr id="3" name="">
            <a:extLst xmlns:a="http://schemas.openxmlformats.org/drawingml/2006/main">
              <a:ext uri="{FF2B5EF4-FFF2-40B4-BE49-F238E27FC236}">
                <a16:creationId xmlns:a16="http://schemas.microsoft.com/office/drawing/2014/main" id="{3662570D-F6F8-40DF-9CBA-57E10E8158FA}"/>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生成時に少数クラスのラベルを付けても、</a:t>
            </a:r>
          </a:p>
          <a:p xmlns:a="http://schemas.openxmlformats.org/drawingml/2006/main">
            <a:pPr>
              <a:defRPr sz="2700" b="1">
                <a:solidFill>
                  <a:srgbClr val="172B4D"/>
                </a:solidFill>
              </a:defRPr>
            </a:pPr>
            <a:r>
              <a:rPr sz="2700" b="1">
                <a:solidFill>
                  <a:srgbClr val="172B4D"/>
                </a:solidFill>
              </a:rPr>
              <a:t>生成点がそのクラスに属する保証はない</a:t>
            </a:r>
          </a:p>
        </p:txBody>
      </p:sp>
      <p:sp>
        <p:nvSpPr>
          <p:cNvPr id="4" name="">
            <a:extLst xmlns:a="http://schemas.openxmlformats.org/drawingml/2006/main">
              <a:ext uri="{FF2B5EF4-FFF2-40B4-BE49-F238E27FC236}">
                <a16:creationId xmlns:a16="http://schemas.microsoft.com/office/drawing/2014/main" id="{1F2C52BB-CF90-4E23-8D17-8AA0DC28510C}"/>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確認するもの：特徴間の関係、クラス境界、</a:t>
            </a:r>
          </a:p>
          <a:p xmlns:a="http://schemas.openxmlformats.org/drawingml/2006/main">
            <a:pPr>
              <a:defRPr sz="2250" b="0">
                <a:solidFill>
                  <a:srgbClr val="336C81"/>
                </a:solidFill>
              </a:defRPr>
            </a:pPr>
            <a:r>
              <a:rPr sz="2250" b="0">
                <a:solidFill>
                  <a:srgbClr val="336C81"/>
                </a:solidFill>
              </a:rPr>
              <a:t>値域や整数などの意味制約</a:t>
            </a:r>
          </a:p>
        </p:txBody>
      </p:sp>
      <p:sp>
        <p:nvSpPr>
          <p:cNvPr id="5" name="">
            <a:extLst xmlns:a="http://schemas.openxmlformats.org/drawingml/2006/main">
              <a:ext uri="{FF2B5EF4-FFF2-40B4-BE49-F238E27FC236}">
                <a16:creationId xmlns:a16="http://schemas.microsoft.com/office/drawing/2014/main" id="{B378D4F7-F731-4AE5-954A-DDE680463FDF}"/>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06</a:t>
            </a:r>
          </a:p>
        </p:txBody>
      </p:sp>
    </p:spTree>
    <p:extLst>
      <p:ext uri="{BB962C8B-B14F-4D97-AF65-F5344CB8AC3E}">
        <p14:creationId xmlns:p14="http://schemas.microsoft.com/office/powerpoint/2010/main" val="793157499"/>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EC15D39-CEC9-4681-B8B1-4706760707F0}"/>
              </a:ext>
            </a:extLst>
          </p:cNvPr>
          <p:cNvSpPr>
            <a:spLocks xmlns:a="http://schemas.openxmlformats.org/drawingml/2006/main" noGrp="1"/>
          </p:cNvSpPr>
          <p:nvPr/>
        </p:nvSpPr>
        <p:spPr>
          <a:xfrm xmlns:a="http://schemas.openxmlformats.org/drawingml/2006/main">
            <a:off x="68580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比較する６手法の位置づけ</a:t>
            </a:r>
          </a:p>
        </p:txBody>
      </p:sp>
      <p:sp>
        <p:nvSpPr>
          <p:cNvPr id="3" name="">
            <a:extLst xmlns:a="http://schemas.openxmlformats.org/drawingml/2006/main">
              <a:ext uri="{FF2B5EF4-FFF2-40B4-BE49-F238E27FC236}">
                <a16:creationId xmlns:a16="http://schemas.microsoft.com/office/drawing/2014/main" id="{71A2AB25-C78D-47F5-8BD6-658D50D56A32}"/>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07</a:t>
            </a:r>
          </a:p>
        </p:txBody>
      </p:sp>
      <p:graphicFrame>
        <p:nvGraphicFramePr>
          <p:cNvPr id="4" name="">
            <a:extLst xmlns:a="http://schemas.openxmlformats.org/drawingml/2006/main">
              <a:ext uri="{FF2B5EF4-FFF2-40B4-BE49-F238E27FC236}">
                <a16:creationId xmlns:a16="http://schemas.microsoft.com/office/drawing/2014/main" id="{242D177B-7F91-4CEF-86C4-F9508FA878C3}"/>
              </a:ext>
            </a:extLst>
          </p:cNvPr>
          <p:cNvGraphicFramePr/>
          <p:nvPr/>
        </p:nvGraphicFramePr>
        <p:xfrm>
          <a:off xmlns:a="http://schemas.openxmlformats.org/drawingml/2006/main" x="723900" y="1666875"/>
          <a:ext xmlns:a="http://schemas.openxmlformats.org/drawingml/2006/main" cx="10744200" cy="4171950"/>
        </p:xfrm>
        <a:graphic xmlns:a="http://schemas.openxmlformats.org/drawingml/2006/main">
          <a:graphicData uri="http://schemas.openxmlformats.org/drawingml/2006/table">
            <a:tbl>
              <a:tblPr/>
              <a:tblGrid>
                <a:gridCol w="2667000"/>
                <a:gridCol w="4381500"/>
                <a:gridCol w="3695700"/>
              </a:tblGrid>
              <a:tr h="595993">
                <a:tc>
                  <a:txBody>
                    <a:bodyPr/>
                    <a:lstStyle/>
                    <a:p>
                      <a:r>
                        <a:rPr sz="1875" b="1">
                          <a:solidFill>
                            <a:srgbClr val="FFFFFF"/>
                          </a:solidFill>
                        </a:rPr>
                        <a:t>方法</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生成の基本操作</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今回の確認点</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595993">
                <a:tc>
                  <a:txBody>
                    <a:bodyPr/>
                    <a:lstStyle/>
                    <a:p>
                      <a:r>
                        <a:rPr sz="1800" b="0">
                          <a:solidFill>
                            <a:srgbClr val="172B4D"/>
                          </a:solidFill>
                        </a:rPr>
                        <a:t>列シャッフル</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クラス内で各列を再抽出</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特徴間の関係</a:t>
                      </a:r>
                    </a:p>
                  </a:txBody>
                  <a:tcPr marL="91440" marR="91440" marT="45720" marB="45720">
                    <a:lnR w="9525">
                      <a:solidFill>
                        <a:srgbClr val="D7E1E8"/>
                      </a:solidFill>
                      <a:prstDash val="solid"/>
                    </a:lnR>
                    <a:lnB w="9525">
                      <a:solidFill>
                        <a:srgbClr val="D7E1E8"/>
                      </a:solidFill>
                      <a:prstDash val="solid"/>
                    </a:lnB>
                    <a:solidFill>
                      <a:srgbClr val="EDF3F7"/>
                    </a:solidFill>
                  </a:tcPr>
                </a:tc>
              </a:tr>
              <a:tr h="595993">
                <a:tc>
                  <a:txBody>
                    <a:bodyPr/>
                    <a:lstStyle/>
                    <a:p>
                      <a:r>
                        <a:rPr sz="1800" b="0">
                          <a:solidFill>
                            <a:srgbClr val="172B4D"/>
                          </a:solidFill>
                        </a:rPr>
                        <a:t>Gaussian copula</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変換空間の分布から生成</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依存の推定精度</a:t>
                      </a:r>
                    </a:p>
                  </a:txBody>
                  <a:tcPr marL="91440" marR="91440" marT="45720" marB="45720">
                    <a:lnR w="9525">
                      <a:solidFill>
                        <a:srgbClr val="D7E1E8"/>
                      </a:solidFill>
                      <a:prstDash val="solid"/>
                    </a:lnR>
                    <a:lnB w="9525">
                      <a:solidFill>
                        <a:srgbClr val="D7E1E8"/>
                      </a:solidFill>
                      <a:prstDash val="solid"/>
                    </a:lnB>
                    <a:solidFill>
                      <a:srgbClr val="FFFFFF"/>
                    </a:solidFill>
                  </a:tcPr>
                </a:tc>
              </a:tr>
              <a:tr h="595993">
                <a:tc>
                  <a:txBody>
                    <a:bodyPr/>
                    <a:lstStyle/>
                    <a:p>
                      <a:r>
                        <a:rPr sz="1800" b="0">
                          <a:solidFill>
                            <a:srgbClr val="172B4D"/>
                          </a:solidFill>
                        </a:rPr>
                        <a:t>SMOTE</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同じクラスの近傍を補間</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境界・集団間の補間</a:t>
                      </a:r>
                    </a:p>
                  </a:txBody>
                  <a:tcPr marL="91440" marR="91440" marT="45720" marB="45720">
                    <a:lnR w="9525">
                      <a:solidFill>
                        <a:srgbClr val="D7E1E8"/>
                      </a:solidFill>
                      <a:prstDash val="solid"/>
                    </a:lnR>
                    <a:lnB w="9525">
                      <a:solidFill>
                        <a:srgbClr val="D7E1E8"/>
                      </a:solidFill>
                      <a:prstDash val="solid"/>
                    </a:lnB>
                    <a:solidFill>
                      <a:srgbClr val="EDF3F7"/>
                    </a:solidFill>
                  </a:tcPr>
                </a:tc>
              </a:tr>
              <a:tr h="595993">
                <a:tc>
                  <a:txBody>
                    <a:bodyPr/>
                    <a:lstStyle/>
                    <a:p>
                      <a:r>
                        <a:rPr sz="1800" b="0">
                          <a:solidFill>
                            <a:srgbClr val="172B4D"/>
                          </a:solidFill>
                        </a:rPr>
                        <a:t>コピュラSMOTE</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変換空間で補間し逆変換</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距離の意味</a:t>
                      </a:r>
                    </a:p>
                  </a:txBody>
                  <a:tcPr marL="91440" marR="91440" marT="45720" marB="45720">
                    <a:lnR w="9525">
                      <a:solidFill>
                        <a:srgbClr val="D7E1E8"/>
                      </a:solidFill>
                      <a:prstDash val="solid"/>
                    </a:lnR>
                    <a:lnB w="9525">
                      <a:solidFill>
                        <a:srgbClr val="D7E1E8"/>
                      </a:solidFill>
                      <a:prstDash val="solid"/>
                    </a:lnB>
                    <a:solidFill>
                      <a:srgbClr val="FFFFFF"/>
                    </a:solidFill>
                  </a:tcPr>
                </a:tc>
              </a:tr>
              <a:tr h="595993">
                <a:tc>
                  <a:txBody>
                    <a:bodyPr/>
                    <a:lstStyle/>
                    <a:p>
                      <a:r>
                        <a:rPr sz="1800" b="0">
                          <a:solidFill>
                            <a:srgbClr val="172B4D"/>
                          </a:solidFill>
                        </a:rPr>
                        <a:t>CTGAN</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クラスを条件に生成</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少数例・学習安定性</a:t>
                      </a:r>
                    </a:p>
                  </a:txBody>
                  <a:tcPr marL="91440" marR="91440" marT="45720" marB="45720">
                    <a:lnR w="9525">
                      <a:solidFill>
                        <a:srgbClr val="D7E1E8"/>
                      </a:solidFill>
                      <a:prstDash val="solid"/>
                    </a:lnR>
                    <a:lnB w="9525">
                      <a:solidFill>
                        <a:srgbClr val="D7E1E8"/>
                      </a:solidFill>
                      <a:prstDash val="solid"/>
                    </a:lnB>
                    <a:solidFill>
                      <a:srgbClr val="EDF3F7"/>
                    </a:solidFill>
                  </a:tcPr>
                </a:tc>
              </a:tr>
              <a:tr h="595993">
                <a:tc>
                  <a:txBody>
                    <a:bodyPr/>
                    <a:lstStyle/>
                    <a:p>
                      <a:r>
                        <a:rPr sz="1800" b="0">
                          <a:solidFill>
                            <a:srgbClr val="172B4D"/>
                          </a:solidFill>
                        </a:rPr>
                        <a:t>CTGAN×コピュラ</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分布変換とGANを併用</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単独手法への追加効果</a:t>
                      </a:r>
                    </a:p>
                  </a:txBody>
                  <a:tcPr marL="91440" marR="91440" marT="45720" marB="45720">
                    <a:lnR w="9525">
                      <a:solidFill>
                        <a:srgbClr val="D7E1E8"/>
                      </a:solidFill>
                      <a:prstDash val="solid"/>
                    </a:lnR>
                    <a:lnB w="9525">
                      <a:solidFill>
                        <a:srgbClr val="D7E1E8"/>
                      </a:solidFill>
                      <a:prstDash val="solid"/>
                    </a:lnB>
                    <a:solidFill>
                      <a:srgbClr val="FFFFFF"/>
                    </a:solidFill>
                  </a:tcPr>
                </a:tc>
              </a:tr>
            </a:tbl>
          </a:graphicData>
        </a:graphic>
      </p:graphicFrame>
    </p:spTree>
    <p:extLst>
      <p:ext uri="{BB962C8B-B14F-4D97-AF65-F5344CB8AC3E}">
        <p14:creationId xmlns:p14="http://schemas.microsoft.com/office/powerpoint/2010/main" val="869194682"/>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033DFFA-0040-49EF-A622-E2AC52563B27}"/>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列シャッフル：クラス内で値を組み替える</a:t>
            </a:r>
          </a:p>
        </p:txBody>
      </p:sp>
      <p:sp>
        <p:nvSpPr>
          <p:cNvPr id="3" name="">
            <a:extLst xmlns:a="http://schemas.openxmlformats.org/drawingml/2006/main">
              <a:ext uri="{FF2B5EF4-FFF2-40B4-BE49-F238E27FC236}">
                <a16:creationId xmlns:a16="http://schemas.microsoft.com/office/drawing/2014/main" id="{75B511C4-0BCA-4111-B31D-428695BA2868}"/>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同じクラスの各列から、</a:t>
            </a:r>
          </a:p>
          <a:p xmlns:a="http://schemas.openxmlformats.org/drawingml/2006/main">
            <a:pPr>
              <a:defRPr sz="2700" b="1">
                <a:solidFill>
                  <a:srgbClr val="172B4D"/>
                </a:solidFill>
              </a:defRPr>
            </a:pPr>
            <a:r>
              <a:rPr sz="2700" b="1">
                <a:solidFill>
                  <a:srgbClr val="172B4D"/>
                </a:solidFill>
              </a:rPr>
              <a:t>独立に値を選んで新しい行を作る</a:t>
            </a:r>
          </a:p>
        </p:txBody>
      </p:sp>
      <p:sp>
        <p:nvSpPr>
          <p:cNvPr id="4" name="">
            <a:extLst xmlns:a="http://schemas.openxmlformats.org/drawingml/2006/main">
              <a:ext uri="{FF2B5EF4-FFF2-40B4-BE49-F238E27FC236}">
                <a16:creationId xmlns:a16="http://schemas.microsoft.com/office/drawing/2014/main" id="{85A545FB-E6C5-4B7F-BF8C-2A71C26CA454}"/>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各列の分布は残しやすい</a:t>
            </a:r>
          </a:p>
          <a:p xmlns:a="http://schemas.openxmlformats.org/drawingml/2006/main">
            <a:pPr>
              <a:defRPr sz="2250" b="0">
                <a:solidFill>
                  <a:srgbClr val="336C81"/>
                </a:solidFill>
              </a:defRPr>
            </a:pPr>
            <a:r>
              <a:rPr sz="2250" b="0">
                <a:solidFill>
                  <a:srgbClr val="336C81"/>
                </a:solidFill>
              </a:rPr>
              <a:t>列をまたぐ依存関係は壊れうる</a:t>
            </a:r>
          </a:p>
        </p:txBody>
      </p:sp>
      <p:sp>
        <p:nvSpPr>
          <p:cNvPr id="5" name="">
            <a:extLst xmlns:a="http://schemas.openxmlformats.org/drawingml/2006/main">
              <a:ext uri="{FF2B5EF4-FFF2-40B4-BE49-F238E27FC236}">
                <a16:creationId xmlns:a16="http://schemas.microsoft.com/office/drawing/2014/main" id="{2E7DF63F-CE4C-4628-82F7-BDB22A6CD58F}"/>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08</a:t>
            </a:r>
          </a:p>
        </p:txBody>
      </p:sp>
    </p:spTree>
    <p:extLst>
      <p:ext uri="{BB962C8B-B14F-4D97-AF65-F5344CB8AC3E}">
        <p14:creationId xmlns:p14="http://schemas.microsoft.com/office/powerpoint/2010/main" val="1560950914"/>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3371FF5-4381-4DF6-AA7B-3ECDD266C00A}"/>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列シャッフルの問題と改善案</a:t>
            </a:r>
          </a:p>
        </p:txBody>
      </p:sp>
      <p:sp>
        <p:nvSpPr>
          <p:cNvPr id="3" name="">
            <a:extLst xmlns:a="http://schemas.openxmlformats.org/drawingml/2006/main">
              <a:ext uri="{FF2B5EF4-FFF2-40B4-BE49-F238E27FC236}">
                <a16:creationId xmlns:a16="http://schemas.microsoft.com/office/drawing/2014/main" id="{077731A1-491E-4B77-A907-8D30130AE0A4}"/>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問題：関連する特徴を独立に動かすと、</a:t>
            </a:r>
          </a:p>
          <a:p xmlns:a="http://schemas.openxmlformats.org/drawingml/2006/main">
            <a:pPr>
              <a:defRPr sz="2700" b="1">
                <a:solidFill>
                  <a:srgbClr val="172B4D"/>
                </a:solidFill>
              </a:defRPr>
            </a:pPr>
            <a:r>
              <a:rPr sz="2700" b="1">
                <a:solidFill>
                  <a:srgbClr val="172B4D"/>
                </a:solidFill>
              </a:rPr>
              <a:t>観測されない組み合わせが増える</a:t>
            </a:r>
          </a:p>
        </p:txBody>
      </p:sp>
      <p:sp>
        <p:nvSpPr>
          <p:cNvPr id="4" name="">
            <a:extLst xmlns:a="http://schemas.openxmlformats.org/drawingml/2006/main">
              <a:ext uri="{FF2B5EF4-FFF2-40B4-BE49-F238E27FC236}">
                <a16:creationId xmlns:a16="http://schemas.microsoft.com/office/drawing/2014/main" id="{D08F9DEC-15A0-4BCB-A72C-451DCA7DBFCF}"/>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改善候補：関連する列を一緒に動かす</a:t>
            </a:r>
          </a:p>
          <a:p xmlns:a="http://schemas.openxmlformats.org/drawingml/2006/main">
            <a:pPr>
              <a:defRPr sz="2250" b="0">
                <a:solidFill>
                  <a:srgbClr val="336C81"/>
                </a:solidFill>
              </a:defRPr>
            </a:pPr>
            <a:r>
              <a:rPr sz="2250" b="0">
                <a:solidFill>
                  <a:srgbClr val="336C81"/>
                </a:solidFill>
              </a:rPr>
              <a:t>検証：独立な特徴の条件でも効果を比較する</a:t>
            </a:r>
          </a:p>
        </p:txBody>
      </p:sp>
      <p:sp>
        <p:nvSpPr>
          <p:cNvPr id="5" name="">
            <a:extLst xmlns:a="http://schemas.openxmlformats.org/drawingml/2006/main">
              <a:ext uri="{FF2B5EF4-FFF2-40B4-BE49-F238E27FC236}">
                <a16:creationId xmlns:a16="http://schemas.microsoft.com/office/drawing/2014/main" id="{7B775147-087A-48B2-8EEA-26C7D5E2740F}"/>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09</a:t>
            </a:r>
          </a:p>
        </p:txBody>
      </p:sp>
    </p:spTree>
    <p:extLst>
      <p:ext uri="{BB962C8B-B14F-4D97-AF65-F5344CB8AC3E}">
        <p14:creationId xmlns:p14="http://schemas.microsoft.com/office/powerpoint/2010/main" val="486190564"/>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92073A7-B7D3-47C4-939C-24C007462E94}"/>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Gaussian copulaの生成手順</a:t>
            </a:r>
          </a:p>
        </p:txBody>
      </p:sp>
      <p:sp>
        <p:nvSpPr>
          <p:cNvPr id="3" name="">
            <a:extLst xmlns:a="http://schemas.openxmlformats.org/drawingml/2006/main">
              <a:ext uri="{FF2B5EF4-FFF2-40B4-BE49-F238E27FC236}">
                <a16:creationId xmlns:a16="http://schemas.microsoft.com/office/drawing/2014/main" id="{CE55C135-E472-4DBE-B1AA-0C4D2B966E07}"/>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クラスごとに各列の順位を確率に変換し、</a:t>
            </a:r>
          </a:p>
          <a:p xmlns:a="http://schemas.openxmlformats.org/drawingml/2006/main">
            <a:pPr>
              <a:defRPr sz="2700" b="1">
                <a:solidFill>
                  <a:srgbClr val="172B4D"/>
                </a:solidFill>
              </a:defRPr>
            </a:pPr>
            <a:r>
              <a:rPr sz="2700" b="1">
                <a:solidFill>
                  <a:srgbClr val="172B4D"/>
                </a:solidFill>
              </a:rPr>
              <a:t>標準正規の空間へ移す</a:t>
            </a:r>
          </a:p>
        </p:txBody>
      </p:sp>
      <p:sp>
        <p:nvSpPr>
          <p:cNvPr id="4" name="">
            <a:extLst xmlns:a="http://schemas.openxmlformats.org/drawingml/2006/main">
              <a:ext uri="{FF2B5EF4-FFF2-40B4-BE49-F238E27FC236}">
                <a16:creationId xmlns:a16="http://schemas.microsoft.com/office/drawing/2014/main" id="{6C8B55FB-F74B-4DA1-85F8-F97AC477F8A2}"/>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変換後の相関を推定してサンプリングし、</a:t>
            </a:r>
          </a:p>
          <a:p xmlns:a="http://schemas.openxmlformats.org/drawingml/2006/main">
            <a:pPr>
              <a:defRPr sz="2250" b="0">
                <a:solidFill>
                  <a:srgbClr val="336C81"/>
                </a:solidFill>
              </a:defRPr>
            </a:pPr>
            <a:r>
              <a:rPr sz="2250" b="0">
                <a:solidFill>
                  <a:srgbClr val="336C81"/>
                </a:solidFill>
              </a:rPr>
              <a:t>各列の逆変換で元の尺度へ戻す</a:t>
            </a:r>
          </a:p>
        </p:txBody>
      </p:sp>
      <p:sp>
        <p:nvSpPr>
          <p:cNvPr id="5" name="">
            <a:extLst xmlns:a="http://schemas.openxmlformats.org/drawingml/2006/main">
              <a:ext uri="{FF2B5EF4-FFF2-40B4-BE49-F238E27FC236}">
                <a16:creationId xmlns:a16="http://schemas.microsoft.com/office/drawing/2014/main" id="{E7B48667-19A5-4CB3-A1A6-18E3A405EFF6}"/>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10</a:t>
            </a:r>
          </a:p>
        </p:txBody>
      </p:sp>
    </p:spTree>
    <p:extLst>
      <p:ext uri="{BB962C8B-B14F-4D97-AF65-F5344CB8AC3E}">
        <p14:creationId xmlns:p14="http://schemas.microsoft.com/office/powerpoint/2010/main" val="49892742"/>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4AE590B-2765-4938-A855-599DB61A2D1B}"/>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コピュラの問題と改善案</a:t>
            </a:r>
          </a:p>
        </p:txBody>
      </p:sp>
      <p:sp>
        <p:nvSpPr>
          <p:cNvPr id="3" name="">
            <a:extLst xmlns:a="http://schemas.openxmlformats.org/drawingml/2006/main">
              <a:ext uri="{FF2B5EF4-FFF2-40B4-BE49-F238E27FC236}">
                <a16:creationId xmlns:a16="http://schemas.microsoft.com/office/drawing/2014/main" id="{C6A9BD49-6990-459A-93BC-937AF9B48A44}"/>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問題：少数例では相関推定が不安定</a:t>
            </a:r>
          </a:p>
          <a:p xmlns:a="http://schemas.openxmlformats.org/drawingml/2006/main">
            <a:pPr>
              <a:defRPr sz="2700" b="1">
                <a:solidFill>
                  <a:srgbClr val="172B4D"/>
                </a:solidFill>
              </a:defRPr>
            </a:pPr>
            <a:r>
              <a:rPr sz="2700" b="1">
                <a:solidFill>
                  <a:srgbClr val="172B4D"/>
                </a:solidFill>
              </a:rPr>
              <a:t>Gaussian copulaでは複雑な依存を表しきれない</a:t>
            </a:r>
          </a:p>
        </p:txBody>
      </p:sp>
      <p:sp>
        <p:nvSpPr>
          <p:cNvPr id="4" name="">
            <a:extLst xmlns:a="http://schemas.openxmlformats.org/drawingml/2006/main">
              <a:ext uri="{FF2B5EF4-FFF2-40B4-BE49-F238E27FC236}">
                <a16:creationId xmlns:a16="http://schemas.microsoft.com/office/drawing/2014/main" id="{CED35E3D-CDA1-4BBA-A1C5-F57A7EF6BF09}"/>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改善候補：相関の正則化、クラス内の局所化</a:t>
            </a:r>
          </a:p>
          <a:p xmlns:a="http://schemas.openxmlformats.org/drawingml/2006/main">
            <a:pPr>
              <a:defRPr sz="2250" b="0">
                <a:solidFill>
                  <a:srgbClr val="336C81"/>
                </a:solidFill>
              </a:defRPr>
            </a:pPr>
            <a:r>
              <a:rPr sz="2250" b="0">
                <a:solidFill>
                  <a:srgbClr val="336C81"/>
                </a:solidFill>
              </a:rPr>
              <a:t>代償：強い正則化や細分化で情報を失いうる</a:t>
            </a:r>
          </a:p>
        </p:txBody>
      </p:sp>
      <p:sp>
        <p:nvSpPr>
          <p:cNvPr id="5" name="">
            <a:extLst xmlns:a="http://schemas.openxmlformats.org/drawingml/2006/main">
              <a:ext uri="{FF2B5EF4-FFF2-40B4-BE49-F238E27FC236}">
                <a16:creationId xmlns:a16="http://schemas.microsoft.com/office/drawing/2014/main" id="{E44D58F1-F4E4-4CEF-8E59-8612ECBF49D9}"/>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11</a:t>
            </a:r>
          </a:p>
        </p:txBody>
      </p:sp>
    </p:spTree>
    <p:extLst>
      <p:ext uri="{BB962C8B-B14F-4D97-AF65-F5344CB8AC3E}">
        <p14:creationId xmlns:p14="http://schemas.microsoft.com/office/powerpoint/2010/main" val="1217773484"/>
      </p:ext>
    </p:extLst>
  </p:cSld>
</p:sld>
</file>

<file path=ppt/slides/slide1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2624F0-BFE5-4713-8986-982E46DB6EE2}"/>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SMOTE：少数クラスの近傍間を補間</a:t>
            </a:r>
          </a:p>
        </p:txBody>
      </p:sp>
      <p:sp>
        <p:nvSpPr>
          <p:cNvPr id="3" name="">
            <a:extLst xmlns:a="http://schemas.openxmlformats.org/drawingml/2006/main">
              <a:ext uri="{FF2B5EF4-FFF2-40B4-BE49-F238E27FC236}">
                <a16:creationId xmlns:a16="http://schemas.microsoft.com/office/drawing/2014/main" id="{0DEE9F9F-2DDD-47FC-BC1E-5886B8930A5D}"/>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x_new = x_i + λ(x_j − x_i)</a:t>
            </a:r>
          </a:p>
          <a:p xmlns:a="http://schemas.openxmlformats.org/drawingml/2006/main">
            <a:pPr>
              <a:defRPr sz="2700" b="1">
                <a:solidFill>
                  <a:srgbClr val="172B4D"/>
                </a:solidFill>
              </a:defRPr>
            </a:pPr>
            <a:r>
              <a:rPr sz="2700" b="1">
                <a:solidFill>
                  <a:srgbClr val="172B4D"/>
                </a:solidFill>
              </a:rPr>
              <a:t>0 ≤ λ ≤ 1</a:t>
            </a:r>
          </a:p>
        </p:txBody>
      </p:sp>
      <p:sp>
        <p:nvSpPr>
          <p:cNvPr id="4" name="">
            <a:extLst xmlns:a="http://schemas.openxmlformats.org/drawingml/2006/main">
              <a:ext uri="{FF2B5EF4-FFF2-40B4-BE49-F238E27FC236}">
                <a16:creationId xmlns:a16="http://schemas.microsoft.com/office/drawing/2014/main" id="{276B870E-9E5D-4096-AB3A-00DE8A584C8F}"/>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同じ少数クラスの近傍x_jを選び、</a:t>
            </a:r>
          </a:p>
          <a:p xmlns:a="http://schemas.openxmlformats.org/drawingml/2006/main">
            <a:pPr>
              <a:defRPr sz="2250" b="0">
                <a:solidFill>
                  <a:srgbClr val="336C81"/>
                </a:solidFill>
              </a:defRPr>
            </a:pPr>
            <a:r>
              <a:rPr sz="2250" b="0">
                <a:solidFill>
                  <a:srgbClr val="336C81"/>
                </a:solidFill>
              </a:rPr>
              <a:t>２点を結ぶ線分上に生成する</a:t>
            </a:r>
          </a:p>
        </p:txBody>
      </p:sp>
      <p:sp>
        <p:nvSpPr>
          <p:cNvPr id="5" name="">
            <a:extLst xmlns:a="http://schemas.openxmlformats.org/drawingml/2006/main">
              <a:ext uri="{FF2B5EF4-FFF2-40B4-BE49-F238E27FC236}">
                <a16:creationId xmlns:a16="http://schemas.microsoft.com/office/drawing/2014/main" id="{8ADEA54A-5225-4EF4-8466-F146E777BB35}"/>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12</a:t>
            </a:r>
          </a:p>
        </p:txBody>
      </p:sp>
    </p:spTree>
    <p:extLst>
      <p:ext uri="{BB962C8B-B14F-4D97-AF65-F5344CB8AC3E}">
        <p14:creationId xmlns:p14="http://schemas.microsoft.com/office/powerpoint/2010/main" val="825428982"/>
      </p:ext>
    </p:extLst>
  </p:cSld>
</p:sld>
</file>

<file path=ppt/slides/slide1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97231BE-3949-4A2C-B34A-88CBF13EED6E}"/>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SMOTEの問題と改善案</a:t>
            </a:r>
          </a:p>
        </p:txBody>
      </p:sp>
      <p:sp>
        <p:nvSpPr>
          <p:cNvPr id="3" name="">
            <a:extLst xmlns:a="http://schemas.openxmlformats.org/drawingml/2006/main">
              <a:ext uri="{FF2B5EF4-FFF2-40B4-BE49-F238E27FC236}">
                <a16:creationId xmlns:a16="http://schemas.microsoft.com/office/drawing/2014/main" id="{56B2A08B-EAE4-43A1-BF5B-BC6F916C86BF}"/>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問題：離れた集団を結ぶ補間や、</a:t>
            </a:r>
          </a:p>
          <a:p xmlns:a="http://schemas.openxmlformats.org/drawingml/2006/main">
            <a:pPr>
              <a:defRPr sz="2700" b="1">
                <a:solidFill>
                  <a:srgbClr val="172B4D"/>
                </a:solidFill>
              </a:defRPr>
            </a:pPr>
            <a:r>
              <a:rPr sz="2700" b="1">
                <a:solidFill>
                  <a:srgbClr val="172B4D"/>
                </a:solidFill>
              </a:rPr>
              <a:t>重なり領域への生成が起こりうる</a:t>
            </a:r>
          </a:p>
        </p:txBody>
      </p:sp>
      <p:sp>
        <p:nvSpPr>
          <p:cNvPr id="4" name="">
            <a:extLst xmlns:a="http://schemas.openxmlformats.org/drawingml/2006/main">
              <a:ext uri="{FF2B5EF4-FFF2-40B4-BE49-F238E27FC236}">
                <a16:creationId xmlns:a16="http://schemas.microsoft.com/office/drawing/2014/main" id="{21920A6F-B696-45CC-A2D1-36A8510EC9B1}"/>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改善候補：近傍数の調整、集団内の補間、</a:t>
            </a:r>
          </a:p>
          <a:p xmlns:a="http://schemas.openxmlformats.org/drawingml/2006/main">
            <a:pPr>
              <a:defRPr sz="2250" b="0">
                <a:solidFill>
                  <a:srgbClr val="336C81"/>
                </a:solidFill>
              </a:defRPr>
            </a:pPr>
            <a:r>
              <a:rPr sz="2250" b="0">
                <a:solidFill>
                  <a:srgbClr val="336C81"/>
                </a:solidFill>
              </a:rPr>
              <a:t>別クラスとの近さによる生成制限</a:t>
            </a:r>
          </a:p>
        </p:txBody>
      </p:sp>
      <p:sp>
        <p:nvSpPr>
          <p:cNvPr id="5" name="">
            <a:extLst xmlns:a="http://schemas.openxmlformats.org/drawingml/2006/main">
              <a:ext uri="{FF2B5EF4-FFF2-40B4-BE49-F238E27FC236}">
                <a16:creationId xmlns:a16="http://schemas.microsoft.com/office/drawing/2014/main" id="{67279021-4E50-4DE0-8DF8-49687DF2F49E}"/>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13</a:t>
            </a:r>
          </a:p>
        </p:txBody>
      </p:sp>
    </p:spTree>
    <p:extLst>
      <p:ext uri="{BB962C8B-B14F-4D97-AF65-F5344CB8AC3E}">
        <p14:creationId xmlns:p14="http://schemas.microsoft.com/office/powerpoint/2010/main" val="202474731"/>
      </p:ext>
    </p:extLst>
  </p:cSld>
</p:sld>
</file>

<file path=ppt/slides/slide1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7D48FD2-2EE6-4AFE-9857-0203A20F74CF}"/>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コピュラSMOTE：今回検証する定義</a:t>
            </a:r>
          </a:p>
        </p:txBody>
      </p:sp>
      <p:sp>
        <p:nvSpPr>
          <p:cNvPr id="3" name="">
            <a:extLst xmlns:a="http://schemas.openxmlformats.org/drawingml/2006/main">
              <a:ext uri="{FF2B5EF4-FFF2-40B4-BE49-F238E27FC236}">
                <a16:creationId xmlns:a16="http://schemas.microsoft.com/office/drawing/2014/main" id="{2B2E0993-BEF0-4880-858E-8540C83E5C59}"/>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クラス内でGaussian copula変換を行い、</a:t>
            </a:r>
          </a:p>
          <a:p xmlns:a="http://schemas.openxmlformats.org/drawingml/2006/main">
            <a:pPr>
              <a:defRPr sz="2700" b="1">
                <a:solidFill>
                  <a:srgbClr val="172B4D"/>
                </a:solidFill>
              </a:defRPr>
            </a:pPr>
            <a:r>
              <a:rPr sz="2700" b="1">
                <a:solidFill>
                  <a:srgbClr val="172B4D"/>
                </a:solidFill>
              </a:rPr>
              <a:t>正規空間でSMOTEしてから逆変換する</a:t>
            </a:r>
          </a:p>
        </p:txBody>
      </p:sp>
      <p:sp>
        <p:nvSpPr>
          <p:cNvPr id="4" name="">
            <a:extLst xmlns:a="http://schemas.openxmlformats.org/drawingml/2006/main">
              <a:ext uri="{FF2B5EF4-FFF2-40B4-BE49-F238E27FC236}">
                <a16:creationId xmlns:a16="http://schemas.microsoft.com/office/drawing/2014/main" id="{DC6EF9B7-09E9-4CEE-B159-FCC024551793}"/>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比較点：元の空間での補間との差</a:t>
            </a:r>
          </a:p>
          <a:p xmlns:a="http://schemas.openxmlformats.org/drawingml/2006/main">
            <a:pPr>
              <a:defRPr sz="2250" b="0">
                <a:solidFill>
                  <a:srgbClr val="336C81"/>
                </a:solidFill>
              </a:defRPr>
            </a:pPr>
            <a:r>
              <a:rPr sz="2250" b="0">
                <a:solidFill>
                  <a:srgbClr val="336C81"/>
                </a:solidFill>
              </a:rPr>
              <a:t>仮説：歪んだ周辺分布で有効な場合がある</a:t>
            </a:r>
          </a:p>
        </p:txBody>
      </p:sp>
      <p:sp>
        <p:nvSpPr>
          <p:cNvPr id="5" name="">
            <a:extLst xmlns:a="http://schemas.openxmlformats.org/drawingml/2006/main">
              <a:ext uri="{FF2B5EF4-FFF2-40B4-BE49-F238E27FC236}">
                <a16:creationId xmlns:a16="http://schemas.microsoft.com/office/drawing/2014/main" id="{E0E7FABD-5D5E-46E2-8597-6C086C72A6B4}"/>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14</a:t>
            </a:r>
          </a:p>
        </p:txBody>
      </p:sp>
    </p:spTree>
    <p:extLst>
      <p:ext uri="{BB962C8B-B14F-4D97-AF65-F5344CB8AC3E}">
        <p14:creationId xmlns:p14="http://schemas.microsoft.com/office/powerpoint/2010/main" val="216519267"/>
      </p:ext>
    </p:extLst>
  </p:cSld>
</p:sld>
</file>

<file path=ppt/slides/slide1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E85347-E91E-47BB-A5A4-AF3C844B6354}"/>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コピュラSMOTEの問題と改善案</a:t>
            </a:r>
          </a:p>
        </p:txBody>
      </p:sp>
      <p:sp>
        <p:nvSpPr>
          <p:cNvPr id="3" name="">
            <a:extLst xmlns:a="http://schemas.openxmlformats.org/drawingml/2006/main">
              <a:ext uri="{FF2B5EF4-FFF2-40B4-BE49-F238E27FC236}">
                <a16:creationId xmlns:a16="http://schemas.microsoft.com/office/drawing/2014/main" id="{CC70338F-23E4-4DA7-9498-48C7803CD262}"/>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問題：変換後の近さが、</a:t>
            </a:r>
          </a:p>
          <a:p xmlns:a="http://schemas.openxmlformats.org/drawingml/2006/main">
            <a:pPr>
              <a:defRPr sz="2700" b="1">
                <a:solidFill>
                  <a:srgbClr val="172B4D"/>
                </a:solidFill>
              </a:defRPr>
            </a:pPr>
            <a:r>
              <a:rPr sz="2700" b="1">
                <a:solidFill>
                  <a:srgbClr val="172B4D"/>
                </a:solidFill>
              </a:rPr>
              <a:t>分類上の近さと一致するとは限らない</a:t>
            </a:r>
          </a:p>
        </p:txBody>
      </p:sp>
      <p:sp>
        <p:nvSpPr>
          <p:cNvPr id="4" name="">
            <a:extLst xmlns:a="http://schemas.openxmlformats.org/drawingml/2006/main">
              <a:ext uri="{FF2B5EF4-FFF2-40B4-BE49-F238E27FC236}">
                <a16:creationId xmlns:a16="http://schemas.microsoft.com/office/drawing/2014/main" id="{21C5CA4F-11EB-4402-9F55-722DF8B55E91}"/>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改善候補：元の空間に戻した後も検査</a:t>
            </a:r>
          </a:p>
          <a:p xmlns:a="http://schemas.openxmlformats.org/drawingml/2006/main">
            <a:pPr>
              <a:defRPr sz="2250" b="0">
                <a:solidFill>
                  <a:srgbClr val="336C81"/>
                </a:solidFill>
              </a:defRPr>
            </a:pPr>
            <a:r>
              <a:rPr sz="2250" b="0">
                <a:solidFill>
                  <a:srgbClr val="336C81"/>
                </a:solidFill>
              </a:rPr>
              <a:t>確認項目：意味制約、近傍、採択率</a:t>
            </a:r>
          </a:p>
        </p:txBody>
      </p:sp>
      <p:sp>
        <p:nvSpPr>
          <p:cNvPr id="5" name="">
            <a:extLst xmlns:a="http://schemas.openxmlformats.org/drawingml/2006/main">
              <a:ext uri="{FF2B5EF4-FFF2-40B4-BE49-F238E27FC236}">
                <a16:creationId xmlns:a16="http://schemas.microsoft.com/office/drawing/2014/main" id="{C95E1105-1DCE-4A5D-BBD6-9C70BDE47573}"/>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15</a:t>
            </a:r>
          </a:p>
        </p:txBody>
      </p:sp>
    </p:spTree>
    <p:extLst>
      <p:ext uri="{BB962C8B-B14F-4D97-AF65-F5344CB8AC3E}">
        <p14:creationId xmlns:p14="http://schemas.microsoft.com/office/powerpoint/2010/main" val="25599746"/>
      </p:ext>
    </p:extLst>
  </p:cSld>
</p:sld>
</file>

<file path=ppt/slides/slide1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0A0AAD-BC57-49EA-8CAA-842F5CDC2ED6}"/>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CTGAN：クラスを条件とする生成</a:t>
            </a:r>
          </a:p>
        </p:txBody>
      </p:sp>
      <p:sp>
        <p:nvSpPr>
          <p:cNvPr id="3" name="">
            <a:extLst xmlns:a="http://schemas.openxmlformats.org/drawingml/2006/main">
              <a:ext uri="{FF2B5EF4-FFF2-40B4-BE49-F238E27FC236}">
                <a16:creationId xmlns:a16="http://schemas.microsoft.com/office/drawing/2014/main" id="{2671D13E-47FC-405C-AB0C-5A163D7CD755}"/>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ラベルをカテゴリ列として含め、</a:t>
            </a:r>
          </a:p>
          <a:p xmlns:a="http://schemas.openxmlformats.org/drawingml/2006/main">
            <a:pPr>
              <a:defRPr sz="2700" b="1">
                <a:solidFill>
                  <a:srgbClr val="172B4D"/>
                </a:solidFill>
              </a:defRPr>
            </a:pPr>
            <a:r>
              <a:rPr sz="2700" b="1">
                <a:solidFill>
                  <a:srgbClr val="172B4D"/>
                </a:solidFill>
              </a:rPr>
              <a:t>少数クラスを条件に合成行を得る</a:t>
            </a:r>
          </a:p>
        </p:txBody>
      </p:sp>
      <p:sp>
        <p:nvSpPr>
          <p:cNvPr id="4" name="">
            <a:extLst xmlns:a="http://schemas.openxmlformats.org/drawingml/2006/main">
              <a:ext uri="{FF2B5EF4-FFF2-40B4-BE49-F238E27FC236}">
                <a16:creationId xmlns:a16="http://schemas.microsoft.com/office/drawing/2014/main" id="{9E7914CE-9069-4216-A164-2545E1BA46CB}"/>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連続値の分布とカテゴリを扱う生成モデル</a:t>
            </a:r>
          </a:p>
          <a:p xmlns:a="http://schemas.openxmlformats.org/drawingml/2006/main">
            <a:pPr>
              <a:defRPr sz="2250" b="0">
                <a:solidFill>
                  <a:srgbClr val="336C81"/>
                </a:solidFill>
              </a:defRPr>
            </a:pPr>
            <a:r>
              <a:rPr sz="2250" b="0">
                <a:solidFill>
                  <a:srgbClr val="336C81"/>
                </a:solidFill>
              </a:rPr>
              <a:t>学習後もラベル保持と多様性を確認する</a:t>
            </a:r>
          </a:p>
        </p:txBody>
      </p:sp>
      <p:sp>
        <p:nvSpPr>
          <p:cNvPr id="5" name="">
            <a:extLst xmlns:a="http://schemas.openxmlformats.org/drawingml/2006/main">
              <a:ext uri="{FF2B5EF4-FFF2-40B4-BE49-F238E27FC236}">
                <a16:creationId xmlns:a16="http://schemas.microsoft.com/office/drawing/2014/main" id="{79E88B37-FDFE-47B7-9B53-A22D45D99FBF}"/>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16</a:t>
            </a:r>
          </a:p>
        </p:txBody>
      </p:sp>
    </p:spTree>
    <p:extLst>
      <p:ext uri="{BB962C8B-B14F-4D97-AF65-F5344CB8AC3E}">
        <p14:creationId xmlns:p14="http://schemas.microsoft.com/office/powerpoint/2010/main" val="796100163"/>
      </p:ext>
    </p:extLst>
  </p:cSld>
</p:sld>
</file>

<file path=ppt/slides/slide1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61971C6-F70F-4B77-B86E-153ACFABD4DF}"/>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CTGANの問題と改善案</a:t>
            </a:r>
          </a:p>
        </p:txBody>
      </p:sp>
      <p:sp>
        <p:nvSpPr>
          <p:cNvPr id="3" name="">
            <a:extLst xmlns:a="http://schemas.openxmlformats.org/drawingml/2006/main">
              <a:ext uri="{FF2B5EF4-FFF2-40B4-BE49-F238E27FC236}">
                <a16:creationId xmlns:a16="http://schemas.microsoft.com/office/drawing/2014/main" id="{1505FE99-2134-4368-93D0-F3CF16A18A5C}"/>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問題候補：少数例への過適合、</a:t>
            </a:r>
          </a:p>
          <a:p xmlns:a="http://schemas.openxmlformats.org/drawingml/2006/main">
            <a:pPr>
              <a:defRPr sz="2700" b="1">
                <a:solidFill>
                  <a:srgbClr val="172B4D"/>
                </a:solidFill>
              </a:defRPr>
            </a:pPr>
            <a:r>
              <a:rPr sz="2700" b="1">
                <a:solidFill>
                  <a:srgbClr val="172B4D"/>
                </a:solidFill>
              </a:rPr>
              <a:t>生成の偏り、学習乱数によるばらつき</a:t>
            </a:r>
          </a:p>
        </p:txBody>
      </p:sp>
      <p:sp>
        <p:nvSpPr>
          <p:cNvPr id="4" name="">
            <a:extLst xmlns:a="http://schemas.openxmlformats.org/drawingml/2006/main">
              <a:ext uri="{FF2B5EF4-FFF2-40B4-BE49-F238E27FC236}">
                <a16:creationId xmlns:a16="http://schemas.microsoft.com/office/drawing/2014/main" id="{E3F68F69-979D-4296-AEEE-093922A999DC}"/>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改善候補：生成量の制限、検証での設定選択</a:t>
            </a:r>
          </a:p>
          <a:p xmlns:a="http://schemas.openxmlformats.org/drawingml/2006/main">
            <a:pPr>
              <a:defRPr sz="2250" b="0">
                <a:solidFill>
                  <a:srgbClr val="336C81"/>
                </a:solidFill>
              </a:defRPr>
            </a:pPr>
            <a:r>
              <a:rPr sz="2250" b="0">
                <a:solidFill>
                  <a:srgbClr val="336C81"/>
                </a:solidFill>
              </a:rPr>
              <a:t>確認項目：重複、近傍距離、多様性、実行時間</a:t>
            </a:r>
          </a:p>
        </p:txBody>
      </p:sp>
      <p:sp>
        <p:nvSpPr>
          <p:cNvPr id="5" name="">
            <a:extLst xmlns:a="http://schemas.openxmlformats.org/drawingml/2006/main">
              <a:ext uri="{FF2B5EF4-FFF2-40B4-BE49-F238E27FC236}">
                <a16:creationId xmlns:a16="http://schemas.microsoft.com/office/drawing/2014/main" id="{A8D47B08-E731-451A-A28C-85E4204CC470}"/>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17</a:t>
            </a:r>
          </a:p>
        </p:txBody>
      </p:sp>
    </p:spTree>
    <p:extLst>
      <p:ext uri="{BB962C8B-B14F-4D97-AF65-F5344CB8AC3E}">
        <p14:creationId xmlns:p14="http://schemas.microsoft.com/office/powerpoint/2010/main" val="289953663"/>
      </p:ext>
    </p:extLst>
  </p:cSld>
</p:sld>
</file>

<file path=ppt/slides/slide1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03A2944-6282-48C2-8411-6342A8B33907}"/>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CTGAN×コピュラ：組み合わせの比較</a:t>
            </a:r>
          </a:p>
        </p:txBody>
      </p:sp>
      <p:sp>
        <p:nvSpPr>
          <p:cNvPr id="3" name="">
            <a:extLst xmlns:a="http://schemas.openxmlformats.org/drawingml/2006/main">
              <a:ext uri="{FF2B5EF4-FFF2-40B4-BE49-F238E27FC236}">
                <a16:creationId xmlns:a16="http://schemas.microsoft.com/office/drawing/2014/main" id="{01BC9A36-E865-4253-8225-8B5C056E0533}"/>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実装済みCopulaGANを使う案と、</a:t>
            </a:r>
          </a:p>
          <a:p xmlns:a="http://schemas.openxmlformats.org/drawingml/2006/main">
            <a:pPr>
              <a:defRPr sz="2700" b="1">
                <a:solidFill>
                  <a:srgbClr val="172B4D"/>
                </a:solidFill>
              </a:defRPr>
            </a:pPr>
            <a:r>
              <a:rPr sz="2700" b="1">
                <a:solidFill>
                  <a:srgbClr val="172B4D"/>
                </a:solidFill>
              </a:rPr>
              <a:t>独自の変換＋CTGAN案を区別する</a:t>
            </a:r>
          </a:p>
        </p:txBody>
      </p:sp>
      <p:sp>
        <p:nvSpPr>
          <p:cNvPr id="4" name="">
            <a:extLst xmlns:a="http://schemas.openxmlformats.org/drawingml/2006/main">
              <a:ext uri="{FF2B5EF4-FFF2-40B4-BE49-F238E27FC236}">
                <a16:creationId xmlns:a16="http://schemas.microsoft.com/office/drawing/2014/main" id="{F528989C-D853-40E9-B343-1E39D1CB691D}"/>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独自案の定義例：列ごとの分布変換、</a:t>
            </a:r>
          </a:p>
          <a:p xmlns:a="http://schemas.openxmlformats.org/drawingml/2006/main">
            <a:pPr>
              <a:defRPr sz="2250" b="0">
                <a:solidFill>
                  <a:srgbClr val="336C81"/>
                </a:solidFill>
              </a:defRPr>
            </a:pPr>
            <a:r>
              <a:rPr sz="2250" b="0">
                <a:solidFill>
                  <a:srgbClr val="336C81"/>
                </a:solidFill>
              </a:rPr>
              <a:t>CTGANで学習・生成、元の尺度へ逆変換</a:t>
            </a:r>
          </a:p>
        </p:txBody>
      </p:sp>
      <p:sp>
        <p:nvSpPr>
          <p:cNvPr id="5" name="">
            <a:extLst xmlns:a="http://schemas.openxmlformats.org/drawingml/2006/main">
              <a:ext uri="{FF2B5EF4-FFF2-40B4-BE49-F238E27FC236}">
                <a16:creationId xmlns:a16="http://schemas.microsoft.com/office/drawing/2014/main" id="{A4104D8E-C3E6-42F6-BFC6-7C3D8741F44D}"/>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18</a:t>
            </a:r>
          </a:p>
        </p:txBody>
      </p:sp>
    </p:spTree>
    <p:extLst>
      <p:ext uri="{BB962C8B-B14F-4D97-AF65-F5344CB8AC3E}">
        <p14:creationId xmlns:p14="http://schemas.microsoft.com/office/powerpoint/2010/main" val="1800083626"/>
      </p:ext>
    </p:extLst>
  </p:cSld>
</p:sld>
</file>

<file path=ppt/slides/slide1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F920787-79B8-45EE-8B86-D4C54CC5C464}"/>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改善案を検証する３つの軸</a:t>
            </a:r>
          </a:p>
        </p:txBody>
      </p:sp>
      <p:sp>
        <p:nvSpPr>
          <p:cNvPr id="3" name="">
            <a:extLst xmlns:a="http://schemas.openxmlformats.org/drawingml/2006/main">
              <a:ext uri="{FF2B5EF4-FFF2-40B4-BE49-F238E27FC236}">
                <a16:creationId xmlns:a16="http://schemas.microsoft.com/office/drawing/2014/main" id="{E91A1C80-53C2-4CA6-B0B9-6B5FAE7F352B}"/>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生成範囲：クラス内・集団内に限定する</a:t>
            </a:r>
          </a:p>
          <a:p xmlns:a="http://schemas.openxmlformats.org/drawingml/2006/main">
            <a:pPr>
              <a:defRPr sz="2700" b="1">
                <a:solidFill>
                  <a:srgbClr val="172B4D"/>
                </a:solidFill>
              </a:defRPr>
            </a:pPr>
            <a:r>
              <a:rPr sz="2700" b="1">
                <a:solidFill>
                  <a:srgbClr val="172B4D"/>
                </a:solidFill>
              </a:rPr>
              <a:t>生成量：少数例に対して増やしすぎない</a:t>
            </a:r>
          </a:p>
        </p:txBody>
      </p:sp>
      <p:sp>
        <p:nvSpPr>
          <p:cNvPr id="4" name="">
            <a:extLst xmlns:a="http://schemas.openxmlformats.org/drawingml/2006/main">
              <a:ext uri="{FF2B5EF4-FFF2-40B4-BE49-F238E27FC236}">
                <a16:creationId xmlns:a16="http://schemas.microsoft.com/office/drawing/2014/main" id="{1C28F85E-E68B-42C4-95C4-E94A973AC29D}"/>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生成後の検査：意味制約と近傍を確認する</a:t>
            </a:r>
          </a:p>
          <a:p xmlns:a="http://schemas.openxmlformats.org/drawingml/2006/main">
            <a:pPr>
              <a:defRPr sz="2250" b="0">
                <a:solidFill>
                  <a:srgbClr val="336C81"/>
                </a:solidFill>
              </a:defRPr>
            </a:pPr>
            <a:r>
              <a:rPr sz="2250" b="0">
                <a:solidFill>
                  <a:srgbClr val="336C81"/>
                </a:solidFill>
              </a:rPr>
              <a:t>各改善を単独で加え、最後に組み合わせる</a:t>
            </a:r>
          </a:p>
        </p:txBody>
      </p:sp>
      <p:sp>
        <p:nvSpPr>
          <p:cNvPr id="5" name="">
            <a:extLst xmlns:a="http://schemas.openxmlformats.org/drawingml/2006/main">
              <a:ext uri="{FF2B5EF4-FFF2-40B4-BE49-F238E27FC236}">
                <a16:creationId xmlns:a16="http://schemas.microsoft.com/office/drawing/2014/main" id="{E9027288-C92C-4D00-9882-ABECDFAEAA3D}"/>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19</a:t>
            </a:r>
          </a:p>
        </p:txBody>
      </p:sp>
    </p:spTree>
    <p:extLst>
      <p:ext uri="{BB962C8B-B14F-4D97-AF65-F5344CB8AC3E}">
        <p14:creationId xmlns:p14="http://schemas.microsoft.com/office/powerpoint/2010/main" val="699764135"/>
      </p:ext>
    </p:extLst>
  </p:cSld>
</p:sld>
</file>

<file path=ppt/slides/slide2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2CD5A2E-D523-4F9C-B64A-2EF51BF1EE3E}"/>
              </a:ext>
            </a:extLst>
          </p:cNvPr>
          <p:cNvSpPr>
            <a:spLocks xmlns:a="http://schemas.openxmlformats.org/drawingml/2006/main" noGrp="1"/>
          </p:cNvSpPr>
          <p:nvPr/>
        </p:nvSpPr>
        <p:spPr>
          <a:xfrm xmlns:a="http://schemas.openxmlformats.org/drawingml/2006/main">
            <a:off x="68580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人工データで切り分ける失敗条件</a:t>
            </a:r>
          </a:p>
        </p:txBody>
      </p:sp>
      <p:sp>
        <p:nvSpPr>
          <p:cNvPr id="3" name="">
            <a:extLst xmlns:a="http://schemas.openxmlformats.org/drawingml/2006/main">
              <a:ext uri="{FF2B5EF4-FFF2-40B4-BE49-F238E27FC236}">
                <a16:creationId xmlns:a16="http://schemas.microsoft.com/office/drawing/2014/main" id="{2FFDF1A2-7A77-4A18-ACDE-218598321A92}"/>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20</a:t>
            </a:r>
          </a:p>
        </p:txBody>
      </p:sp>
      <p:graphicFrame>
        <p:nvGraphicFramePr>
          <p:cNvPr id="4" name="">
            <a:extLst xmlns:a="http://schemas.openxmlformats.org/drawingml/2006/main">
              <a:ext uri="{FF2B5EF4-FFF2-40B4-BE49-F238E27FC236}">
                <a16:creationId xmlns:a16="http://schemas.microsoft.com/office/drawing/2014/main" id="{2773CFD2-AE8D-4F1E-BFEF-B4959BF394E4}"/>
              </a:ext>
            </a:extLst>
          </p:cNvPr>
          <p:cNvGraphicFramePr/>
          <p:nvPr/>
        </p:nvGraphicFramePr>
        <p:xfrm>
          <a:off xmlns:a="http://schemas.openxmlformats.org/drawingml/2006/main" x="723900" y="1714500"/>
          <a:ext xmlns:a="http://schemas.openxmlformats.org/drawingml/2006/main" cx="10744200" cy="3333750"/>
        </p:xfrm>
        <a:graphic xmlns:a="http://schemas.openxmlformats.org/drawingml/2006/main">
          <a:graphicData uri="http://schemas.openxmlformats.org/drawingml/2006/table">
            <a:tbl>
              <a:tblPr/>
              <a:tblGrid>
                <a:gridCol w="1381125"/>
                <a:gridCol w="4476750"/>
                <a:gridCol w="4886325"/>
              </a:tblGrid>
              <a:tr h="666750">
                <a:tc>
                  <a:txBody>
                    <a:bodyPr/>
                    <a:lstStyle/>
                    <a:p>
                      <a:r>
                        <a:rPr sz="1875" b="1">
                          <a:solidFill>
                            <a:srgbClr val="FFFFFF"/>
                          </a:solidFill>
                        </a:rPr>
                        <a:t>条件</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データの構造</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主に調べる失敗</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666750">
                <a:tc>
                  <a:txBody>
                    <a:bodyPr/>
                    <a:lstStyle/>
                    <a:p>
                      <a:r>
                        <a:rPr sz="1800" b="0">
                          <a:solidFill>
                            <a:srgbClr val="172B4D"/>
                          </a:solidFill>
                        </a:rPr>
                        <a:t>A</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単一集団・線形依存</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列シャッフルの依存破壊</a:t>
                      </a:r>
                    </a:p>
                  </a:txBody>
                  <a:tcPr marL="91440" marR="91440" marT="45720" marB="45720">
                    <a:lnR w="9525">
                      <a:solidFill>
                        <a:srgbClr val="D7E1E8"/>
                      </a:solidFill>
                      <a:prstDash val="solid"/>
                    </a:lnR>
                    <a:lnB w="9525">
                      <a:solidFill>
                        <a:srgbClr val="D7E1E8"/>
                      </a:solidFill>
                      <a:prstDash val="solid"/>
                    </a:lnB>
                    <a:solidFill>
                      <a:srgbClr val="EDF3F7"/>
                    </a:solidFill>
                  </a:tcPr>
                </a:tc>
              </a:tr>
              <a:tr h="666750">
                <a:tc>
                  <a:txBody>
                    <a:bodyPr/>
                    <a:lstStyle/>
                    <a:p>
                      <a:r>
                        <a:rPr sz="1800" b="0">
                          <a:solidFill>
                            <a:srgbClr val="172B4D"/>
                          </a:solidFill>
                        </a:rPr>
                        <a:t>B</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少数クラスが複数の集団</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SMOTEの集団間補間</a:t>
                      </a:r>
                    </a:p>
                  </a:txBody>
                  <a:tcPr marL="91440" marR="91440" marT="45720" marB="45720">
                    <a:lnR w="9525">
                      <a:solidFill>
                        <a:srgbClr val="D7E1E8"/>
                      </a:solidFill>
                      <a:prstDash val="solid"/>
                    </a:lnR>
                    <a:lnB w="9525">
                      <a:solidFill>
                        <a:srgbClr val="D7E1E8"/>
                      </a:solidFill>
                      <a:prstDash val="solid"/>
                    </a:lnB>
                    <a:solidFill>
                      <a:srgbClr val="FFFFFF"/>
                    </a:solidFill>
                  </a:tcPr>
                </a:tc>
              </a:tr>
              <a:tr h="666750">
                <a:tc>
                  <a:txBody>
                    <a:bodyPr/>
                    <a:lstStyle/>
                    <a:p>
                      <a:r>
                        <a:rPr sz="1800" b="0">
                          <a:solidFill>
                            <a:srgbClr val="172B4D"/>
                          </a:solidFill>
                        </a:rPr>
                        <a:t>C</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クラス同士が重なる</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境界付近のラベル不整合</a:t>
                      </a:r>
                    </a:p>
                  </a:txBody>
                  <a:tcPr marL="91440" marR="91440" marT="45720" marB="45720">
                    <a:lnR w="9525">
                      <a:solidFill>
                        <a:srgbClr val="D7E1E8"/>
                      </a:solidFill>
                      <a:prstDash val="solid"/>
                    </a:lnR>
                    <a:lnB w="9525">
                      <a:solidFill>
                        <a:srgbClr val="D7E1E8"/>
                      </a:solidFill>
                      <a:prstDash val="solid"/>
                    </a:lnB>
                    <a:solidFill>
                      <a:srgbClr val="EDF3F7"/>
                    </a:solidFill>
                  </a:tcPr>
                </a:tc>
              </a:tr>
              <a:tr h="666750">
                <a:tc>
                  <a:txBody>
                    <a:bodyPr/>
                    <a:lstStyle/>
                    <a:p>
                      <a:r>
                        <a:rPr sz="1800" b="0">
                          <a:solidFill>
                            <a:srgbClr val="172B4D"/>
                          </a:solidFill>
                        </a:rPr>
                        <a:t>追加</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非線形依存・不要な特徴</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モデル仮定と距離の限界</a:t>
                      </a:r>
                    </a:p>
                  </a:txBody>
                  <a:tcPr marL="91440" marR="91440" marT="45720" marB="45720">
                    <a:lnR w="9525">
                      <a:solidFill>
                        <a:srgbClr val="D7E1E8"/>
                      </a:solidFill>
                      <a:prstDash val="solid"/>
                    </a:lnR>
                    <a:lnB w="9525">
                      <a:solidFill>
                        <a:srgbClr val="D7E1E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AB94EA-9B98-4330-B0FA-8C5F9D7DE771}"/>
              </a:ext>
            </a:extLst>
          </p:cNvPr>
          <p:cNvSpPr>
            <a:spLocks xmlns:a="http://schemas.openxmlformats.org/drawingml/2006/main" noGrp="1"/>
          </p:cNvSpPr>
          <p:nvPr/>
        </p:nvSpPr>
        <p:spPr>
          <a:xfrm xmlns:a="http://schemas.openxmlformats.org/drawingml/2006/main">
            <a:off x="762000" y="542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36C81"/>
                </a:solidFill>
              </a:defRPr>
            </a:defPPr>
            <a:lvl1pPr>
              <a:defRPr sz="2025" b="0">
                <a:solidFill>
                  <a:srgbClr val="336C81"/>
                </a:solidFill>
              </a:defRPr>
            </a:lvl1pPr>
            <a:lvl2pPr>
              <a:defRPr sz="2025" b="0">
                <a:solidFill>
                  <a:srgbClr val="336C81"/>
                </a:solidFill>
              </a:defRPr>
            </a:lvl2pPr>
            <a:lvl3pPr>
              <a:defRPr sz="2025" b="0">
                <a:solidFill>
                  <a:srgbClr val="336C81"/>
                </a:solidFill>
              </a:defRPr>
            </a:lvl3pPr>
            <a:lvl4pPr>
              <a:defRPr sz="2025" b="0">
                <a:solidFill>
                  <a:srgbClr val="336C81"/>
                </a:solidFill>
              </a:defRPr>
            </a:lvl4pPr>
            <a:lvl5pPr>
              <a:defRPr sz="2025" b="0">
                <a:solidFill>
                  <a:srgbClr val="336C81"/>
                </a:solidFill>
              </a:defRPr>
            </a:lvl5pPr>
            <a:lvl6pPr>
              <a:defRPr sz="2025" b="0">
                <a:solidFill>
                  <a:srgbClr val="336C81"/>
                </a:solidFill>
              </a:defRPr>
            </a:lvl6pPr>
            <a:lvl7pPr>
              <a:defRPr sz="2025" b="0">
                <a:solidFill>
                  <a:srgbClr val="336C81"/>
                </a:solidFill>
              </a:defRPr>
            </a:lvl7pPr>
            <a:lvl8pPr>
              <a:defRPr sz="2025" b="0">
                <a:solidFill>
                  <a:srgbClr val="336C81"/>
                </a:solidFill>
              </a:defRPr>
            </a:lvl8pPr>
            <a:lvl9pPr>
              <a:defRPr sz="2025" b="0">
                <a:solidFill>
                  <a:srgbClr val="336C81"/>
                </a:solidFill>
              </a:defRPr>
            </a:lvl9pPr>
          </a:lstStyle>
          <a:p xmlns:a="http://schemas.openxmlformats.org/drawingml/2006/main">
            <a:pPr>
              <a:defRPr sz="2025" b="0">
                <a:solidFill>
                  <a:srgbClr val="336C81"/>
                </a:solidFill>
              </a:defRPr>
            </a:pPr>
            <a:r>
              <a:rPr sz="2025" b="0">
                <a:solidFill>
                  <a:srgbClr val="336C81"/>
                </a:solidFill>
              </a:rPr>
              <a:t>一度に変える要因を絞り、真の分布から独立テスト標本を得る</a:t>
            </a:r>
          </a:p>
        </p:txBody>
      </p:sp>
    </p:spTree>
    <p:extLst>
      <p:ext uri="{BB962C8B-B14F-4D97-AF65-F5344CB8AC3E}">
        <p14:creationId xmlns:p14="http://schemas.microsoft.com/office/powerpoint/2010/main" val="1132401154"/>
      </p:ext>
    </p:extLst>
  </p:cSld>
</p:sld>
</file>

<file path=ppt/slides/slide2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E9609FA-5B48-449D-B9DA-0BB8BF4DEDBE}"/>
              </a:ext>
            </a:extLst>
          </p:cNvPr>
          <p:cNvSpPr>
            <a:spLocks xmlns:a="http://schemas.openxmlformats.org/drawingml/2006/main" noGrp="1"/>
          </p:cNvSpPr>
          <p:nvPr/>
        </p:nvSpPr>
        <p:spPr>
          <a:xfrm xmlns:a="http://schemas.openxmlformats.org/drawingml/2006/main">
            <a:off x="68580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実験条件と対照群</a:t>
            </a:r>
          </a:p>
        </p:txBody>
      </p:sp>
      <p:sp>
        <p:nvSpPr>
          <p:cNvPr id="3" name="">
            <a:extLst xmlns:a="http://schemas.openxmlformats.org/drawingml/2006/main">
              <a:ext uri="{FF2B5EF4-FFF2-40B4-BE49-F238E27FC236}">
                <a16:creationId xmlns:a16="http://schemas.microsoft.com/office/drawing/2014/main" id="{071D1872-455B-4251-BDAD-EB992AE3D34C}"/>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21</a:t>
            </a:r>
          </a:p>
        </p:txBody>
      </p:sp>
      <p:graphicFrame>
        <p:nvGraphicFramePr>
          <p:cNvPr id="4" name="">
            <a:extLst xmlns:a="http://schemas.openxmlformats.org/drawingml/2006/main">
              <a:ext uri="{FF2B5EF4-FFF2-40B4-BE49-F238E27FC236}">
                <a16:creationId xmlns:a16="http://schemas.microsoft.com/office/drawing/2014/main" id="{AE33BF95-0B32-4825-AEFD-F488EAD4248A}"/>
              </a:ext>
            </a:extLst>
          </p:cNvPr>
          <p:cNvGraphicFramePr/>
          <p:nvPr/>
        </p:nvGraphicFramePr>
        <p:xfrm>
          <a:off xmlns:a="http://schemas.openxmlformats.org/drawingml/2006/main" x="723900" y="1666875"/>
          <a:ext xmlns:a="http://schemas.openxmlformats.org/drawingml/2006/main" cx="10744200" cy="4095750"/>
        </p:xfrm>
        <a:graphic xmlns:a="http://schemas.openxmlformats.org/drawingml/2006/main">
          <a:graphicData uri="http://schemas.openxmlformats.org/drawingml/2006/table">
            <a:tbl>
              <a:tblPr/>
              <a:tblGrid>
                <a:gridCol w="2238375"/>
                <a:gridCol w="8505825"/>
              </a:tblGrid>
              <a:tr h="682625">
                <a:tc>
                  <a:txBody>
                    <a:bodyPr/>
                    <a:lstStyle/>
                    <a:p>
                      <a:r>
                        <a:rPr sz="1875" b="1">
                          <a:solidFill>
                            <a:srgbClr val="FFFFFF"/>
                          </a:solidFill>
                        </a:rPr>
                        <a:t>項目</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初期の設定案</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682625">
                <a:tc>
                  <a:txBody>
                    <a:bodyPr/>
                    <a:lstStyle/>
                    <a:p>
                      <a:r>
                        <a:rPr sz="1800" b="0">
                          <a:solidFill>
                            <a:srgbClr val="172B4D"/>
                          </a:solidFill>
                        </a:rPr>
                        <a:t>対照群</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拡張なし ／ ランダム過剰サンプリング ／ クラス重み</a:t>
                      </a:r>
                    </a:p>
                  </a:txBody>
                  <a:tcPr marL="91440" marR="91440" marT="45720" marB="45720">
                    <a:lnR w="9525">
                      <a:solidFill>
                        <a:srgbClr val="D7E1E8"/>
                      </a:solidFill>
                      <a:prstDash val="solid"/>
                    </a:lnR>
                    <a:lnB w="9525">
                      <a:solidFill>
                        <a:srgbClr val="D7E1E8"/>
                      </a:solidFill>
                      <a:prstDash val="solid"/>
                    </a:lnB>
                    <a:solidFill>
                      <a:srgbClr val="EDF3F7"/>
                    </a:solidFill>
                  </a:tcPr>
                </a:tc>
              </a:tr>
              <a:tr h="682625">
                <a:tc>
                  <a:txBody>
                    <a:bodyPr/>
                    <a:lstStyle/>
                    <a:p>
                      <a:r>
                        <a:rPr sz="1800" b="0">
                          <a:solidFill>
                            <a:srgbClr val="172B4D"/>
                          </a:solidFill>
                        </a:rPr>
                        <a:t>生成６手法</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同じ追加件数で比較。生成数と採択数を記録</a:t>
                      </a:r>
                    </a:p>
                  </a:txBody>
                  <a:tcPr marL="91440" marR="91440" marT="45720" marB="45720">
                    <a:lnR w="9525">
                      <a:solidFill>
                        <a:srgbClr val="D7E1E8"/>
                      </a:solidFill>
                      <a:prstDash val="solid"/>
                    </a:lnR>
                    <a:lnB w="9525">
                      <a:solidFill>
                        <a:srgbClr val="D7E1E8"/>
                      </a:solidFill>
                      <a:prstDash val="solid"/>
                    </a:lnB>
                    <a:solidFill>
                      <a:srgbClr val="FFFFFF"/>
                    </a:solidFill>
                  </a:tcPr>
                </a:tc>
              </a:tr>
              <a:tr h="682625">
                <a:tc>
                  <a:txBody>
                    <a:bodyPr/>
                    <a:lstStyle/>
                    <a:p>
                      <a:r>
                        <a:rPr sz="1800" b="0">
                          <a:solidFill>
                            <a:srgbClr val="172B4D"/>
                          </a:solidFill>
                        </a:rPr>
                        <a:t>不均衡条件</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多数:少数 = 5:1、20:1。少数の絶対件数も記録</a:t>
                      </a:r>
                    </a:p>
                  </a:txBody>
                  <a:tcPr marL="91440" marR="91440" marT="45720" marB="45720">
                    <a:lnR w="9525">
                      <a:solidFill>
                        <a:srgbClr val="D7E1E8"/>
                      </a:solidFill>
                      <a:prstDash val="solid"/>
                    </a:lnR>
                    <a:lnB w="9525">
                      <a:solidFill>
                        <a:srgbClr val="D7E1E8"/>
                      </a:solidFill>
                      <a:prstDash val="solid"/>
                    </a:lnB>
                    <a:solidFill>
                      <a:srgbClr val="EDF3F7"/>
                    </a:solidFill>
                  </a:tcPr>
                </a:tc>
              </a:tr>
              <a:tr h="682625">
                <a:tc>
                  <a:txBody>
                    <a:bodyPr/>
                    <a:lstStyle/>
                    <a:p>
                      <a:r>
                        <a:rPr sz="1800" b="0">
                          <a:solidFill>
                            <a:srgbClr val="172B4D"/>
                          </a:solidFill>
                        </a:rPr>
                        <a:t>分類器</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ロジスティック回帰と木モデルを候補にする</a:t>
                      </a:r>
                    </a:p>
                  </a:txBody>
                  <a:tcPr marL="91440" marR="91440" marT="45720" marB="45720">
                    <a:lnR w="9525">
                      <a:solidFill>
                        <a:srgbClr val="D7E1E8"/>
                      </a:solidFill>
                      <a:prstDash val="solid"/>
                    </a:lnR>
                    <a:lnB w="9525">
                      <a:solidFill>
                        <a:srgbClr val="D7E1E8"/>
                      </a:solidFill>
                      <a:prstDash val="solid"/>
                    </a:lnB>
                    <a:solidFill>
                      <a:srgbClr val="FFFFFF"/>
                    </a:solidFill>
                  </a:tcPr>
                </a:tc>
              </a:tr>
              <a:tr h="682625">
                <a:tc>
                  <a:txBody>
                    <a:bodyPr/>
                    <a:lstStyle/>
                    <a:p>
                      <a:r>
                        <a:rPr sz="1800" b="0">
                          <a:solidFill>
                            <a:srgbClr val="172B4D"/>
                          </a:solidFill>
                        </a:rPr>
                        <a:t>比較の公平性</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同一分割・前処理・設定探索予算・複数seed</a:t>
                      </a:r>
                    </a:p>
                  </a:txBody>
                  <a:tcPr marL="91440" marR="91440" marT="45720" marB="45720">
                    <a:lnR w="9525">
                      <a:solidFill>
                        <a:srgbClr val="D7E1E8"/>
                      </a:solidFill>
                      <a:prstDash val="solid"/>
                    </a:lnR>
                    <a:lnB w="9525">
                      <a:solidFill>
                        <a:srgbClr val="D7E1E8"/>
                      </a:solidFill>
                      <a:prstDash val="solid"/>
                    </a:lnB>
                    <a:solidFill>
                      <a:srgbClr val="EDF3F7"/>
                    </a:solidFill>
                  </a:tcPr>
                </a:tc>
              </a:tr>
            </a:tbl>
          </a:graphicData>
        </a:graphic>
      </p:graphicFrame>
    </p:spTree>
    <p:extLst>
      <p:ext uri="{BB962C8B-B14F-4D97-AF65-F5344CB8AC3E}">
        <p14:creationId xmlns:p14="http://schemas.microsoft.com/office/powerpoint/2010/main" val="395953658"/>
      </p:ext>
    </p:extLst>
  </p:cSld>
</p:sld>
</file>

<file path=ppt/slides/slide2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3BEF0CE-D283-432B-81E5-EE8EA1EACF45}"/>
              </a:ext>
            </a:extLst>
          </p:cNvPr>
          <p:cNvSpPr>
            <a:spLocks xmlns:a="http://schemas.openxmlformats.org/drawingml/2006/main" noGrp="1"/>
          </p:cNvSpPr>
          <p:nvPr/>
        </p:nvSpPr>
        <p:spPr>
          <a:xfrm xmlns:a="http://schemas.openxmlformats.org/drawingml/2006/main">
            <a:off x="68580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情報漏洩を防ぐ評価手順</a:t>
            </a:r>
          </a:p>
        </p:txBody>
      </p:sp>
      <p:sp>
        <p:nvSpPr>
          <p:cNvPr id="3" name="">
            <a:extLst xmlns:a="http://schemas.openxmlformats.org/drawingml/2006/main">
              <a:ext uri="{FF2B5EF4-FFF2-40B4-BE49-F238E27FC236}">
                <a16:creationId xmlns:a16="http://schemas.microsoft.com/office/drawing/2014/main" id="{7A2E59B2-F2FD-4432-8C85-AEACFF6EF84F}"/>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22</a:t>
            </a:r>
          </a:p>
        </p:txBody>
      </p:sp>
      <p:graphicFrame>
        <p:nvGraphicFramePr>
          <p:cNvPr id="4" name="">
            <a:extLst xmlns:a="http://schemas.openxmlformats.org/drawingml/2006/main">
              <a:ext uri="{FF2B5EF4-FFF2-40B4-BE49-F238E27FC236}">
                <a16:creationId xmlns:a16="http://schemas.microsoft.com/office/drawing/2014/main" id="{2A4F45F2-B21F-4C17-B598-71F01BD14AE2}"/>
              </a:ext>
            </a:extLst>
          </p:cNvPr>
          <p:cNvGraphicFramePr/>
          <p:nvPr/>
        </p:nvGraphicFramePr>
        <p:xfrm>
          <a:off xmlns:a="http://schemas.openxmlformats.org/drawingml/2006/main" x="723900" y="1714500"/>
          <a:ext xmlns:a="http://schemas.openxmlformats.org/drawingml/2006/main" cx="10744200" cy="3048000"/>
        </p:xfrm>
        <a:graphic xmlns:a="http://schemas.openxmlformats.org/drawingml/2006/main">
          <a:graphicData uri="http://schemas.openxmlformats.org/drawingml/2006/table">
            <a:tbl>
              <a:tblPr/>
              <a:tblGrid>
                <a:gridCol w="2047875"/>
                <a:gridCol w="2857500"/>
                <a:gridCol w="5838825"/>
              </a:tblGrid>
              <a:tr h="762000">
                <a:tc>
                  <a:txBody>
                    <a:bodyPr/>
                    <a:lstStyle/>
                    <a:p>
                      <a:r>
                        <a:rPr sz="1875" b="1">
                          <a:solidFill>
                            <a:srgbClr val="FFFFFF"/>
                          </a:solidFill>
                        </a:rPr>
                        <a:t>データ</a:t>
                      </a:r>
                    </a:p>
                  </a:txBody>
                  <a:tcPr marL="91440" marR="91440" marT="45720" marB="45720">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役割</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c>
                  <a:txBody>
                    <a:bodyPr/>
                    <a:lstStyle/>
                    <a:p>
                      <a:r>
                        <a:rPr sz="1875" b="1">
                          <a:solidFill>
                            <a:srgbClr val="FFFFFF"/>
                          </a:solidFill>
                        </a:rPr>
                        <a:t>使用できる処理</a:t>
                      </a:r>
                    </a:p>
                  </a:txBody>
                  <a:tcPr marL="91440" marR="91440" marT="45720" marB="45720">
                    <a:lnR w="9525">
                      <a:solidFill>
                        <a:srgbClr val="D7E1E8"/>
                      </a:solidFill>
                      <a:prstDash val="solid"/>
                    </a:lnR>
                    <a:lnT w="9525">
                      <a:solidFill>
                        <a:srgbClr val="D7E1E8"/>
                      </a:solidFill>
                      <a:prstDash val="solid"/>
                    </a:lnT>
                    <a:lnB w="9525">
                      <a:solidFill>
                        <a:srgbClr val="D7E1E8"/>
                      </a:solidFill>
                      <a:prstDash val="solid"/>
                    </a:lnB>
                    <a:solidFill>
                      <a:srgbClr val="102B46"/>
                    </a:solidFill>
                  </a:tcPr>
                </a:tc>
              </a:tr>
              <a:tr h="762000">
                <a:tc>
                  <a:txBody>
                    <a:bodyPr/>
                    <a:lstStyle/>
                    <a:p>
                      <a:r>
                        <a:rPr sz="1800" b="0">
                          <a:solidFill>
                            <a:srgbClr val="172B4D"/>
                          </a:solidFill>
                        </a:rPr>
                        <a:t>訓練</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モデルの適合</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前処理・生成器・分類器の学習</a:t>
                      </a:r>
                    </a:p>
                  </a:txBody>
                  <a:tcPr marL="91440" marR="91440" marT="45720" marB="45720">
                    <a:lnR w="9525">
                      <a:solidFill>
                        <a:srgbClr val="D7E1E8"/>
                      </a:solidFill>
                      <a:prstDash val="solid"/>
                    </a:lnR>
                    <a:lnB w="9525">
                      <a:solidFill>
                        <a:srgbClr val="D7E1E8"/>
                      </a:solidFill>
                      <a:prstDash val="solid"/>
                    </a:lnB>
                    <a:solidFill>
                      <a:srgbClr val="EDF3F7"/>
                    </a:solidFill>
                  </a:tcPr>
                </a:tc>
              </a:tr>
              <a:tr h="762000">
                <a:tc>
                  <a:txBody>
                    <a:bodyPr/>
                    <a:lstStyle/>
                    <a:p>
                      <a:r>
                        <a:rPr sz="1800" b="0">
                          <a:solidFill>
                            <a:srgbClr val="172B4D"/>
                          </a:solidFill>
                        </a:rPr>
                        <a:t>検証</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設定の選択</a:t>
                      </a:r>
                    </a:p>
                  </a:txBody>
                  <a:tcPr marL="91440" marR="91440" marT="45720" marB="45720">
                    <a:lnR w="9525">
                      <a:solidFill>
                        <a:srgbClr val="D7E1E8"/>
                      </a:solidFill>
                      <a:prstDash val="solid"/>
                    </a:lnR>
                    <a:lnB w="9525">
                      <a:solidFill>
                        <a:srgbClr val="D7E1E8"/>
                      </a:solidFill>
                      <a:prstDash val="solid"/>
                    </a:lnB>
                    <a:solidFill>
                      <a:srgbClr val="FFFFFF"/>
                    </a:solidFill>
                  </a:tcPr>
                </a:tc>
                <a:tc>
                  <a:txBody>
                    <a:bodyPr/>
                    <a:lstStyle/>
                    <a:p>
                      <a:r>
                        <a:rPr sz="1800" b="0">
                          <a:solidFill>
                            <a:srgbClr val="172B4D"/>
                          </a:solidFill>
                        </a:rPr>
                        <a:t>生成量・正則化・採択条件・閾値</a:t>
                      </a:r>
                    </a:p>
                  </a:txBody>
                  <a:tcPr marL="91440" marR="91440" marT="45720" marB="45720">
                    <a:lnR w="9525">
                      <a:solidFill>
                        <a:srgbClr val="D7E1E8"/>
                      </a:solidFill>
                      <a:prstDash val="solid"/>
                    </a:lnR>
                    <a:lnB w="9525">
                      <a:solidFill>
                        <a:srgbClr val="D7E1E8"/>
                      </a:solidFill>
                      <a:prstDash val="solid"/>
                    </a:lnB>
                    <a:solidFill>
                      <a:srgbClr val="FFFFFF"/>
                    </a:solidFill>
                  </a:tcPr>
                </a:tc>
              </a:tr>
              <a:tr h="762000">
                <a:tc>
                  <a:txBody>
                    <a:bodyPr/>
                    <a:lstStyle/>
                    <a:p>
                      <a:r>
                        <a:rPr sz="1800" b="0">
                          <a:solidFill>
                            <a:srgbClr val="172B4D"/>
                          </a:solidFill>
                        </a:rPr>
                        <a:t>テスト</a:t>
                      </a:r>
                    </a:p>
                  </a:txBody>
                  <a:tcPr marL="91440" marR="91440" marT="45720" marB="45720">
                    <a:lnL w="9525">
                      <a:solidFill>
                        <a:srgbClr val="D7E1E8"/>
                      </a:solidFill>
                      <a:prstDash val="solid"/>
                    </a:lnL>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最終評価</a:t>
                      </a:r>
                    </a:p>
                  </a:txBody>
                  <a:tcPr marL="91440" marR="91440" marT="45720" marB="45720">
                    <a:lnR w="9525">
                      <a:solidFill>
                        <a:srgbClr val="D7E1E8"/>
                      </a:solidFill>
                      <a:prstDash val="solid"/>
                    </a:lnR>
                    <a:lnB w="9525">
                      <a:solidFill>
                        <a:srgbClr val="D7E1E8"/>
                      </a:solidFill>
                      <a:prstDash val="solid"/>
                    </a:lnB>
                    <a:solidFill>
                      <a:srgbClr val="EDF3F7"/>
                    </a:solidFill>
                  </a:tcPr>
                </a:tc>
                <a:tc>
                  <a:txBody>
                    <a:bodyPr/>
                    <a:lstStyle/>
                    <a:p>
                      <a:r>
                        <a:rPr sz="1800" b="0">
                          <a:solidFill>
                            <a:srgbClr val="172B4D"/>
                          </a:solidFill>
                        </a:rPr>
                        <a:t>選択後のモデルの性能測定</a:t>
                      </a:r>
                    </a:p>
                  </a:txBody>
                  <a:tcPr marL="91440" marR="91440" marT="45720" marB="45720">
                    <a:lnR w="9525">
                      <a:solidFill>
                        <a:srgbClr val="D7E1E8"/>
                      </a:solidFill>
                      <a:prstDash val="solid"/>
                    </a:lnR>
                    <a:lnB w="9525">
                      <a:solidFill>
                        <a:srgbClr val="D7E1E8"/>
                      </a:solidFill>
                      <a:prstDash val="solid"/>
                    </a:lnB>
                    <a:solidFill>
                      <a:srgbClr val="EDF3F7"/>
                    </a:solidFill>
                  </a:tcPr>
                </a:tc>
              </a:tr>
            </a:tbl>
          </a:graphicData>
        </a:graphic>
      </p:graphicFrame>
      <p:sp>
        <p:nvSpPr>
          <p:cNvPr id="5" name="">
            <a:extLst xmlns:a="http://schemas.openxmlformats.org/drawingml/2006/main">
              <a:ext uri="{FF2B5EF4-FFF2-40B4-BE49-F238E27FC236}">
                <a16:creationId xmlns:a16="http://schemas.microsoft.com/office/drawing/2014/main" id="{03202CC5-EBE3-4E29-9FFE-847FB0E63EAD}"/>
              </a:ext>
            </a:extLst>
          </p:cNvPr>
          <p:cNvSpPr>
            <a:spLocks xmlns:a="http://schemas.openxmlformats.org/drawingml/2006/main" noGrp="1"/>
          </p:cNvSpPr>
          <p:nvPr/>
        </p:nvSpPr>
        <p:spPr>
          <a:xfrm xmlns:a="http://schemas.openxmlformats.org/drawingml/2006/main">
            <a:off x="762000" y="52863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36C81"/>
                </a:solidFill>
              </a:defRPr>
            </a:defPPr>
            <a:lvl1pPr>
              <a:defRPr sz="2100" b="0">
                <a:solidFill>
                  <a:srgbClr val="336C81"/>
                </a:solidFill>
              </a:defRPr>
            </a:lvl1pPr>
            <a:lvl2pPr>
              <a:defRPr sz="2100" b="0">
                <a:solidFill>
                  <a:srgbClr val="336C81"/>
                </a:solidFill>
              </a:defRPr>
            </a:lvl2pPr>
            <a:lvl3pPr>
              <a:defRPr sz="2100" b="0">
                <a:solidFill>
                  <a:srgbClr val="336C81"/>
                </a:solidFill>
              </a:defRPr>
            </a:lvl3pPr>
            <a:lvl4pPr>
              <a:defRPr sz="2100" b="0">
                <a:solidFill>
                  <a:srgbClr val="336C81"/>
                </a:solidFill>
              </a:defRPr>
            </a:lvl4pPr>
            <a:lvl5pPr>
              <a:defRPr sz="2100" b="0">
                <a:solidFill>
                  <a:srgbClr val="336C81"/>
                </a:solidFill>
              </a:defRPr>
            </a:lvl5pPr>
            <a:lvl6pPr>
              <a:defRPr sz="2100" b="0">
                <a:solidFill>
                  <a:srgbClr val="336C81"/>
                </a:solidFill>
              </a:defRPr>
            </a:lvl6pPr>
            <a:lvl7pPr>
              <a:defRPr sz="2100" b="0">
                <a:solidFill>
                  <a:srgbClr val="336C81"/>
                </a:solidFill>
              </a:defRPr>
            </a:lvl7pPr>
            <a:lvl8pPr>
              <a:defRPr sz="2100" b="0">
                <a:solidFill>
                  <a:srgbClr val="336C81"/>
                </a:solidFill>
              </a:defRPr>
            </a:lvl8pPr>
            <a:lvl9pPr>
              <a:defRPr sz="2100" b="0">
                <a:solidFill>
                  <a:srgbClr val="336C81"/>
                </a:solidFill>
              </a:defRPr>
            </a:lvl9pPr>
          </a:lstStyle>
          <a:p xmlns:a="http://schemas.openxmlformats.org/drawingml/2006/main">
            <a:pPr>
              <a:defRPr sz="2100" b="0">
                <a:solidFill>
                  <a:srgbClr val="336C81"/>
                </a:solidFill>
              </a:defRPr>
            </a:pPr>
            <a:r>
              <a:rPr sz="2100" b="0">
                <a:solidFill>
                  <a:srgbClr val="336C81"/>
                </a:solidFill>
              </a:rPr>
              <a:t>分割は生成前に行う。交差検証では各foldで訓練部分だけに適合</a:t>
            </a:r>
          </a:p>
        </p:txBody>
      </p:sp>
    </p:spTree>
    <p:extLst>
      <p:ext uri="{BB962C8B-B14F-4D97-AF65-F5344CB8AC3E}">
        <p14:creationId xmlns:p14="http://schemas.microsoft.com/office/powerpoint/2010/main" val="51105711"/>
      </p:ext>
    </p:extLst>
  </p:cSld>
</p:sld>
</file>

<file path=ppt/slides/slide2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A79629-8600-4D3B-8CB3-741BD73C51E9}"/>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分類性能と生成品質の評価</a:t>
            </a:r>
          </a:p>
        </p:txBody>
      </p:sp>
      <p:sp>
        <p:nvSpPr>
          <p:cNvPr id="3" name="">
            <a:extLst xmlns:a="http://schemas.openxmlformats.org/drawingml/2006/main">
              <a:ext uri="{FF2B5EF4-FFF2-40B4-BE49-F238E27FC236}">
                <a16:creationId xmlns:a16="http://schemas.microsoft.com/office/drawing/2014/main" id="{D1CEBB1C-AF3A-4020-9B00-34BC9F52ADCF}"/>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主指標：macro F1、balanced accuracy</a:t>
            </a:r>
          </a:p>
          <a:p xmlns:a="http://schemas.openxmlformats.org/drawingml/2006/main">
            <a:pPr>
              <a:defRPr sz="2700" b="1">
                <a:solidFill>
                  <a:srgbClr val="172B4D"/>
                </a:solidFill>
              </a:defRPr>
            </a:pPr>
            <a:r>
              <a:rPr sz="2700" b="1">
                <a:solidFill>
                  <a:srgbClr val="172B4D"/>
                </a:solidFill>
              </a:rPr>
              <a:t>補助：少数Recall・Precision、PR-AUC</a:t>
            </a:r>
          </a:p>
        </p:txBody>
      </p:sp>
      <p:sp>
        <p:nvSpPr>
          <p:cNvPr id="4" name="">
            <a:extLst xmlns:a="http://schemas.openxmlformats.org/drawingml/2006/main">
              <a:ext uri="{FF2B5EF4-FFF2-40B4-BE49-F238E27FC236}">
                <a16:creationId xmlns:a16="http://schemas.microsoft.com/office/drawing/2014/main" id="{3CD182DF-5BA4-4F96-B7C9-95530211B41D}"/>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品質：制約違反、分布、多様性、重複</a:t>
            </a:r>
          </a:p>
          <a:p xmlns:a="http://schemas.openxmlformats.org/drawingml/2006/main">
            <a:pPr>
              <a:defRPr sz="2250" b="0">
                <a:solidFill>
                  <a:srgbClr val="336C81"/>
                </a:solidFill>
              </a:defRPr>
            </a:pPr>
            <a:r>
              <a:rPr sz="2250" b="0">
                <a:solidFill>
                  <a:srgbClr val="336C81"/>
                </a:solidFill>
              </a:rPr>
              <a:t>同一分割の複数seedで平均とばらつきを報告</a:t>
            </a:r>
          </a:p>
        </p:txBody>
      </p:sp>
      <p:sp>
        <p:nvSpPr>
          <p:cNvPr id="5" name="">
            <a:extLst xmlns:a="http://schemas.openxmlformats.org/drawingml/2006/main">
              <a:ext uri="{FF2B5EF4-FFF2-40B4-BE49-F238E27FC236}">
                <a16:creationId xmlns:a16="http://schemas.microsoft.com/office/drawing/2014/main" id="{19EB6D48-31A2-49DD-B205-A93A4CB7876C}"/>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23</a:t>
            </a:r>
          </a:p>
        </p:txBody>
      </p:sp>
    </p:spTree>
    <p:extLst>
      <p:ext uri="{BB962C8B-B14F-4D97-AF65-F5344CB8AC3E}">
        <p14:creationId xmlns:p14="http://schemas.microsoft.com/office/powerpoint/2010/main" val="1915397068"/>
      </p:ext>
    </p:extLst>
  </p:cSld>
</p:sld>
</file>

<file path=ppt/slides/slide2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197B97D-8CCA-4418-9053-7858CA8198B4}"/>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結果の読み方と改善の判断</a:t>
            </a:r>
          </a:p>
        </p:txBody>
      </p:sp>
      <p:sp>
        <p:nvSpPr>
          <p:cNvPr id="3" name="">
            <a:extLst xmlns:a="http://schemas.openxmlformats.org/drawingml/2006/main">
              <a:ext uri="{FF2B5EF4-FFF2-40B4-BE49-F238E27FC236}">
                <a16:creationId xmlns:a16="http://schemas.microsoft.com/office/drawing/2014/main" id="{BF1623FE-53CD-4E19-A907-123F677E878B}"/>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性能と品質が改善：改善案を次の条件へ</a:t>
            </a:r>
          </a:p>
          <a:p xmlns:a="http://schemas.openxmlformats.org/drawingml/2006/main">
            <a:pPr>
              <a:defRPr sz="2700" b="1">
                <a:solidFill>
                  <a:srgbClr val="172B4D"/>
                </a:solidFill>
              </a:defRPr>
            </a:pPr>
            <a:r>
              <a:rPr sz="2700" b="1">
                <a:solidFill>
                  <a:srgbClr val="172B4D"/>
                </a:solidFill>
              </a:rPr>
              <a:t>品質のみ改善：分類に必要な差かを再検討</a:t>
            </a:r>
          </a:p>
        </p:txBody>
      </p:sp>
      <p:sp>
        <p:nvSpPr>
          <p:cNvPr id="4" name="">
            <a:extLst xmlns:a="http://schemas.openxmlformats.org/drawingml/2006/main">
              <a:ext uri="{FF2B5EF4-FFF2-40B4-BE49-F238E27FC236}">
                <a16:creationId xmlns:a16="http://schemas.microsoft.com/office/drawing/2014/main" id="{538041F1-8693-40A4-93E5-FEE362472543}"/>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Recall上昇・Precision低下：境界や閾値を確認</a:t>
            </a:r>
          </a:p>
          <a:p xmlns:a="http://schemas.openxmlformats.org/drawingml/2006/main">
            <a:pPr>
              <a:defRPr sz="2250" b="0">
                <a:solidFill>
                  <a:srgbClr val="336C81"/>
                </a:solidFill>
              </a:defRPr>
            </a:pPr>
            <a:r>
              <a:rPr sz="2250" b="0">
                <a:solidFill>
                  <a:srgbClr val="336C81"/>
                </a:solidFill>
              </a:rPr>
              <a:t>seedで不安定：例数・推定・学習を点検</a:t>
            </a:r>
          </a:p>
        </p:txBody>
      </p:sp>
      <p:sp>
        <p:nvSpPr>
          <p:cNvPr id="5" name="">
            <a:extLst xmlns:a="http://schemas.openxmlformats.org/drawingml/2006/main">
              <a:ext uri="{FF2B5EF4-FFF2-40B4-BE49-F238E27FC236}">
                <a16:creationId xmlns:a16="http://schemas.microsoft.com/office/drawing/2014/main" id="{56FE276D-A3EF-40E8-BE36-DE5958013CF3}"/>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24</a:t>
            </a:r>
          </a:p>
        </p:txBody>
      </p:sp>
    </p:spTree>
    <p:extLst>
      <p:ext uri="{BB962C8B-B14F-4D97-AF65-F5344CB8AC3E}">
        <p14:creationId xmlns:p14="http://schemas.microsoft.com/office/powerpoint/2010/main" val="324537028"/>
      </p:ext>
    </p:extLst>
  </p:cSld>
</p:sld>
</file>

<file path=ppt/slides/slide2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EE511F6-94C6-4B19-BB76-12129BBAB1E7}"/>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実施順序とゼミで相談したい点</a:t>
            </a:r>
          </a:p>
        </p:txBody>
      </p:sp>
      <p:sp>
        <p:nvSpPr>
          <p:cNvPr id="3" name="">
            <a:extLst xmlns:a="http://schemas.openxmlformats.org/drawingml/2006/main">
              <a:ext uri="{FF2B5EF4-FFF2-40B4-BE49-F238E27FC236}">
                <a16:creationId xmlns:a16="http://schemas.microsoft.com/office/drawing/2014/main" id="{D68D8AB9-A52D-466A-AB93-6759A834242B}"/>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第１段階：人工データで単純手法を比較</a:t>
            </a:r>
          </a:p>
          <a:p xmlns:a="http://schemas.openxmlformats.org/drawingml/2006/main">
            <a:pPr>
              <a:defRPr sz="2700" b="1">
                <a:solidFill>
                  <a:srgbClr val="172B4D"/>
                </a:solidFill>
              </a:defRPr>
            </a:pPr>
            <a:r>
              <a:rPr sz="2700" b="1">
                <a:solidFill>
                  <a:srgbClr val="172B4D"/>
                </a:solidFill>
              </a:rPr>
              <a:t>第２段階：CTGAN系と改善案を追加</a:t>
            </a:r>
          </a:p>
        </p:txBody>
      </p:sp>
      <p:sp>
        <p:nvSpPr>
          <p:cNvPr id="4" name="">
            <a:extLst xmlns:a="http://schemas.openxmlformats.org/drawingml/2006/main">
              <a:ext uri="{FF2B5EF4-FFF2-40B4-BE49-F238E27FC236}">
                <a16:creationId xmlns:a16="http://schemas.microsoft.com/office/drawing/2014/main" id="{73A0A534-BD24-47F4-AF09-E54E41236D68}"/>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第３段階：実データで再確認</a:t>
            </a:r>
          </a:p>
          <a:p xmlns:a="http://schemas.openxmlformats.org/drawingml/2006/main">
            <a:pPr>
              <a:defRPr sz="2250" b="0">
                <a:solidFill>
                  <a:srgbClr val="336C81"/>
                </a:solidFill>
              </a:defRPr>
            </a:pPr>
            <a:r>
              <a:rPr sz="2250" b="0">
                <a:solidFill>
                  <a:srgbClr val="336C81"/>
                </a:solidFill>
              </a:rPr>
              <a:t>相談：複合手法の定義と、優先する失敗条件</a:t>
            </a:r>
          </a:p>
        </p:txBody>
      </p:sp>
      <p:sp>
        <p:nvSpPr>
          <p:cNvPr id="5" name="">
            <a:extLst xmlns:a="http://schemas.openxmlformats.org/drawingml/2006/main">
              <a:ext uri="{FF2B5EF4-FFF2-40B4-BE49-F238E27FC236}">
                <a16:creationId xmlns:a16="http://schemas.microsoft.com/office/drawing/2014/main" id="{CEAA7BA4-945B-4ADC-9E6F-138AF6D812D1}"/>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25</a:t>
            </a:r>
          </a:p>
        </p:txBody>
      </p:sp>
    </p:spTree>
    <p:extLst>
      <p:ext uri="{BB962C8B-B14F-4D97-AF65-F5344CB8AC3E}">
        <p14:creationId xmlns:p14="http://schemas.microsoft.com/office/powerpoint/2010/main" val="1775134736"/>
      </p:ext>
    </p:extLst>
  </p:cSld>
</p:sld>
</file>

<file path=ppt/slides/slide2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ED9976C-CDF3-4F10-8CB1-7ECB4250026C}"/>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研究として明らかにしたいこと</a:t>
            </a:r>
          </a:p>
        </p:txBody>
      </p:sp>
      <p:sp>
        <p:nvSpPr>
          <p:cNvPr id="3" name="">
            <a:extLst xmlns:a="http://schemas.openxmlformats.org/drawingml/2006/main">
              <a:ext uri="{FF2B5EF4-FFF2-40B4-BE49-F238E27FC236}">
                <a16:creationId xmlns:a16="http://schemas.microsoft.com/office/drawing/2014/main" id="{E5E514A5-B5BA-4F06-AB6F-0B66B4C7CE21}"/>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どの構造で、どの生成方法が失敗するか</a:t>
            </a:r>
          </a:p>
        </p:txBody>
      </p:sp>
      <p:sp>
        <p:nvSpPr>
          <p:cNvPr id="4" name="">
            <a:extLst xmlns:a="http://schemas.openxmlformats.org/drawingml/2006/main">
              <a:ext uri="{FF2B5EF4-FFF2-40B4-BE49-F238E27FC236}">
                <a16:creationId xmlns:a16="http://schemas.microsoft.com/office/drawing/2014/main" id="{720E4428-4C87-4264-B9B7-0A73B956591D}"/>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その失敗に対応する制約が、</a:t>
            </a:r>
          </a:p>
          <a:p xmlns:a="http://schemas.openxmlformats.org/drawingml/2006/main">
            <a:pPr>
              <a:defRPr sz="2250" b="0">
                <a:solidFill>
                  <a:srgbClr val="336C81"/>
                </a:solidFill>
              </a:defRPr>
            </a:pPr>
            <a:r>
              <a:rPr sz="2250" b="0">
                <a:solidFill>
                  <a:srgbClr val="336C81"/>
                </a:solidFill>
              </a:rPr>
              <a:t>未知データの分類性能を改善するか</a:t>
            </a:r>
          </a:p>
        </p:txBody>
      </p:sp>
      <p:sp>
        <p:nvSpPr>
          <p:cNvPr id="5" name="">
            <a:extLst xmlns:a="http://schemas.openxmlformats.org/drawingml/2006/main">
              <a:ext uri="{FF2B5EF4-FFF2-40B4-BE49-F238E27FC236}">
                <a16:creationId xmlns:a16="http://schemas.microsoft.com/office/drawing/2014/main" id="{A69FF90A-F93A-4579-81A9-D2A9B74177D9}"/>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26</a:t>
            </a:r>
          </a:p>
        </p:txBody>
      </p:sp>
    </p:spTree>
    <p:extLst>
      <p:ext uri="{BB962C8B-B14F-4D97-AF65-F5344CB8AC3E}">
        <p14:creationId xmlns:p14="http://schemas.microsoft.com/office/powerpoint/2010/main" val="1686535227"/>
      </p:ext>
    </p:extLst>
  </p:cSld>
</p:sld>
</file>

<file path=ppt/slides/slide2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6C5DF75-2807-4B36-B5BA-D9F909D5DB7A}"/>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参考文献と関連論文の確認状況</a:t>
            </a:r>
          </a:p>
        </p:txBody>
      </p:sp>
      <p:sp>
        <p:nvSpPr>
          <p:cNvPr id="3" name="">
            <a:extLst xmlns:a="http://schemas.openxmlformats.org/drawingml/2006/main">
              <a:ext uri="{FF2B5EF4-FFF2-40B4-BE49-F238E27FC236}">
                <a16:creationId xmlns:a16="http://schemas.microsoft.com/office/drawing/2014/main" id="{EC5CE01E-1BE6-4C13-9210-5E9B977F9A95}"/>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SMOTE：Chawla et al., JAIR, 2002</a:t>
            </a:r>
          </a:p>
          <a:p xmlns:a="http://schemas.openxmlformats.org/drawingml/2006/main">
            <a:pPr>
              <a:defRPr sz="2700" b="1">
                <a:solidFill>
                  <a:srgbClr val="172B4D"/>
                </a:solidFill>
              </a:defRPr>
            </a:pPr>
            <a:r>
              <a:rPr sz="2700" b="1">
                <a:solidFill>
                  <a:srgbClr val="172B4D"/>
                </a:solidFill>
              </a:rPr>
              <a:t>CTGAN：Xu et al., NeurIPS, 2019</a:t>
            </a:r>
          </a:p>
        </p:txBody>
      </p:sp>
      <p:sp>
        <p:nvSpPr>
          <p:cNvPr id="4" name="">
            <a:extLst xmlns:a="http://schemas.openxmlformats.org/drawingml/2006/main">
              <a:ext uri="{FF2B5EF4-FFF2-40B4-BE49-F238E27FC236}">
                <a16:creationId xmlns:a16="http://schemas.microsoft.com/office/drawing/2014/main" id="{2788970C-123E-4321-AE04-B7C8ADDA5214}"/>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SDV・imbalanced-learn公式ドキュメント</a:t>
            </a:r>
          </a:p>
          <a:p xmlns:a="http://schemas.openxmlformats.org/drawingml/2006/main">
            <a:pPr>
              <a:defRPr sz="2250" b="0">
                <a:solidFill>
                  <a:srgbClr val="336C81"/>
                </a:solidFill>
              </a:defRPr>
            </a:pPr>
            <a:r>
              <a:rPr sz="2250" b="0">
                <a:solidFill>
                  <a:srgbClr val="336C81"/>
                </a:solidFill>
              </a:rPr>
              <a:t>共有論文：本文未確認のため内容を引用していない</a:t>
            </a:r>
          </a:p>
        </p:txBody>
      </p:sp>
      <p:sp>
        <p:nvSpPr>
          <p:cNvPr id="5" name="">
            <a:extLst xmlns:a="http://schemas.openxmlformats.org/drawingml/2006/main">
              <a:ext uri="{FF2B5EF4-FFF2-40B4-BE49-F238E27FC236}">
                <a16:creationId xmlns:a16="http://schemas.microsoft.com/office/drawing/2014/main" id="{E6DCDC7A-8B64-47B8-A99D-AC772F2BF913}"/>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27</a:t>
            </a:r>
          </a:p>
        </p:txBody>
      </p:sp>
    </p:spTree>
    <p:extLst>
      <p:ext uri="{BB962C8B-B14F-4D97-AF65-F5344CB8AC3E}">
        <p14:creationId xmlns:p14="http://schemas.microsoft.com/office/powerpoint/2010/main" val="106367766"/>
      </p:ext>
    </p:extLst>
  </p:cSld>
</p:sld>
</file>

<file path=ppt/slides/slide2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7C76E2E-5523-4BE2-B9E8-FC6249FBE0AC}"/>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補足：既存コードと今回の実験</a:t>
            </a:r>
          </a:p>
        </p:txBody>
      </p:sp>
      <p:sp>
        <p:nvSpPr>
          <p:cNvPr id="3" name="">
            <a:extLst xmlns:a="http://schemas.openxmlformats.org/drawingml/2006/main">
              <a:ext uri="{FF2B5EF4-FFF2-40B4-BE49-F238E27FC236}">
                <a16:creationId xmlns:a16="http://schemas.microsoft.com/office/drawing/2014/main" id="{4E6EEFB1-D7C6-47DB-B862-C1A901D1D0DA}"/>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既存：VIMEの入力破損を</a:t>
            </a:r>
          </a:p>
          <a:p xmlns:a="http://schemas.openxmlformats.org/drawingml/2006/main">
            <a:pPr>
              <a:defRPr sz="2700" b="1">
                <a:solidFill>
                  <a:srgbClr val="172B4D"/>
                </a:solidFill>
              </a:defRPr>
            </a:pPr>
            <a:r>
              <a:rPr sz="2700" b="1">
                <a:solidFill>
                  <a:srgbClr val="172B4D"/>
                </a:solidFill>
              </a:rPr>
              <a:t>列シャッフルから条件付きコピュラへ置換</a:t>
            </a:r>
          </a:p>
        </p:txBody>
      </p:sp>
      <p:sp>
        <p:nvSpPr>
          <p:cNvPr id="4" name="">
            <a:extLst xmlns:a="http://schemas.openxmlformats.org/drawingml/2006/main">
              <a:ext uri="{FF2B5EF4-FFF2-40B4-BE49-F238E27FC236}">
                <a16:creationId xmlns:a16="http://schemas.microsoft.com/office/drawing/2014/main" id="{E5AE675D-193C-4AB1-9C5A-9FCF214A042F}"/>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今回：ラベル付き訓練行の過剰サンプリング</a:t>
            </a:r>
          </a:p>
          <a:p xmlns:a="http://schemas.openxmlformats.org/drawingml/2006/main">
            <a:pPr>
              <a:defRPr sz="2250" b="0">
                <a:solidFill>
                  <a:srgbClr val="336C81"/>
                </a:solidFill>
              </a:defRPr>
            </a:pPr>
            <a:r>
              <a:rPr sz="2250" b="0">
                <a:solidFill>
                  <a:srgbClr val="336C81"/>
                </a:solidFill>
              </a:rPr>
              <a:t>生成器を再利用する場合も評価単位を分ける</a:t>
            </a:r>
          </a:p>
        </p:txBody>
      </p:sp>
      <p:sp>
        <p:nvSpPr>
          <p:cNvPr id="5" name="">
            <a:extLst xmlns:a="http://schemas.openxmlformats.org/drawingml/2006/main">
              <a:ext uri="{FF2B5EF4-FFF2-40B4-BE49-F238E27FC236}">
                <a16:creationId xmlns:a16="http://schemas.microsoft.com/office/drawing/2014/main" id="{8718B83D-4B28-4A9F-8E77-4AA781B3A635}"/>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28</a:t>
            </a:r>
          </a:p>
        </p:txBody>
      </p:sp>
    </p:spTree>
    <p:extLst>
      <p:ext uri="{BB962C8B-B14F-4D97-AF65-F5344CB8AC3E}">
        <p14:creationId xmlns:p14="http://schemas.microsoft.com/office/powerpoint/2010/main" val="141037013"/>
      </p:ext>
    </p:extLst>
  </p:cSld>
</p:sld>
</file>

<file path=ppt/slides/slide2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739E872-0391-4F89-A340-9455D00E327C}"/>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補足：評価指標の定義</a:t>
            </a:r>
          </a:p>
        </p:txBody>
      </p:sp>
      <p:sp>
        <p:nvSpPr>
          <p:cNvPr id="3" name="">
            <a:extLst xmlns:a="http://schemas.openxmlformats.org/drawingml/2006/main">
              <a:ext uri="{FF2B5EF4-FFF2-40B4-BE49-F238E27FC236}">
                <a16:creationId xmlns:a16="http://schemas.microsoft.com/office/drawing/2014/main" id="{AE9E94C2-6101-4D86-8001-E6DBD32E34D3}"/>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Recall = TP / (TP + FN)</a:t>
            </a:r>
          </a:p>
          <a:p xmlns:a="http://schemas.openxmlformats.org/drawingml/2006/main">
            <a:pPr>
              <a:defRPr sz="2700" b="1">
                <a:solidFill>
                  <a:srgbClr val="172B4D"/>
                </a:solidFill>
              </a:defRPr>
            </a:pPr>
            <a:r>
              <a:rPr sz="2700" b="1">
                <a:solidFill>
                  <a:srgbClr val="172B4D"/>
                </a:solidFill>
              </a:rPr>
              <a:t>Precision = TP / (TP + FP)</a:t>
            </a:r>
          </a:p>
        </p:txBody>
      </p:sp>
      <p:sp>
        <p:nvSpPr>
          <p:cNvPr id="4" name="">
            <a:extLst xmlns:a="http://schemas.openxmlformats.org/drawingml/2006/main">
              <a:ext uri="{FF2B5EF4-FFF2-40B4-BE49-F238E27FC236}">
                <a16:creationId xmlns:a16="http://schemas.microsoft.com/office/drawing/2014/main" id="{B586DA49-3C2D-4E49-9A03-6E8BB00A1912}"/>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F1 = 2PR / (P + R)</a:t>
            </a:r>
          </a:p>
          <a:p xmlns:a="http://schemas.openxmlformats.org/drawingml/2006/main">
            <a:pPr>
              <a:defRPr sz="2250" b="0">
                <a:solidFill>
                  <a:srgbClr val="336C81"/>
                </a:solidFill>
              </a:defRPr>
            </a:pPr>
            <a:r>
              <a:rPr sz="2250" b="0">
                <a:solidFill>
                  <a:srgbClr val="336C81"/>
                </a:solidFill>
              </a:rPr>
              <a:t>Balanced accuracy = 各クラスRecallの平均</a:t>
            </a:r>
          </a:p>
        </p:txBody>
      </p:sp>
      <p:sp>
        <p:nvSpPr>
          <p:cNvPr id="5" name="">
            <a:extLst xmlns:a="http://schemas.openxmlformats.org/drawingml/2006/main">
              <a:ext uri="{FF2B5EF4-FFF2-40B4-BE49-F238E27FC236}">
                <a16:creationId xmlns:a16="http://schemas.microsoft.com/office/drawing/2014/main" id="{2AE1D7CD-3127-494D-81DD-0AF2ED45BBE1}"/>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29</a:t>
            </a:r>
          </a:p>
        </p:txBody>
      </p:sp>
    </p:spTree>
    <p:extLst>
      <p:ext uri="{BB962C8B-B14F-4D97-AF65-F5344CB8AC3E}">
        <p14:creationId xmlns:p14="http://schemas.microsoft.com/office/powerpoint/2010/main" val="1858119105"/>
      </p:ext>
    </p:extLst>
  </p:cSld>
</p:sld>
</file>

<file path=ppt/slides/slide3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6C3CFC7-6CBD-4C27-B366-FD71EFF75BCF}"/>
              </a:ext>
            </a:extLst>
          </p:cNvPr>
          <p:cNvSpPr>
            <a:spLocks xmlns:a="http://schemas.openxmlformats.org/drawingml/2006/main" noGrp="1"/>
          </p:cNvSpPr>
          <p:nvPr/>
        </p:nvSpPr>
        <p:spPr>
          <a:xfrm xmlns:a="http://schemas.openxmlformats.org/drawingml/2006/main">
            <a:off x="685800" y="495300"/>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B46"/>
                </a:solidFill>
              </a:defRPr>
            </a:defPPr>
            <a:lvl1pPr>
              <a:defRPr sz="3150" b="1">
                <a:solidFill>
                  <a:srgbClr val="102B46"/>
                </a:solidFill>
              </a:defRPr>
            </a:lvl1pPr>
            <a:lvl2pPr>
              <a:defRPr sz="3150" b="1">
                <a:solidFill>
                  <a:srgbClr val="102B46"/>
                </a:solidFill>
              </a:defRPr>
            </a:lvl2pPr>
            <a:lvl3pPr>
              <a:defRPr sz="3150" b="1">
                <a:solidFill>
                  <a:srgbClr val="102B46"/>
                </a:solidFill>
              </a:defRPr>
            </a:lvl3pPr>
            <a:lvl4pPr>
              <a:defRPr sz="3150" b="1">
                <a:solidFill>
                  <a:srgbClr val="102B46"/>
                </a:solidFill>
              </a:defRPr>
            </a:lvl4pPr>
            <a:lvl5pPr>
              <a:defRPr sz="3150" b="1">
                <a:solidFill>
                  <a:srgbClr val="102B46"/>
                </a:solidFill>
              </a:defRPr>
            </a:lvl5pPr>
            <a:lvl6pPr>
              <a:defRPr sz="3150" b="1">
                <a:solidFill>
                  <a:srgbClr val="102B46"/>
                </a:solidFill>
              </a:defRPr>
            </a:lvl6pPr>
            <a:lvl7pPr>
              <a:defRPr sz="3150" b="1">
                <a:solidFill>
                  <a:srgbClr val="102B46"/>
                </a:solidFill>
              </a:defRPr>
            </a:lvl7pPr>
            <a:lvl8pPr>
              <a:defRPr sz="3150" b="1">
                <a:solidFill>
                  <a:srgbClr val="102B46"/>
                </a:solidFill>
              </a:defRPr>
            </a:lvl8pPr>
            <a:lvl9pPr>
              <a:defRPr sz="3150" b="1">
                <a:solidFill>
                  <a:srgbClr val="102B46"/>
                </a:solidFill>
              </a:defRPr>
            </a:lvl9pPr>
          </a:lstStyle>
          <a:p xmlns:a="http://schemas.openxmlformats.org/drawingml/2006/main">
            <a:pPr>
              <a:defRPr sz="3150" b="1">
                <a:solidFill>
                  <a:srgbClr val="102B46"/>
                </a:solidFill>
              </a:defRPr>
            </a:pPr>
            <a:r>
              <a:rPr sz="3150" b="1">
                <a:solidFill>
                  <a:srgbClr val="102B46"/>
                </a:solidFill>
              </a:rPr>
              <a:t>補足：ラベルなしデータへの次の段階</a:t>
            </a:r>
          </a:p>
        </p:txBody>
      </p:sp>
      <p:sp>
        <p:nvSpPr>
          <p:cNvPr id="3" name="">
            <a:extLst xmlns:a="http://schemas.openxmlformats.org/drawingml/2006/main">
              <a:ext uri="{FF2B5EF4-FFF2-40B4-BE49-F238E27FC236}">
                <a16:creationId xmlns:a16="http://schemas.microsoft.com/office/drawing/2014/main" id="{06E88B44-7DFB-41FD-B063-2F71C261C72D}"/>
              </a:ext>
            </a:extLst>
          </p:cNvPr>
          <p:cNvSpPr>
            <a:spLocks xmlns:a="http://schemas.openxmlformats.org/drawingml/2006/main" noGrp="1"/>
          </p:cNvSpPr>
          <p:nvPr/>
        </p:nvSpPr>
        <p:spPr>
          <a:xfrm xmlns:a="http://schemas.openxmlformats.org/drawingml/2006/main">
            <a:off x="723900" y="19050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72B4D"/>
                </a:solidFill>
              </a:defRPr>
            </a:defPPr>
            <a:lvl1pPr>
              <a:defRPr sz="2700" b="1">
                <a:solidFill>
                  <a:srgbClr val="172B4D"/>
                </a:solidFill>
              </a:defRPr>
            </a:lvl1pPr>
            <a:lvl2pPr>
              <a:defRPr sz="2700" b="1">
                <a:solidFill>
                  <a:srgbClr val="172B4D"/>
                </a:solidFill>
              </a:defRPr>
            </a:lvl2pPr>
            <a:lvl3pPr>
              <a:defRPr sz="2700" b="1">
                <a:solidFill>
                  <a:srgbClr val="172B4D"/>
                </a:solidFill>
              </a:defRPr>
            </a:lvl3pPr>
            <a:lvl4pPr>
              <a:defRPr sz="2700" b="1">
                <a:solidFill>
                  <a:srgbClr val="172B4D"/>
                </a:solidFill>
              </a:defRPr>
            </a:lvl4pPr>
            <a:lvl5pPr>
              <a:defRPr sz="2700" b="1">
                <a:solidFill>
                  <a:srgbClr val="172B4D"/>
                </a:solidFill>
              </a:defRPr>
            </a:lvl5pPr>
            <a:lvl6pPr>
              <a:defRPr sz="2700" b="1">
                <a:solidFill>
                  <a:srgbClr val="172B4D"/>
                </a:solidFill>
              </a:defRPr>
            </a:lvl6pPr>
            <a:lvl7pPr>
              <a:defRPr sz="2700" b="1">
                <a:solidFill>
                  <a:srgbClr val="172B4D"/>
                </a:solidFill>
              </a:defRPr>
            </a:lvl7pPr>
            <a:lvl8pPr>
              <a:defRPr sz="2700" b="1">
                <a:solidFill>
                  <a:srgbClr val="172B4D"/>
                </a:solidFill>
              </a:defRPr>
            </a:lvl8pPr>
            <a:lvl9pPr>
              <a:defRPr sz="2700" b="1">
                <a:solidFill>
                  <a:srgbClr val="172B4D"/>
                </a:solidFill>
              </a:defRPr>
            </a:lvl9pPr>
          </a:lstStyle>
          <a:p xmlns:a="http://schemas.openxmlformats.org/drawingml/2006/main">
            <a:pPr>
              <a:defRPr sz="2700" b="1">
                <a:solidFill>
                  <a:srgbClr val="172B4D"/>
                </a:solidFill>
              </a:defRPr>
            </a:pPr>
            <a:r>
              <a:rPr sz="2700" b="1">
                <a:solidFill>
                  <a:srgbClr val="172B4D"/>
                </a:solidFill>
              </a:rPr>
              <a:t>まず訓練データのラベルをランダムに隠し、</a:t>
            </a:r>
          </a:p>
          <a:p xmlns:a="http://schemas.openxmlformats.org/drawingml/2006/main">
            <a:pPr>
              <a:defRPr sz="2700" b="1">
                <a:solidFill>
                  <a:srgbClr val="172B4D"/>
                </a:solidFill>
              </a:defRPr>
            </a:pPr>
            <a:r>
              <a:rPr sz="2700" b="1">
                <a:solidFill>
                  <a:srgbClr val="172B4D"/>
                </a:solidFill>
              </a:rPr>
              <a:t>同じ評価基盤でラベル率を変える</a:t>
            </a:r>
          </a:p>
        </p:txBody>
      </p:sp>
      <p:sp>
        <p:nvSpPr>
          <p:cNvPr id="4" name="">
            <a:extLst xmlns:a="http://schemas.openxmlformats.org/drawingml/2006/main">
              <a:ext uri="{FF2B5EF4-FFF2-40B4-BE49-F238E27FC236}">
                <a16:creationId xmlns:a16="http://schemas.microsoft.com/office/drawing/2014/main" id="{50187799-24FC-4801-8D36-FB03D31A7A52}"/>
              </a:ext>
            </a:extLst>
          </p:cNvPr>
          <p:cNvSpPr>
            <a:spLocks xmlns:a="http://schemas.openxmlformats.org/drawingml/2006/main" noGrp="1"/>
          </p:cNvSpPr>
          <p:nvPr/>
        </p:nvSpPr>
        <p:spPr>
          <a:xfrm xmlns:a="http://schemas.openxmlformats.org/drawingml/2006/main">
            <a:off x="723900" y="3876675"/>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336C81"/>
                </a:solidFill>
              </a:defRPr>
            </a:defPPr>
            <a:lvl1pPr>
              <a:defRPr sz="2250" b="0">
                <a:solidFill>
                  <a:srgbClr val="336C81"/>
                </a:solidFill>
              </a:defRPr>
            </a:lvl1pPr>
            <a:lvl2pPr>
              <a:defRPr sz="2250" b="0">
                <a:solidFill>
                  <a:srgbClr val="336C81"/>
                </a:solidFill>
              </a:defRPr>
            </a:lvl2pPr>
            <a:lvl3pPr>
              <a:defRPr sz="2250" b="0">
                <a:solidFill>
                  <a:srgbClr val="336C81"/>
                </a:solidFill>
              </a:defRPr>
            </a:lvl3pPr>
            <a:lvl4pPr>
              <a:defRPr sz="2250" b="0">
                <a:solidFill>
                  <a:srgbClr val="336C81"/>
                </a:solidFill>
              </a:defRPr>
            </a:lvl4pPr>
            <a:lvl5pPr>
              <a:defRPr sz="2250" b="0">
                <a:solidFill>
                  <a:srgbClr val="336C81"/>
                </a:solidFill>
              </a:defRPr>
            </a:lvl5pPr>
            <a:lvl6pPr>
              <a:defRPr sz="2250" b="0">
                <a:solidFill>
                  <a:srgbClr val="336C81"/>
                </a:solidFill>
              </a:defRPr>
            </a:lvl6pPr>
            <a:lvl7pPr>
              <a:defRPr sz="2250" b="0">
                <a:solidFill>
                  <a:srgbClr val="336C81"/>
                </a:solidFill>
              </a:defRPr>
            </a:lvl7pPr>
            <a:lvl8pPr>
              <a:defRPr sz="2250" b="0">
                <a:solidFill>
                  <a:srgbClr val="336C81"/>
                </a:solidFill>
              </a:defRPr>
            </a:lvl8pPr>
            <a:lvl9pPr>
              <a:defRPr sz="2250" b="0">
                <a:solidFill>
                  <a:srgbClr val="336C81"/>
                </a:solidFill>
              </a:defRPr>
            </a:lvl9pPr>
          </a:lstStyle>
          <a:p xmlns:a="http://schemas.openxmlformats.org/drawingml/2006/main">
            <a:pPr>
              <a:defRPr sz="2250" b="0">
                <a:solidFill>
                  <a:srgbClr val="336C81"/>
                </a:solidFill>
              </a:defRPr>
            </a:pPr>
            <a:r>
              <a:rPr sz="2250" b="0">
                <a:solidFill>
                  <a:srgbClr val="336C81"/>
                </a:solidFill>
              </a:rPr>
              <a:t>次にクラスごとのラベル欠損率を変える</a:t>
            </a:r>
          </a:p>
          <a:p xmlns:a="http://schemas.openxmlformats.org/drawingml/2006/main">
            <a:pPr>
              <a:defRPr sz="2250" b="0">
                <a:solidFill>
                  <a:srgbClr val="336C81"/>
                </a:solidFill>
              </a:defRPr>
            </a:pPr>
            <a:r>
              <a:rPr sz="2250" b="0">
                <a:solidFill>
                  <a:srgbClr val="336C81"/>
                </a:solidFill>
              </a:rPr>
              <a:t>疑似ラベルの誤り増幅を確認する</a:t>
            </a:r>
          </a:p>
        </p:txBody>
      </p:sp>
      <p:sp>
        <p:nvSpPr>
          <p:cNvPr id="5" name="">
            <a:extLst xmlns:a="http://schemas.openxmlformats.org/drawingml/2006/main">
              <a:ext uri="{FF2B5EF4-FFF2-40B4-BE49-F238E27FC236}">
                <a16:creationId xmlns:a16="http://schemas.microsoft.com/office/drawing/2014/main" id="{2AED0668-8028-4F90-AA40-C236668C35E3}"/>
              </a:ext>
            </a:extLst>
          </p:cNvPr>
          <p:cNvSpPr>
            <a:spLocks xmlns:a="http://schemas.openxmlformats.org/drawingml/2006/main" noGrp="1"/>
          </p:cNvSpPr>
          <p:nvPr/>
        </p:nvSpPr>
        <p:spPr>
          <a:xfrm xmlns:a="http://schemas.openxmlformats.org/drawingml/2006/main">
            <a:off x="11144250" y="6276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B7F90"/>
                </a:solidFill>
              </a:defRPr>
            </a:defPPr>
            <a:lvl1pPr>
              <a:defRPr sz="1350" b="0">
                <a:solidFill>
                  <a:srgbClr val="6B7F90"/>
                </a:solidFill>
              </a:defRPr>
            </a:lvl1pPr>
            <a:lvl2pPr>
              <a:defRPr sz="1350" b="0">
                <a:solidFill>
                  <a:srgbClr val="6B7F90"/>
                </a:solidFill>
              </a:defRPr>
            </a:lvl2pPr>
            <a:lvl3pPr>
              <a:defRPr sz="1350" b="0">
                <a:solidFill>
                  <a:srgbClr val="6B7F90"/>
                </a:solidFill>
              </a:defRPr>
            </a:lvl3pPr>
            <a:lvl4pPr>
              <a:defRPr sz="1350" b="0">
                <a:solidFill>
                  <a:srgbClr val="6B7F90"/>
                </a:solidFill>
              </a:defRPr>
            </a:lvl4pPr>
            <a:lvl5pPr>
              <a:defRPr sz="1350" b="0">
                <a:solidFill>
                  <a:srgbClr val="6B7F90"/>
                </a:solidFill>
              </a:defRPr>
            </a:lvl5pPr>
            <a:lvl6pPr>
              <a:defRPr sz="1350" b="0">
                <a:solidFill>
                  <a:srgbClr val="6B7F90"/>
                </a:solidFill>
              </a:defRPr>
            </a:lvl6pPr>
            <a:lvl7pPr>
              <a:defRPr sz="1350" b="0">
                <a:solidFill>
                  <a:srgbClr val="6B7F90"/>
                </a:solidFill>
              </a:defRPr>
            </a:lvl7pPr>
            <a:lvl8pPr>
              <a:defRPr sz="1350" b="0">
                <a:solidFill>
                  <a:srgbClr val="6B7F90"/>
                </a:solidFill>
              </a:defRPr>
            </a:lvl8pPr>
            <a:lvl9pPr>
              <a:defRPr sz="1350" b="0">
                <a:solidFill>
                  <a:srgbClr val="6B7F90"/>
                </a:solidFill>
              </a:defRPr>
            </a:lvl9pPr>
          </a:lstStyle>
          <a:p xmlns:a="http://schemas.openxmlformats.org/drawingml/2006/main">
            <a:pPr>
              <a:defRPr sz="1350" b="0">
                <a:solidFill>
                  <a:srgbClr val="6B7F90"/>
                </a:solidFill>
              </a:defRPr>
            </a:pPr>
            <a:r>
              <a:rPr sz="1350" b="0">
                <a:solidFill>
                  <a:srgbClr val="6B7F90"/>
                </a:solidFill>
              </a:rPr>
              <a:t>30</a:t>
            </a:r>
          </a:p>
        </p:txBody>
      </p:sp>
    </p:spTree>
    <p:extLst>
      <p:ext uri="{BB962C8B-B14F-4D97-AF65-F5344CB8AC3E}">
        <p14:creationId xmlns:p14="http://schemas.microsoft.com/office/powerpoint/2010/main" val="10358432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2026-10-20T05:18:57.6190000Z</dcterms:created>
  <dcterms:modified xsi:type="dcterms:W3CDTF">2026-10-20T05:18:57.6190000Z</dcterms:modified>
</coreProperties>
</file>