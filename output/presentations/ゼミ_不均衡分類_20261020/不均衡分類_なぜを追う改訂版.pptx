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Override PartName="/ppt/slides/slide30.xml" ContentType="application/vnd.openxmlformats-officedocument.presentationml.slide+xml"/>
  <Override PartName="/ppt/notesSlides/notesSlide30.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88825ebfa84745e6" /><Relationship Type="http://schemas.openxmlformats.org/officeDocument/2006/relationships/extended-properties" Target="/docProps/app.xml" Id="R30e29909e5df42ea" /><Relationship Type="http://schemas.openxmlformats.org/officeDocument/2006/relationships/officeDocument" Target="/ppt/presentation.xml" Id="R07c36c79bf0244f3" /></Relationships>
</file>

<file path=ppt/presentation.xml><?xml version="1.0" encoding="utf-8"?>
<p:presentation xmlns:p="http://schemas.openxmlformats.org/presentationml/2006/main">
  <p:sldMasterIdLst>
    <p:sldMasterId xmlns:r="http://schemas.openxmlformats.org/officeDocument/2006/relationships" id="2147483648" r:id="R066b6f4143554b30"/>
  </p:sldMasterIdLst>
  <p:notesMasterIdLst>
    <p:notesMasterId xmlns:r="http://schemas.openxmlformats.org/officeDocument/2006/relationships" r:id="R20114d56ecb242a5"/>
  </p:notesMasterIdLst>
  <p:sldIdLst>
    <p:sldId xmlns:r="http://schemas.openxmlformats.org/officeDocument/2006/relationships" id="256" r:id="Rde7a68b630a443b3"/>
    <p:sldId xmlns:r="http://schemas.openxmlformats.org/officeDocument/2006/relationships" id="257" r:id="R120089c20df446f8"/>
    <p:sldId xmlns:r="http://schemas.openxmlformats.org/officeDocument/2006/relationships" id="258" r:id="R1178e735747a4121"/>
    <p:sldId xmlns:r="http://schemas.openxmlformats.org/officeDocument/2006/relationships" id="259" r:id="R54b22e92b2a44c4c"/>
    <p:sldId xmlns:r="http://schemas.openxmlformats.org/officeDocument/2006/relationships" id="260" r:id="R6e06f1ce66d7412a"/>
    <p:sldId xmlns:r="http://schemas.openxmlformats.org/officeDocument/2006/relationships" id="261" r:id="R3d4b034919ed4d12"/>
    <p:sldId xmlns:r="http://schemas.openxmlformats.org/officeDocument/2006/relationships" id="262" r:id="R5720979ad1584d5b"/>
    <p:sldId xmlns:r="http://schemas.openxmlformats.org/officeDocument/2006/relationships" id="263" r:id="R1fe3564112d746e0"/>
    <p:sldId xmlns:r="http://schemas.openxmlformats.org/officeDocument/2006/relationships" id="264" r:id="Rca3476e6ea324423"/>
    <p:sldId xmlns:r="http://schemas.openxmlformats.org/officeDocument/2006/relationships" id="265" r:id="R49f366d4ad9e4a83"/>
    <p:sldId xmlns:r="http://schemas.openxmlformats.org/officeDocument/2006/relationships" id="266" r:id="R5df6c029cb974c37"/>
    <p:sldId xmlns:r="http://schemas.openxmlformats.org/officeDocument/2006/relationships" id="267" r:id="R72321d4ed7014b1f"/>
    <p:sldId xmlns:r="http://schemas.openxmlformats.org/officeDocument/2006/relationships" id="268" r:id="R6c8f3fbda88241dd"/>
    <p:sldId xmlns:r="http://schemas.openxmlformats.org/officeDocument/2006/relationships" id="269" r:id="R429292a2698a4563"/>
    <p:sldId xmlns:r="http://schemas.openxmlformats.org/officeDocument/2006/relationships" id="270" r:id="R59d97041c07b4258"/>
    <p:sldId xmlns:r="http://schemas.openxmlformats.org/officeDocument/2006/relationships" id="271" r:id="R00d69f804a0b4a44"/>
    <p:sldId xmlns:r="http://schemas.openxmlformats.org/officeDocument/2006/relationships" id="272" r:id="R952c18e7ed01472f"/>
    <p:sldId xmlns:r="http://schemas.openxmlformats.org/officeDocument/2006/relationships" id="273" r:id="Rdea48930e5d84ea1"/>
    <p:sldId xmlns:r="http://schemas.openxmlformats.org/officeDocument/2006/relationships" id="274" r:id="Rbe73528c65954a80"/>
    <p:sldId xmlns:r="http://schemas.openxmlformats.org/officeDocument/2006/relationships" id="275" r:id="Ra79f561f7e304cb5"/>
    <p:sldId xmlns:r="http://schemas.openxmlformats.org/officeDocument/2006/relationships" id="276" r:id="Rce7807a9f9fd4197"/>
    <p:sldId xmlns:r="http://schemas.openxmlformats.org/officeDocument/2006/relationships" id="277" r:id="R7bdbe5b58e754126"/>
    <p:sldId xmlns:r="http://schemas.openxmlformats.org/officeDocument/2006/relationships" id="278" r:id="Re5c1198425764e18"/>
    <p:sldId xmlns:r="http://schemas.openxmlformats.org/officeDocument/2006/relationships" id="279" r:id="R8a7a00a03055425c"/>
    <p:sldId xmlns:r="http://schemas.openxmlformats.org/officeDocument/2006/relationships" id="280" r:id="R014487eeb2544445"/>
    <p:sldId xmlns:r="http://schemas.openxmlformats.org/officeDocument/2006/relationships" id="281" r:id="Rc01a005d16c64171"/>
    <p:sldId xmlns:r="http://schemas.openxmlformats.org/officeDocument/2006/relationships" id="282" r:id="R5a7b2801b0ff4434"/>
    <p:sldId xmlns:r="http://schemas.openxmlformats.org/officeDocument/2006/relationships" id="283" r:id="R8f89d7cbf3764aff"/>
    <p:sldId xmlns:r="http://schemas.openxmlformats.org/officeDocument/2006/relationships" id="284" r:id="R202b657201b94785"/>
    <p:sldId xmlns:r="http://schemas.openxmlformats.org/officeDocument/2006/relationships" id="285" r:id="R6b4d1a991f154cc1"/>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c7188cd26e864907" /><Relationship Type="http://schemas.openxmlformats.org/officeDocument/2006/relationships/slideMaster" Target="/ppt/slideMasters/slideMaster1.xml" Id="R066b6f4143554b30" /><Relationship Type="http://schemas.openxmlformats.org/officeDocument/2006/relationships/notesMaster" Target="/ppt/notesMasters/notesMaster1.xml" Id="R20114d56ecb242a5" /><Relationship Type="http://schemas.openxmlformats.org/officeDocument/2006/relationships/presProps" Target="/ppt/presProps.xml" Id="Rb1fa8d0034254cc5" /><Relationship Type="http://schemas.openxmlformats.org/officeDocument/2006/relationships/tableStyles" Target="/ppt/tableStyles.xml" Id="R2012f48adaa94770" /><Relationship Type="http://schemas.openxmlformats.org/officeDocument/2006/relationships/slide" Target="/ppt/slides/slide1.xml" Id="Rde7a68b630a443b3" /><Relationship Type="http://schemas.openxmlformats.org/officeDocument/2006/relationships/slide" Target="/ppt/slides/slide2.xml" Id="R120089c20df446f8" /><Relationship Type="http://schemas.openxmlformats.org/officeDocument/2006/relationships/slide" Target="/ppt/slides/slide3.xml" Id="R1178e735747a4121" /><Relationship Type="http://schemas.openxmlformats.org/officeDocument/2006/relationships/slide" Target="/ppt/slides/slide4.xml" Id="R54b22e92b2a44c4c" /><Relationship Type="http://schemas.openxmlformats.org/officeDocument/2006/relationships/slide" Target="/ppt/slides/slide5.xml" Id="R6e06f1ce66d7412a" /><Relationship Type="http://schemas.openxmlformats.org/officeDocument/2006/relationships/slide" Target="/ppt/slides/slide6.xml" Id="R3d4b034919ed4d12" /><Relationship Type="http://schemas.openxmlformats.org/officeDocument/2006/relationships/slide" Target="/ppt/slides/slide7.xml" Id="R5720979ad1584d5b" /><Relationship Type="http://schemas.openxmlformats.org/officeDocument/2006/relationships/slide" Target="/ppt/slides/slide8.xml" Id="R1fe3564112d746e0" /><Relationship Type="http://schemas.openxmlformats.org/officeDocument/2006/relationships/slide" Target="/ppt/slides/slide9.xml" Id="Rca3476e6ea324423" /><Relationship Type="http://schemas.openxmlformats.org/officeDocument/2006/relationships/slide" Target="/ppt/slides/slide10.xml" Id="R49f366d4ad9e4a83" /><Relationship Type="http://schemas.openxmlformats.org/officeDocument/2006/relationships/slide" Target="/ppt/slides/slide11.xml" Id="R5df6c029cb974c37" /><Relationship Type="http://schemas.openxmlformats.org/officeDocument/2006/relationships/slide" Target="/ppt/slides/slide12.xml" Id="R72321d4ed7014b1f" /><Relationship Type="http://schemas.openxmlformats.org/officeDocument/2006/relationships/slide" Target="/ppt/slides/slide13.xml" Id="R6c8f3fbda88241dd" /><Relationship Type="http://schemas.openxmlformats.org/officeDocument/2006/relationships/slide" Target="/ppt/slides/slide14.xml" Id="R429292a2698a4563" /><Relationship Type="http://schemas.openxmlformats.org/officeDocument/2006/relationships/slide" Target="/ppt/slides/slide15.xml" Id="R59d97041c07b4258" /><Relationship Type="http://schemas.openxmlformats.org/officeDocument/2006/relationships/slide" Target="/ppt/slides/slide16.xml" Id="R00d69f804a0b4a44" /><Relationship Type="http://schemas.openxmlformats.org/officeDocument/2006/relationships/slide" Target="/ppt/slides/slide17.xml" Id="R952c18e7ed01472f" /><Relationship Type="http://schemas.openxmlformats.org/officeDocument/2006/relationships/slide" Target="/ppt/slides/slide18.xml" Id="Rdea48930e5d84ea1" /><Relationship Type="http://schemas.openxmlformats.org/officeDocument/2006/relationships/slide" Target="/ppt/slides/slide19.xml" Id="Rbe73528c65954a80" /><Relationship Type="http://schemas.openxmlformats.org/officeDocument/2006/relationships/slide" Target="/ppt/slides/slide20.xml" Id="Ra79f561f7e304cb5" /><Relationship Type="http://schemas.openxmlformats.org/officeDocument/2006/relationships/slide" Target="/ppt/slides/slide21.xml" Id="Rce7807a9f9fd4197" /><Relationship Type="http://schemas.openxmlformats.org/officeDocument/2006/relationships/slide" Target="/ppt/slides/slide22.xml" Id="R7bdbe5b58e754126" /><Relationship Type="http://schemas.openxmlformats.org/officeDocument/2006/relationships/slide" Target="/ppt/slides/slide23.xml" Id="Re5c1198425764e18" /><Relationship Type="http://schemas.openxmlformats.org/officeDocument/2006/relationships/slide" Target="/ppt/slides/slide24.xml" Id="R8a7a00a03055425c" /><Relationship Type="http://schemas.openxmlformats.org/officeDocument/2006/relationships/slide" Target="/ppt/slides/slide25.xml" Id="R014487eeb2544445" /><Relationship Type="http://schemas.openxmlformats.org/officeDocument/2006/relationships/slide" Target="/ppt/slides/slide26.xml" Id="Rc01a005d16c64171" /><Relationship Type="http://schemas.openxmlformats.org/officeDocument/2006/relationships/slide" Target="/ppt/slides/slide27.xml" Id="R5a7b2801b0ff4434" /><Relationship Type="http://schemas.openxmlformats.org/officeDocument/2006/relationships/slide" Target="/ppt/slides/slide28.xml" Id="R8f89d7cbf3764aff" /><Relationship Type="http://schemas.openxmlformats.org/officeDocument/2006/relationships/slide" Target="/ppt/slides/slide29.xml" Id="R202b657201b94785" /><Relationship Type="http://schemas.openxmlformats.org/officeDocument/2006/relationships/slide" Target="/ppt/slides/slide30.xml" Id="R6b4d1a991f154cc1"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b0de25134fe14509"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f054ff065c284401" /><Relationship Type="http://schemas.openxmlformats.org/officeDocument/2006/relationships/notesMaster" Target="/ppt/notesMasters/notesMaster1.xml" Id="R1a71ed95f14b4c72" /></Relationships>
</file>

<file path=ppt/notesSlides/_rels/notesSlide2.xml.rels>&#65279;<?xml version="1.0" encoding="utf-8"?><Relationships xmlns="http://schemas.openxmlformats.org/package/2006/relationships"><Relationship Type="http://schemas.openxmlformats.org/officeDocument/2006/relationships/slide" Target="/ppt/slides/slide2.xml" Id="R603e5abefab445d8" /><Relationship Type="http://schemas.openxmlformats.org/officeDocument/2006/relationships/notesMaster" Target="/ppt/notesMasters/notesMaster1.xml" Id="R07c743f641b94155" /></Relationships>
</file>

<file path=ppt/notesSlides/_rels/notesSlide3.xml.rels>&#65279;<?xml version="1.0" encoding="utf-8"?><Relationships xmlns="http://schemas.openxmlformats.org/package/2006/relationships"><Relationship Type="http://schemas.openxmlformats.org/officeDocument/2006/relationships/slide" Target="/ppt/slides/slide3.xml" Id="Rb8c66cf22f5d4d3d" /><Relationship Type="http://schemas.openxmlformats.org/officeDocument/2006/relationships/notesMaster" Target="/ppt/notesMasters/notesMaster1.xml" Id="R3a078e8226444dca" /></Relationships>
</file>

<file path=ppt/notesSlides/_rels/notesSlide4.xml.rels>&#65279;<?xml version="1.0" encoding="utf-8"?><Relationships xmlns="http://schemas.openxmlformats.org/package/2006/relationships"><Relationship Type="http://schemas.openxmlformats.org/officeDocument/2006/relationships/slide" Target="/ppt/slides/slide4.xml" Id="R804e8f7e272747cb" /><Relationship Type="http://schemas.openxmlformats.org/officeDocument/2006/relationships/notesMaster" Target="/ppt/notesMasters/notesMaster1.xml" Id="Rbf51120bb9ed4492" /></Relationships>
</file>

<file path=ppt/notesSlides/_rels/notesSlide5.xml.rels>&#65279;<?xml version="1.0" encoding="utf-8"?><Relationships xmlns="http://schemas.openxmlformats.org/package/2006/relationships"><Relationship Type="http://schemas.openxmlformats.org/officeDocument/2006/relationships/slide" Target="/ppt/slides/slide5.xml" Id="R27c448b9cca94196" /><Relationship Type="http://schemas.openxmlformats.org/officeDocument/2006/relationships/notesMaster" Target="/ppt/notesMasters/notesMaster1.xml" Id="Rd43ac27f2c8e4d88" /></Relationships>
</file>

<file path=ppt/notesSlides/_rels/notesSlide6.xml.rels>&#65279;<?xml version="1.0" encoding="utf-8"?><Relationships xmlns="http://schemas.openxmlformats.org/package/2006/relationships"><Relationship Type="http://schemas.openxmlformats.org/officeDocument/2006/relationships/slide" Target="/ppt/slides/slide6.xml" Id="Rbe26f5f309704fcf" /><Relationship Type="http://schemas.openxmlformats.org/officeDocument/2006/relationships/notesMaster" Target="/ppt/notesMasters/notesMaster1.xml" Id="Ra361d35a8b0f4cf0" /></Relationships>
</file>

<file path=ppt/notesSlides/_rels/notesSlide7.xml.rels>&#65279;<?xml version="1.0" encoding="utf-8"?><Relationships xmlns="http://schemas.openxmlformats.org/package/2006/relationships"><Relationship Type="http://schemas.openxmlformats.org/officeDocument/2006/relationships/slide" Target="/ppt/slides/slide7.xml" Id="R1377c5d4c0954ee5" /><Relationship Type="http://schemas.openxmlformats.org/officeDocument/2006/relationships/notesMaster" Target="/ppt/notesMasters/notesMaster1.xml" Id="R3f086b4768f64308" /></Relationships>
</file>

<file path=ppt/notesSlides/_rels/notesSlide8.xml.rels>&#65279;<?xml version="1.0" encoding="utf-8"?><Relationships xmlns="http://schemas.openxmlformats.org/package/2006/relationships"><Relationship Type="http://schemas.openxmlformats.org/officeDocument/2006/relationships/slide" Target="/ppt/slides/slide8.xml" Id="R7d23c27655cc4468" /><Relationship Type="http://schemas.openxmlformats.org/officeDocument/2006/relationships/notesMaster" Target="/ppt/notesMasters/notesMaster1.xml" Id="Rd971cc31c6544be3" /></Relationships>
</file>

<file path=ppt/notesSlides/_rels/notesSlide9.xml.rels>&#65279;<?xml version="1.0" encoding="utf-8"?><Relationships xmlns="http://schemas.openxmlformats.org/package/2006/relationships"><Relationship Type="http://schemas.openxmlformats.org/officeDocument/2006/relationships/slide" Target="/ppt/slides/slide9.xml" Id="R27fdf29c708f457b" /><Relationship Type="http://schemas.openxmlformats.org/officeDocument/2006/relationships/notesMaster" Target="/ppt/notesMasters/notesMaster1.xml" Id="R214d386f08c14a8c"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49dcdf0a6e134b3c" /><Relationship Type="http://schemas.openxmlformats.org/officeDocument/2006/relationships/notesMaster" Target="/ppt/notesMasters/notesMaster1.xml" Id="R9ca849ee05634eb7"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11a9127cb47f4d79" /><Relationship Type="http://schemas.openxmlformats.org/officeDocument/2006/relationships/notesMaster" Target="/ppt/notesMasters/notesMaster1.xml" Id="R542cb2082e3849e7"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5f98a2e4f0284918" /><Relationship Type="http://schemas.openxmlformats.org/officeDocument/2006/relationships/notesMaster" Target="/ppt/notesMasters/notesMaster1.xml" Id="Rb554d2dd210c4474"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4fb7057fbe1d4c26" /><Relationship Type="http://schemas.openxmlformats.org/officeDocument/2006/relationships/notesMaster" Target="/ppt/notesMasters/notesMaster1.xml" Id="Rd2af3d11d20b48a5"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48536304077e45e4" /><Relationship Type="http://schemas.openxmlformats.org/officeDocument/2006/relationships/notesMaster" Target="/ppt/notesMasters/notesMaster1.xml" Id="R8aea0f2ac2f04904"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785134530c42456f" /><Relationship Type="http://schemas.openxmlformats.org/officeDocument/2006/relationships/notesMaster" Target="/ppt/notesMasters/notesMaster1.xml" Id="R3dce598d42c94511"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8611240f74244111" /><Relationship Type="http://schemas.openxmlformats.org/officeDocument/2006/relationships/notesMaster" Target="/ppt/notesMasters/notesMaster1.xml" Id="Ra1a06d19b9c242d7"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4f02299332eb4e23" /><Relationship Type="http://schemas.openxmlformats.org/officeDocument/2006/relationships/notesMaster" Target="/ppt/notesMasters/notesMaster1.xml" Id="Rdfb60bb9662841d8"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49ae5ece2b984f4e" /><Relationship Type="http://schemas.openxmlformats.org/officeDocument/2006/relationships/notesMaster" Target="/ppt/notesMasters/notesMaster1.xml" Id="R6c9d9e304bd54d15"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bd9fa348bf35484d" /><Relationship Type="http://schemas.openxmlformats.org/officeDocument/2006/relationships/notesMaster" Target="/ppt/notesMasters/notesMaster1.xml" Id="Rcd73339192594e35"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8eb4945ca2124ca3" /><Relationship Type="http://schemas.openxmlformats.org/officeDocument/2006/relationships/notesMaster" Target="/ppt/notesMasters/notesMaster1.xml" Id="R46cc59757a564f4d"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a65799f7ffa5436e" /><Relationship Type="http://schemas.openxmlformats.org/officeDocument/2006/relationships/notesMaster" Target="/ppt/notesMasters/notesMaster1.xml" Id="R4bfe1cff8cf04f9f"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dc05f54715864deb" /><Relationship Type="http://schemas.openxmlformats.org/officeDocument/2006/relationships/notesMaster" Target="/ppt/notesMasters/notesMaster1.xml" Id="Rff027cfe24d6441b"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8be67b544b5b4f74" /><Relationship Type="http://schemas.openxmlformats.org/officeDocument/2006/relationships/notesMaster" Target="/ppt/notesMasters/notesMaster1.xml" Id="Rd6fc4837da7342ed"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9841dec7d59041ac" /><Relationship Type="http://schemas.openxmlformats.org/officeDocument/2006/relationships/notesMaster" Target="/ppt/notesMasters/notesMaster1.xml" Id="R6c1f665005f64370"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4033415d7b3844e7" /><Relationship Type="http://schemas.openxmlformats.org/officeDocument/2006/relationships/notesMaster" Target="/ppt/notesMasters/notesMaster1.xml" Id="R8d894b242a0045c7"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3c43e15a35ec4c73" /><Relationship Type="http://schemas.openxmlformats.org/officeDocument/2006/relationships/notesMaster" Target="/ppt/notesMasters/notesMaster1.xml" Id="R50451978e3fb4e1b"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8190757621f64e60" /><Relationship Type="http://schemas.openxmlformats.org/officeDocument/2006/relationships/notesMaster" Target="/ppt/notesMasters/notesMaster1.xml" Id="Re8417b26cc004a1e"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e9fc361ba8aa4230" /><Relationship Type="http://schemas.openxmlformats.org/officeDocument/2006/relationships/notesMaster" Target="/ppt/notesMasters/notesMaster1.xml" Id="Rb2ca83e1f695451c" /></Relationships>
</file>

<file path=ppt/notesSlides/_rels/notesSlide29.xml.rels>&#65279;<?xml version="1.0" encoding="utf-8"?><Relationships xmlns="http://schemas.openxmlformats.org/package/2006/relationships"><Relationship Type="http://schemas.openxmlformats.org/officeDocument/2006/relationships/slide" Target="/ppt/slides/slide29.xml" Id="R0d8950a6ea9c4fe6" /><Relationship Type="http://schemas.openxmlformats.org/officeDocument/2006/relationships/notesMaster" Target="/ppt/notesMasters/notesMaster1.xml" Id="R8585778f9a98482e" /></Relationships>
</file>

<file path=ppt/notesSlides/_rels/notesSlide30.xml.rels>&#65279;<?xml version="1.0" encoding="utf-8"?><Relationships xmlns="http://schemas.openxmlformats.org/package/2006/relationships"><Relationship Type="http://schemas.openxmlformats.org/officeDocument/2006/relationships/slide" Target="/ppt/slides/slide30.xml" Id="R1e798c52e3cb4672" /><Relationship Type="http://schemas.openxmlformats.org/officeDocument/2006/relationships/notesMaster" Target="/ppt/notesMasters/notesMaster1.xml" Id="Ra803d7a995e74bf0"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説明</a:t>
            </a:r>
          </a:p>
          <a:p xmlns:a="http://schemas.openxmlformats.org/drawingml/2006/main">
            <a:r>
              <a:t>今日の目的は、六つの方法を紹介するだけでなく、なぜそれらが必要で、何が原因で失敗し、どの対策をどう検証するかを説明することです。今回の発表は実験計画で、手法の優位性を示す結果ではありません。</a:t>
            </a:r>
          </a:p>
          <a:p xmlns:a="http://schemas.openxmlformats.org/drawingml/2006/main">
            <a:r>
              <a:t/>
            </a:r>
          </a:p>
          <a:p xmlns:a="http://schemas.openxmlformats.org/drawingml/2006/main">
            <a:r>
              <a:t>次のスライドへのつなぎ</a:t>
            </a:r>
          </a:p>
          <a:p xmlns:a="http://schemas.openxmlformats.org/drawingml/2006/main">
            <a:r>
              <a:t>まず、研究全体で答えたい問いを示します。</a:t>
            </a:r>
          </a:p>
          <a:p xmlns:a="http://schemas.openxmlformats.org/drawingml/2006/main">
            <a:r>
              <a:t/>
            </a:r>
          </a:p>
          <a:p xmlns:a="http://schemas.openxmlformats.org/drawingml/2006/main">
            <a:r>
              <a:t>位置づけ</a:t>
            </a:r>
          </a:p>
          <a:p xmlns:a="http://schemas.openxmlformats.org/drawingml/2006/main">
            <a:r>
              <a:t>研究計画。改善効果は未検証。</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説明</a:t>
            </a:r>
          </a:p>
          <a:p xmlns:a="http://schemas.openxmlformats.org/drawingml/2006/main">
            <a:r>
              <a:t>本来の目的は少数クラスの未知の実データを識別することです。生成件数は目的を達成するための手段です。少数クラスを増やせば常に改善するとは仮定せず、生成する位置と学習時の重みの両方を考えます。</a:t>
            </a:r>
          </a:p>
          <a:p xmlns:a="http://schemas.openxmlformats.org/drawingml/2006/main">
            <a:r>
              <a:t/>
            </a:r>
          </a:p>
          <a:p xmlns:a="http://schemas.openxmlformats.org/drawingml/2006/main">
            <a:r>
              <a:t>次のスライドへのつなぎ</a:t>
            </a:r>
          </a:p>
          <a:p xmlns:a="http://schemas.openxmlformats.org/drawingml/2006/main">
            <a:r>
              <a:t>そのために、まず不均衡が何を引き起こすかを分けます。</a:t>
            </a:r>
          </a:p>
          <a:p xmlns:a="http://schemas.openxmlformats.org/drawingml/2006/main">
            <a:r>
              <a:t/>
            </a:r>
          </a:p>
          <a:p xmlns:a="http://schemas.openxmlformats.org/drawingml/2006/main">
            <a:r>
              <a:t>位置づけ</a:t>
            </a:r>
          </a:p>
          <a:p xmlns:a="http://schemas.openxmlformats.org/drawingml/2006/main">
            <a:r>
              <a:t>研究計画。改善効果は未検証。</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説明</a:t>
            </a:r>
          </a:p>
          <a:p xmlns:a="http://schemas.openxmlformats.org/drawingml/2006/main">
            <a:r>
              <a:t>不均衡だから必ず失敗するという主張ではありません。学習目的やクラスの重なりにも依存します。重要なのは、少数クラスのサンプル不足という統計的問題と、損失の重みの問題を分離することです。例数が十分なら比率だけでは大きな問題が起きない場合もあります。</a:t>
            </a:r>
          </a:p>
          <a:p xmlns:a="http://schemas.openxmlformats.org/drawingml/2006/main">
            <a:r>
              <a:t/>
            </a:r>
          </a:p>
          <a:p xmlns:a="http://schemas.openxmlformats.org/drawingml/2006/main">
            <a:r>
              <a:t>次のスライドへのつなぎ</a:t>
            </a:r>
          </a:p>
          <a:p xmlns:a="http://schemas.openxmlformats.org/drawingml/2006/main">
            <a:r>
              <a:t>最初に、損失への寄与がなぜ偏るかを見ます。</a:t>
            </a:r>
          </a:p>
          <a:p xmlns:a="http://schemas.openxmlformats.org/drawingml/2006/main">
            <a:r>
              <a:t/>
            </a:r>
          </a:p>
          <a:p xmlns:a="http://schemas.openxmlformats.org/drawingml/2006/main">
            <a:r>
              <a:t>位置づけ</a:t>
            </a:r>
          </a:p>
          <a:p xmlns:a="http://schemas.openxmlformats.org/drawingml/2006/main">
            <a:r>
              <a:t>研究計画。改善効果は未検証。</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説明</a:t>
            </a:r>
          </a:p>
          <a:p xmlns:a="http://schemas.openxmlformats.org/drawingml/2006/main">
            <a:r>
              <a:t>通常の平均損失は各行の損失の和を件数で割ります。950対50なら、同程度の一例あたり損失では多数側の寄与が大きくなります。ただし損失の値も異なるため、件数比がそのまま寄与比になるとは限りません。下段は評価指標の説明例であり、最適化が必ずこの解に至るという意味ではありません。</a:t>
            </a:r>
          </a:p>
          <a:p xmlns:a="http://schemas.openxmlformats.org/drawingml/2006/main">
            <a:r>
              <a:t/>
            </a:r>
          </a:p>
          <a:p xmlns:a="http://schemas.openxmlformats.org/drawingml/2006/main">
            <a:r>
              <a:t>次のスライドへのつなぎ</a:t>
            </a:r>
          </a:p>
          <a:p xmlns:a="http://schemas.openxmlformats.org/drawingml/2006/main">
            <a:r>
              <a:t>この問題だけなら、生成せずに重みを変える方法が考えられます。</a:t>
            </a:r>
          </a:p>
          <a:p xmlns:a="http://schemas.openxmlformats.org/drawingml/2006/main">
            <a:r>
              <a:t/>
            </a:r>
          </a:p>
          <a:p xmlns:a="http://schemas.openxmlformats.org/drawingml/2006/main">
            <a:r>
              <a:t>位置づけ</a:t>
            </a:r>
          </a:p>
          <a:p xmlns:a="http://schemas.openxmlformats.org/drawingml/2006/main">
            <a:r>
              <a:t>研究計画。改善効果は未検証。</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説明</a:t>
            </a:r>
          </a:p>
          <a:p xmlns:a="http://schemas.openxmlformats.org/drawingml/2006/main">
            <a:r>
              <a:t>複製は特徴空間の観測位置を増やしません。重み付けも同様です。両者は学習器の最適化や正則化により完全には一致しませんが、寄与の調整を切り分ける対照になります。拡張なしも入れ、複雑な生成器が簡単な対照より有効かを調べます。</a:t>
            </a:r>
          </a:p>
          <a:p xmlns:a="http://schemas.openxmlformats.org/drawingml/2006/main">
            <a:r>
              <a:t/>
            </a:r>
          </a:p>
          <a:p xmlns:a="http://schemas.openxmlformats.org/drawingml/2006/main">
            <a:r>
              <a:t>次のスライドへのつなぎ</a:t>
            </a:r>
          </a:p>
          <a:p xmlns:a="http://schemas.openxmlformats.org/drawingml/2006/main">
            <a:r>
              <a:t>では、特徴値を新しく作る方法には何を期待するのでしょうか。</a:t>
            </a:r>
          </a:p>
          <a:p xmlns:a="http://schemas.openxmlformats.org/drawingml/2006/main">
            <a:r>
              <a:t/>
            </a:r>
          </a:p>
          <a:p xmlns:a="http://schemas.openxmlformats.org/drawingml/2006/main">
            <a:r>
              <a:t>位置づけ</a:t>
            </a:r>
          </a:p>
          <a:p xmlns:a="http://schemas.openxmlformats.org/drawingml/2006/main">
            <a:r>
              <a:t>研究計画。改善効果は未検証。</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説明</a:t>
            </a:r>
          </a:p>
          <a:p xmlns:a="http://schemas.openxmlformats.org/drawingml/2006/main">
            <a:r>
              <a:t>新しい独立した実観測を追加したことにはなりません。補間や生成モデルが持つ仮定を利用して、観測データから学習できる範囲を広げる試みです。ここが重み付けとの違いです。研究では、その仮定がどの構造で役立ち、どこで壊れるかを調べます。</a:t>
            </a:r>
          </a:p>
          <a:p xmlns:a="http://schemas.openxmlformats.org/drawingml/2006/main">
            <a:r>
              <a:t/>
            </a:r>
          </a:p>
          <a:p xmlns:a="http://schemas.openxmlformats.org/drawingml/2006/main">
            <a:r>
              <a:t>次のスライドへのつなぎ</a:t>
            </a:r>
          </a:p>
          <a:p xmlns:a="http://schemas.openxmlformats.org/drawingml/2006/main">
            <a:r>
              <a:t>仮定が正しいかどうかの中心は、生成点とラベルの整合性です。</a:t>
            </a:r>
          </a:p>
          <a:p xmlns:a="http://schemas.openxmlformats.org/drawingml/2006/main">
            <a:r>
              <a:t/>
            </a:r>
          </a:p>
          <a:p xmlns:a="http://schemas.openxmlformats.org/drawingml/2006/main">
            <a:r>
              <a:t>位置づけ</a:t>
            </a:r>
          </a:p>
          <a:p xmlns:a="http://schemas.openxmlformats.org/drawingml/2006/main">
            <a:r>
              <a:t>研究計画。改善効果は未検証。</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説明</a:t>
            </a:r>
          </a:p>
          <a:p xmlns:a="http://schemas.openxmlformats.org/drawingml/2006/main">
            <a:r>
              <a:t>クラス条件を指定することは必要な設計ですが十分条件ではありません。重なりのある分布では領域ごとにラベルが一意に決まらないこともあります。人工データの診断では真の事後確率を使い、実データでは制約や近傍を代理として使うことを区別します。</a:t>
            </a:r>
          </a:p>
          <a:p xmlns:a="http://schemas.openxmlformats.org/drawingml/2006/main">
            <a:r>
              <a:t/>
            </a:r>
          </a:p>
          <a:p xmlns:a="http://schemas.openxmlformats.org/drawingml/2006/main">
            <a:r>
              <a:t>次のスライドへのつなぎ</a:t>
            </a:r>
          </a:p>
          <a:p xmlns:a="http://schemas.openxmlformats.org/drawingml/2006/main">
            <a:r>
              <a:t>まず、最も単純な生成法がどんな仮定を置くかを考えます。</a:t>
            </a:r>
          </a:p>
          <a:p xmlns:a="http://schemas.openxmlformats.org/drawingml/2006/main">
            <a:r>
              <a:t/>
            </a:r>
          </a:p>
          <a:p xmlns:a="http://schemas.openxmlformats.org/drawingml/2006/main">
            <a:r>
              <a:t>位置づけ</a:t>
            </a:r>
          </a:p>
          <a:p xmlns:a="http://schemas.openxmlformats.org/drawingml/2006/main">
            <a:r>
              <a:t>研究計画。改善効果は未検証。</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説明</a:t>
            </a:r>
          </a:p>
          <a:p xmlns:a="http://schemas.openxmlformats.org/drawingml/2006/main">
            <a:r>
              <a:t>行順のシャッフルと区別します。クラス内の周辺分布を使って列を独立抽出するため、クラス条件付きの分布を各周辺分布の積で近似する操作です。各列の値は実在しても、その組み合わせが実在するとは限りません。</a:t>
            </a:r>
          </a:p>
          <a:p xmlns:a="http://schemas.openxmlformats.org/drawingml/2006/main">
            <a:r>
              <a:t/>
            </a:r>
          </a:p>
          <a:p xmlns:a="http://schemas.openxmlformats.org/drawingml/2006/main">
            <a:r>
              <a:t>次のスライドへのつなぎ</a:t>
            </a:r>
          </a:p>
          <a:p xmlns:a="http://schemas.openxmlformats.org/drawingml/2006/main">
            <a:r>
              <a:t>数値例で、周辺分布と組み合わせの違いを確認します。</a:t>
            </a:r>
          </a:p>
          <a:p xmlns:a="http://schemas.openxmlformats.org/drawingml/2006/main">
            <a:r>
              <a:t/>
            </a:r>
          </a:p>
          <a:p xmlns:a="http://schemas.openxmlformats.org/drawingml/2006/main">
            <a:r>
              <a:t>位置づけ</a:t>
            </a:r>
          </a:p>
          <a:p xmlns:a="http://schemas.openxmlformats.org/drawingml/2006/main">
            <a:r>
              <a:t>研究計画。改善効果は未検証。</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説明</a:t>
            </a:r>
          </a:p>
          <a:p xmlns:a="http://schemas.openxmlformats.org/drawingml/2006/main">
            <a:r>
              <a:t>これは仕組みを示す人工的な例です。元データを同じ確率で持つとき、四つの組み合わせのうち二つが関係に違反します。周辺値が同じでも依存関係を壊すという問題を示します。実データでこの完全な関係が成り立つとは主張しません。</a:t>
            </a:r>
          </a:p>
          <a:p xmlns:a="http://schemas.openxmlformats.org/drawingml/2006/main">
            <a:r>
              <a:t/>
            </a:r>
          </a:p>
          <a:p xmlns:a="http://schemas.openxmlformats.org/drawingml/2006/main">
            <a:r>
              <a:t>次のスライドへのつなぎ</a:t>
            </a:r>
          </a:p>
          <a:p xmlns:a="http://schemas.openxmlformats.org/drawingml/2006/main">
            <a:r>
              <a:t>そこで、各列の分布だけでなく列間の関係も学ぶ方法が必要になります。</a:t>
            </a:r>
          </a:p>
          <a:p xmlns:a="http://schemas.openxmlformats.org/drawingml/2006/main">
            <a:r>
              <a:t/>
            </a:r>
          </a:p>
          <a:p xmlns:a="http://schemas.openxmlformats.org/drawingml/2006/main">
            <a:r>
              <a:t>位置づけ</a:t>
            </a:r>
          </a:p>
          <a:p xmlns:a="http://schemas.openxmlformats.org/drawingml/2006/main">
            <a:r>
              <a:t>研究計画。改善効果は未検証。</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説明</a:t>
            </a:r>
          </a:p>
          <a:p xmlns:a="http://schemas.openxmlformats.org/drawingml/2006/main">
            <a:r>
              <a:t>ここではGaussian copulaを使います。u_j=F_j(x_j)、z_j=Φ⁻¹(u_j)と変換し、多変量正規で生成したzを逆変換します。各クラス内で適合します。Gaussian copula変換だけで各特徴が独立になるわけではありません。順位の端はクリッピングします。</a:t>
            </a:r>
          </a:p>
          <a:p xmlns:a="http://schemas.openxmlformats.org/drawingml/2006/main">
            <a:r>
              <a:t/>
            </a:r>
          </a:p>
          <a:p xmlns:a="http://schemas.openxmlformats.org/drawingml/2006/main">
            <a:r>
              <a:t>次のスライドへのつなぎ</a:t>
            </a:r>
          </a:p>
          <a:p xmlns:a="http://schemas.openxmlformats.org/drawingml/2006/main">
            <a:r>
              <a:t>依存を学べるとしても、少数例から正しく推定できるかが次の問題です。</a:t>
            </a:r>
          </a:p>
          <a:p xmlns:a="http://schemas.openxmlformats.org/drawingml/2006/main">
            <a:r>
              <a:t/>
            </a:r>
          </a:p>
          <a:p xmlns:a="http://schemas.openxmlformats.org/drawingml/2006/main">
            <a:r>
              <a:t>位置づけ</a:t>
            </a:r>
          </a:p>
          <a:p xmlns:a="http://schemas.openxmlformats.org/drawingml/2006/main">
            <a:r>
              <a:t>研究計画。改善効果は未検証。</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説明</a:t>
            </a:r>
          </a:p>
          <a:p xmlns:a="http://schemas.openxmlformats.org/drawingml/2006/main">
            <a:r>
              <a:t>Gaussian copulaにはモデル表現の限界と有限標本の推定誤差の両方があります。例えばRλ=(1−λ)Rhat+λIなら相関をゼロ側へ縮めます。λは検証で選びます。非線形依存や複数集団は単一Gaussian copulaで十分に表現できない場合があります。</a:t>
            </a:r>
          </a:p>
          <a:p xmlns:a="http://schemas.openxmlformats.org/drawingml/2006/main">
            <a:r>
              <a:t/>
            </a:r>
          </a:p>
          <a:p xmlns:a="http://schemas.openxmlformats.org/drawingml/2006/main">
            <a:r>
              <a:t>次のスライドへのつなぎ</a:t>
            </a:r>
          </a:p>
          <a:p xmlns:a="http://schemas.openxmlformats.org/drawingml/2006/main">
            <a:r>
              <a:t>分布全体を推定せず、近くの観測点を利用するのがSMOTEです。</a:t>
            </a:r>
          </a:p>
          <a:p xmlns:a="http://schemas.openxmlformats.org/drawingml/2006/main">
            <a:r>
              <a:t/>
            </a:r>
          </a:p>
          <a:p xmlns:a="http://schemas.openxmlformats.org/drawingml/2006/main">
            <a:r>
              <a:t>位置づけ</a:t>
            </a:r>
          </a:p>
          <a:p xmlns:a="http://schemas.openxmlformats.org/drawingml/2006/main">
            <a:r>
              <a:t>研究計画。改善効果は未検証。</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説明</a:t>
            </a:r>
          </a:p>
          <a:p xmlns:a="http://schemas.openxmlformats.org/drawingml/2006/main">
            <a:r>
              <a:t>x_jは少数クラス内の近傍から選びます。SMOTEは分布全体のパラメータ推定を避け、局所的な補間を使います。ただし距離は尺度に依存し、近さが意味的な妥当性を保証するわけではありません。出典：Chawla et al. (2002), https://www.cs.cmu.edu/afs/cs/project/jair/pub/volume16/chawla02a.pdf</a:t>
            </a:r>
          </a:p>
          <a:p xmlns:a="http://schemas.openxmlformats.org/drawingml/2006/main">
            <a:r>
              <a:t/>
            </a:r>
          </a:p>
          <a:p xmlns:a="http://schemas.openxmlformats.org/drawingml/2006/main">
            <a:r>
              <a:t>次のスライドへのつなぎ</a:t>
            </a:r>
          </a:p>
          <a:p xmlns:a="http://schemas.openxmlformats.org/drawingml/2006/main">
            <a:r>
              <a:t>この仮定は、少数クラスが一続きでないときに問題になります。</a:t>
            </a:r>
          </a:p>
          <a:p xmlns:a="http://schemas.openxmlformats.org/drawingml/2006/main">
            <a:r>
              <a:t/>
            </a:r>
          </a:p>
          <a:p xmlns:a="http://schemas.openxmlformats.org/drawingml/2006/main">
            <a:r>
              <a:t>位置づけ</a:t>
            </a:r>
          </a:p>
          <a:p xmlns:a="http://schemas.openxmlformats.org/drawingml/2006/main">
            <a:r>
              <a:t>研究計画。改善効果は未検証。</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説明</a:t>
            </a:r>
          </a:p>
          <a:p xmlns:a="http://schemas.openxmlformats.org/drawingml/2006/main">
            <a:r>
              <a:t>二つの集団が十分離れており近傍が各集団内に収まれば、この問題は起きません。近傍数が大きい場合や各集団の例数が少ない場合に確認します。集団内補間は候補ですが、推定した集団そのものが間違う可能性も残ります。</a:t>
            </a:r>
          </a:p>
          <a:p xmlns:a="http://schemas.openxmlformats.org/drawingml/2006/main">
            <a:r>
              <a:t/>
            </a:r>
          </a:p>
          <a:p xmlns:a="http://schemas.openxmlformats.org/drawingml/2006/main">
            <a:r>
              <a:t>次のスライドへのつなぎ</a:t>
            </a:r>
          </a:p>
          <a:p xmlns:a="http://schemas.openxmlformats.org/drawingml/2006/main">
            <a:r>
              <a:t>ならば、距離を測る空間を変えることで改善できるかを検証します。</a:t>
            </a:r>
          </a:p>
          <a:p xmlns:a="http://schemas.openxmlformats.org/drawingml/2006/main">
            <a:r>
              <a:t/>
            </a:r>
          </a:p>
          <a:p xmlns:a="http://schemas.openxmlformats.org/drawingml/2006/main">
            <a:r>
              <a:t>位置づけ</a:t>
            </a:r>
          </a:p>
          <a:p xmlns:a="http://schemas.openxmlformats.org/drawingml/2006/main">
            <a:r>
              <a:t>研究計画。改善効果は未検証。</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説明</a:t>
            </a:r>
          </a:p>
          <a:p xmlns:a="http://schemas.openxmlformats.org/drawingml/2006/main">
            <a:r>
              <a:t>本発表の操作上の定義です。特定の既存手法と同一とは主張しません。元空間と変換空間の補間の差を比較します。周辺変換はクラスの複数集団や非凸形状を必ず解消するわけではありません。逆変換後の関係や意味制約も確認します。</a:t>
            </a:r>
          </a:p>
          <a:p xmlns:a="http://schemas.openxmlformats.org/drawingml/2006/main">
            <a:r>
              <a:t/>
            </a:r>
          </a:p>
          <a:p xmlns:a="http://schemas.openxmlformats.org/drawingml/2006/main">
            <a:r>
              <a:t>次のスライドへのつなぎ</a:t>
            </a:r>
          </a:p>
          <a:p xmlns:a="http://schemas.openxmlformats.org/drawingml/2006/main">
            <a:r>
              <a:t>補間の形を決める代わりに、柔軟な生成モデルを学ぶ方法がCTGANです。</a:t>
            </a:r>
          </a:p>
          <a:p xmlns:a="http://schemas.openxmlformats.org/drawingml/2006/main">
            <a:r>
              <a:t/>
            </a:r>
          </a:p>
          <a:p xmlns:a="http://schemas.openxmlformats.org/drawingml/2006/main">
            <a:r>
              <a:t>位置づけ</a:t>
            </a:r>
          </a:p>
          <a:p xmlns:a="http://schemas.openxmlformats.org/drawingml/2006/main">
            <a:r>
              <a:t>研究計画。改善効果は未検証。</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説明</a:t>
            </a:r>
          </a:p>
          <a:p xmlns:a="http://schemas.openxmlformats.org/drawingml/2006/main">
            <a:r>
              <a:t>CTGANは条件付きGAN、mode-specific normalization、training-by-samplingなどを用います。柔軟なモデルは自動的に真の分布を回復するわけではありません。重複、近傍距離、多様性、学習乱数による差を測ります。出典：Xu et al. (2019), https://papers.nips.cc/paper/2019/hash/254ed7d2de3b23ab10936522dd547b78-Abstract.html</a:t>
            </a:r>
          </a:p>
          <a:p xmlns:a="http://schemas.openxmlformats.org/drawingml/2006/main">
            <a:r>
              <a:t/>
            </a:r>
          </a:p>
          <a:p xmlns:a="http://schemas.openxmlformats.org/drawingml/2006/main">
            <a:r>
              <a:t>次のスライドへのつなぎ</a:t>
            </a:r>
          </a:p>
          <a:p xmlns:a="http://schemas.openxmlformats.org/drawingml/2006/main">
            <a:r>
              <a:t>柔軟さを増やすだけでなく、前処理との組み合わせに追加価値があるかを考えます。</a:t>
            </a:r>
          </a:p>
          <a:p xmlns:a="http://schemas.openxmlformats.org/drawingml/2006/main">
            <a:r>
              <a:t/>
            </a:r>
          </a:p>
          <a:p xmlns:a="http://schemas.openxmlformats.org/drawingml/2006/main">
            <a:r>
              <a:t>位置づけ</a:t>
            </a:r>
          </a:p>
          <a:p xmlns:a="http://schemas.openxmlformats.org/drawingml/2006/main">
            <a:r>
              <a:t>研究計画。改善効果は未検証。</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説明</a:t>
            </a:r>
          </a:p>
          <a:p xmlns:a="http://schemas.openxmlformats.org/drawingml/2006/main">
            <a:r>
              <a:t>仮説として検証します。SDVには既存のCopulaGAN実装があり、それと独自の変換＋CTGAN案を区別します。独自案の前処理、クラス条件、逆変換、内部正規化の設定を固定します。二つを足すだけで改善するとはしません。参考：SDV公式 https://docs.sdv.dev/sdgym/benchmarking/run/local</a:t>
            </a:r>
          </a:p>
          <a:p xmlns:a="http://schemas.openxmlformats.org/drawingml/2006/main">
            <a:r>
              <a:t/>
            </a:r>
          </a:p>
          <a:p xmlns:a="http://schemas.openxmlformats.org/drawingml/2006/main">
            <a:r>
              <a:t>次のスライドへのつなぎ</a:t>
            </a:r>
          </a:p>
          <a:p xmlns:a="http://schemas.openxmlformats.org/drawingml/2006/main">
            <a:r>
              <a:t>ここまでを、各手法がどんな仮定で生成するかでまとめます。</a:t>
            </a:r>
          </a:p>
          <a:p xmlns:a="http://schemas.openxmlformats.org/drawingml/2006/main">
            <a:r>
              <a:t/>
            </a:r>
          </a:p>
          <a:p xmlns:a="http://schemas.openxmlformats.org/drawingml/2006/main">
            <a:r>
              <a:t>位置づけ</a:t>
            </a:r>
          </a:p>
          <a:p xmlns:a="http://schemas.openxmlformats.org/drawingml/2006/main">
            <a:r>
              <a:t>研究計画。改善効果は未検証。</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説明</a:t>
            </a:r>
          </a:p>
          <a:p xmlns:a="http://schemas.openxmlformats.org/drawingml/2006/main">
            <a:r>
              <a:t>シャッフルはクラス内独立、Gaussian copulaは変換後の正規依存、SMOTEは近傍間の補間、コピュラSMOTEは変換距離を利用します。GAN系も学習モデル・最適化・変換に依存します。特定手法の万能性ではなく、仮定と条件の対応を見ます。</a:t>
            </a:r>
          </a:p>
          <a:p xmlns:a="http://schemas.openxmlformats.org/drawingml/2006/main">
            <a:r>
              <a:t/>
            </a:r>
          </a:p>
          <a:p xmlns:a="http://schemas.openxmlformats.org/drawingml/2006/main">
            <a:r>
              <a:t>次のスライドへのつなぎ</a:t>
            </a:r>
          </a:p>
          <a:p xmlns:a="http://schemas.openxmlformats.org/drawingml/2006/main">
            <a:r>
              <a:t>改善案も、対応する仮定の破れから導きます。</a:t>
            </a:r>
          </a:p>
          <a:p xmlns:a="http://schemas.openxmlformats.org/drawingml/2006/main">
            <a:r>
              <a:t/>
            </a:r>
          </a:p>
          <a:p xmlns:a="http://schemas.openxmlformats.org/drawingml/2006/main">
            <a:r>
              <a:t>位置づけ</a:t>
            </a:r>
          </a:p>
          <a:p xmlns:a="http://schemas.openxmlformats.org/drawingml/2006/main">
            <a:r>
              <a:t>研究計画。改善効果は未検証。</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説明</a:t>
            </a:r>
          </a:p>
          <a:p xmlns:a="http://schemas.openxmlformats.org/drawingml/2006/main">
            <a:r>
              <a:t>補助輪は万能なフィルタではありません。分布推定、補間範囲、学習での重み、意味制約など原因が異なれば対策も変わります。生成量の調整は推定誤差そのものを消さず、その影響の大きさを変える操作です。</a:t>
            </a:r>
          </a:p>
          <a:p xmlns:a="http://schemas.openxmlformats.org/drawingml/2006/main">
            <a:r>
              <a:t/>
            </a:r>
          </a:p>
          <a:p xmlns:a="http://schemas.openxmlformats.org/drawingml/2006/main">
            <a:r>
              <a:t>次のスライドへのつなぎ</a:t>
            </a:r>
          </a:p>
          <a:p xmlns:a="http://schemas.openxmlformats.org/drawingml/2006/main">
            <a:r>
              <a:t>まず生成範囲の制限が、なぜ有効で何を失うかを考えます。</a:t>
            </a:r>
          </a:p>
          <a:p xmlns:a="http://schemas.openxmlformats.org/drawingml/2006/main">
            <a:r>
              <a:t/>
            </a:r>
          </a:p>
          <a:p xmlns:a="http://schemas.openxmlformats.org/drawingml/2006/main">
            <a:r>
              <a:t>位置づけ</a:t>
            </a:r>
          </a:p>
          <a:p xmlns:a="http://schemas.openxmlformats.org/drawingml/2006/main">
            <a:r>
              <a:t>研究計画。改善効果は未検証。</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説明</a:t>
            </a:r>
          </a:p>
          <a:p xmlns:a="http://schemas.openxmlformats.org/drawingml/2006/main">
            <a:r>
              <a:t>クラス別生成は基本設計です。その上で集団内や局所生成を追加する改善を検証します。集団を分けすぎれば近傍や相関を推定できません。除外した部分、局所モデルあたりの件数、少数クラスのRecallを確認します。</a:t>
            </a:r>
          </a:p>
          <a:p xmlns:a="http://schemas.openxmlformats.org/drawingml/2006/main">
            <a:r>
              <a:t/>
            </a:r>
          </a:p>
          <a:p xmlns:a="http://schemas.openxmlformats.org/drawingml/2006/main">
            <a:r>
              <a:t>次のスライドへのつなぎ</a:t>
            </a:r>
          </a:p>
          <a:p xmlns:a="http://schemas.openxmlformats.org/drawingml/2006/main">
            <a:r>
              <a:t>範囲を改善しても、生成した行が多すぎる問題は残ります。</a:t>
            </a:r>
          </a:p>
          <a:p xmlns:a="http://schemas.openxmlformats.org/drawingml/2006/main">
            <a:r>
              <a:t/>
            </a:r>
          </a:p>
          <a:p xmlns:a="http://schemas.openxmlformats.org/drawingml/2006/main">
            <a:r>
              <a:t>位置づけ</a:t>
            </a:r>
          </a:p>
          <a:p xmlns:a="http://schemas.openxmlformats.org/drawingml/2006/main">
            <a:r>
              <a:t>研究計画。改善効果は未検証。</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説明</a:t>
            </a:r>
          </a:p>
          <a:p xmlns:a="http://schemas.openxmlformats.org/drawingml/2006/main">
            <a:r>
              <a:t>合成行を学習時に同じ一行として使う設定では、件数を増やすほど合成分布の寄与が大きくなります。正しい生成なら助けになりますが、誤った生成なら害も増えます。提案した倍率は初期設定案です。手法間では採択後の件数を揃え、候補生成数や時間も別に記録します。</a:t>
            </a:r>
          </a:p>
          <a:p xmlns:a="http://schemas.openxmlformats.org/drawingml/2006/main">
            <a:r>
              <a:t/>
            </a:r>
          </a:p>
          <a:p xmlns:a="http://schemas.openxmlformats.org/drawingml/2006/main">
            <a:r>
              <a:t>次のスライドへのつなぎ</a:t>
            </a:r>
          </a:p>
          <a:p xmlns:a="http://schemas.openxmlformats.org/drawingml/2006/main">
            <a:r>
              <a:t>生成後の検査も、誤りを減らせる一方で分布を変えてしまいます。</a:t>
            </a:r>
          </a:p>
          <a:p xmlns:a="http://schemas.openxmlformats.org/drawingml/2006/main">
            <a:r>
              <a:t/>
            </a:r>
          </a:p>
          <a:p xmlns:a="http://schemas.openxmlformats.org/drawingml/2006/main">
            <a:r>
              <a:t>位置づけ</a:t>
            </a:r>
          </a:p>
          <a:p xmlns:a="http://schemas.openxmlformats.org/drawingml/2006/main">
            <a:r>
              <a:t>研究計画。改善効果は未検証。</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説明</a:t>
            </a:r>
          </a:p>
          <a:p xmlns:a="http://schemas.openxmlformats.org/drawingml/2006/main">
            <a:r>
              <a:t>物理的な値域や既知の関係は事前に定義します。分類器の信頼度を採否に使う場合、その分類器の既存の偏りを再生産する可能性があります。難しい真の点を消してしまうためです。制約フィルタと信頼度フィルタを混同せず、閾値を検証で選びます。</a:t>
            </a:r>
          </a:p>
          <a:p xmlns:a="http://schemas.openxmlformats.org/drawingml/2006/main">
            <a:r>
              <a:t/>
            </a:r>
          </a:p>
          <a:p xmlns:a="http://schemas.openxmlformats.org/drawingml/2006/main">
            <a:r>
              <a:t>次のスライドへのつなぎ</a:t>
            </a:r>
          </a:p>
          <a:p xmlns:a="http://schemas.openxmlformats.org/drawingml/2006/main">
            <a:r>
              <a:t>この因果関係を確認するため、データの構造を制御する実験が必要です。</a:t>
            </a:r>
          </a:p>
          <a:p xmlns:a="http://schemas.openxmlformats.org/drawingml/2006/main">
            <a:r>
              <a:t/>
            </a:r>
          </a:p>
          <a:p xmlns:a="http://schemas.openxmlformats.org/drawingml/2006/main">
            <a:r>
              <a:t>位置づけ</a:t>
            </a:r>
          </a:p>
          <a:p xmlns:a="http://schemas.openxmlformats.org/drawingml/2006/main">
            <a:r>
              <a:t>研究計画。改善効果は未検証。</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説明</a:t>
            </a:r>
          </a:p>
          <a:p xmlns:a="http://schemas.openxmlformats.org/drawingml/2006/main">
            <a:r>
              <a:t>実データだけでは例数、特徴数、重なりが同時に違い、原因を分けにくくなります。人工データでは独立テスト標本を十分に生成でき、真のクラス事後確率も計算できる設計にします。ただし人工データでの結果を実データ一般へそのまま広げません。</a:t>
            </a:r>
          </a:p>
          <a:p xmlns:a="http://schemas.openxmlformats.org/drawingml/2006/main">
            <a:r>
              <a:t/>
            </a:r>
          </a:p>
          <a:p xmlns:a="http://schemas.openxmlformats.org/drawingml/2006/main">
            <a:r>
              <a:t>次のスライドへのつなぎ</a:t>
            </a:r>
          </a:p>
          <a:p xmlns:a="http://schemas.openxmlformats.org/drawingml/2006/main">
            <a:r>
              <a:t>条件を制御しても、比較の手順が不公平なら結論は出せません。</a:t>
            </a:r>
          </a:p>
          <a:p xmlns:a="http://schemas.openxmlformats.org/drawingml/2006/main">
            <a:r>
              <a:t/>
            </a:r>
          </a:p>
          <a:p xmlns:a="http://schemas.openxmlformats.org/drawingml/2006/main">
            <a:r>
              <a:t>位置づけ</a:t>
            </a:r>
          </a:p>
          <a:p xmlns:a="http://schemas.openxmlformats.org/drawingml/2006/main">
            <a:r>
              <a:t>研究計画。改善効果は未検証。</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説明</a:t>
            </a:r>
          </a:p>
          <a:p xmlns:a="http://schemas.openxmlformats.org/drawingml/2006/main">
            <a:r>
              <a:t>対照は拡張なし、ランダム過剰サンプリング、クラス重み付けです。分類器、分割、設定探索予算を揃えます。比率だけでなく少数の絶対件数も記録し、例数と比率の効果を分けます。テストは元の評価分布を保ちます。出典：imbalanced-learn https://imbalanced-learn.org/0.14/common_pitfalls.html</a:t>
            </a:r>
          </a:p>
          <a:p xmlns:a="http://schemas.openxmlformats.org/drawingml/2006/main">
            <a:r>
              <a:t/>
            </a:r>
          </a:p>
          <a:p xmlns:a="http://schemas.openxmlformats.org/drawingml/2006/main">
            <a:r>
              <a:t>次のスライドへのつなぎ</a:t>
            </a:r>
          </a:p>
          <a:p xmlns:a="http://schemas.openxmlformats.org/drawingml/2006/main">
            <a:r>
              <a:t>最終評価では、分類が良いかと、なぜ良くなったかを別々に測ります。</a:t>
            </a:r>
          </a:p>
          <a:p xmlns:a="http://schemas.openxmlformats.org/drawingml/2006/main">
            <a:r>
              <a:t/>
            </a:r>
          </a:p>
          <a:p xmlns:a="http://schemas.openxmlformats.org/drawingml/2006/main">
            <a:r>
              <a:t>位置づけ</a:t>
            </a:r>
          </a:p>
          <a:p xmlns:a="http://schemas.openxmlformats.org/drawingml/2006/main">
            <a:r>
              <a:t>研究計画。改善効果は未検証。</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説明</a:t>
            </a:r>
          </a:p>
          <a:p xmlns:a="http://schemas.openxmlformats.org/drawingml/2006/main">
            <a:r>
              <a:t>Recallだけなら陽性と判定する範囲を広げるだけで改善する場合があります。Precisionを併記し、閾値も検証で決めます。生成品質には制約違反、分布のずれ、多様性、重複を含めます。人工データでの真の事後確率による診断と、実データでの近傍などの代理指標は区別します。</a:t>
            </a:r>
          </a:p>
          <a:p xmlns:a="http://schemas.openxmlformats.org/drawingml/2006/main">
            <a:r>
              <a:t/>
            </a:r>
          </a:p>
          <a:p xmlns:a="http://schemas.openxmlformats.org/drawingml/2006/main">
            <a:r>
              <a:t>次のスライドへのつなぎ</a:t>
            </a:r>
          </a:p>
          <a:p xmlns:a="http://schemas.openxmlformats.org/drawingml/2006/main">
            <a:r>
              <a:t>これらの評価で、改善案を支持する条件を先に明確にします。</a:t>
            </a:r>
          </a:p>
          <a:p xmlns:a="http://schemas.openxmlformats.org/drawingml/2006/main">
            <a:r>
              <a:t/>
            </a:r>
          </a:p>
          <a:p xmlns:a="http://schemas.openxmlformats.org/drawingml/2006/main">
            <a:r>
              <a:t>位置づけ</a:t>
            </a:r>
          </a:p>
          <a:p xmlns:a="http://schemas.openxmlformats.org/drawingml/2006/main">
            <a:r>
              <a:t>研究計画。改善効果は未検証。</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説明</a:t>
            </a:r>
          </a:p>
          <a:p xmlns:a="http://schemas.openxmlformats.org/drawingml/2006/main">
            <a:r>
              <a:t>改善前後を同じ分割で比較します。平均差だけでなくばらつきと条件依存性を報告します。品質と性能が同時に改善しても、それだけで因果を完全に証明したとはしません。対策を一つずつ加える比較で、失敗原因に対応する証拠を積み重ねます。</a:t>
            </a:r>
          </a:p>
          <a:p xmlns:a="http://schemas.openxmlformats.org/drawingml/2006/main">
            <a:r>
              <a:t/>
            </a:r>
          </a:p>
          <a:p xmlns:a="http://schemas.openxmlformats.org/drawingml/2006/main">
            <a:r>
              <a:t>次のスライドへのつなぎ</a:t>
            </a:r>
          </a:p>
          <a:p xmlns:a="http://schemas.openxmlformats.org/drawingml/2006/main">
            <a:r>
              <a:t>ここから、研究の主張と次の作業をまとめます。</a:t>
            </a:r>
          </a:p>
          <a:p xmlns:a="http://schemas.openxmlformats.org/drawingml/2006/main">
            <a:r>
              <a:t/>
            </a:r>
          </a:p>
          <a:p xmlns:a="http://schemas.openxmlformats.org/drawingml/2006/main">
            <a:r>
              <a:t>位置づけ</a:t>
            </a:r>
          </a:p>
          <a:p xmlns:a="http://schemas.openxmlformats.org/drawingml/2006/main">
            <a:r>
              <a:t>研究計画。改善効果は未検証。</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説明</a:t>
            </a:r>
          </a:p>
          <a:p xmlns:a="http://schemas.openxmlformats.org/drawingml/2006/main">
            <a:r>
              <a:t>まず列シャッフル、Gaussian copula、SMOTEで評価基盤を作り、次に複合手法と改善前後を比較します。分類に拡張するだけで新規性が成立するとは断定しません。共有論文の本文は未確認であり、研究との差分は今後確認します。</a:t>
            </a:r>
          </a:p>
          <a:p xmlns:a="http://schemas.openxmlformats.org/drawingml/2006/main">
            <a:r>
              <a:t/>
            </a:r>
          </a:p>
          <a:p xmlns:a="http://schemas.openxmlformats.org/drawingml/2006/main">
            <a:r>
              <a:t>次のスライドへのつなぎ</a:t>
            </a:r>
          </a:p>
          <a:p xmlns:a="http://schemas.openxmlformats.org/drawingml/2006/main">
            <a:r>
              <a:t>最後に、発表全体の論理を短く確認します。</a:t>
            </a:r>
          </a:p>
          <a:p xmlns:a="http://schemas.openxmlformats.org/drawingml/2006/main">
            <a:r>
              <a:t/>
            </a:r>
          </a:p>
          <a:p xmlns:a="http://schemas.openxmlformats.org/drawingml/2006/main">
            <a:r>
              <a:t>位置づけ</a:t>
            </a:r>
          </a:p>
          <a:p xmlns:a="http://schemas.openxmlformats.org/drawingml/2006/main">
            <a:r>
              <a:t>研究計画。改善効果は未検証。</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説明</a:t>
            </a:r>
          </a:p>
          <a:p xmlns:a="http://schemas.openxmlformats.org/drawingml/2006/main">
            <a:r>
              <a:t>本発表では六手法の順位を決めるのではなく、評価可能な研究課題に落としました。ゼミでは、優先して調べる失敗構造と、コピュラSMOTEおよびCTGAN×コピュラの定義を相談します。ここまでが本編です。</a:t>
            </a:r>
          </a:p>
          <a:p xmlns:a="http://schemas.openxmlformats.org/drawingml/2006/main">
            <a:r>
              <a:t/>
            </a:r>
          </a:p>
          <a:p xmlns:a="http://schemas.openxmlformats.org/drawingml/2006/main">
            <a:r>
              <a:t>次のスライドへのつなぎ</a:t>
            </a:r>
          </a:p>
          <a:p xmlns:a="http://schemas.openxmlformats.org/drawingml/2006/main">
            <a:r>
              <a:t>補足には出典、既存実装との関係、半教師ありへの接続を置きます。</a:t>
            </a:r>
          </a:p>
          <a:p xmlns:a="http://schemas.openxmlformats.org/drawingml/2006/main">
            <a:r>
              <a:t/>
            </a:r>
          </a:p>
          <a:p xmlns:a="http://schemas.openxmlformats.org/drawingml/2006/main">
            <a:r>
              <a:t>位置づけ</a:t>
            </a:r>
          </a:p>
          <a:p xmlns:a="http://schemas.openxmlformats.org/drawingml/2006/main">
            <a:r>
              <a:t>研究計画。改善効果は未検証。</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説明</a:t>
            </a:r>
          </a:p>
          <a:p xmlns:a="http://schemas.openxmlformats.org/drawingml/2006/main">
            <a:r>
              <a:t>SMOTE https://www.cs.cmu.edu/afs/cs/project/jair/pub/volume16/chawla02a.pdf</a:t>
            </a:r>
          </a:p>
          <a:p xmlns:a="http://schemas.openxmlformats.org/drawingml/2006/main">
            <a:r>
              <a:t>CTGAN https://papers.nips.cc/paper/2019/hash/254ed7d2de3b23ab10936522dd547b78-Abstract.html</a:t>
            </a:r>
          </a:p>
          <a:p xmlns:a="http://schemas.openxmlformats.org/drawingml/2006/main">
            <a:r>
              <a:t>SDV https://docs.sdv.dev/sdgym/benchmarking/run/local</a:t>
            </a:r>
          </a:p>
          <a:p xmlns:a="http://schemas.openxmlformats.org/drawingml/2006/main">
            <a:r>
              <a:t>imblearn https://imbalanced-learn.org/0.14/common_pitfalls.html</a:t>
            </a:r>
          </a:p>
          <a:p xmlns:a="http://schemas.openxmlformats.org/drawingml/2006/main">
            <a:r>
              <a:t>共有論文 https://www.sciencedirect.com/science/article/pii/S0925231226020369 は本文未確認。回帰を対象とするか、分類・半教師ありへの拡張が新規かは未確定。</a:t>
            </a:r>
          </a:p>
          <a:p xmlns:a="http://schemas.openxmlformats.org/drawingml/2006/main">
            <a:r>
              <a:t/>
            </a:r>
          </a:p>
          <a:p xmlns:a="http://schemas.openxmlformats.org/drawingml/2006/main">
            <a:r>
              <a:t>次のスライドへのつなぎ</a:t>
            </a:r>
          </a:p>
          <a:p xmlns:a="http://schemas.openxmlformats.org/drawingml/2006/main">
            <a:r>
              <a:t>質問に応じて参照します。</a:t>
            </a:r>
          </a:p>
          <a:p xmlns:a="http://schemas.openxmlformats.org/drawingml/2006/main">
            <a:r>
              <a:t/>
            </a:r>
          </a:p>
          <a:p xmlns:a="http://schemas.openxmlformats.org/drawingml/2006/main">
            <a:r>
              <a:t>位置づけ</a:t>
            </a:r>
          </a:p>
          <a:p xmlns:a="http://schemas.openxmlformats.org/drawingml/2006/main">
            <a:r>
              <a:t>研究計画。改善効果は未検証。</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説明</a:t>
            </a:r>
          </a:p>
          <a:p xmlns:a="http://schemas.openxmlformats.org/drawingml/2006/main">
            <a:r>
              <a:t>リポジトリREADMEとresearch-bench/READMEに基づきます。既存Gaussian copulaは連続数値を対象とする条件付き破損器です。過剰サンプリングへの利用にはクラス別fitと生成処理の確認が必要です。VIMEの結果を今回の実験結果として流用しません。</a:t>
            </a:r>
          </a:p>
          <a:p xmlns:a="http://schemas.openxmlformats.org/drawingml/2006/main">
            <a:r>
              <a:t/>
            </a:r>
          </a:p>
          <a:p xmlns:a="http://schemas.openxmlformats.org/drawingml/2006/main">
            <a:r>
              <a:t>次のスライドへのつなぎ</a:t>
            </a:r>
          </a:p>
          <a:p xmlns:a="http://schemas.openxmlformats.org/drawingml/2006/main">
            <a:r>
              <a:t>質問に応じて参照します。</a:t>
            </a:r>
          </a:p>
          <a:p xmlns:a="http://schemas.openxmlformats.org/drawingml/2006/main">
            <a:r>
              <a:t/>
            </a:r>
          </a:p>
          <a:p xmlns:a="http://schemas.openxmlformats.org/drawingml/2006/main">
            <a:r>
              <a:t>位置づけ</a:t>
            </a:r>
          </a:p>
          <a:p xmlns:a="http://schemas.openxmlformats.org/drawingml/2006/main">
            <a:r>
              <a:t>研究計画。改善効果は未検証。</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説明</a:t>
            </a:r>
          </a:p>
          <a:p xmlns:a="http://schemas.openxmlformats.org/drawingml/2006/main">
            <a:r>
              <a:t>ラベルなしを先に混ぜると、生成器の誤りか、疑似ラベルの誤りか、ラベル欠損の偏りかを分けにくくなります。まず今回の①を基準にします。隠した真のラベルは学習に使わず診断だけに利用します。次にクラス別のラベル欠損率を変えます。</a:t>
            </a:r>
          </a:p>
          <a:p xmlns:a="http://schemas.openxmlformats.org/drawingml/2006/main">
            <a:r>
              <a:t/>
            </a:r>
          </a:p>
          <a:p xmlns:a="http://schemas.openxmlformats.org/drawingml/2006/main">
            <a:r>
              <a:t>次のスライドへのつなぎ</a:t>
            </a:r>
          </a:p>
          <a:p xmlns:a="http://schemas.openxmlformats.org/drawingml/2006/main">
            <a:r>
              <a:t>本編の全ラベル付き評価が、次の半教師あり実験の対照になります。</a:t>
            </a:r>
          </a:p>
          <a:p xmlns:a="http://schemas.openxmlformats.org/drawingml/2006/main">
            <a:r>
              <a:t/>
            </a:r>
          </a:p>
          <a:p xmlns:a="http://schemas.openxmlformats.org/drawingml/2006/main">
            <a:r>
              <a:t>位置づけ</a:t>
            </a:r>
          </a:p>
          <a:p xmlns:a="http://schemas.openxmlformats.org/drawingml/2006/main">
            <a:r>
              <a:t>研究計画。改善効果は未検証。</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5a1b84c575ab4636"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4b8d715e2bc64e25"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abfefde724ac4a9f"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c7401b143f274c29"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b76782fb21cb40af"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61a8548580414812"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F1B22EB8-D098-4D77-9E4D-ADC4B5F1568D}"/>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1C0D27FD-4AAE-4AE8-B439-0FB6B964D2C6}"/>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C2F8ABAC-BF63-46E1-A72E-88A5A765E40E}"/>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AD3EC20C-3C0B-4BF7-85D6-5E1E0C66A207}"/>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DD8E297A-78A4-4BAE-A2AD-83A5C8EFB83E}"/>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7211EA7B-9F04-4B33-A2B6-8E085328DC09}"/>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C78F90ED-B6D4-4DBC-871E-A1B85C6437E0}"/>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060EB00F-C13E-4EC4-B909-C37AE0A58FFF}"/>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DD8343EB-AAA7-47CB-B886-BE9BB48D7F20}"/>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6D4A47A9-DA48-4AB7-9AFC-CA303F52FDBE}"/>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d61416d1a5484859" /><Relationship Type="http://schemas.openxmlformats.org/officeDocument/2006/relationships/slideLayout" Target="/ppt/slideLayouts/slideLayout1.xml" Id="R91a72efdec514e5a" /><Relationship Type="http://schemas.openxmlformats.org/officeDocument/2006/relationships/slideLayout" Target="/ppt/slideLayouts/slideLayout2.xml" Id="R7d4c77a67cbd423a" /><Relationship Type="http://schemas.openxmlformats.org/officeDocument/2006/relationships/slideLayout" Target="/ppt/slideLayouts/slideLayout3.xml" Id="Rf056092d18b74e2e" /><Relationship Type="http://schemas.openxmlformats.org/officeDocument/2006/relationships/slideLayout" Target="/ppt/slideLayouts/slideLayout4.xml" Id="R18d2a78d3fc24f5b" /><Relationship Type="http://schemas.openxmlformats.org/officeDocument/2006/relationships/slideLayout" Target="/ppt/slideLayouts/slideLayout5.xml" Id="R504cf330d4b847b3" /><Relationship Type="http://schemas.openxmlformats.org/officeDocument/2006/relationships/slideLayout" Target="/ppt/slideLayouts/slideLayout6.xml" Id="R19999c1e72ad495e"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91a72efdec514e5a"/>
    <p:sldLayoutId xmlns:r="http://schemas.openxmlformats.org/officeDocument/2006/relationships" id="2147483650" r:id="R7d4c77a67cbd423a"/>
    <p:sldLayoutId xmlns:r="http://schemas.openxmlformats.org/officeDocument/2006/relationships" id="2147483651" r:id="Rf056092d18b74e2e"/>
    <p:sldLayoutId xmlns:r="http://schemas.openxmlformats.org/officeDocument/2006/relationships" id="2147483652" r:id="R18d2a78d3fc24f5b"/>
    <p:sldLayoutId xmlns:r="http://schemas.openxmlformats.org/officeDocument/2006/relationships" id="2147483653" r:id="R504cf330d4b847b3"/>
    <p:sldLayoutId xmlns:r="http://schemas.openxmlformats.org/officeDocument/2006/relationships" id="2147483654" r:id="R19999c1e72ad495e"/>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a6cbeacc6ce54593" /><Relationship Type="http://schemas.openxmlformats.org/officeDocument/2006/relationships/notesSlide" Target="/ppt/notesSlides/notesSlide1.xml" Id="R83278b6352614062"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e16f7e80ad924da8" /><Relationship Type="http://schemas.openxmlformats.org/officeDocument/2006/relationships/notesSlide" Target="/ppt/notesSlides/notesSlide2.xml" Id="Rfe18a0b240bf4a8b"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7043fcee948a4398" /><Relationship Type="http://schemas.openxmlformats.org/officeDocument/2006/relationships/notesSlide" Target="/ppt/notesSlides/notesSlide3.xml" Id="R41f2c14dcb15455d"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90094b7ff85946ff" /><Relationship Type="http://schemas.openxmlformats.org/officeDocument/2006/relationships/notesSlide" Target="/ppt/notesSlides/notesSlide4.xml" Id="Rc25b3557abdc4499"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0bbd53eeb1c8422a" /><Relationship Type="http://schemas.openxmlformats.org/officeDocument/2006/relationships/notesSlide" Target="/ppt/notesSlides/notesSlide5.xml" Id="Rad02cf0a840b4be7"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2b3aa6f053f54af1" /><Relationship Type="http://schemas.openxmlformats.org/officeDocument/2006/relationships/notesSlide" Target="/ppt/notesSlides/notesSlide6.xml" Id="Rca140c0807c644ba"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8ed7d28834b0419c" /><Relationship Type="http://schemas.openxmlformats.org/officeDocument/2006/relationships/notesSlide" Target="/ppt/notesSlides/notesSlide7.xml" Id="Rdb148fb9fe314eee"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940f56e2f9b04852" /><Relationship Type="http://schemas.openxmlformats.org/officeDocument/2006/relationships/notesSlide" Target="/ppt/notesSlides/notesSlide8.xml" Id="R715b0e7965b34946"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09a96771f0954231" /><Relationship Type="http://schemas.openxmlformats.org/officeDocument/2006/relationships/notesSlide" Target="/ppt/notesSlides/notesSlide9.xml" Id="R64b135f1617c4712"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a9b69c908be14d6f" /><Relationship Type="http://schemas.openxmlformats.org/officeDocument/2006/relationships/notesSlide" Target="/ppt/notesSlides/notesSlide10.xml" Id="R237fdd09be464032"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157c358150504baa" /><Relationship Type="http://schemas.openxmlformats.org/officeDocument/2006/relationships/notesSlide" Target="/ppt/notesSlides/notesSlide11.xml" Id="R3cd7a54a8abf4a6a"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da9c6963f40748e6" /><Relationship Type="http://schemas.openxmlformats.org/officeDocument/2006/relationships/notesSlide" Target="/ppt/notesSlides/notesSlide12.xml" Id="Re545d3a3414c4245"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171d9772712e466c" /><Relationship Type="http://schemas.openxmlformats.org/officeDocument/2006/relationships/notesSlide" Target="/ppt/notesSlides/notesSlide13.xml" Id="R6447fa43ba7844f9"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43ea7db8662e4e49" /><Relationship Type="http://schemas.openxmlformats.org/officeDocument/2006/relationships/notesSlide" Target="/ppt/notesSlides/notesSlide14.xml" Id="Ra9e6523355ba4d4e" /></Relationships>
</file>

<file path=ppt/slides/_rels/slide15.xml.rels>&#65279;<?xml version="1.0" encoding="utf-8"?><Relationships xmlns="http://schemas.openxmlformats.org/package/2006/relationships"><Relationship Type="http://schemas.openxmlformats.org/officeDocument/2006/relationships/slideLayout" Target="/ppt/slideLayouts/slideLayout6.xml" Id="Rfde3fd9fd1514bb9" /><Relationship Type="http://schemas.openxmlformats.org/officeDocument/2006/relationships/notesSlide" Target="/ppt/notesSlides/notesSlide15.xml" Id="Rbfc0c518cb8a43bf" /></Relationships>
</file>

<file path=ppt/slides/_rels/slide16.xml.rels>&#65279;<?xml version="1.0" encoding="utf-8"?><Relationships xmlns="http://schemas.openxmlformats.org/package/2006/relationships"><Relationship Type="http://schemas.openxmlformats.org/officeDocument/2006/relationships/slideLayout" Target="/ppt/slideLayouts/slideLayout6.xml" Id="R147cfe5f72c54050" /><Relationship Type="http://schemas.openxmlformats.org/officeDocument/2006/relationships/notesSlide" Target="/ppt/notesSlides/notesSlide16.xml" Id="R481a7ff1a6d54a82" /></Relationships>
</file>

<file path=ppt/slides/_rels/slide17.xml.rels>&#65279;<?xml version="1.0" encoding="utf-8"?><Relationships xmlns="http://schemas.openxmlformats.org/package/2006/relationships"><Relationship Type="http://schemas.openxmlformats.org/officeDocument/2006/relationships/slideLayout" Target="/ppt/slideLayouts/slideLayout6.xml" Id="R943f11321ca8417e" /><Relationship Type="http://schemas.openxmlformats.org/officeDocument/2006/relationships/notesSlide" Target="/ppt/notesSlides/notesSlide17.xml" Id="R7a6bdb0ae5b24def" /></Relationships>
</file>

<file path=ppt/slides/_rels/slide18.xml.rels>&#65279;<?xml version="1.0" encoding="utf-8"?><Relationships xmlns="http://schemas.openxmlformats.org/package/2006/relationships"><Relationship Type="http://schemas.openxmlformats.org/officeDocument/2006/relationships/slideLayout" Target="/ppt/slideLayouts/slideLayout6.xml" Id="R5f66f766c18d4c59" /><Relationship Type="http://schemas.openxmlformats.org/officeDocument/2006/relationships/notesSlide" Target="/ppt/notesSlides/notesSlide18.xml" Id="R98e7211b88e54af6" /></Relationships>
</file>

<file path=ppt/slides/_rels/slide19.xml.rels>&#65279;<?xml version="1.0" encoding="utf-8"?><Relationships xmlns="http://schemas.openxmlformats.org/package/2006/relationships"><Relationship Type="http://schemas.openxmlformats.org/officeDocument/2006/relationships/slideLayout" Target="/ppt/slideLayouts/slideLayout6.xml" Id="R2aeada5374a44c80" /><Relationship Type="http://schemas.openxmlformats.org/officeDocument/2006/relationships/notesSlide" Target="/ppt/notesSlides/notesSlide19.xml" Id="R564b9123934b4077" /></Relationships>
</file>

<file path=ppt/slides/_rels/slide20.xml.rels>&#65279;<?xml version="1.0" encoding="utf-8"?><Relationships xmlns="http://schemas.openxmlformats.org/package/2006/relationships"><Relationship Type="http://schemas.openxmlformats.org/officeDocument/2006/relationships/slideLayout" Target="/ppt/slideLayouts/slideLayout6.xml" Id="R1c0711a08a5c43c4" /><Relationship Type="http://schemas.openxmlformats.org/officeDocument/2006/relationships/notesSlide" Target="/ppt/notesSlides/notesSlide20.xml" Id="Rbd2390c69a334a36" /></Relationships>
</file>

<file path=ppt/slides/_rels/slide21.xml.rels>&#65279;<?xml version="1.0" encoding="utf-8"?><Relationships xmlns="http://schemas.openxmlformats.org/package/2006/relationships"><Relationship Type="http://schemas.openxmlformats.org/officeDocument/2006/relationships/slideLayout" Target="/ppt/slideLayouts/slideLayout6.xml" Id="R9d580fcf113d4656" /><Relationship Type="http://schemas.openxmlformats.org/officeDocument/2006/relationships/notesSlide" Target="/ppt/notesSlides/notesSlide21.xml" Id="R270b49caff4645ff" /></Relationships>
</file>

<file path=ppt/slides/_rels/slide22.xml.rels>&#65279;<?xml version="1.0" encoding="utf-8"?><Relationships xmlns="http://schemas.openxmlformats.org/package/2006/relationships"><Relationship Type="http://schemas.openxmlformats.org/officeDocument/2006/relationships/slideLayout" Target="/ppt/slideLayouts/slideLayout6.xml" Id="Rb820e111851f445f" /><Relationship Type="http://schemas.openxmlformats.org/officeDocument/2006/relationships/notesSlide" Target="/ppt/notesSlides/notesSlide22.xml" Id="R0ab1254da5ab4bff" /></Relationships>
</file>

<file path=ppt/slides/_rels/slide23.xml.rels>&#65279;<?xml version="1.0" encoding="utf-8"?><Relationships xmlns="http://schemas.openxmlformats.org/package/2006/relationships"><Relationship Type="http://schemas.openxmlformats.org/officeDocument/2006/relationships/slideLayout" Target="/ppt/slideLayouts/slideLayout6.xml" Id="R3128fc36c68d48b1" /><Relationship Type="http://schemas.openxmlformats.org/officeDocument/2006/relationships/notesSlide" Target="/ppt/notesSlides/notesSlide23.xml" Id="R15b4226ab5bd4dcf" /></Relationships>
</file>

<file path=ppt/slides/_rels/slide24.xml.rels>&#65279;<?xml version="1.0" encoding="utf-8"?><Relationships xmlns="http://schemas.openxmlformats.org/package/2006/relationships"><Relationship Type="http://schemas.openxmlformats.org/officeDocument/2006/relationships/slideLayout" Target="/ppt/slideLayouts/slideLayout6.xml" Id="R086e9899bfb14417" /><Relationship Type="http://schemas.openxmlformats.org/officeDocument/2006/relationships/notesSlide" Target="/ppt/notesSlides/notesSlide24.xml" Id="Ra9293c3924a84d0e" /></Relationships>
</file>

<file path=ppt/slides/_rels/slide25.xml.rels>&#65279;<?xml version="1.0" encoding="utf-8"?><Relationships xmlns="http://schemas.openxmlformats.org/package/2006/relationships"><Relationship Type="http://schemas.openxmlformats.org/officeDocument/2006/relationships/slideLayout" Target="/ppt/slideLayouts/slideLayout6.xml" Id="Rf557b14b657f4d6d" /><Relationship Type="http://schemas.openxmlformats.org/officeDocument/2006/relationships/notesSlide" Target="/ppt/notesSlides/notesSlide25.xml" Id="R8214b1931b4c4d84" /></Relationships>
</file>

<file path=ppt/slides/_rels/slide26.xml.rels>&#65279;<?xml version="1.0" encoding="utf-8"?><Relationships xmlns="http://schemas.openxmlformats.org/package/2006/relationships"><Relationship Type="http://schemas.openxmlformats.org/officeDocument/2006/relationships/slideLayout" Target="/ppt/slideLayouts/slideLayout6.xml" Id="R5b509f3d570f4258" /><Relationship Type="http://schemas.openxmlformats.org/officeDocument/2006/relationships/notesSlide" Target="/ppt/notesSlides/notesSlide26.xml" Id="R22e4c8dfff4d4519" /></Relationships>
</file>

<file path=ppt/slides/_rels/slide27.xml.rels>&#65279;<?xml version="1.0" encoding="utf-8"?><Relationships xmlns="http://schemas.openxmlformats.org/package/2006/relationships"><Relationship Type="http://schemas.openxmlformats.org/officeDocument/2006/relationships/slideLayout" Target="/ppt/slideLayouts/slideLayout6.xml" Id="R7f1575a24ef04c39" /><Relationship Type="http://schemas.openxmlformats.org/officeDocument/2006/relationships/notesSlide" Target="/ppt/notesSlides/notesSlide27.xml" Id="Rabe16402410d4b64" /></Relationships>
</file>

<file path=ppt/slides/_rels/slide28.xml.rels>&#65279;<?xml version="1.0" encoding="utf-8"?><Relationships xmlns="http://schemas.openxmlformats.org/package/2006/relationships"><Relationship Type="http://schemas.openxmlformats.org/officeDocument/2006/relationships/slideLayout" Target="/ppt/slideLayouts/slideLayout6.xml" Id="R4aa0aa63cb3d4e63" /><Relationship Type="http://schemas.openxmlformats.org/officeDocument/2006/relationships/notesSlide" Target="/ppt/notesSlides/notesSlide28.xml" Id="R3fb10581822149af" /></Relationships>
</file>

<file path=ppt/slides/_rels/slide29.xml.rels>&#65279;<?xml version="1.0" encoding="utf-8"?><Relationships xmlns="http://schemas.openxmlformats.org/package/2006/relationships"><Relationship Type="http://schemas.openxmlformats.org/officeDocument/2006/relationships/slideLayout" Target="/ppt/slideLayouts/slideLayout6.xml" Id="R39129dce8b704f1a" /><Relationship Type="http://schemas.openxmlformats.org/officeDocument/2006/relationships/notesSlide" Target="/ppt/notesSlides/notesSlide29.xml" Id="R040b3dca819946d2" /></Relationships>
</file>

<file path=ppt/slides/_rels/slide30.xml.rels>&#65279;<?xml version="1.0" encoding="utf-8"?><Relationships xmlns="http://schemas.openxmlformats.org/package/2006/relationships"><Relationship Type="http://schemas.openxmlformats.org/officeDocument/2006/relationships/slideLayout" Target="/ppt/slideLayouts/slideLayout6.xml" Id="R4d25c382cf0640da" /><Relationship Type="http://schemas.openxmlformats.org/officeDocument/2006/relationships/notesSlide" Target="/ppt/notesSlides/notesSlide30.xml" Id="Rb06ea78a7e9d4aed" /></Relationships>
</file>

<file path=ppt/slides/slide1.xml><?xml version="1.0" encoding="utf-8"?>
<p:sld xmlns:p="http://schemas.openxmlformats.org/presentationml/2006/main">
  <p:cSld>
    <p:bg>
      <p:bgPr>
        <a:solidFill xmlns:a="http://schemas.openxmlformats.org/drawingml/2006/main">
          <a:srgbClr val="102B46"/>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FDFA6D42-EB0E-40DF-8220-373BE76CC3FE}"/>
              </a:ext>
            </a:extLst>
          </p:cNvPr>
          <p:cNvSpPr>
            <a:spLocks xmlns:a="http://schemas.openxmlformats.org/drawingml/2006/main" noGrp="1"/>
          </p:cNvSpPr>
          <p:nvPr/>
        </p:nvSpPr>
        <p:spPr>
          <a:xfrm xmlns:a="http://schemas.openxmlformats.org/drawingml/2006/main">
            <a:off x="762000" y="1381125"/>
            <a:ext cx="10668000" cy="1714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4200" b="1">
                <a:solidFill>
                  <a:srgbClr val="FFFFFF"/>
                </a:solidFill>
              </a:defRPr>
            </a:defPPr>
            <a:lvl1pPr>
              <a:defRPr sz="4200" b="1">
                <a:solidFill>
                  <a:srgbClr val="FFFFFF"/>
                </a:solidFill>
              </a:defRPr>
            </a:lvl1pPr>
            <a:lvl2pPr>
              <a:defRPr sz="4200" b="1">
                <a:solidFill>
                  <a:srgbClr val="FFFFFF"/>
                </a:solidFill>
              </a:defRPr>
            </a:lvl2pPr>
            <a:lvl3pPr>
              <a:defRPr sz="4200" b="1">
                <a:solidFill>
                  <a:srgbClr val="FFFFFF"/>
                </a:solidFill>
              </a:defRPr>
            </a:lvl3pPr>
            <a:lvl4pPr>
              <a:defRPr sz="4200" b="1">
                <a:solidFill>
                  <a:srgbClr val="FFFFFF"/>
                </a:solidFill>
              </a:defRPr>
            </a:lvl4pPr>
            <a:lvl5pPr>
              <a:defRPr sz="4200" b="1">
                <a:solidFill>
                  <a:srgbClr val="FFFFFF"/>
                </a:solidFill>
              </a:defRPr>
            </a:lvl5pPr>
            <a:lvl6pPr>
              <a:defRPr sz="4200" b="1">
                <a:solidFill>
                  <a:srgbClr val="FFFFFF"/>
                </a:solidFill>
              </a:defRPr>
            </a:lvl6pPr>
            <a:lvl7pPr>
              <a:defRPr sz="4200" b="1">
                <a:solidFill>
                  <a:srgbClr val="FFFFFF"/>
                </a:solidFill>
              </a:defRPr>
            </a:lvl7pPr>
            <a:lvl8pPr>
              <a:defRPr sz="4200" b="1">
                <a:solidFill>
                  <a:srgbClr val="FFFFFF"/>
                </a:solidFill>
              </a:defRPr>
            </a:lvl8pPr>
            <a:lvl9pPr>
              <a:defRPr sz="4200" b="1">
                <a:solidFill>
                  <a:srgbClr val="FFFFFF"/>
                </a:solidFill>
              </a:defRPr>
            </a:lvl9pPr>
          </a:lstStyle>
          <a:p xmlns:a="http://schemas.openxmlformats.org/drawingml/2006/main">
            <a:pPr>
              <a:defRPr sz="4200" b="1">
                <a:solidFill>
                  <a:srgbClr val="FFFFFF"/>
                </a:solidFill>
              </a:defRPr>
            </a:pPr>
            <a:r>
              <a:rPr sz="4200" b="1">
                <a:solidFill>
                  <a:srgbClr val="FFFFFF"/>
                </a:solidFill>
              </a:rPr>
              <a:t>なぜデータを増やすのか</a:t>
            </a:r>
          </a:p>
          <a:p xmlns:a="http://schemas.openxmlformats.org/drawingml/2006/main">
            <a:pPr>
              <a:defRPr sz="4200" b="1">
                <a:solidFill>
                  <a:srgbClr val="FFFFFF"/>
                </a:solidFill>
              </a:defRPr>
            </a:pPr>
            <a:r>
              <a:rPr sz="4200" b="1">
                <a:solidFill>
                  <a:srgbClr val="FFFFFF"/>
                </a:solidFill>
              </a:rPr>
              <a:t>なぜ生成が失敗するのか</a:t>
            </a:r>
          </a:p>
        </p:txBody>
      </p:sp>
      <p:sp>
        <p:nvSpPr>
          <p:cNvPr id="3" name="">
            <a:extLst xmlns:a="http://schemas.openxmlformats.org/drawingml/2006/main">
              <a:ext uri="{FF2B5EF4-FFF2-40B4-BE49-F238E27FC236}">
                <a16:creationId xmlns:a16="http://schemas.microsoft.com/office/drawing/2014/main" id="{A16E3EA2-7F4D-4C76-895B-06E378185DA4}"/>
              </a:ext>
            </a:extLst>
          </p:cNvPr>
          <p:cNvSpPr>
            <a:spLocks xmlns:a="http://schemas.openxmlformats.org/drawingml/2006/main" noGrp="1"/>
          </p:cNvSpPr>
          <p:nvPr/>
        </p:nvSpPr>
        <p:spPr>
          <a:xfrm xmlns:a="http://schemas.openxmlformats.org/drawingml/2006/main">
            <a:off x="800100" y="3476625"/>
            <a:ext cx="105727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325" b="0">
                <a:solidFill>
                  <a:srgbClr val="BED7E7"/>
                </a:solidFill>
              </a:defRPr>
            </a:defPPr>
            <a:lvl1pPr>
              <a:defRPr sz="2325" b="0">
                <a:solidFill>
                  <a:srgbClr val="BED7E7"/>
                </a:solidFill>
              </a:defRPr>
            </a:lvl1pPr>
            <a:lvl2pPr>
              <a:defRPr sz="2325" b="0">
                <a:solidFill>
                  <a:srgbClr val="BED7E7"/>
                </a:solidFill>
              </a:defRPr>
            </a:lvl2pPr>
            <a:lvl3pPr>
              <a:defRPr sz="2325" b="0">
                <a:solidFill>
                  <a:srgbClr val="BED7E7"/>
                </a:solidFill>
              </a:defRPr>
            </a:lvl3pPr>
            <a:lvl4pPr>
              <a:defRPr sz="2325" b="0">
                <a:solidFill>
                  <a:srgbClr val="BED7E7"/>
                </a:solidFill>
              </a:defRPr>
            </a:lvl4pPr>
            <a:lvl5pPr>
              <a:defRPr sz="2325" b="0">
                <a:solidFill>
                  <a:srgbClr val="BED7E7"/>
                </a:solidFill>
              </a:defRPr>
            </a:lvl5pPr>
            <a:lvl6pPr>
              <a:defRPr sz="2325" b="0">
                <a:solidFill>
                  <a:srgbClr val="BED7E7"/>
                </a:solidFill>
              </a:defRPr>
            </a:lvl6pPr>
            <a:lvl7pPr>
              <a:defRPr sz="2325" b="0">
                <a:solidFill>
                  <a:srgbClr val="BED7E7"/>
                </a:solidFill>
              </a:defRPr>
            </a:lvl7pPr>
            <a:lvl8pPr>
              <a:defRPr sz="2325" b="0">
                <a:solidFill>
                  <a:srgbClr val="BED7E7"/>
                </a:solidFill>
              </a:defRPr>
            </a:lvl8pPr>
            <a:lvl9pPr>
              <a:defRPr sz="2325" b="0">
                <a:solidFill>
                  <a:srgbClr val="BED7E7"/>
                </a:solidFill>
              </a:defRPr>
            </a:lvl9pPr>
          </a:lstStyle>
          <a:p xmlns:a="http://schemas.openxmlformats.org/drawingml/2006/main">
            <a:pPr>
              <a:defRPr sz="2325" b="0">
                <a:solidFill>
                  <a:srgbClr val="BED7E7"/>
                </a:solidFill>
              </a:defRPr>
            </a:pPr>
            <a:r>
              <a:rPr sz="2325" b="0">
                <a:solidFill>
                  <a:srgbClr val="BED7E7"/>
                </a:solidFill>
              </a:rPr>
              <a:t>不均衡分類におけるデータ拡張の問題と改善案</a:t>
            </a:r>
          </a:p>
        </p:txBody>
      </p:sp>
      <p:sp>
        <p:nvSpPr>
          <p:cNvPr id="4" name="">
            <a:extLst xmlns:a="http://schemas.openxmlformats.org/drawingml/2006/main">
              <a:ext uri="{FF2B5EF4-FFF2-40B4-BE49-F238E27FC236}">
                <a16:creationId xmlns:a16="http://schemas.microsoft.com/office/drawing/2014/main" id="{731BF919-AA77-4750-B628-157B93F86087}"/>
              </a:ext>
            </a:extLst>
          </p:cNvPr>
          <p:cNvSpPr>
            <a:spLocks xmlns:a="http://schemas.openxmlformats.org/drawingml/2006/main" noGrp="1"/>
          </p:cNvSpPr>
          <p:nvPr/>
        </p:nvSpPr>
        <p:spPr>
          <a:xfrm xmlns:a="http://schemas.openxmlformats.org/drawingml/2006/main">
            <a:off x="800100" y="5381625"/>
            <a:ext cx="10572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0">
                <a:solidFill>
                  <a:srgbClr val="BED7E7"/>
                </a:solidFill>
              </a:defRPr>
            </a:defPPr>
            <a:lvl1pPr>
              <a:defRPr sz="1725" b="0">
                <a:solidFill>
                  <a:srgbClr val="BED7E7"/>
                </a:solidFill>
              </a:defRPr>
            </a:lvl1pPr>
            <a:lvl2pPr>
              <a:defRPr sz="1725" b="0">
                <a:solidFill>
                  <a:srgbClr val="BED7E7"/>
                </a:solidFill>
              </a:defRPr>
            </a:lvl2pPr>
            <a:lvl3pPr>
              <a:defRPr sz="1725" b="0">
                <a:solidFill>
                  <a:srgbClr val="BED7E7"/>
                </a:solidFill>
              </a:defRPr>
            </a:lvl3pPr>
            <a:lvl4pPr>
              <a:defRPr sz="1725" b="0">
                <a:solidFill>
                  <a:srgbClr val="BED7E7"/>
                </a:solidFill>
              </a:defRPr>
            </a:lvl4pPr>
            <a:lvl5pPr>
              <a:defRPr sz="1725" b="0">
                <a:solidFill>
                  <a:srgbClr val="BED7E7"/>
                </a:solidFill>
              </a:defRPr>
            </a:lvl5pPr>
            <a:lvl6pPr>
              <a:defRPr sz="1725" b="0">
                <a:solidFill>
                  <a:srgbClr val="BED7E7"/>
                </a:solidFill>
              </a:defRPr>
            </a:lvl6pPr>
            <a:lvl7pPr>
              <a:defRPr sz="1725" b="0">
                <a:solidFill>
                  <a:srgbClr val="BED7E7"/>
                </a:solidFill>
              </a:defRPr>
            </a:lvl7pPr>
            <a:lvl8pPr>
              <a:defRPr sz="1725" b="0">
                <a:solidFill>
                  <a:srgbClr val="BED7E7"/>
                </a:solidFill>
              </a:defRPr>
            </a:lvl8pPr>
            <a:lvl9pPr>
              <a:defRPr sz="1725" b="0">
                <a:solidFill>
                  <a:srgbClr val="BED7E7"/>
                </a:solidFill>
              </a:defRPr>
            </a:lvl9pPr>
          </a:lstStyle>
          <a:p xmlns:a="http://schemas.openxmlformats.org/drawingml/2006/main">
            <a:pPr>
              <a:defRPr sz="1725" b="0">
                <a:solidFill>
                  <a:srgbClr val="BED7E7"/>
                </a:solidFill>
              </a:defRPr>
            </a:pPr>
            <a:r>
              <a:rPr sz="1725" b="0">
                <a:solidFill>
                  <a:srgbClr val="BED7E7"/>
                </a:solidFill>
              </a:rPr>
              <a:t>全ラベル付き・連続値の二値分類 ／ 研究計画</a:t>
            </a:r>
          </a:p>
        </p:txBody>
      </p:sp>
    </p:spTree>
    <p:extLst>
      <p:ext uri="{BB962C8B-B14F-4D97-AF65-F5344CB8AC3E}">
        <p14:creationId xmlns:p14="http://schemas.microsoft.com/office/powerpoint/2010/main" val="1314771101"/>
      </p:ext>
    </p:extLst>
  </p:cSld>
</p:sld>
</file>

<file path=ppt/slides/slide2.xml><?xml version="1.0" encoding="utf-8"?>
<p:sld xmlns:p="http://schemas.openxmlformats.org/presentationml/2006/main">
  <p:cSld>
    <p:bg>
      <p:bgPr>
        <a:solidFill xmlns:a="http://schemas.openxmlformats.org/drawingml/2006/main">
          <a:srgbClr val="FAFBFD"/>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EA9D6493-4AA7-4984-AED7-D75777B64C6B}"/>
              </a:ext>
            </a:extLst>
          </p:cNvPr>
          <p:cNvSpPr>
            <a:spLocks xmlns:a="http://schemas.openxmlformats.org/drawingml/2006/main" noGrp="1"/>
          </p:cNvSpPr>
          <p:nvPr/>
        </p:nvSpPr>
        <p:spPr>
          <a:xfrm xmlns:a="http://schemas.openxmlformats.org/drawingml/2006/main">
            <a:off x="685800" y="495300"/>
            <a:ext cx="10858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150" b="1">
                <a:solidFill>
                  <a:srgbClr val="102B46"/>
                </a:solidFill>
              </a:defRPr>
            </a:defPPr>
            <a:lvl1pPr>
              <a:defRPr sz="3150" b="1">
                <a:solidFill>
                  <a:srgbClr val="102B46"/>
                </a:solidFill>
              </a:defRPr>
            </a:lvl1pPr>
            <a:lvl2pPr>
              <a:defRPr sz="3150" b="1">
                <a:solidFill>
                  <a:srgbClr val="102B46"/>
                </a:solidFill>
              </a:defRPr>
            </a:lvl2pPr>
            <a:lvl3pPr>
              <a:defRPr sz="3150" b="1">
                <a:solidFill>
                  <a:srgbClr val="102B46"/>
                </a:solidFill>
              </a:defRPr>
            </a:lvl3pPr>
            <a:lvl4pPr>
              <a:defRPr sz="3150" b="1">
                <a:solidFill>
                  <a:srgbClr val="102B46"/>
                </a:solidFill>
              </a:defRPr>
            </a:lvl4pPr>
            <a:lvl5pPr>
              <a:defRPr sz="3150" b="1">
                <a:solidFill>
                  <a:srgbClr val="102B46"/>
                </a:solidFill>
              </a:defRPr>
            </a:lvl5pPr>
            <a:lvl6pPr>
              <a:defRPr sz="3150" b="1">
                <a:solidFill>
                  <a:srgbClr val="102B46"/>
                </a:solidFill>
              </a:defRPr>
            </a:lvl6pPr>
            <a:lvl7pPr>
              <a:defRPr sz="3150" b="1">
                <a:solidFill>
                  <a:srgbClr val="102B46"/>
                </a:solidFill>
              </a:defRPr>
            </a:lvl7pPr>
            <a:lvl8pPr>
              <a:defRPr sz="3150" b="1">
                <a:solidFill>
                  <a:srgbClr val="102B46"/>
                </a:solidFill>
              </a:defRPr>
            </a:lvl8pPr>
            <a:lvl9pPr>
              <a:defRPr sz="3150" b="1">
                <a:solidFill>
                  <a:srgbClr val="102B46"/>
                </a:solidFill>
              </a:defRPr>
            </a:lvl9pPr>
          </a:lstStyle>
          <a:p xmlns:a="http://schemas.openxmlformats.org/drawingml/2006/main">
            <a:pPr>
              <a:defRPr sz="3150" b="1">
                <a:solidFill>
                  <a:srgbClr val="102B46"/>
                </a:solidFill>
              </a:defRPr>
            </a:pPr>
            <a:r>
              <a:rPr sz="3150" b="1">
                <a:solidFill>
                  <a:srgbClr val="102B46"/>
                </a:solidFill>
              </a:rPr>
              <a:t>件数の増加が性能につながる条件</a:t>
            </a:r>
          </a:p>
        </p:txBody>
      </p:sp>
      <p:sp>
        <p:nvSpPr>
          <p:cNvPr id="3" name="">
            <a:extLst xmlns:a="http://schemas.openxmlformats.org/drawingml/2006/main">
              <a:ext uri="{FF2B5EF4-FFF2-40B4-BE49-F238E27FC236}">
                <a16:creationId xmlns:a16="http://schemas.microsoft.com/office/drawing/2014/main" id="{758B3CEC-B88D-4D49-90A8-0D345DF2B854}"/>
              </a:ext>
            </a:extLst>
          </p:cNvPr>
          <p:cNvSpPr>
            <a:spLocks xmlns:a="http://schemas.openxmlformats.org/drawingml/2006/main" noGrp="1"/>
          </p:cNvSpPr>
          <p:nvPr/>
        </p:nvSpPr>
        <p:spPr>
          <a:xfrm xmlns:a="http://schemas.openxmlformats.org/drawingml/2006/main">
            <a:off x="723900" y="1952625"/>
            <a:ext cx="1066800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625" b="1">
                <a:solidFill>
                  <a:srgbClr val="172B4D"/>
                </a:solidFill>
              </a:defRPr>
            </a:defPPr>
            <a:lvl1pPr>
              <a:defRPr sz="2625" b="1">
                <a:solidFill>
                  <a:srgbClr val="172B4D"/>
                </a:solidFill>
              </a:defRPr>
            </a:lvl1pPr>
            <a:lvl2pPr>
              <a:defRPr sz="2625" b="1">
                <a:solidFill>
                  <a:srgbClr val="172B4D"/>
                </a:solidFill>
              </a:defRPr>
            </a:lvl2pPr>
            <a:lvl3pPr>
              <a:defRPr sz="2625" b="1">
                <a:solidFill>
                  <a:srgbClr val="172B4D"/>
                </a:solidFill>
              </a:defRPr>
            </a:lvl3pPr>
            <a:lvl4pPr>
              <a:defRPr sz="2625" b="1">
                <a:solidFill>
                  <a:srgbClr val="172B4D"/>
                </a:solidFill>
              </a:defRPr>
            </a:lvl4pPr>
            <a:lvl5pPr>
              <a:defRPr sz="2625" b="1">
                <a:solidFill>
                  <a:srgbClr val="172B4D"/>
                </a:solidFill>
              </a:defRPr>
            </a:lvl5pPr>
            <a:lvl6pPr>
              <a:defRPr sz="2625" b="1">
                <a:solidFill>
                  <a:srgbClr val="172B4D"/>
                </a:solidFill>
              </a:defRPr>
            </a:lvl6pPr>
            <a:lvl7pPr>
              <a:defRPr sz="2625" b="1">
                <a:solidFill>
                  <a:srgbClr val="172B4D"/>
                </a:solidFill>
              </a:defRPr>
            </a:lvl7pPr>
            <a:lvl8pPr>
              <a:defRPr sz="2625" b="1">
                <a:solidFill>
                  <a:srgbClr val="172B4D"/>
                </a:solidFill>
              </a:defRPr>
            </a:lvl8pPr>
            <a:lvl9pPr>
              <a:defRPr sz="2625" b="1">
                <a:solidFill>
                  <a:srgbClr val="172B4D"/>
                </a:solidFill>
              </a:defRPr>
            </a:lvl9pPr>
          </a:lstStyle>
          <a:p xmlns:a="http://schemas.openxmlformats.org/drawingml/2006/main">
            <a:pPr>
              <a:defRPr sz="2625" b="1">
                <a:solidFill>
                  <a:srgbClr val="172B4D"/>
                </a:solidFill>
              </a:defRPr>
            </a:pPr>
            <a:r>
              <a:rPr sz="2625" b="1">
                <a:solidFill>
                  <a:srgbClr val="172B4D"/>
                </a:solidFill>
              </a:rPr>
              <a:t>出発点：少数クラスを見逃したくない</a:t>
            </a:r>
          </a:p>
        </p:txBody>
      </p:sp>
      <p:sp>
        <p:nvSpPr>
          <p:cNvPr id="4" name="">
            <a:extLst xmlns:a="http://schemas.openxmlformats.org/drawingml/2006/main">
              <a:ext uri="{FF2B5EF4-FFF2-40B4-BE49-F238E27FC236}">
                <a16:creationId xmlns:a16="http://schemas.microsoft.com/office/drawing/2014/main" id="{A9524F11-4C5E-487D-9F8C-61644C2189F4}"/>
              </a:ext>
            </a:extLst>
          </p:cNvPr>
          <p:cNvSpPr>
            <a:spLocks xmlns:a="http://schemas.openxmlformats.org/drawingml/2006/main" noGrp="1"/>
          </p:cNvSpPr>
          <p:nvPr/>
        </p:nvSpPr>
        <p:spPr>
          <a:xfrm xmlns:a="http://schemas.openxmlformats.org/drawingml/2006/main">
            <a:off x="723900" y="3943350"/>
            <a:ext cx="10668000" cy="1562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0">
                <a:solidFill>
                  <a:srgbClr val="336C81"/>
                </a:solidFill>
              </a:defRPr>
            </a:defPPr>
            <a:lvl1pPr>
              <a:defRPr sz="2250" b="0">
                <a:solidFill>
                  <a:srgbClr val="336C81"/>
                </a:solidFill>
              </a:defRPr>
            </a:lvl1pPr>
            <a:lvl2pPr>
              <a:defRPr sz="2250" b="0">
                <a:solidFill>
                  <a:srgbClr val="336C81"/>
                </a:solidFill>
              </a:defRPr>
            </a:lvl2pPr>
            <a:lvl3pPr>
              <a:defRPr sz="2250" b="0">
                <a:solidFill>
                  <a:srgbClr val="336C81"/>
                </a:solidFill>
              </a:defRPr>
            </a:lvl3pPr>
            <a:lvl4pPr>
              <a:defRPr sz="2250" b="0">
                <a:solidFill>
                  <a:srgbClr val="336C81"/>
                </a:solidFill>
              </a:defRPr>
            </a:lvl4pPr>
            <a:lvl5pPr>
              <a:defRPr sz="2250" b="0">
                <a:solidFill>
                  <a:srgbClr val="336C81"/>
                </a:solidFill>
              </a:defRPr>
            </a:lvl5pPr>
            <a:lvl6pPr>
              <a:defRPr sz="2250" b="0">
                <a:solidFill>
                  <a:srgbClr val="336C81"/>
                </a:solidFill>
              </a:defRPr>
            </a:lvl6pPr>
            <a:lvl7pPr>
              <a:defRPr sz="2250" b="0">
                <a:solidFill>
                  <a:srgbClr val="336C81"/>
                </a:solidFill>
              </a:defRPr>
            </a:lvl7pPr>
            <a:lvl8pPr>
              <a:defRPr sz="2250" b="0">
                <a:solidFill>
                  <a:srgbClr val="336C81"/>
                </a:solidFill>
              </a:defRPr>
            </a:lvl8pPr>
            <a:lvl9pPr>
              <a:defRPr sz="2250" b="0">
                <a:solidFill>
                  <a:srgbClr val="336C81"/>
                </a:solidFill>
              </a:defRPr>
            </a:lvl9pPr>
          </a:lstStyle>
          <a:p xmlns:a="http://schemas.openxmlformats.org/drawingml/2006/main">
            <a:pPr>
              <a:defRPr sz="2250" b="0">
                <a:solidFill>
                  <a:srgbClr val="336C81"/>
                </a:solidFill>
              </a:defRPr>
            </a:pPr>
            <a:r>
              <a:rPr sz="2250" b="0">
                <a:solidFill>
                  <a:srgbClr val="336C81"/>
                </a:solidFill>
              </a:rPr>
              <a:t>問い：どんな生成例なら、未知データの識別に役立つか</a:t>
            </a:r>
          </a:p>
        </p:txBody>
      </p:sp>
      <p:sp>
        <p:nvSpPr>
          <p:cNvPr id="5" name="">
            <a:extLst xmlns:a="http://schemas.openxmlformats.org/drawingml/2006/main">
              <a:ext uri="{FF2B5EF4-FFF2-40B4-BE49-F238E27FC236}">
                <a16:creationId xmlns:a16="http://schemas.microsoft.com/office/drawing/2014/main" id="{3DAB7AC0-DB7C-4E16-B441-AF5DB06A7BC4}"/>
              </a:ext>
            </a:extLst>
          </p:cNvPr>
          <p:cNvSpPr>
            <a:spLocks xmlns:a="http://schemas.openxmlformats.org/drawingml/2006/main" noGrp="1"/>
          </p:cNvSpPr>
          <p:nvPr/>
        </p:nvSpPr>
        <p:spPr>
          <a:xfrm xmlns:a="http://schemas.openxmlformats.org/drawingml/2006/main">
            <a:off x="11144250" y="6276975"/>
            <a:ext cx="5238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6B7F90"/>
                </a:solidFill>
              </a:defRPr>
            </a:defPPr>
            <a:lvl1pPr>
              <a:defRPr sz="1350" b="0">
                <a:solidFill>
                  <a:srgbClr val="6B7F90"/>
                </a:solidFill>
              </a:defRPr>
            </a:lvl1pPr>
            <a:lvl2pPr>
              <a:defRPr sz="1350" b="0">
                <a:solidFill>
                  <a:srgbClr val="6B7F90"/>
                </a:solidFill>
              </a:defRPr>
            </a:lvl2pPr>
            <a:lvl3pPr>
              <a:defRPr sz="1350" b="0">
                <a:solidFill>
                  <a:srgbClr val="6B7F90"/>
                </a:solidFill>
              </a:defRPr>
            </a:lvl3pPr>
            <a:lvl4pPr>
              <a:defRPr sz="1350" b="0">
                <a:solidFill>
                  <a:srgbClr val="6B7F90"/>
                </a:solidFill>
              </a:defRPr>
            </a:lvl4pPr>
            <a:lvl5pPr>
              <a:defRPr sz="1350" b="0">
                <a:solidFill>
                  <a:srgbClr val="6B7F90"/>
                </a:solidFill>
              </a:defRPr>
            </a:lvl5pPr>
            <a:lvl6pPr>
              <a:defRPr sz="1350" b="0">
                <a:solidFill>
                  <a:srgbClr val="6B7F90"/>
                </a:solidFill>
              </a:defRPr>
            </a:lvl6pPr>
            <a:lvl7pPr>
              <a:defRPr sz="1350" b="0">
                <a:solidFill>
                  <a:srgbClr val="6B7F90"/>
                </a:solidFill>
              </a:defRPr>
            </a:lvl7pPr>
            <a:lvl8pPr>
              <a:defRPr sz="1350" b="0">
                <a:solidFill>
                  <a:srgbClr val="6B7F90"/>
                </a:solidFill>
              </a:defRPr>
            </a:lvl8pPr>
            <a:lvl9pPr>
              <a:defRPr sz="1350" b="0">
                <a:solidFill>
                  <a:srgbClr val="6B7F90"/>
                </a:solidFill>
              </a:defRPr>
            </a:lvl9pPr>
          </a:lstStyle>
          <a:p xmlns:a="http://schemas.openxmlformats.org/drawingml/2006/main">
            <a:pPr>
              <a:defRPr sz="1350" b="0">
                <a:solidFill>
                  <a:srgbClr val="6B7F90"/>
                </a:solidFill>
              </a:defRPr>
            </a:pPr>
            <a:r>
              <a:rPr sz="1350" b="0">
                <a:solidFill>
                  <a:srgbClr val="6B7F90"/>
                </a:solidFill>
              </a:rPr>
              <a:t>02</a:t>
            </a:r>
          </a:p>
        </p:txBody>
      </p:sp>
    </p:spTree>
    <p:extLst>
      <p:ext uri="{BB962C8B-B14F-4D97-AF65-F5344CB8AC3E}">
        <p14:creationId xmlns:p14="http://schemas.microsoft.com/office/powerpoint/2010/main" val="519988605"/>
      </p:ext>
    </p:extLst>
  </p:cSld>
</p:sld>
</file>

<file path=ppt/slides/slide3.xml><?xml version="1.0" encoding="utf-8"?>
<p:sld xmlns:p="http://schemas.openxmlformats.org/presentationml/2006/main">
  <p:cSld>
    <p:bg>
      <p:bgPr>
        <a:solidFill xmlns:a="http://schemas.openxmlformats.org/drawingml/2006/main">
          <a:srgbClr val="FAFBFD"/>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87F0EF07-B232-4977-9B60-561B258834DB}"/>
              </a:ext>
            </a:extLst>
          </p:cNvPr>
          <p:cNvSpPr>
            <a:spLocks xmlns:a="http://schemas.openxmlformats.org/drawingml/2006/main" noGrp="1"/>
          </p:cNvSpPr>
          <p:nvPr/>
        </p:nvSpPr>
        <p:spPr>
          <a:xfrm xmlns:a="http://schemas.openxmlformats.org/drawingml/2006/main">
            <a:off x="685800" y="495300"/>
            <a:ext cx="10858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150" b="1">
                <a:solidFill>
                  <a:srgbClr val="102B46"/>
                </a:solidFill>
              </a:defRPr>
            </a:defPPr>
            <a:lvl1pPr>
              <a:defRPr sz="3150" b="1">
                <a:solidFill>
                  <a:srgbClr val="102B46"/>
                </a:solidFill>
              </a:defRPr>
            </a:lvl1pPr>
            <a:lvl2pPr>
              <a:defRPr sz="3150" b="1">
                <a:solidFill>
                  <a:srgbClr val="102B46"/>
                </a:solidFill>
              </a:defRPr>
            </a:lvl2pPr>
            <a:lvl3pPr>
              <a:defRPr sz="3150" b="1">
                <a:solidFill>
                  <a:srgbClr val="102B46"/>
                </a:solidFill>
              </a:defRPr>
            </a:lvl3pPr>
            <a:lvl4pPr>
              <a:defRPr sz="3150" b="1">
                <a:solidFill>
                  <a:srgbClr val="102B46"/>
                </a:solidFill>
              </a:defRPr>
            </a:lvl4pPr>
            <a:lvl5pPr>
              <a:defRPr sz="3150" b="1">
                <a:solidFill>
                  <a:srgbClr val="102B46"/>
                </a:solidFill>
              </a:defRPr>
            </a:lvl5pPr>
            <a:lvl6pPr>
              <a:defRPr sz="3150" b="1">
                <a:solidFill>
                  <a:srgbClr val="102B46"/>
                </a:solidFill>
              </a:defRPr>
            </a:lvl6pPr>
            <a:lvl7pPr>
              <a:defRPr sz="3150" b="1">
                <a:solidFill>
                  <a:srgbClr val="102B46"/>
                </a:solidFill>
              </a:defRPr>
            </a:lvl7pPr>
            <a:lvl8pPr>
              <a:defRPr sz="3150" b="1">
                <a:solidFill>
                  <a:srgbClr val="102B46"/>
                </a:solidFill>
              </a:defRPr>
            </a:lvl8pPr>
            <a:lvl9pPr>
              <a:defRPr sz="3150" b="1">
                <a:solidFill>
                  <a:srgbClr val="102B46"/>
                </a:solidFill>
              </a:defRPr>
            </a:lvl9pPr>
          </a:lstStyle>
          <a:p xmlns:a="http://schemas.openxmlformats.org/drawingml/2006/main">
            <a:pPr>
              <a:defRPr sz="3150" b="1">
                <a:solidFill>
                  <a:srgbClr val="102B46"/>
                </a:solidFill>
              </a:defRPr>
            </a:pPr>
            <a:r>
              <a:rPr sz="3150" b="1">
                <a:solidFill>
                  <a:srgbClr val="102B46"/>
                </a:solidFill>
              </a:rPr>
              <a:t>不均衡で起こる２つの問題</a:t>
            </a:r>
          </a:p>
        </p:txBody>
      </p:sp>
      <p:sp>
        <p:nvSpPr>
          <p:cNvPr id="3" name="">
            <a:extLst xmlns:a="http://schemas.openxmlformats.org/drawingml/2006/main">
              <a:ext uri="{FF2B5EF4-FFF2-40B4-BE49-F238E27FC236}">
                <a16:creationId xmlns:a16="http://schemas.microsoft.com/office/drawing/2014/main" id="{4A4996F7-CCCD-409A-A504-E5EEE974A7CA}"/>
              </a:ext>
            </a:extLst>
          </p:cNvPr>
          <p:cNvSpPr>
            <a:spLocks xmlns:a="http://schemas.openxmlformats.org/drawingml/2006/main" noGrp="1"/>
          </p:cNvSpPr>
          <p:nvPr/>
        </p:nvSpPr>
        <p:spPr>
          <a:xfrm xmlns:a="http://schemas.openxmlformats.org/drawingml/2006/main">
            <a:off x="723900" y="1952625"/>
            <a:ext cx="1066800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625" b="1">
                <a:solidFill>
                  <a:srgbClr val="172B4D"/>
                </a:solidFill>
              </a:defRPr>
            </a:defPPr>
            <a:lvl1pPr>
              <a:defRPr sz="2625" b="1">
                <a:solidFill>
                  <a:srgbClr val="172B4D"/>
                </a:solidFill>
              </a:defRPr>
            </a:lvl1pPr>
            <a:lvl2pPr>
              <a:defRPr sz="2625" b="1">
                <a:solidFill>
                  <a:srgbClr val="172B4D"/>
                </a:solidFill>
              </a:defRPr>
            </a:lvl2pPr>
            <a:lvl3pPr>
              <a:defRPr sz="2625" b="1">
                <a:solidFill>
                  <a:srgbClr val="172B4D"/>
                </a:solidFill>
              </a:defRPr>
            </a:lvl3pPr>
            <a:lvl4pPr>
              <a:defRPr sz="2625" b="1">
                <a:solidFill>
                  <a:srgbClr val="172B4D"/>
                </a:solidFill>
              </a:defRPr>
            </a:lvl4pPr>
            <a:lvl5pPr>
              <a:defRPr sz="2625" b="1">
                <a:solidFill>
                  <a:srgbClr val="172B4D"/>
                </a:solidFill>
              </a:defRPr>
            </a:lvl5pPr>
            <a:lvl6pPr>
              <a:defRPr sz="2625" b="1">
                <a:solidFill>
                  <a:srgbClr val="172B4D"/>
                </a:solidFill>
              </a:defRPr>
            </a:lvl6pPr>
            <a:lvl7pPr>
              <a:defRPr sz="2625" b="1">
                <a:solidFill>
                  <a:srgbClr val="172B4D"/>
                </a:solidFill>
              </a:defRPr>
            </a:lvl7pPr>
            <a:lvl8pPr>
              <a:defRPr sz="2625" b="1">
                <a:solidFill>
                  <a:srgbClr val="172B4D"/>
                </a:solidFill>
              </a:defRPr>
            </a:lvl8pPr>
            <a:lvl9pPr>
              <a:defRPr sz="2625" b="1">
                <a:solidFill>
                  <a:srgbClr val="172B4D"/>
                </a:solidFill>
              </a:defRPr>
            </a:lvl9pPr>
          </a:lstStyle>
          <a:p xmlns:a="http://schemas.openxmlformats.org/drawingml/2006/main">
            <a:pPr>
              <a:defRPr sz="2625" b="1">
                <a:solidFill>
                  <a:srgbClr val="172B4D"/>
                </a:solidFill>
              </a:defRPr>
            </a:pPr>
            <a:r>
              <a:rPr sz="2625" b="1">
                <a:solidFill>
                  <a:srgbClr val="172B4D"/>
                </a:solidFill>
              </a:rPr>
              <a:t>観測の不足：少数クラスの形や広がりを推定しにくい</a:t>
            </a:r>
          </a:p>
        </p:txBody>
      </p:sp>
      <p:sp>
        <p:nvSpPr>
          <p:cNvPr id="4" name="">
            <a:extLst xmlns:a="http://schemas.openxmlformats.org/drawingml/2006/main">
              <a:ext uri="{FF2B5EF4-FFF2-40B4-BE49-F238E27FC236}">
                <a16:creationId xmlns:a16="http://schemas.microsoft.com/office/drawing/2014/main" id="{6D84890F-7667-4ED5-BD92-5C223FBBE143}"/>
              </a:ext>
            </a:extLst>
          </p:cNvPr>
          <p:cNvSpPr>
            <a:spLocks xmlns:a="http://schemas.openxmlformats.org/drawingml/2006/main" noGrp="1"/>
          </p:cNvSpPr>
          <p:nvPr/>
        </p:nvSpPr>
        <p:spPr>
          <a:xfrm xmlns:a="http://schemas.openxmlformats.org/drawingml/2006/main">
            <a:off x="723900" y="3943350"/>
            <a:ext cx="10668000" cy="1562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0">
                <a:solidFill>
                  <a:srgbClr val="336C81"/>
                </a:solidFill>
              </a:defRPr>
            </a:defPPr>
            <a:lvl1pPr>
              <a:defRPr sz="2250" b="0">
                <a:solidFill>
                  <a:srgbClr val="336C81"/>
                </a:solidFill>
              </a:defRPr>
            </a:lvl1pPr>
            <a:lvl2pPr>
              <a:defRPr sz="2250" b="0">
                <a:solidFill>
                  <a:srgbClr val="336C81"/>
                </a:solidFill>
              </a:defRPr>
            </a:lvl2pPr>
            <a:lvl3pPr>
              <a:defRPr sz="2250" b="0">
                <a:solidFill>
                  <a:srgbClr val="336C81"/>
                </a:solidFill>
              </a:defRPr>
            </a:lvl3pPr>
            <a:lvl4pPr>
              <a:defRPr sz="2250" b="0">
                <a:solidFill>
                  <a:srgbClr val="336C81"/>
                </a:solidFill>
              </a:defRPr>
            </a:lvl4pPr>
            <a:lvl5pPr>
              <a:defRPr sz="2250" b="0">
                <a:solidFill>
                  <a:srgbClr val="336C81"/>
                </a:solidFill>
              </a:defRPr>
            </a:lvl5pPr>
            <a:lvl6pPr>
              <a:defRPr sz="2250" b="0">
                <a:solidFill>
                  <a:srgbClr val="336C81"/>
                </a:solidFill>
              </a:defRPr>
            </a:lvl6pPr>
            <a:lvl7pPr>
              <a:defRPr sz="2250" b="0">
                <a:solidFill>
                  <a:srgbClr val="336C81"/>
                </a:solidFill>
              </a:defRPr>
            </a:lvl7pPr>
            <a:lvl8pPr>
              <a:defRPr sz="2250" b="0">
                <a:solidFill>
                  <a:srgbClr val="336C81"/>
                </a:solidFill>
              </a:defRPr>
            </a:lvl8pPr>
            <a:lvl9pPr>
              <a:defRPr sz="2250" b="0">
                <a:solidFill>
                  <a:srgbClr val="336C81"/>
                </a:solidFill>
              </a:defRPr>
            </a:lvl9pPr>
          </a:lstStyle>
          <a:p xmlns:a="http://schemas.openxmlformats.org/drawingml/2006/main">
            <a:pPr>
              <a:defRPr sz="2250" b="0">
                <a:solidFill>
                  <a:srgbClr val="336C81"/>
                </a:solidFill>
              </a:defRPr>
            </a:pPr>
            <a:r>
              <a:rPr sz="2250" b="0">
                <a:solidFill>
                  <a:srgbClr val="336C81"/>
                </a:solidFill>
              </a:rPr>
              <a:t>損失への寄与の偏り：多数側の誤りが学習を支配しうる</a:t>
            </a:r>
          </a:p>
        </p:txBody>
      </p:sp>
      <p:sp>
        <p:nvSpPr>
          <p:cNvPr id="5" name="">
            <a:extLst xmlns:a="http://schemas.openxmlformats.org/drawingml/2006/main">
              <a:ext uri="{FF2B5EF4-FFF2-40B4-BE49-F238E27FC236}">
                <a16:creationId xmlns:a16="http://schemas.microsoft.com/office/drawing/2014/main" id="{77A13197-8D66-42BE-B163-580FD8A735EE}"/>
              </a:ext>
            </a:extLst>
          </p:cNvPr>
          <p:cNvSpPr>
            <a:spLocks xmlns:a="http://schemas.openxmlformats.org/drawingml/2006/main" noGrp="1"/>
          </p:cNvSpPr>
          <p:nvPr/>
        </p:nvSpPr>
        <p:spPr>
          <a:xfrm xmlns:a="http://schemas.openxmlformats.org/drawingml/2006/main">
            <a:off x="11144250" y="6276975"/>
            <a:ext cx="5238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6B7F90"/>
                </a:solidFill>
              </a:defRPr>
            </a:defPPr>
            <a:lvl1pPr>
              <a:defRPr sz="1350" b="0">
                <a:solidFill>
                  <a:srgbClr val="6B7F90"/>
                </a:solidFill>
              </a:defRPr>
            </a:lvl1pPr>
            <a:lvl2pPr>
              <a:defRPr sz="1350" b="0">
                <a:solidFill>
                  <a:srgbClr val="6B7F90"/>
                </a:solidFill>
              </a:defRPr>
            </a:lvl2pPr>
            <a:lvl3pPr>
              <a:defRPr sz="1350" b="0">
                <a:solidFill>
                  <a:srgbClr val="6B7F90"/>
                </a:solidFill>
              </a:defRPr>
            </a:lvl3pPr>
            <a:lvl4pPr>
              <a:defRPr sz="1350" b="0">
                <a:solidFill>
                  <a:srgbClr val="6B7F90"/>
                </a:solidFill>
              </a:defRPr>
            </a:lvl4pPr>
            <a:lvl5pPr>
              <a:defRPr sz="1350" b="0">
                <a:solidFill>
                  <a:srgbClr val="6B7F90"/>
                </a:solidFill>
              </a:defRPr>
            </a:lvl5pPr>
            <a:lvl6pPr>
              <a:defRPr sz="1350" b="0">
                <a:solidFill>
                  <a:srgbClr val="6B7F90"/>
                </a:solidFill>
              </a:defRPr>
            </a:lvl6pPr>
            <a:lvl7pPr>
              <a:defRPr sz="1350" b="0">
                <a:solidFill>
                  <a:srgbClr val="6B7F90"/>
                </a:solidFill>
              </a:defRPr>
            </a:lvl7pPr>
            <a:lvl8pPr>
              <a:defRPr sz="1350" b="0">
                <a:solidFill>
                  <a:srgbClr val="6B7F90"/>
                </a:solidFill>
              </a:defRPr>
            </a:lvl8pPr>
            <a:lvl9pPr>
              <a:defRPr sz="1350" b="0">
                <a:solidFill>
                  <a:srgbClr val="6B7F90"/>
                </a:solidFill>
              </a:defRPr>
            </a:lvl9pPr>
          </a:lstStyle>
          <a:p xmlns:a="http://schemas.openxmlformats.org/drawingml/2006/main">
            <a:pPr>
              <a:defRPr sz="1350" b="0">
                <a:solidFill>
                  <a:srgbClr val="6B7F90"/>
                </a:solidFill>
              </a:defRPr>
            </a:pPr>
            <a:r>
              <a:rPr sz="1350" b="0">
                <a:solidFill>
                  <a:srgbClr val="6B7F90"/>
                </a:solidFill>
              </a:rPr>
              <a:t>03</a:t>
            </a:r>
          </a:p>
        </p:txBody>
      </p:sp>
    </p:spTree>
    <p:extLst>
      <p:ext uri="{BB962C8B-B14F-4D97-AF65-F5344CB8AC3E}">
        <p14:creationId xmlns:p14="http://schemas.microsoft.com/office/powerpoint/2010/main" val="469298582"/>
      </p:ext>
    </p:extLst>
  </p:cSld>
</p:sld>
</file>

<file path=ppt/slides/slide4.xml><?xml version="1.0" encoding="utf-8"?>
<p:sld xmlns:p="http://schemas.openxmlformats.org/presentationml/2006/main">
  <p:cSld>
    <p:bg>
      <p:bgPr>
        <a:solidFill xmlns:a="http://schemas.openxmlformats.org/drawingml/2006/main">
          <a:srgbClr val="FAFBFD"/>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BC23537A-15C1-4EA6-8B79-AC7EADC35294}"/>
              </a:ext>
            </a:extLst>
          </p:cNvPr>
          <p:cNvSpPr>
            <a:spLocks xmlns:a="http://schemas.openxmlformats.org/drawingml/2006/main" noGrp="1"/>
          </p:cNvSpPr>
          <p:nvPr/>
        </p:nvSpPr>
        <p:spPr>
          <a:xfrm xmlns:a="http://schemas.openxmlformats.org/drawingml/2006/main">
            <a:off x="685800" y="495300"/>
            <a:ext cx="10858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150" b="1">
                <a:solidFill>
                  <a:srgbClr val="102B46"/>
                </a:solidFill>
              </a:defRPr>
            </a:defPPr>
            <a:lvl1pPr>
              <a:defRPr sz="3150" b="1">
                <a:solidFill>
                  <a:srgbClr val="102B46"/>
                </a:solidFill>
              </a:defRPr>
            </a:lvl1pPr>
            <a:lvl2pPr>
              <a:defRPr sz="3150" b="1">
                <a:solidFill>
                  <a:srgbClr val="102B46"/>
                </a:solidFill>
              </a:defRPr>
            </a:lvl2pPr>
            <a:lvl3pPr>
              <a:defRPr sz="3150" b="1">
                <a:solidFill>
                  <a:srgbClr val="102B46"/>
                </a:solidFill>
              </a:defRPr>
            </a:lvl3pPr>
            <a:lvl4pPr>
              <a:defRPr sz="3150" b="1">
                <a:solidFill>
                  <a:srgbClr val="102B46"/>
                </a:solidFill>
              </a:defRPr>
            </a:lvl4pPr>
            <a:lvl5pPr>
              <a:defRPr sz="3150" b="1">
                <a:solidFill>
                  <a:srgbClr val="102B46"/>
                </a:solidFill>
              </a:defRPr>
            </a:lvl5pPr>
            <a:lvl6pPr>
              <a:defRPr sz="3150" b="1">
                <a:solidFill>
                  <a:srgbClr val="102B46"/>
                </a:solidFill>
              </a:defRPr>
            </a:lvl6pPr>
            <a:lvl7pPr>
              <a:defRPr sz="3150" b="1">
                <a:solidFill>
                  <a:srgbClr val="102B46"/>
                </a:solidFill>
              </a:defRPr>
            </a:lvl7pPr>
            <a:lvl8pPr>
              <a:defRPr sz="3150" b="1">
                <a:solidFill>
                  <a:srgbClr val="102B46"/>
                </a:solidFill>
              </a:defRPr>
            </a:lvl8pPr>
            <a:lvl9pPr>
              <a:defRPr sz="3150" b="1">
                <a:solidFill>
                  <a:srgbClr val="102B46"/>
                </a:solidFill>
              </a:defRPr>
            </a:lvl9pPr>
          </a:lstStyle>
          <a:p xmlns:a="http://schemas.openxmlformats.org/drawingml/2006/main">
            <a:pPr>
              <a:defRPr sz="3150" b="1">
                <a:solidFill>
                  <a:srgbClr val="102B46"/>
                </a:solidFill>
              </a:defRPr>
            </a:pPr>
            <a:r>
              <a:rPr sz="3150" b="1">
                <a:solidFill>
                  <a:srgbClr val="102B46"/>
                </a:solidFill>
              </a:rPr>
              <a:t>平均損失では多数側の誤りが多く数えられる</a:t>
            </a:r>
          </a:p>
        </p:txBody>
      </p:sp>
      <p:sp>
        <p:nvSpPr>
          <p:cNvPr id="3" name="">
            <a:extLst xmlns:a="http://schemas.openxmlformats.org/drawingml/2006/main">
              <a:ext uri="{FF2B5EF4-FFF2-40B4-BE49-F238E27FC236}">
                <a16:creationId xmlns:a16="http://schemas.microsoft.com/office/drawing/2014/main" id="{21FEF6CC-8D3A-4387-886F-0FE742D57C33}"/>
              </a:ext>
            </a:extLst>
          </p:cNvPr>
          <p:cNvSpPr>
            <a:spLocks xmlns:a="http://schemas.openxmlformats.org/drawingml/2006/main" noGrp="1"/>
          </p:cNvSpPr>
          <p:nvPr/>
        </p:nvSpPr>
        <p:spPr>
          <a:xfrm xmlns:a="http://schemas.openxmlformats.org/drawingml/2006/main">
            <a:off x="723900" y="1952625"/>
            <a:ext cx="1066800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625" b="1">
                <a:solidFill>
                  <a:srgbClr val="172B4D"/>
                </a:solidFill>
              </a:defRPr>
            </a:defPPr>
            <a:lvl1pPr>
              <a:defRPr sz="2625" b="1">
                <a:solidFill>
                  <a:srgbClr val="172B4D"/>
                </a:solidFill>
              </a:defRPr>
            </a:lvl1pPr>
            <a:lvl2pPr>
              <a:defRPr sz="2625" b="1">
                <a:solidFill>
                  <a:srgbClr val="172B4D"/>
                </a:solidFill>
              </a:defRPr>
            </a:lvl2pPr>
            <a:lvl3pPr>
              <a:defRPr sz="2625" b="1">
                <a:solidFill>
                  <a:srgbClr val="172B4D"/>
                </a:solidFill>
              </a:defRPr>
            </a:lvl3pPr>
            <a:lvl4pPr>
              <a:defRPr sz="2625" b="1">
                <a:solidFill>
                  <a:srgbClr val="172B4D"/>
                </a:solidFill>
              </a:defRPr>
            </a:lvl4pPr>
            <a:lvl5pPr>
              <a:defRPr sz="2625" b="1">
                <a:solidFill>
                  <a:srgbClr val="172B4D"/>
                </a:solidFill>
              </a:defRPr>
            </a:lvl5pPr>
            <a:lvl6pPr>
              <a:defRPr sz="2625" b="1">
                <a:solidFill>
                  <a:srgbClr val="172B4D"/>
                </a:solidFill>
              </a:defRPr>
            </a:lvl6pPr>
            <a:lvl7pPr>
              <a:defRPr sz="2625" b="1">
                <a:solidFill>
                  <a:srgbClr val="172B4D"/>
                </a:solidFill>
              </a:defRPr>
            </a:lvl7pPr>
            <a:lvl8pPr>
              <a:defRPr sz="2625" b="1">
                <a:solidFill>
                  <a:srgbClr val="172B4D"/>
                </a:solidFill>
              </a:defRPr>
            </a:lvl8pPr>
            <a:lvl9pPr>
              <a:defRPr sz="2625" b="1">
                <a:solidFill>
                  <a:srgbClr val="172B4D"/>
                </a:solidFill>
              </a:defRPr>
            </a:lvl9pPr>
          </a:lstStyle>
          <a:p xmlns:a="http://schemas.openxmlformats.org/drawingml/2006/main">
            <a:pPr>
              <a:defRPr sz="2625" b="1">
                <a:solidFill>
                  <a:srgbClr val="172B4D"/>
                </a:solidFill>
              </a:defRPr>
            </a:pPr>
            <a:r>
              <a:rPr sz="2625" b="1">
                <a:solidFill>
                  <a:srgbClr val="172B4D"/>
                </a:solidFill>
              </a:rPr>
              <a:t>例：多数950件・少数50件では、</a:t>
            </a:r>
          </a:p>
          <a:p xmlns:a="http://schemas.openxmlformats.org/drawingml/2006/main">
            <a:pPr>
              <a:defRPr sz="2625" b="1">
                <a:solidFill>
                  <a:srgbClr val="172B4D"/>
                </a:solidFill>
              </a:defRPr>
            </a:pPr>
            <a:r>
              <a:rPr sz="2625" b="1">
                <a:solidFill>
                  <a:srgbClr val="172B4D"/>
                </a:solidFill>
              </a:rPr>
              <a:t>各行を同じ重みで足すと多数側の項が多い</a:t>
            </a:r>
          </a:p>
        </p:txBody>
      </p:sp>
      <p:sp>
        <p:nvSpPr>
          <p:cNvPr id="4" name="">
            <a:extLst xmlns:a="http://schemas.openxmlformats.org/drawingml/2006/main">
              <a:ext uri="{FF2B5EF4-FFF2-40B4-BE49-F238E27FC236}">
                <a16:creationId xmlns:a16="http://schemas.microsoft.com/office/drawing/2014/main" id="{752EF74F-AB3D-4AA1-BDC9-AC97FBCBFF34}"/>
              </a:ext>
            </a:extLst>
          </p:cNvPr>
          <p:cNvSpPr>
            <a:spLocks xmlns:a="http://schemas.openxmlformats.org/drawingml/2006/main" noGrp="1"/>
          </p:cNvSpPr>
          <p:nvPr/>
        </p:nvSpPr>
        <p:spPr>
          <a:xfrm xmlns:a="http://schemas.openxmlformats.org/drawingml/2006/main">
            <a:off x="723900" y="3943350"/>
            <a:ext cx="10668000" cy="1562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0">
                <a:solidFill>
                  <a:srgbClr val="336C81"/>
                </a:solidFill>
              </a:defRPr>
            </a:defPPr>
            <a:lvl1pPr>
              <a:defRPr sz="2250" b="0">
                <a:solidFill>
                  <a:srgbClr val="336C81"/>
                </a:solidFill>
              </a:defRPr>
            </a:lvl1pPr>
            <a:lvl2pPr>
              <a:defRPr sz="2250" b="0">
                <a:solidFill>
                  <a:srgbClr val="336C81"/>
                </a:solidFill>
              </a:defRPr>
            </a:lvl2pPr>
            <a:lvl3pPr>
              <a:defRPr sz="2250" b="0">
                <a:solidFill>
                  <a:srgbClr val="336C81"/>
                </a:solidFill>
              </a:defRPr>
            </a:lvl3pPr>
            <a:lvl4pPr>
              <a:defRPr sz="2250" b="0">
                <a:solidFill>
                  <a:srgbClr val="336C81"/>
                </a:solidFill>
              </a:defRPr>
            </a:lvl4pPr>
            <a:lvl5pPr>
              <a:defRPr sz="2250" b="0">
                <a:solidFill>
                  <a:srgbClr val="336C81"/>
                </a:solidFill>
              </a:defRPr>
            </a:lvl5pPr>
            <a:lvl6pPr>
              <a:defRPr sz="2250" b="0">
                <a:solidFill>
                  <a:srgbClr val="336C81"/>
                </a:solidFill>
              </a:defRPr>
            </a:lvl6pPr>
            <a:lvl7pPr>
              <a:defRPr sz="2250" b="0">
                <a:solidFill>
                  <a:srgbClr val="336C81"/>
                </a:solidFill>
              </a:defRPr>
            </a:lvl7pPr>
            <a:lvl8pPr>
              <a:defRPr sz="2250" b="0">
                <a:solidFill>
                  <a:srgbClr val="336C81"/>
                </a:solidFill>
              </a:defRPr>
            </a:lvl8pPr>
            <a:lvl9pPr>
              <a:defRPr sz="2250" b="0">
                <a:solidFill>
                  <a:srgbClr val="336C81"/>
                </a:solidFill>
              </a:defRPr>
            </a:lvl9pPr>
          </a:lstStyle>
          <a:p xmlns:a="http://schemas.openxmlformats.org/drawingml/2006/main">
            <a:pPr>
              <a:defRPr sz="2250" b="0">
                <a:solidFill>
                  <a:srgbClr val="336C81"/>
                </a:solidFill>
              </a:defRPr>
            </a:pPr>
            <a:r>
              <a:rPr sz="2250" b="0">
                <a:solidFill>
                  <a:srgbClr val="336C81"/>
                </a:solidFill>
              </a:rPr>
              <a:t>全件を多数と予測した場合</a:t>
            </a:r>
          </a:p>
          <a:p xmlns:a="http://schemas.openxmlformats.org/drawingml/2006/main">
            <a:pPr>
              <a:defRPr sz="2250" b="0">
                <a:solidFill>
                  <a:srgbClr val="336C81"/>
                </a:solidFill>
              </a:defRPr>
            </a:pPr>
            <a:r>
              <a:rPr sz="2250" b="0">
                <a:solidFill>
                  <a:srgbClr val="336C81"/>
                </a:solidFill>
              </a:rPr>
              <a:t>Accuracy 95% ／ 少数クラスRecall 0%</a:t>
            </a:r>
          </a:p>
        </p:txBody>
      </p:sp>
      <p:sp>
        <p:nvSpPr>
          <p:cNvPr id="5" name="">
            <a:extLst xmlns:a="http://schemas.openxmlformats.org/drawingml/2006/main">
              <a:ext uri="{FF2B5EF4-FFF2-40B4-BE49-F238E27FC236}">
                <a16:creationId xmlns:a16="http://schemas.microsoft.com/office/drawing/2014/main" id="{0E62E37B-5F99-49F5-81B7-332A6A35CD9D}"/>
              </a:ext>
            </a:extLst>
          </p:cNvPr>
          <p:cNvSpPr>
            <a:spLocks xmlns:a="http://schemas.openxmlformats.org/drawingml/2006/main" noGrp="1"/>
          </p:cNvSpPr>
          <p:nvPr/>
        </p:nvSpPr>
        <p:spPr>
          <a:xfrm xmlns:a="http://schemas.openxmlformats.org/drawingml/2006/main">
            <a:off x="11144250" y="6276975"/>
            <a:ext cx="5238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6B7F90"/>
                </a:solidFill>
              </a:defRPr>
            </a:defPPr>
            <a:lvl1pPr>
              <a:defRPr sz="1350" b="0">
                <a:solidFill>
                  <a:srgbClr val="6B7F90"/>
                </a:solidFill>
              </a:defRPr>
            </a:lvl1pPr>
            <a:lvl2pPr>
              <a:defRPr sz="1350" b="0">
                <a:solidFill>
                  <a:srgbClr val="6B7F90"/>
                </a:solidFill>
              </a:defRPr>
            </a:lvl2pPr>
            <a:lvl3pPr>
              <a:defRPr sz="1350" b="0">
                <a:solidFill>
                  <a:srgbClr val="6B7F90"/>
                </a:solidFill>
              </a:defRPr>
            </a:lvl3pPr>
            <a:lvl4pPr>
              <a:defRPr sz="1350" b="0">
                <a:solidFill>
                  <a:srgbClr val="6B7F90"/>
                </a:solidFill>
              </a:defRPr>
            </a:lvl4pPr>
            <a:lvl5pPr>
              <a:defRPr sz="1350" b="0">
                <a:solidFill>
                  <a:srgbClr val="6B7F90"/>
                </a:solidFill>
              </a:defRPr>
            </a:lvl5pPr>
            <a:lvl6pPr>
              <a:defRPr sz="1350" b="0">
                <a:solidFill>
                  <a:srgbClr val="6B7F90"/>
                </a:solidFill>
              </a:defRPr>
            </a:lvl6pPr>
            <a:lvl7pPr>
              <a:defRPr sz="1350" b="0">
                <a:solidFill>
                  <a:srgbClr val="6B7F90"/>
                </a:solidFill>
              </a:defRPr>
            </a:lvl7pPr>
            <a:lvl8pPr>
              <a:defRPr sz="1350" b="0">
                <a:solidFill>
                  <a:srgbClr val="6B7F90"/>
                </a:solidFill>
              </a:defRPr>
            </a:lvl8pPr>
            <a:lvl9pPr>
              <a:defRPr sz="1350" b="0">
                <a:solidFill>
                  <a:srgbClr val="6B7F90"/>
                </a:solidFill>
              </a:defRPr>
            </a:lvl9pPr>
          </a:lstStyle>
          <a:p xmlns:a="http://schemas.openxmlformats.org/drawingml/2006/main">
            <a:pPr>
              <a:defRPr sz="1350" b="0">
                <a:solidFill>
                  <a:srgbClr val="6B7F90"/>
                </a:solidFill>
              </a:defRPr>
            </a:pPr>
            <a:r>
              <a:rPr sz="1350" b="0">
                <a:solidFill>
                  <a:srgbClr val="6B7F90"/>
                </a:solidFill>
              </a:rPr>
              <a:t>04</a:t>
            </a:r>
          </a:p>
        </p:txBody>
      </p:sp>
    </p:spTree>
    <p:extLst>
      <p:ext uri="{BB962C8B-B14F-4D97-AF65-F5344CB8AC3E}">
        <p14:creationId xmlns:p14="http://schemas.microsoft.com/office/powerpoint/2010/main" val="1347817130"/>
      </p:ext>
    </p:extLst>
  </p:cSld>
</p:sld>
</file>

<file path=ppt/slides/slide5.xml><?xml version="1.0" encoding="utf-8"?>
<p:sld xmlns:p="http://schemas.openxmlformats.org/presentationml/2006/main">
  <p:cSld>
    <p:bg>
      <p:bgPr>
        <a:solidFill xmlns:a="http://schemas.openxmlformats.org/drawingml/2006/main">
          <a:srgbClr val="FAFBFD"/>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086A6F2B-5FD7-44D3-81CE-4AED91EC8AFF}"/>
              </a:ext>
            </a:extLst>
          </p:cNvPr>
          <p:cNvSpPr>
            <a:spLocks xmlns:a="http://schemas.openxmlformats.org/drawingml/2006/main" noGrp="1"/>
          </p:cNvSpPr>
          <p:nvPr/>
        </p:nvSpPr>
        <p:spPr>
          <a:xfrm xmlns:a="http://schemas.openxmlformats.org/drawingml/2006/main">
            <a:off x="685800" y="495300"/>
            <a:ext cx="10858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150" b="1">
                <a:solidFill>
                  <a:srgbClr val="102B46"/>
                </a:solidFill>
              </a:defRPr>
            </a:defPPr>
            <a:lvl1pPr>
              <a:defRPr sz="3150" b="1">
                <a:solidFill>
                  <a:srgbClr val="102B46"/>
                </a:solidFill>
              </a:defRPr>
            </a:lvl1pPr>
            <a:lvl2pPr>
              <a:defRPr sz="3150" b="1">
                <a:solidFill>
                  <a:srgbClr val="102B46"/>
                </a:solidFill>
              </a:defRPr>
            </a:lvl2pPr>
            <a:lvl3pPr>
              <a:defRPr sz="3150" b="1">
                <a:solidFill>
                  <a:srgbClr val="102B46"/>
                </a:solidFill>
              </a:defRPr>
            </a:lvl3pPr>
            <a:lvl4pPr>
              <a:defRPr sz="3150" b="1">
                <a:solidFill>
                  <a:srgbClr val="102B46"/>
                </a:solidFill>
              </a:defRPr>
            </a:lvl4pPr>
            <a:lvl5pPr>
              <a:defRPr sz="3150" b="1">
                <a:solidFill>
                  <a:srgbClr val="102B46"/>
                </a:solidFill>
              </a:defRPr>
            </a:lvl5pPr>
            <a:lvl6pPr>
              <a:defRPr sz="3150" b="1">
                <a:solidFill>
                  <a:srgbClr val="102B46"/>
                </a:solidFill>
              </a:defRPr>
            </a:lvl6pPr>
            <a:lvl7pPr>
              <a:defRPr sz="3150" b="1">
                <a:solidFill>
                  <a:srgbClr val="102B46"/>
                </a:solidFill>
              </a:defRPr>
            </a:lvl7pPr>
            <a:lvl8pPr>
              <a:defRPr sz="3150" b="1">
                <a:solidFill>
                  <a:srgbClr val="102B46"/>
                </a:solidFill>
              </a:defRPr>
            </a:lvl8pPr>
            <a:lvl9pPr>
              <a:defRPr sz="3150" b="1">
                <a:solidFill>
                  <a:srgbClr val="102B46"/>
                </a:solidFill>
              </a:defRPr>
            </a:lvl9pPr>
          </a:lstStyle>
          <a:p xmlns:a="http://schemas.openxmlformats.org/drawingml/2006/main">
            <a:pPr>
              <a:defRPr sz="3150" b="1">
                <a:solidFill>
                  <a:srgbClr val="102B46"/>
                </a:solidFill>
              </a:defRPr>
            </a:pPr>
            <a:r>
              <a:rPr sz="3150" b="1">
                <a:solidFill>
                  <a:srgbClr val="102B46"/>
                </a:solidFill>
              </a:rPr>
              <a:t>重み付けと複製を比較に入れる理由</a:t>
            </a:r>
          </a:p>
        </p:txBody>
      </p:sp>
      <p:sp>
        <p:nvSpPr>
          <p:cNvPr id="3" name="">
            <a:extLst xmlns:a="http://schemas.openxmlformats.org/drawingml/2006/main">
              <a:ext uri="{FF2B5EF4-FFF2-40B4-BE49-F238E27FC236}">
                <a16:creationId xmlns:a16="http://schemas.microsoft.com/office/drawing/2014/main" id="{207F46FC-DA68-4DBC-B9DB-FF72906F6EDB}"/>
              </a:ext>
            </a:extLst>
          </p:cNvPr>
          <p:cNvSpPr>
            <a:spLocks xmlns:a="http://schemas.openxmlformats.org/drawingml/2006/main" noGrp="1"/>
          </p:cNvSpPr>
          <p:nvPr/>
        </p:nvSpPr>
        <p:spPr>
          <a:xfrm xmlns:a="http://schemas.openxmlformats.org/drawingml/2006/main">
            <a:off x="723900" y="1952625"/>
            <a:ext cx="1066800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625" b="1">
                <a:solidFill>
                  <a:srgbClr val="172B4D"/>
                </a:solidFill>
              </a:defRPr>
            </a:defPPr>
            <a:lvl1pPr>
              <a:defRPr sz="2625" b="1">
                <a:solidFill>
                  <a:srgbClr val="172B4D"/>
                </a:solidFill>
              </a:defRPr>
            </a:lvl1pPr>
            <a:lvl2pPr>
              <a:defRPr sz="2625" b="1">
                <a:solidFill>
                  <a:srgbClr val="172B4D"/>
                </a:solidFill>
              </a:defRPr>
            </a:lvl2pPr>
            <a:lvl3pPr>
              <a:defRPr sz="2625" b="1">
                <a:solidFill>
                  <a:srgbClr val="172B4D"/>
                </a:solidFill>
              </a:defRPr>
            </a:lvl3pPr>
            <a:lvl4pPr>
              <a:defRPr sz="2625" b="1">
                <a:solidFill>
                  <a:srgbClr val="172B4D"/>
                </a:solidFill>
              </a:defRPr>
            </a:lvl4pPr>
            <a:lvl5pPr>
              <a:defRPr sz="2625" b="1">
                <a:solidFill>
                  <a:srgbClr val="172B4D"/>
                </a:solidFill>
              </a:defRPr>
            </a:lvl5pPr>
            <a:lvl6pPr>
              <a:defRPr sz="2625" b="1">
                <a:solidFill>
                  <a:srgbClr val="172B4D"/>
                </a:solidFill>
              </a:defRPr>
            </a:lvl6pPr>
            <a:lvl7pPr>
              <a:defRPr sz="2625" b="1">
                <a:solidFill>
                  <a:srgbClr val="172B4D"/>
                </a:solidFill>
              </a:defRPr>
            </a:lvl7pPr>
            <a:lvl8pPr>
              <a:defRPr sz="2625" b="1">
                <a:solidFill>
                  <a:srgbClr val="172B4D"/>
                </a:solidFill>
              </a:defRPr>
            </a:lvl8pPr>
            <a:lvl9pPr>
              <a:defRPr sz="2625" b="1">
                <a:solidFill>
                  <a:srgbClr val="172B4D"/>
                </a:solidFill>
              </a:defRPr>
            </a:lvl9pPr>
          </a:lstStyle>
          <a:p xmlns:a="http://schemas.openxmlformats.org/drawingml/2006/main">
            <a:pPr>
              <a:defRPr sz="2625" b="1">
                <a:solidFill>
                  <a:srgbClr val="172B4D"/>
                </a:solidFill>
              </a:defRPr>
            </a:pPr>
            <a:r>
              <a:rPr sz="2625" b="1">
                <a:solidFill>
                  <a:srgbClr val="172B4D"/>
                </a:solidFill>
              </a:rPr>
              <a:t>クラス重み付け：少数側の誤りを重く扱う</a:t>
            </a:r>
          </a:p>
          <a:p xmlns:a="http://schemas.openxmlformats.org/drawingml/2006/main">
            <a:pPr>
              <a:defRPr sz="2625" b="1">
                <a:solidFill>
                  <a:srgbClr val="172B4D"/>
                </a:solidFill>
              </a:defRPr>
            </a:pPr>
            <a:r>
              <a:rPr sz="2625" b="1">
                <a:solidFill>
                  <a:srgbClr val="172B4D"/>
                </a:solidFill>
              </a:rPr>
              <a:t>ランダム複製：少数例が学習に現れる回数を増やす</a:t>
            </a:r>
          </a:p>
        </p:txBody>
      </p:sp>
      <p:sp>
        <p:nvSpPr>
          <p:cNvPr id="4" name="">
            <a:extLst xmlns:a="http://schemas.openxmlformats.org/drawingml/2006/main">
              <a:ext uri="{FF2B5EF4-FFF2-40B4-BE49-F238E27FC236}">
                <a16:creationId xmlns:a16="http://schemas.microsoft.com/office/drawing/2014/main" id="{EBDC5C79-148E-4C6A-B213-9AB78062E4E2}"/>
              </a:ext>
            </a:extLst>
          </p:cNvPr>
          <p:cNvSpPr>
            <a:spLocks xmlns:a="http://schemas.openxmlformats.org/drawingml/2006/main" noGrp="1"/>
          </p:cNvSpPr>
          <p:nvPr/>
        </p:nvSpPr>
        <p:spPr>
          <a:xfrm xmlns:a="http://schemas.openxmlformats.org/drawingml/2006/main">
            <a:off x="723900" y="3943350"/>
            <a:ext cx="10668000" cy="1562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0">
                <a:solidFill>
                  <a:srgbClr val="336C81"/>
                </a:solidFill>
              </a:defRPr>
            </a:defPPr>
            <a:lvl1pPr>
              <a:defRPr sz="2250" b="0">
                <a:solidFill>
                  <a:srgbClr val="336C81"/>
                </a:solidFill>
              </a:defRPr>
            </a:lvl1pPr>
            <a:lvl2pPr>
              <a:defRPr sz="2250" b="0">
                <a:solidFill>
                  <a:srgbClr val="336C81"/>
                </a:solidFill>
              </a:defRPr>
            </a:lvl2pPr>
            <a:lvl3pPr>
              <a:defRPr sz="2250" b="0">
                <a:solidFill>
                  <a:srgbClr val="336C81"/>
                </a:solidFill>
              </a:defRPr>
            </a:lvl3pPr>
            <a:lvl4pPr>
              <a:defRPr sz="2250" b="0">
                <a:solidFill>
                  <a:srgbClr val="336C81"/>
                </a:solidFill>
              </a:defRPr>
            </a:lvl4pPr>
            <a:lvl5pPr>
              <a:defRPr sz="2250" b="0">
                <a:solidFill>
                  <a:srgbClr val="336C81"/>
                </a:solidFill>
              </a:defRPr>
            </a:lvl5pPr>
            <a:lvl6pPr>
              <a:defRPr sz="2250" b="0">
                <a:solidFill>
                  <a:srgbClr val="336C81"/>
                </a:solidFill>
              </a:defRPr>
            </a:lvl6pPr>
            <a:lvl7pPr>
              <a:defRPr sz="2250" b="0">
                <a:solidFill>
                  <a:srgbClr val="336C81"/>
                </a:solidFill>
              </a:defRPr>
            </a:lvl7pPr>
            <a:lvl8pPr>
              <a:defRPr sz="2250" b="0">
                <a:solidFill>
                  <a:srgbClr val="336C81"/>
                </a:solidFill>
              </a:defRPr>
            </a:lvl8pPr>
            <a:lvl9pPr>
              <a:defRPr sz="2250" b="0">
                <a:solidFill>
                  <a:srgbClr val="336C81"/>
                </a:solidFill>
              </a:defRPr>
            </a:lvl9pPr>
          </a:lstStyle>
          <a:p xmlns:a="http://schemas.openxmlformats.org/drawingml/2006/main">
            <a:pPr>
              <a:defRPr sz="2250" b="0">
                <a:solidFill>
                  <a:srgbClr val="336C81"/>
                </a:solidFill>
              </a:defRPr>
            </a:pPr>
            <a:r>
              <a:rPr sz="2250" b="0">
                <a:solidFill>
                  <a:srgbClr val="336C81"/>
                </a:solidFill>
              </a:rPr>
              <a:t>この対照を上回らなければ、</a:t>
            </a:r>
          </a:p>
          <a:p xmlns:a="http://schemas.openxmlformats.org/drawingml/2006/main">
            <a:pPr>
              <a:defRPr sz="2250" b="0">
                <a:solidFill>
                  <a:srgbClr val="336C81"/>
                </a:solidFill>
              </a:defRPr>
            </a:pPr>
            <a:r>
              <a:rPr sz="2250" b="0">
                <a:solidFill>
                  <a:srgbClr val="336C81"/>
                </a:solidFill>
              </a:rPr>
              <a:t>新しい特徴値を生成する必要性は示せない</a:t>
            </a:r>
          </a:p>
        </p:txBody>
      </p:sp>
      <p:sp>
        <p:nvSpPr>
          <p:cNvPr id="5" name="">
            <a:extLst xmlns:a="http://schemas.openxmlformats.org/drawingml/2006/main">
              <a:ext uri="{FF2B5EF4-FFF2-40B4-BE49-F238E27FC236}">
                <a16:creationId xmlns:a16="http://schemas.microsoft.com/office/drawing/2014/main" id="{C01C2095-10CD-4E6C-AC1C-240548CA70D1}"/>
              </a:ext>
            </a:extLst>
          </p:cNvPr>
          <p:cNvSpPr>
            <a:spLocks xmlns:a="http://schemas.openxmlformats.org/drawingml/2006/main" noGrp="1"/>
          </p:cNvSpPr>
          <p:nvPr/>
        </p:nvSpPr>
        <p:spPr>
          <a:xfrm xmlns:a="http://schemas.openxmlformats.org/drawingml/2006/main">
            <a:off x="11144250" y="6276975"/>
            <a:ext cx="5238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6B7F90"/>
                </a:solidFill>
              </a:defRPr>
            </a:defPPr>
            <a:lvl1pPr>
              <a:defRPr sz="1350" b="0">
                <a:solidFill>
                  <a:srgbClr val="6B7F90"/>
                </a:solidFill>
              </a:defRPr>
            </a:lvl1pPr>
            <a:lvl2pPr>
              <a:defRPr sz="1350" b="0">
                <a:solidFill>
                  <a:srgbClr val="6B7F90"/>
                </a:solidFill>
              </a:defRPr>
            </a:lvl2pPr>
            <a:lvl3pPr>
              <a:defRPr sz="1350" b="0">
                <a:solidFill>
                  <a:srgbClr val="6B7F90"/>
                </a:solidFill>
              </a:defRPr>
            </a:lvl3pPr>
            <a:lvl4pPr>
              <a:defRPr sz="1350" b="0">
                <a:solidFill>
                  <a:srgbClr val="6B7F90"/>
                </a:solidFill>
              </a:defRPr>
            </a:lvl4pPr>
            <a:lvl5pPr>
              <a:defRPr sz="1350" b="0">
                <a:solidFill>
                  <a:srgbClr val="6B7F90"/>
                </a:solidFill>
              </a:defRPr>
            </a:lvl5pPr>
            <a:lvl6pPr>
              <a:defRPr sz="1350" b="0">
                <a:solidFill>
                  <a:srgbClr val="6B7F90"/>
                </a:solidFill>
              </a:defRPr>
            </a:lvl6pPr>
            <a:lvl7pPr>
              <a:defRPr sz="1350" b="0">
                <a:solidFill>
                  <a:srgbClr val="6B7F90"/>
                </a:solidFill>
              </a:defRPr>
            </a:lvl7pPr>
            <a:lvl8pPr>
              <a:defRPr sz="1350" b="0">
                <a:solidFill>
                  <a:srgbClr val="6B7F90"/>
                </a:solidFill>
              </a:defRPr>
            </a:lvl8pPr>
            <a:lvl9pPr>
              <a:defRPr sz="1350" b="0">
                <a:solidFill>
                  <a:srgbClr val="6B7F90"/>
                </a:solidFill>
              </a:defRPr>
            </a:lvl9pPr>
          </a:lstStyle>
          <a:p xmlns:a="http://schemas.openxmlformats.org/drawingml/2006/main">
            <a:pPr>
              <a:defRPr sz="1350" b="0">
                <a:solidFill>
                  <a:srgbClr val="6B7F90"/>
                </a:solidFill>
              </a:defRPr>
            </a:pPr>
            <a:r>
              <a:rPr sz="1350" b="0">
                <a:solidFill>
                  <a:srgbClr val="6B7F90"/>
                </a:solidFill>
              </a:rPr>
              <a:t>05</a:t>
            </a:r>
          </a:p>
        </p:txBody>
      </p:sp>
    </p:spTree>
    <p:extLst>
      <p:ext uri="{BB962C8B-B14F-4D97-AF65-F5344CB8AC3E}">
        <p14:creationId xmlns:p14="http://schemas.microsoft.com/office/powerpoint/2010/main" val="1092602900"/>
      </p:ext>
    </p:extLst>
  </p:cSld>
</p:sld>
</file>

<file path=ppt/slides/slide6.xml><?xml version="1.0" encoding="utf-8"?>
<p:sld xmlns:p="http://schemas.openxmlformats.org/presentationml/2006/main">
  <p:cSld>
    <p:bg>
      <p:bgPr>
        <a:solidFill xmlns:a="http://schemas.openxmlformats.org/drawingml/2006/main">
          <a:srgbClr val="FAFBFD"/>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8990E580-C025-41F3-A691-98294014358E}"/>
              </a:ext>
            </a:extLst>
          </p:cNvPr>
          <p:cNvSpPr>
            <a:spLocks xmlns:a="http://schemas.openxmlformats.org/drawingml/2006/main" noGrp="1"/>
          </p:cNvSpPr>
          <p:nvPr/>
        </p:nvSpPr>
        <p:spPr>
          <a:xfrm xmlns:a="http://schemas.openxmlformats.org/drawingml/2006/main">
            <a:off x="685800" y="495300"/>
            <a:ext cx="10858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150" b="1">
                <a:solidFill>
                  <a:srgbClr val="102B46"/>
                </a:solidFill>
              </a:defRPr>
            </a:defPPr>
            <a:lvl1pPr>
              <a:defRPr sz="3150" b="1">
                <a:solidFill>
                  <a:srgbClr val="102B46"/>
                </a:solidFill>
              </a:defRPr>
            </a:lvl1pPr>
            <a:lvl2pPr>
              <a:defRPr sz="3150" b="1">
                <a:solidFill>
                  <a:srgbClr val="102B46"/>
                </a:solidFill>
              </a:defRPr>
            </a:lvl2pPr>
            <a:lvl3pPr>
              <a:defRPr sz="3150" b="1">
                <a:solidFill>
                  <a:srgbClr val="102B46"/>
                </a:solidFill>
              </a:defRPr>
            </a:lvl3pPr>
            <a:lvl4pPr>
              <a:defRPr sz="3150" b="1">
                <a:solidFill>
                  <a:srgbClr val="102B46"/>
                </a:solidFill>
              </a:defRPr>
            </a:lvl4pPr>
            <a:lvl5pPr>
              <a:defRPr sz="3150" b="1">
                <a:solidFill>
                  <a:srgbClr val="102B46"/>
                </a:solidFill>
              </a:defRPr>
            </a:lvl5pPr>
            <a:lvl6pPr>
              <a:defRPr sz="3150" b="1">
                <a:solidFill>
                  <a:srgbClr val="102B46"/>
                </a:solidFill>
              </a:defRPr>
            </a:lvl6pPr>
            <a:lvl7pPr>
              <a:defRPr sz="3150" b="1">
                <a:solidFill>
                  <a:srgbClr val="102B46"/>
                </a:solidFill>
              </a:defRPr>
            </a:lvl7pPr>
            <a:lvl8pPr>
              <a:defRPr sz="3150" b="1">
                <a:solidFill>
                  <a:srgbClr val="102B46"/>
                </a:solidFill>
              </a:defRPr>
            </a:lvl8pPr>
            <a:lvl9pPr>
              <a:defRPr sz="3150" b="1">
                <a:solidFill>
                  <a:srgbClr val="102B46"/>
                </a:solidFill>
              </a:defRPr>
            </a:lvl9pPr>
          </a:lstStyle>
          <a:p xmlns:a="http://schemas.openxmlformats.org/drawingml/2006/main">
            <a:pPr>
              <a:defRPr sz="3150" b="1">
                <a:solidFill>
                  <a:srgbClr val="102B46"/>
                </a:solidFill>
              </a:defRPr>
            </a:pPr>
            <a:r>
              <a:rPr sz="3150" b="1">
                <a:solidFill>
                  <a:srgbClr val="102B46"/>
                </a:solidFill>
              </a:rPr>
              <a:t>合成データは未観測領域への仮定を含む</a:t>
            </a:r>
          </a:p>
        </p:txBody>
      </p:sp>
      <p:sp>
        <p:nvSpPr>
          <p:cNvPr id="3" name="">
            <a:extLst xmlns:a="http://schemas.openxmlformats.org/drawingml/2006/main">
              <a:ext uri="{FF2B5EF4-FFF2-40B4-BE49-F238E27FC236}">
                <a16:creationId xmlns:a16="http://schemas.microsoft.com/office/drawing/2014/main" id="{CA3A10A4-0279-4C93-A69E-CC9DFEE49B2E}"/>
              </a:ext>
            </a:extLst>
          </p:cNvPr>
          <p:cNvSpPr>
            <a:spLocks xmlns:a="http://schemas.openxmlformats.org/drawingml/2006/main" noGrp="1"/>
          </p:cNvSpPr>
          <p:nvPr/>
        </p:nvSpPr>
        <p:spPr>
          <a:xfrm xmlns:a="http://schemas.openxmlformats.org/drawingml/2006/main">
            <a:off x="723900" y="1952625"/>
            <a:ext cx="1066800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625" b="1">
                <a:solidFill>
                  <a:srgbClr val="172B4D"/>
                </a:solidFill>
              </a:defRPr>
            </a:defPPr>
            <a:lvl1pPr>
              <a:defRPr sz="2625" b="1">
                <a:solidFill>
                  <a:srgbClr val="172B4D"/>
                </a:solidFill>
              </a:defRPr>
            </a:lvl1pPr>
            <a:lvl2pPr>
              <a:defRPr sz="2625" b="1">
                <a:solidFill>
                  <a:srgbClr val="172B4D"/>
                </a:solidFill>
              </a:defRPr>
            </a:lvl2pPr>
            <a:lvl3pPr>
              <a:defRPr sz="2625" b="1">
                <a:solidFill>
                  <a:srgbClr val="172B4D"/>
                </a:solidFill>
              </a:defRPr>
            </a:lvl3pPr>
            <a:lvl4pPr>
              <a:defRPr sz="2625" b="1">
                <a:solidFill>
                  <a:srgbClr val="172B4D"/>
                </a:solidFill>
              </a:defRPr>
            </a:lvl4pPr>
            <a:lvl5pPr>
              <a:defRPr sz="2625" b="1">
                <a:solidFill>
                  <a:srgbClr val="172B4D"/>
                </a:solidFill>
              </a:defRPr>
            </a:lvl5pPr>
            <a:lvl6pPr>
              <a:defRPr sz="2625" b="1">
                <a:solidFill>
                  <a:srgbClr val="172B4D"/>
                </a:solidFill>
              </a:defRPr>
            </a:lvl6pPr>
            <a:lvl7pPr>
              <a:defRPr sz="2625" b="1">
                <a:solidFill>
                  <a:srgbClr val="172B4D"/>
                </a:solidFill>
              </a:defRPr>
            </a:lvl7pPr>
            <a:lvl8pPr>
              <a:defRPr sz="2625" b="1">
                <a:solidFill>
                  <a:srgbClr val="172B4D"/>
                </a:solidFill>
              </a:defRPr>
            </a:lvl8pPr>
            <a:lvl9pPr>
              <a:defRPr sz="2625" b="1">
                <a:solidFill>
                  <a:srgbClr val="172B4D"/>
                </a:solidFill>
              </a:defRPr>
            </a:lvl9pPr>
          </a:lstStyle>
          <a:p xmlns:a="http://schemas.openxmlformats.org/drawingml/2006/main">
            <a:pPr>
              <a:defRPr sz="2625" b="1">
                <a:solidFill>
                  <a:srgbClr val="172B4D"/>
                </a:solidFill>
              </a:defRPr>
            </a:pPr>
            <a:r>
              <a:rPr sz="2625" b="1">
                <a:solidFill>
                  <a:srgbClr val="172B4D"/>
                </a:solidFill>
              </a:rPr>
              <a:t>期待：観測点の間や周囲にも、</a:t>
            </a:r>
          </a:p>
          <a:p xmlns:a="http://schemas.openxmlformats.org/drawingml/2006/main">
            <a:pPr>
              <a:defRPr sz="2625" b="1">
                <a:solidFill>
                  <a:srgbClr val="172B4D"/>
                </a:solidFill>
              </a:defRPr>
            </a:pPr>
            <a:r>
              <a:rPr sz="2625" b="1">
                <a:solidFill>
                  <a:srgbClr val="172B4D"/>
                </a:solidFill>
              </a:rPr>
              <a:t>同じクラスの妥当な例があると考えて補う</a:t>
            </a:r>
          </a:p>
        </p:txBody>
      </p:sp>
      <p:sp>
        <p:nvSpPr>
          <p:cNvPr id="4" name="">
            <a:extLst xmlns:a="http://schemas.openxmlformats.org/drawingml/2006/main">
              <a:ext uri="{FF2B5EF4-FFF2-40B4-BE49-F238E27FC236}">
                <a16:creationId xmlns:a16="http://schemas.microsoft.com/office/drawing/2014/main" id="{5F6C5B32-13FA-4F3C-B736-F3488066507E}"/>
              </a:ext>
            </a:extLst>
          </p:cNvPr>
          <p:cNvSpPr>
            <a:spLocks xmlns:a="http://schemas.openxmlformats.org/drawingml/2006/main" noGrp="1"/>
          </p:cNvSpPr>
          <p:nvPr/>
        </p:nvSpPr>
        <p:spPr>
          <a:xfrm xmlns:a="http://schemas.openxmlformats.org/drawingml/2006/main">
            <a:off x="723900" y="3943350"/>
            <a:ext cx="10668000" cy="1562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0">
                <a:solidFill>
                  <a:srgbClr val="336C81"/>
                </a:solidFill>
              </a:defRPr>
            </a:defPPr>
            <a:lvl1pPr>
              <a:defRPr sz="2250" b="0">
                <a:solidFill>
                  <a:srgbClr val="336C81"/>
                </a:solidFill>
              </a:defRPr>
            </a:lvl1pPr>
            <a:lvl2pPr>
              <a:defRPr sz="2250" b="0">
                <a:solidFill>
                  <a:srgbClr val="336C81"/>
                </a:solidFill>
              </a:defRPr>
            </a:lvl2pPr>
            <a:lvl3pPr>
              <a:defRPr sz="2250" b="0">
                <a:solidFill>
                  <a:srgbClr val="336C81"/>
                </a:solidFill>
              </a:defRPr>
            </a:lvl3pPr>
            <a:lvl4pPr>
              <a:defRPr sz="2250" b="0">
                <a:solidFill>
                  <a:srgbClr val="336C81"/>
                </a:solidFill>
              </a:defRPr>
            </a:lvl4pPr>
            <a:lvl5pPr>
              <a:defRPr sz="2250" b="0">
                <a:solidFill>
                  <a:srgbClr val="336C81"/>
                </a:solidFill>
              </a:defRPr>
            </a:lvl5pPr>
            <a:lvl6pPr>
              <a:defRPr sz="2250" b="0">
                <a:solidFill>
                  <a:srgbClr val="336C81"/>
                </a:solidFill>
              </a:defRPr>
            </a:lvl6pPr>
            <a:lvl7pPr>
              <a:defRPr sz="2250" b="0">
                <a:solidFill>
                  <a:srgbClr val="336C81"/>
                </a:solidFill>
              </a:defRPr>
            </a:lvl7pPr>
            <a:lvl8pPr>
              <a:defRPr sz="2250" b="0">
                <a:solidFill>
                  <a:srgbClr val="336C81"/>
                </a:solidFill>
              </a:defRPr>
            </a:lvl8pPr>
            <a:lvl9pPr>
              <a:defRPr sz="2250" b="0">
                <a:solidFill>
                  <a:srgbClr val="336C81"/>
                </a:solidFill>
              </a:defRPr>
            </a:lvl9pPr>
          </a:lstStyle>
          <a:p xmlns:a="http://schemas.openxmlformats.org/drawingml/2006/main">
            <a:pPr>
              <a:defRPr sz="2250" b="0">
                <a:solidFill>
                  <a:srgbClr val="336C81"/>
                </a:solidFill>
              </a:defRPr>
            </a:pPr>
            <a:r>
              <a:rPr sz="2250" b="0">
                <a:solidFill>
                  <a:srgbClr val="336C81"/>
                </a:solidFill>
              </a:rPr>
              <a:t>制約：合成行は観測データに基づく推定</a:t>
            </a:r>
          </a:p>
          <a:p xmlns:a="http://schemas.openxmlformats.org/drawingml/2006/main">
            <a:pPr>
              <a:defRPr sz="2250" b="0">
                <a:solidFill>
                  <a:srgbClr val="336C81"/>
                </a:solidFill>
              </a:defRPr>
            </a:pPr>
            <a:r>
              <a:rPr sz="2250" b="0">
                <a:solidFill>
                  <a:srgbClr val="336C81"/>
                </a:solidFill>
              </a:rPr>
              <a:t>仮定が誤ると、誤った領域を強く学習させる</a:t>
            </a:r>
          </a:p>
        </p:txBody>
      </p:sp>
      <p:sp>
        <p:nvSpPr>
          <p:cNvPr id="5" name="">
            <a:extLst xmlns:a="http://schemas.openxmlformats.org/drawingml/2006/main">
              <a:ext uri="{FF2B5EF4-FFF2-40B4-BE49-F238E27FC236}">
                <a16:creationId xmlns:a16="http://schemas.microsoft.com/office/drawing/2014/main" id="{F0AFDEFC-AAE4-4870-8512-1883421730D1}"/>
              </a:ext>
            </a:extLst>
          </p:cNvPr>
          <p:cNvSpPr>
            <a:spLocks xmlns:a="http://schemas.openxmlformats.org/drawingml/2006/main" noGrp="1"/>
          </p:cNvSpPr>
          <p:nvPr/>
        </p:nvSpPr>
        <p:spPr>
          <a:xfrm xmlns:a="http://schemas.openxmlformats.org/drawingml/2006/main">
            <a:off x="11144250" y="6276975"/>
            <a:ext cx="5238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6B7F90"/>
                </a:solidFill>
              </a:defRPr>
            </a:defPPr>
            <a:lvl1pPr>
              <a:defRPr sz="1350" b="0">
                <a:solidFill>
                  <a:srgbClr val="6B7F90"/>
                </a:solidFill>
              </a:defRPr>
            </a:lvl1pPr>
            <a:lvl2pPr>
              <a:defRPr sz="1350" b="0">
                <a:solidFill>
                  <a:srgbClr val="6B7F90"/>
                </a:solidFill>
              </a:defRPr>
            </a:lvl2pPr>
            <a:lvl3pPr>
              <a:defRPr sz="1350" b="0">
                <a:solidFill>
                  <a:srgbClr val="6B7F90"/>
                </a:solidFill>
              </a:defRPr>
            </a:lvl3pPr>
            <a:lvl4pPr>
              <a:defRPr sz="1350" b="0">
                <a:solidFill>
                  <a:srgbClr val="6B7F90"/>
                </a:solidFill>
              </a:defRPr>
            </a:lvl4pPr>
            <a:lvl5pPr>
              <a:defRPr sz="1350" b="0">
                <a:solidFill>
                  <a:srgbClr val="6B7F90"/>
                </a:solidFill>
              </a:defRPr>
            </a:lvl5pPr>
            <a:lvl6pPr>
              <a:defRPr sz="1350" b="0">
                <a:solidFill>
                  <a:srgbClr val="6B7F90"/>
                </a:solidFill>
              </a:defRPr>
            </a:lvl6pPr>
            <a:lvl7pPr>
              <a:defRPr sz="1350" b="0">
                <a:solidFill>
                  <a:srgbClr val="6B7F90"/>
                </a:solidFill>
              </a:defRPr>
            </a:lvl7pPr>
            <a:lvl8pPr>
              <a:defRPr sz="1350" b="0">
                <a:solidFill>
                  <a:srgbClr val="6B7F90"/>
                </a:solidFill>
              </a:defRPr>
            </a:lvl8pPr>
            <a:lvl9pPr>
              <a:defRPr sz="1350" b="0">
                <a:solidFill>
                  <a:srgbClr val="6B7F90"/>
                </a:solidFill>
              </a:defRPr>
            </a:lvl9pPr>
          </a:lstStyle>
          <a:p xmlns:a="http://schemas.openxmlformats.org/drawingml/2006/main">
            <a:pPr>
              <a:defRPr sz="1350" b="0">
                <a:solidFill>
                  <a:srgbClr val="6B7F90"/>
                </a:solidFill>
              </a:defRPr>
            </a:pPr>
            <a:r>
              <a:rPr sz="1350" b="0">
                <a:solidFill>
                  <a:srgbClr val="6B7F90"/>
                </a:solidFill>
              </a:rPr>
              <a:t>06</a:t>
            </a:r>
          </a:p>
        </p:txBody>
      </p:sp>
    </p:spTree>
    <p:extLst>
      <p:ext uri="{BB962C8B-B14F-4D97-AF65-F5344CB8AC3E}">
        <p14:creationId xmlns:p14="http://schemas.microsoft.com/office/powerpoint/2010/main" val="793157499"/>
      </p:ext>
    </p:extLst>
  </p:cSld>
</p:sld>
</file>

<file path=ppt/slides/slide7.xml><?xml version="1.0" encoding="utf-8"?>
<p:sld xmlns:p="http://schemas.openxmlformats.org/presentationml/2006/main">
  <p:cSld>
    <p:bg>
      <p:bgPr>
        <a:solidFill xmlns:a="http://schemas.openxmlformats.org/drawingml/2006/main">
          <a:srgbClr val="FAFBFD"/>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453489AF-A192-4F91-850B-81FFF2050811}"/>
              </a:ext>
            </a:extLst>
          </p:cNvPr>
          <p:cNvSpPr>
            <a:spLocks xmlns:a="http://schemas.openxmlformats.org/drawingml/2006/main" noGrp="1"/>
          </p:cNvSpPr>
          <p:nvPr/>
        </p:nvSpPr>
        <p:spPr>
          <a:xfrm xmlns:a="http://schemas.openxmlformats.org/drawingml/2006/main">
            <a:off x="685800" y="495300"/>
            <a:ext cx="10858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150" b="1">
                <a:solidFill>
                  <a:srgbClr val="102B46"/>
                </a:solidFill>
              </a:defRPr>
            </a:defPPr>
            <a:lvl1pPr>
              <a:defRPr sz="3150" b="1">
                <a:solidFill>
                  <a:srgbClr val="102B46"/>
                </a:solidFill>
              </a:defRPr>
            </a:lvl1pPr>
            <a:lvl2pPr>
              <a:defRPr sz="3150" b="1">
                <a:solidFill>
                  <a:srgbClr val="102B46"/>
                </a:solidFill>
              </a:defRPr>
            </a:lvl2pPr>
            <a:lvl3pPr>
              <a:defRPr sz="3150" b="1">
                <a:solidFill>
                  <a:srgbClr val="102B46"/>
                </a:solidFill>
              </a:defRPr>
            </a:lvl3pPr>
            <a:lvl4pPr>
              <a:defRPr sz="3150" b="1">
                <a:solidFill>
                  <a:srgbClr val="102B46"/>
                </a:solidFill>
              </a:defRPr>
            </a:lvl4pPr>
            <a:lvl5pPr>
              <a:defRPr sz="3150" b="1">
                <a:solidFill>
                  <a:srgbClr val="102B46"/>
                </a:solidFill>
              </a:defRPr>
            </a:lvl5pPr>
            <a:lvl6pPr>
              <a:defRPr sz="3150" b="1">
                <a:solidFill>
                  <a:srgbClr val="102B46"/>
                </a:solidFill>
              </a:defRPr>
            </a:lvl6pPr>
            <a:lvl7pPr>
              <a:defRPr sz="3150" b="1">
                <a:solidFill>
                  <a:srgbClr val="102B46"/>
                </a:solidFill>
              </a:defRPr>
            </a:lvl7pPr>
            <a:lvl8pPr>
              <a:defRPr sz="3150" b="1">
                <a:solidFill>
                  <a:srgbClr val="102B46"/>
                </a:solidFill>
              </a:defRPr>
            </a:lvl8pPr>
            <a:lvl9pPr>
              <a:defRPr sz="3150" b="1">
                <a:solidFill>
                  <a:srgbClr val="102B46"/>
                </a:solidFill>
              </a:defRPr>
            </a:lvl9pPr>
          </a:lstStyle>
          <a:p xmlns:a="http://schemas.openxmlformats.org/drawingml/2006/main">
            <a:pPr>
              <a:defRPr sz="3150" b="1">
                <a:solidFill>
                  <a:srgbClr val="102B46"/>
                </a:solidFill>
              </a:defRPr>
            </a:pPr>
            <a:r>
              <a:rPr sz="3150" b="1">
                <a:solidFill>
                  <a:srgbClr val="102B46"/>
                </a:solidFill>
              </a:rPr>
              <a:t>クラスを指定してもラベルの妥当性は保証できない</a:t>
            </a:r>
          </a:p>
        </p:txBody>
      </p:sp>
      <p:sp>
        <p:nvSpPr>
          <p:cNvPr id="3" name="">
            <a:extLst xmlns:a="http://schemas.openxmlformats.org/drawingml/2006/main">
              <a:ext uri="{FF2B5EF4-FFF2-40B4-BE49-F238E27FC236}">
                <a16:creationId xmlns:a16="http://schemas.microsoft.com/office/drawing/2014/main" id="{B919D0C6-0093-4141-A2FC-F243F0949A3E}"/>
              </a:ext>
            </a:extLst>
          </p:cNvPr>
          <p:cNvSpPr>
            <a:spLocks xmlns:a="http://schemas.openxmlformats.org/drawingml/2006/main" noGrp="1"/>
          </p:cNvSpPr>
          <p:nvPr/>
        </p:nvSpPr>
        <p:spPr>
          <a:xfrm xmlns:a="http://schemas.openxmlformats.org/drawingml/2006/main">
            <a:off x="723900" y="1952625"/>
            <a:ext cx="1066800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625" b="1">
                <a:solidFill>
                  <a:srgbClr val="172B4D"/>
                </a:solidFill>
              </a:defRPr>
            </a:defPPr>
            <a:lvl1pPr>
              <a:defRPr sz="2625" b="1">
                <a:solidFill>
                  <a:srgbClr val="172B4D"/>
                </a:solidFill>
              </a:defRPr>
            </a:lvl1pPr>
            <a:lvl2pPr>
              <a:defRPr sz="2625" b="1">
                <a:solidFill>
                  <a:srgbClr val="172B4D"/>
                </a:solidFill>
              </a:defRPr>
            </a:lvl2pPr>
            <a:lvl3pPr>
              <a:defRPr sz="2625" b="1">
                <a:solidFill>
                  <a:srgbClr val="172B4D"/>
                </a:solidFill>
              </a:defRPr>
            </a:lvl3pPr>
            <a:lvl4pPr>
              <a:defRPr sz="2625" b="1">
                <a:solidFill>
                  <a:srgbClr val="172B4D"/>
                </a:solidFill>
              </a:defRPr>
            </a:lvl4pPr>
            <a:lvl5pPr>
              <a:defRPr sz="2625" b="1">
                <a:solidFill>
                  <a:srgbClr val="172B4D"/>
                </a:solidFill>
              </a:defRPr>
            </a:lvl5pPr>
            <a:lvl6pPr>
              <a:defRPr sz="2625" b="1">
                <a:solidFill>
                  <a:srgbClr val="172B4D"/>
                </a:solidFill>
              </a:defRPr>
            </a:lvl6pPr>
            <a:lvl7pPr>
              <a:defRPr sz="2625" b="1">
                <a:solidFill>
                  <a:srgbClr val="172B4D"/>
                </a:solidFill>
              </a:defRPr>
            </a:lvl7pPr>
            <a:lvl8pPr>
              <a:defRPr sz="2625" b="1">
                <a:solidFill>
                  <a:srgbClr val="172B4D"/>
                </a:solidFill>
              </a:defRPr>
            </a:lvl8pPr>
            <a:lvl9pPr>
              <a:defRPr sz="2625" b="1">
                <a:solidFill>
                  <a:srgbClr val="172B4D"/>
                </a:solidFill>
              </a:defRPr>
            </a:lvl9pPr>
          </a:lstStyle>
          <a:p xmlns:a="http://schemas.openxmlformats.org/drawingml/2006/main">
            <a:pPr>
              <a:defRPr sz="2625" b="1">
                <a:solidFill>
                  <a:srgbClr val="172B4D"/>
                </a:solidFill>
              </a:defRPr>
            </a:pPr>
            <a:r>
              <a:rPr sz="2625" b="1">
                <a:solidFill>
                  <a:srgbClr val="172B4D"/>
                </a:solidFill>
              </a:rPr>
              <a:t>生成したい対象は p(x | y=少数クラス)</a:t>
            </a:r>
          </a:p>
          <a:p xmlns:a="http://schemas.openxmlformats.org/drawingml/2006/main">
            <a:pPr>
              <a:defRPr sz="2625" b="1">
                <a:solidFill>
                  <a:srgbClr val="172B4D"/>
                </a:solidFill>
              </a:defRPr>
            </a:pPr>
            <a:r>
              <a:rPr sz="2625" b="1">
                <a:solidFill>
                  <a:srgbClr val="172B4D"/>
                </a:solidFill>
              </a:rPr>
              <a:t>推定した分布が真のクラス分布とずれる可能性がある</a:t>
            </a:r>
          </a:p>
        </p:txBody>
      </p:sp>
      <p:sp>
        <p:nvSpPr>
          <p:cNvPr id="4" name="">
            <a:extLst xmlns:a="http://schemas.openxmlformats.org/drawingml/2006/main">
              <a:ext uri="{FF2B5EF4-FFF2-40B4-BE49-F238E27FC236}">
                <a16:creationId xmlns:a16="http://schemas.microsoft.com/office/drawing/2014/main" id="{72D14691-D055-483E-B1FB-F933196672F6}"/>
              </a:ext>
            </a:extLst>
          </p:cNvPr>
          <p:cNvSpPr>
            <a:spLocks xmlns:a="http://schemas.openxmlformats.org/drawingml/2006/main" noGrp="1"/>
          </p:cNvSpPr>
          <p:nvPr/>
        </p:nvSpPr>
        <p:spPr>
          <a:xfrm xmlns:a="http://schemas.openxmlformats.org/drawingml/2006/main">
            <a:off x="723900" y="3943350"/>
            <a:ext cx="10668000" cy="1562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0">
                <a:solidFill>
                  <a:srgbClr val="336C81"/>
                </a:solidFill>
              </a:defRPr>
            </a:defPPr>
            <a:lvl1pPr>
              <a:defRPr sz="2250" b="0">
                <a:solidFill>
                  <a:srgbClr val="336C81"/>
                </a:solidFill>
              </a:defRPr>
            </a:lvl1pPr>
            <a:lvl2pPr>
              <a:defRPr sz="2250" b="0">
                <a:solidFill>
                  <a:srgbClr val="336C81"/>
                </a:solidFill>
              </a:defRPr>
            </a:lvl2pPr>
            <a:lvl3pPr>
              <a:defRPr sz="2250" b="0">
                <a:solidFill>
                  <a:srgbClr val="336C81"/>
                </a:solidFill>
              </a:defRPr>
            </a:lvl3pPr>
            <a:lvl4pPr>
              <a:defRPr sz="2250" b="0">
                <a:solidFill>
                  <a:srgbClr val="336C81"/>
                </a:solidFill>
              </a:defRPr>
            </a:lvl4pPr>
            <a:lvl5pPr>
              <a:defRPr sz="2250" b="0">
                <a:solidFill>
                  <a:srgbClr val="336C81"/>
                </a:solidFill>
              </a:defRPr>
            </a:lvl5pPr>
            <a:lvl6pPr>
              <a:defRPr sz="2250" b="0">
                <a:solidFill>
                  <a:srgbClr val="336C81"/>
                </a:solidFill>
              </a:defRPr>
            </a:lvl6pPr>
            <a:lvl7pPr>
              <a:defRPr sz="2250" b="0">
                <a:solidFill>
                  <a:srgbClr val="336C81"/>
                </a:solidFill>
              </a:defRPr>
            </a:lvl7pPr>
            <a:lvl8pPr>
              <a:defRPr sz="2250" b="0">
                <a:solidFill>
                  <a:srgbClr val="336C81"/>
                </a:solidFill>
              </a:defRPr>
            </a:lvl8pPr>
            <a:lvl9pPr>
              <a:defRPr sz="2250" b="0">
                <a:solidFill>
                  <a:srgbClr val="336C81"/>
                </a:solidFill>
              </a:defRPr>
            </a:lvl9pPr>
          </a:lstStyle>
          <a:p xmlns:a="http://schemas.openxmlformats.org/drawingml/2006/main">
            <a:pPr>
              <a:defRPr sz="2250" b="0">
                <a:solidFill>
                  <a:srgbClr val="336C81"/>
                </a:solidFill>
              </a:defRPr>
            </a:pPr>
            <a:r>
              <a:rPr sz="2250" b="0">
                <a:solidFill>
                  <a:srgbClr val="336C81"/>
                </a:solidFill>
              </a:rPr>
              <a:t>少数ラベルを付けた行が別クラスの領域に入ると、</a:t>
            </a:r>
          </a:p>
          <a:p xmlns:a="http://schemas.openxmlformats.org/drawingml/2006/main">
            <a:pPr>
              <a:defRPr sz="2250" b="0">
                <a:solidFill>
                  <a:srgbClr val="336C81"/>
                </a:solidFill>
              </a:defRPr>
            </a:pPr>
            <a:r>
              <a:rPr sz="2250" b="0">
                <a:solidFill>
                  <a:srgbClr val="336C81"/>
                </a:solidFill>
              </a:rPr>
              <a:t>分類器は誤った境界を学習しうる</a:t>
            </a:r>
          </a:p>
        </p:txBody>
      </p:sp>
      <p:sp>
        <p:nvSpPr>
          <p:cNvPr id="5" name="">
            <a:extLst xmlns:a="http://schemas.openxmlformats.org/drawingml/2006/main">
              <a:ext uri="{FF2B5EF4-FFF2-40B4-BE49-F238E27FC236}">
                <a16:creationId xmlns:a16="http://schemas.microsoft.com/office/drawing/2014/main" id="{ADF20C50-05C1-465B-AD1F-D0AA36F75673}"/>
              </a:ext>
            </a:extLst>
          </p:cNvPr>
          <p:cNvSpPr>
            <a:spLocks xmlns:a="http://schemas.openxmlformats.org/drawingml/2006/main" noGrp="1"/>
          </p:cNvSpPr>
          <p:nvPr/>
        </p:nvSpPr>
        <p:spPr>
          <a:xfrm xmlns:a="http://schemas.openxmlformats.org/drawingml/2006/main">
            <a:off x="11144250" y="6276975"/>
            <a:ext cx="5238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6B7F90"/>
                </a:solidFill>
              </a:defRPr>
            </a:defPPr>
            <a:lvl1pPr>
              <a:defRPr sz="1350" b="0">
                <a:solidFill>
                  <a:srgbClr val="6B7F90"/>
                </a:solidFill>
              </a:defRPr>
            </a:lvl1pPr>
            <a:lvl2pPr>
              <a:defRPr sz="1350" b="0">
                <a:solidFill>
                  <a:srgbClr val="6B7F90"/>
                </a:solidFill>
              </a:defRPr>
            </a:lvl2pPr>
            <a:lvl3pPr>
              <a:defRPr sz="1350" b="0">
                <a:solidFill>
                  <a:srgbClr val="6B7F90"/>
                </a:solidFill>
              </a:defRPr>
            </a:lvl3pPr>
            <a:lvl4pPr>
              <a:defRPr sz="1350" b="0">
                <a:solidFill>
                  <a:srgbClr val="6B7F90"/>
                </a:solidFill>
              </a:defRPr>
            </a:lvl4pPr>
            <a:lvl5pPr>
              <a:defRPr sz="1350" b="0">
                <a:solidFill>
                  <a:srgbClr val="6B7F90"/>
                </a:solidFill>
              </a:defRPr>
            </a:lvl5pPr>
            <a:lvl6pPr>
              <a:defRPr sz="1350" b="0">
                <a:solidFill>
                  <a:srgbClr val="6B7F90"/>
                </a:solidFill>
              </a:defRPr>
            </a:lvl6pPr>
            <a:lvl7pPr>
              <a:defRPr sz="1350" b="0">
                <a:solidFill>
                  <a:srgbClr val="6B7F90"/>
                </a:solidFill>
              </a:defRPr>
            </a:lvl7pPr>
            <a:lvl8pPr>
              <a:defRPr sz="1350" b="0">
                <a:solidFill>
                  <a:srgbClr val="6B7F90"/>
                </a:solidFill>
              </a:defRPr>
            </a:lvl8pPr>
            <a:lvl9pPr>
              <a:defRPr sz="1350" b="0">
                <a:solidFill>
                  <a:srgbClr val="6B7F90"/>
                </a:solidFill>
              </a:defRPr>
            </a:lvl9pPr>
          </a:lstStyle>
          <a:p xmlns:a="http://schemas.openxmlformats.org/drawingml/2006/main">
            <a:pPr>
              <a:defRPr sz="1350" b="0">
                <a:solidFill>
                  <a:srgbClr val="6B7F90"/>
                </a:solidFill>
              </a:defRPr>
            </a:pPr>
            <a:r>
              <a:rPr sz="1350" b="0">
                <a:solidFill>
                  <a:srgbClr val="6B7F90"/>
                </a:solidFill>
              </a:rPr>
              <a:t>07</a:t>
            </a:r>
          </a:p>
        </p:txBody>
      </p:sp>
    </p:spTree>
    <p:extLst>
      <p:ext uri="{BB962C8B-B14F-4D97-AF65-F5344CB8AC3E}">
        <p14:creationId xmlns:p14="http://schemas.microsoft.com/office/powerpoint/2010/main" val="869194682"/>
      </p:ext>
    </p:extLst>
  </p:cSld>
</p:sld>
</file>

<file path=ppt/slides/slide8.xml><?xml version="1.0" encoding="utf-8"?>
<p:sld xmlns:p="http://schemas.openxmlformats.org/presentationml/2006/main">
  <p:cSld>
    <p:bg>
      <p:bgPr>
        <a:solidFill xmlns:a="http://schemas.openxmlformats.org/drawingml/2006/main">
          <a:srgbClr val="FAFBFD"/>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31DD0608-FA9D-4FF7-8A08-F5EC523513F3}"/>
              </a:ext>
            </a:extLst>
          </p:cNvPr>
          <p:cNvSpPr>
            <a:spLocks xmlns:a="http://schemas.openxmlformats.org/drawingml/2006/main" noGrp="1"/>
          </p:cNvSpPr>
          <p:nvPr/>
        </p:nvSpPr>
        <p:spPr>
          <a:xfrm xmlns:a="http://schemas.openxmlformats.org/drawingml/2006/main">
            <a:off x="685800" y="495300"/>
            <a:ext cx="10858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150" b="1">
                <a:solidFill>
                  <a:srgbClr val="102B46"/>
                </a:solidFill>
              </a:defRPr>
            </a:defPPr>
            <a:lvl1pPr>
              <a:defRPr sz="3150" b="1">
                <a:solidFill>
                  <a:srgbClr val="102B46"/>
                </a:solidFill>
              </a:defRPr>
            </a:lvl1pPr>
            <a:lvl2pPr>
              <a:defRPr sz="3150" b="1">
                <a:solidFill>
                  <a:srgbClr val="102B46"/>
                </a:solidFill>
              </a:defRPr>
            </a:lvl2pPr>
            <a:lvl3pPr>
              <a:defRPr sz="3150" b="1">
                <a:solidFill>
                  <a:srgbClr val="102B46"/>
                </a:solidFill>
              </a:defRPr>
            </a:lvl3pPr>
            <a:lvl4pPr>
              <a:defRPr sz="3150" b="1">
                <a:solidFill>
                  <a:srgbClr val="102B46"/>
                </a:solidFill>
              </a:defRPr>
            </a:lvl4pPr>
            <a:lvl5pPr>
              <a:defRPr sz="3150" b="1">
                <a:solidFill>
                  <a:srgbClr val="102B46"/>
                </a:solidFill>
              </a:defRPr>
            </a:lvl5pPr>
            <a:lvl6pPr>
              <a:defRPr sz="3150" b="1">
                <a:solidFill>
                  <a:srgbClr val="102B46"/>
                </a:solidFill>
              </a:defRPr>
            </a:lvl6pPr>
            <a:lvl7pPr>
              <a:defRPr sz="3150" b="1">
                <a:solidFill>
                  <a:srgbClr val="102B46"/>
                </a:solidFill>
              </a:defRPr>
            </a:lvl7pPr>
            <a:lvl8pPr>
              <a:defRPr sz="3150" b="1">
                <a:solidFill>
                  <a:srgbClr val="102B46"/>
                </a:solidFill>
              </a:defRPr>
            </a:lvl8pPr>
            <a:lvl9pPr>
              <a:defRPr sz="3150" b="1">
                <a:solidFill>
                  <a:srgbClr val="102B46"/>
                </a:solidFill>
              </a:defRPr>
            </a:lvl9pPr>
          </a:lstStyle>
          <a:p xmlns:a="http://schemas.openxmlformats.org/drawingml/2006/main">
            <a:pPr>
              <a:defRPr sz="3150" b="1">
                <a:solidFill>
                  <a:srgbClr val="102B46"/>
                </a:solidFill>
              </a:defRPr>
            </a:pPr>
            <a:r>
              <a:rPr sz="3150" b="1">
                <a:solidFill>
                  <a:srgbClr val="102B46"/>
                </a:solidFill>
              </a:rPr>
              <a:t>列シャッフルが壊すのは特徴の組み合わせ</a:t>
            </a:r>
          </a:p>
        </p:txBody>
      </p:sp>
      <p:sp>
        <p:nvSpPr>
          <p:cNvPr id="3" name="">
            <a:extLst xmlns:a="http://schemas.openxmlformats.org/drawingml/2006/main">
              <a:ext uri="{FF2B5EF4-FFF2-40B4-BE49-F238E27FC236}">
                <a16:creationId xmlns:a16="http://schemas.microsoft.com/office/drawing/2014/main" id="{4C511AA6-CD3C-4E3D-8C26-C11A51EBACEF}"/>
              </a:ext>
            </a:extLst>
          </p:cNvPr>
          <p:cNvSpPr>
            <a:spLocks xmlns:a="http://schemas.openxmlformats.org/drawingml/2006/main" noGrp="1"/>
          </p:cNvSpPr>
          <p:nvPr/>
        </p:nvSpPr>
        <p:spPr>
          <a:xfrm xmlns:a="http://schemas.openxmlformats.org/drawingml/2006/main">
            <a:off x="723900" y="1952625"/>
            <a:ext cx="1066800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625" b="1">
                <a:solidFill>
                  <a:srgbClr val="172B4D"/>
                </a:solidFill>
              </a:defRPr>
            </a:defPPr>
            <a:lvl1pPr>
              <a:defRPr sz="2625" b="1">
                <a:solidFill>
                  <a:srgbClr val="172B4D"/>
                </a:solidFill>
              </a:defRPr>
            </a:lvl1pPr>
            <a:lvl2pPr>
              <a:defRPr sz="2625" b="1">
                <a:solidFill>
                  <a:srgbClr val="172B4D"/>
                </a:solidFill>
              </a:defRPr>
            </a:lvl2pPr>
            <a:lvl3pPr>
              <a:defRPr sz="2625" b="1">
                <a:solidFill>
                  <a:srgbClr val="172B4D"/>
                </a:solidFill>
              </a:defRPr>
            </a:lvl3pPr>
            <a:lvl4pPr>
              <a:defRPr sz="2625" b="1">
                <a:solidFill>
                  <a:srgbClr val="172B4D"/>
                </a:solidFill>
              </a:defRPr>
            </a:lvl4pPr>
            <a:lvl5pPr>
              <a:defRPr sz="2625" b="1">
                <a:solidFill>
                  <a:srgbClr val="172B4D"/>
                </a:solidFill>
              </a:defRPr>
            </a:lvl5pPr>
            <a:lvl6pPr>
              <a:defRPr sz="2625" b="1">
                <a:solidFill>
                  <a:srgbClr val="172B4D"/>
                </a:solidFill>
              </a:defRPr>
            </a:lvl6pPr>
            <a:lvl7pPr>
              <a:defRPr sz="2625" b="1">
                <a:solidFill>
                  <a:srgbClr val="172B4D"/>
                </a:solidFill>
              </a:defRPr>
            </a:lvl7pPr>
            <a:lvl8pPr>
              <a:defRPr sz="2625" b="1">
                <a:solidFill>
                  <a:srgbClr val="172B4D"/>
                </a:solidFill>
              </a:defRPr>
            </a:lvl8pPr>
            <a:lvl9pPr>
              <a:defRPr sz="2625" b="1">
                <a:solidFill>
                  <a:srgbClr val="172B4D"/>
                </a:solidFill>
              </a:defRPr>
            </a:lvl9pPr>
          </a:lstStyle>
          <a:p xmlns:a="http://schemas.openxmlformats.org/drawingml/2006/main">
            <a:pPr>
              <a:defRPr sz="2625" b="1">
                <a:solidFill>
                  <a:srgbClr val="172B4D"/>
                </a:solidFill>
              </a:defRPr>
            </a:pPr>
            <a:r>
              <a:rPr sz="2625" b="1">
                <a:solidFill>
                  <a:srgbClr val="172B4D"/>
                </a:solidFill>
              </a:rPr>
              <a:t>仕組み：同じクラスの各列から独立に値を選ぶ</a:t>
            </a:r>
          </a:p>
        </p:txBody>
      </p:sp>
      <p:sp>
        <p:nvSpPr>
          <p:cNvPr id="4" name="">
            <a:extLst xmlns:a="http://schemas.openxmlformats.org/drawingml/2006/main">
              <a:ext uri="{FF2B5EF4-FFF2-40B4-BE49-F238E27FC236}">
                <a16:creationId xmlns:a16="http://schemas.microsoft.com/office/drawing/2014/main" id="{CB51C9CF-AA31-4A44-9BEA-DCB83A0663F9}"/>
              </a:ext>
            </a:extLst>
          </p:cNvPr>
          <p:cNvSpPr>
            <a:spLocks xmlns:a="http://schemas.openxmlformats.org/drawingml/2006/main" noGrp="1"/>
          </p:cNvSpPr>
          <p:nvPr/>
        </p:nvSpPr>
        <p:spPr>
          <a:xfrm xmlns:a="http://schemas.openxmlformats.org/drawingml/2006/main">
            <a:off x="723900" y="3943350"/>
            <a:ext cx="10668000" cy="1562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0">
                <a:solidFill>
                  <a:srgbClr val="336C81"/>
                </a:solidFill>
              </a:defRPr>
            </a:defPPr>
            <a:lvl1pPr>
              <a:defRPr sz="2250" b="0">
                <a:solidFill>
                  <a:srgbClr val="336C81"/>
                </a:solidFill>
              </a:defRPr>
            </a:lvl1pPr>
            <a:lvl2pPr>
              <a:defRPr sz="2250" b="0">
                <a:solidFill>
                  <a:srgbClr val="336C81"/>
                </a:solidFill>
              </a:defRPr>
            </a:lvl2pPr>
            <a:lvl3pPr>
              <a:defRPr sz="2250" b="0">
                <a:solidFill>
                  <a:srgbClr val="336C81"/>
                </a:solidFill>
              </a:defRPr>
            </a:lvl3pPr>
            <a:lvl4pPr>
              <a:defRPr sz="2250" b="0">
                <a:solidFill>
                  <a:srgbClr val="336C81"/>
                </a:solidFill>
              </a:defRPr>
            </a:lvl4pPr>
            <a:lvl5pPr>
              <a:defRPr sz="2250" b="0">
                <a:solidFill>
                  <a:srgbClr val="336C81"/>
                </a:solidFill>
              </a:defRPr>
            </a:lvl5pPr>
            <a:lvl6pPr>
              <a:defRPr sz="2250" b="0">
                <a:solidFill>
                  <a:srgbClr val="336C81"/>
                </a:solidFill>
              </a:defRPr>
            </a:lvl6pPr>
            <a:lvl7pPr>
              <a:defRPr sz="2250" b="0">
                <a:solidFill>
                  <a:srgbClr val="336C81"/>
                </a:solidFill>
              </a:defRPr>
            </a:lvl7pPr>
            <a:lvl8pPr>
              <a:defRPr sz="2250" b="0">
                <a:solidFill>
                  <a:srgbClr val="336C81"/>
                </a:solidFill>
              </a:defRPr>
            </a:lvl8pPr>
            <a:lvl9pPr>
              <a:defRPr sz="2250" b="0">
                <a:solidFill>
                  <a:srgbClr val="336C81"/>
                </a:solidFill>
              </a:defRPr>
            </a:lvl9pPr>
          </a:lstStyle>
          <a:p xmlns:a="http://schemas.openxmlformats.org/drawingml/2006/main">
            <a:pPr>
              <a:defRPr sz="2250" b="0">
                <a:solidFill>
                  <a:srgbClr val="336C81"/>
                </a:solidFill>
              </a:defRPr>
            </a:pPr>
            <a:r>
              <a:rPr sz="2250" b="0">
                <a:solidFill>
                  <a:srgbClr val="336C81"/>
                </a:solidFill>
              </a:rPr>
              <a:t>仮定：各列を別々に選んでも、その行は妥当</a:t>
            </a:r>
          </a:p>
          <a:p xmlns:a="http://schemas.openxmlformats.org/drawingml/2006/main">
            <a:pPr>
              <a:defRPr sz="2250" b="0">
                <a:solidFill>
                  <a:srgbClr val="336C81"/>
                </a:solidFill>
              </a:defRPr>
            </a:pPr>
            <a:r>
              <a:rPr sz="2250" b="0">
                <a:solidFill>
                  <a:srgbClr val="336C81"/>
                </a:solidFill>
              </a:rPr>
              <a:t>依存する特徴があると、この仮定が崩れる</a:t>
            </a:r>
          </a:p>
        </p:txBody>
      </p:sp>
      <p:sp>
        <p:nvSpPr>
          <p:cNvPr id="5" name="">
            <a:extLst xmlns:a="http://schemas.openxmlformats.org/drawingml/2006/main">
              <a:ext uri="{FF2B5EF4-FFF2-40B4-BE49-F238E27FC236}">
                <a16:creationId xmlns:a16="http://schemas.microsoft.com/office/drawing/2014/main" id="{95C9AE47-EFC2-43E4-90F1-3E13FAC24ADA}"/>
              </a:ext>
            </a:extLst>
          </p:cNvPr>
          <p:cNvSpPr>
            <a:spLocks xmlns:a="http://schemas.openxmlformats.org/drawingml/2006/main" noGrp="1"/>
          </p:cNvSpPr>
          <p:nvPr/>
        </p:nvSpPr>
        <p:spPr>
          <a:xfrm xmlns:a="http://schemas.openxmlformats.org/drawingml/2006/main">
            <a:off x="11144250" y="6276975"/>
            <a:ext cx="5238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6B7F90"/>
                </a:solidFill>
              </a:defRPr>
            </a:defPPr>
            <a:lvl1pPr>
              <a:defRPr sz="1350" b="0">
                <a:solidFill>
                  <a:srgbClr val="6B7F90"/>
                </a:solidFill>
              </a:defRPr>
            </a:lvl1pPr>
            <a:lvl2pPr>
              <a:defRPr sz="1350" b="0">
                <a:solidFill>
                  <a:srgbClr val="6B7F90"/>
                </a:solidFill>
              </a:defRPr>
            </a:lvl2pPr>
            <a:lvl3pPr>
              <a:defRPr sz="1350" b="0">
                <a:solidFill>
                  <a:srgbClr val="6B7F90"/>
                </a:solidFill>
              </a:defRPr>
            </a:lvl3pPr>
            <a:lvl4pPr>
              <a:defRPr sz="1350" b="0">
                <a:solidFill>
                  <a:srgbClr val="6B7F90"/>
                </a:solidFill>
              </a:defRPr>
            </a:lvl4pPr>
            <a:lvl5pPr>
              <a:defRPr sz="1350" b="0">
                <a:solidFill>
                  <a:srgbClr val="6B7F90"/>
                </a:solidFill>
              </a:defRPr>
            </a:lvl5pPr>
            <a:lvl6pPr>
              <a:defRPr sz="1350" b="0">
                <a:solidFill>
                  <a:srgbClr val="6B7F90"/>
                </a:solidFill>
              </a:defRPr>
            </a:lvl6pPr>
            <a:lvl7pPr>
              <a:defRPr sz="1350" b="0">
                <a:solidFill>
                  <a:srgbClr val="6B7F90"/>
                </a:solidFill>
              </a:defRPr>
            </a:lvl7pPr>
            <a:lvl8pPr>
              <a:defRPr sz="1350" b="0">
                <a:solidFill>
                  <a:srgbClr val="6B7F90"/>
                </a:solidFill>
              </a:defRPr>
            </a:lvl8pPr>
            <a:lvl9pPr>
              <a:defRPr sz="1350" b="0">
                <a:solidFill>
                  <a:srgbClr val="6B7F90"/>
                </a:solidFill>
              </a:defRPr>
            </a:lvl9pPr>
          </a:lstStyle>
          <a:p xmlns:a="http://schemas.openxmlformats.org/drawingml/2006/main">
            <a:pPr>
              <a:defRPr sz="1350" b="0">
                <a:solidFill>
                  <a:srgbClr val="6B7F90"/>
                </a:solidFill>
              </a:defRPr>
            </a:pPr>
            <a:r>
              <a:rPr sz="1350" b="0">
                <a:solidFill>
                  <a:srgbClr val="6B7F90"/>
                </a:solidFill>
              </a:rPr>
              <a:t>08</a:t>
            </a:r>
          </a:p>
        </p:txBody>
      </p:sp>
    </p:spTree>
    <p:extLst>
      <p:ext uri="{BB962C8B-B14F-4D97-AF65-F5344CB8AC3E}">
        <p14:creationId xmlns:p14="http://schemas.microsoft.com/office/powerpoint/2010/main" val="1560950914"/>
      </p:ext>
    </p:extLst>
  </p:cSld>
</p:sld>
</file>

<file path=ppt/slides/slide9.xml><?xml version="1.0" encoding="utf-8"?>
<p:sld xmlns:p="http://schemas.openxmlformats.org/presentationml/2006/main">
  <p:cSld>
    <p:bg>
      <p:bgPr>
        <a:solidFill xmlns:a="http://schemas.openxmlformats.org/drawingml/2006/main">
          <a:srgbClr val="FAFBFD"/>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6513862C-1431-4F9C-8171-0025C187E804}"/>
              </a:ext>
            </a:extLst>
          </p:cNvPr>
          <p:cNvSpPr>
            <a:spLocks xmlns:a="http://schemas.openxmlformats.org/drawingml/2006/main" noGrp="1"/>
          </p:cNvSpPr>
          <p:nvPr/>
        </p:nvSpPr>
        <p:spPr>
          <a:xfrm xmlns:a="http://schemas.openxmlformats.org/drawingml/2006/main">
            <a:off x="685800" y="495300"/>
            <a:ext cx="10858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150" b="1">
                <a:solidFill>
                  <a:srgbClr val="102B46"/>
                </a:solidFill>
              </a:defRPr>
            </a:defPPr>
            <a:lvl1pPr>
              <a:defRPr sz="3150" b="1">
                <a:solidFill>
                  <a:srgbClr val="102B46"/>
                </a:solidFill>
              </a:defRPr>
            </a:lvl1pPr>
            <a:lvl2pPr>
              <a:defRPr sz="3150" b="1">
                <a:solidFill>
                  <a:srgbClr val="102B46"/>
                </a:solidFill>
              </a:defRPr>
            </a:lvl2pPr>
            <a:lvl3pPr>
              <a:defRPr sz="3150" b="1">
                <a:solidFill>
                  <a:srgbClr val="102B46"/>
                </a:solidFill>
              </a:defRPr>
            </a:lvl3pPr>
            <a:lvl4pPr>
              <a:defRPr sz="3150" b="1">
                <a:solidFill>
                  <a:srgbClr val="102B46"/>
                </a:solidFill>
              </a:defRPr>
            </a:lvl4pPr>
            <a:lvl5pPr>
              <a:defRPr sz="3150" b="1">
                <a:solidFill>
                  <a:srgbClr val="102B46"/>
                </a:solidFill>
              </a:defRPr>
            </a:lvl5pPr>
            <a:lvl6pPr>
              <a:defRPr sz="3150" b="1">
                <a:solidFill>
                  <a:srgbClr val="102B46"/>
                </a:solidFill>
              </a:defRPr>
            </a:lvl6pPr>
            <a:lvl7pPr>
              <a:defRPr sz="3150" b="1">
                <a:solidFill>
                  <a:srgbClr val="102B46"/>
                </a:solidFill>
              </a:defRPr>
            </a:lvl7pPr>
            <a:lvl8pPr>
              <a:defRPr sz="3150" b="1">
                <a:solidFill>
                  <a:srgbClr val="102B46"/>
                </a:solidFill>
              </a:defRPr>
            </a:lvl8pPr>
            <a:lvl9pPr>
              <a:defRPr sz="3150" b="1">
                <a:solidFill>
                  <a:srgbClr val="102B46"/>
                </a:solidFill>
              </a:defRPr>
            </a:lvl9pPr>
          </a:lstStyle>
          <a:p xmlns:a="http://schemas.openxmlformats.org/drawingml/2006/main">
            <a:pPr>
              <a:defRPr sz="3150" b="1">
                <a:solidFill>
                  <a:srgbClr val="102B46"/>
                </a:solidFill>
              </a:defRPr>
            </a:pPr>
            <a:r>
              <a:rPr sz="3150" b="1">
                <a:solidFill>
                  <a:srgbClr val="102B46"/>
                </a:solidFill>
              </a:rPr>
              <a:t>値が正しくても組み合わせが正しいとは限らない</a:t>
            </a:r>
          </a:p>
        </p:txBody>
      </p:sp>
      <p:sp>
        <p:nvSpPr>
          <p:cNvPr id="3" name="">
            <a:extLst xmlns:a="http://schemas.openxmlformats.org/drawingml/2006/main">
              <a:ext uri="{FF2B5EF4-FFF2-40B4-BE49-F238E27FC236}">
                <a16:creationId xmlns:a16="http://schemas.microsoft.com/office/drawing/2014/main" id="{08525F47-8B34-4569-A4F1-27922D5B64D6}"/>
              </a:ext>
            </a:extLst>
          </p:cNvPr>
          <p:cNvSpPr>
            <a:spLocks xmlns:a="http://schemas.openxmlformats.org/drawingml/2006/main" noGrp="1"/>
          </p:cNvSpPr>
          <p:nvPr/>
        </p:nvSpPr>
        <p:spPr>
          <a:xfrm xmlns:a="http://schemas.openxmlformats.org/drawingml/2006/main">
            <a:off x="11144250" y="6276975"/>
            <a:ext cx="5238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6B7F90"/>
                </a:solidFill>
              </a:defRPr>
            </a:defPPr>
            <a:lvl1pPr>
              <a:defRPr sz="1350" b="0">
                <a:solidFill>
                  <a:srgbClr val="6B7F90"/>
                </a:solidFill>
              </a:defRPr>
            </a:lvl1pPr>
            <a:lvl2pPr>
              <a:defRPr sz="1350" b="0">
                <a:solidFill>
                  <a:srgbClr val="6B7F90"/>
                </a:solidFill>
              </a:defRPr>
            </a:lvl2pPr>
            <a:lvl3pPr>
              <a:defRPr sz="1350" b="0">
                <a:solidFill>
                  <a:srgbClr val="6B7F90"/>
                </a:solidFill>
              </a:defRPr>
            </a:lvl3pPr>
            <a:lvl4pPr>
              <a:defRPr sz="1350" b="0">
                <a:solidFill>
                  <a:srgbClr val="6B7F90"/>
                </a:solidFill>
              </a:defRPr>
            </a:lvl4pPr>
            <a:lvl5pPr>
              <a:defRPr sz="1350" b="0">
                <a:solidFill>
                  <a:srgbClr val="6B7F90"/>
                </a:solidFill>
              </a:defRPr>
            </a:lvl5pPr>
            <a:lvl6pPr>
              <a:defRPr sz="1350" b="0">
                <a:solidFill>
                  <a:srgbClr val="6B7F90"/>
                </a:solidFill>
              </a:defRPr>
            </a:lvl6pPr>
            <a:lvl7pPr>
              <a:defRPr sz="1350" b="0">
                <a:solidFill>
                  <a:srgbClr val="6B7F90"/>
                </a:solidFill>
              </a:defRPr>
            </a:lvl7pPr>
            <a:lvl8pPr>
              <a:defRPr sz="1350" b="0">
                <a:solidFill>
                  <a:srgbClr val="6B7F90"/>
                </a:solidFill>
              </a:defRPr>
            </a:lvl8pPr>
            <a:lvl9pPr>
              <a:defRPr sz="1350" b="0">
                <a:solidFill>
                  <a:srgbClr val="6B7F90"/>
                </a:solidFill>
              </a:defRPr>
            </a:lvl9pPr>
          </a:lstStyle>
          <a:p xmlns:a="http://schemas.openxmlformats.org/drawingml/2006/main">
            <a:pPr>
              <a:defRPr sz="1350" b="0">
                <a:solidFill>
                  <a:srgbClr val="6B7F90"/>
                </a:solidFill>
              </a:defRPr>
            </a:pPr>
            <a:r>
              <a:rPr sz="1350" b="0">
                <a:solidFill>
                  <a:srgbClr val="6B7F90"/>
                </a:solidFill>
              </a:rPr>
              <a:t>09</a:t>
            </a:r>
          </a:p>
        </p:txBody>
      </p:sp>
      <p:graphicFrame>
        <p:nvGraphicFramePr>
          <p:cNvPr id="4" name="">
            <a:extLst xmlns:a="http://schemas.openxmlformats.org/drawingml/2006/main">
              <a:ext uri="{FF2B5EF4-FFF2-40B4-BE49-F238E27FC236}">
                <a16:creationId xmlns:a16="http://schemas.microsoft.com/office/drawing/2014/main" id="{DA68DA00-8E52-49F2-A24A-436611C1DA28}"/>
              </a:ext>
            </a:extLst>
          </p:cNvPr>
          <p:cNvGraphicFramePr/>
          <p:nvPr/>
        </p:nvGraphicFramePr>
        <p:xfrm>
          <a:off xmlns:a="http://schemas.openxmlformats.org/drawingml/2006/main" x="723900" y="1714500"/>
          <a:ext xmlns:a="http://schemas.openxmlformats.org/drawingml/2006/main" cx="10744200" cy="3143250"/>
        </p:xfrm>
        <a:graphic xmlns:a="http://schemas.openxmlformats.org/drawingml/2006/main">
          <a:graphicData uri="http://schemas.openxmlformats.org/drawingml/2006/table">
            <a:tbl>
              <a:tblPr/>
              <a:tblGrid>
                <a:gridCol w="3524250"/>
                <a:gridCol w="1714500"/>
                <a:gridCol w="1714500"/>
                <a:gridCol w="3790950"/>
              </a:tblGrid>
              <a:tr h="785813">
                <a:tc>
                  <a:txBody>
                    <a:bodyPr/>
                    <a:lstStyle/>
                    <a:p>
                      <a:r>
                        <a:rPr sz="1800" b="1">
                          <a:solidFill>
                            <a:srgbClr val="FFFFFF"/>
                          </a:solidFill>
                        </a:rPr>
                        <a:t>行の種類</a:t>
                      </a:r>
                    </a:p>
                  </a:txBody>
                  <a:tcPr marL="91440" marR="91440" marT="45720" marB="45720">
                    <a:lnL w="9525">
                      <a:solidFill>
                        <a:srgbClr val="D7E1E8"/>
                      </a:solidFill>
                      <a:prstDash val="solid"/>
                    </a:lnL>
                    <a:lnR w="9525">
                      <a:solidFill>
                        <a:srgbClr val="D7E1E8"/>
                      </a:solidFill>
                      <a:prstDash val="solid"/>
                    </a:lnR>
                    <a:lnT w="9525">
                      <a:solidFill>
                        <a:srgbClr val="D7E1E8"/>
                      </a:solidFill>
                      <a:prstDash val="solid"/>
                    </a:lnT>
                    <a:lnB w="9525">
                      <a:solidFill>
                        <a:srgbClr val="D7E1E8"/>
                      </a:solidFill>
                      <a:prstDash val="solid"/>
                    </a:lnB>
                    <a:solidFill>
                      <a:srgbClr val="102B46"/>
                    </a:solidFill>
                  </a:tcPr>
                </a:tc>
                <a:tc>
                  <a:txBody>
                    <a:bodyPr/>
                    <a:lstStyle/>
                    <a:p>
                      <a:r>
                        <a:rPr sz="1800" b="1">
                          <a:solidFill>
                            <a:srgbClr val="FFFFFF"/>
                          </a:solidFill>
                        </a:rPr>
                        <a:t>x₁</a:t>
                      </a:r>
                    </a:p>
                  </a:txBody>
                  <a:tcPr marL="91440" marR="91440" marT="45720" marB="45720">
                    <a:lnR w="9525">
                      <a:solidFill>
                        <a:srgbClr val="D7E1E8"/>
                      </a:solidFill>
                      <a:prstDash val="solid"/>
                    </a:lnR>
                    <a:lnT w="9525">
                      <a:solidFill>
                        <a:srgbClr val="D7E1E8"/>
                      </a:solidFill>
                      <a:prstDash val="solid"/>
                    </a:lnT>
                    <a:lnB w="9525">
                      <a:solidFill>
                        <a:srgbClr val="D7E1E8"/>
                      </a:solidFill>
                      <a:prstDash val="solid"/>
                    </a:lnB>
                    <a:solidFill>
                      <a:srgbClr val="102B46"/>
                    </a:solidFill>
                  </a:tcPr>
                </a:tc>
                <a:tc>
                  <a:txBody>
                    <a:bodyPr/>
                    <a:lstStyle/>
                    <a:p>
                      <a:r>
                        <a:rPr sz="1800" b="1">
                          <a:solidFill>
                            <a:srgbClr val="FFFFFF"/>
                          </a:solidFill>
                        </a:rPr>
                        <a:t>x₂</a:t>
                      </a:r>
                    </a:p>
                  </a:txBody>
                  <a:tcPr marL="91440" marR="91440" marT="45720" marB="45720">
                    <a:lnR w="9525">
                      <a:solidFill>
                        <a:srgbClr val="D7E1E8"/>
                      </a:solidFill>
                      <a:prstDash val="solid"/>
                    </a:lnR>
                    <a:lnT w="9525">
                      <a:solidFill>
                        <a:srgbClr val="D7E1E8"/>
                      </a:solidFill>
                      <a:prstDash val="solid"/>
                    </a:lnT>
                    <a:lnB w="9525">
                      <a:solidFill>
                        <a:srgbClr val="D7E1E8"/>
                      </a:solidFill>
                      <a:prstDash val="solid"/>
                    </a:lnB>
                    <a:solidFill>
                      <a:srgbClr val="102B46"/>
                    </a:solidFill>
                  </a:tcPr>
                </a:tc>
                <a:tc>
                  <a:txBody>
                    <a:bodyPr/>
                    <a:lstStyle/>
                    <a:p>
                      <a:r>
                        <a:rPr sz="1800" b="1">
                          <a:solidFill>
                            <a:srgbClr val="FFFFFF"/>
                          </a:solidFill>
                        </a:rPr>
                        <a:t>x₂ = x₁</a:t>
                      </a:r>
                    </a:p>
                  </a:txBody>
                  <a:tcPr marL="91440" marR="91440" marT="45720" marB="45720">
                    <a:lnR w="9525">
                      <a:solidFill>
                        <a:srgbClr val="D7E1E8"/>
                      </a:solidFill>
                      <a:prstDash val="solid"/>
                    </a:lnR>
                    <a:lnT w="9525">
                      <a:solidFill>
                        <a:srgbClr val="D7E1E8"/>
                      </a:solidFill>
                      <a:prstDash val="solid"/>
                    </a:lnT>
                    <a:lnB w="9525">
                      <a:solidFill>
                        <a:srgbClr val="D7E1E8"/>
                      </a:solidFill>
                      <a:prstDash val="solid"/>
                    </a:lnB>
                    <a:solidFill>
                      <a:srgbClr val="102B46"/>
                    </a:solidFill>
                  </a:tcPr>
                </a:tc>
              </a:tr>
              <a:tr h="785813">
                <a:tc>
                  <a:txBody>
                    <a:bodyPr/>
                    <a:lstStyle/>
                    <a:p>
                      <a:r>
                        <a:rPr sz="1800" b="0">
                          <a:solidFill>
                            <a:srgbClr val="172B4D"/>
                          </a:solidFill>
                        </a:rPr>
                        <a:t>元の観測例</a:t>
                      </a:r>
                    </a:p>
                  </a:txBody>
                  <a:tcPr marL="91440" marR="91440" marT="45720" marB="45720">
                    <a:lnL w="9525">
                      <a:solidFill>
                        <a:srgbClr val="D7E1E8"/>
                      </a:solidFill>
                      <a:prstDash val="solid"/>
                    </a:lnL>
                    <a:lnR w="9525">
                      <a:solidFill>
                        <a:srgbClr val="D7E1E8"/>
                      </a:solidFill>
                      <a:prstDash val="solid"/>
                    </a:lnR>
                    <a:lnB w="9525">
                      <a:solidFill>
                        <a:srgbClr val="D7E1E8"/>
                      </a:solidFill>
                      <a:prstDash val="solid"/>
                    </a:lnB>
                    <a:solidFill>
                      <a:srgbClr val="EDF3F7"/>
                    </a:solidFill>
                  </a:tcPr>
                </a:tc>
                <a:tc>
                  <a:txBody>
                    <a:bodyPr/>
                    <a:lstStyle/>
                    <a:p>
                      <a:r>
                        <a:rPr sz="1800" b="0">
                          <a:solidFill>
                            <a:srgbClr val="172B4D"/>
                          </a:solidFill>
                        </a:rPr>
                        <a:t>1</a:t>
                      </a:r>
                    </a:p>
                  </a:txBody>
                  <a:tcPr marL="91440" marR="91440" marT="45720" marB="45720">
                    <a:lnR w="9525">
                      <a:solidFill>
                        <a:srgbClr val="D7E1E8"/>
                      </a:solidFill>
                      <a:prstDash val="solid"/>
                    </a:lnR>
                    <a:lnB w="9525">
                      <a:solidFill>
                        <a:srgbClr val="D7E1E8"/>
                      </a:solidFill>
                      <a:prstDash val="solid"/>
                    </a:lnB>
                    <a:solidFill>
                      <a:srgbClr val="EDF3F7"/>
                    </a:solidFill>
                  </a:tcPr>
                </a:tc>
                <a:tc>
                  <a:txBody>
                    <a:bodyPr/>
                    <a:lstStyle/>
                    <a:p>
                      <a:r>
                        <a:rPr sz="1800" b="0">
                          <a:solidFill>
                            <a:srgbClr val="172B4D"/>
                          </a:solidFill>
                        </a:rPr>
                        <a:t>1</a:t>
                      </a:r>
                    </a:p>
                  </a:txBody>
                  <a:tcPr marL="91440" marR="91440" marT="45720" marB="45720">
                    <a:lnR w="9525">
                      <a:solidFill>
                        <a:srgbClr val="D7E1E8"/>
                      </a:solidFill>
                      <a:prstDash val="solid"/>
                    </a:lnR>
                    <a:lnB w="9525">
                      <a:solidFill>
                        <a:srgbClr val="D7E1E8"/>
                      </a:solidFill>
                      <a:prstDash val="solid"/>
                    </a:lnB>
                    <a:solidFill>
                      <a:srgbClr val="EDF3F7"/>
                    </a:solidFill>
                  </a:tcPr>
                </a:tc>
                <a:tc>
                  <a:txBody>
                    <a:bodyPr/>
                    <a:lstStyle/>
                    <a:p>
                      <a:r>
                        <a:rPr sz="1800" b="0">
                          <a:solidFill>
                            <a:srgbClr val="172B4D"/>
                          </a:solidFill>
                        </a:rPr>
                        <a:t>満たす</a:t>
                      </a:r>
                    </a:p>
                  </a:txBody>
                  <a:tcPr marL="91440" marR="91440" marT="45720" marB="45720">
                    <a:lnR w="9525">
                      <a:solidFill>
                        <a:srgbClr val="D7E1E8"/>
                      </a:solidFill>
                      <a:prstDash val="solid"/>
                    </a:lnR>
                    <a:lnB w="9525">
                      <a:solidFill>
                        <a:srgbClr val="D7E1E8"/>
                      </a:solidFill>
                      <a:prstDash val="solid"/>
                    </a:lnB>
                    <a:solidFill>
                      <a:srgbClr val="EDF3F7"/>
                    </a:solidFill>
                  </a:tcPr>
                </a:tc>
              </a:tr>
              <a:tr h="785813">
                <a:tc>
                  <a:txBody>
                    <a:bodyPr/>
                    <a:lstStyle/>
                    <a:p>
                      <a:r>
                        <a:rPr sz="1800" b="0">
                          <a:solidFill>
                            <a:srgbClr val="172B4D"/>
                          </a:solidFill>
                        </a:rPr>
                        <a:t>元の観測例</a:t>
                      </a:r>
                    </a:p>
                  </a:txBody>
                  <a:tcPr marL="91440" marR="91440" marT="45720" marB="45720">
                    <a:lnL w="9525">
                      <a:solidFill>
                        <a:srgbClr val="D7E1E8"/>
                      </a:solidFill>
                      <a:prstDash val="solid"/>
                    </a:lnL>
                    <a:lnR w="9525">
                      <a:solidFill>
                        <a:srgbClr val="D7E1E8"/>
                      </a:solidFill>
                      <a:prstDash val="solid"/>
                    </a:lnR>
                    <a:lnB w="9525">
                      <a:solidFill>
                        <a:srgbClr val="D7E1E8"/>
                      </a:solidFill>
                      <a:prstDash val="solid"/>
                    </a:lnB>
                    <a:solidFill>
                      <a:srgbClr val="FFFFFF"/>
                    </a:solidFill>
                  </a:tcPr>
                </a:tc>
                <a:tc>
                  <a:txBody>
                    <a:bodyPr/>
                    <a:lstStyle/>
                    <a:p>
                      <a:r>
                        <a:rPr sz="1800" b="0">
                          <a:solidFill>
                            <a:srgbClr val="172B4D"/>
                          </a:solidFill>
                        </a:rPr>
                        <a:t>3</a:t>
                      </a:r>
                    </a:p>
                  </a:txBody>
                  <a:tcPr marL="91440" marR="91440" marT="45720" marB="45720">
                    <a:lnR w="9525">
                      <a:solidFill>
                        <a:srgbClr val="D7E1E8"/>
                      </a:solidFill>
                      <a:prstDash val="solid"/>
                    </a:lnR>
                    <a:lnB w="9525">
                      <a:solidFill>
                        <a:srgbClr val="D7E1E8"/>
                      </a:solidFill>
                      <a:prstDash val="solid"/>
                    </a:lnB>
                    <a:solidFill>
                      <a:srgbClr val="FFFFFF"/>
                    </a:solidFill>
                  </a:tcPr>
                </a:tc>
                <a:tc>
                  <a:txBody>
                    <a:bodyPr/>
                    <a:lstStyle/>
                    <a:p>
                      <a:r>
                        <a:rPr sz="1800" b="0">
                          <a:solidFill>
                            <a:srgbClr val="172B4D"/>
                          </a:solidFill>
                        </a:rPr>
                        <a:t>3</a:t>
                      </a:r>
                    </a:p>
                  </a:txBody>
                  <a:tcPr marL="91440" marR="91440" marT="45720" marB="45720">
                    <a:lnR w="9525">
                      <a:solidFill>
                        <a:srgbClr val="D7E1E8"/>
                      </a:solidFill>
                      <a:prstDash val="solid"/>
                    </a:lnR>
                    <a:lnB w="9525">
                      <a:solidFill>
                        <a:srgbClr val="D7E1E8"/>
                      </a:solidFill>
                      <a:prstDash val="solid"/>
                    </a:lnB>
                    <a:solidFill>
                      <a:srgbClr val="FFFFFF"/>
                    </a:solidFill>
                  </a:tcPr>
                </a:tc>
                <a:tc>
                  <a:txBody>
                    <a:bodyPr/>
                    <a:lstStyle/>
                    <a:p>
                      <a:r>
                        <a:rPr sz="1800" b="0">
                          <a:solidFill>
                            <a:srgbClr val="172B4D"/>
                          </a:solidFill>
                        </a:rPr>
                        <a:t>満たす</a:t>
                      </a:r>
                    </a:p>
                  </a:txBody>
                  <a:tcPr marL="91440" marR="91440" marT="45720" marB="45720">
                    <a:lnR w="9525">
                      <a:solidFill>
                        <a:srgbClr val="D7E1E8"/>
                      </a:solidFill>
                      <a:prstDash val="solid"/>
                    </a:lnR>
                    <a:lnB w="9525">
                      <a:solidFill>
                        <a:srgbClr val="D7E1E8"/>
                      </a:solidFill>
                      <a:prstDash val="solid"/>
                    </a:lnB>
                    <a:solidFill>
                      <a:srgbClr val="FFFFFF"/>
                    </a:solidFill>
                  </a:tcPr>
                </a:tc>
              </a:tr>
              <a:tr h="785813">
                <a:tc>
                  <a:txBody>
                    <a:bodyPr/>
                    <a:lstStyle/>
                    <a:p>
                      <a:r>
                        <a:rPr sz="1800" b="0">
                          <a:solidFill>
                            <a:srgbClr val="172B4D"/>
                          </a:solidFill>
                        </a:rPr>
                        <a:t>列を組み替えた例</a:t>
                      </a:r>
                    </a:p>
                  </a:txBody>
                  <a:tcPr marL="91440" marR="91440" marT="45720" marB="45720">
                    <a:lnL w="9525">
                      <a:solidFill>
                        <a:srgbClr val="D7E1E8"/>
                      </a:solidFill>
                      <a:prstDash val="solid"/>
                    </a:lnL>
                    <a:lnR w="9525">
                      <a:solidFill>
                        <a:srgbClr val="D7E1E8"/>
                      </a:solidFill>
                      <a:prstDash val="solid"/>
                    </a:lnR>
                    <a:lnB w="9525">
                      <a:solidFill>
                        <a:srgbClr val="D7E1E8"/>
                      </a:solidFill>
                      <a:prstDash val="solid"/>
                    </a:lnB>
                    <a:solidFill>
                      <a:srgbClr val="EDF3F7"/>
                    </a:solidFill>
                  </a:tcPr>
                </a:tc>
                <a:tc>
                  <a:txBody>
                    <a:bodyPr/>
                    <a:lstStyle/>
                    <a:p>
                      <a:r>
                        <a:rPr sz="1800" b="0">
                          <a:solidFill>
                            <a:srgbClr val="172B4D"/>
                          </a:solidFill>
                        </a:rPr>
                        <a:t>1</a:t>
                      </a:r>
                    </a:p>
                  </a:txBody>
                  <a:tcPr marL="91440" marR="91440" marT="45720" marB="45720">
                    <a:lnR w="9525">
                      <a:solidFill>
                        <a:srgbClr val="D7E1E8"/>
                      </a:solidFill>
                      <a:prstDash val="solid"/>
                    </a:lnR>
                    <a:lnB w="9525">
                      <a:solidFill>
                        <a:srgbClr val="D7E1E8"/>
                      </a:solidFill>
                      <a:prstDash val="solid"/>
                    </a:lnB>
                    <a:solidFill>
                      <a:srgbClr val="EDF3F7"/>
                    </a:solidFill>
                  </a:tcPr>
                </a:tc>
                <a:tc>
                  <a:txBody>
                    <a:bodyPr/>
                    <a:lstStyle/>
                    <a:p>
                      <a:r>
                        <a:rPr sz="1800" b="0">
                          <a:solidFill>
                            <a:srgbClr val="172B4D"/>
                          </a:solidFill>
                        </a:rPr>
                        <a:t>3</a:t>
                      </a:r>
                    </a:p>
                  </a:txBody>
                  <a:tcPr marL="91440" marR="91440" marT="45720" marB="45720">
                    <a:lnR w="9525">
                      <a:solidFill>
                        <a:srgbClr val="D7E1E8"/>
                      </a:solidFill>
                      <a:prstDash val="solid"/>
                    </a:lnR>
                    <a:lnB w="9525">
                      <a:solidFill>
                        <a:srgbClr val="D7E1E8"/>
                      </a:solidFill>
                      <a:prstDash val="solid"/>
                    </a:lnB>
                    <a:solidFill>
                      <a:srgbClr val="EDF3F7"/>
                    </a:solidFill>
                  </a:tcPr>
                </a:tc>
                <a:tc>
                  <a:txBody>
                    <a:bodyPr/>
                    <a:lstStyle/>
                    <a:p>
                      <a:r>
                        <a:rPr sz="1800" b="0">
                          <a:solidFill>
                            <a:srgbClr val="172B4D"/>
                          </a:solidFill>
                        </a:rPr>
                        <a:t>満たさない</a:t>
                      </a:r>
                    </a:p>
                  </a:txBody>
                  <a:tcPr marL="91440" marR="91440" marT="45720" marB="45720">
                    <a:lnR w="9525">
                      <a:solidFill>
                        <a:srgbClr val="D7E1E8"/>
                      </a:solidFill>
                      <a:prstDash val="solid"/>
                    </a:lnR>
                    <a:lnB w="9525">
                      <a:solidFill>
                        <a:srgbClr val="D7E1E8"/>
                      </a:solidFill>
                      <a:prstDash val="solid"/>
                    </a:lnB>
                    <a:solidFill>
                      <a:srgbClr val="EDF3F7"/>
                    </a:solidFill>
                  </a:tcPr>
                </a:tc>
              </a:tr>
            </a:tbl>
          </a:graphicData>
        </a:graphic>
      </p:graphicFrame>
      <p:sp>
        <p:nvSpPr>
          <p:cNvPr id="5" name="">
            <a:extLst xmlns:a="http://schemas.openxmlformats.org/drawingml/2006/main">
              <a:ext uri="{FF2B5EF4-FFF2-40B4-BE49-F238E27FC236}">
                <a16:creationId xmlns:a16="http://schemas.microsoft.com/office/drawing/2014/main" id="{16AC16DE-9A41-42F9-A5AE-CCC66A27517D}"/>
              </a:ext>
            </a:extLst>
          </p:cNvPr>
          <p:cNvSpPr>
            <a:spLocks xmlns:a="http://schemas.openxmlformats.org/drawingml/2006/main" noGrp="1"/>
          </p:cNvSpPr>
          <p:nvPr/>
        </p:nvSpPr>
        <p:spPr>
          <a:xfrm xmlns:a="http://schemas.openxmlformats.org/drawingml/2006/main">
            <a:off x="762000" y="5334000"/>
            <a:ext cx="10668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336C81"/>
                </a:solidFill>
              </a:defRPr>
            </a:defPPr>
            <a:lvl1pPr>
              <a:defRPr sz="2100" b="0">
                <a:solidFill>
                  <a:srgbClr val="336C81"/>
                </a:solidFill>
              </a:defRPr>
            </a:lvl1pPr>
            <a:lvl2pPr>
              <a:defRPr sz="2100" b="0">
                <a:solidFill>
                  <a:srgbClr val="336C81"/>
                </a:solidFill>
              </a:defRPr>
            </a:lvl2pPr>
            <a:lvl3pPr>
              <a:defRPr sz="2100" b="0">
                <a:solidFill>
                  <a:srgbClr val="336C81"/>
                </a:solidFill>
              </a:defRPr>
            </a:lvl3pPr>
            <a:lvl4pPr>
              <a:defRPr sz="2100" b="0">
                <a:solidFill>
                  <a:srgbClr val="336C81"/>
                </a:solidFill>
              </a:defRPr>
            </a:lvl4pPr>
            <a:lvl5pPr>
              <a:defRPr sz="2100" b="0">
                <a:solidFill>
                  <a:srgbClr val="336C81"/>
                </a:solidFill>
              </a:defRPr>
            </a:lvl5pPr>
            <a:lvl6pPr>
              <a:defRPr sz="2100" b="0">
                <a:solidFill>
                  <a:srgbClr val="336C81"/>
                </a:solidFill>
              </a:defRPr>
            </a:lvl6pPr>
            <a:lvl7pPr>
              <a:defRPr sz="2100" b="0">
                <a:solidFill>
                  <a:srgbClr val="336C81"/>
                </a:solidFill>
              </a:defRPr>
            </a:lvl7pPr>
            <a:lvl8pPr>
              <a:defRPr sz="2100" b="0">
                <a:solidFill>
                  <a:srgbClr val="336C81"/>
                </a:solidFill>
              </a:defRPr>
            </a:lvl8pPr>
            <a:lvl9pPr>
              <a:defRPr sz="2100" b="0">
                <a:solidFill>
                  <a:srgbClr val="336C81"/>
                </a:solidFill>
              </a:defRPr>
            </a:lvl9pPr>
          </a:lstStyle>
          <a:p xmlns:a="http://schemas.openxmlformats.org/drawingml/2006/main">
            <a:pPr>
              <a:defRPr sz="2100" b="0">
                <a:solidFill>
                  <a:srgbClr val="336C81"/>
                </a:solidFill>
              </a:defRPr>
            </a:pPr>
            <a:r>
              <a:rPr sz="2100" b="0">
                <a:solidFill>
                  <a:srgbClr val="336C81"/>
                </a:solidFill>
              </a:rPr>
              <a:t>各列の値が実在しても、特徴間の関係は保たれるとは限らない</a:t>
            </a:r>
          </a:p>
        </p:txBody>
      </p:sp>
    </p:spTree>
    <p:extLst>
      <p:ext uri="{BB962C8B-B14F-4D97-AF65-F5344CB8AC3E}">
        <p14:creationId xmlns:p14="http://schemas.microsoft.com/office/powerpoint/2010/main" val="486190564"/>
      </p:ext>
    </p:extLst>
  </p:cSld>
</p:sld>
</file>

<file path=ppt/slides/slide10.xml><?xml version="1.0" encoding="utf-8"?>
<p:sld xmlns:p="http://schemas.openxmlformats.org/presentationml/2006/main">
  <p:cSld>
    <p:bg>
      <p:bgPr>
        <a:solidFill xmlns:a="http://schemas.openxmlformats.org/drawingml/2006/main">
          <a:srgbClr val="FAFBFD"/>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D1CF0E9E-2C15-4F47-B7F9-6F2B02259513}"/>
              </a:ext>
            </a:extLst>
          </p:cNvPr>
          <p:cNvSpPr>
            <a:spLocks xmlns:a="http://schemas.openxmlformats.org/drawingml/2006/main" noGrp="1"/>
          </p:cNvSpPr>
          <p:nvPr/>
        </p:nvSpPr>
        <p:spPr>
          <a:xfrm xmlns:a="http://schemas.openxmlformats.org/drawingml/2006/main">
            <a:off x="685800" y="495300"/>
            <a:ext cx="10858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150" b="1">
                <a:solidFill>
                  <a:srgbClr val="102B46"/>
                </a:solidFill>
              </a:defRPr>
            </a:defPPr>
            <a:lvl1pPr>
              <a:defRPr sz="3150" b="1">
                <a:solidFill>
                  <a:srgbClr val="102B46"/>
                </a:solidFill>
              </a:defRPr>
            </a:lvl1pPr>
            <a:lvl2pPr>
              <a:defRPr sz="3150" b="1">
                <a:solidFill>
                  <a:srgbClr val="102B46"/>
                </a:solidFill>
              </a:defRPr>
            </a:lvl2pPr>
            <a:lvl3pPr>
              <a:defRPr sz="3150" b="1">
                <a:solidFill>
                  <a:srgbClr val="102B46"/>
                </a:solidFill>
              </a:defRPr>
            </a:lvl3pPr>
            <a:lvl4pPr>
              <a:defRPr sz="3150" b="1">
                <a:solidFill>
                  <a:srgbClr val="102B46"/>
                </a:solidFill>
              </a:defRPr>
            </a:lvl4pPr>
            <a:lvl5pPr>
              <a:defRPr sz="3150" b="1">
                <a:solidFill>
                  <a:srgbClr val="102B46"/>
                </a:solidFill>
              </a:defRPr>
            </a:lvl5pPr>
            <a:lvl6pPr>
              <a:defRPr sz="3150" b="1">
                <a:solidFill>
                  <a:srgbClr val="102B46"/>
                </a:solidFill>
              </a:defRPr>
            </a:lvl6pPr>
            <a:lvl7pPr>
              <a:defRPr sz="3150" b="1">
                <a:solidFill>
                  <a:srgbClr val="102B46"/>
                </a:solidFill>
              </a:defRPr>
            </a:lvl7pPr>
            <a:lvl8pPr>
              <a:defRPr sz="3150" b="1">
                <a:solidFill>
                  <a:srgbClr val="102B46"/>
                </a:solidFill>
              </a:defRPr>
            </a:lvl8pPr>
            <a:lvl9pPr>
              <a:defRPr sz="3150" b="1">
                <a:solidFill>
                  <a:srgbClr val="102B46"/>
                </a:solidFill>
              </a:defRPr>
            </a:lvl9pPr>
          </a:lstStyle>
          <a:p xmlns:a="http://schemas.openxmlformats.org/drawingml/2006/main">
            <a:pPr>
              <a:defRPr sz="3150" b="1">
                <a:solidFill>
                  <a:srgbClr val="102B46"/>
                </a:solidFill>
              </a:defRPr>
            </a:pPr>
            <a:r>
              <a:rPr sz="3150" b="1">
                <a:solidFill>
                  <a:srgbClr val="102B46"/>
                </a:solidFill>
              </a:rPr>
              <a:t>コピュラは周辺分布と依存関係を分けて扱う</a:t>
            </a:r>
          </a:p>
        </p:txBody>
      </p:sp>
      <p:sp>
        <p:nvSpPr>
          <p:cNvPr id="3" name="">
            <a:extLst xmlns:a="http://schemas.openxmlformats.org/drawingml/2006/main">
              <a:ext uri="{FF2B5EF4-FFF2-40B4-BE49-F238E27FC236}">
                <a16:creationId xmlns:a16="http://schemas.microsoft.com/office/drawing/2014/main" id="{D443D4CF-5BC4-492C-9451-8387F6F183F4}"/>
              </a:ext>
            </a:extLst>
          </p:cNvPr>
          <p:cNvSpPr>
            <a:spLocks xmlns:a="http://schemas.openxmlformats.org/drawingml/2006/main" noGrp="1"/>
          </p:cNvSpPr>
          <p:nvPr/>
        </p:nvSpPr>
        <p:spPr>
          <a:xfrm xmlns:a="http://schemas.openxmlformats.org/drawingml/2006/main">
            <a:off x="723900" y="1952625"/>
            <a:ext cx="1066800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625" b="1">
                <a:solidFill>
                  <a:srgbClr val="172B4D"/>
                </a:solidFill>
              </a:defRPr>
            </a:defPPr>
            <a:lvl1pPr>
              <a:defRPr sz="2625" b="1">
                <a:solidFill>
                  <a:srgbClr val="172B4D"/>
                </a:solidFill>
              </a:defRPr>
            </a:lvl1pPr>
            <a:lvl2pPr>
              <a:defRPr sz="2625" b="1">
                <a:solidFill>
                  <a:srgbClr val="172B4D"/>
                </a:solidFill>
              </a:defRPr>
            </a:lvl2pPr>
            <a:lvl3pPr>
              <a:defRPr sz="2625" b="1">
                <a:solidFill>
                  <a:srgbClr val="172B4D"/>
                </a:solidFill>
              </a:defRPr>
            </a:lvl3pPr>
            <a:lvl4pPr>
              <a:defRPr sz="2625" b="1">
                <a:solidFill>
                  <a:srgbClr val="172B4D"/>
                </a:solidFill>
              </a:defRPr>
            </a:lvl4pPr>
            <a:lvl5pPr>
              <a:defRPr sz="2625" b="1">
                <a:solidFill>
                  <a:srgbClr val="172B4D"/>
                </a:solidFill>
              </a:defRPr>
            </a:lvl5pPr>
            <a:lvl6pPr>
              <a:defRPr sz="2625" b="1">
                <a:solidFill>
                  <a:srgbClr val="172B4D"/>
                </a:solidFill>
              </a:defRPr>
            </a:lvl6pPr>
            <a:lvl7pPr>
              <a:defRPr sz="2625" b="1">
                <a:solidFill>
                  <a:srgbClr val="172B4D"/>
                </a:solidFill>
              </a:defRPr>
            </a:lvl7pPr>
            <a:lvl8pPr>
              <a:defRPr sz="2625" b="1">
                <a:solidFill>
                  <a:srgbClr val="172B4D"/>
                </a:solidFill>
              </a:defRPr>
            </a:lvl8pPr>
            <a:lvl9pPr>
              <a:defRPr sz="2625" b="1">
                <a:solidFill>
                  <a:srgbClr val="172B4D"/>
                </a:solidFill>
              </a:defRPr>
            </a:lvl9pPr>
          </a:lstStyle>
          <a:p xmlns:a="http://schemas.openxmlformats.org/drawingml/2006/main">
            <a:pPr>
              <a:defRPr sz="2625" b="1">
                <a:solidFill>
                  <a:srgbClr val="172B4D"/>
                </a:solidFill>
              </a:defRPr>
            </a:pPr>
            <a:r>
              <a:rPr sz="2625" b="1">
                <a:solidFill>
                  <a:srgbClr val="172B4D"/>
                </a:solidFill>
              </a:rPr>
              <a:t>各列を順位から正規空間へ変換し、</a:t>
            </a:r>
          </a:p>
          <a:p xmlns:a="http://schemas.openxmlformats.org/drawingml/2006/main">
            <a:pPr>
              <a:defRPr sz="2625" b="1">
                <a:solidFill>
                  <a:srgbClr val="172B4D"/>
                </a:solidFill>
              </a:defRPr>
            </a:pPr>
            <a:r>
              <a:rPr sz="2625" b="1">
                <a:solidFill>
                  <a:srgbClr val="172B4D"/>
                </a:solidFill>
              </a:rPr>
              <a:t>変換後の相関を使って一緒に生成する</a:t>
            </a:r>
          </a:p>
        </p:txBody>
      </p:sp>
      <p:sp>
        <p:nvSpPr>
          <p:cNvPr id="4" name="">
            <a:extLst xmlns:a="http://schemas.openxmlformats.org/drawingml/2006/main">
              <a:ext uri="{FF2B5EF4-FFF2-40B4-BE49-F238E27FC236}">
                <a16:creationId xmlns:a16="http://schemas.microsoft.com/office/drawing/2014/main" id="{80353367-1C04-4DBB-9CD7-D565435C3837}"/>
              </a:ext>
            </a:extLst>
          </p:cNvPr>
          <p:cNvSpPr>
            <a:spLocks xmlns:a="http://schemas.openxmlformats.org/drawingml/2006/main" noGrp="1"/>
          </p:cNvSpPr>
          <p:nvPr/>
        </p:nvSpPr>
        <p:spPr>
          <a:xfrm xmlns:a="http://schemas.openxmlformats.org/drawingml/2006/main">
            <a:off x="723900" y="3943350"/>
            <a:ext cx="10668000" cy="1562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0">
                <a:solidFill>
                  <a:srgbClr val="336C81"/>
                </a:solidFill>
              </a:defRPr>
            </a:defPPr>
            <a:lvl1pPr>
              <a:defRPr sz="2250" b="0">
                <a:solidFill>
                  <a:srgbClr val="336C81"/>
                </a:solidFill>
              </a:defRPr>
            </a:lvl1pPr>
            <a:lvl2pPr>
              <a:defRPr sz="2250" b="0">
                <a:solidFill>
                  <a:srgbClr val="336C81"/>
                </a:solidFill>
              </a:defRPr>
            </a:lvl2pPr>
            <a:lvl3pPr>
              <a:defRPr sz="2250" b="0">
                <a:solidFill>
                  <a:srgbClr val="336C81"/>
                </a:solidFill>
              </a:defRPr>
            </a:lvl3pPr>
            <a:lvl4pPr>
              <a:defRPr sz="2250" b="0">
                <a:solidFill>
                  <a:srgbClr val="336C81"/>
                </a:solidFill>
              </a:defRPr>
            </a:lvl4pPr>
            <a:lvl5pPr>
              <a:defRPr sz="2250" b="0">
                <a:solidFill>
                  <a:srgbClr val="336C81"/>
                </a:solidFill>
              </a:defRPr>
            </a:lvl5pPr>
            <a:lvl6pPr>
              <a:defRPr sz="2250" b="0">
                <a:solidFill>
                  <a:srgbClr val="336C81"/>
                </a:solidFill>
              </a:defRPr>
            </a:lvl6pPr>
            <a:lvl7pPr>
              <a:defRPr sz="2250" b="0">
                <a:solidFill>
                  <a:srgbClr val="336C81"/>
                </a:solidFill>
              </a:defRPr>
            </a:lvl7pPr>
            <a:lvl8pPr>
              <a:defRPr sz="2250" b="0">
                <a:solidFill>
                  <a:srgbClr val="336C81"/>
                </a:solidFill>
              </a:defRPr>
            </a:lvl8pPr>
            <a:lvl9pPr>
              <a:defRPr sz="2250" b="0">
                <a:solidFill>
                  <a:srgbClr val="336C81"/>
                </a:solidFill>
              </a:defRPr>
            </a:lvl9pPr>
          </a:lstStyle>
          <a:p xmlns:a="http://schemas.openxmlformats.org/drawingml/2006/main">
            <a:pPr>
              <a:defRPr sz="2250" b="0">
                <a:solidFill>
                  <a:srgbClr val="336C81"/>
                </a:solidFill>
              </a:defRPr>
            </a:pPr>
            <a:r>
              <a:rPr sz="2250" b="0">
                <a:solidFill>
                  <a:srgbClr val="336C81"/>
                </a:solidFill>
              </a:rPr>
              <a:t>列を独立に選ぶ代わりに、</a:t>
            </a:r>
          </a:p>
          <a:p xmlns:a="http://schemas.openxmlformats.org/drawingml/2006/main">
            <a:pPr>
              <a:defRPr sz="2250" b="0">
                <a:solidFill>
                  <a:srgbClr val="336C81"/>
                </a:solidFill>
              </a:defRPr>
            </a:pPr>
            <a:r>
              <a:rPr sz="2250" b="0">
                <a:solidFill>
                  <a:srgbClr val="336C81"/>
                </a:solidFill>
              </a:rPr>
              <a:t>推定した依存関係に従って組み合わせる</a:t>
            </a:r>
          </a:p>
        </p:txBody>
      </p:sp>
      <p:sp>
        <p:nvSpPr>
          <p:cNvPr id="5" name="">
            <a:extLst xmlns:a="http://schemas.openxmlformats.org/drawingml/2006/main">
              <a:ext uri="{FF2B5EF4-FFF2-40B4-BE49-F238E27FC236}">
                <a16:creationId xmlns:a16="http://schemas.microsoft.com/office/drawing/2014/main" id="{AE66A853-0489-452E-ADD3-2C2C7F77A4E0}"/>
              </a:ext>
            </a:extLst>
          </p:cNvPr>
          <p:cNvSpPr>
            <a:spLocks xmlns:a="http://schemas.openxmlformats.org/drawingml/2006/main" noGrp="1"/>
          </p:cNvSpPr>
          <p:nvPr/>
        </p:nvSpPr>
        <p:spPr>
          <a:xfrm xmlns:a="http://schemas.openxmlformats.org/drawingml/2006/main">
            <a:off x="11144250" y="6276975"/>
            <a:ext cx="5238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6B7F90"/>
                </a:solidFill>
              </a:defRPr>
            </a:defPPr>
            <a:lvl1pPr>
              <a:defRPr sz="1350" b="0">
                <a:solidFill>
                  <a:srgbClr val="6B7F90"/>
                </a:solidFill>
              </a:defRPr>
            </a:lvl1pPr>
            <a:lvl2pPr>
              <a:defRPr sz="1350" b="0">
                <a:solidFill>
                  <a:srgbClr val="6B7F90"/>
                </a:solidFill>
              </a:defRPr>
            </a:lvl2pPr>
            <a:lvl3pPr>
              <a:defRPr sz="1350" b="0">
                <a:solidFill>
                  <a:srgbClr val="6B7F90"/>
                </a:solidFill>
              </a:defRPr>
            </a:lvl3pPr>
            <a:lvl4pPr>
              <a:defRPr sz="1350" b="0">
                <a:solidFill>
                  <a:srgbClr val="6B7F90"/>
                </a:solidFill>
              </a:defRPr>
            </a:lvl4pPr>
            <a:lvl5pPr>
              <a:defRPr sz="1350" b="0">
                <a:solidFill>
                  <a:srgbClr val="6B7F90"/>
                </a:solidFill>
              </a:defRPr>
            </a:lvl5pPr>
            <a:lvl6pPr>
              <a:defRPr sz="1350" b="0">
                <a:solidFill>
                  <a:srgbClr val="6B7F90"/>
                </a:solidFill>
              </a:defRPr>
            </a:lvl6pPr>
            <a:lvl7pPr>
              <a:defRPr sz="1350" b="0">
                <a:solidFill>
                  <a:srgbClr val="6B7F90"/>
                </a:solidFill>
              </a:defRPr>
            </a:lvl7pPr>
            <a:lvl8pPr>
              <a:defRPr sz="1350" b="0">
                <a:solidFill>
                  <a:srgbClr val="6B7F90"/>
                </a:solidFill>
              </a:defRPr>
            </a:lvl8pPr>
            <a:lvl9pPr>
              <a:defRPr sz="1350" b="0">
                <a:solidFill>
                  <a:srgbClr val="6B7F90"/>
                </a:solidFill>
              </a:defRPr>
            </a:lvl9pPr>
          </a:lstStyle>
          <a:p xmlns:a="http://schemas.openxmlformats.org/drawingml/2006/main">
            <a:pPr>
              <a:defRPr sz="1350" b="0">
                <a:solidFill>
                  <a:srgbClr val="6B7F90"/>
                </a:solidFill>
              </a:defRPr>
            </a:pPr>
            <a:r>
              <a:rPr sz="1350" b="0">
                <a:solidFill>
                  <a:srgbClr val="6B7F90"/>
                </a:solidFill>
              </a:rPr>
              <a:t>10</a:t>
            </a:r>
          </a:p>
        </p:txBody>
      </p:sp>
    </p:spTree>
    <p:extLst>
      <p:ext uri="{BB962C8B-B14F-4D97-AF65-F5344CB8AC3E}">
        <p14:creationId xmlns:p14="http://schemas.microsoft.com/office/powerpoint/2010/main" val="49892742"/>
      </p:ext>
    </p:extLst>
  </p:cSld>
</p:sld>
</file>

<file path=ppt/slides/slide11.xml><?xml version="1.0" encoding="utf-8"?>
<p:sld xmlns:p="http://schemas.openxmlformats.org/presentationml/2006/main">
  <p:cSld>
    <p:bg>
      <p:bgPr>
        <a:solidFill xmlns:a="http://schemas.openxmlformats.org/drawingml/2006/main">
          <a:srgbClr val="FAFBFD"/>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15EB667E-BEBA-44D9-92BE-DBE1247EA307}"/>
              </a:ext>
            </a:extLst>
          </p:cNvPr>
          <p:cNvSpPr>
            <a:spLocks xmlns:a="http://schemas.openxmlformats.org/drawingml/2006/main" noGrp="1"/>
          </p:cNvSpPr>
          <p:nvPr/>
        </p:nvSpPr>
        <p:spPr>
          <a:xfrm xmlns:a="http://schemas.openxmlformats.org/drawingml/2006/main">
            <a:off x="685800" y="495300"/>
            <a:ext cx="10858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150" b="1">
                <a:solidFill>
                  <a:srgbClr val="102B46"/>
                </a:solidFill>
              </a:defRPr>
            </a:defPPr>
            <a:lvl1pPr>
              <a:defRPr sz="3150" b="1">
                <a:solidFill>
                  <a:srgbClr val="102B46"/>
                </a:solidFill>
              </a:defRPr>
            </a:lvl1pPr>
            <a:lvl2pPr>
              <a:defRPr sz="3150" b="1">
                <a:solidFill>
                  <a:srgbClr val="102B46"/>
                </a:solidFill>
              </a:defRPr>
            </a:lvl2pPr>
            <a:lvl3pPr>
              <a:defRPr sz="3150" b="1">
                <a:solidFill>
                  <a:srgbClr val="102B46"/>
                </a:solidFill>
              </a:defRPr>
            </a:lvl3pPr>
            <a:lvl4pPr>
              <a:defRPr sz="3150" b="1">
                <a:solidFill>
                  <a:srgbClr val="102B46"/>
                </a:solidFill>
              </a:defRPr>
            </a:lvl4pPr>
            <a:lvl5pPr>
              <a:defRPr sz="3150" b="1">
                <a:solidFill>
                  <a:srgbClr val="102B46"/>
                </a:solidFill>
              </a:defRPr>
            </a:lvl5pPr>
            <a:lvl6pPr>
              <a:defRPr sz="3150" b="1">
                <a:solidFill>
                  <a:srgbClr val="102B46"/>
                </a:solidFill>
              </a:defRPr>
            </a:lvl6pPr>
            <a:lvl7pPr>
              <a:defRPr sz="3150" b="1">
                <a:solidFill>
                  <a:srgbClr val="102B46"/>
                </a:solidFill>
              </a:defRPr>
            </a:lvl7pPr>
            <a:lvl8pPr>
              <a:defRPr sz="3150" b="1">
                <a:solidFill>
                  <a:srgbClr val="102B46"/>
                </a:solidFill>
              </a:defRPr>
            </a:lvl8pPr>
            <a:lvl9pPr>
              <a:defRPr sz="3150" b="1">
                <a:solidFill>
                  <a:srgbClr val="102B46"/>
                </a:solidFill>
              </a:defRPr>
            </a:lvl9pPr>
          </a:lstStyle>
          <a:p xmlns:a="http://schemas.openxmlformats.org/drawingml/2006/main">
            <a:pPr>
              <a:defRPr sz="3150" b="1">
                <a:solidFill>
                  <a:srgbClr val="102B46"/>
                </a:solidFill>
              </a:defRPr>
            </a:pPr>
            <a:r>
              <a:rPr sz="3150" b="1">
                <a:solidFill>
                  <a:srgbClr val="102B46"/>
                </a:solidFill>
              </a:rPr>
              <a:t>依存を学ぶほど推定する量が増える</a:t>
            </a:r>
          </a:p>
        </p:txBody>
      </p:sp>
      <p:sp>
        <p:nvSpPr>
          <p:cNvPr id="3" name="">
            <a:extLst xmlns:a="http://schemas.openxmlformats.org/drawingml/2006/main">
              <a:ext uri="{FF2B5EF4-FFF2-40B4-BE49-F238E27FC236}">
                <a16:creationId xmlns:a16="http://schemas.microsoft.com/office/drawing/2014/main" id="{1EF038D8-83B3-4AD8-9AE3-8B803AB1439E}"/>
              </a:ext>
            </a:extLst>
          </p:cNvPr>
          <p:cNvSpPr>
            <a:spLocks xmlns:a="http://schemas.openxmlformats.org/drawingml/2006/main" noGrp="1"/>
          </p:cNvSpPr>
          <p:nvPr/>
        </p:nvSpPr>
        <p:spPr>
          <a:xfrm xmlns:a="http://schemas.openxmlformats.org/drawingml/2006/main">
            <a:off x="723900" y="1952625"/>
            <a:ext cx="1066800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625" b="1">
                <a:solidFill>
                  <a:srgbClr val="172B4D"/>
                </a:solidFill>
              </a:defRPr>
            </a:defPPr>
            <a:lvl1pPr>
              <a:defRPr sz="2625" b="1">
                <a:solidFill>
                  <a:srgbClr val="172B4D"/>
                </a:solidFill>
              </a:defRPr>
            </a:lvl1pPr>
            <a:lvl2pPr>
              <a:defRPr sz="2625" b="1">
                <a:solidFill>
                  <a:srgbClr val="172B4D"/>
                </a:solidFill>
              </a:defRPr>
            </a:lvl2pPr>
            <a:lvl3pPr>
              <a:defRPr sz="2625" b="1">
                <a:solidFill>
                  <a:srgbClr val="172B4D"/>
                </a:solidFill>
              </a:defRPr>
            </a:lvl3pPr>
            <a:lvl4pPr>
              <a:defRPr sz="2625" b="1">
                <a:solidFill>
                  <a:srgbClr val="172B4D"/>
                </a:solidFill>
              </a:defRPr>
            </a:lvl4pPr>
            <a:lvl5pPr>
              <a:defRPr sz="2625" b="1">
                <a:solidFill>
                  <a:srgbClr val="172B4D"/>
                </a:solidFill>
              </a:defRPr>
            </a:lvl5pPr>
            <a:lvl6pPr>
              <a:defRPr sz="2625" b="1">
                <a:solidFill>
                  <a:srgbClr val="172B4D"/>
                </a:solidFill>
              </a:defRPr>
            </a:lvl6pPr>
            <a:lvl7pPr>
              <a:defRPr sz="2625" b="1">
                <a:solidFill>
                  <a:srgbClr val="172B4D"/>
                </a:solidFill>
              </a:defRPr>
            </a:lvl7pPr>
            <a:lvl8pPr>
              <a:defRPr sz="2625" b="1">
                <a:solidFill>
                  <a:srgbClr val="172B4D"/>
                </a:solidFill>
              </a:defRPr>
            </a:lvl8pPr>
            <a:lvl9pPr>
              <a:defRPr sz="2625" b="1">
                <a:solidFill>
                  <a:srgbClr val="172B4D"/>
                </a:solidFill>
              </a:defRPr>
            </a:lvl9pPr>
          </a:lstStyle>
          <a:p xmlns:a="http://schemas.openxmlformats.org/drawingml/2006/main">
            <a:pPr>
              <a:defRPr sz="2625" b="1">
                <a:solidFill>
                  <a:srgbClr val="172B4D"/>
                </a:solidFill>
              </a:defRPr>
            </a:pPr>
            <a:r>
              <a:rPr sz="2625" b="1">
                <a:solidFill>
                  <a:srgbClr val="172B4D"/>
                </a:solidFill>
              </a:rPr>
              <a:t>d特徴の相関は d(d−1)/2 個</a:t>
            </a:r>
          </a:p>
          <a:p xmlns:a="http://schemas.openxmlformats.org/drawingml/2006/main">
            <a:pPr>
              <a:defRPr sz="2625" b="1">
                <a:solidFill>
                  <a:srgbClr val="172B4D"/>
                </a:solidFill>
              </a:defRPr>
            </a:pPr>
            <a:r>
              <a:rPr sz="2625" b="1">
                <a:solidFill>
                  <a:srgbClr val="172B4D"/>
                </a:solidFill>
              </a:rPr>
              <a:t>少数クラスの例数が少ないと推定が不安定になる</a:t>
            </a:r>
          </a:p>
        </p:txBody>
      </p:sp>
      <p:sp>
        <p:nvSpPr>
          <p:cNvPr id="4" name="">
            <a:extLst xmlns:a="http://schemas.openxmlformats.org/drawingml/2006/main">
              <a:ext uri="{FF2B5EF4-FFF2-40B4-BE49-F238E27FC236}">
                <a16:creationId xmlns:a16="http://schemas.microsoft.com/office/drawing/2014/main" id="{0A54B4A0-9C70-41C1-90EE-ED62BA161263}"/>
              </a:ext>
            </a:extLst>
          </p:cNvPr>
          <p:cNvSpPr>
            <a:spLocks xmlns:a="http://schemas.openxmlformats.org/drawingml/2006/main" noGrp="1"/>
          </p:cNvSpPr>
          <p:nvPr/>
        </p:nvSpPr>
        <p:spPr>
          <a:xfrm xmlns:a="http://schemas.openxmlformats.org/drawingml/2006/main">
            <a:off x="723900" y="3943350"/>
            <a:ext cx="10668000" cy="1562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0">
                <a:solidFill>
                  <a:srgbClr val="336C81"/>
                </a:solidFill>
              </a:defRPr>
            </a:defPPr>
            <a:lvl1pPr>
              <a:defRPr sz="2250" b="0">
                <a:solidFill>
                  <a:srgbClr val="336C81"/>
                </a:solidFill>
              </a:defRPr>
            </a:lvl1pPr>
            <a:lvl2pPr>
              <a:defRPr sz="2250" b="0">
                <a:solidFill>
                  <a:srgbClr val="336C81"/>
                </a:solidFill>
              </a:defRPr>
            </a:lvl2pPr>
            <a:lvl3pPr>
              <a:defRPr sz="2250" b="0">
                <a:solidFill>
                  <a:srgbClr val="336C81"/>
                </a:solidFill>
              </a:defRPr>
            </a:lvl3pPr>
            <a:lvl4pPr>
              <a:defRPr sz="2250" b="0">
                <a:solidFill>
                  <a:srgbClr val="336C81"/>
                </a:solidFill>
              </a:defRPr>
            </a:lvl4pPr>
            <a:lvl5pPr>
              <a:defRPr sz="2250" b="0">
                <a:solidFill>
                  <a:srgbClr val="336C81"/>
                </a:solidFill>
              </a:defRPr>
            </a:lvl5pPr>
            <a:lvl6pPr>
              <a:defRPr sz="2250" b="0">
                <a:solidFill>
                  <a:srgbClr val="336C81"/>
                </a:solidFill>
              </a:defRPr>
            </a:lvl6pPr>
            <a:lvl7pPr>
              <a:defRPr sz="2250" b="0">
                <a:solidFill>
                  <a:srgbClr val="336C81"/>
                </a:solidFill>
              </a:defRPr>
            </a:lvl7pPr>
            <a:lvl8pPr>
              <a:defRPr sz="2250" b="0">
                <a:solidFill>
                  <a:srgbClr val="336C81"/>
                </a:solidFill>
              </a:defRPr>
            </a:lvl8pPr>
            <a:lvl9pPr>
              <a:defRPr sz="2250" b="0">
                <a:solidFill>
                  <a:srgbClr val="336C81"/>
                </a:solidFill>
              </a:defRPr>
            </a:lvl9pPr>
          </a:lstStyle>
          <a:p xmlns:a="http://schemas.openxmlformats.org/drawingml/2006/main">
            <a:pPr>
              <a:defRPr sz="2250" b="0">
                <a:solidFill>
                  <a:srgbClr val="336C81"/>
                </a:solidFill>
              </a:defRPr>
            </a:pPr>
            <a:r>
              <a:rPr sz="2250" b="0">
                <a:solidFill>
                  <a:srgbClr val="336C81"/>
                </a:solidFill>
              </a:rPr>
              <a:t>正則化で揺れを抑える候補がある</a:t>
            </a:r>
          </a:p>
          <a:p xmlns:a="http://schemas.openxmlformats.org/drawingml/2006/main">
            <a:pPr>
              <a:defRPr sz="2250" b="0">
                <a:solidFill>
                  <a:srgbClr val="336C81"/>
                </a:solidFill>
              </a:defRPr>
            </a:pPr>
            <a:r>
              <a:rPr sz="2250" b="0">
                <a:solidFill>
                  <a:srgbClr val="336C81"/>
                </a:solidFill>
              </a:rPr>
              <a:t>ただし強く抑えると、本来の依存も弱くなる</a:t>
            </a:r>
          </a:p>
        </p:txBody>
      </p:sp>
      <p:sp>
        <p:nvSpPr>
          <p:cNvPr id="5" name="">
            <a:extLst xmlns:a="http://schemas.openxmlformats.org/drawingml/2006/main">
              <a:ext uri="{FF2B5EF4-FFF2-40B4-BE49-F238E27FC236}">
                <a16:creationId xmlns:a16="http://schemas.microsoft.com/office/drawing/2014/main" id="{93120DB3-8A94-471B-83B8-4B48DCC8FA83}"/>
              </a:ext>
            </a:extLst>
          </p:cNvPr>
          <p:cNvSpPr>
            <a:spLocks xmlns:a="http://schemas.openxmlformats.org/drawingml/2006/main" noGrp="1"/>
          </p:cNvSpPr>
          <p:nvPr/>
        </p:nvSpPr>
        <p:spPr>
          <a:xfrm xmlns:a="http://schemas.openxmlformats.org/drawingml/2006/main">
            <a:off x="11144250" y="6276975"/>
            <a:ext cx="5238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6B7F90"/>
                </a:solidFill>
              </a:defRPr>
            </a:defPPr>
            <a:lvl1pPr>
              <a:defRPr sz="1350" b="0">
                <a:solidFill>
                  <a:srgbClr val="6B7F90"/>
                </a:solidFill>
              </a:defRPr>
            </a:lvl1pPr>
            <a:lvl2pPr>
              <a:defRPr sz="1350" b="0">
                <a:solidFill>
                  <a:srgbClr val="6B7F90"/>
                </a:solidFill>
              </a:defRPr>
            </a:lvl2pPr>
            <a:lvl3pPr>
              <a:defRPr sz="1350" b="0">
                <a:solidFill>
                  <a:srgbClr val="6B7F90"/>
                </a:solidFill>
              </a:defRPr>
            </a:lvl3pPr>
            <a:lvl4pPr>
              <a:defRPr sz="1350" b="0">
                <a:solidFill>
                  <a:srgbClr val="6B7F90"/>
                </a:solidFill>
              </a:defRPr>
            </a:lvl4pPr>
            <a:lvl5pPr>
              <a:defRPr sz="1350" b="0">
                <a:solidFill>
                  <a:srgbClr val="6B7F90"/>
                </a:solidFill>
              </a:defRPr>
            </a:lvl5pPr>
            <a:lvl6pPr>
              <a:defRPr sz="1350" b="0">
                <a:solidFill>
                  <a:srgbClr val="6B7F90"/>
                </a:solidFill>
              </a:defRPr>
            </a:lvl6pPr>
            <a:lvl7pPr>
              <a:defRPr sz="1350" b="0">
                <a:solidFill>
                  <a:srgbClr val="6B7F90"/>
                </a:solidFill>
              </a:defRPr>
            </a:lvl7pPr>
            <a:lvl8pPr>
              <a:defRPr sz="1350" b="0">
                <a:solidFill>
                  <a:srgbClr val="6B7F90"/>
                </a:solidFill>
              </a:defRPr>
            </a:lvl8pPr>
            <a:lvl9pPr>
              <a:defRPr sz="1350" b="0">
                <a:solidFill>
                  <a:srgbClr val="6B7F90"/>
                </a:solidFill>
              </a:defRPr>
            </a:lvl9pPr>
          </a:lstStyle>
          <a:p xmlns:a="http://schemas.openxmlformats.org/drawingml/2006/main">
            <a:pPr>
              <a:defRPr sz="1350" b="0">
                <a:solidFill>
                  <a:srgbClr val="6B7F90"/>
                </a:solidFill>
              </a:defRPr>
            </a:pPr>
            <a:r>
              <a:rPr sz="1350" b="0">
                <a:solidFill>
                  <a:srgbClr val="6B7F90"/>
                </a:solidFill>
              </a:rPr>
              <a:t>11</a:t>
            </a:r>
          </a:p>
        </p:txBody>
      </p:sp>
    </p:spTree>
    <p:extLst>
      <p:ext uri="{BB962C8B-B14F-4D97-AF65-F5344CB8AC3E}">
        <p14:creationId xmlns:p14="http://schemas.microsoft.com/office/powerpoint/2010/main" val="1217773484"/>
      </p:ext>
    </p:extLst>
  </p:cSld>
</p:sld>
</file>

<file path=ppt/slides/slide12.xml><?xml version="1.0" encoding="utf-8"?>
<p:sld xmlns:p="http://schemas.openxmlformats.org/presentationml/2006/main">
  <p:cSld>
    <p:bg>
      <p:bgPr>
        <a:solidFill xmlns:a="http://schemas.openxmlformats.org/drawingml/2006/main">
          <a:srgbClr val="FAFBFD"/>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280EED89-4903-4747-94EF-9465CAC81826}"/>
              </a:ext>
            </a:extLst>
          </p:cNvPr>
          <p:cNvSpPr>
            <a:spLocks xmlns:a="http://schemas.openxmlformats.org/drawingml/2006/main" noGrp="1"/>
          </p:cNvSpPr>
          <p:nvPr/>
        </p:nvSpPr>
        <p:spPr>
          <a:xfrm xmlns:a="http://schemas.openxmlformats.org/drawingml/2006/main">
            <a:off x="685800" y="495300"/>
            <a:ext cx="10858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150" b="1">
                <a:solidFill>
                  <a:srgbClr val="102B46"/>
                </a:solidFill>
              </a:defRPr>
            </a:defPPr>
            <a:lvl1pPr>
              <a:defRPr sz="3150" b="1">
                <a:solidFill>
                  <a:srgbClr val="102B46"/>
                </a:solidFill>
              </a:defRPr>
            </a:lvl1pPr>
            <a:lvl2pPr>
              <a:defRPr sz="3150" b="1">
                <a:solidFill>
                  <a:srgbClr val="102B46"/>
                </a:solidFill>
              </a:defRPr>
            </a:lvl2pPr>
            <a:lvl3pPr>
              <a:defRPr sz="3150" b="1">
                <a:solidFill>
                  <a:srgbClr val="102B46"/>
                </a:solidFill>
              </a:defRPr>
            </a:lvl3pPr>
            <a:lvl4pPr>
              <a:defRPr sz="3150" b="1">
                <a:solidFill>
                  <a:srgbClr val="102B46"/>
                </a:solidFill>
              </a:defRPr>
            </a:lvl4pPr>
            <a:lvl5pPr>
              <a:defRPr sz="3150" b="1">
                <a:solidFill>
                  <a:srgbClr val="102B46"/>
                </a:solidFill>
              </a:defRPr>
            </a:lvl5pPr>
            <a:lvl6pPr>
              <a:defRPr sz="3150" b="1">
                <a:solidFill>
                  <a:srgbClr val="102B46"/>
                </a:solidFill>
              </a:defRPr>
            </a:lvl6pPr>
            <a:lvl7pPr>
              <a:defRPr sz="3150" b="1">
                <a:solidFill>
                  <a:srgbClr val="102B46"/>
                </a:solidFill>
              </a:defRPr>
            </a:lvl7pPr>
            <a:lvl8pPr>
              <a:defRPr sz="3150" b="1">
                <a:solidFill>
                  <a:srgbClr val="102B46"/>
                </a:solidFill>
              </a:defRPr>
            </a:lvl8pPr>
            <a:lvl9pPr>
              <a:defRPr sz="3150" b="1">
                <a:solidFill>
                  <a:srgbClr val="102B46"/>
                </a:solidFill>
              </a:defRPr>
            </a:lvl9pPr>
          </a:lstStyle>
          <a:p xmlns:a="http://schemas.openxmlformats.org/drawingml/2006/main">
            <a:pPr>
              <a:defRPr sz="3150" b="1">
                <a:solidFill>
                  <a:srgbClr val="102B46"/>
                </a:solidFill>
              </a:defRPr>
            </a:pPr>
            <a:r>
              <a:rPr sz="3150" b="1">
                <a:solidFill>
                  <a:srgbClr val="102B46"/>
                </a:solidFill>
              </a:rPr>
              <a:t>SMOTEは近傍の間を同じクラスとみなす</a:t>
            </a:r>
          </a:p>
        </p:txBody>
      </p:sp>
      <p:sp>
        <p:nvSpPr>
          <p:cNvPr id="3" name="">
            <a:extLst xmlns:a="http://schemas.openxmlformats.org/drawingml/2006/main">
              <a:ext uri="{FF2B5EF4-FFF2-40B4-BE49-F238E27FC236}">
                <a16:creationId xmlns:a16="http://schemas.microsoft.com/office/drawing/2014/main" id="{974083F9-5186-49FF-B4F5-581A997F6453}"/>
              </a:ext>
            </a:extLst>
          </p:cNvPr>
          <p:cNvSpPr>
            <a:spLocks xmlns:a="http://schemas.openxmlformats.org/drawingml/2006/main" noGrp="1"/>
          </p:cNvSpPr>
          <p:nvPr/>
        </p:nvSpPr>
        <p:spPr>
          <a:xfrm xmlns:a="http://schemas.openxmlformats.org/drawingml/2006/main">
            <a:off x="723900" y="1952625"/>
            <a:ext cx="1066800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625" b="1">
                <a:solidFill>
                  <a:srgbClr val="172B4D"/>
                </a:solidFill>
              </a:defRPr>
            </a:defPPr>
            <a:lvl1pPr>
              <a:defRPr sz="2625" b="1">
                <a:solidFill>
                  <a:srgbClr val="172B4D"/>
                </a:solidFill>
              </a:defRPr>
            </a:lvl1pPr>
            <a:lvl2pPr>
              <a:defRPr sz="2625" b="1">
                <a:solidFill>
                  <a:srgbClr val="172B4D"/>
                </a:solidFill>
              </a:defRPr>
            </a:lvl2pPr>
            <a:lvl3pPr>
              <a:defRPr sz="2625" b="1">
                <a:solidFill>
                  <a:srgbClr val="172B4D"/>
                </a:solidFill>
              </a:defRPr>
            </a:lvl3pPr>
            <a:lvl4pPr>
              <a:defRPr sz="2625" b="1">
                <a:solidFill>
                  <a:srgbClr val="172B4D"/>
                </a:solidFill>
              </a:defRPr>
            </a:lvl4pPr>
            <a:lvl5pPr>
              <a:defRPr sz="2625" b="1">
                <a:solidFill>
                  <a:srgbClr val="172B4D"/>
                </a:solidFill>
              </a:defRPr>
            </a:lvl5pPr>
            <a:lvl6pPr>
              <a:defRPr sz="2625" b="1">
                <a:solidFill>
                  <a:srgbClr val="172B4D"/>
                </a:solidFill>
              </a:defRPr>
            </a:lvl6pPr>
            <a:lvl7pPr>
              <a:defRPr sz="2625" b="1">
                <a:solidFill>
                  <a:srgbClr val="172B4D"/>
                </a:solidFill>
              </a:defRPr>
            </a:lvl7pPr>
            <a:lvl8pPr>
              <a:defRPr sz="2625" b="1">
                <a:solidFill>
                  <a:srgbClr val="172B4D"/>
                </a:solidFill>
              </a:defRPr>
            </a:lvl8pPr>
            <a:lvl9pPr>
              <a:defRPr sz="2625" b="1">
                <a:solidFill>
                  <a:srgbClr val="172B4D"/>
                </a:solidFill>
              </a:defRPr>
            </a:lvl9pPr>
          </a:lstStyle>
          <a:p xmlns:a="http://schemas.openxmlformats.org/drawingml/2006/main">
            <a:pPr>
              <a:defRPr sz="2625" b="1">
                <a:solidFill>
                  <a:srgbClr val="172B4D"/>
                </a:solidFill>
              </a:defRPr>
            </a:pPr>
            <a:r>
              <a:rPr sz="2625" b="1">
                <a:solidFill>
                  <a:srgbClr val="172B4D"/>
                </a:solidFill>
              </a:rPr>
              <a:t>x_new = x_i + λ(x_j − x_i)</a:t>
            </a:r>
          </a:p>
          <a:p xmlns:a="http://schemas.openxmlformats.org/drawingml/2006/main">
            <a:pPr>
              <a:defRPr sz="2625" b="1">
                <a:solidFill>
                  <a:srgbClr val="172B4D"/>
                </a:solidFill>
              </a:defRPr>
            </a:pPr>
            <a:r>
              <a:rPr sz="2625" b="1">
                <a:solidFill>
                  <a:srgbClr val="172B4D"/>
                </a:solidFill>
              </a:rPr>
              <a:t>0 ≤ λ ≤ 1</a:t>
            </a:r>
          </a:p>
        </p:txBody>
      </p:sp>
      <p:sp>
        <p:nvSpPr>
          <p:cNvPr id="4" name="">
            <a:extLst xmlns:a="http://schemas.openxmlformats.org/drawingml/2006/main">
              <a:ext uri="{FF2B5EF4-FFF2-40B4-BE49-F238E27FC236}">
                <a16:creationId xmlns:a16="http://schemas.microsoft.com/office/drawing/2014/main" id="{90F0C275-6EF5-4C96-9DD6-67F4540FA3CE}"/>
              </a:ext>
            </a:extLst>
          </p:cNvPr>
          <p:cNvSpPr>
            <a:spLocks xmlns:a="http://schemas.openxmlformats.org/drawingml/2006/main" noGrp="1"/>
          </p:cNvSpPr>
          <p:nvPr/>
        </p:nvSpPr>
        <p:spPr>
          <a:xfrm xmlns:a="http://schemas.openxmlformats.org/drawingml/2006/main">
            <a:off x="723900" y="3943350"/>
            <a:ext cx="10668000" cy="1562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0">
                <a:solidFill>
                  <a:srgbClr val="336C81"/>
                </a:solidFill>
              </a:defRPr>
            </a:defPPr>
            <a:lvl1pPr>
              <a:defRPr sz="2250" b="0">
                <a:solidFill>
                  <a:srgbClr val="336C81"/>
                </a:solidFill>
              </a:defRPr>
            </a:lvl1pPr>
            <a:lvl2pPr>
              <a:defRPr sz="2250" b="0">
                <a:solidFill>
                  <a:srgbClr val="336C81"/>
                </a:solidFill>
              </a:defRPr>
            </a:lvl2pPr>
            <a:lvl3pPr>
              <a:defRPr sz="2250" b="0">
                <a:solidFill>
                  <a:srgbClr val="336C81"/>
                </a:solidFill>
              </a:defRPr>
            </a:lvl3pPr>
            <a:lvl4pPr>
              <a:defRPr sz="2250" b="0">
                <a:solidFill>
                  <a:srgbClr val="336C81"/>
                </a:solidFill>
              </a:defRPr>
            </a:lvl4pPr>
            <a:lvl5pPr>
              <a:defRPr sz="2250" b="0">
                <a:solidFill>
                  <a:srgbClr val="336C81"/>
                </a:solidFill>
              </a:defRPr>
            </a:lvl5pPr>
            <a:lvl6pPr>
              <a:defRPr sz="2250" b="0">
                <a:solidFill>
                  <a:srgbClr val="336C81"/>
                </a:solidFill>
              </a:defRPr>
            </a:lvl6pPr>
            <a:lvl7pPr>
              <a:defRPr sz="2250" b="0">
                <a:solidFill>
                  <a:srgbClr val="336C81"/>
                </a:solidFill>
              </a:defRPr>
            </a:lvl7pPr>
            <a:lvl8pPr>
              <a:defRPr sz="2250" b="0">
                <a:solidFill>
                  <a:srgbClr val="336C81"/>
                </a:solidFill>
              </a:defRPr>
            </a:lvl8pPr>
            <a:lvl9pPr>
              <a:defRPr sz="2250" b="0">
                <a:solidFill>
                  <a:srgbClr val="336C81"/>
                </a:solidFill>
              </a:defRPr>
            </a:lvl9pPr>
          </a:lstStyle>
          <a:p xmlns:a="http://schemas.openxmlformats.org/drawingml/2006/main">
            <a:pPr>
              <a:defRPr sz="2250" b="0">
                <a:solidFill>
                  <a:srgbClr val="336C81"/>
                </a:solidFill>
              </a:defRPr>
            </a:pPr>
            <a:r>
              <a:rPr sz="2250" b="0">
                <a:solidFill>
                  <a:srgbClr val="336C81"/>
                </a:solidFill>
              </a:rPr>
              <a:t>仮定：同じ少数クラスの近い２点を結ぶ線分も、</a:t>
            </a:r>
          </a:p>
          <a:p xmlns:a="http://schemas.openxmlformats.org/drawingml/2006/main">
            <a:pPr>
              <a:defRPr sz="2250" b="0">
                <a:solidFill>
                  <a:srgbClr val="336C81"/>
                </a:solidFill>
              </a:defRPr>
            </a:pPr>
            <a:r>
              <a:rPr sz="2250" b="0">
                <a:solidFill>
                  <a:srgbClr val="336C81"/>
                </a:solidFill>
              </a:rPr>
              <a:t>そのクラスの妥当な領域にある</a:t>
            </a:r>
          </a:p>
        </p:txBody>
      </p:sp>
      <p:sp>
        <p:nvSpPr>
          <p:cNvPr id="5" name="">
            <a:extLst xmlns:a="http://schemas.openxmlformats.org/drawingml/2006/main">
              <a:ext uri="{FF2B5EF4-FFF2-40B4-BE49-F238E27FC236}">
                <a16:creationId xmlns:a16="http://schemas.microsoft.com/office/drawing/2014/main" id="{DF9EEA39-3CC4-45BB-AC2F-C6616C5023D0}"/>
              </a:ext>
            </a:extLst>
          </p:cNvPr>
          <p:cNvSpPr>
            <a:spLocks xmlns:a="http://schemas.openxmlformats.org/drawingml/2006/main" noGrp="1"/>
          </p:cNvSpPr>
          <p:nvPr/>
        </p:nvSpPr>
        <p:spPr>
          <a:xfrm xmlns:a="http://schemas.openxmlformats.org/drawingml/2006/main">
            <a:off x="11144250" y="6276975"/>
            <a:ext cx="5238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6B7F90"/>
                </a:solidFill>
              </a:defRPr>
            </a:defPPr>
            <a:lvl1pPr>
              <a:defRPr sz="1350" b="0">
                <a:solidFill>
                  <a:srgbClr val="6B7F90"/>
                </a:solidFill>
              </a:defRPr>
            </a:lvl1pPr>
            <a:lvl2pPr>
              <a:defRPr sz="1350" b="0">
                <a:solidFill>
                  <a:srgbClr val="6B7F90"/>
                </a:solidFill>
              </a:defRPr>
            </a:lvl2pPr>
            <a:lvl3pPr>
              <a:defRPr sz="1350" b="0">
                <a:solidFill>
                  <a:srgbClr val="6B7F90"/>
                </a:solidFill>
              </a:defRPr>
            </a:lvl3pPr>
            <a:lvl4pPr>
              <a:defRPr sz="1350" b="0">
                <a:solidFill>
                  <a:srgbClr val="6B7F90"/>
                </a:solidFill>
              </a:defRPr>
            </a:lvl4pPr>
            <a:lvl5pPr>
              <a:defRPr sz="1350" b="0">
                <a:solidFill>
                  <a:srgbClr val="6B7F90"/>
                </a:solidFill>
              </a:defRPr>
            </a:lvl5pPr>
            <a:lvl6pPr>
              <a:defRPr sz="1350" b="0">
                <a:solidFill>
                  <a:srgbClr val="6B7F90"/>
                </a:solidFill>
              </a:defRPr>
            </a:lvl6pPr>
            <a:lvl7pPr>
              <a:defRPr sz="1350" b="0">
                <a:solidFill>
                  <a:srgbClr val="6B7F90"/>
                </a:solidFill>
              </a:defRPr>
            </a:lvl7pPr>
            <a:lvl8pPr>
              <a:defRPr sz="1350" b="0">
                <a:solidFill>
                  <a:srgbClr val="6B7F90"/>
                </a:solidFill>
              </a:defRPr>
            </a:lvl8pPr>
            <a:lvl9pPr>
              <a:defRPr sz="1350" b="0">
                <a:solidFill>
                  <a:srgbClr val="6B7F90"/>
                </a:solidFill>
              </a:defRPr>
            </a:lvl9pPr>
          </a:lstStyle>
          <a:p xmlns:a="http://schemas.openxmlformats.org/drawingml/2006/main">
            <a:pPr>
              <a:defRPr sz="1350" b="0">
                <a:solidFill>
                  <a:srgbClr val="6B7F90"/>
                </a:solidFill>
              </a:defRPr>
            </a:pPr>
            <a:r>
              <a:rPr sz="1350" b="0">
                <a:solidFill>
                  <a:srgbClr val="6B7F90"/>
                </a:solidFill>
              </a:rPr>
              <a:t>12</a:t>
            </a:r>
          </a:p>
        </p:txBody>
      </p:sp>
    </p:spTree>
    <p:extLst>
      <p:ext uri="{BB962C8B-B14F-4D97-AF65-F5344CB8AC3E}">
        <p14:creationId xmlns:p14="http://schemas.microsoft.com/office/powerpoint/2010/main" val="825428982"/>
      </p:ext>
    </p:extLst>
  </p:cSld>
</p:sld>
</file>

<file path=ppt/slides/slide13.xml><?xml version="1.0" encoding="utf-8"?>
<p:sld xmlns:p="http://schemas.openxmlformats.org/presentationml/2006/main">
  <p:cSld>
    <p:bg>
      <p:bgPr>
        <a:solidFill xmlns:a="http://schemas.openxmlformats.org/drawingml/2006/main">
          <a:srgbClr val="FAFBFD"/>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9B1929BD-587C-4A12-A9F4-1C0800528A0C}"/>
              </a:ext>
            </a:extLst>
          </p:cNvPr>
          <p:cNvSpPr>
            <a:spLocks xmlns:a="http://schemas.openxmlformats.org/drawingml/2006/main" noGrp="1"/>
          </p:cNvSpPr>
          <p:nvPr/>
        </p:nvSpPr>
        <p:spPr>
          <a:xfrm xmlns:a="http://schemas.openxmlformats.org/drawingml/2006/main">
            <a:off x="685800" y="495300"/>
            <a:ext cx="10858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150" b="1">
                <a:solidFill>
                  <a:srgbClr val="102B46"/>
                </a:solidFill>
              </a:defRPr>
            </a:defPPr>
            <a:lvl1pPr>
              <a:defRPr sz="3150" b="1">
                <a:solidFill>
                  <a:srgbClr val="102B46"/>
                </a:solidFill>
              </a:defRPr>
            </a:lvl1pPr>
            <a:lvl2pPr>
              <a:defRPr sz="3150" b="1">
                <a:solidFill>
                  <a:srgbClr val="102B46"/>
                </a:solidFill>
              </a:defRPr>
            </a:lvl2pPr>
            <a:lvl3pPr>
              <a:defRPr sz="3150" b="1">
                <a:solidFill>
                  <a:srgbClr val="102B46"/>
                </a:solidFill>
              </a:defRPr>
            </a:lvl3pPr>
            <a:lvl4pPr>
              <a:defRPr sz="3150" b="1">
                <a:solidFill>
                  <a:srgbClr val="102B46"/>
                </a:solidFill>
              </a:defRPr>
            </a:lvl4pPr>
            <a:lvl5pPr>
              <a:defRPr sz="3150" b="1">
                <a:solidFill>
                  <a:srgbClr val="102B46"/>
                </a:solidFill>
              </a:defRPr>
            </a:lvl5pPr>
            <a:lvl6pPr>
              <a:defRPr sz="3150" b="1">
                <a:solidFill>
                  <a:srgbClr val="102B46"/>
                </a:solidFill>
              </a:defRPr>
            </a:lvl6pPr>
            <a:lvl7pPr>
              <a:defRPr sz="3150" b="1">
                <a:solidFill>
                  <a:srgbClr val="102B46"/>
                </a:solidFill>
              </a:defRPr>
            </a:lvl7pPr>
            <a:lvl8pPr>
              <a:defRPr sz="3150" b="1">
                <a:solidFill>
                  <a:srgbClr val="102B46"/>
                </a:solidFill>
              </a:defRPr>
            </a:lvl8pPr>
            <a:lvl9pPr>
              <a:defRPr sz="3150" b="1">
                <a:solidFill>
                  <a:srgbClr val="102B46"/>
                </a:solidFill>
              </a:defRPr>
            </a:lvl9pPr>
          </a:lstStyle>
          <a:p xmlns:a="http://schemas.openxmlformats.org/drawingml/2006/main">
            <a:pPr>
              <a:defRPr sz="3150" b="1">
                <a:solidFill>
                  <a:srgbClr val="102B46"/>
                </a:solidFill>
              </a:defRPr>
            </a:pPr>
            <a:r>
              <a:rPr sz="3150" b="1">
                <a:solidFill>
                  <a:srgbClr val="102B46"/>
                </a:solidFill>
              </a:rPr>
              <a:t>SMOTEが集団の間に誤った橋を作る条件</a:t>
            </a:r>
          </a:p>
        </p:txBody>
      </p:sp>
      <p:sp>
        <p:nvSpPr>
          <p:cNvPr id="3" name="">
            <a:extLst xmlns:a="http://schemas.openxmlformats.org/drawingml/2006/main">
              <a:ext uri="{FF2B5EF4-FFF2-40B4-BE49-F238E27FC236}">
                <a16:creationId xmlns:a16="http://schemas.microsoft.com/office/drawing/2014/main" id="{D9B48A5C-BEAD-48B3-A1EC-F1586ABE1363}"/>
              </a:ext>
            </a:extLst>
          </p:cNvPr>
          <p:cNvSpPr>
            <a:spLocks xmlns:a="http://schemas.openxmlformats.org/drawingml/2006/main" noGrp="1"/>
          </p:cNvSpPr>
          <p:nvPr/>
        </p:nvSpPr>
        <p:spPr>
          <a:xfrm xmlns:a="http://schemas.openxmlformats.org/drawingml/2006/main">
            <a:off x="723900" y="1952625"/>
            <a:ext cx="1066800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625" b="1">
                <a:solidFill>
                  <a:srgbClr val="172B4D"/>
                </a:solidFill>
              </a:defRPr>
            </a:defPPr>
            <a:lvl1pPr>
              <a:defRPr sz="2625" b="1">
                <a:solidFill>
                  <a:srgbClr val="172B4D"/>
                </a:solidFill>
              </a:defRPr>
            </a:lvl1pPr>
            <a:lvl2pPr>
              <a:defRPr sz="2625" b="1">
                <a:solidFill>
                  <a:srgbClr val="172B4D"/>
                </a:solidFill>
              </a:defRPr>
            </a:lvl2pPr>
            <a:lvl3pPr>
              <a:defRPr sz="2625" b="1">
                <a:solidFill>
                  <a:srgbClr val="172B4D"/>
                </a:solidFill>
              </a:defRPr>
            </a:lvl3pPr>
            <a:lvl4pPr>
              <a:defRPr sz="2625" b="1">
                <a:solidFill>
                  <a:srgbClr val="172B4D"/>
                </a:solidFill>
              </a:defRPr>
            </a:lvl4pPr>
            <a:lvl5pPr>
              <a:defRPr sz="2625" b="1">
                <a:solidFill>
                  <a:srgbClr val="172B4D"/>
                </a:solidFill>
              </a:defRPr>
            </a:lvl5pPr>
            <a:lvl6pPr>
              <a:defRPr sz="2625" b="1">
                <a:solidFill>
                  <a:srgbClr val="172B4D"/>
                </a:solidFill>
              </a:defRPr>
            </a:lvl6pPr>
            <a:lvl7pPr>
              <a:defRPr sz="2625" b="1">
                <a:solidFill>
                  <a:srgbClr val="172B4D"/>
                </a:solidFill>
              </a:defRPr>
            </a:lvl7pPr>
            <a:lvl8pPr>
              <a:defRPr sz="2625" b="1">
                <a:solidFill>
                  <a:srgbClr val="172B4D"/>
                </a:solidFill>
              </a:defRPr>
            </a:lvl8pPr>
            <a:lvl9pPr>
              <a:defRPr sz="2625" b="1">
                <a:solidFill>
                  <a:srgbClr val="172B4D"/>
                </a:solidFill>
              </a:defRPr>
            </a:lvl9pPr>
          </a:lstStyle>
          <a:p xmlns:a="http://schemas.openxmlformats.org/drawingml/2006/main">
            <a:pPr>
              <a:defRPr sz="2625" b="1">
                <a:solidFill>
                  <a:srgbClr val="172B4D"/>
                </a:solidFill>
              </a:defRPr>
            </a:pPr>
            <a:r>
              <a:rPr sz="2625" b="1">
                <a:solidFill>
                  <a:srgbClr val="172B4D"/>
                </a:solidFill>
              </a:rPr>
              <a:t>少数クラスが分かれていて、近傍が別の集団に届くと、</a:t>
            </a:r>
          </a:p>
          <a:p xmlns:a="http://schemas.openxmlformats.org/drawingml/2006/main">
            <a:pPr>
              <a:defRPr sz="2625" b="1">
                <a:solidFill>
                  <a:srgbClr val="172B4D"/>
                </a:solidFill>
              </a:defRPr>
            </a:pPr>
            <a:r>
              <a:rPr sz="2625" b="1">
                <a:solidFill>
                  <a:srgbClr val="172B4D"/>
                </a:solidFill>
              </a:rPr>
              <a:t>その間の空白や多数側の領域へ補間しうる</a:t>
            </a:r>
          </a:p>
        </p:txBody>
      </p:sp>
      <p:sp>
        <p:nvSpPr>
          <p:cNvPr id="4" name="">
            <a:extLst xmlns:a="http://schemas.openxmlformats.org/drawingml/2006/main">
              <a:ext uri="{FF2B5EF4-FFF2-40B4-BE49-F238E27FC236}">
                <a16:creationId xmlns:a16="http://schemas.microsoft.com/office/drawing/2014/main" id="{317A137C-43A8-4281-AA98-EA2E5E7BA12A}"/>
              </a:ext>
            </a:extLst>
          </p:cNvPr>
          <p:cNvSpPr>
            <a:spLocks xmlns:a="http://schemas.openxmlformats.org/drawingml/2006/main" noGrp="1"/>
          </p:cNvSpPr>
          <p:nvPr/>
        </p:nvSpPr>
        <p:spPr>
          <a:xfrm xmlns:a="http://schemas.openxmlformats.org/drawingml/2006/main">
            <a:off x="723900" y="3943350"/>
            <a:ext cx="10668000" cy="1562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0">
                <a:solidFill>
                  <a:srgbClr val="336C81"/>
                </a:solidFill>
              </a:defRPr>
            </a:defPPr>
            <a:lvl1pPr>
              <a:defRPr sz="2250" b="0">
                <a:solidFill>
                  <a:srgbClr val="336C81"/>
                </a:solidFill>
              </a:defRPr>
            </a:lvl1pPr>
            <a:lvl2pPr>
              <a:defRPr sz="2250" b="0">
                <a:solidFill>
                  <a:srgbClr val="336C81"/>
                </a:solidFill>
              </a:defRPr>
            </a:lvl2pPr>
            <a:lvl3pPr>
              <a:defRPr sz="2250" b="0">
                <a:solidFill>
                  <a:srgbClr val="336C81"/>
                </a:solidFill>
              </a:defRPr>
            </a:lvl3pPr>
            <a:lvl4pPr>
              <a:defRPr sz="2250" b="0">
                <a:solidFill>
                  <a:srgbClr val="336C81"/>
                </a:solidFill>
              </a:defRPr>
            </a:lvl4pPr>
            <a:lvl5pPr>
              <a:defRPr sz="2250" b="0">
                <a:solidFill>
                  <a:srgbClr val="336C81"/>
                </a:solidFill>
              </a:defRPr>
            </a:lvl5pPr>
            <a:lvl6pPr>
              <a:defRPr sz="2250" b="0">
                <a:solidFill>
                  <a:srgbClr val="336C81"/>
                </a:solidFill>
              </a:defRPr>
            </a:lvl6pPr>
            <a:lvl7pPr>
              <a:defRPr sz="2250" b="0">
                <a:solidFill>
                  <a:srgbClr val="336C81"/>
                </a:solidFill>
              </a:defRPr>
            </a:lvl7pPr>
            <a:lvl8pPr>
              <a:defRPr sz="2250" b="0">
                <a:solidFill>
                  <a:srgbClr val="336C81"/>
                </a:solidFill>
              </a:defRPr>
            </a:lvl8pPr>
            <a:lvl9pPr>
              <a:defRPr sz="2250" b="0">
                <a:solidFill>
                  <a:srgbClr val="336C81"/>
                </a:solidFill>
              </a:defRPr>
            </a:lvl9pPr>
          </a:lstStyle>
          <a:p xmlns:a="http://schemas.openxmlformats.org/drawingml/2006/main">
            <a:pPr>
              <a:defRPr sz="2250" b="0">
                <a:solidFill>
                  <a:srgbClr val="336C81"/>
                </a:solidFill>
              </a:defRPr>
            </a:pPr>
            <a:r>
              <a:rPr sz="2250" b="0">
                <a:solidFill>
                  <a:srgbClr val="336C81"/>
                </a:solidFill>
              </a:rPr>
              <a:t>原因は単なる件数不足に加え、</a:t>
            </a:r>
          </a:p>
          <a:p xmlns:a="http://schemas.openxmlformats.org/drawingml/2006/main">
            <a:pPr>
              <a:defRPr sz="2250" b="0">
                <a:solidFill>
                  <a:srgbClr val="336C81"/>
                </a:solidFill>
              </a:defRPr>
            </a:pPr>
            <a:r>
              <a:rPr sz="2250" b="0">
                <a:solidFill>
                  <a:srgbClr val="336C81"/>
                </a:solidFill>
              </a:rPr>
              <a:t>距離・近傍数・クラス形状の組み合わせにある</a:t>
            </a:r>
          </a:p>
        </p:txBody>
      </p:sp>
      <p:sp>
        <p:nvSpPr>
          <p:cNvPr id="5" name="">
            <a:extLst xmlns:a="http://schemas.openxmlformats.org/drawingml/2006/main">
              <a:ext uri="{FF2B5EF4-FFF2-40B4-BE49-F238E27FC236}">
                <a16:creationId xmlns:a16="http://schemas.microsoft.com/office/drawing/2014/main" id="{A182BBA0-DF74-4E78-B454-B8526F1B9CD2}"/>
              </a:ext>
            </a:extLst>
          </p:cNvPr>
          <p:cNvSpPr>
            <a:spLocks xmlns:a="http://schemas.openxmlformats.org/drawingml/2006/main" noGrp="1"/>
          </p:cNvSpPr>
          <p:nvPr/>
        </p:nvSpPr>
        <p:spPr>
          <a:xfrm xmlns:a="http://schemas.openxmlformats.org/drawingml/2006/main">
            <a:off x="11144250" y="6276975"/>
            <a:ext cx="5238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6B7F90"/>
                </a:solidFill>
              </a:defRPr>
            </a:defPPr>
            <a:lvl1pPr>
              <a:defRPr sz="1350" b="0">
                <a:solidFill>
                  <a:srgbClr val="6B7F90"/>
                </a:solidFill>
              </a:defRPr>
            </a:lvl1pPr>
            <a:lvl2pPr>
              <a:defRPr sz="1350" b="0">
                <a:solidFill>
                  <a:srgbClr val="6B7F90"/>
                </a:solidFill>
              </a:defRPr>
            </a:lvl2pPr>
            <a:lvl3pPr>
              <a:defRPr sz="1350" b="0">
                <a:solidFill>
                  <a:srgbClr val="6B7F90"/>
                </a:solidFill>
              </a:defRPr>
            </a:lvl3pPr>
            <a:lvl4pPr>
              <a:defRPr sz="1350" b="0">
                <a:solidFill>
                  <a:srgbClr val="6B7F90"/>
                </a:solidFill>
              </a:defRPr>
            </a:lvl4pPr>
            <a:lvl5pPr>
              <a:defRPr sz="1350" b="0">
                <a:solidFill>
                  <a:srgbClr val="6B7F90"/>
                </a:solidFill>
              </a:defRPr>
            </a:lvl5pPr>
            <a:lvl6pPr>
              <a:defRPr sz="1350" b="0">
                <a:solidFill>
                  <a:srgbClr val="6B7F90"/>
                </a:solidFill>
              </a:defRPr>
            </a:lvl6pPr>
            <a:lvl7pPr>
              <a:defRPr sz="1350" b="0">
                <a:solidFill>
                  <a:srgbClr val="6B7F90"/>
                </a:solidFill>
              </a:defRPr>
            </a:lvl7pPr>
            <a:lvl8pPr>
              <a:defRPr sz="1350" b="0">
                <a:solidFill>
                  <a:srgbClr val="6B7F90"/>
                </a:solidFill>
              </a:defRPr>
            </a:lvl8pPr>
            <a:lvl9pPr>
              <a:defRPr sz="1350" b="0">
                <a:solidFill>
                  <a:srgbClr val="6B7F90"/>
                </a:solidFill>
              </a:defRPr>
            </a:lvl9pPr>
          </a:lstStyle>
          <a:p xmlns:a="http://schemas.openxmlformats.org/drawingml/2006/main">
            <a:pPr>
              <a:defRPr sz="1350" b="0">
                <a:solidFill>
                  <a:srgbClr val="6B7F90"/>
                </a:solidFill>
              </a:defRPr>
            </a:pPr>
            <a:r>
              <a:rPr sz="1350" b="0">
                <a:solidFill>
                  <a:srgbClr val="6B7F90"/>
                </a:solidFill>
              </a:rPr>
              <a:t>13</a:t>
            </a:r>
          </a:p>
        </p:txBody>
      </p:sp>
    </p:spTree>
    <p:extLst>
      <p:ext uri="{BB962C8B-B14F-4D97-AF65-F5344CB8AC3E}">
        <p14:creationId xmlns:p14="http://schemas.microsoft.com/office/powerpoint/2010/main" val="202474731"/>
      </p:ext>
    </p:extLst>
  </p:cSld>
</p:sld>
</file>

<file path=ppt/slides/slide14.xml><?xml version="1.0" encoding="utf-8"?>
<p:sld xmlns:p="http://schemas.openxmlformats.org/presentationml/2006/main">
  <p:cSld>
    <p:bg>
      <p:bgPr>
        <a:solidFill xmlns:a="http://schemas.openxmlformats.org/drawingml/2006/main">
          <a:srgbClr val="FAFBFD"/>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5AF0B159-3235-4A30-8450-88E62CFCE94E}"/>
              </a:ext>
            </a:extLst>
          </p:cNvPr>
          <p:cNvSpPr>
            <a:spLocks xmlns:a="http://schemas.openxmlformats.org/drawingml/2006/main" noGrp="1"/>
          </p:cNvSpPr>
          <p:nvPr/>
        </p:nvSpPr>
        <p:spPr>
          <a:xfrm xmlns:a="http://schemas.openxmlformats.org/drawingml/2006/main">
            <a:off x="685800" y="495300"/>
            <a:ext cx="10858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150" b="1">
                <a:solidFill>
                  <a:srgbClr val="102B46"/>
                </a:solidFill>
              </a:defRPr>
            </a:defPPr>
            <a:lvl1pPr>
              <a:defRPr sz="3150" b="1">
                <a:solidFill>
                  <a:srgbClr val="102B46"/>
                </a:solidFill>
              </a:defRPr>
            </a:lvl1pPr>
            <a:lvl2pPr>
              <a:defRPr sz="3150" b="1">
                <a:solidFill>
                  <a:srgbClr val="102B46"/>
                </a:solidFill>
              </a:defRPr>
            </a:lvl2pPr>
            <a:lvl3pPr>
              <a:defRPr sz="3150" b="1">
                <a:solidFill>
                  <a:srgbClr val="102B46"/>
                </a:solidFill>
              </a:defRPr>
            </a:lvl3pPr>
            <a:lvl4pPr>
              <a:defRPr sz="3150" b="1">
                <a:solidFill>
                  <a:srgbClr val="102B46"/>
                </a:solidFill>
              </a:defRPr>
            </a:lvl4pPr>
            <a:lvl5pPr>
              <a:defRPr sz="3150" b="1">
                <a:solidFill>
                  <a:srgbClr val="102B46"/>
                </a:solidFill>
              </a:defRPr>
            </a:lvl5pPr>
            <a:lvl6pPr>
              <a:defRPr sz="3150" b="1">
                <a:solidFill>
                  <a:srgbClr val="102B46"/>
                </a:solidFill>
              </a:defRPr>
            </a:lvl6pPr>
            <a:lvl7pPr>
              <a:defRPr sz="3150" b="1">
                <a:solidFill>
                  <a:srgbClr val="102B46"/>
                </a:solidFill>
              </a:defRPr>
            </a:lvl7pPr>
            <a:lvl8pPr>
              <a:defRPr sz="3150" b="1">
                <a:solidFill>
                  <a:srgbClr val="102B46"/>
                </a:solidFill>
              </a:defRPr>
            </a:lvl8pPr>
            <a:lvl9pPr>
              <a:defRPr sz="3150" b="1">
                <a:solidFill>
                  <a:srgbClr val="102B46"/>
                </a:solidFill>
              </a:defRPr>
            </a:lvl9pPr>
          </a:lstStyle>
          <a:p xmlns:a="http://schemas.openxmlformats.org/drawingml/2006/main">
            <a:pPr>
              <a:defRPr sz="3150" b="1">
                <a:solidFill>
                  <a:srgbClr val="102B46"/>
                </a:solidFill>
              </a:defRPr>
            </a:pPr>
            <a:r>
              <a:rPr sz="3150" b="1">
                <a:solidFill>
                  <a:srgbClr val="102B46"/>
                </a:solidFill>
              </a:rPr>
              <a:t>コピュラSMOTEは補間する空間を変える案</a:t>
            </a:r>
          </a:p>
        </p:txBody>
      </p:sp>
      <p:sp>
        <p:nvSpPr>
          <p:cNvPr id="3" name="">
            <a:extLst xmlns:a="http://schemas.openxmlformats.org/drawingml/2006/main">
              <a:ext uri="{FF2B5EF4-FFF2-40B4-BE49-F238E27FC236}">
                <a16:creationId xmlns:a16="http://schemas.microsoft.com/office/drawing/2014/main" id="{203C7886-EDE0-453B-B512-A9ACB82AB22C}"/>
              </a:ext>
            </a:extLst>
          </p:cNvPr>
          <p:cNvSpPr>
            <a:spLocks xmlns:a="http://schemas.openxmlformats.org/drawingml/2006/main" noGrp="1"/>
          </p:cNvSpPr>
          <p:nvPr/>
        </p:nvSpPr>
        <p:spPr>
          <a:xfrm xmlns:a="http://schemas.openxmlformats.org/drawingml/2006/main">
            <a:off x="723900" y="1952625"/>
            <a:ext cx="1066800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625" b="1">
                <a:solidFill>
                  <a:srgbClr val="172B4D"/>
                </a:solidFill>
              </a:defRPr>
            </a:defPPr>
            <a:lvl1pPr>
              <a:defRPr sz="2625" b="1">
                <a:solidFill>
                  <a:srgbClr val="172B4D"/>
                </a:solidFill>
              </a:defRPr>
            </a:lvl1pPr>
            <a:lvl2pPr>
              <a:defRPr sz="2625" b="1">
                <a:solidFill>
                  <a:srgbClr val="172B4D"/>
                </a:solidFill>
              </a:defRPr>
            </a:lvl2pPr>
            <a:lvl3pPr>
              <a:defRPr sz="2625" b="1">
                <a:solidFill>
                  <a:srgbClr val="172B4D"/>
                </a:solidFill>
              </a:defRPr>
            </a:lvl3pPr>
            <a:lvl4pPr>
              <a:defRPr sz="2625" b="1">
                <a:solidFill>
                  <a:srgbClr val="172B4D"/>
                </a:solidFill>
              </a:defRPr>
            </a:lvl4pPr>
            <a:lvl5pPr>
              <a:defRPr sz="2625" b="1">
                <a:solidFill>
                  <a:srgbClr val="172B4D"/>
                </a:solidFill>
              </a:defRPr>
            </a:lvl5pPr>
            <a:lvl6pPr>
              <a:defRPr sz="2625" b="1">
                <a:solidFill>
                  <a:srgbClr val="172B4D"/>
                </a:solidFill>
              </a:defRPr>
            </a:lvl6pPr>
            <a:lvl7pPr>
              <a:defRPr sz="2625" b="1">
                <a:solidFill>
                  <a:srgbClr val="172B4D"/>
                </a:solidFill>
              </a:defRPr>
            </a:lvl7pPr>
            <a:lvl8pPr>
              <a:defRPr sz="2625" b="1">
                <a:solidFill>
                  <a:srgbClr val="172B4D"/>
                </a:solidFill>
              </a:defRPr>
            </a:lvl8pPr>
            <a:lvl9pPr>
              <a:defRPr sz="2625" b="1">
                <a:solidFill>
                  <a:srgbClr val="172B4D"/>
                </a:solidFill>
              </a:defRPr>
            </a:lvl9pPr>
          </a:lstStyle>
          <a:p xmlns:a="http://schemas.openxmlformats.org/drawingml/2006/main">
            <a:pPr>
              <a:defRPr sz="2625" b="1">
                <a:solidFill>
                  <a:srgbClr val="172B4D"/>
                </a:solidFill>
              </a:defRPr>
            </a:pPr>
            <a:r>
              <a:rPr sz="2625" b="1">
                <a:solidFill>
                  <a:srgbClr val="172B4D"/>
                </a:solidFill>
              </a:rPr>
              <a:t>今回の定義：クラス内で正規空間へ変換し、</a:t>
            </a:r>
          </a:p>
          <a:p xmlns:a="http://schemas.openxmlformats.org/drawingml/2006/main">
            <a:pPr>
              <a:defRPr sz="2625" b="1">
                <a:solidFill>
                  <a:srgbClr val="172B4D"/>
                </a:solidFill>
              </a:defRPr>
            </a:pPr>
            <a:r>
              <a:rPr sz="2625" b="1">
                <a:solidFill>
                  <a:srgbClr val="172B4D"/>
                </a:solidFill>
              </a:rPr>
              <a:t>SMOTEで補間して元の尺度へ戻す</a:t>
            </a:r>
          </a:p>
        </p:txBody>
      </p:sp>
      <p:sp>
        <p:nvSpPr>
          <p:cNvPr id="4" name="">
            <a:extLst xmlns:a="http://schemas.openxmlformats.org/drawingml/2006/main">
              <a:ext uri="{FF2B5EF4-FFF2-40B4-BE49-F238E27FC236}">
                <a16:creationId xmlns:a16="http://schemas.microsoft.com/office/drawing/2014/main" id="{26E2B381-B354-4276-9580-F061E5CD72C9}"/>
              </a:ext>
            </a:extLst>
          </p:cNvPr>
          <p:cNvSpPr>
            <a:spLocks xmlns:a="http://schemas.openxmlformats.org/drawingml/2006/main" noGrp="1"/>
          </p:cNvSpPr>
          <p:nvPr/>
        </p:nvSpPr>
        <p:spPr>
          <a:xfrm xmlns:a="http://schemas.openxmlformats.org/drawingml/2006/main">
            <a:off x="723900" y="3943350"/>
            <a:ext cx="10668000" cy="1562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0">
                <a:solidFill>
                  <a:srgbClr val="336C81"/>
                </a:solidFill>
              </a:defRPr>
            </a:defPPr>
            <a:lvl1pPr>
              <a:defRPr sz="2250" b="0">
                <a:solidFill>
                  <a:srgbClr val="336C81"/>
                </a:solidFill>
              </a:defRPr>
            </a:lvl1pPr>
            <a:lvl2pPr>
              <a:defRPr sz="2250" b="0">
                <a:solidFill>
                  <a:srgbClr val="336C81"/>
                </a:solidFill>
              </a:defRPr>
            </a:lvl2pPr>
            <a:lvl3pPr>
              <a:defRPr sz="2250" b="0">
                <a:solidFill>
                  <a:srgbClr val="336C81"/>
                </a:solidFill>
              </a:defRPr>
            </a:lvl3pPr>
            <a:lvl4pPr>
              <a:defRPr sz="2250" b="0">
                <a:solidFill>
                  <a:srgbClr val="336C81"/>
                </a:solidFill>
              </a:defRPr>
            </a:lvl4pPr>
            <a:lvl5pPr>
              <a:defRPr sz="2250" b="0">
                <a:solidFill>
                  <a:srgbClr val="336C81"/>
                </a:solidFill>
              </a:defRPr>
            </a:lvl5pPr>
            <a:lvl6pPr>
              <a:defRPr sz="2250" b="0">
                <a:solidFill>
                  <a:srgbClr val="336C81"/>
                </a:solidFill>
              </a:defRPr>
            </a:lvl6pPr>
            <a:lvl7pPr>
              <a:defRPr sz="2250" b="0">
                <a:solidFill>
                  <a:srgbClr val="336C81"/>
                </a:solidFill>
              </a:defRPr>
            </a:lvl7pPr>
            <a:lvl8pPr>
              <a:defRPr sz="2250" b="0">
                <a:solidFill>
                  <a:srgbClr val="336C81"/>
                </a:solidFill>
              </a:defRPr>
            </a:lvl8pPr>
            <a:lvl9pPr>
              <a:defRPr sz="2250" b="0">
                <a:solidFill>
                  <a:srgbClr val="336C81"/>
                </a:solidFill>
              </a:defRPr>
            </a:lvl9pPr>
          </a:lstStyle>
          <a:p xmlns:a="http://schemas.openxmlformats.org/drawingml/2006/main">
            <a:pPr>
              <a:defRPr sz="2250" b="0">
                <a:solidFill>
                  <a:srgbClr val="336C81"/>
                </a:solidFill>
              </a:defRPr>
            </a:pPr>
            <a:r>
              <a:rPr sz="2250" b="0">
                <a:solidFill>
                  <a:srgbClr val="336C81"/>
                </a:solidFill>
              </a:rPr>
              <a:t>狙い：周辺分布の歪みを調整する</a:t>
            </a:r>
          </a:p>
          <a:p xmlns:a="http://schemas.openxmlformats.org/drawingml/2006/main">
            <a:pPr>
              <a:defRPr sz="2250" b="0">
                <a:solidFill>
                  <a:srgbClr val="336C81"/>
                </a:solidFill>
              </a:defRPr>
            </a:pPr>
            <a:r>
              <a:rPr sz="2250" b="0">
                <a:solidFill>
                  <a:srgbClr val="336C81"/>
                </a:solidFill>
              </a:rPr>
              <a:t>残る問い：変換後の近さは分類上も意味があるか</a:t>
            </a:r>
          </a:p>
        </p:txBody>
      </p:sp>
      <p:sp>
        <p:nvSpPr>
          <p:cNvPr id="5" name="">
            <a:extLst xmlns:a="http://schemas.openxmlformats.org/drawingml/2006/main">
              <a:ext uri="{FF2B5EF4-FFF2-40B4-BE49-F238E27FC236}">
                <a16:creationId xmlns:a16="http://schemas.microsoft.com/office/drawing/2014/main" id="{15EA10E9-F1EC-489C-9F4B-D8E24F27E9DD}"/>
              </a:ext>
            </a:extLst>
          </p:cNvPr>
          <p:cNvSpPr>
            <a:spLocks xmlns:a="http://schemas.openxmlformats.org/drawingml/2006/main" noGrp="1"/>
          </p:cNvSpPr>
          <p:nvPr/>
        </p:nvSpPr>
        <p:spPr>
          <a:xfrm xmlns:a="http://schemas.openxmlformats.org/drawingml/2006/main">
            <a:off x="11144250" y="6276975"/>
            <a:ext cx="5238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6B7F90"/>
                </a:solidFill>
              </a:defRPr>
            </a:defPPr>
            <a:lvl1pPr>
              <a:defRPr sz="1350" b="0">
                <a:solidFill>
                  <a:srgbClr val="6B7F90"/>
                </a:solidFill>
              </a:defRPr>
            </a:lvl1pPr>
            <a:lvl2pPr>
              <a:defRPr sz="1350" b="0">
                <a:solidFill>
                  <a:srgbClr val="6B7F90"/>
                </a:solidFill>
              </a:defRPr>
            </a:lvl2pPr>
            <a:lvl3pPr>
              <a:defRPr sz="1350" b="0">
                <a:solidFill>
                  <a:srgbClr val="6B7F90"/>
                </a:solidFill>
              </a:defRPr>
            </a:lvl3pPr>
            <a:lvl4pPr>
              <a:defRPr sz="1350" b="0">
                <a:solidFill>
                  <a:srgbClr val="6B7F90"/>
                </a:solidFill>
              </a:defRPr>
            </a:lvl4pPr>
            <a:lvl5pPr>
              <a:defRPr sz="1350" b="0">
                <a:solidFill>
                  <a:srgbClr val="6B7F90"/>
                </a:solidFill>
              </a:defRPr>
            </a:lvl5pPr>
            <a:lvl6pPr>
              <a:defRPr sz="1350" b="0">
                <a:solidFill>
                  <a:srgbClr val="6B7F90"/>
                </a:solidFill>
              </a:defRPr>
            </a:lvl6pPr>
            <a:lvl7pPr>
              <a:defRPr sz="1350" b="0">
                <a:solidFill>
                  <a:srgbClr val="6B7F90"/>
                </a:solidFill>
              </a:defRPr>
            </a:lvl7pPr>
            <a:lvl8pPr>
              <a:defRPr sz="1350" b="0">
                <a:solidFill>
                  <a:srgbClr val="6B7F90"/>
                </a:solidFill>
              </a:defRPr>
            </a:lvl8pPr>
            <a:lvl9pPr>
              <a:defRPr sz="1350" b="0">
                <a:solidFill>
                  <a:srgbClr val="6B7F90"/>
                </a:solidFill>
              </a:defRPr>
            </a:lvl9pPr>
          </a:lstStyle>
          <a:p xmlns:a="http://schemas.openxmlformats.org/drawingml/2006/main">
            <a:pPr>
              <a:defRPr sz="1350" b="0">
                <a:solidFill>
                  <a:srgbClr val="6B7F90"/>
                </a:solidFill>
              </a:defRPr>
            </a:pPr>
            <a:r>
              <a:rPr sz="1350" b="0">
                <a:solidFill>
                  <a:srgbClr val="6B7F90"/>
                </a:solidFill>
              </a:rPr>
              <a:t>14</a:t>
            </a:r>
          </a:p>
        </p:txBody>
      </p:sp>
    </p:spTree>
    <p:extLst>
      <p:ext uri="{BB962C8B-B14F-4D97-AF65-F5344CB8AC3E}">
        <p14:creationId xmlns:p14="http://schemas.microsoft.com/office/powerpoint/2010/main" val="216519267"/>
      </p:ext>
    </p:extLst>
  </p:cSld>
</p:sld>
</file>

<file path=ppt/slides/slide15.xml><?xml version="1.0" encoding="utf-8"?>
<p:sld xmlns:p="http://schemas.openxmlformats.org/presentationml/2006/main">
  <p:cSld>
    <p:bg>
      <p:bgPr>
        <a:solidFill xmlns:a="http://schemas.openxmlformats.org/drawingml/2006/main">
          <a:srgbClr val="FAFBFD"/>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0469BB21-515D-4311-A93B-9E216AD38BBF}"/>
              </a:ext>
            </a:extLst>
          </p:cNvPr>
          <p:cNvSpPr>
            <a:spLocks xmlns:a="http://schemas.openxmlformats.org/drawingml/2006/main" noGrp="1"/>
          </p:cNvSpPr>
          <p:nvPr/>
        </p:nvSpPr>
        <p:spPr>
          <a:xfrm xmlns:a="http://schemas.openxmlformats.org/drawingml/2006/main">
            <a:off x="685800" y="495300"/>
            <a:ext cx="10858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150" b="1">
                <a:solidFill>
                  <a:srgbClr val="102B46"/>
                </a:solidFill>
              </a:defRPr>
            </a:defPPr>
            <a:lvl1pPr>
              <a:defRPr sz="3150" b="1">
                <a:solidFill>
                  <a:srgbClr val="102B46"/>
                </a:solidFill>
              </a:defRPr>
            </a:lvl1pPr>
            <a:lvl2pPr>
              <a:defRPr sz="3150" b="1">
                <a:solidFill>
                  <a:srgbClr val="102B46"/>
                </a:solidFill>
              </a:defRPr>
            </a:lvl2pPr>
            <a:lvl3pPr>
              <a:defRPr sz="3150" b="1">
                <a:solidFill>
                  <a:srgbClr val="102B46"/>
                </a:solidFill>
              </a:defRPr>
            </a:lvl3pPr>
            <a:lvl4pPr>
              <a:defRPr sz="3150" b="1">
                <a:solidFill>
                  <a:srgbClr val="102B46"/>
                </a:solidFill>
              </a:defRPr>
            </a:lvl4pPr>
            <a:lvl5pPr>
              <a:defRPr sz="3150" b="1">
                <a:solidFill>
                  <a:srgbClr val="102B46"/>
                </a:solidFill>
              </a:defRPr>
            </a:lvl5pPr>
            <a:lvl6pPr>
              <a:defRPr sz="3150" b="1">
                <a:solidFill>
                  <a:srgbClr val="102B46"/>
                </a:solidFill>
              </a:defRPr>
            </a:lvl6pPr>
            <a:lvl7pPr>
              <a:defRPr sz="3150" b="1">
                <a:solidFill>
                  <a:srgbClr val="102B46"/>
                </a:solidFill>
              </a:defRPr>
            </a:lvl7pPr>
            <a:lvl8pPr>
              <a:defRPr sz="3150" b="1">
                <a:solidFill>
                  <a:srgbClr val="102B46"/>
                </a:solidFill>
              </a:defRPr>
            </a:lvl8pPr>
            <a:lvl9pPr>
              <a:defRPr sz="3150" b="1">
                <a:solidFill>
                  <a:srgbClr val="102B46"/>
                </a:solidFill>
              </a:defRPr>
            </a:lvl9pPr>
          </a:lstStyle>
          <a:p xmlns:a="http://schemas.openxmlformats.org/drawingml/2006/main">
            <a:pPr>
              <a:defRPr sz="3150" b="1">
                <a:solidFill>
                  <a:srgbClr val="102B46"/>
                </a:solidFill>
              </a:defRPr>
            </a:pPr>
            <a:r>
              <a:rPr sz="3150" b="1">
                <a:solidFill>
                  <a:srgbClr val="102B46"/>
                </a:solidFill>
              </a:rPr>
              <a:t>CTGANの柔軟さは少数例の不足を消さない</a:t>
            </a:r>
          </a:p>
        </p:txBody>
      </p:sp>
      <p:sp>
        <p:nvSpPr>
          <p:cNvPr id="3" name="">
            <a:extLst xmlns:a="http://schemas.openxmlformats.org/drawingml/2006/main">
              <a:ext uri="{FF2B5EF4-FFF2-40B4-BE49-F238E27FC236}">
                <a16:creationId xmlns:a16="http://schemas.microsoft.com/office/drawing/2014/main" id="{482C1404-6349-4AB5-BC72-F25BF0585869}"/>
              </a:ext>
            </a:extLst>
          </p:cNvPr>
          <p:cNvSpPr>
            <a:spLocks xmlns:a="http://schemas.openxmlformats.org/drawingml/2006/main" noGrp="1"/>
          </p:cNvSpPr>
          <p:nvPr/>
        </p:nvSpPr>
        <p:spPr>
          <a:xfrm xmlns:a="http://schemas.openxmlformats.org/drawingml/2006/main">
            <a:off x="723900" y="1952625"/>
            <a:ext cx="1066800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625" b="1">
                <a:solidFill>
                  <a:srgbClr val="172B4D"/>
                </a:solidFill>
              </a:defRPr>
            </a:defPPr>
            <a:lvl1pPr>
              <a:defRPr sz="2625" b="1">
                <a:solidFill>
                  <a:srgbClr val="172B4D"/>
                </a:solidFill>
              </a:defRPr>
            </a:lvl1pPr>
            <a:lvl2pPr>
              <a:defRPr sz="2625" b="1">
                <a:solidFill>
                  <a:srgbClr val="172B4D"/>
                </a:solidFill>
              </a:defRPr>
            </a:lvl2pPr>
            <a:lvl3pPr>
              <a:defRPr sz="2625" b="1">
                <a:solidFill>
                  <a:srgbClr val="172B4D"/>
                </a:solidFill>
              </a:defRPr>
            </a:lvl3pPr>
            <a:lvl4pPr>
              <a:defRPr sz="2625" b="1">
                <a:solidFill>
                  <a:srgbClr val="172B4D"/>
                </a:solidFill>
              </a:defRPr>
            </a:lvl4pPr>
            <a:lvl5pPr>
              <a:defRPr sz="2625" b="1">
                <a:solidFill>
                  <a:srgbClr val="172B4D"/>
                </a:solidFill>
              </a:defRPr>
            </a:lvl5pPr>
            <a:lvl6pPr>
              <a:defRPr sz="2625" b="1">
                <a:solidFill>
                  <a:srgbClr val="172B4D"/>
                </a:solidFill>
              </a:defRPr>
            </a:lvl6pPr>
            <a:lvl7pPr>
              <a:defRPr sz="2625" b="1">
                <a:solidFill>
                  <a:srgbClr val="172B4D"/>
                </a:solidFill>
              </a:defRPr>
            </a:lvl7pPr>
            <a:lvl8pPr>
              <a:defRPr sz="2625" b="1">
                <a:solidFill>
                  <a:srgbClr val="172B4D"/>
                </a:solidFill>
              </a:defRPr>
            </a:lvl8pPr>
            <a:lvl9pPr>
              <a:defRPr sz="2625" b="1">
                <a:solidFill>
                  <a:srgbClr val="172B4D"/>
                </a:solidFill>
              </a:defRPr>
            </a:lvl9pPr>
          </a:lstStyle>
          <a:p xmlns:a="http://schemas.openxmlformats.org/drawingml/2006/main">
            <a:pPr>
              <a:defRPr sz="2625" b="1">
                <a:solidFill>
                  <a:srgbClr val="172B4D"/>
                </a:solidFill>
              </a:defRPr>
            </a:pPr>
            <a:r>
              <a:rPr sz="2625" b="1">
                <a:solidFill>
                  <a:srgbClr val="172B4D"/>
                </a:solidFill>
              </a:rPr>
              <a:t>ラベルをカテゴリ列として含め、</a:t>
            </a:r>
          </a:p>
          <a:p xmlns:a="http://schemas.openxmlformats.org/drawingml/2006/main">
            <a:pPr>
              <a:defRPr sz="2625" b="1">
                <a:solidFill>
                  <a:srgbClr val="172B4D"/>
                </a:solidFill>
              </a:defRPr>
            </a:pPr>
            <a:r>
              <a:rPr sz="2625" b="1">
                <a:solidFill>
                  <a:srgbClr val="172B4D"/>
                </a:solidFill>
              </a:rPr>
              <a:t>少数クラスを条件に合成行を得る</a:t>
            </a:r>
          </a:p>
        </p:txBody>
      </p:sp>
      <p:sp>
        <p:nvSpPr>
          <p:cNvPr id="4" name="">
            <a:extLst xmlns:a="http://schemas.openxmlformats.org/drawingml/2006/main">
              <a:ext uri="{FF2B5EF4-FFF2-40B4-BE49-F238E27FC236}">
                <a16:creationId xmlns:a16="http://schemas.microsoft.com/office/drawing/2014/main" id="{1477B0E5-AA81-42DF-953B-CC5AA5916ECE}"/>
              </a:ext>
            </a:extLst>
          </p:cNvPr>
          <p:cNvSpPr>
            <a:spLocks xmlns:a="http://schemas.openxmlformats.org/drawingml/2006/main" noGrp="1"/>
          </p:cNvSpPr>
          <p:nvPr/>
        </p:nvSpPr>
        <p:spPr>
          <a:xfrm xmlns:a="http://schemas.openxmlformats.org/drawingml/2006/main">
            <a:off x="723900" y="3943350"/>
            <a:ext cx="10668000" cy="1562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0">
                <a:solidFill>
                  <a:srgbClr val="336C81"/>
                </a:solidFill>
              </a:defRPr>
            </a:defPPr>
            <a:lvl1pPr>
              <a:defRPr sz="2250" b="0">
                <a:solidFill>
                  <a:srgbClr val="336C81"/>
                </a:solidFill>
              </a:defRPr>
            </a:lvl1pPr>
            <a:lvl2pPr>
              <a:defRPr sz="2250" b="0">
                <a:solidFill>
                  <a:srgbClr val="336C81"/>
                </a:solidFill>
              </a:defRPr>
            </a:lvl2pPr>
            <a:lvl3pPr>
              <a:defRPr sz="2250" b="0">
                <a:solidFill>
                  <a:srgbClr val="336C81"/>
                </a:solidFill>
              </a:defRPr>
            </a:lvl3pPr>
            <a:lvl4pPr>
              <a:defRPr sz="2250" b="0">
                <a:solidFill>
                  <a:srgbClr val="336C81"/>
                </a:solidFill>
              </a:defRPr>
            </a:lvl4pPr>
            <a:lvl5pPr>
              <a:defRPr sz="2250" b="0">
                <a:solidFill>
                  <a:srgbClr val="336C81"/>
                </a:solidFill>
              </a:defRPr>
            </a:lvl5pPr>
            <a:lvl6pPr>
              <a:defRPr sz="2250" b="0">
                <a:solidFill>
                  <a:srgbClr val="336C81"/>
                </a:solidFill>
              </a:defRPr>
            </a:lvl6pPr>
            <a:lvl7pPr>
              <a:defRPr sz="2250" b="0">
                <a:solidFill>
                  <a:srgbClr val="336C81"/>
                </a:solidFill>
              </a:defRPr>
            </a:lvl7pPr>
            <a:lvl8pPr>
              <a:defRPr sz="2250" b="0">
                <a:solidFill>
                  <a:srgbClr val="336C81"/>
                </a:solidFill>
              </a:defRPr>
            </a:lvl8pPr>
            <a:lvl9pPr>
              <a:defRPr sz="2250" b="0">
                <a:solidFill>
                  <a:srgbClr val="336C81"/>
                </a:solidFill>
              </a:defRPr>
            </a:lvl9pPr>
          </a:lstStyle>
          <a:p xmlns:a="http://schemas.openxmlformats.org/drawingml/2006/main">
            <a:pPr>
              <a:defRPr sz="2250" b="0">
                <a:solidFill>
                  <a:srgbClr val="336C81"/>
                </a:solidFill>
              </a:defRPr>
            </a:pPr>
            <a:r>
              <a:rPr sz="2250" b="0">
                <a:solidFill>
                  <a:srgbClr val="336C81"/>
                </a:solidFill>
              </a:rPr>
              <a:t>複雑な分布を学ぶ余地がある一方、</a:t>
            </a:r>
          </a:p>
          <a:p xmlns:a="http://schemas.openxmlformats.org/drawingml/2006/main">
            <a:pPr>
              <a:defRPr sz="2250" b="0">
                <a:solidFill>
                  <a:srgbClr val="336C81"/>
                </a:solidFill>
              </a:defRPr>
            </a:pPr>
            <a:r>
              <a:rPr sz="2250" b="0">
                <a:solidFill>
                  <a:srgbClr val="336C81"/>
                </a:solidFill>
              </a:rPr>
              <a:t>少数例への過適合や生成の偏りを検証する必要がある</a:t>
            </a:r>
          </a:p>
        </p:txBody>
      </p:sp>
      <p:sp>
        <p:nvSpPr>
          <p:cNvPr id="5" name="">
            <a:extLst xmlns:a="http://schemas.openxmlformats.org/drawingml/2006/main">
              <a:ext uri="{FF2B5EF4-FFF2-40B4-BE49-F238E27FC236}">
                <a16:creationId xmlns:a16="http://schemas.microsoft.com/office/drawing/2014/main" id="{57111755-F628-4360-BEE2-B21592F52455}"/>
              </a:ext>
            </a:extLst>
          </p:cNvPr>
          <p:cNvSpPr>
            <a:spLocks xmlns:a="http://schemas.openxmlformats.org/drawingml/2006/main" noGrp="1"/>
          </p:cNvSpPr>
          <p:nvPr/>
        </p:nvSpPr>
        <p:spPr>
          <a:xfrm xmlns:a="http://schemas.openxmlformats.org/drawingml/2006/main">
            <a:off x="11144250" y="6276975"/>
            <a:ext cx="5238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6B7F90"/>
                </a:solidFill>
              </a:defRPr>
            </a:defPPr>
            <a:lvl1pPr>
              <a:defRPr sz="1350" b="0">
                <a:solidFill>
                  <a:srgbClr val="6B7F90"/>
                </a:solidFill>
              </a:defRPr>
            </a:lvl1pPr>
            <a:lvl2pPr>
              <a:defRPr sz="1350" b="0">
                <a:solidFill>
                  <a:srgbClr val="6B7F90"/>
                </a:solidFill>
              </a:defRPr>
            </a:lvl2pPr>
            <a:lvl3pPr>
              <a:defRPr sz="1350" b="0">
                <a:solidFill>
                  <a:srgbClr val="6B7F90"/>
                </a:solidFill>
              </a:defRPr>
            </a:lvl3pPr>
            <a:lvl4pPr>
              <a:defRPr sz="1350" b="0">
                <a:solidFill>
                  <a:srgbClr val="6B7F90"/>
                </a:solidFill>
              </a:defRPr>
            </a:lvl4pPr>
            <a:lvl5pPr>
              <a:defRPr sz="1350" b="0">
                <a:solidFill>
                  <a:srgbClr val="6B7F90"/>
                </a:solidFill>
              </a:defRPr>
            </a:lvl5pPr>
            <a:lvl6pPr>
              <a:defRPr sz="1350" b="0">
                <a:solidFill>
                  <a:srgbClr val="6B7F90"/>
                </a:solidFill>
              </a:defRPr>
            </a:lvl6pPr>
            <a:lvl7pPr>
              <a:defRPr sz="1350" b="0">
                <a:solidFill>
                  <a:srgbClr val="6B7F90"/>
                </a:solidFill>
              </a:defRPr>
            </a:lvl7pPr>
            <a:lvl8pPr>
              <a:defRPr sz="1350" b="0">
                <a:solidFill>
                  <a:srgbClr val="6B7F90"/>
                </a:solidFill>
              </a:defRPr>
            </a:lvl8pPr>
            <a:lvl9pPr>
              <a:defRPr sz="1350" b="0">
                <a:solidFill>
                  <a:srgbClr val="6B7F90"/>
                </a:solidFill>
              </a:defRPr>
            </a:lvl9pPr>
          </a:lstStyle>
          <a:p xmlns:a="http://schemas.openxmlformats.org/drawingml/2006/main">
            <a:pPr>
              <a:defRPr sz="1350" b="0">
                <a:solidFill>
                  <a:srgbClr val="6B7F90"/>
                </a:solidFill>
              </a:defRPr>
            </a:pPr>
            <a:r>
              <a:rPr sz="1350" b="0">
                <a:solidFill>
                  <a:srgbClr val="6B7F90"/>
                </a:solidFill>
              </a:rPr>
              <a:t>15</a:t>
            </a:r>
          </a:p>
        </p:txBody>
      </p:sp>
    </p:spTree>
    <p:extLst>
      <p:ext uri="{BB962C8B-B14F-4D97-AF65-F5344CB8AC3E}">
        <p14:creationId xmlns:p14="http://schemas.microsoft.com/office/powerpoint/2010/main" val="25599746"/>
      </p:ext>
    </p:extLst>
  </p:cSld>
</p:sld>
</file>

<file path=ppt/slides/slide16.xml><?xml version="1.0" encoding="utf-8"?>
<p:sld xmlns:p="http://schemas.openxmlformats.org/presentationml/2006/main">
  <p:cSld>
    <p:bg>
      <p:bgPr>
        <a:solidFill xmlns:a="http://schemas.openxmlformats.org/drawingml/2006/main">
          <a:srgbClr val="FAFBFD"/>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4946DA80-263B-4D25-BC4E-EF122CEEC550}"/>
              </a:ext>
            </a:extLst>
          </p:cNvPr>
          <p:cNvSpPr>
            <a:spLocks xmlns:a="http://schemas.openxmlformats.org/drawingml/2006/main" noGrp="1"/>
          </p:cNvSpPr>
          <p:nvPr/>
        </p:nvSpPr>
        <p:spPr>
          <a:xfrm xmlns:a="http://schemas.openxmlformats.org/drawingml/2006/main">
            <a:off x="685800" y="495300"/>
            <a:ext cx="10858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150" b="1">
                <a:solidFill>
                  <a:srgbClr val="102B46"/>
                </a:solidFill>
              </a:defRPr>
            </a:defPPr>
            <a:lvl1pPr>
              <a:defRPr sz="3150" b="1">
                <a:solidFill>
                  <a:srgbClr val="102B46"/>
                </a:solidFill>
              </a:defRPr>
            </a:lvl1pPr>
            <a:lvl2pPr>
              <a:defRPr sz="3150" b="1">
                <a:solidFill>
                  <a:srgbClr val="102B46"/>
                </a:solidFill>
              </a:defRPr>
            </a:lvl2pPr>
            <a:lvl3pPr>
              <a:defRPr sz="3150" b="1">
                <a:solidFill>
                  <a:srgbClr val="102B46"/>
                </a:solidFill>
              </a:defRPr>
            </a:lvl3pPr>
            <a:lvl4pPr>
              <a:defRPr sz="3150" b="1">
                <a:solidFill>
                  <a:srgbClr val="102B46"/>
                </a:solidFill>
              </a:defRPr>
            </a:lvl4pPr>
            <a:lvl5pPr>
              <a:defRPr sz="3150" b="1">
                <a:solidFill>
                  <a:srgbClr val="102B46"/>
                </a:solidFill>
              </a:defRPr>
            </a:lvl5pPr>
            <a:lvl6pPr>
              <a:defRPr sz="3150" b="1">
                <a:solidFill>
                  <a:srgbClr val="102B46"/>
                </a:solidFill>
              </a:defRPr>
            </a:lvl6pPr>
            <a:lvl7pPr>
              <a:defRPr sz="3150" b="1">
                <a:solidFill>
                  <a:srgbClr val="102B46"/>
                </a:solidFill>
              </a:defRPr>
            </a:lvl7pPr>
            <a:lvl8pPr>
              <a:defRPr sz="3150" b="1">
                <a:solidFill>
                  <a:srgbClr val="102B46"/>
                </a:solidFill>
              </a:defRPr>
            </a:lvl8pPr>
            <a:lvl9pPr>
              <a:defRPr sz="3150" b="1">
                <a:solidFill>
                  <a:srgbClr val="102B46"/>
                </a:solidFill>
              </a:defRPr>
            </a:lvl9pPr>
          </a:lstStyle>
          <a:p xmlns:a="http://schemas.openxmlformats.org/drawingml/2006/main">
            <a:pPr>
              <a:defRPr sz="3150" b="1">
                <a:solidFill>
                  <a:srgbClr val="102B46"/>
                </a:solidFill>
              </a:defRPr>
            </a:pPr>
            <a:r>
              <a:rPr sz="3150" b="1">
                <a:solidFill>
                  <a:srgbClr val="102B46"/>
                </a:solidFill>
              </a:rPr>
              <a:t>CTGANとコピュラを組み合わせる理由</a:t>
            </a:r>
          </a:p>
        </p:txBody>
      </p:sp>
      <p:sp>
        <p:nvSpPr>
          <p:cNvPr id="3" name="">
            <a:extLst xmlns:a="http://schemas.openxmlformats.org/drawingml/2006/main">
              <a:ext uri="{FF2B5EF4-FFF2-40B4-BE49-F238E27FC236}">
                <a16:creationId xmlns:a16="http://schemas.microsoft.com/office/drawing/2014/main" id="{68534C3D-EE9C-4DC3-80FD-100BF89DA5F2}"/>
              </a:ext>
            </a:extLst>
          </p:cNvPr>
          <p:cNvSpPr>
            <a:spLocks xmlns:a="http://schemas.openxmlformats.org/drawingml/2006/main" noGrp="1"/>
          </p:cNvSpPr>
          <p:nvPr/>
        </p:nvSpPr>
        <p:spPr>
          <a:xfrm xmlns:a="http://schemas.openxmlformats.org/drawingml/2006/main">
            <a:off x="723900" y="1952625"/>
            <a:ext cx="1066800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625" b="1">
                <a:solidFill>
                  <a:srgbClr val="172B4D"/>
                </a:solidFill>
              </a:defRPr>
            </a:defPPr>
            <a:lvl1pPr>
              <a:defRPr sz="2625" b="1">
                <a:solidFill>
                  <a:srgbClr val="172B4D"/>
                </a:solidFill>
              </a:defRPr>
            </a:lvl1pPr>
            <a:lvl2pPr>
              <a:defRPr sz="2625" b="1">
                <a:solidFill>
                  <a:srgbClr val="172B4D"/>
                </a:solidFill>
              </a:defRPr>
            </a:lvl2pPr>
            <a:lvl3pPr>
              <a:defRPr sz="2625" b="1">
                <a:solidFill>
                  <a:srgbClr val="172B4D"/>
                </a:solidFill>
              </a:defRPr>
            </a:lvl3pPr>
            <a:lvl4pPr>
              <a:defRPr sz="2625" b="1">
                <a:solidFill>
                  <a:srgbClr val="172B4D"/>
                </a:solidFill>
              </a:defRPr>
            </a:lvl4pPr>
            <a:lvl5pPr>
              <a:defRPr sz="2625" b="1">
                <a:solidFill>
                  <a:srgbClr val="172B4D"/>
                </a:solidFill>
              </a:defRPr>
            </a:lvl5pPr>
            <a:lvl6pPr>
              <a:defRPr sz="2625" b="1">
                <a:solidFill>
                  <a:srgbClr val="172B4D"/>
                </a:solidFill>
              </a:defRPr>
            </a:lvl6pPr>
            <a:lvl7pPr>
              <a:defRPr sz="2625" b="1">
                <a:solidFill>
                  <a:srgbClr val="172B4D"/>
                </a:solidFill>
              </a:defRPr>
            </a:lvl7pPr>
            <a:lvl8pPr>
              <a:defRPr sz="2625" b="1">
                <a:solidFill>
                  <a:srgbClr val="172B4D"/>
                </a:solidFill>
              </a:defRPr>
            </a:lvl8pPr>
            <a:lvl9pPr>
              <a:defRPr sz="2625" b="1">
                <a:solidFill>
                  <a:srgbClr val="172B4D"/>
                </a:solidFill>
              </a:defRPr>
            </a:lvl9pPr>
          </a:lstStyle>
          <a:p xmlns:a="http://schemas.openxmlformats.org/drawingml/2006/main">
            <a:pPr>
              <a:defRPr sz="2625" b="1">
                <a:solidFill>
                  <a:srgbClr val="172B4D"/>
                </a:solidFill>
              </a:defRPr>
            </a:pPr>
            <a:r>
              <a:rPr sz="2625" b="1">
                <a:solidFill>
                  <a:srgbClr val="172B4D"/>
                </a:solidFill>
              </a:rPr>
              <a:t>仮説：分布変換で、GANが学ぶ負担を減らせるか</a:t>
            </a:r>
          </a:p>
        </p:txBody>
      </p:sp>
      <p:sp>
        <p:nvSpPr>
          <p:cNvPr id="4" name="">
            <a:extLst xmlns:a="http://schemas.openxmlformats.org/drawingml/2006/main">
              <a:ext uri="{FF2B5EF4-FFF2-40B4-BE49-F238E27FC236}">
                <a16:creationId xmlns:a16="http://schemas.microsoft.com/office/drawing/2014/main" id="{F6946976-1BC1-4595-9CA9-D049232C6E86}"/>
              </a:ext>
            </a:extLst>
          </p:cNvPr>
          <p:cNvSpPr>
            <a:spLocks xmlns:a="http://schemas.openxmlformats.org/drawingml/2006/main" noGrp="1"/>
          </p:cNvSpPr>
          <p:nvPr/>
        </p:nvSpPr>
        <p:spPr>
          <a:xfrm xmlns:a="http://schemas.openxmlformats.org/drawingml/2006/main">
            <a:off x="723900" y="3943350"/>
            <a:ext cx="10668000" cy="1562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0">
                <a:solidFill>
                  <a:srgbClr val="336C81"/>
                </a:solidFill>
              </a:defRPr>
            </a:defPPr>
            <a:lvl1pPr>
              <a:defRPr sz="2250" b="0">
                <a:solidFill>
                  <a:srgbClr val="336C81"/>
                </a:solidFill>
              </a:defRPr>
            </a:lvl1pPr>
            <a:lvl2pPr>
              <a:defRPr sz="2250" b="0">
                <a:solidFill>
                  <a:srgbClr val="336C81"/>
                </a:solidFill>
              </a:defRPr>
            </a:lvl2pPr>
            <a:lvl3pPr>
              <a:defRPr sz="2250" b="0">
                <a:solidFill>
                  <a:srgbClr val="336C81"/>
                </a:solidFill>
              </a:defRPr>
            </a:lvl3pPr>
            <a:lvl4pPr>
              <a:defRPr sz="2250" b="0">
                <a:solidFill>
                  <a:srgbClr val="336C81"/>
                </a:solidFill>
              </a:defRPr>
            </a:lvl4pPr>
            <a:lvl5pPr>
              <a:defRPr sz="2250" b="0">
                <a:solidFill>
                  <a:srgbClr val="336C81"/>
                </a:solidFill>
              </a:defRPr>
            </a:lvl5pPr>
            <a:lvl6pPr>
              <a:defRPr sz="2250" b="0">
                <a:solidFill>
                  <a:srgbClr val="336C81"/>
                </a:solidFill>
              </a:defRPr>
            </a:lvl6pPr>
            <a:lvl7pPr>
              <a:defRPr sz="2250" b="0">
                <a:solidFill>
                  <a:srgbClr val="336C81"/>
                </a:solidFill>
              </a:defRPr>
            </a:lvl7pPr>
            <a:lvl8pPr>
              <a:defRPr sz="2250" b="0">
                <a:solidFill>
                  <a:srgbClr val="336C81"/>
                </a:solidFill>
              </a:defRPr>
            </a:lvl8pPr>
            <a:lvl9pPr>
              <a:defRPr sz="2250" b="0">
                <a:solidFill>
                  <a:srgbClr val="336C81"/>
                </a:solidFill>
              </a:defRPr>
            </a:lvl9pPr>
          </a:lstStyle>
          <a:p xmlns:a="http://schemas.openxmlformats.org/drawingml/2006/main">
            <a:pPr>
              <a:defRPr sz="2250" b="0">
                <a:solidFill>
                  <a:srgbClr val="336C81"/>
                </a:solidFill>
              </a:defRPr>
            </a:pPr>
            <a:r>
              <a:rPr sz="2250" b="0">
                <a:solidFill>
                  <a:srgbClr val="336C81"/>
                </a:solidFill>
              </a:rPr>
              <a:t>単独CTGANとの差が必要</a:t>
            </a:r>
          </a:p>
          <a:p xmlns:a="http://schemas.openxmlformats.org/drawingml/2006/main">
            <a:pPr>
              <a:defRPr sz="2250" b="0">
                <a:solidFill>
                  <a:srgbClr val="336C81"/>
                </a:solidFill>
              </a:defRPr>
            </a:pPr>
            <a:r>
              <a:rPr sz="2250" b="0">
                <a:solidFill>
                  <a:srgbClr val="336C81"/>
                </a:solidFill>
              </a:rPr>
              <a:t>変換の誤差や内部正規化との重複も起こりうる</a:t>
            </a:r>
          </a:p>
        </p:txBody>
      </p:sp>
      <p:sp>
        <p:nvSpPr>
          <p:cNvPr id="5" name="">
            <a:extLst xmlns:a="http://schemas.openxmlformats.org/drawingml/2006/main">
              <a:ext uri="{FF2B5EF4-FFF2-40B4-BE49-F238E27FC236}">
                <a16:creationId xmlns:a16="http://schemas.microsoft.com/office/drawing/2014/main" id="{4331115D-6FF0-4C72-AAB0-A2BA00207662}"/>
              </a:ext>
            </a:extLst>
          </p:cNvPr>
          <p:cNvSpPr>
            <a:spLocks xmlns:a="http://schemas.openxmlformats.org/drawingml/2006/main" noGrp="1"/>
          </p:cNvSpPr>
          <p:nvPr/>
        </p:nvSpPr>
        <p:spPr>
          <a:xfrm xmlns:a="http://schemas.openxmlformats.org/drawingml/2006/main">
            <a:off x="11144250" y="6276975"/>
            <a:ext cx="5238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6B7F90"/>
                </a:solidFill>
              </a:defRPr>
            </a:defPPr>
            <a:lvl1pPr>
              <a:defRPr sz="1350" b="0">
                <a:solidFill>
                  <a:srgbClr val="6B7F90"/>
                </a:solidFill>
              </a:defRPr>
            </a:lvl1pPr>
            <a:lvl2pPr>
              <a:defRPr sz="1350" b="0">
                <a:solidFill>
                  <a:srgbClr val="6B7F90"/>
                </a:solidFill>
              </a:defRPr>
            </a:lvl2pPr>
            <a:lvl3pPr>
              <a:defRPr sz="1350" b="0">
                <a:solidFill>
                  <a:srgbClr val="6B7F90"/>
                </a:solidFill>
              </a:defRPr>
            </a:lvl3pPr>
            <a:lvl4pPr>
              <a:defRPr sz="1350" b="0">
                <a:solidFill>
                  <a:srgbClr val="6B7F90"/>
                </a:solidFill>
              </a:defRPr>
            </a:lvl4pPr>
            <a:lvl5pPr>
              <a:defRPr sz="1350" b="0">
                <a:solidFill>
                  <a:srgbClr val="6B7F90"/>
                </a:solidFill>
              </a:defRPr>
            </a:lvl5pPr>
            <a:lvl6pPr>
              <a:defRPr sz="1350" b="0">
                <a:solidFill>
                  <a:srgbClr val="6B7F90"/>
                </a:solidFill>
              </a:defRPr>
            </a:lvl6pPr>
            <a:lvl7pPr>
              <a:defRPr sz="1350" b="0">
                <a:solidFill>
                  <a:srgbClr val="6B7F90"/>
                </a:solidFill>
              </a:defRPr>
            </a:lvl7pPr>
            <a:lvl8pPr>
              <a:defRPr sz="1350" b="0">
                <a:solidFill>
                  <a:srgbClr val="6B7F90"/>
                </a:solidFill>
              </a:defRPr>
            </a:lvl8pPr>
            <a:lvl9pPr>
              <a:defRPr sz="1350" b="0">
                <a:solidFill>
                  <a:srgbClr val="6B7F90"/>
                </a:solidFill>
              </a:defRPr>
            </a:lvl9pPr>
          </a:lstStyle>
          <a:p xmlns:a="http://schemas.openxmlformats.org/drawingml/2006/main">
            <a:pPr>
              <a:defRPr sz="1350" b="0">
                <a:solidFill>
                  <a:srgbClr val="6B7F90"/>
                </a:solidFill>
              </a:defRPr>
            </a:pPr>
            <a:r>
              <a:rPr sz="1350" b="0">
                <a:solidFill>
                  <a:srgbClr val="6B7F90"/>
                </a:solidFill>
              </a:rPr>
              <a:t>16</a:t>
            </a:r>
          </a:p>
        </p:txBody>
      </p:sp>
    </p:spTree>
    <p:extLst>
      <p:ext uri="{BB962C8B-B14F-4D97-AF65-F5344CB8AC3E}">
        <p14:creationId xmlns:p14="http://schemas.microsoft.com/office/powerpoint/2010/main" val="796100163"/>
      </p:ext>
    </p:extLst>
  </p:cSld>
</p:sld>
</file>

<file path=ppt/slides/slide17.xml><?xml version="1.0" encoding="utf-8"?>
<p:sld xmlns:p="http://schemas.openxmlformats.org/presentationml/2006/main">
  <p:cSld>
    <p:bg>
      <p:bgPr>
        <a:solidFill xmlns:a="http://schemas.openxmlformats.org/drawingml/2006/main">
          <a:srgbClr val="FAFBFD"/>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89B870C9-06BD-4528-AE4C-B2244745CD31}"/>
              </a:ext>
            </a:extLst>
          </p:cNvPr>
          <p:cNvSpPr>
            <a:spLocks xmlns:a="http://schemas.openxmlformats.org/drawingml/2006/main" noGrp="1"/>
          </p:cNvSpPr>
          <p:nvPr/>
        </p:nvSpPr>
        <p:spPr>
          <a:xfrm xmlns:a="http://schemas.openxmlformats.org/drawingml/2006/main">
            <a:off x="685800" y="495300"/>
            <a:ext cx="10858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150" b="1">
                <a:solidFill>
                  <a:srgbClr val="102B46"/>
                </a:solidFill>
              </a:defRPr>
            </a:defPPr>
            <a:lvl1pPr>
              <a:defRPr sz="3150" b="1">
                <a:solidFill>
                  <a:srgbClr val="102B46"/>
                </a:solidFill>
              </a:defRPr>
            </a:lvl1pPr>
            <a:lvl2pPr>
              <a:defRPr sz="3150" b="1">
                <a:solidFill>
                  <a:srgbClr val="102B46"/>
                </a:solidFill>
              </a:defRPr>
            </a:lvl2pPr>
            <a:lvl3pPr>
              <a:defRPr sz="3150" b="1">
                <a:solidFill>
                  <a:srgbClr val="102B46"/>
                </a:solidFill>
              </a:defRPr>
            </a:lvl3pPr>
            <a:lvl4pPr>
              <a:defRPr sz="3150" b="1">
                <a:solidFill>
                  <a:srgbClr val="102B46"/>
                </a:solidFill>
              </a:defRPr>
            </a:lvl4pPr>
            <a:lvl5pPr>
              <a:defRPr sz="3150" b="1">
                <a:solidFill>
                  <a:srgbClr val="102B46"/>
                </a:solidFill>
              </a:defRPr>
            </a:lvl5pPr>
            <a:lvl6pPr>
              <a:defRPr sz="3150" b="1">
                <a:solidFill>
                  <a:srgbClr val="102B46"/>
                </a:solidFill>
              </a:defRPr>
            </a:lvl6pPr>
            <a:lvl7pPr>
              <a:defRPr sz="3150" b="1">
                <a:solidFill>
                  <a:srgbClr val="102B46"/>
                </a:solidFill>
              </a:defRPr>
            </a:lvl7pPr>
            <a:lvl8pPr>
              <a:defRPr sz="3150" b="1">
                <a:solidFill>
                  <a:srgbClr val="102B46"/>
                </a:solidFill>
              </a:defRPr>
            </a:lvl8pPr>
            <a:lvl9pPr>
              <a:defRPr sz="3150" b="1">
                <a:solidFill>
                  <a:srgbClr val="102B46"/>
                </a:solidFill>
              </a:defRPr>
            </a:lvl9pPr>
          </a:lstStyle>
          <a:p xmlns:a="http://schemas.openxmlformats.org/drawingml/2006/main">
            <a:pPr>
              <a:defRPr sz="3150" b="1">
                <a:solidFill>
                  <a:srgbClr val="102B46"/>
                </a:solidFill>
              </a:defRPr>
            </a:pPr>
            <a:r>
              <a:rPr sz="3150" b="1">
                <a:solidFill>
                  <a:srgbClr val="102B46"/>
                </a:solidFill>
              </a:rPr>
              <a:t>６手法は未観測領域への仮定が異なる</a:t>
            </a:r>
          </a:p>
        </p:txBody>
      </p:sp>
      <p:sp>
        <p:nvSpPr>
          <p:cNvPr id="3" name="">
            <a:extLst xmlns:a="http://schemas.openxmlformats.org/drawingml/2006/main">
              <a:ext uri="{FF2B5EF4-FFF2-40B4-BE49-F238E27FC236}">
                <a16:creationId xmlns:a16="http://schemas.microsoft.com/office/drawing/2014/main" id="{585EA5D1-9143-4A04-9FD7-4A7361B30401}"/>
              </a:ext>
            </a:extLst>
          </p:cNvPr>
          <p:cNvSpPr>
            <a:spLocks xmlns:a="http://schemas.openxmlformats.org/drawingml/2006/main" noGrp="1"/>
          </p:cNvSpPr>
          <p:nvPr/>
        </p:nvSpPr>
        <p:spPr>
          <a:xfrm xmlns:a="http://schemas.openxmlformats.org/drawingml/2006/main">
            <a:off x="11144250" y="6276975"/>
            <a:ext cx="5238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6B7F90"/>
                </a:solidFill>
              </a:defRPr>
            </a:defPPr>
            <a:lvl1pPr>
              <a:defRPr sz="1350" b="0">
                <a:solidFill>
                  <a:srgbClr val="6B7F90"/>
                </a:solidFill>
              </a:defRPr>
            </a:lvl1pPr>
            <a:lvl2pPr>
              <a:defRPr sz="1350" b="0">
                <a:solidFill>
                  <a:srgbClr val="6B7F90"/>
                </a:solidFill>
              </a:defRPr>
            </a:lvl2pPr>
            <a:lvl3pPr>
              <a:defRPr sz="1350" b="0">
                <a:solidFill>
                  <a:srgbClr val="6B7F90"/>
                </a:solidFill>
              </a:defRPr>
            </a:lvl3pPr>
            <a:lvl4pPr>
              <a:defRPr sz="1350" b="0">
                <a:solidFill>
                  <a:srgbClr val="6B7F90"/>
                </a:solidFill>
              </a:defRPr>
            </a:lvl4pPr>
            <a:lvl5pPr>
              <a:defRPr sz="1350" b="0">
                <a:solidFill>
                  <a:srgbClr val="6B7F90"/>
                </a:solidFill>
              </a:defRPr>
            </a:lvl5pPr>
            <a:lvl6pPr>
              <a:defRPr sz="1350" b="0">
                <a:solidFill>
                  <a:srgbClr val="6B7F90"/>
                </a:solidFill>
              </a:defRPr>
            </a:lvl6pPr>
            <a:lvl7pPr>
              <a:defRPr sz="1350" b="0">
                <a:solidFill>
                  <a:srgbClr val="6B7F90"/>
                </a:solidFill>
              </a:defRPr>
            </a:lvl7pPr>
            <a:lvl8pPr>
              <a:defRPr sz="1350" b="0">
                <a:solidFill>
                  <a:srgbClr val="6B7F90"/>
                </a:solidFill>
              </a:defRPr>
            </a:lvl8pPr>
            <a:lvl9pPr>
              <a:defRPr sz="1350" b="0">
                <a:solidFill>
                  <a:srgbClr val="6B7F90"/>
                </a:solidFill>
              </a:defRPr>
            </a:lvl9pPr>
          </a:lstStyle>
          <a:p xmlns:a="http://schemas.openxmlformats.org/drawingml/2006/main">
            <a:pPr>
              <a:defRPr sz="1350" b="0">
                <a:solidFill>
                  <a:srgbClr val="6B7F90"/>
                </a:solidFill>
              </a:defRPr>
            </a:pPr>
            <a:r>
              <a:rPr sz="1350" b="0">
                <a:solidFill>
                  <a:srgbClr val="6B7F90"/>
                </a:solidFill>
              </a:rPr>
              <a:t>17</a:t>
            </a:r>
          </a:p>
        </p:txBody>
      </p:sp>
      <p:graphicFrame>
        <p:nvGraphicFramePr>
          <p:cNvPr id="4" name="">
            <a:extLst xmlns:a="http://schemas.openxmlformats.org/drawingml/2006/main">
              <a:ext uri="{FF2B5EF4-FFF2-40B4-BE49-F238E27FC236}">
                <a16:creationId xmlns:a16="http://schemas.microsoft.com/office/drawing/2014/main" id="{DEDC2C56-4E3B-4ECD-BEA7-7995637B38AA}"/>
              </a:ext>
            </a:extLst>
          </p:cNvPr>
          <p:cNvGraphicFramePr/>
          <p:nvPr/>
        </p:nvGraphicFramePr>
        <p:xfrm>
          <a:off xmlns:a="http://schemas.openxmlformats.org/drawingml/2006/main" x="723900" y="1666875"/>
          <a:ext xmlns:a="http://schemas.openxmlformats.org/drawingml/2006/main" cx="10744200" cy="4238625"/>
        </p:xfrm>
        <a:graphic xmlns:a="http://schemas.openxmlformats.org/drawingml/2006/main">
          <a:graphicData uri="http://schemas.openxmlformats.org/drawingml/2006/table">
            <a:tbl>
              <a:tblPr/>
              <a:tblGrid>
                <a:gridCol w="2619375"/>
                <a:gridCol w="4524375"/>
                <a:gridCol w="3600450"/>
              </a:tblGrid>
              <a:tr h="605518">
                <a:tc>
                  <a:txBody>
                    <a:bodyPr/>
                    <a:lstStyle/>
                    <a:p>
                      <a:r>
                        <a:rPr sz="1800" b="1">
                          <a:solidFill>
                            <a:srgbClr val="FFFFFF"/>
                          </a:solidFill>
                        </a:rPr>
                        <a:t>手法</a:t>
                      </a:r>
                    </a:p>
                  </a:txBody>
                  <a:tcPr marL="91440" marR="91440" marT="45720" marB="45720">
                    <a:lnL w="9525">
                      <a:solidFill>
                        <a:srgbClr val="D7E1E8"/>
                      </a:solidFill>
                      <a:prstDash val="solid"/>
                    </a:lnL>
                    <a:lnR w="9525">
                      <a:solidFill>
                        <a:srgbClr val="D7E1E8"/>
                      </a:solidFill>
                      <a:prstDash val="solid"/>
                    </a:lnR>
                    <a:lnT w="9525">
                      <a:solidFill>
                        <a:srgbClr val="D7E1E8"/>
                      </a:solidFill>
                      <a:prstDash val="solid"/>
                    </a:lnT>
                    <a:lnB w="9525">
                      <a:solidFill>
                        <a:srgbClr val="D7E1E8"/>
                      </a:solidFill>
                      <a:prstDash val="solid"/>
                    </a:lnB>
                    <a:solidFill>
                      <a:srgbClr val="102B46"/>
                    </a:solidFill>
                  </a:tcPr>
                </a:tc>
                <a:tc>
                  <a:txBody>
                    <a:bodyPr/>
                    <a:lstStyle/>
                    <a:p>
                      <a:r>
                        <a:rPr sz="1800" b="1">
                          <a:solidFill>
                            <a:srgbClr val="FFFFFF"/>
                          </a:solidFill>
                        </a:rPr>
                        <a:t>未観測領域への仮定</a:t>
                      </a:r>
                    </a:p>
                  </a:txBody>
                  <a:tcPr marL="91440" marR="91440" marT="45720" marB="45720">
                    <a:lnR w="9525">
                      <a:solidFill>
                        <a:srgbClr val="D7E1E8"/>
                      </a:solidFill>
                      <a:prstDash val="solid"/>
                    </a:lnR>
                    <a:lnT w="9525">
                      <a:solidFill>
                        <a:srgbClr val="D7E1E8"/>
                      </a:solidFill>
                      <a:prstDash val="solid"/>
                    </a:lnT>
                    <a:lnB w="9525">
                      <a:solidFill>
                        <a:srgbClr val="D7E1E8"/>
                      </a:solidFill>
                      <a:prstDash val="solid"/>
                    </a:lnB>
                    <a:solidFill>
                      <a:srgbClr val="102B46"/>
                    </a:solidFill>
                  </a:tcPr>
                </a:tc>
                <a:tc>
                  <a:txBody>
                    <a:bodyPr/>
                    <a:lstStyle/>
                    <a:p>
                      <a:r>
                        <a:rPr sz="1800" b="1">
                          <a:solidFill>
                            <a:srgbClr val="FFFFFF"/>
                          </a:solidFill>
                        </a:rPr>
                        <a:t>主な確認対象</a:t>
                      </a:r>
                    </a:p>
                  </a:txBody>
                  <a:tcPr marL="91440" marR="91440" marT="45720" marB="45720">
                    <a:lnR w="9525">
                      <a:solidFill>
                        <a:srgbClr val="D7E1E8"/>
                      </a:solidFill>
                      <a:prstDash val="solid"/>
                    </a:lnR>
                    <a:lnT w="9525">
                      <a:solidFill>
                        <a:srgbClr val="D7E1E8"/>
                      </a:solidFill>
                      <a:prstDash val="solid"/>
                    </a:lnT>
                    <a:lnB w="9525">
                      <a:solidFill>
                        <a:srgbClr val="D7E1E8"/>
                      </a:solidFill>
                      <a:prstDash val="solid"/>
                    </a:lnB>
                    <a:solidFill>
                      <a:srgbClr val="102B46"/>
                    </a:solidFill>
                  </a:tcPr>
                </a:tc>
              </a:tr>
              <a:tr h="605518">
                <a:tc>
                  <a:txBody>
                    <a:bodyPr/>
                    <a:lstStyle/>
                    <a:p>
                      <a:r>
                        <a:rPr sz="1800" b="0">
                          <a:solidFill>
                            <a:srgbClr val="172B4D"/>
                          </a:solidFill>
                        </a:rPr>
                        <a:t>列シャッフル</a:t>
                      </a:r>
                    </a:p>
                  </a:txBody>
                  <a:tcPr marL="91440" marR="91440" marT="45720" marB="45720">
                    <a:lnL w="9525">
                      <a:solidFill>
                        <a:srgbClr val="D7E1E8"/>
                      </a:solidFill>
                      <a:prstDash val="solid"/>
                    </a:lnL>
                    <a:lnR w="9525">
                      <a:solidFill>
                        <a:srgbClr val="D7E1E8"/>
                      </a:solidFill>
                      <a:prstDash val="solid"/>
                    </a:lnR>
                    <a:lnB w="9525">
                      <a:solidFill>
                        <a:srgbClr val="D7E1E8"/>
                      </a:solidFill>
                      <a:prstDash val="solid"/>
                    </a:lnB>
                    <a:solidFill>
                      <a:srgbClr val="EDF3F7"/>
                    </a:solidFill>
                  </a:tcPr>
                </a:tc>
                <a:tc>
                  <a:txBody>
                    <a:bodyPr/>
                    <a:lstStyle/>
                    <a:p>
                      <a:r>
                        <a:rPr sz="1800" b="0">
                          <a:solidFill>
                            <a:srgbClr val="172B4D"/>
                          </a:solidFill>
                        </a:rPr>
                        <a:t>クラス内で列を独立に選べる</a:t>
                      </a:r>
                    </a:p>
                  </a:txBody>
                  <a:tcPr marL="91440" marR="91440" marT="45720" marB="45720">
                    <a:lnR w="9525">
                      <a:solidFill>
                        <a:srgbClr val="D7E1E8"/>
                      </a:solidFill>
                      <a:prstDash val="solid"/>
                    </a:lnR>
                    <a:lnB w="9525">
                      <a:solidFill>
                        <a:srgbClr val="D7E1E8"/>
                      </a:solidFill>
                      <a:prstDash val="solid"/>
                    </a:lnB>
                    <a:solidFill>
                      <a:srgbClr val="EDF3F7"/>
                    </a:solidFill>
                  </a:tcPr>
                </a:tc>
                <a:tc>
                  <a:txBody>
                    <a:bodyPr/>
                    <a:lstStyle/>
                    <a:p>
                      <a:r>
                        <a:rPr sz="1800" b="0">
                          <a:solidFill>
                            <a:srgbClr val="172B4D"/>
                          </a:solidFill>
                        </a:rPr>
                        <a:t>依存の破壊</a:t>
                      </a:r>
                    </a:p>
                  </a:txBody>
                  <a:tcPr marL="91440" marR="91440" marT="45720" marB="45720">
                    <a:lnR w="9525">
                      <a:solidFill>
                        <a:srgbClr val="D7E1E8"/>
                      </a:solidFill>
                      <a:prstDash val="solid"/>
                    </a:lnR>
                    <a:lnB w="9525">
                      <a:solidFill>
                        <a:srgbClr val="D7E1E8"/>
                      </a:solidFill>
                      <a:prstDash val="solid"/>
                    </a:lnB>
                    <a:solidFill>
                      <a:srgbClr val="EDF3F7"/>
                    </a:solidFill>
                  </a:tcPr>
                </a:tc>
              </a:tr>
              <a:tr h="605518">
                <a:tc>
                  <a:txBody>
                    <a:bodyPr/>
                    <a:lstStyle/>
                    <a:p>
                      <a:r>
                        <a:rPr sz="1800" b="0">
                          <a:solidFill>
                            <a:srgbClr val="172B4D"/>
                          </a:solidFill>
                        </a:rPr>
                        <a:t>Gaussian copula</a:t>
                      </a:r>
                    </a:p>
                  </a:txBody>
                  <a:tcPr marL="91440" marR="91440" marT="45720" marB="45720">
                    <a:lnL w="9525">
                      <a:solidFill>
                        <a:srgbClr val="D7E1E8"/>
                      </a:solidFill>
                      <a:prstDash val="solid"/>
                    </a:lnL>
                    <a:lnR w="9525">
                      <a:solidFill>
                        <a:srgbClr val="D7E1E8"/>
                      </a:solidFill>
                      <a:prstDash val="solid"/>
                    </a:lnR>
                    <a:lnB w="9525">
                      <a:solidFill>
                        <a:srgbClr val="D7E1E8"/>
                      </a:solidFill>
                      <a:prstDash val="solid"/>
                    </a:lnB>
                    <a:solidFill>
                      <a:srgbClr val="FFFFFF"/>
                    </a:solidFill>
                  </a:tcPr>
                </a:tc>
                <a:tc>
                  <a:txBody>
                    <a:bodyPr/>
                    <a:lstStyle/>
                    <a:p>
                      <a:r>
                        <a:rPr sz="1800" b="0">
                          <a:solidFill>
                            <a:srgbClr val="172B4D"/>
                          </a:solidFill>
                        </a:rPr>
                        <a:t>正規空間の依存で近似できる</a:t>
                      </a:r>
                    </a:p>
                  </a:txBody>
                  <a:tcPr marL="91440" marR="91440" marT="45720" marB="45720">
                    <a:lnR w="9525">
                      <a:solidFill>
                        <a:srgbClr val="D7E1E8"/>
                      </a:solidFill>
                      <a:prstDash val="solid"/>
                    </a:lnR>
                    <a:lnB w="9525">
                      <a:solidFill>
                        <a:srgbClr val="D7E1E8"/>
                      </a:solidFill>
                      <a:prstDash val="solid"/>
                    </a:lnB>
                    <a:solidFill>
                      <a:srgbClr val="FFFFFF"/>
                    </a:solidFill>
                  </a:tcPr>
                </a:tc>
                <a:tc>
                  <a:txBody>
                    <a:bodyPr/>
                    <a:lstStyle/>
                    <a:p>
                      <a:r>
                        <a:rPr sz="1800" b="0">
                          <a:solidFill>
                            <a:srgbClr val="172B4D"/>
                          </a:solidFill>
                        </a:rPr>
                        <a:t>推定誤差・モデルの限界</a:t>
                      </a:r>
                    </a:p>
                  </a:txBody>
                  <a:tcPr marL="91440" marR="91440" marT="45720" marB="45720">
                    <a:lnR w="9525">
                      <a:solidFill>
                        <a:srgbClr val="D7E1E8"/>
                      </a:solidFill>
                      <a:prstDash val="solid"/>
                    </a:lnR>
                    <a:lnB w="9525">
                      <a:solidFill>
                        <a:srgbClr val="D7E1E8"/>
                      </a:solidFill>
                      <a:prstDash val="solid"/>
                    </a:lnB>
                    <a:solidFill>
                      <a:srgbClr val="FFFFFF"/>
                    </a:solidFill>
                  </a:tcPr>
                </a:tc>
              </a:tr>
              <a:tr h="605518">
                <a:tc>
                  <a:txBody>
                    <a:bodyPr/>
                    <a:lstStyle/>
                    <a:p>
                      <a:r>
                        <a:rPr sz="1800" b="0">
                          <a:solidFill>
                            <a:srgbClr val="172B4D"/>
                          </a:solidFill>
                        </a:rPr>
                        <a:t>SMOTE</a:t>
                      </a:r>
                    </a:p>
                  </a:txBody>
                  <a:tcPr marL="91440" marR="91440" marT="45720" marB="45720">
                    <a:lnL w="9525">
                      <a:solidFill>
                        <a:srgbClr val="D7E1E8"/>
                      </a:solidFill>
                      <a:prstDash val="solid"/>
                    </a:lnL>
                    <a:lnR w="9525">
                      <a:solidFill>
                        <a:srgbClr val="D7E1E8"/>
                      </a:solidFill>
                      <a:prstDash val="solid"/>
                    </a:lnR>
                    <a:lnB w="9525">
                      <a:solidFill>
                        <a:srgbClr val="D7E1E8"/>
                      </a:solidFill>
                      <a:prstDash val="solid"/>
                    </a:lnB>
                    <a:solidFill>
                      <a:srgbClr val="EDF3F7"/>
                    </a:solidFill>
                  </a:tcPr>
                </a:tc>
                <a:tc>
                  <a:txBody>
                    <a:bodyPr/>
                    <a:lstStyle/>
                    <a:p>
                      <a:r>
                        <a:rPr sz="1800" b="0">
                          <a:solidFill>
                            <a:srgbClr val="172B4D"/>
                          </a:solidFill>
                        </a:rPr>
                        <a:t>近傍間の線分も同じクラス</a:t>
                      </a:r>
                    </a:p>
                  </a:txBody>
                  <a:tcPr marL="91440" marR="91440" marT="45720" marB="45720">
                    <a:lnR w="9525">
                      <a:solidFill>
                        <a:srgbClr val="D7E1E8"/>
                      </a:solidFill>
                      <a:prstDash val="solid"/>
                    </a:lnR>
                    <a:lnB w="9525">
                      <a:solidFill>
                        <a:srgbClr val="D7E1E8"/>
                      </a:solidFill>
                      <a:prstDash val="solid"/>
                    </a:lnB>
                    <a:solidFill>
                      <a:srgbClr val="EDF3F7"/>
                    </a:solidFill>
                  </a:tcPr>
                </a:tc>
                <a:tc>
                  <a:txBody>
                    <a:bodyPr/>
                    <a:lstStyle/>
                    <a:p>
                      <a:r>
                        <a:rPr sz="1800" b="0">
                          <a:solidFill>
                            <a:srgbClr val="172B4D"/>
                          </a:solidFill>
                        </a:rPr>
                        <a:t>非凸形状・集団間の橋</a:t>
                      </a:r>
                    </a:p>
                  </a:txBody>
                  <a:tcPr marL="91440" marR="91440" marT="45720" marB="45720">
                    <a:lnR w="9525">
                      <a:solidFill>
                        <a:srgbClr val="D7E1E8"/>
                      </a:solidFill>
                      <a:prstDash val="solid"/>
                    </a:lnR>
                    <a:lnB w="9525">
                      <a:solidFill>
                        <a:srgbClr val="D7E1E8"/>
                      </a:solidFill>
                      <a:prstDash val="solid"/>
                    </a:lnB>
                    <a:solidFill>
                      <a:srgbClr val="EDF3F7"/>
                    </a:solidFill>
                  </a:tcPr>
                </a:tc>
              </a:tr>
              <a:tr h="605518">
                <a:tc>
                  <a:txBody>
                    <a:bodyPr/>
                    <a:lstStyle/>
                    <a:p>
                      <a:r>
                        <a:rPr sz="1800" b="0">
                          <a:solidFill>
                            <a:srgbClr val="172B4D"/>
                          </a:solidFill>
                        </a:rPr>
                        <a:t>コピュラSMOTE</a:t>
                      </a:r>
                    </a:p>
                  </a:txBody>
                  <a:tcPr marL="91440" marR="91440" marT="45720" marB="45720">
                    <a:lnL w="9525">
                      <a:solidFill>
                        <a:srgbClr val="D7E1E8"/>
                      </a:solidFill>
                      <a:prstDash val="solid"/>
                    </a:lnL>
                    <a:lnR w="9525">
                      <a:solidFill>
                        <a:srgbClr val="D7E1E8"/>
                      </a:solidFill>
                      <a:prstDash val="solid"/>
                    </a:lnR>
                    <a:lnB w="9525">
                      <a:solidFill>
                        <a:srgbClr val="D7E1E8"/>
                      </a:solidFill>
                      <a:prstDash val="solid"/>
                    </a:lnB>
                    <a:solidFill>
                      <a:srgbClr val="FFFFFF"/>
                    </a:solidFill>
                  </a:tcPr>
                </a:tc>
                <a:tc>
                  <a:txBody>
                    <a:bodyPr/>
                    <a:lstStyle/>
                    <a:p>
                      <a:r>
                        <a:rPr sz="1800" b="0">
                          <a:solidFill>
                            <a:srgbClr val="172B4D"/>
                          </a:solidFill>
                        </a:rPr>
                        <a:t>変換後の距離で補間できる</a:t>
                      </a:r>
                    </a:p>
                  </a:txBody>
                  <a:tcPr marL="91440" marR="91440" marT="45720" marB="45720">
                    <a:lnR w="9525">
                      <a:solidFill>
                        <a:srgbClr val="D7E1E8"/>
                      </a:solidFill>
                      <a:prstDash val="solid"/>
                    </a:lnR>
                    <a:lnB w="9525">
                      <a:solidFill>
                        <a:srgbClr val="D7E1E8"/>
                      </a:solidFill>
                      <a:prstDash val="solid"/>
                    </a:lnB>
                    <a:solidFill>
                      <a:srgbClr val="FFFFFF"/>
                    </a:solidFill>
                  </a:tcPr>
                </a:tc>
                <a:tc>
                  <a:txBody>
                    <a:bodyPr/>
                    <a:lstStyle/>
                    <a:p>
                      <a:r>
                        <a:rPr sz="1800" b="0">
                          <a:solidFill>
                            <a:srgbClr val="172B4D"/>
                          </a:solidFill>
                        </a:rPr>
                        <a:t>変換距離の妥当性</a:t>
                      </a:r>
                    </a:p>
                  </a:txBody>
                  <a:tcPr marL="91440" marR="91440" marT="45720" marB="45720">
                    <a:lnR w="9525">
                      <a:solidFill>
                        <a:srgbClr val="D7E1E8"/>
                      </a:solidFill>
                      <a:prstDash val="solid"/>
                    </a:lnR>
                    <a:lnB w="9525">
                      <a:solidFill>
                        <a:srgbClr val="D7E1E8"/>
                      </a:solidFill>
                      <a:prstDash val="solid"/>
                    </a:lnB>
                    <a:solidFill>
                      <a:srgbClr val="FFFFFF"/>
                    </a:solidFill>
                  </a:tcPr>
                </a:tc>
              </a:tr>
              <a:tr h="605518">
                <a:tc>
                  <a:txBody>
                    <a:bodyPr/>
                    <a:lstStyle/>
                    <a:p>
                      <a:r>
                        <a:rPr sz="1800" b="0">
                          <a:solidFill>
                            <a:srgbClr val="172B4D"/>
                          </a:solidFill>
                        </a:rPr>
                        <a:t>CTGAN</a:t>
                      </a:r>
                    </a:p>
                  </a:txBody>
                  <a:tcPr marL="91440" marR="91440" marT="45720" marB="45720">
                    <a:lnL w="9525">
                      <a:solidFill>
                        <a:srgbClr val="D7E1E8"/>
                      </a:solidFill>
                      <a:prstDash val="solid"/>
                    </a:lnL>
                    <a:lnR w="9525">
                      <a:solidFill>
                        <a:srgbClr val="D7E1E8"/>
                      </a:solidFill>
                      <a:prstDash val="solid"/>
                    </a:lnR>
                    <a:lnB w="9525">
                      <a:solidFill>
                        <a:srgbClr val="D7E1E8"/>
                      </a:solidFill>
                      <a:prstDash val="solid"/>
                    </a:lnB>
                    <a:solidFill>
                      <a:srgbClr val="EDF3F7"/>
                    </a:solidFill>
                  </a:tcPr>
                </a:tc>
                <a:tc>
                  <a:txBody>
                    <a:bodyPr/>
                    <a:lstStyle/>
                    <a:p>
                      <a:r>
                        <a:rPr sz="1800" b="0">
                          <a:solidFill>
                            <a:srgbClr val="172B4D"/>
                          </a:solidFill>
                        </a:rPr>
                        <a:t>観測例から分布を学べる</a:t>
                      </a:r>
                    </a:p>
                  </a:txBody>
                  <a:tcPr marL="91440" marR="91440" marT="45720" marB="45720">
                    <a:lnR w="9525">
                      <a:solidFill>
                        <a:srgbClr val="D7E1E8"/>
                      </a:solidFill>
                      <a:prstDash val="solid"/>
                    </a:lnR>
                    <a:lnB w="9525">
                      <a:solidFill>
                        <a:srgbClr val="D7E1E8"/>
                      </a:solidFill>
                      <a:prstDash val="solid"/>
                    </a:lnB>
                    <a:solidFill>
                      <a:srgbClr val="EDF3F7"/>
                    </a:solidFill>
                  </a:tcPr>
                </a:tc>
                <a:tc>
                  <a:txBody>
                    <a:bodyPr/>
                    <a:lstStyle/>
                    <a:p>
                      <a:r>
                        <a:rPr sz="1800" b="0">
                          <a:solidFill>
                            <a:srgbClr val="172B4D"/>
                          </a:solidFill>
                        </a:rPr>
                        <a:t>少数例への過適合</a:t>
                      </a:r>
                    </a:p>
                  </a:txBody>
                  <a:tcPr marL="91440" marR="91440" marT="45720" marB="45720">
                    <a:lnR w="9525">
                      <a:solidFill>
                        <a:srgbClr val="D7E1E8"/>
                      </a:solidFill>
                      <a:prstDash val="solid"/>
                    </a:lnR>
                    <a:lnB w="9525">
                      <a:solidFill>
                        <a:srgbClr val="D7E1E8"/>
                      </a:solidFill>
                      <a:prstDash val="solid"/>
                    </a:lnB>
                    <a:solidFill>
                      <a:srgbClr val="EDF3F7"/>
                    </a:solidFill>
                  </a:tcPr>
                </a:tc>
              </a:tr>
              <a:tr h="605518">
                <a:tc>
                  <a:txBody>
                    <a:bodyPr/>
                    <a:lstStyle/>
                    <a:p>
                      <a:r>
                        <a:rPr sz="1800" b="0">
                          <a:solidFill>
                            <a:srgbClr val="172B4D"/>
                          </a:solidFill>
                        </a:rPr>
                        <a:t>CTGAN×コピュラ</a:t>
                      </a:r>
                    </a:p>
                  </a:txBody>
                  <a:tcPr marL="91440" marR="91440" marT="45720" marB="45720">
                    <a:lnL w="9525">
                      <a:solidFill>
                        <a:srgbClr val="D7E1E8"/>
                      </a:solidFill>
                      <a:prstDash val="solid"/>
                    </a:lnL>
                    <a:lnR w="9525">
                      <a:solidFill>
                        <a:srgbClr val="D7E1E8"/>
                      </a:solidFill>
                      <a:prstDash val="solid"/>
                    </a:lnR>
                    <a:lnB w="9525">
                      <a:solidFill>
                        <a:srgbClr val="D7E1E8"/>
                      </a:solidFill>
                      <a:prstDash val="solid"/>
                    </a:lnB>
                    <a:solidFill>
                      <a:srgbClr val="FFFFFF"/>
                    </a:solidFill>
                  </a:tcPr>
                </a:tc>
                <a:tc>
                  <a:txBody>
                    <a:bodyPr/>
                    <a:lstStyle/>
                    <a:p>
                      <a:r>
                        <a:rPr sz="1800" b="0">
                          <a:solidFill>
                            <a:srgbClr val="172B4D"/>
                          </a:solidFill>
                        </a:rPr>
                        <a:t>変換がGANの学習を助ける</a:t>
                      </a:r>
                    </a:p>
                  </a:txBody>
                  <a:tcPr marL="91440" marR="91440" marT="45720" marB="45720">
                    <a:lnR w="9525">
                      <a:solidFill>
                        <a:srgbClr val="D7E1E8"/>
                      </a:solidFill>
                      <a:prstDash val="solid"/>
                    </a:lnR>
                    <a:lnB w="9525">
                      <a:solidFill>
                        <a:srgbClr val="D7E1E8"/>
                      </a:solidFill>
                      <a:prstDash val="solid"/>
                    </a:lnB>
                    <a:solidFill>
                      <a:srgbClr val="FFFFFF"/>
                    </a:solidFill>
                  </a:tcPr>
                </a:tc>
                <a:tc>
                  <a:txBody>
                    <a:bodyPr/>
                    <a:lstStyle/>
                    <a:p>
                      <a:r>
                        <a:rPr sz="1800" b="0">
                          <a:solidFill>
                            <a:srgbClr val="172B4D"/>
                          </a:solidFill>
                        </a:rPr>
                        <a:t>変換誤差・追加効果</a:t>
                      </a:r>
                    </a:p>
                  </a:txBody>
                  <a:tcPr marL="91440" marR="91440" marT="45720" marB="45720">
                    <a:lnR w="9525">
                      <a:solidFill>
                        <a:srgbClr val="D7E1E8"/>
                      </a:solidFill>
                      <a:prstDash val="solid"/>
                    </a:lnR>
                    <a:lnB w="9525">
                      <a:solidFill>
                        <a:srgbClr val="D7E1E8"/>
                      </a:solidFill>
                      <a:prstDash val="solid"/>
                    </a:lnB>
                    <a:solidFill>
                      <a:srgbClr val="FFFFFF"/>
                    </a:solidFill>
                  </a:tcPr>
                </a:tc>
              </a:tr>
            </a:tbl>
          </a:graphicData>
        </a:graphic>
      </p:graphicFrame>
    </p:spTree>
    <p:extLst>
      <p:ext uri="{BB962C8B-B14F-4D97-AF65-F5344CB8AC3E}">
        <p14:creationId xmlns:p14="http://schemas.microsoft.com/office/powerpoint/2010/main" val="289953663"/>
      </p:ext>
    </p:extLst>
  </p:cSld>
</p:sld>
</file>

<file path=ppt/slides/slide18.xml><?xml version="1.0" encoding="utf-8"?>
<p:sld xmlns:p="http://schemas.openxmlformats.org/presentationml/2006/main">
  <p:cSld>
    <p:bg>
      <p:bgPr>
        <a:solidFill xmlns:a="http://schemas.openxmlformats.org/drawingml/2006/main">
          <a:srgbClr val="FAFBFD"/>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8C605F73-A3CD-43B5-BB6E-0A5EB39ACD1C}"/>
              </a:ext>
            </a:extLst>
          </p:cNvPr>
          <p:cNvSpPr>
            <a:spLocks xmlns:a="http://schemas.openxmlformats.org/drawingml/2006/main" noGrp="1"/>
          </p:cNvSpPr>
          <p:nvPr/>
        </p:nvSpPr>
        <p:spPr>
          <a:xfrm xmlns:a="http://schemas.openxmlformats.org/drawingml/2006/main">
            <a:off x="685800" y="495300"/>
            <a:ext cx="10858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150" b="1">
                <a:solidFill>
                  <a:srgbClr val="102B46"/>
                </a:solidFill>
              </a:defRPr>
            </a:defPPr>
            <a:lvl1pPr>
              <a:defRPr sz="3150" b="1">
                <a:solidFill>
                  <a:srgbClr val="102B46"/>
                </a:solidFill>
              </a:defRPr>
            </a:lvl1pPr>
            <a:lvl2pPr>
              <a:defRPr sz="3150" b="1">
                <a:solidFill>
                  <a:srgbClr val="102B46"/>
                </a:solidFill>
              </a:defRPr>
            </a:lvl2pPr>
            <a:lvl3pPr>
              <a:defRPr sz="3150" b="1">
                <a:solidFill>
                  <a:srgbClr val="102B46"/>
                </a:solidFill>
              </a:defRPr>
            </a:lvl3pPr>
            <a:lvl4pPr>
              <a:defRPr sz="3150" b="1">
                <a:solidFill>
                  <a:srgbClr val="102B46"/>
                </a:solidFill>
              </a:defRPr>
            </a:lvl4pPr>
            <a:lvl5pPr>
              <a:defRPr sz="3150" b="1">
                <a:solidFill>
                  <a:srgbClr val="102B46"/>
                </a:solidFill>
              </a:defRPr>
            </a:lvl5pPr>
            <a:lvl6pPr>
              <a:defRPr sz="3150" b="1">
                <a:solidFill>
                  <a:srgbClr val="102B46"/>
                </a:solidFill>
              </a:defRPr>
            </a:lvl6pPr>
            <a:lvl7pPr>
              <a:defRPr sz="3150" b="1">
                <a:solidFill>
                  <a:srgbClr val="102B46"/>
                </a:solidFill>
              </a:defRPr>
            </a:lvl7pPr>
            <a:lvl8pPr>
              <a:defRPr sz="3150" b="1">
                <a:solidFill>
                  <a:srgbClr val="102B46"/>
                </a:solidFill>
              </a:defRPr>
            </a:lvl8pPr>
            <a:lvl9pPr>
              <a:defRPr sz="3150" b="1">
                <a:solidFill>
                  <a:srgbClr val="102B46"/>
                </a:solidFill>
              </a:defRPr>
            </a:lvl9pPr>
          </a:lstStyle>
          <a:p xmlns:a="http://schemas.openxmlformats.org/drawingml/2006/main">
            <a:pPr>
              <a:defRPr sz="3150" b="1">
                <a:solidFill>
                  <a:srgbClr val="102B46"/>
                </a:solidFill>
              </a:defRPr>
            </a:pPr>
            <a:r>
              <a:rPr sz="3150" b="1">
                <a:solidFill>
                  <a:srgbClr val="102B46"/>
                </a:solidFill>
              </a:rPr>
              <a:t>改善案は失敗の原因に対応させる</a:t>
            </a:r>
          </a:p>
        </p:txBody>
      </p:sp>
      <p:sp>
        <p:nvSpPr>
          <p:cNvPr id="3" name="">
            <a:extLst xmlns:a="http://schemas.openxmlformats.org/drawingml/2006/main">
              <a:ext uri="{FF2B5EF4-FFF2-40B4-BE49-F238E27FC236}">
                <a16:creationId xmlns:a16="http://schemas.microsoft.com/office/drawing/2014/main" id="{7D64955C-45E6-4D88-9EC9-F9F39459A8F9}"/>
              </a:ext>
            </a:extLst>
          </p:cNvPr>
          <p:cNvSpPr>
            <a:spLocks xmlns:a="http://schemas.openxmlformats.org/drawingml/2006/main" noGrp="1"/>
          </p:cNvSpPr>
          <p:nvPr/>
        </p:nvSpPr>
        <p:spPr>
          <a:xfrm xmlns:a="http://schemas.openxmlformats.org/drawingml/2006/main">
            <a:off x="11144250" y="6276975"/>
            <a:ext cx="5238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6B7F90"/>
                </a:solidFill>
              </a:defRPr>
            </a:defPPr>
            <a:lvl1pPr>
              <a:defRPr sz="1350" b="0">
                <a:solidFill>
                  <a:srgbClr val="6B7F90"/>
                </a:solidFill>
              </a:defRPr>
            </a:lvl1pPr>
            <a:lvl2pPr>
              <a:defRPr sz="1350" b="0">
                <a:solidFill>
                  <a:srgbClr val="6B7F90"/>
                </a:solidFill>
              </a:defRPr>
            </a:lvl2pPr>
            <a:lvl3pPr>
              <a:defRPr sz="1350" b="0">
                <a:solidFill>
                  <a:srgbClr val="6B7F90"/>
                </a:solidFill>
              </a:defRPr>
            </a:lvl3pPr>
            <a:lvl4pPr>
              <a:defRPr sz="1350" b="0">
                <a:solidFill>
                  <a:srgbClr val="6B7F90"/>
                </a:solidFill>
              </a:defRPr>
            </a:lvl4pPr>
            <a:lvl5pPr>
              <a:defRPr sz="1350" b="0">
                <a:solidFill>
                  <a:srgbClr val="6B7F90"/>
                </a:solidFill>
              </a:defRPr>
            </a:lvl5pPr>
            <a:lvl6pPr>
              <a:defRPr sz="1350" b="0">
                <a:solidFill>
                  <a:srgbClr val="6B7F90"/>
                </a:solidFill>
              </a:defRPr>
            </a:lvl6pPr>
            <a:lvl7pPr>
              <a:defRPr sz="1350" b="0">
                <a:solidFill>
                  <a:srgbClr val="6B7F90"/>
                </a:solidFill>
              </a:defRPr>
            </a:lvl7pPr>
            <a:lvl8pPr>
              <a:defRPr sz="1350" b="0">
                <a:solidFill>
                  <a:srgbClr val="6B7F90"/>
                </a:solidFill>
              </a:defRPr>
            </a:lvl8pPr>
            <a:lvl9pPr>
              <a:defRPr sz="1350" b="0">
                <a:solidFill>
                  <a:srgbClr val="6B7F90"/>
                </a:solidFill>
              </a:defRPr>
            </a:lvl9pPr>
          </a:lstStyle>
          <a:p xmlns:a="http://schemas.openxmlformats.org/drawingml/2006/main">
            <a:pPr>
              <a:defRPr sz="1350" b="0">
                <a:solidFill>
                  <a:srgbClr val="6B7F90"/>
                </a:solidFill>
              </a:defRPr>
            </a:pPr>
            <a:r>
              <a:rPr sz="1350" b="0">
                <a:solidFill>
                  <a:srgbClr val="6B7F90"/>
                </a:solidFill>
              </a:rPr>
              <a:t>18</a:t>
            </a:r>
          </a:p>
        </p:txBody>
      </p:sp>
      <p:graphicFrame>
        <p:nvGraphicFramePr>
          <p:cNvPr id="4" name="">
            <a:extLst xmlns:a="http://schemas.openxmlformats.org/drawingml/2006/main">
              <a:ext uri="{FF2B5EF4-FFF2-40B4-BE49-F238E27FC236}">
                <a16:creationId xmlns:a16="http://schemas.microsoft.com/office/drawing/2014/main" id="{A48D2830-3D05-4C3B-B63B-5EE1F9B5C34E}"/>
              </a:ext>
            </a:extLst>
          </p:cNvPr>
          <p:cNvGraphicFramePr/>
          <p:nvPr/>
        </p:nvGraphicFramePr>
        <p:xfrm>
          <a:off xmlns:a="http://schemas.openxmlformats.org/drawingml/2006/main" x="723900" y="1714500"/>
          <a:ext xmlns:a="http://schemas.openxmlformats.org/drawingml/2006/main" cx="10744200" cy="3524250"/>
        </p:xfrm>
        <a:graphic xmlns:a="http://schemas.openxmlformats.org/drawingml/2006/main">
          <a:graphicData uri="http://schemas.openxmlformats.org/drawingml/2006/table">
            <a:tbl>
              <a:tblPr/>
              <a:tblGrid>
                <a:gridCol w="3571875"/>
                <a:gridCol w="3429000"/>
                <a:gridCol w="3743325"/>
              </a:tblGrid>
              <a:tr h="704850">
                <a:tc>
                  <a:txBody>
                    <a:bodyPr/>
                    <a:lstStyle/>
                    <a:p>
                      <a:r>
                        <a:rPr sz="1800" b="1">
                          <a:solidFill>
                            <a:srgbClr val="FFFFFF"/>
                          </a:solidFill>
                        </a:rPr>
                        <a:t>失敗の原因候補</a:t>
                      </a:r>
                    </a:p>
                  </a:txBody>
                  <a:tcPr marL="91440" marR="91440" marT="45720" marB="45720">
                    <a:lnL w="9525">
                      <a:solidFill>
                        <a:srgbClr val="D7E1E8"/>
                      </a:solidFill>
                      <a:prstDash val="solid"/>
                    </a:lnL>
                    <a:lnR w="9525">
                      <a:solidFill>
                        <a:srgbClr val="D7E1E8"/>
                      </a:solidFill>
                      <a:prstDash val="solid"/>
                    </a:lnR>
                    <a:lnT w="9525">
                      <a:solidFill>
                        <a:srgbClr val="D7E1E8"/>
                      </a:solidFill>
                      <a:prstDash val="solid"/>
                    </a:lnT>
                    <a:lnB w="9525">
                      <a:solidFill>
                        <a:srgbClr val="D7E1E8"/>
                      </a:solidFill>
                      <a:prstDash val="solid"/>
                    </a:lnB>
                    <a:solidFill>
                      <a:srgbClr val="102B46"/>
                    </a:solidFill>
                  </a:tcPr>
                </a:tc>
                <a:tc>
                  <a:txBody>
                    <a:bodyPr/>
                    <a:lstStyle/>
                    <a:p>
                      <a:r>
                        <a:rPr sz="1800" b="1">
                          <a:solidFill>
                            <a:srgbClr val="FFFFFF"/>
                          </a:solidFill>
                        </a:rPr>
                        <a:t>対応する改善候補</a:t>
                      </a:r>
                    </a:p>
                  </a:txBody>
                  <a:tcPr marL="91440" marR="91440" marT="45720" marB="45720">
                    <a:lnR w="9525">
                      <a:solidFill>
                        <a:srgbClr val="D7E1E8"/>
                      </a:solidFill>
                      <a:prstDash val="solid"/>
                    </a:lnR>
                    <a:lnT w="9525">
                      <a:solidFill>
                        <a:srgbClr val="D7E1E8"/>
                      </a:solidFill>
                      <a:prstDash val="solid"/>
                    </a:lnT>
                    <a:lnB w="9525">
                      <a:solidFill>
                        <a:srgbClr val="D7E1E8"/>
                      </a:solidFill>
                      <a:prstDash val="solid"/>
                    </a:lnB>
                    <a:solidFill>
                      <a:srgbClr val="102B46"/>
                    </a:solidFill>
                  </a:tcPr>
                </a:tc>
                <a:tc>
                  <a:txBody>
                    <a:bodyPr/>
                    <a:lstStyle/>
                    <a:p>
                      <a:r>
                        <a:rPr sz="1800" b="1">
                          <a:solidFill>
                            <a:srgbClr val="FFFFFF"/>
                          </a:solidFill>
                        </a:rPr>
                        <a:t>残る問題</a:t>
                      </a:r>
                    </a:p>
                  </a:txBody>
                  <a:tcPr marL="91440" marR="91440" marT="45720" marB="45720">
                    <a:lnR w="9525">
                      <a:solidFill>
                        <a:srgbClr val="D7E1E8"/>
                      </a:solidFill>
                      <a:prstDash val="solid"/>
                    </a:lnR>
                    <a:lnT w="9525">
                      <a:solidFill>
                        <a:srgbClr val="D7E1E8"/>
                      </a:solidFill>
                      <a:prstDash val="solid"/>
                    </a:lnT>
                    <a:lnB w="9525">
                      <a:solidFill>
                        <a:srgbClr val="D7E1E8"/>
                      </a:solidFill>
                      <a:prstDash val="solid"/>
                    </a:lnB>
                    <a:solidFill>
                      <a:srgbClr val="102B46"/>
                    </a:solidFill>
                  </a:tcPr>
                </a:tc>
              </a:tr>
              <a:tr h="704850">
                <a:tc>
                  <a:txBody>
                    <a:bodyPr/>
                    <a:lstStyle/>
                    <a:p>
                      <a:r>
                        <a:rPr sz="1800" b="0">
                          <a:solidFill>
                            <a:srgbClr val="172B4D"/>
                          </a:solidFill>
                        </a:rPr>
                        <a:t>生成範囲が広い</a:t>
                      </a:r>
                    </a:p>
                  </a:txBody>
                  <a:tcPr marL="91440" marR="91440" marT="45720" marB="45720">
                    <a:lnL w="9525">
                      <a:solidFill>
                        <a:srgbClr val="D7E1E8"/>
                      </a:solidFill>
                      <a:prstDash val="solid"/>
                    </a:lnL>
                    <a:lnR w="9525">
                      <a:solidFill>
                        <a:srgbClr val="D7E1E8"/>
                      </a:solidFill>
                      <a:prstDash val="solid"/>
                    </a:lnR>
                    <a:lnB w="9525">
                      <a:solidFill>
                        <a:srgbClr val="D7E1E8"/>
                      </a:solidFill>
                      <a:prstDash val="solid"/>
                    </a:lnB>
                    <a:solidFill>
                      <a:srgbClr val="EDF3F7"/>
                    </a:solidFill>
                  </a:tcPr>
                </a:tc>
                <a:tc>
                  <a:txBody>
                    <a:bodyPr/>
                    <a:lstStyle/>
                    <a:p>
                      <a:r>
                        <a:rPr sz="1800" b="0">
                          <a:solidFill>
                            <a:srgbClr val="172B4D"/>
                          </a:solidFill>
                        </a:rPr>
                        <a:t>クラス内・集団内の生成</a:t>
                      </a:r>
                    </a:p>
                  </a:txBody>
                  <a:tcPr marL="91440" marR="91440" marT="45720" marB="45720">
                    <a:lnR w="9525">
                      <a:solidFill>
                        <a:srgbClr val="D7E1E8"/>
                      </a:solidFill>
                      <a:prstDash val="solid"/>
                    </a:lnR>
                    <a:lnB w="9525">
                      <a:solidFill>
                        <a:srgbClr val="D7E1E8"/>
                      </a:solidFill>
                      <a:prstDash val="solid"/>
                    </a:lnB>
                    <a:solidFill>
                      <a:srgbClr val="EDF3F7"/>
                    </a:solidFill>
                  </a:tcPr>
                </a:tc>
                <a:tc>
                  <a:txBody>
                    <a:bodyPr/>
                    <a:lstStyle/>
                    <a:p>
                      <a:r>
                        <a:rPr sz="1800" b="0">
                          <a:solidFill>
                            <a:srgbClr val="172B4D"/>
                          </a:solidFill>
                        </a:rPr>
                        <a:t>小集団の推定例が減る</a:t>
                      </a:r>
                    </a:p>
                  </a:txBody>
                  <a:tcPr marL="91440" marR="91440" marT="45720" marB="45720">
                    <a:lnR w="9525">
                      <a:solidFill>
                        <a:srgbClr val="D7E1E8"/>
                      </a:solidFill>
                      <a:prstDash val="solid"/>
                    </a:lnR>
                    <a:lnB w="9525">
                      <a:solidFill>
                        <a:srgbClr val="D7E1E8"/>
                      </a:solidFill>
                      <a:prstDash val="solid"/>
                    </a:lnB>
                    <a:solidFill>
                      <a:srgbClr val="EDF3F7"/>
                    </a:solidFill>
                  </a:tcPr>
                </a:tc>
              </a:tr>
              <a:tr h="704850">
                <a:tc>
                  <a:txBody>
                    <a:bodyPr/>
                    <a:lstStyle/>
                    <a:p>
                      <a:r>
                        <a:rPr sz="1800" b="0">
                          <a:solidFill>
                            <a:srgbClr val="172B4D"/>
                          </a:solidFill>
                        </a:rPr>
                        <a:t>依存の推定が不安定</a:t>
                      </a:r>
                    </a:p>
                  </a:txBody>
                  <a:tcPr marL="91440" marR="91440" marT="45720" marB="45720">
                    <a:lnL w="9525">
                      <a:solidFill>
                        <a:srgbClr val="D7E1E8"/>
                      </a:solidFill>
                      <a:prstDash val="solid"/>
                    </a:lnL>
                    <a:lnR w="9525">
                      <a:solidFill>
                        <a:srgbClr val="D7E1E8"/>
                      </a:solidFill>
                      <a:prstDash val="solid"/>
                    </a:lnR>
                    <a:lnB w="9525">
                      <a:solidFill>
                        <a:srgbClr val="D7E1E8"/>
                      </a:solidFill>
                      <a:prstDash val="solid"/>
                    </a:lnB>
                    <a:solidFill>
                      <a:srgbClr val="FFFFFF"/>
                    </a:solidFill>
                  </a:tcPr>
                </a:tc>
                <a:tc>
                  <a:txBody>
                    <a:bodyPr/>
                    <a:lstStyle/>
                    <a:p>
                      <a:r>
                        <a:rPr sz="1800" b="0">
                          <a:solidFill>
                            <a:srgbClr val="172B4D"/>
                          </a:solidFill>
                        </a:rPr>
                        <a:t>相関を正則化</a:t>
                      </a:r>
                    </a:p>
                  </a:txBody>
                  <a:tcPr marL="91440" marR="91440" marT="45720" marB="45720">
                    <a:lnR w="9525">
                      <a:solidFill>
                        <a:srgbClr val="D7E1E8"/>
                      </a:solidFill>
                      <a:prstDash val="solid"/>
                    </a:lnR>
                    <a:lnB w="9525">
                      <a:solidFill>
                        <a:srgbClr val="D7E1E8"/>
                      </a:solidFill>
                      <a:prstDash val="solid"/>
                    </a:lnB>
                    <a:solidFill>
                      <a:srgbClr val="FFFFFF"/>
                    </a:solidFill>
                  </a:tcPr>
                </a:tc>
                <a:tc>
                  <a:txBody>
                    <a:bodyPr/>
                    <a:lstStyle/>
                    <a:p>
                      <a:r>
                        <a:rPr sz="1800" b="0">
                          <a:solidFill>
                            <a:srgbClr val="172B4D"/>
                          </a:solidFill>
                        </a:rPr>
                        <a:t>真の依存も弱めうる</a:t>
                      </a:r>
                    </a:p>
                  </a:txBody>
                  <a:tcPr marL="91440" marR="91440" marT="45720" marB="45720">
                    <a:lnR w="9525">
                      <a:solidFill>
                        <a:srgbClr val="D7E1E8"/>
                      </a:solidFill>
                      <a:prstDash val="solid"/>
                    </a:lnR>
                    <a:lnB w="9525">
                      <a:solidFill>
                        <a:srgbClr val="D7E1E8"/>
                      </a:solidFill>
                      <a:prstDash val="solid"/>
                    </a:lnB>
                    <a:solidFill>
                      <a:srgbClr val="FFFFFF"/>
                    </a:solidFill>
                  </a:tcPr>
                </a:tc>
              </a:tr>
              <a:tr h="704850">
                <a:tc>
                  <a:txBody>
                    <a:bodyPr/>
                    <a:lstStyle/>
                    <a:p>
                      <a:r>
                        <a:rPr sz="1800" b="0">
                          <a:solidFill>
                            <a:srgbClr val="172B4D"/>
                          </a:solidFill>
                        </a:rPr>
                        <a:t>合成分布への依存が強い</a:t>
                      </a:r>
                    </a:p>
                  </a:txBody>
                  <a:tcPr marL="91440" marR="91440" marT="45720" marB="45720">
                    <a:lnL w="9525">
                      <a:solidFill>
                        <a:srgbClr val="D7E1E8"/>
                      </a:solidFill>
                      <a:prstDash val="solid"/>
                    </a:lnL>
                    <a:lnR w="9525">
                      <a:solidFill>
                        <a:srgbClr val="D7E1E8"/>
                      </a:solidFill>
                      <a:prstDash val="solid"/>
                    </a:lnR>
                    <a:lnB w="9525">
                      <a:solidFill>
                        <a:srgbClr val="D7E1E8"/>
                      </a:solidFill>
                      <a:prstDash val="solid"/>
                    </a:lnB>
                    <a:solidFill>
                      <a:srgbClr val="EDF3F7"/>
                    </a:solidFill>
                  </a:tcPr>
                </a:tc>
                <a:tc>
                  <a:txBody>
                    <a:bodyPr/>
                    <a:lstStyle/>
                    <a:p>
                      <a:r>
                        <a:rPr sz="1800" b="0">
                          <a:solidFill>
                            <a:srgbClr val="172B4D"/>
                          </a:solidFill>
                        </a:rPr>
                        <a:t>生成量を抑える</a:t>
                      </a:r>
                    </a:p>
                  </a:txBody>
                  <a:tcPr marL="91440" marR="91440" marT="45720" marB="45720">
                    <a:lnR w="9525">
                      <a:solidFill>
                        <a:srgbClr val="D7E1E8"/>
                      </a:solidFill>
                      <a:prstDash val="solid"/>
                    </a:lnR>
                    <a:lnB w="9525">
                      <a:solidFill>
                        <a:srgbClr val="D7E1E8"/>
                      </a:solidFill>
                      <a:prstDash val="solid"/>
                    </a:lnB>
                    <a:solidFill>
                      <a:srgbClr val="EDF3F7"/>
                    </a:solidFill>
                  </a:tcPr>
                </a:tc>
                <a:tc>
                  <a:txBody>
                    <a:bodyPr/>
                    <a:lstStyle/>
                    <a:p>
                      <a:r>
                        <a:rPr sz="1800" b="0">
                          <a:solidFill>
                            <a:srgbClr val="172B4D"/>
                          </a:solidFill>
                        </a:rPr>
                        <a:t>誤った生成は残る</a:t>
                      </a:r>
                    </a:p>
                  </a:txBody>
                  <a:tcPr marL="91440" marR="91440" marT="45720" marB="45720">
                    <a:lnR w="9525">
                      <a:solidFill>
                        <a:srgbClr val="D7E1E8"/>
                      </a:solidFill>
                      <a:prstDash val="solid"/>
                    </a:lnR>
                    <a:lnB w="9525">
                      <a:solidFill>
                        <a:srgbClr val="D7E1E8"/>
                      </a:solidFill>
                      <a:prstDash val="solid"/>
                    </a:lnB>
                    <a:solidFill>
                      <a:srgbClr val="EDF3F7"/>
                    </a:solidFill>
                  </a:tcPr>
                </a:tc>
              </a:tr>
              <a:tr h="704850">
                <a:tc>
                  <a:txBody>
                    <a:bodyPr/>
                    <a:lstStyle/>
                    <a:p>
                      <a:r>
                        <a:rPr sz="1800" b="0">
                          <a:solidFill>
                            <a:srgbClr val="172B4D"/>
                          </a:solidFill>
                        </a:rPr>
                        <a:t>意味制約への違反</a:t>
                      </a:r>
                    </a:p>
                  </a:txBody>
                  <a:tcPr marL="91440" marR="91440" marT="45720" marB="45720">
                    <a:lnL w="9525">
                      <a:solidFill>
                        <a:srgbClr val="D7E1E8"/>
                      </a:solidFill>
                      <a:prstDash val="solid"/>
                    </a:lnL>
                    <a:lnR w="9525">
                      <a:solidFill>
                        <a:srgbClr val="D7E1E8"/>
                      </a:solidFill>
                      <a:prstDash val="solid"/>
                    </a:lnR>
                    <a:lnB w="9525">
                      <a:solidFill>
                        <a:srgbClr val="D7E1E8"/>
                      </a:solidFill>
                      <a:prstDash val="solid"/>
                    </a:lnB>
                    <a:solidFill>
                      <a:srgbClr val="FFFFFF"/>
                    </a:solidFill>
                  </a:tcPr>
                </a:tc>
                <a:tc>
                  <a:txBody>
                    <a:bodyPr/>
                    <a:lstStyle/>
                    <a:p>
                      <a:r>
                        <a:rPr sz="1800" b="0">
                          <a:solidFill>
                            <a:srgbClr val="172B4D"/>
                          </a:solidFill>
                        </a:rPr>
                        <a:t>生成後の制約検査</a:t>
                      </a:r>
                    </a:p>
                  </a:txBody>
                  <a:tcPr marL="91440" marR="91440" marT="45720" marB="45720">
                    <a:lnR w="9525">
                      <a:solidFill>
                        <a:srgbClr val="D7E1E8"/>
                      </a:solidFill>
                      <a:prstDash val="solid"/>
                    </a:lnR>
                    <a:lnB w="9525">
                      <a:solidFill>
                        <a:srgbClr val="D7E1E8"/>
                      </a:solidFill>
                      <a:prstDash val="solid"/>
                    </a:lnB>
                    <a:solidFill>
                      <a:srgbClr val="FFFFFF"/>
                    </a:solidFill>
                  </a:tcPr>
                </a:tc>
                <a:tc>
                  <a:txBody>
                    <a:bodyPr/>
                    <a:lstStyle/>
                    <a:p>
                      <a:r>
                        <a:rPr sz="1800" b="0">
                          <a:solidFill>
                            <a:srgbClr val="172B4D"/>
                          </a:solidFill>
                        </a:rPr>
                        <a:t>採択後の分布が変わる</a:t>
                      </a:r>
                    </a:p>
                  </a:txBody>
                  <a:tcPr marL="91440" marR="91440" marT="45720" marB="45720">
                    <a:lnR w="9525">
                      <a:solidFill>
                        <a:srgbClr val="D7E1E8"/>
                      </a:solidFill>
                      <a:prstDash val="solid"/>
                    </a:lnR>
                    <a:lnB w="9525">
                      <a:solidFill>
                        <a:srgbClr val="D7E1E8"/>
                      </a:solidFill>
                      <a:prstDash val="solid"/>
                    </a:lnB>
                    <a:solidFill>
                      <a:srgbClr val="FFFFFF"/>
                    </a:solidFill>
                  </a:tcPr>
                </a:tc>
              </a:tr>
            </a:tbl>
          </a:graphicData>
        </a:graphic>
      </p:graphicFrame>
      <p:sp>
        <p:nvSpPr>
          <p:cNvPr id="5" name="">
            <a:extLst xmlns:a="http://schemas.openxmlformats.org/drawingml/2006/main">
              <a:ext uri="{FF2B5EF4-FFF2-40B4-BE49-F238E27FC236}">
                <a16:creationId xmlns:a16="http://schemas.microsoft.com/office/drawing/2014/main" id="{1552400E-3051-4EDB-9BE2-B7E63A55981D}"/>
              </a:ext>
            </a:extLst>
          </p:cNvPr>
          <p:cNvSpPr>
            <a:spLocks xmlns:a="http://schemas.openxmlformats.org/drawingml/2006/main" noGrp="1"/>
          </p:cNvSpPr>
          <p:nvPr/>
        </p:nvSpPr>
        <p:spPr>
          <a:xfrm xmlns:a="http://schemas.openxmlformats.org/drawingml/2006/main">
            <a:off x="762000" y="5562600"/>
            <a:ext cx="10668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336C81"/>
                </a:solidFill>
              </a:defRPr>
            </a:defPPr>
            <a:lvl1pPr>
              <a:defRPr sz="2100" b="0">
                <a:solidFill>
                  <a:srgbClr val="336C81"/>
                </a:solidFill>
              </a:defRPr>
            </a:lvl1pPr>
            <a:lvl2pPr>
              <a:defRPr sz="2100" b="0">
                <a:solidFill>
                  <a:srgbClr val="336C81"/>
                </a:solidFill>
              </a:defRPr>
            </a:lvl2pPr>
            <a:lvl3pPr>
              <a:defRPr sz="2100" b="0">
                <a:solidFill>
                  <a:srgbClr val="336C81"/>
                </a:solidFill>
              </a:defRPr>
            </a:lvl3pPr>
            <a:lvl4pPr>
              <a:defRPr sz="2100" b="0">
                <a:solidFill>
                  <a:srgbClr val="336C81"/>
                </a:solidFill>
              </a:defRPr>
            </a:lvl4pPr>
            <a:lvl5pPr>
              <a:defRPr sz="2100" b="0">
                <a:solidFill>
                  <a:srgbClr val="336C81"/>
                </a:solidFill>
              </a:defRPr>
            </a:lvl5pPr>
            <a:lvl6pPr>
              <a:defRPr sz="2100" b="0">
                <a:solidFill>
                  <a:srgbClr val="336C81"/>
                </a:solidFill>
              </a:defRPr>
            </a:lvl6pPr>
            <a:lvl7pPr>
              <a:defRPr sz="2100" b="0">
                <a:solidFill>
                  <a:srgbClr val="336C81"/>
                </a:solidFill>
              </a:defRPr>
            </a:lvl7pPr>
            <a:lvl8pPr>
              <a:defRPr sz="2100" b="0">
                <a:solidFill>
                  <a:srgbClr val="336C81"/>
                </a:solidFill>
              </a:defRPr>
            </a:lvl8pPr>
            <a:lvl9pPr>
              <a:defRPr sz="2100" b="0">
                <a:solidFill>
                  <a:srgbClr val="336C81"/>
                </a:solidFill>
              </a:defRPr>
            </a:lvl9pPr>
          </a:lstStyle>
          <a:p xmlns:a="http://schemas.openxmlformats.org/drawingml/2006/main">
            <a:pPr>
              <a:defRPr sz="2100" b="0">
                <a:solidFill>
                  <a:srgbClr val="336C81"/>
                </a:solidFill>
              </a:defRPr>
            </a:pPr>
            <a:r>
              <a:rPr sz="2100" b="0">
                <a:solidFill>
                  <a:srgbClr val="336C81"/>
                </a:solidFill>
              </a:rPr>
              <a:t>原因、対策、その副作用をセットで検証する</a:t>
            </a:r>
          </a:p>
        </p:txBody>
      </p:sp>
    </p:spTree>
    <p:extLst>
      <p:ext uri="{BB962C8B-B14F-4D97-AF65-F5344CB8AC3E}">
        <p14:creationId xmlns:p14="http://schemas.microsoft.com/office/powerpoint/2010/main" val="1800083626"/>
      </p:ext>
    </p:extLst>
  </p:cSld>
</p:sld>
</file>

<file path=ppt/slides/slide19.xml><?xml version="1.0" encoding="utf-8"?>
<p:sld xmlns:p="http://schemas.openxmlformats.org/presentationml/2006/main">
  <p:cSld>
    <p:bg>
      <p:bgPr>
        <a:solidFill xmlns:a="http://schemas.openxmlformats.org/drawingml/2006/main">
          <a:srgbClr val="FAFBFD"/>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4A036F29-562D-4EBC-8CE8-903AC1096563}"/>
              </a:ext>
            </a:extLst>
          </p:cNvPr>
          <p:cNvSpPr>
            <a:spLocks xmlns:a="http://schemas.openxmlformats.org/drawingml/2006/main" noGrp="1"/>
          </p:cNvSpPr>
          <p:nvPr/>
        </p:nvSpPr>
        <p:spPr>
          <a:xfrm xmlns:a="http://schemas.openxmlformats.org/drawingml/2006/main">
            <a:off x="685800" y="495300"/>
            <a:ext cx="10858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150" b="1">
                <a:solidFill>
                  <a:srgbClr val="102B46"/>
                </a:solidFill>
              </a:defRPr>
            </a:defPPr>
            <a:lvl1pPr>
              <a:defRPr sz="3150" b="1">
                <a:solidFill>
                  <a:srgbClr val="102B46"/>
                </a:solidFill>
              </a:defRPr>
            </a:lvl1pPr>
            <a:lvl2pPr>
              <a:defRPr sz="3150" b="1">
                <a:solidFill>
                  <a:srgbClr val="102B46"/>
                </a:solidFill>
              </a:defRPr>
            </a:lvl2pPr>
            <a:lvl3pPr>
              <a:defRPr sz="3150" b="1">
                <a:solidFill>
                  <a:srgbClr val="102B46"/>
                </a:solidFill>
              </a:defRPr>
            </a:lvl3pPr>
            <a:lvl4pPr>
              <a:defRPr sz="3150" b="1">
                <a:solidFill>
                  <a:srgbClr val="102B46"/>
                </a:solidFill>
              </a:defRPr>
            </a:lvl4pPr>
            <a:lvl5pPr>
              <a:defRPr sz="3150" b="1">
                <a:solidFill>
                  <a:srgbClr val="102B46"/>
                </a:solidFill>
              </a:defRPr>
            </a:lvl5pPr>
            <a:lvl6pPr>
              <a:defRPr sz="3150" b="1">
                <a:solidFill>
                  <a:srgbClr val="102B46"/>
                </a:solidFill>
              </a:defRPr>
            </a:lvl6pPr>
            <a:lvl7pPr>
              <a:defRPr sz="3150" b="1">
                <a:solidFill>
                  <a:srgbClr val="102B46"/>
                </a:solidFill>
              </a:defRPr>
            </a:lvl7pPr>
            <a:lvl8pPr>
              <a:defRPr sz="3150" b="1">
                <a:solidFill>
                  <a:srgbClr val="102B46"/>
                </a:solidFill>
              </a:defRPr>
            </a:lvl8pPr>
            <a:lvl9pPr>
              <a:defRPr sz="3150" b="1">
                <a:solidFill>
                  <a:srgbClr val="102B46"/>
                </a:solidFill>
              </a:defRPr>
            </a:lvl9pPr>
          </a:lstStyle>
          <a:p xmlns:a="http://schemas.openxmlformats.org/drawingml/2006/main">
            <a:pPr>
              <a:defRPr sz="3150" b="1">
                <a:solidFill>
                  <a:srgbClr val="102B46"/>
                </a:solidFill>
              </a:defRPr>
            </a:pPr>
            <a:r>
              <a:rPr sz="3150" b="1">
                <a:solidFill>
                  <a:srgbClr val="102B46"/>
                </a:solidFill>
              </a:rPr>
              <a:t>集団内の生成は誤った橋を減らす候補</a:t>
            </a:r>
          </a:p>
        </p:txBody>
      </p:sp>
      <p:sp>
        <p:nvSpPr>
          <p:cNvPr id="3" name="">
            <a:extLst xmlns:a="http://schemas.openxmlformats.org/drawingml/2006/main">
              <a:ext uri="{FF2B5EF4-FFF2-40B4-BE49-F238E27FC236}">
                <a16:creationId xmlns:a16="http://schemas.microsoft.com/office/drawing/2014/main" id="{96585656-81A0-4033-AD41-ED75D060DC32}"/>
              </a:ext>
            </a:extLst>
          </p:cNvPr>
          <p:cNvSpPr>
            <a:spLocks xmlns:a="http://schemas.openxmlformats.org/drawingml/2006/main" noGrp="1"/>
          </p:cNvSpPr>
          <p:nvPr/>
        </p:nvSpPr>
        <p:spPr>
          <a:xfrm xmlns:a="http://schemas.openxmlformats.org/drawingml/2006/main">
            <a:off x="723900" y="1952625"/>
            <a:ext cx="1066800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625" b="1">
                <a:solidFill>
                  <a:srgbClr val="172B4D"/>
                </a:solidFill>
              </a:defRPr>
            </a:defPPr>
            <a:lvl1pPr>
              <a:defRPr sz="2625" b="1">
                <a:solidFill>
                  <a:srgbClr val="172B4D"/>
                </a:solidFill>
              </a:defRPr>
            </a:lvl1pPr>
            <a:lvl2pPr>
              <a:defRPr sz="2625" b="1">
                <a:solidFill>
                  <a:srgbClr val="172B4D"/>
                </a:solidFill>
              </a:defRPr>
            </a:lvl2pPr>
            <a:lvl3pPr>
              <a:defRPr sz="2625" b="1">
                <a:solidFill>
                  <a:srgbClr val="172B4D"/>
                </a:solidFill>
              </a:defRPr>
            </a:lvl3pPr>
            <a:lvl4pPr>
              <a:defRPr sz="2625" b="1">
                <a:solidFill>
                  <a:srgbClr val="172B4D"/>
                </a:solidFill>
              </a:defRPr>
            </a:lvl4pPr>
            <a:lvl5pPr>
              <a:defRPr sz="2625" b="1">
                <a:solidFill>
                  <a:srgbClr val="172B4D"/>
                </a:solidFill>
              </a:defRPr>
            </a:lvl5pPr>
            <a:lvl6pPr>
              <a:defRPr sz="2625" b="1">
                <a:solidFill>
                  <a:srgbClr val="172B4D"/>
                </a:solidFill>
              </a:defRPr>
            </a:lvl6pPr>
            <a:lvl7pPr>
              <a:defRPr sz="2625" b="1">
                <a:solidFill>
                  <a:srgbClr val="172B4D"/>
                </a:solidFill>
              </a:defRPr>
            </a:lvl7pPr>
            <a:lvl8pPr>
              <a:defRPr sz="2625" b="1">
                <a:solidFill>
                  <a:srgbClr val="172B4D"/>
                </a:solidFill>
              </a:defRPr>
            </a:lvl8pPr>
            <a:lvl9pPr>
              <a:defRPr sz="2625" b="1">
                <a:solidFill>
                  <a:srgbClr val="172B4D"/>
                </a:solidFill>
              </a:defRPr>
            </a:lvl9pPr>
          </a:lstStyle>
          <a:p xmlns:a="http://schemas.openxmlformats.org/drawingml/2006/main">
            <a:pPr>
              <a:defRPr sz="2625" b="1">
                <a:solidFill>
                  <a:srgbClr val="172B4D"/>
                </a:solidFill>
              </a:defRPr>
            </a:pPr>
            <a:r>
              <a:rPr sz="2625" b="1">
                <a:solidFill>
                  <a:srgbClr val="172B4D"/>
                </a:solidFill>
              </a:rPr>
              <a:t>理由：離れた集団をまたぐ補間を避けると、</a:t>
            </a:r>
          </a:p>
          <a:p xmlns:a="http://schemas.openxmlformats.org/drawingml/2006/main">
            <a:pPr>
              <a:defRPr sz="2625" b="1">
                <a:solidFill>
                  <a:srgbClr val="172B4D"/>
                </a:solidFill>
              </a:defRPr>
            </a:pPr>
            <a:r>
              <a:rPr sz="2625" b="1">
                <a:solidFill>
                  <a:srgbClr val="172B4D"/>
                </a:solidFill>
              </a:rPr>
              <a:t>間にある別クラス領域への生成を抑えられる可能性がある</a:t>
            </a:r>
          </a:p>
        </p:txBody>
      </p:sp>
      <p:sp>
        <p:nvSpPr>
          <p:cNvPr id="4" name="">
            <a:extLst xmlns:a="http://schemas.openxmlformats.org/drawingml/2006/main">
              <a:ext uri="{FF2B5EF4-FFF2-40B4-BE49-F238E27FC236}">
                <a16:creationId xmlns:a16="http://schemas.microsoft.com/office/drawing/2014/main" id="{9EECA417-2F36-4928-BEED-83048473C73E}"/>
              </a:ext>
            </a:extLst>
          </p:cNvPr>
          <p:cNvSpPr>
            <a:spLocks xmlns:a="http://schemas.openxmlformats.org/drawingml/2006/main" noGrp="1"/>
          </p:cNvSpPr>
          <p:nvPr/>
        </p:nvSpPr>
        <p:spPr>
          <a:xfrm xmlns:a="http://schemas.openxmlformats.org/drawingml/2006/main">
            <a:off x="723900" y="3943350"/>
            <a:ext cx="10668000" cy="1562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0">
                <a:solidFill>
                  <a:srgbClr val="336C81"/>
                </a:solidFill>
              </a:defRPr>
            </a:defPPr>
            <a:lvl1pPr>
              <a:defRPr sz="2250" b="0">
                <a:solidFill>
                  <a:srgbClr val="336C81"/>
                </a:solidFill>
              </a:defRPr>
            </a:lvl1pPr>
            <a:lvl2pPr>
              <a:defRPr sz="2250" b="0">
                <a:solidFill>
                  <a:srgbClr val="336C81"/>
                </a:solidFill>
              </a:defRPr>
            </a:lvl2pPr>
            <a:lvl3pPr>
              <a:defRPr sz="2250" b="0">
                <a:solidFill>
                  <a:srgbClr val="336C81"/>
                </a:solidFill>
              </a:defRPr>
            </a:lvl3pPr>
            <a:lvl4pPr>
              <a:defRPr sz="2250" b="0">
                <a:solidFill>
                  <a:srgbClr val="336C81"/>
                </a:solidFill>
              </a:defRPr>
            </a:lvl4pPr>
            <a:lvl5pPr>
              <a:defRPr sz="2250" b="0">
                <a:solidFill>
                  <a:srgbClr val="336C81"/>
                </a:solidFill>
              </a:defRPr>
            </a:lvl5pPr>
            <a:lvl6pPr>
              <a:defRPr sz="2250" b="0">
                <a:solidFill>
                  <a:srgbClr val="336C81"/>
                </a:solidFill>
              </a:defRPr>
            </a:lvl6pPr>
            <a:lvl7pPr>
              <a:defRPr sz="2250" b="0">
                <a:solidFill>
                  <a:srgbClr val="336C81"/>
                </a:solidFill>
              </a:defRPr>
            </a:lvl7pPr>
            <a:lvl8pPr>
              <a:defRPr sz="2250" b="0">
                <a:solidFill>
                  <a:srgbClr val="336C81"/>
                </a:solidFill>
              </a:defRPr>
            </a:lvl8pPr>
            <a:lvl9pPr>
              <a:defRPr sz="2250" b="0">
                <a:solidFill>
                  <a:srgbClr val="336C81"/>
                </a:solidFill>
              </a:defRPr>
            </a:lvl9pPr>
          </a:lstStyle>
          <a:p xmlns:a="http://schemas.openxmlformats.org/drawingml/2006/main">
            <a:pPr>
              <a:defRPr sz="2250" b="0">
                <a:solidFill>
                  <a:srgbClr val="336C81"/>
                </a:solidFill>
              </a:defRPr>
            </a:pPr>
            <a:r>
              <a:rPr sz="2250" b="0">
                <a:solidFill>
                  <a:srgbClr val="336C81"/>
                </a:solidFill>
              </a:rPr>
              <a:t>代償：小さな集団では推定例がさらに減る</a:t>
            </a:r>
          </a:p>
          <a:p xmlns:a="http://schemas.openxmlformats.org/drawingml/2006/main">
            <a:pPr>
              <a:defRPr sz="2250" b="0">
                <a:solidFill>
                  <a:srgbClr val="336C81"/>
                </a:solidFill>
              </a:defRPr>
            </a:pPr>
            <a:r>
              <a:rPr sz="2250" b="0">
                <a:solidFill>
                  <a:srgbClr val="336C81"/>
                </a:solidFill>
              </a:rPr>
              <a:t>本物の境界点や希少な集団を除く可能性もある</a:t>
            </a:r>
          </a:p>
        </p:txBody>
      </p:sp>
      <p:sp>
        <p:nvSpPr>
          <p:cNvPr id="5" name="">
            <a:extLst xmlns:a="http://schemas.openxmlformats.org/drawingml/2006/main">
              <a:ext uri="{FF2B5EF4-FFF2-40B4-BE49-F238E27FC236}">
                <a16:creationId xmlns:a16="http://schemas.microsoft.com/office/drawing/2014/main" id="{E674D130-2D9B-4F46-943A-909E7C876CBB}"/>
              </a:ext>
            </a:extLst>
          </p:cNvPr>
          <p:cNvSpPr>
            <a:spLocks xmlns:a="http://schemas.openxmlformats.org/drawingml/2006/main" noGrp="1"/>
          </p:cNvSpPr>
          <p:nvPr/>
        </p:nvSpPr>
        <p:spPr>
          <a:xfrm xmlns:a="http://schemas.openxmlformats.org/drawingml/2006/main">
            <a:off x="11144250" y="6276975"/>
            <a:ext cx="5238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6B7F90"/>
                </a:solidFill>
              </a:defRPr>
            </a:defPPr>
            <a:lvl1pPr>
              <a:defRPr sz="1350" b="0">
                <a:solidFill>
                  <a:srgbClr val="6B7F90"/>
                </a:solidFill>
              </a:defRPr>
            </a:lvl1pPr>
            <a:lvl2pPr>
              <a:defRPr sz="1350" b="0">
                <a:solidFill>
                  <a:srgbClr val="6B7F90"/>
                </a:solidFill>
              </a:defRPr>
            </a:lvl2pPr>
            <a:lvl3pPr>
              <a:defRPr sz="1350" b="0">
                <a:solidFill>
                  <a:srgbClr val="6B7F90"/>
                </a:solidFill>
              </a:defRPr>
            </a:lvl3pPr>
            <a:lvl4pPr>
              <a:defRPr sz="1350" b="0">
                <a:solidFill>
                  <a:srgbClr val="6B7F90"/>
                </a:solidFill>
              </a:defRPr>
            </a:lvl4pPr>
            <a:lvl5pPr>
              <a:defRPr sz="1350" b="0">
                <a:solidFill>
                  <a:srgbClr val="6B7F90"/>
                </a:solidFill>
              </a:defRPr>
            </a:lvl5pPr>
            <a:lvl6pPr>
              <a:defRPr sz="1350" b="0">
                <a:solidFill>
                  <a:srgbClr val="6B7F90"/>
                </a:solidFill>
              </a:defRPr>
            </a:lvl6pPr>
            <a:lvl7pPr>
              <a:defRPr sz="1350" b="0">
                <a:solidFill>
                  <a:srgbClr val="6B7F90"/>
                </a:solidFill>
              </a:defRPr>
            </a:lvl7pPr>
            <a:lvl8pPr>
              <a:defRPr sz="1350" b="0">
                <a:solidFill>
                  <a:srgbClr val="6B7F90"/>
                </a:solidFill>
              </a:defRPr>
            </a:lvl8pPr>
            <a:lvl9pPr>
              <a:defRPr sz="1350" b="0">
                <a:solidFill>
                  <a:srgbClr val="6B7F90"/>
                </a:solidFill>
              </a:defRPr>
            </a:lvl9pPr>
          </a:lstStyle>
          <a:p xmlns:a="http://schemas.openxmlformats.org/drawingml/2006/main">
            <a:pPr>
              <a:defRPr sz="1350" b="0">
                <a:solidFill>
                  <a:srgbClr val="6B7F90"/>
                </a:solidFill>
              </a:defRPr>
            </a:pPr>
            <a:r>
              <a:rPr sz="1350" b="0">
                <a:solidFill>
                  <a:srgbClr val="6B7F90"/>
                </a:solidFill>
              </a:rPr>
              <a:t>19</a:t>
            </a:r>
          </a:p>
        </p:txBody>
      </p:sp>
    </p:spTree>
    <p:extLst>
      <p:ext uri="{BB962C8B-B14F-4D97-AF65-F5344CB8AC3E}">
        <p14:creationId xmlns:p14="http://schemas.microsoft.com/office/powerpoint/2010/main" val="699764135"/>
      </p:ext>
    </p:extLst>
  </p:cSld>
</p:sld>
</file>

<file path=ppt/slides/slide20.xml><?xml version="1.0" encoding="utf-8"?>
<p:sld xmlns:p="http://schemas.openxmlformats.org/presentationml/2006/main">
  <p:cSld>
    <p:bg>
      <p:bgPr>
        <a:solidFill xmlns:a="http://schemas.openxmlformats.org/drawingml/2006/main">
          <a:srgbClr val="FAFBFD"/>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FC2B83B5-4596-4B6B-AB67-DD722EE551C2}"/>
              </a:ext>
            </a:extLst>
          </p:cNvPr>
          <p:cNvSpPr>
            <a:spLocks xmlns:a="http://schemas.openxmlformats.org/drawingml/2006/main" noGrp="1"/>
          </p:cNvSpPr>
          <p:nvPr/>
        </p:nvSpPr>
        <p:spPr>
          <a:xfrm xmlns:a="http://schemas.openxmlformats.org/drawingml/2006/main">
            <a:off x="685800" y="495300"/>
            <a:ext cx="10858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150" b="1">
                <a:solidFill>
                  <a:srgbClr val="102B46"/>
                </a:solidFill>
              </a:defRPr>
            </a:defPPr>
            <a:lvl1pPr>
              <a:defRPr sz="3150" b="1">
                <a:solidFill>
                  <a:srgbClr val="102B46"/>
                </a:solidFill>
              </a:defRPr>
            </a:lvl1pPr>
            <a:lvl2pPr>
              <a:defRPr sz="3150" b="1">
                <a:solidFill>
                  <a:srgbClr val="102B46"/>
                </a:solidFill>
              </a:defRPr>
            </a:lvl2pPr>
            <a:lvl3pPr>
              <a:defRPr sz="3150" b="1">
                <a:solidFill>
                  <a:srgbClr val="102B46"/>
                </a:solidFill>
              </a:defRPr>
            </a:lvl3pPr>
            <a:lvl4pPr>
              <a:defRPr sz="3150" b="1">
                <a:solidFill>
                  <a:srgbClr val="102B46"/>
                </a:solidFill>
              </a:defRPr>
            </a:lvl4pPr>
            <a:lvl5pPr>
              <a:defRPr sz="3150" b="1">
                <a:solidFill>
                  <a:srgbClr val="102B46"/>
                </a:solidFill>
              </a:defRPr>
            </a:lvl5pPr>
            <a:lvl6pPr>
              <a:defRPr sz="3150" b="1">
                <a:solidFill>
                  <a:srgbClr val="102B46"/>
                </a:solidFill>
              </a:defRPr>
            </a:lvl6pPr>
            <a:lvl7pPr>
              <a:defRPr sz="3150" b="1">
                <a:solidFill>
                  <a:srgbClr val="102B46"/>
                </a:solidFill>
              </a:defRPr>
            </a:lvl7pPr>
            <a:lvl8pPr>
              <a:defRPr sz="3150" b="1">
                <a:solidFill>
                  <a:srgbClr val="102B46"/>
                </a:solidFill>
              </a:defRPr>
            </a:lvl8pPr>
            <a:lvl9pPr>
              <a:defRPr sz="3150" b="1">
                <a:solidFill>
                  <a:srgbClr val="102B46"/>
                </a:solidFill>
              </a:defRPr>
            </a:lvl9pPr>
          </a:lstStyle>
          <a:p xmlns:a="http://schemas.openxmlformats.org/drawingml/2006/main">
            <a:pPr>
              <a:defRPr sz="3150" b="1">
                <a:solidFill>
                  <a:srgbClr val="102B46"/>
                </a:solidFill>
              </a:defRPr>
            </a:pPr>
            <a:r>
              <a:rPr sz="3150" b="1">
                <a:solidFill>
                  <a:srgbClr val="102B46"/>
                </a:solidFill>
              </a:rPr>
              <a:t>生成量は誤った例の影響も増やす</a:t>
            </a:r>
          </a:p>
        </p:txBody>
      </p:sp>
      <p:sp>
        <p:nvSpPr>
          <p:cNvPr id="3" name="">
            <a:extLst xmlns:a="http://schemas.openxmlformats.org/drawingml/2006/main">
              <a:ext uri="{FF2B5EF4-FFF2-40B4-BE49-F238E27FC236}">
                <a16:creationId xmlns:a16="http://schemas.microsoft.com/office/drawing/2014/main" id="{36107056-E27D-45D5-970B-9603B8EB97E9}"/>
              </a:ext>
            </a:extLst>
          </p:cNvPr>
          <p:cNvSpPr>
            <a:spLocks xmlns:a="http://schemas.openxmlformats.org/drawingml/2006/main" noGrp="1"/>
          </p:cNvSpPr>
          <p:nvPr/>
        </p:nvSpPr>
        <p:spPr>
          <a:xfrm xmlns:a="http://schemas.openxmlformats.org/drawingml/2006/main">
            <a:off x="723900" y="1952625"/>
            <a:ext cx="1066800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625" b="1">
                <a:solidFill>
                  <a:srgbClr val="172B4D"/>
                </a:solidFill>
              </a:defRPr>
            </a:defPPr>
            <a:lvl1pPr>
              <a:defRPr sz="2625" b="1">
                <a:solidFill>
                  <a:srgbClr val="172B4D"/>
                </a:solidFill>
              </a:defRPr>
            </a:lvl1pPr>
            <a:lvl2pPr>
              <a:defRPr sz="2625" b="1">
                <a:solidFill>
                  <a:srgbClr val="172B4D"/>
                </a:solidFill>
              </a:defRPr>
            </a:lvl2pPr>
            <a:lvl3pPr>
              <a:defRPr sz="2625" b="1">
                <a:solidFill>
                  <a:srgbClr val="172B4D"/>
                </a:solidFill>
              </a:defRPr>
            </a:lvl3pPr>
            <a:lvl4pPr>
              <a:defRPr sz="2625" b="1">
                <a:solidFill>
                  <a:srgbClr val="172B4D"/>
                </a:solidFill>
              </a:defRPr>
            </a:lvl4pPr>
            <a:lvl5pPr>
              <a:defRPr sz="2625" b="1">
                <a:solidFill>
                  <a:srgbClr val="172B4D"/>
                </a:solidFill>
              </a:defRPr>
            </a:lvl5pPr>
            <a:lvl6pPr>
              <a:defRPr sz="2625" b="1">
                <a:solidFill>
                  <a:srgbClr val="172B4D"/>
                </a:solidFill>
              </a:defRPr>
            </a:lvl6pPr>
            <a:lvl7pPr>
              <a:defRPr sz="2625" b="1">
                <a:solidFill>
                  <a:srgbClr val="172B4D"/>
                </a:solidFill>
              </a:defRPr>
            </a:lvl7pPr>
            <a:lvl8pPr>
              <a:defRPr sz="2625" b="1">
                <a:solidFill>
                  <a:srgbClr val="172B4D"/>
                </a:solidFill>
              </a:defRPr>
            </a:lvl8pPr>
            <a:lvl9pPr>
              <a:defRPr sz="2625" b="1">
                <a:solidFill>
                  <a:srgbClr val="172B4D"/>
                </a:solidFill>
              </a:defRPr>
            </a:lvl9pPr>
          </a:lstStyle>
          <a:p xmlns:a="http://schemas.openxmlformats.org/drawingml/2006/main">
            <a:pPr>
              <a:defRPr sz="2625" b="1">
                <a:solidFill>
                  <a:srgbClr val="172B4D"/>
                </a:solidFill>
              </a:defRPr>
            </a:pPr>
            <a:r>
              <a:rPr sz="2625" b="1">
                <a:solidFill>
                  <a:srgbClr val="172B4D"/>
                </a:solidFill>
              </a:rPr>
              <a:t>合成行が多いほど、分類器は</a:t>
            </a:r>
          </a:p>
          <a:p xmlns:a="http://schemas.openxmlformats.org/drawingml/2006/main">
            <a:pPr>
              <a:defRPr sz="2625" b="1">
                <a:solidFill>
                  <a:srgbClr val="172B4D"/>
                </a:solidFill>
              </a:defRPr>
            </a:pPr>
            <a:r>
              <a:rPr sz="2625" b="1">
                <a:solidFill>
                  <a:srgbClr val="172B4D"/>
                </a:solidFill>
              </a:rPr>
              <a:t>推定した生成分布に強く依存する</a:t>
            </a:r>
          </a:p>
        </p:txBody>
      </p:sp>
      <p:sp>
        <p:nvSpPr>
          <p:cNvPr id="4" name="">
            <a:extLst xmlns:a="http://schemas.openxmlformats.org/drawingml/2006/main">
              <a:ext uri="{FF2B5EF4-FFF2-40B4-BE49-F238E27FC236}">
                <a16:creationId xmlns:a16="http://schemas.microsoft.com/office/drawing/2014/main" id="{92E2B4BC-C39E-4C2D-BE8A-F3676A2C8F02}"/>
              </a:ext>
            </a:extLst>
          </p:cNvPr>
          <p:cNvSpPr>
            <a:spLocks xmlns:a="http://schemas.openxmlformats.org/drawingml/2006/main" noGrp="1"/>
          </p:cNvSpPr>
          <p:nvPr/>
        </p:nvSpPr>
        <p:spPr>
          <a:xfrm xmlns:a="http://schemas.openxmlformats.org/drawingml/2006/main">
            <a:off x="723900" y="3943350"/>
            <a:ext cx="10668000" cy="1562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0">
                <a:solidFill>
                  <a:srgbClr val="336C81"/>
                </a:solidFill>
              </a:defRPr>
            </a:defPPr>
            <a:lvl1pPr>
              <a:defRPr sz="2250" b="0">
                <a:solidFill>
                  <a:srgbClr val="336C81"/>
                </a:solidFill>
              </a:defRPr>
            </a:lvl1pPr>
            <a:lvl2pPr>
              <a:defRPr sz="2250" b="0">
                <a:solidFill>
                  <a:srgbClr val="336C81"/>
                </a:solidFill>
              </a:defRPr>
            </a:lvl2pPr>
            <a:lvl3pPr>
              <a:defRPr sz="2250" b="0">
                <a:solidFill>
                  <a:srgbClr val="336C81"/>
                </a:solidFill>
              </a:defRPr>
            </a:lvl3pPr>
            <a:lvl4pPr>
              <a:defRPr sz="2250" b="0">
                <a:solidFill>
                  <a:srgbClr val="336C81"/>
                </a:solidFill>
              </a:defRPr>
            </a:lvl4pPr>
            <a:lvl5pPr>
              <a:defRPr sz="2250" b="0">
                <a:solidFill>
                  <a:srgbClr val="336C81"/>
                </a:solidFill>
              </a:defRPr>
            </a:lvl5pPr>
            <a:lvl6pPr>
              <a:defRPr sz="2250" b="0">
                <a:solidFill>
                  <a:srgbClr val="336C81"/>
                </a:solidFill>
              </a:defRPr>
            </a:lvl6pPr>
            <a:lvl7pPr>
              <a:defRPr sz="2250" b="0">
                <a:solidFill>
                  <a:srgbClr val="336C81"/>
                </a:solidFill>
              </a:defRPr>
            </a:lvl7pPr>
            <a:lvl8pPr>
              <a:defRPr sz="2250" b="0">
                <a:solidFill>
                  <a:srgbClr val="336C81"/>
                </a:solidFill>
              </a:defRPr>
            </a:lvl8pPr>
            <a:lvl9pPr>
              <a:defRPr sz="2250" b="0">
                <a:solidFill>
                  <a:srgbClr val="336C81"/>
                </a:solidFill>
              </a:defRPr>
            </a:lvl9pPr>
          </a:lstStyle>
          <a:p xmlns:a="http://schemas.openxmlformats.org/drawingml/2006/main">
            <a:pPr>
              <a:defRPr sz="2250" b="0">
                <a:solidFill>
                  <a:srgbClr val="336C81"/>
                </a:solidFill>
              </a:defRPr>
            </a:pPr>
            <a:r>
              <a:rPr sz="2250" b="0">
                <a:solidFill>
                  <a:srgbClr val="336C81"/>
                </a:solidFill>
              </a:rPr>
              <a:t>例として追加数／元の少数例数を 0、1、3 で比較</a:t>
            </a:r>
          </a:p>
          <a:p xmlns:a="http://schemas.openxmlformats.org/drawingml/2006/main">
            <a:pPr>
              <a:defRPr sz="2250" b="0">
                <a:solidFill>
                  <a:srgbClr val="336C81"/>
                </a:solidFill>
              </a:defRPr>
            </a:pPr>
            <a:r>
              <a:rPr sz="2250" b="0">
                <a:solidFill>
                  <a:srgbClr val="336C81"/>
                </a:solidFill>
              </a:rPr>
              <a:t>最適な生成量は検証データで選ぶ</a:t>
            </a:r>
          </a:p>
        </p:txBody>
      </p:sp>
      <p:sp>
        <p:nvSpPr>
          <p:cNvPr id="5" name="">
            <a:extLst xmlns:a="http://schemas.openxmlformats.org/drawingml/2006/main">
              <a:ext uri="{FF2B5EF4-FFF2-40B4-BE49-F238E27FC236}">
                <a16:creationId xmlns:a16="http://schemas.microsoft.com/office/drawing/2014/main" id="{959D4FF5-527F-46EE-86A2-117051E2D668}"/>
              </a:ext>
            </a:extLst>
          </p:cNvPr>
          <p:cNvSpPr>
            <a:spLocks xmlns:a="http://schemas.openxmlformats.org/drawingml/2006/main" noGrp="1"/>
          </p:cNvSpPr>
          <p:nvPr/>
        </p:nvSpPr>
        <p:spPr>
          <a:xfrm xmlns:a="http://schemas.openxmlformats.org/drawingml/2006/main">
            <a:off x="11144250" y="6276975"/>
            <a:ext cx="5238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6B7F90"/>
                </a:solidFill>
              </a:defRPr>
            </a:defPPr>
            <a:lvl1pPr>
              <a:defRPr sz="1350" b="0">
                <a:solidFill>
                  <a:srgbClr val="6B7F90"/>
                </a:solidFill>
              </a:defRPr>
            </a:lvl1pPr>
            <a:lvl2pPr>
              <a:defRPr sz="1350" b="0">
                <a:solidFill>
                  <a:srgbClr val="6B7F90"/>
                </a:solidFill>
              </a:defRPr>
            </a:lvl2pPr>
            <a:lvl3pPr>
              <a:defRPr sz="1350" b="0">
                <a:solidFill>
                  <a:srgbClr val="6B7F90"/>
                </a:solidFill>
              </a:defRPr>
            </a:lvl3pPr>
            <a:lvl4pPr>
              <a:defRPr sz="1350" b="0">
                <a:solidFill>
                  <a:srgbClr val="6B7F90"/>
                </a:solidFill>
              </a:defRPr>
            </a:lvl4pPr>
            <a:lvl5pPr>
              <a:defRPr sz="1350" b="0">
                <a:solidFill>
                  <a:srgbClr val="6B7F90"/>
                </a:solidFill>
              </a:defRPr>
            </a:lvl5pPr>
            <a:lvl6pPr>
              <a:defRPr sz="1350" b="0">
                <a:solidFill>
                  <a:srgbClr val="6B7F90"/>
                </a:solidFill>
              </a:defRPr>
            </a:lvl6pPr>
            <a:lvl7pPr>
              <a:defRPr sz="1350" b="0">
                <a:solidFill>
                  <a:srgbClr val="6B7F90"/>
                </a:solidFill>
              </a:defRPr>
            </a:lvl7pPr>
            <a:lvl8pPr>
              <a:defRPr sz="1350" b="0">
                <a:solidFill>
                  <a:srgbClr val="6B7F90"/>
                </a:solidFill>
              </a:defRPr>
            </a:lvl8pPr>
            <a:lvl9pPr>
              <a:defRPr sz="1350" b="0">
                <a:solidFill>
                  <a:srgbClr val="6B7F90"/>
                </a:solidFill>
              </a:defRPr>
            </a:lvl9pPr>
          </a:lstStyle>
          <a:p xmlns:a="http://schemas.openxmlformats.org/drawingml/2006/main">
            <a:pPr>
              <a:defRPr sz="1350" b="0">
                <a:solidFill>
                  <a:srgbClr val="6B7F90"/>
                </a:solidFill>
              </a:defRPr>
            </a:pPr>
            <a:r>
              <a:rPr sz="1350" b="0">
                <a:solidFill>
                  <a:srgbClr val="6B7F90"/>
                </a:solidFill>
              </a:rPr>
              <a:t>20</a:t>
            </a:r>
          </a:p>
        </p:txBody>
      </p:sp>
    </p:spTree>
    <p:extLst>
      <p:ext uri="{BB962C8B-B14F-4D97-AF65-F5344CB8AC3E}">
        <p14:creationId xmlns:p14="http://schemas.microsoft.com/office/powerpoint/2010/main" val="1132401154"/>
      </p:ext>
    </p:extLst>
  </p:cSld>
</p:sld>
</file>

<file path=ppt/slides/slide21.xml><?xml version="1.0" encoding="utf-8"?>
<p:sld xmlns:p="http://schemas.openxmlformats.org/presentationml/2006/main">
  <p:cSld>
    <p:bg>
      <p:bgPr>
        <a:solidFill xmlns:a="http://schemas.openxmlformats.org/drawingml/2006/main">
          <a:srgbClr val="FAFBFD"/>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9173B42B-E444-47F4-8A6E-6EAF75D86056}"/>
              </a:ext>
            </a:extLst>
          </p:cNvPr>
          <p:cNvSpPr>
            <a:spLocks xmlns:a="http://schemas.openxmlformats.org/drawingml/2006/main" noGrp="1"/>
          </p:cNvSpPr>
          <p:nvPr/>
        </p:nvSpPr>
        <p:spPr>
          <a:xfrm xmlns:a="http://schemas.openxmlformats.org/drawingml/2006/main">
            <a:off x="685800" y="495300"/>
            <a:ext cx="10858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150" b="1">
                <a:solidFill>
                  <a:srgbClr val="102B46"/>
                </a:solidFill>
              </a:defRPr>
            </a:defPPr>
            <a:lvl1pPr>
              <a:defRPr sz="3150" b="1">
                <a:solidFill>
                  <a:srgbClr val="102B46"/>
                </a:solidFill>
              </a:defRPr>
            </a:lvl1pPr>
            <a:lvl2pPr>
              <a:defRPr sz="3150" b="1">
                <a:solidFill>
                  <a:srgbClr val="102B46"/>
                </a:solidFill>
              </a:defRPr>
            </a:lvl2pPr>
            <a:lvl3pPr>
              <a:defRPr sz="3150" b="1">
                <a:solidFill>
                  <a:srgbClr val="102B46"/>
                </a:solidFill>
              </a:defRPr>
            </a:lvl3pPr>
            <a:lvl4pPr>
              <a:defRPr sz="3150" b="1">
                <a:solidFill>
                  <a:srgbClr val="102B46"/>
                </a:solidFill>
              </a:defRPr>
            </a:lvl4pPr>
            <a:lvl5pPr>
              <a:defRPr sz="3150" b="1">
                <a:solidFill>
                  <a:srgbClr val="102B46"/>
                </a:solidFill>
              </a:defRPr>
            </a:lvl5pPr>
            <a:lvl6pPr>
              <a:defRPr sz="3150" b="1">
                <a:solidFill>
                  <a:srgbClr val="102B46"/>
                </a:solidFill>
              </a:defRPr>
            </a:lvl6pPr>
            <a:lvl7pPr>
              <a:defRPr sz="3150" b="1">
                <a:solidFill>
                  <a:srgbClr val="102B46"/>
                </a:solidFill>
              </a:defRPr>
            </a:lvl7pPr>
            <a:lvl8pPr>
              <a:defRPr sz="3150" b="1">
                <a:solidFill>
                  <a:srgbClr val="102B46"/>
                </a:solidFill>
              </a:defRPr>
            </a:lvl8pPr>
            <a:lvl9pPr>
              <a:defRPr sz="3150" b="1">
                <a:solidFill>
                  <a:srgbClr val="102B46"/>
                </a:solidFill>
              </a:defRPr>
            </a:lvl9pPr>
          </a:lstStyle>
          <a:p xmlns:a="http://schemas.openxmlformats.org/drawingml/2006/main">
            <a:pPr>
              <a:defRPr sz="3150" b="1">
                <a:solidFill>
                  <a:srgbClr val="102B46"/>
                </a:solidFill>
              </a:defRPr>
            </a:pPr>
            <a:r>
              <a:rPr sz="3150" b="1">
                <a:solidFill>
                  <a:srgbClr val="102B46"/>
                </a:solidFill>
              </a:rPr>
              <a:t>除外フィルタは簡単な例だけを残すおそれがある</a:t>
            </a:r>
          </a:p>
        </p:txBody>
      </p:sp>
      <p:sp>
        <p:nvSpPr>
          <p:cNvPr id="3" name="">
            <a:extLst xmlns:a="http://schemas.openxmlformats.org/drawingml/2006/main">
              <a:ext uri="{FF2B5EF4-FFF2-40B4-BE49-F238E27FC236}">
                <a16:creationId xmlns:a16="http://schemas.microsoft.com/office/drawing/2014/main" id="{0545E66C-362E-43F5-8216-6E0F3C695467}"/>
              </a:ext>
            </a:extLst>
          </p:cNvPr>
          <p:cNvSpPr>
            <a:spLocks xmlns:a="http://schemas.openxmlformats.org/drawingml/2006/main" noGrp="1"/>
          </p:cNvSpPr>
          <p:nvPr/>
        </p:nvSpPr>
        <p:spPr>
          <a:xfrm xmlns:a="http://schemas.openxmlformats.org/drawingml/2006/main">
            <a:off x="723900" y="1952625"/>
            <a:ext cx="1066800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625" b="1">
                <a:solidFill>
                  <a:srgbClr val="172B4D"/>
                </a:solidFill>
              </a:defRPr>
            </a:defPPr>
            <a:lvl1pPr>
              <a:defRPr sz="2625" b="1">
                <a:solidFill>
                  <a:srgbClr val="172B4D"/>
                </a:solidFill>
              </a:defRPr>
            </a:lvl1pPr>
            <a:lvl2pPr>
              <a:defRPr sz="2625" b="1">
                <a:solidFill>
                  <a:srgbClr val="172B4D"/>
                </a:solidFill>
              </a:defRPr>
            </a:lvl2pPr>
            <a:lvl3pPr>
              <a:defRPr sz="2625" b="1">
                <a:solidFill>
                  <a:srgbClr val="172B4D"/>
                </a:solidFill>
              </a:defRPr>
            </a:lvl3pPr>
            <a:lvl4pPr>
              <a:defRPr sz="2625" b="1">
                <a:solidFill>
                  <a:srgbClr val="172B4D"/>
                </a:solidFill>
              </a:defRPr>
            </a:lvl4pPr>
            <a:lvl5pPr>
              <a:defRPr sz="2625" b="1">
                <a:solidFill>
                  <a:srgbClr val="172B4D"/>
                </a:solidFill>
              </a:defRPr>
            </a:lvl5pPr>
            <a:lvl6pPr>
              <a:defRPr sz="2625" b="1">
                <a:solidFill>
                  <a:srgbClr val="172B4D"/>
                </a:solidFill>
              </a:defRPr>
            </a:lvl6pPr>
            <a:lvl7pPr>
              <a:defRPr sz="2625" b="1">
                <a:solidFill>
                  <a:srgbClr val="172B4D"/>
                </a:solidFill>
              </a:defRPr>
            </a:lvl7pPr>
            <a:lvl8pPr>
              <a:defRPr sz="2625" b="1">
                <a:solidFill>
                  <a:srgbClr val="172B4D"/>
                </a:solidFill>
              </a:defRPr>
            </a:lvl8pPr>
            <a:lvl9pPr>
              <a:defRPr sz="2625" b="1">
                <a:solidFill>
                  <a:srgbClr val="172B4D"/>
                </a:solidFill>
              </a:defRPr>
            </a:lvl9pPr>
          </a:lstStyle>
          <a:p xmlns:a="http://schemas.openxmlformats.org/drawingml/2006/main">
            <a:pPr>
              <a:defRPr sz="2625" b="1">
                <a:solidFill>
                  <a:srgbClr val="172B4D"/>
                </a:solidFill>
              </a:defRPr>
            </a:pPr>
            <a:r>
              <a:rPr sz="2625" b="1">
                <a:solidFill>
                  <a:srgbClr val="172B4D"/>
                </a:solidFill>
              </a:rPr>
              <a:t>意味制約違反を除くことと、</a:t>
            </a:r>
          </a:p>
          <a:p xmlns:a="http://schemas.openxmlformats.org/drawingml/2006/main">
            <a:pPr>
              <a:defRPr sz="2625" b="1">
                <a:solidFill>
                  <a:srgbClr val="172B4D"/>
                </a:solidFill>
              </a:defRPr>
            </a:pPr>
            <a:r>
              <a:rPr sz="2625" b="1">
                <a:solidFill>
                  <a:srgbClr val="172B4D"/>
                </a:solidFill>
              </a:rPr>
              <a:t>分類器が自信を持てない例を除くことは異なる</a:t>
            </a:r>
          </a:p>
        </p:txBody>
      </p:sp>
      <p:sp>
        <p:nvSpPr>
          <p:cNvPr id="4" name="">
            <a:extLst xmlns:a="http://schemas.openxmlformats.org/drawingml/2006/main">
              <a:ext uri="{FF2B5EF4-FFF2-40B4-BE49-F238E27FC236}">
                <a16:creationId xmlns:a16="http://schemas.microsoft.com/office/drawing/2014/main" id="{0486E84F-9F6B-4B58-BDA9-5A7FD58B914F}"/>
              </a:ext>
            </a:extLst>
          </p:cNvPr>
          <p:cNvSpPr>
            <a:spLocks xmlns:a="http://schemas.openxmlformats.org/drawingml/2006/main" noGrp="1"/>
          </p:cNvSpPr>
          <p:nvPr/>
        </p:nvSpPr>
        <p:spPr>
          <a:xfrm xmlns:a="http://schemas.openxmlformats.org/drawingml/2006/main">
            <a:off x="723900" y="3943350"/>
            <a:ext cx="10668000" cy="1562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0">
                <a:solidFill>
                  <a:srgbClr val="336C81"/>
                </a:solidFill>
              </a:defRPr>
            </a:defPPr>
            <a:lvl1pPr>
              <a:defRPr sz="2250" b="0">
                <a:solidFill>
                  <a:srgbClr val="336C81"/>
                </a:solidFill>
              </a:defRPr>
            </a:lvl1pPr>
            <a:lvl2pPr>
              <a:defRPr sz="2250" b="0">
                <a:solidFill>
                  <a:srgbClr val="336C81"/>
                </a:solidFill>
              </a:defRPr>
            </a:lvl2pPr>
            <a:lvl3pPr>
              <a:defRPr sz="2250" b="0">
                <a:solidFill>
                  <a:srgbClr val="336C81"/>
                </a:solidFill>
              </a:defRPr>
            </a:lvl3pPr>
            <a:lvl4pPr>
              <a:defRPr sz="2250" b="0">
                <a:solidFill>
                  <a:srgbClr val="336C81"/>
                </a:solidFill>
              </a:defRPr>
            </a:lvl4pPr>
            <a:lvl5pPr>
              <a:defRPr sz="2250" b="0">
                <a:solidFill>
                  <a:srgbClr val="336C81"/>
                </a:solidFill>
              </a:defRPr>
            </a:lvl5pPr>
            <a:lvl6pPr>
              <a:defRPr sz="2250" b="0">
                <a:solidFill>
                  <a:srgbClr val="336C81"/>
                </a:solidFill>
              </a:defRPr>
            </a:lvl6pPr>
            <a:lvl7pPr>
              <a:defRPr sz="2250" b="0">
                <a:solidFill>
                  <a:srgbClr val="336C81"/>
                </a:solidFill>
              </a:defRPr>
            </a:lvl7pPr>
            <a:lvl8pPr>
              <a:defRPr sz="2250" b="0">
                <a:solidFill>
                  <a:srgbClr val="336C81"/>
                </a:solidFill>
              </a:defRPr>
            </a:lvl8pPr>
            <a:lvl9pPr>
              <a:defRPr sz="2250" b="0">
                <a:solidFill>
                  <a:srgbClr val="336C81"/>
                </a:solidFill>
              </a:defRPr>
            </a:lvl9pPr>
          </a:lstStyle>
          <a:p xmlns:a="http://schemas.openxmlformats.org/drawingml/2006/main">
            <a:pPr>
              <a:defRPr sz="2250" b="0">
                <a:solidFill>
                  <a:srgbClr val="336C81"/>
                </a:solidFill>
              </a:defRPr>
            </a:pPr>
            <a:r>
              <a:rPr sz="2250" b="0">
                <a:solidFill>
                  <a:srgbClr val="336C81"/>
                </a:solidFill>
              </a:rPr>
              <a:t>採択率・多様性・少数Recallも確認する</a:t>
            </a:r>
          </a:p>
          <a:p xmlns:a="http://schemas.openxmlformats.org/drawingml/2006/main">
            <a:pPr>
              <a:defRPr sz="2250" b="0">
                <a:solidFill>
                  <a:srgbClr val="336C81"/>
                </a:solidFill>
              </a:defRPr>
            </a:pPr>
            <a:r>
              <a:rPr sz="2250" b="0">
                <a:solidFill>
                  <a:srgbClr val="336C81"/>
                </a:solidFill>
              </a:rPr>
              <a:t>品質が良く見えても、境界の学習を弱めうる</a:t>
            </a:r>
          </a:p>
        </p:txBody>
      </p:sp>
      <p:sp>
        <p:nvSpPr>
          <p:cNvPr id="5" name="">
            <a:extLst xmlns:a="http://schemas.openxmlformats.org/drawingml/2006/main">
              <a:ext uri="{FF2B5EF4-FFF2-40B4-BE49-F238E27FC236}">
                <a16:creationId xmlns:a16="http://schemas.microsoft.com/office/drawing/2014/main" id="{EBCA7F84-F78F-4A6A-9F77-283B22C3891A}"/>
              </a:ext>
            </a:extLst>
          </p:cNvPr>
          <p:cNvSpPr>
            <a:spLocks xmlns:a="http://schemas.openxmlformats.org/drawingml/2006/main" noGrp="1"/>
          </p:cNvSpPr>
          <p:nvPr/>
        </p:nvSpPr>
        <p:spPr>
          <a:xfrm xmlns:a="http://schemas.openxmlformats.org/drawingml/2006/main">
            <a:off x="11144250" y="6276975"/>
            <a:ext cx="5238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6B7F90"/>
                </a:solidFill>
              </a:defRPr>
            </a:defPPr>
            <a:lvl1pPr>
              <a:defRPr sz="1350" b="0">
                <a:solidFill>
                  <a:srgbClr val="6B7F90"/>
                </a:solidFill>
              </a:defRPr>
            </a:lvl1pPr>
            <a:lvl2pPr>
              <a:defRPr sz="1350" b="0">
                <a:solidFill>
                  <a:srgbClr val="6B7F90"/>
                </a:solidFill>
              </a:defRPr>
            </a:lvl2pPr>
            <a:lvl3pPr>
              <a:defRPr sz="1350" b="0">
                <a:solidFill>
                  <a:srgbClr val="6B7F90"/>
                </a:solidFill>
              </a:defRPr>
            </a:lvl3pPr>
            <a:lvl4pPr>
              <a:defRPr sz="1350" b="0">
                <a:solidFill>
                  <a:srgbClr val="6B7F90"/>
                </a:solidFill>
              </a:defRPr>
            </a:lvl4pPr>
            <a:lvl5pPr>
              <a:defRPr sz="1350" b="0">
                <a:solidFill>
                  <a:srgbClr val="6B7F90"/>
                </a:solidFill>
              </a:defRPr>
            </a:lvl5pPr>
            <a:lvl6pPr>
              <a:defRPr sz="1350" b="0">
                <a:solidFill>
                  <a:srgbClr val="6B7F90"/>
                </a:solidFill>
              </a:defRPr>
            </a:lvl6pPr>
            <a:lvl7pPr>
              <a:defRPr sz="1350" b="0">
                <a:solidFill>
                  <a:srgbClr val="6B7F90"/>
                </a:solidFill>
              </a:defRPr>
            </a:lvl7pPr>
            <a:lvl8pPr>
              <a:defRPr sz="1350" b="0">
                <a:solidFill>
                  <a:srgbClr val="6B7F90"/>
                </a:solidFill>
              </a:defRPr>
            </a:lvl8pPr>
            <a:lvl9pPr>
              <a:defRPr sz="1350" b="0">
                <a:solidFill>
                  <a:srgbClr val="6B7F90"/>
                </a:solidFill>
              </a:defRPr>
            </a:lvl9pPr>
          </a:lstStyle>
          <a:p xmlns:a="http://schemas.openxmlformats.org/drawingml/2006/main">
            <a:pPr>
              <a:defRPr sz="1350" b="0">
                <a:solidFill>
                  <a:srgbClr val="6B7F90"/>
                </a:solidFill>
              </a:defRPr>
            </a:pPr>
            <a:r>
              <a:rPr sz="1350" b="0">
                <a:solidFill>
                  <a:srgbClr val="6B7F90"/>
                </a:solidFill>
              </a:rPr>
              <a:t>21</a:t>
            </a:r>
          </a:p>
        </p:txBody>
      </p:sp>
    </p:spTree>
    <p:extLst>
      <p:ext uri="{BB962C8B-B14F-4D97-AF65-F5344CB8AC3E}">
        <p14:creationId xmlns:p14="http://schemas.microsoft.com/office/powerpoint/2010/main" val="395953658"/>
      </p:ext>
    </p:extLst>
  </p:cSld>
</p:sld>
</file>

<file path=ppt/slides/slide22.xml><?xml version="1.0" encoding="utf-8"?>
<p:sld xmlns:p="http://schemas.openxmlformats.org/presentationml/2006/main">
  <p:cSld>
    <p:bg>
      <p:bgPr>
        <a:solidFill xmlns:a="http://schemas.openxmlformats.org/drawingml/2006/main">
          <a:srgbClr val="FAFBFD"/>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4813C282-F7DD-4A1F-A566-29DA627D7B8B}"/>
              </a:ext>
            </a:extLst>
          </p:cNvPr>
          <p:cNvSpPr>
            <a:spLocks xmlns:a="http://schemas.openxmlformats.org/drawingml/2006/main" noGrp="1"/>
          </p:cNvSpPr>
          <p:nvPr/>
        </p:nvSpPr>
        <p:spPr>
          <a:xfrm xmlns:a="http://schemas.openxmlformats.org/drawingml/2006/main">
            <a:off x="685800" y="495300"/>
            <a:ext cx="10858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150" b="1">
                <a:solidFill>
                  <a:srgbClr val="102B46"/>
                </a:solidFill>
              </a:defRPr>
            </a:defPPr>
            <a:lvl1pPr>
              <a:defRPr sz="3150" b="1">
                <a:solidFill>
                  <a:srgbClr val="102B46"/>
                </a:solidFill>
              </a:defRPr>
            </a:lvl1pPr>
            <a:lvl2pPr>
              <a:defRPr sz="3150" b="1">
                <a:solidFill>
                  <a:srgbClr val="102B46"/>
                </a:solidFill>
              </a:defRPr>
            </a:lvl2pPr>
            <a:lvl3pPr>
              <a:defRPr sz="3150" b="1">
                <a:solidFill>
                  <a:srgbClr val="102B46"/>
                </a:solidFill>
              </a:defRPr>
            </a:lvl3pPr>
            <a:lvl4pPr>
              <a:defRPr sz="3150" b="1">
                <a:solidFill>
                  <a:srgbClr val="102B46"/>
                </a:solidFill>
              </a:defRPr>
            </a:lvl4pPr>
            <a:lvl5pPr>
              <a:defRPr sz="3150" b="1">
                <a:solidFill>
                  <a:srgbClr val="102B46"/>
                </a:solidFill>
              </a:defRPr>
            </a:lvl5pPr>
            <a:lvl6pPr>
              <a:defRPr sz="3150" b="1">
                <a:solidFill>
                  <a:srgbClr val="102B46"/>
                </a:solidFill>
              </a:defRPr>
            </a:lvl6pPr>
            <a:lvl7pPr>
              <a:defRPr sz="3150" b="1">
                <a:solidFill>
                  <a:srgbClr val="102B46"/>
                </a:solidFill>
              </a:defRPr>
            </a:lvl7pPr>
            <a:lvl8pPr>
              <a:defRPr sz="3150" b="1">
                <a:solidFill>
                  <a:srgbClr val="102B46"/>
                </a:solidFill>
              </a:defRPr>
            </a:lvl8pPr>
            <a:lvl9pPr>
              <a:defRPr sz="3150" b="1">
                <a:solidFill>
                  <a:srgbClr val="102B46"/>
                </a:solidFill>
              </a:defRPr>
            </a:lvl9pPr>
          </a:lstStyle>
          <a:p xmlns:a="http://schemas.openxmlformats.org/drawingml/2006/main">
            <a:pPr>
              <a:defRPr sz="3150" b="1">
                <a:solidFill>
                  <a:srgbClr val="102B46"/>
                </a:solidFill>
              </a:defRPr>
            </a:pPr>
            <a:r>
              <a:rPr sz="3150" b="1">
                <a:solidFill>
                  <a:srgbClr val="102B46"/>
                </a:solidFill>
              </a:rPr>
              <a:t>人工データを使う理由は原因を分けられること</a:t>
            </a:r>
          </a:p>
        </p:txBody>
      </p:sp>
      <p:sp>
        <p:nvSpPr>
          <p:cNvPr id="3" name="">
            <a:extLst xmlns:a="http://schemas.openxmlformats.org/drawingml/2006/main">
              <a:ext uri="{FF2B5EF4-FFF2-40B4-BE49-F238E27FC236}">
                <a16:creationId xmlns:a16="http://schemas.microsoft.com/office/drawing/2014/main" id="{390306AB-309D-421D-8839-24F57E1A0BE8}"/>
              </a:ext>
            </a:extLst>
          </p:cNvPr>
          <p:cNvSpPr>
            <a:spLocks xmlns:a="http://schemas.openxmlformats.org/drawingml/2006/main" noGrp="1"/>
          </p:cNvSpPr>
          <p:nvPr/>
        </p:nvSpPr>
        <p:spPr>
          <a:xfrm xmlns:a="http://schemas.openxmlformats.org/drawingml/2006/main">
            <a:off x="11144250" y="6276975"/>
            <a:ext cx="5238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6B7F90"/>
                </a:solidFill>
              </a:defRPr>
            </a:defPPr>
            <a:lvl1pPr>
              <a:defRPr sz="1350" b="0">
                <a:solidFill>
                  <a:srgbClr val="6B7F90"/>
                </a:solidFill>
              </a:defRPr>
            </a:lvl1pPr>
            <a:lvl2pPr>
              <a:defRPr sz="1350" b="0">
                <a:solidFill>
                  <a:srgbClr val="6B7F90"/>
                </a:solidFill>
              </a:defRPr>
            </a:lvl2pPr>
            <a:lvl3pPr>
              <a:defRPr sz="1350" b="0">
                <a:solidFill>
                  <a:srgbClr val="6B7F90"/>
                </a:solidFill>
              </a:defRPr>
            </a:lvl3pPr>
            <a:lvl4pPr>
              <a:defRPr sz="1350" b="0">
                <a:solidFill>
                  <a:srgbClr val="6B7F90"/>
                </a:solidFill>
              </a:defRPr>
            </a:lvl4pPr>
            <a:lvl5pPr>
              <a:defRPr sz="1350" b="0">
                <a:solidFill>
                  <a:srgbClr val="6B7F90"/>
                </a:solidFill>
              </a:defRPr>
            </a:lvl5pPr>
            <a:lvl6pPr>
              <a:defRPr sz="1350" b="0">
                <a:solidFill>
                  <a:srgbClr val="6B7F90"/>
                </a:solidFill>
              </a:defRPr>
            </a:lvl6pPr>
            <a:lvl7pPr>
              <a:defRPr sz="1350" b="0">
                <a:solidFill>
                  <a:srgbClr val="6B7F90"/>
                </a:solidFill>
              </a:defRPr>
            </a:lvl7pPr>
            <a:lvl8pPr>
              <a:defRPr sz="1350" b="0">
                <a:solidFill>
                  <a:srgbClr val="6B7F90"/>
                </a:solidFill>
              </a:defRPr>
            </a:lvl8pPr>
            <a:lvl9pPr>
              <a:defRPr sz="1350" b="0">
                <a:solidFill>
                  <a:srgbClr val="6B7F90"/>
                </a:solidFill>
              </a:defRPr>
            </a:lvl9pPr>
          </a:lstStyle>
          <a:p xmlns:a="http://schemas.openxmlformats.org/drawingml/2006/main">
            <a:pPr>
              <a:defRPr sz="1350" b="0">
                <a:solidFill>
                  <a:srgbClr val="6B7F90"/>
                </a:solidFill>
              </a:defRPr>
            </a:pPr>
            <a:r>
              <a:rPr sz="1350" b="0">
                <a:solidFill>
                  <a:srgbClr val="6B7F90"/>
                </a:solidFill>
              </a:rPr>
              <a:t>22</a:t>
            </a:r>
          </a:p>
        </p:txBody>
      </p:sp>
      <p:graphicFrame>
        <p:nvGraphicFramePr>
          <p:cNvPr id="4" name="">
            <a:extLst xmlns:a="http://schemas.openxmlformats.org/drawingml/2006/main">
              <a:ext uri="{FF2B5EF4-FFF2-40B4-BE49-F238E27FC236}">
                <a16:creationId xmlns:a16="http://schemas.microsoft.com/office/drawing/2014/main" id="{0EBA2A2E-9705-4C7B-9358-24B1013E6686}"/>
              </a:ext>
            </a:extLst>
          </p:cNvPr>
          <p:cNvGraphicFramePr/>
          <p:nvPr/>
        </p:nvGraphicFramePr>
        <p:xfrm>
          <a:off xmlns:a="http://schemas.openxmlformats.org/drawingml/2006/main" x="723900" y="1714500"/>
          <a:ext xmlns:a="http://schemas.openxmlformats.org/drawingml/2006/main" cx="10744200" cy="3238500"/>
        </p:xfrm>
        <a:graphic xmlns:a="http://schemas.openxmlformats.org/drawingml/2006/main">
          <a:graphicData uri="http://schemas.openxmlformats.org/drawingml/2006/table">
            <a:tbl>
              <a:tblPr/>
              <a:tblGrid>
                <a:gridCol w="3476625"/>
                <a:gridCol w="3762375"/>
                <a:gridCol w="3505200"/>
              </a:tblGrid>
              <a:tr h="809625">
                <a:tc>
                  <a:txBody>
                    <a:bodyPr/>
                    <a:lstStyle/>
                    <a:p>
                      <a:r>
                        <a:rPr sz="1800" b="1">
                          <a:solidFill>
                            <a:srgbClr val="FFFFFF"/>
                          </a:solidFill>
                        </a:rPr>
                        <a:t>制御する条件</a:t>
                      </a:r>
                    </a:p>
                  </a:txBody>
                  <a:tcPr marL="91440" marR="91440" marT="45720" marB="45720">
                    <a:lnL w="9525">
                      <a:solidFill>
                        <a:srgbClr val="D7E1E8"/>
                      </a:solidFill>
                      <a:prstDash val="solid"/>
                    </a:lnL>
                    <a:lnR w="9525">
                      <a:solidFill>
                        <a:srgbClr val="D7E1E8"/>
                      </a:solidFill>
                      <a:prstDash val="solid"/>
                    </a:lnR>
                    <a:lnT w="9525">
                      <a:solidFill>
                        <a:srgbClr val="D7E1E8"/>
                      </a:solidFill>
                      <a:prstDash val="solid"/>
                    </a:lnT>
                    <a:lnB w="9525">
                      <a:solidFill>
                        <a:srgbClr val="D7E1E8"/>
                      </a:solidFill>
                      <a:prstDash val="solid"/>
                    </a:lnB>
                    <a:solidFill>
                      <a:srgbClr val="102B46"/>
                    </a:solidFill>
                  </a:tcPr>
                </a:tc>
                <a:tc>
                  <a:txBody>
                    <a:bodyPr/>
                    <a:lstStyle/>
                    <a:p>
                      <a:r>
                        <a:rPr sz="1800" b="1">
                          <a:solidFill>
                            <a:srgbClr val="FFFFFF"/>
                          </a:solidFill>
                        </a:rPr>
                        <a:t>検証する仮説</a:t>
                      </a:r>
                    </a:p>
                  </a:txBody>
                  <a:tcPr marL="91440" marR="91440" marT="45720" marB="45720">
                    <a:lnR w="9525">
                      <a:solidFill>
                        <a:srgbClr val="D7E1E8"/>
                      </a:solidFill>
                      <a:prstDash val="solid"/>
                    </a:lnR>
                    <a:lnT w="9525">
                      <a:solidFill>
                        <a:srgbClr val="D7E1E8"/>
                      </a:solidFill>
                      <a:prstDash val="solid"/>
                    </a:lnT>
                    <a:lnB w="9525">
                      <a:solidFill>
                        <a:srgbClr val="D7E1E8"/>
                      </a:solidFill>
                      <a:prstDash val="solid"/>
                    </a:lnB>
                    <a:solidFill>
                      <a:srgbClr val="102B46"/>
                    </a:solidFill>
                  </a:tcPr>
                </a:tc>
                <a:tc>
                  <a:txBody>
                    <a:bodyPr/>
                    <a:lstStyle/>
                    <a:p>
                      <a:r>
                        <a:rPr sz="1800" b="1">
                          <a:solidFill>
                            <a:srgbClr val="FFFFFF"/>
                          </a:solidFill>
                        </a:rPr>
                        <a:t>見るもの</a:t>
                      </a:r>
                    </a:p>
                  </a:txBody>
                  <a:tcPr marL="91440" marR="91440" marT="45720" marB="45720">
                    <a:lnR w="9525">
                      <a:solidFill>
                        <a:srgbClr val="D7E1E8"/>
                      </a:solidFill>
                      <a:prstDash val="solid"/>
                    </a:lnR>
                    <a:lnT w="9525">
                      <a:solidFill>
                        <a:srgbClr val="D7E1E8"/>
                      </a:solidFill>
                      <a:prstDash val="solid"/>
                    </a:lnT>
                    <a:lnB w="9525">
                      <a:solidFill>
                        <a:srgbClr val="D7E1E8"/>
                      </a:solidFill>
                      <a:prstDash val="solid"/>
                    </a:lnB>
                    <a:solidFill>
                      <a:srgbClr val="102B46"/>
                    </a:solidFill>
                  </a:tcPr>
                </a:tc>
              </a:tr>
              <a:tr h="809625">
                <a:tc>
                  <a:txBody>
                    <a:bodyPr/>
                    <a:lstStyle/>
                    <a:p>
                      <a:r>
                        <a:rPr sz="1800" b="0">
                          <a:solidFill>
                            <a:srgbClr val="172B4D"/>
                          </a:solidFill>
                        </a:rPr>
                        <a:t>クラス内の依存を強める</a:t>
                      </a:r>
                    </a:p>
                  </a:txBody>
                  <a:tcPr marL="91440" marR="91440" marT="45720" marB="45720">
                    <a:lnL w="9525">
                      <a:solidFill>
                        <a:srgbClr val="D7E1E8"/>
                      </a:solidFill>
                      <a:prstDash val="solid"/>
                    </a:lnL>
                    <a:lnR w="9525">
                      <a:solidFill>
                        <a:srgbClr val="D7E1E8"/>
                      </a:solidFill>
                      <a:prstDash val="solid"/>
                    </a:lnR>
                    <a:lnB w="9525">
                      <a:solidFill>
                        <a:srgbClr val="D7E1E8"/>
                      </a:solidFill>
                      <a:prstDash val="solid"/>
                    </a:lnB>
                    <a:solidFill>
                      <a:srgbClr val="EDF3F7"/>
                    </a:solidFill>
                  </a:tcPr>
                </a:tc>
                <a:tc>
                  <a:txBody>
                    <a:bodyPr/>
                    <a:lstStyle/>
                    <a:p>
                      <a:r>
                        <a:rPr sz="1800" b="0">
                          <a:solidFill>
                            <a:srgbClr val="172B4D"/>
                          </a:solidFill>
                        </a:rPr>
                        <a:t>独立生成の違反が増えるか</a:t>
                      </a:r>
                    </a:p>
                  </a:txBody>
                  <a:tcPr marL="91440" marR="91440" marT="45720" marB="45720">
                    <a:lnR w="9525">
                      <a:solidFill>
                        <a:srgbClr val="D7E1E8"/>
                      </a:solidFill>
                      <a:prstDash val="solid"/>
                    </a:lnR>
                    <a:lnB w="9525">
                      <a:solidFill>
                        <a:srgbClr val="D7E1E8"/>
                      </a:solidFill>
                      <a:prstDash val="solid"/>
                    </a:lnB>
                    <a:solidFill>
                      <a:srgbClr val="EDF3F7"/>
                    </a:solidFill>
                  </a:tcPr>
                </a:tc>
                <a:tc>
                  <a:txBody>
                    <a:bodyPr/>
                    <a:lstStyle/>
                    <a:p>
                      <a:r>
                        <a:rPr sz="1800" b="0">
                          <a:solidFill>
                            <a:srgbClr val="172B4D"/>
                          </a:solidFill>
                        </a:rPr>
                        <a:t>関係違反と分類性能</a:t>
                      </a:r>
                    </a:p>
                  </a:txBody>
                  <a:tcPr marL="91440" marR="91440" marT="45720" marB="45720">
                    <a:lnR w="9525">
                      <a:solidFill>
                        <a:srgbClr val="D7E1E8"/>
                      </a:solidFill>
                      <a:prstDash val="solid"/>
                    </a:lnR>
                    <a:lnB w="9525">
                      <a:solidFill>
                        <a:srgbClr val="D7E1E8"/>
                      </a:solidFill>
                      <a:prstDash val="solid"/>
                    </a:lnB>
                    <a:solidFill>
                      <a:srgbClr val="EDF3F7"/>
                    </a:solidFill>
                  </a:tcPr>
                </a:tc>
              </a:tr>
              <a:tr h="809625">
                <a:tc>
                  <a:txBody>
                    <a:bodyPr/>
                    <a:lstStyle/>
                    <a:p>
                      <a:r>
                        <a:rPr sz="1800" b="0">
                          <a:solidFill>
                            <a:srgbClr val="172B4D"/>
                          </a:solidFill>
                        </a:rPr>
                        <a:t>少数クラスを複数集団にする</a:t>
                      </a:r>
                    </a:p>
                  </a:txBody>
                  <a:tcPr marL="91440" marR="91440" marT="45720" marB="45720">
                    <a:lnL w="9525">
                      <a:solidFill>
                        <a:srgbClr val="D7E1E8"/>
                      </a:solidFill>
                      <a:prstDash val="solid"/>
                    </a:lnL>
                    <a:lnR w="9525">
                      <a:solidFill>
                        <a:srgbClr val="D7E1E8"/>
                      </a:solidFill>
                      <a:prstDash val="solid"/>
                    </a:lnR>
                    <a:lnB w="9525">
                      <a:solidFill>
                        <a:srgbClr val="D7E1E8"/>
                      </a:solidFill>
                      <a:prstDash val="solid"/>
                    </a:lnB>
                    <a:solidFill>
                      <a:srgbClr val="FFFFFF"/>
                    </a:solidFill>
                  </a:tcPr>
                </a:tc>
                <a:tc>
                  <a:txBody>
                    <a:bodyPr/>
                    <a:lstStyle/>
                    <a:p>
                      <a:r>
                        <a:rPr sz="1800" b="0">
                          <a:solidFill>
                            <a:srgbClr val="172B4D"/>
                          </a:solidFill>
                        </a:rPr>
                        <a:t>集団間の補間が悪化するか</a:t>
                      </a:r>
                    </a:p>
                  </a:txBody>
                  <a:tcPr marL="91440" marR="91440" marT="45720" marB="45720">
                    <a:lnR w="9525">
                      <a:solidFill>
                        <a:srgbClr val="D7E1E8"/>
                      </a:solidFill>
                      <a:prstDash val="solid"/>
                    </a:lnR>
                    <a:lnB w="9525">
                      <a:solidFill>
                        <a:srgbClr val="D7E1E8"/>
                      </a:solidFill>
                      <a:prstDash val="solid"/>
                    </a:lnB>
                    <a:solidFill>
                      <a:srgbClr val="FFFFFF"/>
                    </a:solidFill>
                  </a:tcPr>
                </a:tc>
                <a:tc>
                  <a:txBody>
                    <a:bodyPr/>
                    <a:lstStyle/>
                    <a:p>
                      <a:r>
                        <a:rPr sz="1800" b="0">
                          <a:solidFill>
                            <a:srgbClr val="172B4D"/>
                          </a:solidFill>
                        </a:rPr>
                        <a:t>橋の生成と局所化の効果</a:t>
                      </a:r>
                    </a:p>
                  </a:txBody>
                  <a:tcPr marL="91440" marR="91440" marT="45720" marB="45720">
                    <a:lnR w="9525">
                      <a:solidFill>
                        <a:srgbClr val="D7E1E8"/>
                      </a:solidFill>
                      <a:prstDash val="solid"/>
                    </a:lnR>
                    <a:lnB w="9525">
                      <a:solidFill>
                        <a:srgbClr val="D7E1E8"/>
                      </a:solidFill>
                      <a:prstDash val="solid"/>
                    </a:lnB>
                    <a:solidFill>
                      <a:srgbClr val="FFFFFF"/>
                    </a:solidFill>
                  </a:tcPr>
                </a:tc>
              </a:tr>
              <a:tr h="809625">
                <a:tc>
                  <a:txBody>
                    <a:bodyPr/>
                    <a:lstStyle/>
                    <a:p>
                      <a:r>
                        <a:rPr sz="1800" b="0">
                          <a:solidFill>
                            <a:srgbClr val="172B4D"/>
                          </a:solidFill>
                        </a:rPr>
                        <a:t>クラスの重なりを増やす</a:t>
                      </a:r>
                    </a:p>
                  </a:txBody>
                  <a:tcPr marL="91440" marR="91440" marT="45720" marB="45720">
                    <a:lnL w="9525">
                      <a:solidFill>
                        <a:srgbClr val="D7E1E8"/>
                      </a:solidFill>
                      <a:prstDash val="solid"/>
                    </a:lnL>
                    <a:lnR w="9525">
                      <a:solidFill>
                        <a:srgbClr val="D7E1E8"/>
                      </a:solidFill>
                      <a:prstDash val="solid"/>
                    </a:lnR>
                    <a:lnB w="9525">
                      <a:solidFill>
                        <a:srgbClr val="D7E1E8"/>
                      </a:solidFill>
                      <a:prstDash val="solid"/>
                    </a:lnB>
                    <a:solidFill>
                      <a:srgbClr val="EDF3F7"/>
                    </a:solidFill>
                  </a:tcPr>
                </a:tc>
                <a:tc>
                  <a:txBody>
                    <a:bodyPr/>
                    <a:lstStyle/>
                    <a:p>
                      <a:r>
                        <a:rPr sz="1800" b="0">
                          <a:solidFill>
                            <a:srgbClr val="172B4D"/>
                          </a:solidFill>
                        </a:rPr>
                        <a:t>除外が難例を消すか</a:t>
                      </a:r>
                    </a:p>
                  </a:txBody>
                  <a:tcPr marL="91440" marR="91440" marT="45720" marB="45720">
                    <a:lnR w="9525">
                      <a:solidFill>
                        <a:srgbClr val="D7E1E8"/>
                      </a:solidFill>
                      <a:prstDash val="solid"/>
                    </a:lnR>
                    <a:lnB w="9525">
                      <a:solidFill>
                        <a:srgbClr val="D7E1E8"/>
                      </a:solidFill>
                      <a:prstDash val="solid"/>
                    </a:lnB>
                    <a:solidFill>
                      <a:srgbClr val="EDF3F7"/>
                    </a:solidFill>
                  </a:tcPr>
                </a:tc>
                <a:tc>
                  <a:txBody>
                    <a:bodyPr/>
                    <a:lstStyle/>
                    <a:p>
                      <a:r>
                        <a:rPr sz="1800" b="0">
                          <a:solidFill>
                            <a:srgbClr val="172B4D"/>
                          </a:solidFill>
                        </a:rPr>
                        <a:t>採択率・Recall・Precision</a:t>
                      </a:r>
                    </a:p>
                  </a:txBody>
                  <a:tcPr marL="91440" marR="91440" marT="45720" marB="45720">
                    <a:lnR w="9525">
                      <a:solidFill>
                        <a:srgbClr val="D7E1E8"/>
                      </a:solidFill>
                      <a:prstDash val="solid"/>
                    </a:lnR>
                    <a:lnB w="9525">
                      <a:solidFill>
                        <a:srgbClr val="D7E1E8"/>
                      </a:solidFill>
                      <a:prstDash val="solid"/>
                    </a:lnB>
                    <a:solidFill>
                      <a:srgbClr val="EDF3F7"/>
                    </a:solidFill>
                  </a:tcPr>
                </a:tc>
              </a:tr>
            </a:tbl>
          </a:graphicData>
        </a:graphic>
      </p:graphicFrame>
      <p:sp>
        <p:nvSpPr>
          <p:cNvPr id="5" name="">
            <a:extLst xmlns:a="http://schemas.openxmlformats.org/drawingml/2006/main">
              <a:ext uri="{FF2B5EF4-FFF2-40B4-BE49-F238E27FC236}">
                <a16:creationId xmlns:a16="http://schemas.microsoft.com/office/drawing/2014/main" id="{A46E04D7-2AB1-43EF-B749-6770C90D0DFE}"/>
              </a:ext>
            </a:extLst>
          </p:cNvPr>
          <p:cNvSpPr>
            <a:spLocks xmlns:a="http://schemas.openxmlformats.org/drawingml/2006/main" noGrp="1"/>
          </p:cNvSpPr>
          <p:nvPr/>
        </p:nvSpPr>
        <p:spPr>
          <a:xfrm xmlns:a="http://schemas.openxmlformats.org/drawingml/2006/main">
            <a:off x="762000" y="5381625"/>
            <a:ext cx="10668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336C81"/>
                </a:solidFill>
              </a:defRPr>
            </a:defPPr>
            <a:lvl1pPr>
              <a:defRPr sz="2100" b="0">
                <a:solidFill>
                  <a:srgbClr val="336C81"/>
                </a:solidFill>
              </a:defRPr>
            </a:lvl1pPr>
            <a:lvl2pPr>
              <a:defRPr sz="2100" b="0">
                <a:solidFill>
                  <a:srgbClr val="336C81"/>
                </a:solidFill>
              </a:defRPr>
            </a:lvl2pPr>
            <a:lvl3pPr>
              <a:defRPr sz="2100" b="0">
                <a:solidFill>
                  <a:srgbClr val="336C81"/>
                </a:solidFill>
              </a:defRPr>
            </a:lvl3pPr>
            <a:lvl4pPr>
              <a:defRPr sz="2100" b="0">
                <a:solidFill>
                  <a:srgbClr val="336C81"/>
                </a:solidFill>
              </a:defRPr>
            </a:lvl4pPr>
            <a:lvl5pPr>
              <a:defRPr sz="2100" b="0">
                <a:solidFill>
                  <a:srgbClr val="336C81"/>
                </a:solidFill>
              </a:defRPr>
            </a:lvl5pPr>
            <a:lvl6pPr>
              <a:defRPr sz="2100" b="0">
                <a:solidFill>
                  <a:srgbClr val="336C81"/>
                </a:solidFill>
              </a:defRPr>
            </a:lvl6pPr>
            <a:lvl7pPr>
              <a:defRPr sz="2100" b="0">
                <a:solidFill>
                  <a:srgbClr val="336C81"/>
                </a:solidFill>
              </a:defRPr>
            </a:lvl7pPr>
            <a:lvl8pPr>
              <a:defRPr sz="2100" b="0">
                <a:solidFill>
                  <a:srgbClr val="336C81"/>
                </a:solidFill>
              </a:defRPr>
            </a:lvl8pPr>
            <a:lvl9pPr>
              <a:defRPr sz="2100" b="0">
                <a:solidFill>
                  <a:srgbClr val="336C81"/>
                </a:solidFill>
              </a:defRPr>
            </a:lvl9pPr>
          </a:lstStyle>
          <a:p xmlns:a="http://schemas.openxmlformats.org/drawingml/2006/main">
            <a:pPr>
              <a:defRPr sz="2100" b="0">
                <a:solidFill>
                  <a:srgbClr val="336C81"/>
                </a:solidFill>
              </a:defRPr>
            </a:pPr>
            <a:r>
              <a:rPr sz="2100" b="0">
                <a:solidFill>
                  <a:srgbClr val="336C81"/>
                </a:solidFill>
              </a:rPr>
              <a:t>仮説を事前に決め、構造以外の条件をできるだけ揃える</a:t>
            </a:r>
          </a:p>
        </p:txBody>
      </p:sp>
    </p:spTree>
    <p:extLst>
      <p:ext uri="{BB962C8B-B14F-4D97-AF65-F5344CB8AC3E}">
        <p14:creationId xmlns:p14="http://schemas.microsoft.com/office/powerpoint/2010/main" val="51105711"/>
      </p:ext>
    </p:extLst>
  </p:cSld>
</p:sld>
</file>

<file path=ppt/slides/slide23.xml><?xml version="1.0" encoding="utf-8"?>
<p:sld xmlns:p="http://schemas.openxmlformats.org/presentationml/2006/main">
  <p:cSld>
    <p:bg>
      <p:bgPr>
        <a:solidFill xmlns:a="http://schemas.openxmlformats.org/drawingml/2006/main">
          <a:srgbClr val="FAFBFD"/>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31904F1B-D2BE-4040-9374-8CF4AAE14260}"/>
              </a:ext>
            </a:extLst>
          </p:cNvPr>
          <p:cNvSpPr>
            <a:spLocks xmlns:a="http://schemas.openxmlformats.org/drawingml/2006/main" noGrp="1"/>
          </p:cNvSpPr>
          <p:nvPr/>
        </p:nvSpPr>
        <p:spPr>
          <a:xfrm xmlns:a="http://schemas.openxmlformats.org/drawingml/2006/main">
            <a:off x="685800" y="495300"/>
            <a:ext cx="10858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150" b="1">
                <a:solidFill>
                  <a:srgbClr val="102B46"/>
                </a:solidFill>
              </a:defRPr>
            </a:defPPr>
            <a:lvl1pPr>
              <a:defRPr sz="3150" b="1">
                <a:solidFill>
                  <a:srgbClr val="102B46"/>
                </a:solidFill>
              </a:defRPr>
            </a:lvl1pPr>
            <a:lvl2pPr>
              <a:defRPr sz="3150" b="1">
                <a:solidFill>
                  <a:srgbClr val="102B46"/>
                </a:solidFill>
              </a:defRPr>
            </a:lvl2pPr>
            <a:lvl3pPr>
              <a:defRPr sz="3150" b="1">
                <a:solidFill>
                  <a:srgbClr val="102B46"/>
                </a:solidFill>
              </a:defRPr>
            </a:lvl3pPr>
            <a:lvl4pPr>
              <a:defRPr sz="3150" b="1">
                <a:solidFill>
                  <a:srgbClr val="102B46"/>
                </a:solidFill>
              </a:defRPr>
            </a:lvl4pPr>
            <a:lvl5pPr>
              <a:defRPr sz="3150" b="1">
                <a:solidFill>
                  <a:srgbClr val="102B46"/>
                </a:solidFill>
              </a:defRPr>
            </a:lvl5pPr>
            <a:lvl6pPr>
              <a:defRPr sz="3150" b="1">
                <a:solidFill>
                  <a:srgbClr val="102B46"/>
                </a:solidFill>
              </a:defRPr>
            </a:lvl6pPr>
            <a:lvl7pPr>
              <a:defRPr sz="3150" b="1">
                <a:solidFill>
                  <a:srgbClr val="102B46"/>
                </a:solidFill>
              </a:defRPr>
            </a:lvl7pPr>
            <a:lvl8pPr>
              <a:defRPr sz="3150" b="1">
                <a:solidFill>
                  <a:srgbClr val="102B46"/>
                </a:solidFill>
              </a:defRPr>
            </a:lvl8pPr>
            <a:lvl9pPr>
              <a:defRPr sz="3150" b="1">
                <a:solidFill>
                  <a:srgbClr val="102B46"/>
                </a:solidFill>
              </a:defRPr>
            </a:lvl9pPr>
          </a:lstStyle>
          <a:p xmlns:a="http://schemas.openxmlformats.org/drawingml/2006/main">
            <a:pPr>
              <a:defRPr sz="3150" b="1">
                <a:solidFill>
                  <a:srgbClr val="102B46"/>
                </a:solidFill>
              </a:defRPr>
            </a:pPr>
            <a:r>
              <a:rPr sz="3150" b="1">
                <a:solidFill>
                  <a:srgbClr val="102B46"/>
                </a:solidFill>
              </a:rPr>
              <a:t>公平な比較が必要な理由</a:t>
            </a:r>
          </a:p>
        </p:txBody>
      </p:sp>
      <p:sp>
        <p:nvSpPr>
          <p:cNvPr id="3" name="">
            <a:extLst xmlns:a="http://schemas.openxmlformats.org/drawingml/2006/main">
              <a:ext uri="{FF2B5EF4-FFF2-40B4-BE49-F238E27FC236}">
                <a16:creationId xmlns:a16="http://schemas.microsoft.com/office/drawing/2014/main" id="{694F2B92-FA18-4509-AA0C-3E7484E1E96D}"/>
              </a:ext>
            </a:extLst>
          </p:cNvPr>
          <p:cNvSpPr>
            <a:spLocks xmlns:a="http://schemas.openxmlformats.org/drawingml/2006/main" noGrp="1"/>
          </p:cNvSpPr>
          <p:nvPr/>
        </p:nvSpPr>
        <p:spPr>
          <a:xfrm xmlns:a="http://schemas.openxmlformats.org/drawingml/2006/main">
            <a:off x="11144250" y="6276975"/>
            <a:ext cx="5238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6B7F90"/>
                </a:solidFill>
              </a:defRPr>
            </a:defPPr>
            <a:lvl1pPr>
              <a:defRPr sz="1350" b="0">
                <a:solidFill>
                  <a:srgbClr val="6B7F90"/>
                </a:solidFill>
              </a:defRPr>
            </a:lvl1pPr>
            <a:lvl2pPr>
              <a:defRPr sz="1350" b="0">
                <a:solidFill>
                  <a:srgbClr val="6B7F90"/>
                </a:solidFill>
              </a:defRPr>
            </a:lvl2pPr>
            <a:lvl3pPr>
              <a:defRPr sz="1350" b="0">
                <a:solidFill>
                  <a:srgbClr val="6B7F90"/>
                </a:solidFill>
              </a:defRPr>
            </a:lvl3pPr>
            <a:lvl4pPr>
              <a:defRPr sz="1350" b="0">
                <a:solidFill>
                  <a:srgbClr val="6B7F90"/>
                </a:solidFill>
              </a:defRPr>
            </a:lvl4pPr>
            <a:lvl5pPr>
              <a:defRPr sz="1350" b="0">
                <a:solidFill>
                  <a:srgbClr val="6B7F90"/>
                </a:solidFill>
              </a:defRPr>
            </a:lvl5pPr>
            <a:lvl6pPr>
              <a:defRPr sz="1350" b="0">
                <a:solidFill>
                  <a:srgbClr val="6B7F90"/>
                </a:solidFill>
              </a:defRPr>
            </a:lvl6pPr>
            <a:lvl7pPr>
              <a:defRPr sz="1350" b="0">
                <a:solidFill>
                  <a:srgbClr val="6B7F90"/>
                </a:solidFill>
              </a:defRPr>
            </a:lvl7pPr>
            <a:lvl8pPr>
              <a:defRPr sz="1350" b="0">
                <a:solidFill>
                  <a:srgbClr val="6B7F90"/>
                </a:solidFill>
              </a:defRPr>
            </a:lvl8pPr>
            <a:lvl9pPr>
              <a:defRPr sz="1350" b="0">
                <a:solidFill>
                  <a:srgbClr val="6B7F90"/>
                </a:solidFill>
              </a:defRPr>
            </a:lvl9pPr>
          </a:lstStyle>
          <a:p xmlns:a="http://schemas.openxmlformats.org/drawingml/2006/main">
            <a:pPr>
              <a:defRPr sz="1350" b="0">
                <a:solidFill>
                  <a:srgbClr val="6B7F90"/>
                </a:solidFill>
              </a:defRPr>
            </a:pPr>
            <a:r>
              <a:rPr sz="1350" b="0">
                <a:solidFill>
                  <a:srgbClr val="6B7F90"/>
                </a:solidFill>
              </a:rPr>
              <a:t>23</a:t>
            </a:r>
          </a:p>
        </p:txBody>
      </p:sp>
      <p:graphicFrame>
        <p:nvGraphicFramePr>
          <p:cNvPr id="4" name="">
            <a:extLst xmlns:a="http://schemas.openxmlformats.org/drawingml/2006/main">
              <a:ext uri="{FF2B5EF4-FFF2-40B4-BE49-F238E27FC236}">
                <a16:creationId xmlns:a16="http://schemas.microsoft.com/office/drawing/2014/main" id="{97AB9F82-2CCF-480B-911E-A891C3867F11}"/>
              </a:ext>
            </a:extLst>
          </p:cNvPr>
          <p:cNvGraphicFramePr/>
          <p:nvPr/>
        </p:nvGraphicFramePr>
        <p:xfrm>
          <a:off xmlns:a="http://schemas.openxmlformats.org/drawingml/2006/main" x="723900" y="1666875"/>
          <a:ext xmlns:a="http://schemas.openxmlformats.org/drawingml/2006/main" cx="10744200" cy="4143375"/>
        </p:xfrm>
        <a:graphic xmlns:a="http://schemas.openxmlformats.org/drawingml/2006/main">
          <a:graphicData uri="http://schemas.openxmlformats.org/drawingml/2006/table">
            <a:tbl>
              <a:tblPr/>
              <a:tblGrid>
                <a:gridCol w="3143250"/>
                <a:gridCol w="7600950"/>
              </a:tblGrid>
              <a:tr h="690563">
                <a:tc>
                  <a:txBody>
                    <a:bodyPr/>
                    <a:lstStyle/>
                    <a:p>
                      <a:r>
                        <a:rPr sz="1800" b="1">
                          <a:solidFill>
                            <a:srgbClr val="FFFFFF"/>
                          </a:solidFill>
                        </a:rPr>
                        <a:t>揃えるもの</a:t>
                      </a:r>
                    </a:p>
                  </a:txBody>
                  <a:tcPr marL="91440" marR="91440" marT="45720" marB="45720">
                    <a:lnL w="9525">
                      <a:solidFill>
                        <a:srgbClr val="D7E1E8"/>
                      </a:solidFill>
                      <a:prstDash val="solid"/>
                    </a:lnL>
                    <a:lnR w="9525">
                      <a:solidFill>
                        <a:srgbClr val="D7E1E8"/>
                      </a:solidFill>
                      <a:prstDash val="solid"/>
                    </a:lnR>
                    <a:lnT w="9525">
                      <a:solidFill>
                        <a:srgbClr val="D7E1E8"/>
                      </a:solidFill>
                      <a:prstDash val="solid"/>
                    </a:lnT>
                    <a:lnB w="9525">
                      <a:solidFill>
                        <a:srgbClr val="D7E1E8"/>
                      </a:solidFill>
                      <a:prstDash val="solid"/>
                    </a:lnB>
                    <a:solidFill>
                      <a:srgbClr val="102B46"/>
                    </a:solidFill>
                  </a:tcPr>
                </a:tc>
                <a:tc>
                  <a:txBody>
                    <a:bodyPr/>
                    <a:lstStyle/>
                    <a:p>
                      <a:r>
                        <a:rPr sz="1800" b="1">
                          <a:solidFill>
                            <a:srgbClr val="FFFFFF"/>
                          </a:solidFill>
                        </a:rPr>
                        <a:t>理由・初期設定案</a:t>
                      </a:r>
                    </a:p>
                  </a:txBody>
                  <a:tcPr marL="91440" marR="91440" marT="45720" marB="45720">
                    <a:lnR w="9525">
                      <a:solidFill>
                        <a:srgbClr val="D7E1E8"/>
                      </a:solidFill>
                      <a:prstDash val="solid"/>
                    </a:lnR>
                    <a:lnT w="9525">
                      <a:solidFill>
                        <a:srgbClr val="D7E1E8"/>
                      </a:solidFill>
                      <a:prstDash val="solid"/>
                    </a:lnT>
                    <a:lnB w="9525">
                      <a:solidFill>
                        <a:srgbClr val="D7E1E8"/>
                      </a:solidFill>
                      <a:prstDash val="solid"/>
                    </a:lnB>
                    <a:solidFill>
                      <a:srgbClr val="102B46"/>
                    </a:solidFill>
                  </a:tcPr>
                </a:tc>
              </a:tr>
              <a:tr h="690563">
                <a:tc>
                  <a:txBody>
                    <a:bodyPr/>
                    <a:lstStyle/>
                    <a:p>
                      <a:r>
                        <a:rPr sz="1800" b="0">
                          <a:solidFill>
                            <a:srgbClr val="172B4D"/>
                          </a:solidFill>
                        </a:rPr>
                        <a:t>分割と前処理</a:t>
                      </a:r>
                    </a:p>
                  </a:txBody>
                  <a:tcPr marL="91440" marR="91440" marT="45720" marB="45720">
                    <a:lnL w="9525">
                      <a:solidFill>
                        <a:srgbClr val="D7E1E8"/>
                      </a:solidFill>
                      <a:prstDash val="solid"/>
                    </a:lnL>
                    <a:lnR w="9525">
                      <a:solidFill>
                        <a:srgbClr val="D7E1E8"/>
                      </a:solidFill>
                      <a:prstDash val="solid"/>
                    </a:lnR>
                    <a:lnB w="9525">
                      <a:solidFill>
                        <a:srgbClr val="D7E1E8"/>
                      </a:solidFill>
                      <a:prstDash val="solid"/>
                    </a:lnB>
                    <a:solidFill>
                      <a:srgbClr val="EDF3F7"/>
                    </a:solidFill>
                  </a:tcPr>
                </a:tc>
                <a:tc>
                  <a:txBody>
                    <a:bodyPr/>
                    <a:lstStyle/>
                    <a:p>
                      <a:r>
                        <a:rPr sz="1800" b="0">
                          <a:solidFill>
                            <a:srgbClr val="172B4D"/>
                          </a:solidFill>
                        </a:rPr>
                        <a:t>生成前に分割。適合は各訓練部分だけ</a:t>
                      </a:r>
                    </a:p>
                  </a:txBody>
                  <a:tcPr marL="91440" marR="91440" marT="45720" marB="45720">
                    <a:lnR w="9525">
                      <a:solidFill>
                        <a:srgbClr val="D7E1E8"/>
                      </a:solidFill>
                      <a:prstDash val="solid"/>
                    </a:lnR>
                    <a:lnB w="9525">
                      <a:solidFill>
                        <a:srgbClr val="D7E1E8"/>
                      </a:solidFill>
                      <a:prstDash val="solid"/>
                    </a:lnB>
                    <a:solidFill>
                      <a:srgbClr val="EDF3F7"/>
                    </a:solidFill>
                  </a:tcPr>
                </a:tc>
              </a:tr>
              <a:tr h="690563">
                <a:tc>
                  <a:txBody>
                    <a:bodyPr/>
                    <a:lstStyle/>
                    <a:p>
                      <a:r>
                        <a:rPr sz="1800" b="0">
                          <a:solidFill>
                            <a:srgbClr val="172B4D"/>
                          </a:solidFill>
                        </a:rPr>
                        <a:t>対照群</a:t>
                      </a:r>
                    </a:p>
                  </a:txBody>
                  <a:tcPr marL="91440" marR="91440" marT="45720" marB="45720">
                    <a:lnL w="9525">
                      <a:solidFill>
                        <a:srgbClr val="D7E1E8"/>
                      </a:solidFill>
                      <a:prstDash val="solid"/>
                    </a:lnL>
                    <a:lnR w="9525">
                      <a:solidFill>
                        <a:srgbClr val="D7E1E8"/>
                      </a:solidFill>
                      <a:prstDash val="solid"/>
                    </a:lnR>
                    <a:lnB w="9525">
                      <a:solidFill>
                        <a:srgbClr val="D7E1E8"/>
                      </a:solidFill>
                      <a:prstDash val="solid"/>
                    </a:lnB>
                    <a:solidFill>
                      <a:srgbClr val="FFFFFF"/>
                    </a:solidFill>
                  </a:tcPr>
                </a:tc>
                <a:tc>
                  <a:txBody>
                    <a:bodyPr/>
                    <a:lstStyle/>
                    <a:p>
                      <a:r>
                        <a:rPr sz="1800" b="0">
                          <a:solidFill>
                            <a:srgbClr val="172B4D"/>
                          </a:solidFill>
                        </a:rPr>
                        <a:t>拡張なし・ランダム複製・クラス重み付け</a:t>
                      </a:r>
                    </a:p>
                  </a:txBody>
                  <a:tcPr marL="91440" marR="91440" marT="45720" marB="45720">
                    <a:lnR w="9525">
                      <a:solidFill>
                        <a:srgbClr val="D7E1E8"/>
                      </a:solidFill>
                      <a:prstDash val="solid"/>
                    </a:lnR>
                    <a:lnB w="9525">
                      <a:solidFill>
                        <a:srgbClr val="D7E1E8"/>
                      </a:solidFill>
                      <a:prstDash val="solid"/>
                    </a:lnB>
                    <a:solidFill>
                      <a:srgbClr val="FFFFFF"/>
                    </a:solidFill>
                  </a:tcPr>
                </a:tc>
              </a:tr>
              <a:tr h="690563">
                <a:tc>
                  <a:txBody>
                    <a:bodyPr/>
                    <a:lstStyle/>
                    <a:p>
                      <a:r>
                        <a:rPr sz="1800" b="0">
                          <a:solidFill>
                            <a:srgbClr val="172B4D"/>
                          </a:solidFill>
                        </a:rPr>
                        <a:t>少数例数と不均衡比</a:t>
                      </a:r>
                    </a:p>
                  </a:txBody>
                  <a:tcPr marL="91440" marR="91440" marT="45720" marB="45720">
                    <a:lnL w="9525">
                      <a:solidFill>
                        <a:srgbClr val="D7E1E8"/>
                      </a:solidFill>
                      <a:prstDash val="solid"/>
                    </a:lnL>
                    <a:lnR w="9525">
                      <a:solidFill>
                        <a:srgbClr val="D7E1E8"/>
                      </a:solidFill>
                      <a:prstDash val="solid"/>
                    </a:lnR>
                    <a:lnB w="9525">
                      <a:solidFill>
                        <a:srgbClr val="D7E1E8"/>
                      </a:solidFill>
                      <a:prstDash val="solid"/>
                    </a:lnB>
                    <a:solidFill>
                      <a:srgbClr val="EDF3F7"/>
                    </a:solidFill>
                  </a:tcPr>
                </a:tc>
                <a:tc>
                  <a:txBody>
                    <a:bodyPr/>
                    <a:lstStyle/>
                    <a:p>
                      <a:r>
                        <a:rPr sz="1800" b="0">
                          <a:solidFill>
                            <a:srgbClr val="172B4D"/>
                          </a:solidFill>
                        </a:rPr>
                        <a:t>比率だけでは推定の難しさを説明できない</a:t>
                      </a:r>
                    </a:p>
                  </a:txBody>
                  <a:tcPr marL="91440" marR="91440" marT="45720" marB="45720">
                    <a:lnR w="9525">
                      <a:solidFill>
                        <a:srgbClr val="D7E1E8"/>
                      </a:solidFill>
                      <a:prstDash val="solid"/>
                    </a:lnR>
                    <a:lnB w="9525">
                      <a:solidFill>
                        <a:srgbClr val="D7E1E8"/>
                      </a:solidFill>
                      <a:prstDash val="solid"/>
                    </a:lnB>
                    <a:solidFill>
                      <a:srgbClr val="EDF3F7"/>
                    </a:solidFill>
                  </a:tcPr>
                </a:tc>
              </a:tr>
              <a:tr h="690563">
                <a:tc>
                  <a:txBody>
                    <a:bodyPr/>
                    <a:lstStyle/>
                    <a:p>
                      <a:r>
                        <a:rPr sz="1800" b="0">
                          <a:solidFill>
                            <a:srgbClr val="172B4D"/>
                          </a:solidFill>
                        </a:rPr>
                        <a:t>追加件数</a:t>
                      </a:r>
                    </a:p>
                  </a:txBody>
                  <a:tcPr marL="91440" marR="91440" marT="45720" marB="45720">
                    <a:lnL w="9525">
                      <a:solidFill>
                        <a:srgbClr val="D7E1E8"/>
                      </a:solidFill>
                      <a:prstDash val="solid"/>
                    </a:lnL>
                    <a:lnR w="9525">
                      <a:solidFill>
                        <a:srgbClr val="D7E1E8"/>
                      </a:solidFill>
                      <a:prstDash val="solid"/>
                    </a:lnR>
                    <a:lnB w="9525">
                      <a:solidFill>
                        <a:srgbClr val="D7E1E8"/>
                      </a:solidFill>
                      <a:prstDash val="solid"/>
                    </a:lnB>
                    <a:solidFill>
                      <a:srgbClr val="FFFFFF"/>
                    </a:solidFill>
                  </a:tcPr>
                </a:tc>
                <a:tc>
                  <a:txBody>
                    <a:bodyPr/>
                    <a:lstStyle/>
                    <a:p>
                      <a:r>
                        <a:rPr sz="1800" b="0">
                          <a:solidFill>
                            <a:srgbClr val="172B4D"/>
                          </a:solidFill>
                        </a:rPr>
                        <a:t>元の少数例数に対する倍率 0・1・3 を候補にする</a:t>
                      </a:r>
                    </a:p>
                  </a:txBody>
                  <a:tcPr marL="91440" marR="91440" marT="45720" marB="45720">
                    <a:lnR w="9525">
                      <a:solidFill>
                        <a:srgbClr val="D7E1E8"/>
                      </a:solidFill>
                      <a:prstDash val="solid"/>
                    </a:lnR>
                    <a:lnB w="9525">
                      <a:solidFill>
                        <a:srgbClr val="D7E1E8"/>
                      </a:solidFill>
                      <a:prstDash val="solid"/>
                    </a:lnB>
                    <a:solidFill>
                      <a:srgbClr val="FFFFFF"/>
                    </a:solidFill>
                  </a:tcPr>
                </a:tc>
              </a:tr>
              <a:tr h="690563">
                <a:tc>
                  <a:txBody>
                    <a:bodyPr/>
                    <a:lstStyle/>
                    <a:p>
                      <a:r>
                        <a:rPr sz="1800" b="0">
                          <a:solidFill>
                            <a:srgbClr val="172B4D"/>
                          </a:solidFill>
                        </a:rPr>
                        <a:t>分類器と探索予算</a:t>
                      </a:r>
                    </a:p>
                  </a:txBody>
                  <a:tcPr marL="91440" marR="91440" marT="45720" marB="45720">
                    <a:lnL w="9525">
                      <a:solidFill>
                        <a:srgbClr val="D7E1E8"/>
                      </a:solidFill>
                      <a:prstDash val="solid"/>
                    </a:lnL>
                    <a:lnR w="9525">
                      <a:solidFill>
                        <a:srgbClr val="D7E1E8"/>
                      </a:solidFill>
                      <a:prstDash val="solid"/>
                    </a:lnR>
                    <a:lnB w="9525">
                      <a:solidFill>
                        <a:srgbClr val="D7E1E8"/>
                      </a:solidFill>
                      <a:prstDash val="solid"/>
                    </a:lnB>
                    <a:solidFill>
                      <a:srgbClr val="EDF3F7"/>
                    </a:solidFill>
                  </a:tcPr>
                </a:tc>
                <a:tc>
                  <a:txBody>
                    <a:bodyPr/>
                    <a:lstStyle/>
                    <a:p>
                      <a:r>
                        <a:rPr sz="1800" b="0">
                          <a:solidFill>
                            <a:srgbClr val="172B4D"/>
                          </a:solidFill>
                        </a:rPr>
                        <a:t>分類器や調整の差を手法の効果と混同しない</a:t>
                      </a:r>
                    </a:p>
                  </a:txBody>
                  <a:tcPr marL="91440" marR="91440" marT="45720" marB="45720">
                    <a:lnR w="9525">
                      <a:solidFill>
                        <a:srgbClr val="D7E1E8"/>
                      </a:solidFill>
                      <a:prstDash val="solid"/>
                    </a:lnR>
                    <a:lnB w="9525">
                      <a:solidFill>
                        <a:srgbClr val="D7E1E8"/>
                      </a:solidFill>
                      <a:prstDash val="solid"/>
                    </a:lnB>
                    <a:solidFill>
                      <a:srgbClr val="EDF3F7"/>
                    </a:solidFill>
                  </a:tcPr>
                </a:tc>
              </a:tr>
            </a:tbl>
          </a:graphicData>
        </a:graphic>
      </p:graphicFrame>
    </p:spTree>
    <p:extLst>
      <p:ext uri="{BB962C8B-B14F-4D97-AF65-F5344CB8AC3E}">
        <p14:creationId xmlns:p14="http://schemas.microsoft.com/office/powerpoint/2010/main" val="1915397068"/>
      </p:ext>
    </p:extLst>
  </p:cSld>
</p:sld>
</file>

<file path=ppt/slides/slide24.xml><?xml version="1.0" encoding="utf-8"?>
<p:sld xmlns:p="http://schemas.openxmlformats.org/presentationml/2006/main">
  <p:cSld>
    <p:bg>
      <p:bgPr>
        <a:solidFill xmlns:a="http://schemas.openxmlformats.org/drawingml/2006/main">
          <a:srgbClr val="FAFBFD"/>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B2E0617E-5BF8-4F53-B555-8EE02BD181F6}"/>
              </a:ext>
            </a:extLst>
          </p:cNvPr>
          <p:cNvSpPr>
            <a:spLocks xmlns:a="http://schemas.openxmlformats.org/drawingml/2006/main" noGrp="1"/>
          </p:cNvSpPr>
          <p:nvPr/>
        </p:nvSpPr>
        <p:spPr>
          <a:xfrm xmlns:a="http://schemas.openxmlformats.org/drawingml/2006/main">
            <a:off x="685800" y="495300"/>
            <a:ext cx="10858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150" b="1">
                <a:solidFill>
                  <a:srgbClr val="102B46"/>
                </a:solidFill>
              </a:defRPr>
            </a:defPPr>
            <a:lvl1pPr>
              <a:defRPr sz="3150" b="1">
                <a:solidFill>
                  <a:srgbClr val="102B46"/>
                </a:solidFill>
              </a:defRPr>
            </a:lvl1pPr>
            <a:lvl2pPr>
              <a:defRPr sz="3150" b="1">
                <a:solidFill>
                  <a:srgbClr val="102B46"/>
                </a:solidFill>
              </a:defRPr>
            </a:lvl2pPr>
            <a:lvl3pPr>
              <a:defRPr sz="3150" b="1">
                <a:solidFill>
                  <a:srgbClr val="102B46"/>
                </a:solidFill>
              </a:defRPr>
            </a:lvl3pPr>
            <a:lvl4pPr>
              <a:defRPr sz="3150" b="1">
                <a:solidFill>
                  <a:srgbClr val="102B46"/>
                </a:solidFill>
              </a:defRPr>
            </a:lvl4pPr>
            <a:lvl5pPr>
              <a:defRPr sz="3150" b="1">
                <a:solidFill>
                  <a:srgbClr val="102B46"/>
                </a:solidFill>
              </a:defRPr>
            </a:lvl5pPr>
            <a:lvl6pPr>
              <a:defRPr sz="3150" b="1">
                <a:solidFill>
                  <a:srgbClr val="102B46"/>
                </a:solidFill>
              </a:defRPr>
            </a:lvl6pPr>
            <a:lvl7pPr>
              <a:defRPr sz="3150" b="1">
                <a:solidFill>
                  <a:srgbClr val="102B46"/>
                </a:solidFill>
              </a:defRPr>
            </a:lvl7pPr>
            <a:lvl8pPr>
              <a:defRPr sz="3150" b="1">
                <a:solidFill>
                  <a:srgbClr val="102B46"/>
                </a:solidFill>
              </a:defRPr>
            </a:lvl8pPr>
            <a:lvl9pPr>
              <a:defRPr sz="3150" b="1">
                <a:solidFill>
                  <a:srgbClr val="102B46"/>
                </a:solidFill>
              </a:defRPr>
            </a:lvl9pPr>
          </a:lstStyle>
          <a:p xmlns:a="http://schemas.openxmlformats.org/drawingml/2006/main">
            <a:pPr>
              <a:defRPr sz="3150" b="1">
                <a:solidFill>
                  <a:srgbClr val="102B46"/>
                </a:solidFill>
              </a:defRPr>
            </a:pPr>
            <a:r>
              <a:rPr sz="3150" b="1">
                <a:solidFill>
                  <a:srgbClr val="102B46"/>
                </a:solidFill>
              </a:rPr>
              <a:t>性能と生成品質を両方測る理由</a:t>
            </a:r>
          </a:p>
        </p:txBody>
      </p:sp>
      <p:sp>
        <p:nvSpPr>
          <p:cNvPr id="3" name="">
            <a:extLst xmlns:a="http://schemas.openxmlformats.org/drawingml/2006/main">
              <a:ext uri="{FF2B5EF4-FFF2-40B4-BE49-F238E27FC236}">
                <a16:creationId xmlns:a16="http://schemas.microsoft.com/office/drawing/2014/main" id="{E42C256E-689E-4668-9566-92E2B0BB7EB0}"/>
              </a:ext>
            </a:extLst>
          </p:cNvPr>
          <p:cNvSpPr>
            <a:spLocks xmlns:a="http://schemas.openxmlformats.org/drawingml/2006/main" noGrp="1"/>
          </p:cNvSpPr>
          <p:nvPr/>
        </p:nvSpPr>
        <p:spPr>
          <a:xfrm xmlns:a="http://schemas.openxmlformats.org/drawingml/2006/main">
            <a:off x="723900" y="1952625"/>
            <a:ext cx="1066800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625" b="1">
                <a:solidFill>
                  <a:srgbClr val="172B4D"/>
                </a:solidFill>
              </a:defRPr>
            </a:defPPr>
            <a:lvl1pPr>
              <a:defRPr sz="2625" b="1">
                <a:solidFill>
                  <a:srgbClr val="172B4D"/>
                </a:solidFill>
              </a:defRPr>
            </a:lvl1pPr>
            <a:lvl2pPr>
              <a:defRPr sz="2625" b="1">
                <a:solidFill>
                  <a:srgbClr val="172B4D"/>
                </a:solidFill>
              </a:defRPr>
            </a:lvl2pPr>
            <a:lvl3pPr>
              <a:defRPr sz="2625" b="1">
                <a:solidFill>
                  <a:srgbClr val="172B4D"/>
                </a:solidFill>
              </a:defRPr>
            </a:lvl3pPr>
            <a:lvl4pPr>
              <a:defRPr sz="2625" b="1">
                <a:solidFill>
                  <a:srgbClr val="172B4D"/>
                </a:solidFill>
              </a:defRPr>
            </a:lvl4pPr>
            <a:lvl5pPr>
              <a:defRPr sz="2625" b="1">
                <a:solidFill>
                  <a:srgbClr val="172B4D"/>
                </a:solidFill>
              </a:defRPr>
            </a:lvl5pPr>
            <a:lvl6pPr>
              <a:defRPr sz="2625" b="1">
                <a:solidFill>
                  <a:srgbClr val="172B4D"/>
                </a:solidFill>
              </a:defRPr>
            </a:lvl6pPr>
            <a:lvl7pPr>
              <a:defRPr sz="2625" b="1">
                <a:solidFill>
                  <a:srgbClr val="172B4D"/>
                </a:solidFill>
              </a:defRPr>
            </a:lvl7pPr>
            <a:lvl8pPr>
              <a:defRPr sz="2625" b="1">
                <a:solidFill>
                  <a:srgbClr val="172B4D"/>
                </a:solidFill>
              </a:defRPr>
            </a:lvl8pPr>
            <a:lvl9pPr>
              <a:defRPr sz="2625" b="1">
                <a:solidFill>
                  <a:srgbClr val="172B4D"/>
                </a:solidFill>
              </a:defRPr>
            </a:lvl9pPr>
          </a:lstStyle>
          <a:p xmlns:a="http://schemas.openxmlformats.org/drawingml/2006/main">
            <a:pPr>
              <a:defRPr sz="2625" b="1">
                <a:solidFill>
                  <a:srgbClr val="172B4D"/>
                </a:solidFill>
              </a:defRPr>
            </a:pPr>
            <a:r>
              <a:rPr sz="2625" b="1">
                <a:solidFill>
                  <a:srgbClr val="172B4D"/>
                </a:solidFill>
              </a:rPr>
              <a:t>分類性能は目的を測り、</a:t>
            </a:r>
          </a:p>
          <a:p xmlns:a="http://schemas.openxmlformats.org/drawingml/2006/main">
            <a:pPr>
              <a:defRPr sz="2625" b="1">
                <a:solidFill>
                  <a:srgbClr val="172B4D"/>
                </a:solidFill>
              </a:defRPr>
            </a:pPr>
            <a:r>
              <a:rPr sz="2625" b="1">
                <a:solidFill>
                  <a:srgbClr val="172B4D"/>
                </a:solidFill>
              </a:rPr>
              <a:t>生成品質は改善が働いた仕組みを診断する</a:t>
            </a:r>
          </a:p>
        </p:txBody>
      </p:sp>
      <p:sp>
        <p:nvSpPr>
          <p:cNvPr id="4" name="">
            <a:extLst xmlns:a="http://schemas.openxmlformats.org/drawingml/2006/main">
              <a:ext uri="{FF2B5EF4-FFF2-40B4-BE49-F238E27FC236}">
                <a16:creationId xmlns:a16="http://schemas.microsoft.com/office/drawing/2014/main" id="{78308C6A-B26A-4D21-82A2-9FC4E663CA94}"/>
              </a:ext>
            </a:extLst>
          </p:cNvPr>
          <p:cNvSpPr>
            <a:spLocks xmlns:a="http://schemas.openxmlformats.org/drawingml/2006/main" noGrp="1"/>
          </p:cNvSpPr>
          <p:nvPr/>
        </p:nvSpPr>
        <p:spPr>
          <a:xfrm xmlns:a="http://schemas.openxmlformats.org/drawingml/2006/main">
            <a:off x="723900" y="3943350"/>
            <a:ext cx="10668000" cy="1562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0">
                <a:solidFill>
                  <a:srgbClr val="336C81"/>
                </a:solidFill>
              </a:defRPr>
            </a:defPPr>
            <a:lvl1pPr>
              <a:defRPr sz="2250" b="0">
                <a:solidFill>
                  <a:srgbClr val="336C81"/>
                </a:solidFill>
              </a:defRPr>
            </a:lvl1pPr>
            <a:lvl2pPr>
              <a:defRPr sz="2250" b="0">
                <a:solidFill>
                  <a:srgbClr val="336C81"/>
                </a:solidFill>
              </a:defRPr>
            </a:lvl2pPr>
            <a:lvl3pPr>
              <a:defRPr sz="2250" b="0">
                <a:solidFill>
                  <a:srgbClr val="336C81"/>
                </a:solidFill>
              </a:defRPr>
            </a:lvl3pPr>
            <a:lvl4pPr>
              <a:defRPr sz="2250" b="0">
                <a:solidFill>
                  <a:srgbClr val="336C81"/>
                </a:solidFill>
              </a:defRPr>
            </a:lvl4pPr>
            <a:lvl5pPr>
              <a:defRPr sz="2250" b="0">
                <a:solidFill>
                  <a:srgbClr val="336C81"/>
                </a:solidFill>
              </a:defRPr>
            </a:lvl5pPr>
            <a:lvl6pPr>
              <a:defRPr sz="2250" b="0">
                <a:solidFill>
                  <a:srgbClr val="336C81"/>
                </a:solidFill>
              </a:defRPr>
            </a:lvl6pPr>
            <a:lvl7pPr>
              <a:defRPr sz="2250" b="0">
                <a:solidFill>
                  <a:srgbClr val="336C81"/>
                </a:solidFill>
              </a:defRPr>
            </a:lvl7pPr>
            <a:lvl8pPr>
              <a:defRPr sz="2250" b="0">
                <a:solidFill>
                  <a:srgbClr val="336C81"/>
                </a:solidFill>
              </a:defRPr>
            </a:lvl8pPr>
            <a:lvl9pPr>
              <a:defRPr sz="2250" b="0">
                <a:solidFill>
                  <a:srgbClr val="336C81"/>
                </a:solidFill>
              </a:defRPr>
            </a:lvl9pPr>
          </a:lstStyle>
          <a:p xmlns:a="http://schemas.openxmlformats.org/drawingml/2006/main">
            <a:pPr>
              <a:defRPr sz="2250" b="0">
                <a:solidFill>
                  <a:srgbClr val="336C81"/>
                </a:solidFill>
              </a:defRPr>
            </a:pPr>
            <a:r>
              <a:rPr sz="2250" b="0">
                <a:solidFill>
                  <a:srgbClr val="336C81"/>
                </a:solidFill>
              </a:rPr>
              <a:t>主指標：macro F1・balanced accuracy</a:t>
            </a:r>
          </a:p>
          <a:p xmlns:a="http://schemas.openxmlformats.org/drawingml/2006/main">
            <a:pPr>
              <a:defRPr sz="2250" b="0">
                <a:solidFill>
                  <a:srgbClr val="336C81"/>
                </a:solidFill>
              </a:defRPr>
            </a:pPr>
            <a:r>
              <a:rPr sz="2250" b="0">
                <a:solidFill>
                  <a:srgbClr val="336C81"/>
                </a:solidFill>
              </a:rPr>
              <a:t>補助：少数Recall・Precision・PR-AUC・採択率</a:t>
            </a:r>
          </a:p>
        </p:txBody>
      </p:sp>
      <p:sp>
        <p:nvSpPr>
          <p:cNvPr id="5" name="">
            <a:extLst xmlns:a="http://schemas.openxmlformats.org/drawingml/2006/main">
              <a:ext uri="{FF2B5EF4-FFF2-40B4-BE49-F238E27FC236}">
                <a16:creationId xmlns:a16="http://schemas.microsoft.com/office/drawing/2014/main" id="{BE47961A-FE6B-4072-BAF2-456CA41691AE}"/>
              </a:ext>
            </a:extLst>
          </p:cNvPr>
          <p:cNvSpPr>
            <a:spLocks xmlns:a="http://schemas.openxmlformats.org/drawingml/2006/main" noGrp="1"/>
          </p:cNvSpPr>
          <p:nvPr/>
        </p:nvSpPr>
        <p:spPr>
          <a:xfrm xmlns:a="http://schemas.openxmlformats.org/drawingml/2006/main">
            <a:off x="11144250" y="6276975"/>
            <a:ext cx="5238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6B7F90"/>
                </a:solidFill>
              </a:defRPr>
            </a:defPPr>
            <a:lvl1pPr>
              <a:defRPr sz="1350" b="0">
                <a:solidFill>
                  <a:srgbClr val="6B7F90"/>
                </a:solidFill>
              </a:defRPr>
            </a:lvl1pPr>
            <a:lvl2pPr>
              <a:defRPr sz="1350" b="0">
                <a:solidFill>
                  <a:srgbClr val="6B7F90"/>
                </a:solidFill>
              </a:defRPr>
            </a:lvl2pPr>
            <a:lvl3pPr>
              <a:defRPr sz="1350" b="0">
                <a:solidFill>
                  <a:srgbClr val="6B7F90"/>
                </a:solidFill>
              </a:defRPr>
            </a:lvl3pPr>
            <a:lvl4pPr>
              <a:defRPr sz="1350" b="0">
                <a:solidFill>
                  <a:srgbClr val="6B7F90"/>
                </a:solidFill>
              </a:defRPr>
            </a:lvl4pPr>
            <a:lvl5pPr>
              <a:defRPr sz="1350" b="0">
                <a:solidFill>
                  <a:srgbClr val="6B7F90"/>
                </a:solidFill>
              </a:defRPr>
            </a:lvl5pPr>
            <a:lvl6pPr>
              <a:defRPr sz="1350" b="0">
                <a:solidFill>
                  <a:srgbClr val="6B7F90"/>
                </a:solidFill>
              </a:defRPr>
            </a:lvl6pPr>
            <a:lvl7pPr>
              <a:defRPr sz="1350" b="0">
                <a:solidFill>
                  <a:srgbClr val="6B7F90"/>
                </a:solidFill>
              </a:defRPr>
            </a:lvl7pPr>
            <a:lvl8pPr>
              <a:defRPr sz="1350" b="0">
                <a:solidFill>
                  <a:srgbClr val="6B7F90"/>
                </a:solidFill>
              </a:defRPr>
            </a:lvl8pPr>
            <a:lvl9pPr>
              <a:defRPr sz="1350" b="0">
                <a:solidFill>
                  <a:srgbClr val="6B7F90"/>
                </a:solidFill>
              </a:defRPr>
            </a:lvl9pPr>
          </a:lstStyle>
          <a:p xmlns:a="http://schemas.openxmlformats.org/drawingml/2006/main">
            <a:pPr>
              <a:defRPr sz="1350" b="0">
                <a:solidFill>
                  <a:srgbClr val="6B7F90"/>
                </a:solidFill>
              </a:defRPr>
            </a:pPr>
            <a:r>
              <a:rPr sz="1350" b="0">
                <a:solidFill>
                  <a:srgbClr val="6B7F90"/>
                </a:solidFill>
              </a:rPr>
              <a:t>24</a:t>
            </a:r>
          </a:p>
        </p:txBody>
      </p:sp>
    </p:spTree>
    <p:extLst>
      <p:ext uri="{BB962C8B-B14F-4D97-AF65-F5344CB8AC3E}">
        <p14:creationId xmlns:p14="http://schemas.microsoft.com/office/powerpoint/2010/main" val="324537028"/>
      </p:ext>
    </p:extLst>
  </p:cSld>
</p:sld>
</file>

<file path=ppt/slides/slide25.xml><?xml version="1.0" encoding="utf-8"?>
<p:sld xmlns:p="http://schemas.openxmlformats.org/presentationml/2006/main">
  <p:cSld>
    <p:bg>
      <p:bgPr>
        <a:solidFill xmlns:a="http://schemas.openxmlformats.org/drawingml/2006/main">
          <a:srgbClr val="FAFBFD"/>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46DB5595-8BE0-40E9-B98F-6B61F0A2D001}"/>
              </a:ext>
            </a:extLst>
          </p:cNvPr>
          <p:cNvSpPr>
            <a:spLocks xmlns:a="http://schemas.openxmlformats.org/drawingml/2006/main" noGrp="1"/>
          </p:cNvSpPr>
          <p:nvPr/>
        </p:nvSpPr>
        <p:spPr>
          <a:xfrm xmlns:a="http://schemas.openxmlformats.org/drawingml/2006/main">
            <a:off x="685800" y="495300"/>
            <a:ext cx="10858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150" b="1">
                <a:solidFill>
                  <a:srgbClr val="102B46"/>
                </a:solidFill>
              </a:defRPr>
            </a:defPPr>
            <a:lvl1pPr>
              <a:defRPr sz="3150" b="1">
                <a:solidFill>
                  <a:srgbClr val="102B46"/>
                </a:solidFill>
              </a:defRPr>
            </a:lvl1pPr>
            <a:lvl2pPr>
              <a:defRPr sz="3150" b="1">
                <a:solidFill>
                  <a:srgbClr val="102B46"/>
                </a:solidFill>
              </a:defRPr>
            </a:lvl2pPr>
            <a:lvl3pPr>
              <a:defRPr sz="3150" b="1">
                <a:solidFill>
                  <a:srgbClr val="102B46"/>
                </a:solidFill>
              </a:defRPr>
            </a:lvl3pPr>
            <a:lvl4pPr>
              <a:defRPr sz="3150" b="1">
                <a:solidFill>
                  <a:srgbClr val="102B46"/>
                </a:solidFill>
              </a:defRPr>
            </a:lvl4pPr>
            <a:lvl5pPr>
              <a:defRPr sz="3150" b="1">
                <a:solidFill>
                  <a:srgbClr val="102B46"/>
                </a:solidFill>
              </a:defRPr>
            </a:lvl5pPr>
            <a:lvl6pPr>
              <a:defRPr sz="3150" b="1">
                <a:solidFill>
                  <a:srgbClr val="102B46"/>
                </a:solidFill>
              </a:defRPr>
            </a:lvl6pPr>
            <a:lvl7pPr>
              <a:defRPr sz="3150" b="1">
                <a:solidFill>
                  <a:srgbClr val="102B46"/>
                </a:solidFill>
              </a:defRPr>
            </a:lvl7pPr>
            <a:lvl8pPr>
              <a:defRPr sz="3150" b="1">
                <a:solidFill>
                  <a:srgbClr val="102B46"/>
                </a:solidFill>
              </a:defRPr>
            </a:lvl8pPr>
            <a:lvl9pPr>
              <a:defRPr sz="3150" b="1">
                <a:solidFill>
                  <a:srgbClr val="102B46"/>
                </a:solidFill>
              </a:defRPr>
            </a:lvl9pPr>
          </a:lstStyle>
          <a:p xmlns:a="http://schemas.openxmlformats.org/drawingml/2006/main">
            <a:pPr>
              <a:defRPr sz="3150" b="1">
                <a:solidFill>
                  <a:srgbClr val="102B46"/>
                </a:solidFill>
              </a:defRPr>
            </a:pPr>
            <a:r>
              <a:rPr sz="3150" b="1">
                <a:solidFill>
                  <a:srgbClr val="102B46"/>
                </a:solidFill>
              </a:rPr>
              <a:t>改善案を支持できる結果</a:t>
            </a:r>
          </a:p>
        </p:txBody>
      </p:sp>
      <p:sp>
        <p:nvSpPr>
          <p:cNvPr id="3" name="">
            <a:extLst xmlns:a="http://schemas.openxmlformats.org/drawingml/2006/main">
              <a:ext uri="{FF2B5EF4-FFF2-40B4-BE49-F238E27FC236}">
                <a16:creationId xmlns:a16="http://schemas.microsoft.com/office/drawing/2014/main" id="{FE42FC63-347B-412F-B295-4F58119CD2B9}"/>
              </a:ext>
            </a:extLst>
          </p:cNvPr>
          <p:cNvSpPr>
            <a:spLocks xmlns:a="http://schemas.openxmlformats.org/drawingml/2006/main" noGrp="1"/>
          </p:cNvSpPr>
          <p:nvPr/>
        </p:nvSpPr>
        <p:spPr>
          <a:xfrm xmlns:a="http://schemas.openxmlformats.org/drawingml/2006/main">
            <a:off x="11144250" y="6276975"/>
            <a:ext cx="5238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6B7F90"/>
                </a:solidFill>
              </a:defRPr>
            </a:defPPr>
            <a:lvl1pPr>
              <a:defRPr sz="1350" b="0">
                <a:solidFill>
                  <a:srgbClr val="6B7F90"/>
                </a:solidFill>
              </a:defRPr>
            </a:lvl1pPr>
            <a:lvl2pPr>
              <a:defRPr sz="1350" b="0">
                <a:solidFill>
                  <a:srgbClr val="6B7F90"/>
                </a:solidFill>
              </a:defRPr>
            </a:lvl2pPr>
            <a:lvl3pPr>
              <a:defRPr sz="1350" b="0">
                <a:solidFill>
                  <a:srgbClr val="6B7F90"/>
                </a:solidFill>
              </a:defRPr>
            </a:lvl3pPr>
            <a:lvl4pPr>
              <a:defRPr sz="1350" b="0">
                <a:solidFill>
                  <a:srgbClr val="6B7F90"/>
                </a:solidFill>
              </a:defRPr>
            </a:lvl4pPr>
            <a:lvl5pPr>
              <a:defRPr sz="1350" b="0">
                <a:solidFill>
                  <a:srgbClr val="6B7F90"/>
                </a:solidFill>
              </a:defRPr>
            </a:lvl5pPr>
            <a:lvl6pPr>
              <a:defRPr sz="1350" b="0">
                <a:solidFill>
                  <a:srgbClr val="6B7F90"/>
                </a:solidFill>
              </a:defRPr>
            </a:lvl6pPr>
            <a:lvl7pPr>
              <a:defRPr sz="1350" b="0">
                <a:solidFill>
                  <a:srgbClr val="6B7F90"/>
                </a:solidFill>
              </a:defRPr>
            </a:lvl7pPr>
            <a:lvl8pPr>
              <a:defRPr sz="1350" b="0">
                <a:solidFill>
                  <a:srgbClr val="6B7F90"/>
                </a:solidFill>
              </a:defRPr>
            </a:lvl8pPr>
            <a:lvl9pPr>
              <a:defRPr sz="1350" b="0">
                <a:solidFill>
                  <a:srgbClr val="6B7F90"/>
                </a:solidFill>
              </a:defRPr>
            </a:lvl9pPr>
          </a:lstStyle>
          <a:p xmlns:a="http://schemas.openxmlformats.org/drawingml/2006/main">
            <a:pPr>
              <a:defRPr sz="1350" b="0">
                <a:solidFill>
                  <a:srgbClr val="6B7F90"/>
                </a:solidFill>
              </a:defRPr>
            </a:pPr>
            <a:r>
              <a:rPr sz="1350" b="0">
                <a:solidFill>
                  <a:srgbClr val="6B7F90"/>
                </a:solidFill>
              </a:rPr>
              <a:t>25</a:t>
            </a:r>
          </a:p>
        </p:txBody>
      </p:sp>
      <p:graphicFrame>
        <p:nvGraphicFramePr>
          <p:cNvPr id="4" name="">
            <a:extLst xmlns:a="http://schemas.openxmlformats.org/drawingml/2006/main">
              <a:ext uri="{FF2B5EF4-FFF2-40B4-BE49-F238E27FC236}">
                <a16:creationId xmlns:a16="http://schemas.microsoft.com/office/drawing/2014/main" id="{6401A0F5-47BA-4F55-8F0D-6297040CDD96}"/>
              </a:ext>
            </a:extLst>
          </p:cNvPr>
          <p:cNvGraphicFramePr/>
          <p:nvPr/>
        </p:nvGraphicFramePr>
        <p:xfrm>
          <a:off xmlns:a="http://schemas.openxmlformats.org/drawingml/2006/main" x="723900" y="1714500"/>
          <a:ext xmlns:a="http://schemas.openxmlformats.org/drawingml/2006/main" cx="10744200" cy="3619500"/>
        </p:xfrm>
        <a:graphic xmlns:a="http://schemas.openxmlformats.org/drawingml/2006/main">
          <a:graphicData uri="http://schemas.openxmlformats.org/drawingml/2006/table">
            <a:tbl>
              <a:tblPr/>
              <a:tblGrid>
                <a:gridCol w="3619500"/>
                <a:gridCol w="3429000"/>
                <a:gridCol w="3695700"/>
              </a:tblGrid>
              <a:tr h="723900">
                <a:tc>
                  <a:txBody>
                    <a:bodyPr/>
                    <a:lstStyle/>
                    <a:p>
                      <a:r>
                        <a:rPr sz="1800" b="1">
                          <a:solidFill>
                            <a:srgbClr val="FFFFFF"/>
                          </a:solidFill>
                        </a:rPr>
                        <a:t>観測した結果</a:t>
                      </a:r>
                    </a:p>
                  </a:txBody>
                  <a:tcPr marL="91440" marR="91440" marT="45720" marB="45720">
                    <a:lnL w="9525">
                      <a:solidFill>
                        <a:srgbClr val="D7E1E8"/>
                      </a:solidFill>
                      <a:prstDash val="solid"/>
                    </a:lnL>
                    <a:lnR w="9525">
                      <a:solidFill>
                        <a:srgbClr val="D7E1E8"/>
                      </a:solidFill>
                      <a:prstDash val="solid"/>
                    </a:lnR>
                    <a:lnT w="9525">
                      <a:solidFill>
                        <a:srgbClr val="D7E1E8"/>
                      </a:solidFill>
                      <a:prstDash val="solid"/>
                    </a:lnT>
                    <a:lnB w="9525">
                      <a:solidFill>
                        <a:srgbClr val="D7E1E8"/>
                      </a:solidFill>
                      <a:prstDash val="solid"/>
                    </a:lnB>
                    <a:solidFill>
                      <a:srgbClr val="102B46"/>
                    </a:solidFill>
                  </a:tcPr>
                </a:tc>
                <a:tc>
                  <a:txBody>
                    <a:bodyPr/>
                    <a:lstStyle/>
                    <a:p>
                      <a:r>
                        <a:rPr sz="1800" b="1">
                          <a:solidFill>
                            <a:srgbClr val="FFFFFF"/>
                          </a:solidFill>
                        </a:rPr>
                        <a:t>読み取れること</a:t>
                      </a:r>
                    </a:p>
                  </a:txBody>
                  <a:tcPr marL="91440" marR="91440" marT="45720" marB="45720">
                    <a:lnR w="9525">
                      <a:solidFill>
                        <a:srgbClr val="D7E1E8"/>
                      </a:solidFill>
                      <a:prstDash val="solid"/>
                    </a:lnR>
                    <a:lnT w="9525">
                      <a:solidFill>
                        <a:srgbClr val="D7E1E8"/>
                      </a:solidFill>
                      <a:prstDash val="solid"/>
                    </a:lnT>
                    <a:lnB w="9525">
                      <a:solidFill>
                        <a:srgbClr val="D7E1E8"/>
                      </a:solidFill>
                      <a:prstDash val="solid"/>
                    </a:lnB>
                    <a:solidFill>
                      <a:srgbClr val="102B46"/>
                    </a:solidFill>
                  </a:tcPr>
                </a:tc>
                <a:tc>
                  <a:txBody>
                    <a:bodyPr/>
                    <a:lstStyle/>
                    <a:p>
                      <a:r>
                        <a:rPr sz="1800" b="1">
                          <a:solidFill>
                            <a:srgbClr val="FFFFFF"/>
                          </a:solidFill>
                        </a:rPr>
                        <a:t>次の確認</a:t>
                      </a:r>
                    </a:p>
                  </a:txBody>
                  <a:tcPr marL="91440" marR="91440" marT="45720" marB="45720">
                    <a:lnR w="9525">
                      <a:solidFill>
                        <a:srgbClr val="D7E1E8"/>
                      </a:solidFill>
                      <a:prstDash val="solid"/>
                    </a:lnR>
                    <a:lnT w="9525">
                      <a:solidFill>
                        <a:srgbClr val="D7E1E8"/>
                      </a:solidFill>
                      <a:prstDash val="solid"/>
                    </a:lnT>
                    <a:lnB w="9525">
                      <a:solidFill>
                        <a:srgbClr val="D7E1E8"/>
                      </a:solidFill>
                      <a:prstDash val="solid"/>
                    </a:lnB>
                    <a:solidFill>
                      <a:srgbClr val="102B46"/>
                    </a:solidFill>
                  </a:tcPr>
                </a:tc>
              </a:tr>
              <a:tr h="723900">
                <a:tc>
                  <a:txBody>
                    <a:bodyPr/>
                    <a:lstStyle/>
                    <a:p>
                      <a:r>
                        <a:rPr sz="1800" b="0">
                          <a:solidFill>
                            <a:srgbClr val="172B4D"/>
                          </a:solidFill>
                        </a:rPr>
                        <a:t>失敗指標と性能が改善</a:t>
                      </a:r>
                    </a:p>
                  </a:txBody>
                  <a:tcPr marL="91440" marR="91440" marT="45720" marB="45720">
                    <a:lnL w="9525">
                      <a:solidFill>
                        <a:srgbClr val="D7E1E8"/>
                      </a:solidFill>
                      <a:prstDash val="solid"/>
                    </a:lnL>
                    <a:lnR w="9525">
                      <a:solidFill>
                        <a:srgbClr val="D7E1E8"/>
                      </a:solidFill>
                      <a:prstDash val="solid"/>
                    </a:lnR>
                    <a:lnB w="9525">
                      <a:solidFill>
                        <a:srgbClr val="D7E1E8"/>
                      </a:solidFill>
                      <a:prstDash val="solid"/>
                    </a:lnB>
                    <a:solidFill>
                      <a:srgbClr val="EDF3F7"/>
                    </a:solidFill>
                  </a:tcPr>
                </a:tc>
                <a:tc>
                  <a:txBody>
                    <a:bodyPr/>
                    <a:lstStyle/>
                    <a:p>
                      <a:r>
                        <a:rPr sz="1800" b="0">
                          <a:solidFill>
                            <a:srgbClr val="172B4D"/>
                          </a:solidFill>
                        </a:rPr>
                        <a:t>想定した仕組みと整合する</a:t>
                      </a:r>
                    </a:p>
                  </a:txBody>
                  <a:tcPr marL="91440" marR="91440" marT="45720" marB="45720">
                    <a:lnR w="9525">
                      <a:solidFill>
                        <a:srgbClr val="D7E1E8"/>
                      </a:solidFill>
                      <a:prstDash val="solid"/>
                    </a:lnR>
                    <a:lnB w="9525">
                      <a:solidFill>
                        <a:srgbClr val="D7E1E8"/>
                      </a:solidFill>
                      <a:prstDash val="solid"/>
                    </a:lnB>
                    <a:solidFill>
                      <a:srgbClr val="EDF3F7"/>
                    </a:solidFill>
                  </a:tcPr>
                </a:tc>
                <a:tc>
                  <a:txBody>
                    <a:bodyPr/>
                    <a:lstStyle/>
                    <a:p>
                      <a:r>
                        <a:rPr sz="1800" b="0">
                          <a:solidFill>
                            <a:srgbClr val="172B4D"/>
                          </a:solidFill>
                        </a:rPr>
                        <a:t>別seed・別分類器で再確認</a:t>
                      </a:r>
                    </a:p>
                  </a:txBody>
                  <a:tcPr marL="91440" marR="91440" marT="45720" marB="45720">
                    <a:lnR w="9525">
                      <a:solidFill>
                        <a:srgbClr val="D7E1E8"/>
                      </a:solidFill>
                      <a:prstDash val="solid"/>
                    </a:lnR>
                    <a:lnB w="9525">
                      <a:solidFill>
                        <a:srgbClr val="D7E1E8"/>
                      </a:solidFill>
                      <a:prstDash val="solid"/>
                    </a:lnB>
                    <a:solidFill>
                      <a:srgbClr val="EDF3F7"/>
                    </a:solidFill>
                  </a:tcPr>
                </a:tc>
              </a:tr>
              <a:tr h="723900">
                <a:tc>
                  <a:txBody>
                    <a:bodyPr/>
                    <a:lstStyle/>
                    <a:p>
                      <a:r>
                        <a:rPr sz="1800" b="0">
                          <a:solidFill>
                            <a:srgbClr val="172B4D"/>
                          </a:solidFill>
                        </a:rPr>
                        <a:t>品質のみ改善</a:t>
                      </a:r>
                    </a:p>
                  </a:txBody>
                  <a:tcPr marL="91440" marR="91440" marT="45720" marB="45720">
                    <a:lnL w="9525">
                      <a:solidFill>
                        <a:srgbClr val="D7E1E8"/>
                      </a:solidFill>
                      <a:prstDash val="solid"/>
                    </a:lnL>
                    <a:lnR w="9525">
                      <a:solidFill>
                        <a:srgbClr val="D7E1E8"/>
                      </a:solidFill>
                      <a:prstDash val="solid"/>
                    </a:lnR>
                    <a:lnB w="9525">
                      <a:solidFill>
                        <a:srgbClr val="D7E1E8"/>
                      </a:solidFill>
                      <a:prstDash val="solid"/>
                    </a:lnB>
                    <a:solidFill>
                      <a:srgbClr val="FFFFFF"/>
                    </a:solidFill>
                  </a:tcPr>
                </a:tc>
                <a:tc>
                  <a:txBody>
                    <a:bodyPr/>
                    <a:lstStyle/>
                    <a:p>
                      <a:r>
                        <a:rPr sz="1800" b="0">
                          <a:solidFill>
                            <a:srgbClr val="172B4D"/>
                          </a:solidFill>
                        </a:rPr>
                        <a:t>制約違反の削減だけでは不十分</a:t>
                      </a:r>
                    </a:p>
                  </a:txBody>
                  <a:tcPr marL="91440" marR="91440" marT="45720" marB="45720">
                    <a:lnR w="9525">
                      <a:solidFill>
                        <a:srgbClr val="D7E1E8"/>
                      </a:solidFill>
                      <a:prstDash val="solid"/>
                    </a:lnR>
                    <a:lnB w="9525">
                      <a:solidFill>
                        <a:srgbClr val="D7E1E8"/>
                      </a:solidFill>
                      <a:prstDash val="solid"/>
                    </a:lnB>
                    <a:solidFill>
                      <a:srgbClr val="FFFFFF"/>
                    </a:solidFill>
                  </a:tcPr>
                </a:tc>
                <a:tc>
                  <a:txBody>
                    <a:bodyPr/>
                    <a:lstStyle/>
                    <a:p>
                      <a:r>
                        <a:rPr sz="1800" b="0">
                          <a:solidFill>
                            <a:srgbClr val="172B4D"/>
                          </a:solidFill>
                        </a:rPr>
                        <a:t>難例の除外や多様性を確認</a:t>
                      </a:r>
                    </a:p>
                  </a:txBody>
                  <a:tcPr marL="91440" marR="91440" marT="45720" marB="45720">
                    <a:lnR w="9525">
                      <a:solidFill>
                        <a:srgbClr val="D7E1E8"/>
                      </a:solidFill>
                      <a:prstDash val="solid"/>
                    </a:lnR>
                    <a:lnB w="9525">
                      <a:solidFill>
                        <a:srgbClr val="D7E1E8"/>
                      </a:solidFill>
                      <a:prstDash val="solid"/>
                    </a:lnB>
                    <a:solidFill>
                      <a:srgbClr val="FFFFFF"/>
                    </a:solidFill>
                  </a:tcPr>
                </a:tc>
              </a:tr>
              <a:tr h="723900">
                <a:tc>
                  <a:txBody>
                    <a:bodyPr/>
                    <a:lstStyle/>
                    <a:p>
                      <a:r>
                        <a:rPr sz="1800" b="0">
                          <a:solidFill>
                            <a:srgbClr val="172B4D"/>
                          </a:solidFill>
                        </a:rPr>
                        <a:t>複製と同程度の性能</a:t>
                      </a:r>
                    </a:p>
                  </a:txBody>
                  <a:tcPr marL="91440" marR="91440" marT="45720" marB="45720">
                    <a:lnL w="9525">
                      <a:solidFill>
                        <a:srgbClr val="D7E1E8"/>
                      </a:solidFill>
                      <a:prstDash val="solid"/>
                    </a:lnL>
                    <a:lnR w="9525">
                      <a:solidFill>
                        <a:srgbClr val="D7E1E8"/>
                      </a:solidFill>
                      <a:prstDash val="solid"/>
                    </a:lnR>
                    <a:lnB w="9525">
                      <a:solidFill>
                        <a:srgbClr val="D7E1E8"/>
                      </a:solidFill>
                      <a:prstDash val="solid"/>
                    </a:lnB>
                    <a:solidFill>
                      <a:srgbClr val="EDF3F7"/>
                    </a:solidFill>
                  </a:tcPr>
                </a:tc>
                <a:tc>
                  <a:txBody>
                    <a:bodyPr/>
                    <a:lstStyle/>
                    <a:p>
                      <a:r>
                        <a:rPr sz="1800" b="0">
                          <a:solidFill>
                            <a:srgbClr val="172B4D"/>
                          </a:solidFill>
                        </a:rPr>
                        <a:t>新しい特徴値の利点は未確認</a:t>
                      </a:r>
                    </a:p>
                  </a:txBody>
                  <a:tcPr marL="91440" marR="91440" marT="45720" marB="45720">
                    <a:lnR w="9525">
                      <a:solidFill>
                        <a:srgbClr val="D7E1E8"/>
                      </a:solidFill>
                      <a:prstDash val="solid"/>
                    </a:lnR>
                    <a:lnB w="9525">
                      <a:solidFill>
                        <a:srgbClr val="D7E1E8"/>
                      </a:solidFill>
                      <a:prstDash val="solid"/>
                    </a:lnB>
                    <a:solidFill>
                      <a:srgbClr val="EDF3F7"/>
                    </a:solidFill>
                  </a:tcPr>
                </a:tc>
                <a:tc>
                  <a:txBody>
                    <a:bodyPr/>
                    <a:lstStyle/>
                    <a:p>
                      <a:r>
                        <a:rPr sz="1800" b="0">
                          <a:solidFill>
                            <a:srgbClr val="172B4D"/>
                          </a:solidFill>
                        </a:rPr>
                        <a:t>計算量と条件依存性を比較</a:t>
                      </a:r>
                    </a:p>
                  </a:txBody>
                  <a:tcPr marL="91440" marR="91440" marT="45720" marB="45720">
                    <a:lnR w="9525">
                      <a:solidFill>
                        <a:srgbClr val="D7E1E8"/>
                      </a:solidFill>
                      <a:prstDash val="solid"/>
                    </a:lnR>
                    <a:lnB w="9525">
                      <a:solidFill>
                        <a:srgbClr val="D7E1E8"/>
                      </a:solidFill>
                      <a:prstDash val="solid"/>
                    </a:lnB>
                    <a:solidFill>
                      <a:srgbClr val="EDF3F7"/>
                    </a:solidFill>
                  </a:tcPr>
                </a:tc>
              </a:tr>
              <a:tr h="723900">
                <a:tc>
                  <a:txBody>
                    <a:bodyPr/>
                    <a:lstStyle/>
                    <a:p>
                      <a:r>
                        <a:rPr sz="1800" b="0">
                          <a:solidFill>
                            <a:srgbClr val="172B4D"/>
                          </a:solidFill>
                        </a:rPr>
                        <a:t>平均は改善、差が不安定</a:t>
                      </a:r>
                    </a:p>
                  </a:txBody>
                  <a:tcPr marL="91440" marR="91440" marT="45720" marB="45720">
                    <a:lnL w="9525">
                      <a:solidFill>
                        <a:srgbClr val="D7E1E8"/>
                      </a:solidFill>
                      <a:prstDash val="solid"/>
                    </a:lnL>
                    <a:lnR w="9525">
                      <a:solidFill>
                        <a:srgbClr val="D7E1E8"/>
                      </a:solidFill>
                      <a:prstDash val="solid"/>
                    </a:lnR>
                    <a:lnB w="9525">
                      <a:solidFill>
                        <a:srgbClr val="D7E1E8"/>
                      </a:solidFill>
                      <a:prstDash val="solid"/>
                    </a:lnB>
                    <a:solidFill>
                      <a:srgbClr val="FFFFFF"/>
                    </a:solidFill>
                  </a:tcPr>
                </a:tc>
                <a:tc>
                  <a:txBody>
                    <a:bodyPr/>
                    <a:lstStyle/>
                    <a:p>
                      <a:r>
                        <a:rPr sz="1800" b="0">
                          <a:solidFill>
                            <a:srgbClr val="172B4D"/>
                          </a:solidFill>
                        </a:rPr>
                        <a:t>一般的な優位性は未確定</a:t>
                      </a:r>
                    </a:p>
                  </a:txBody>
                  <a:tcPr marL="91440" marR="91440" marT="45720" marB="45720">
                    <a:lnR w="9525">
                      <a:solidFill>
                        <a:srgbClr val="D7E1E8"/>
                      </a:solidFill>
                      <a:prstDash val="solid"/>
                    </a:lnR>
                    <a:lnB w="9525">
                      <a:solidFill>
                        <a:srgbClr val="D7E1E8"/>
                      </a:solidFill>
                      <a:prstDash val="solid"/>
                    </a:lnB>
                    <a:solidFill>
                      <a:srgbClr val="FFFFFF"/>
                    </a:solidFill>
                  </a:tcPr>
                </a:tc>
                <a:tc>
                  <a:txBody>
                    <a:bodyPr/>
                    <a:lstStyle/>
                    <a:p>
                      <a:r>
                        <a:rPr sz="1800" b="0">
                          <a:solidFill>
                            <a:srgbClr val="172B4D"/>
                          </a:solidFill>
                        </a:rPr>
                        <a:t>例数とばらつきの関係を確認</a:t>
                      </a:r>
                    </a:p>
                  </a:txBody>
                  <a:tcPr marL="91440" marR="91440" marT="45720" marB="45720">
                    <a:lnR w="9525">
                      <a:solidFill>
                        <a:srgbClr val="D7E1E8"/>
                      </a:solidFill>
                      <a:prstDash val="solid"/>
                    </a:lnR>
                    <a:lnB w="9525">
                      <a:solidFill>
                        <a:srgbClr val="D7E1E8"/>
                      </a:solidFill>
                      <a:prstDash val="solid"/>
                    </a:lnB>
                    <a:solidFill>
                      <a:srgbClr val="FFFFFF"/>
                    </a:solidFill>
                  </a:tcPr>
                </a:tc>
              </a:tr>
            </a:tbl>
          </a:graphicData>
        </a:graphic>
      </p:graphicFrame>
      <p:sp>
        <p:nvSpPr>
          <p:cNvPr id="5" name="">
            <a:extLst xmlns:a="http://schemas.openxmlformats.org/drawingml/2006/main">
              <a:ext uri="{FF2B5EF4-FFF2-40B4-BE49-F238E27FC236}">
                <a16:creationId xmlns:a16="http://schemas.microsoft.com/office/drawing/2014/main" id="{C5EEA77E-E48A-40E2-856F-0E0BE981D068}"/>
              </a:ext>
            </a:extLst>
          </p:cNvPr>
          <p:cNvSpPr>
            <a:spLocks xmlns:a="http://schemas.openxmlformats.org/drawingml/2006/main" noGrp="1"/>
          </p:cNvSpPr>
          <p:nvPr/>
        </p:nvSpPr>
        <p:spPr>
          <a:xfrm xmlns:a="http://schemas.openxmlformats.org/drawingml/2006/main">
            <a:off x="762000" y="5619750"/>
            <a:ext cx="10668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336C81"/>
                </a:solidFill>
              </a:defRPr>
            </a:defPPr>
            <a:lvl1pPr>
              <a:defRPr sz="2025" b="0">
                <a:solidFill>
                  <a:srgbClr val="336C81"/>
                </a:solidFill>
              </a:defRPr>
            </a:lvl1pPr>
            <a:lvl2pPr>
              <a:defRPr sz="2025" b="0">
                <a:solidFill>
                  <a:srgbClr val="336C81"/>
                </a:solidFill>
              </a:defRPr>
            </a:lvl2pPr>
            <a:lvl3pPr>
              <a:defRPr sz="2025" b="0">
                <a:solidFill>
                  <a:srgbClr val="336C81"/>
                </a:solidFill>
              </a:defRPr>
            </a:lvl3pPr>
            <a:lvl4pPr>
              <a:defRPr sz="2025" b="0">
                <a:solidFill>
                  <a:srgbClr val="336C81"/>
                </a:solidFill>
              </a:defRPr>
            </a:lvl4pPr>
            <a:lvl5pPr>
              <a:defRPr sz="2025" b="0">
                <a:solidFill>
                  <a:srgbClr val="336C81"/>
                </a:solidFill>
              </a:defRPr>
            </a:lvl5pPr>
            <a:lvl6pPr>
              <a:defRPr sz="2025" b="0">
                <a:solidFill>
                  <a:srgbClr val="336C81"/>
                </a:solidFill>
              </a:defRPr>
            </a:lvl6pPr>
            <a:lvl7pPr>
              <a:defRPr sz="2025" b="0">
                <a:solidFill>
                  <a:srgbClr val="336C81"/>
                </a:solidFill>
              </a:defRPr>
            </a:lvl7pPr>
            <a:lvl8pPr>
              <a:defRPr sz="2025" b="0">
                <a:solidFill>
                  <a:srgbClr val="336C81"/>
                </a:solidFill>
              </a:defRPr>
            </a:lvl8pPr>
            <a:lvl9pPr>
              <a:defRPr sz="2025" b="0">
                <a:solidFill>
                  <a:srgbClr val="336C81"/>
                </a:solidFill>
              </a:defRPr>
            </a:lvl9pPr>
          </a:lstStyle>
          <a:p xmlns:a="http://schemas.openxmlformats.org/drawingml/2006/main">
            <a:pPr>
              <a:defRPr sz="2025" b="0">
                <a:solidFill>
                  <a:srgbClr val="336C81"/>
                </a:solidFill>
              </a:defRPr>
            </a:pPr>
            <a:r>
              <a:rPr sz="2025" b="0">
                <a:solidFill>
                  <a:srgbClr val="336C81"/>
                </a:solidFill>
              </a:rPr>
              <a:t>改善前後は同じ分割・採択後の追加件数で比較する</a:t>
            </a:r>
          </a:p>
        </p:txBody>
      </p:sp>
    </p:spTree>
    <p:extLst>
      <p:ext uri="{BB962C8B-B14F-4D97-AF65-F5344CB8AC3E}">
        <p14:creationId xmlns:p14="http://schemas.microsoft.com/office/powerpoint/2010/main" val="1775134736"/>
      </p:ext>
    </p:extLst>
  </p:cSld>
</p:sld>
</file>

<file path=ppt/slides/slide26.xml><?xml version="1.0" encoding="utf-8"?>
<p:sld xmlns:p="http://schemas.openxmlformats.org/presentationml/2006/main">
  <p:cSld>
    <p:bg>
      <p:bgPr>
        <a:solidFill xmlns:a="http://schemas.openxmlformats.org/drawingml/2006/main">
          <a:srgbClr val="FAFBFD"/>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D5007D96-D5AF-49F2-9A40-1E53AF5DBFF1}"/>
              </a:ext>
            </a:extLst>
          </p:cNvPr>
          <p:cNvSpPr>
            <a:spLocks xmlns:a="http://schemas.openxmlformats.org/drawingml/2006/main" noGrp="1"/>
          </p:cNvSpPr>
          <p:nvPr/>
        </p:nvSpPr>
        <p:spPr>
          <a:xfrm xmlns:a="http://schemas.openxmlformats.org/drawingml/2006/main">
            <a:off x="685800" y="495300"/>
            <a:ext cx="10858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150" b="1">
                <a:solidFill>
                  <a:srgbClr val="102B46"/>
                </a:solidFill>
              </a:defRPr>
            </a:defPPr>
            <a:lvl1pPr>
              <a:defRPr sz="3150" b="1">
                <a:solidFill>
                  <a:srgbClr val="102B46"/>
                </a:solidFill>
              </a:defRPr>
            </a:lvl1pPr>
            <a:lvl2pPr>
              <a:defRPr sz="3150" b="1">
                <a:solidFill>
                  <a:srgbClr val="102B46"/>
                </a:solidFill>
              </a:defRPr>
            </a:lvl2pPr>
            <a:lvl3pPr>
              <a:defRPr sz="3150" b="1">
                <a:solidFill>
                  <a:srgbClr val="102B46"/>
                </a:solidFill>
              </a:defRPr>
            </a:lvl3pPr>
            <a:lvl4pPr>
              <a:defRPr sz="3150" b="1">
                <a:solidFill>
                  <a:srgbClr val="102B46"/>
                </a:solidFill>
              </a:defRPr>
            </a:lvl4pPr>
            <a:lvl5pPr>
              <a:defRPr sz="3150" b="1">
                <a:solidFill>
                  <a:srgbClr val="102B46"/>
                </a:solidFill>
              </a:defRPr>
            </a:lvl5pPr>
            <a:lvl6pPr>
              <a:defRPr sz="3150" b="1">
                <a:solidFill>
                  <a:srgbClr val="102B46"/>
                </a:solidFill>
              </a:defRPr>
            </a:lvl6pPr>
            <a:lvl7pPr>
              <a:defRPr sz="3150" b="1">
                <a:solidFill>
                  <a:srgbClr val="102B46"/>
                </a:solidFill>
              </a:defRPr>
            </a:lvl7pPr>
            <a:lvl8pPr>
              <a:defRPr sz="3150" b="1">
                <a:solidFill>
                  <a:srgbClr val="102B46"/>
                </a:solidFill>
              </a:defRPr>
            </a:lvl8pPr>
            <a:lvl9pPr>
              <a:defRPr sz="3150" b="1">
                <a:solidFill>
                  <a:srgbClr val="102B46"/>
                </a:solidFill>
              </a:defRPr>
            </a:lvl9pPr>
          </a:lstStyle>
          <a:p xmlns:a="http://schemas.openxmlformats.org/drawingml/2006/main">
            <a:pPr>
              <a:defRPr sz="3150" b="1">
                <a:solidFill>
                  <a:srgbClr val="102B46"/>
                </a:solidFill>
              </a:defRPr>
            </a:pPr>
            <a:r>
              <a:rPr sz="3150" b="1">
                <a:solidFill>
                  <a:srgbClr val="102B46"/>
                </a:solidFill>
              </a:rPr>
              <a:t>研究の主張は条件と改善効果の対応に置く</a:t>
            </a:r>
          </a:p>
        </p:txBody>
      </p:sp>
      <p:sp>
        <p:nvSpPr>
          <p:cNvPr id="3" name="">
            <a:extLst xmlns:a="http://schemas.openxmlformats.org/drawingml/2006/main">
              <a:ext uri="{FF2B5EF4-FFF2-40B4-BE49-F238E27FC236}">
                <a16:creationId xmlns:a16="http://schemas.microsoft.com/office/drawing/2014/main" id="{47EEA733-404C-4E92-88AE-74B61C09D7AF}"/>
              </a:ext>
            </a:extLst>
          </p:cNvPr>
          <p:cNvSpPr>
            <a:spLocks xmlns:a="http://schemas.openxmlformats.org/drawingml/2006/main" noGrp="1"/>
          </p:cNvSpPr>
          <p:nvPr/>
        </p:nvSpPr>
        <p:spPr>
          <a:xfrm xmlns:a="http://schemas.openxmlformats.org/drawingml/2006/main">
            <a:off x="723900" y="1952625"/>
            <a:ext cx="1066800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625" b="1">
                <a:solidFill>
                  <a:srgbClr val="172B4D"/>
                </a:solidFill>
              </a:defRPr>
            </a:defPPr>
            <a:lvl1pPr>
              <a:defRPr sz="2625" b="1">
                <a:solidFill>
                  <a:srgbClr val="172B4D"/>
                </a:solidFill>
              </a:defRPr>
            </a:lvl1pPr>
            <a:lvl2pPr>
              <a:defRPr sz="2625" b="1">
                <a:solidFill>
                  <a:srgbClr val="172B4D"/>
                </a:solidFill>
              </a:defRPr>
            </a:lvl2pPr>
            <a:lvl3pPr>
              <a:defRPr sz="2625" b="1">
                <a:solidFill>
                  <a:srgbClr val="172B4D"/>
                </a:solidFill>
              </a:defRPr>
            </a:lvl3pPr>
            <a:lvl4pPr>
              <a:defRPr sz="2625" b="1">
                <a:solidFill>
                  <a:srgbClr val="172B4D"/>
                </a:solidFill>
              </a:defRPr>
            </a:lvl4pPr>
            <a:lvl5pPr>
              <a:defRPr sz="2625" b="1">
                <a:solidFill>
                  <a:srgbClr val="172B4D"/>
                </a:solidFill>
              </a:defRPr>
            </a:lvl5pPr>
            <a:lvl6pPr>
              <a:defRPr sz="2625" b="1">
                <a:solidFill>
                  <a:srgbClr val="172B4D"/>
                </a:solidFill>
              </a:defRPr>
            </a:lvl6pPr>
            <a:lvl7pPr>
              <a:defRPr sz="2625" b="1">
                <a:solidFill>
                  <a:srgbClr val="172B4D"/>
                </a:solidFill>
              </a:defRPr>
            </a:lvl7pPr>
            <a:lvl8pPr>
              <a:defRPr sz="2625" b="1">
                <a:solidFill>
                  <a:srgbClr val="172B4D"/>
                </a:solidFill>
              </a:defRPr>
            </a:lvl8pPr>
            <a:lvl9pPr>
              <a:defRPr sz="2625" b="1">
                <a:solidFill>
                  <a:srgbClr val="172B4D"/>
                </a:solidFill>
              </a:defRPr>
            </a:lvl9pPr>
          </a:lstStyle>
          <a:p xmlns:a="http://schemas.openxmlformats.org/drawingml/2006/main">
            <a:pPr>
              <a:defRPr sz="2625" b="1">
                <a:solidFill>
                  <a:srgbClr val="172B4D"/>
                </a:solidFill>
              </a:defRPr>
            </a:pPr>
            <a:r>
              <a:rPr sz="2625" b="1">
                <a:solidFill>
                  <a:srgbClr val="172B4D"/>
                </a:solidFill>
              </a:rPr>
              <a:t>目指す主張：この構造では、この仮定が崩れ、</a:t>
            </a:r>
          </a:p>
          <a:p xmlns:a="http://schemas.openxmlformats.org/drawingml/2006/main">
            <a:pPr>
              <a:defRPr sz="2625" b="1">
                <a:solidFill>
                  <a:srgbClr val="172B4D"/>
                </a:solidFill>
              </a:defRPr>
            </a:pPr>
            <a:r>
              <a:rPr sz="2625" b="1">
                <a:solidFill>
                  <a:srgbClr val="172B4D"/>
                </a:solidFill>
              </a:rPr>
              <a:t>この対策で失敗と分類誤りが減る</a:t>
            </a:r>
          </a:p>
        </p:txBody>
      </p:sp>
      <p:sp>
        <p:nvSpPr>
          <p:cNvPr id="4" name="">
            <a:extLst xmlns:a="http://schemas.openxmlformats.org/drawingml/2006/main">
              <a:ext uri="{FF2B5EF4-FFF2-40B4-BE49-F238E27FC236}">
                <a16:creationId xmlns:a16="http://schemas.microsoft.com/office/drawing/2014/main" id="{6A2E498C-AF7D-44ED-B25E-0A4991399E3F}"/>
              </a:ext>
            </a:extLst>
          </p:cNvPr>
          <p:cNvSpPr>
            <a:spLocks xmlns:a="http://schemas.openxmlformats.org/drawingml/2006/main" noGrp="1"/>
          </p:cNvSpPr>
          <p:nvPr/>
        </p:nvSpPr>
        <p:spPr>
          <a:xfrm xmlns:a="http://schemas.openxmlformats.org/drawingml/2006/main">
            <a:off x="723900" y="3943350"/>
            <a:ext cx="10668000" cy="1562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0">
                <a:solidFill>
                  <a:srgbClr val="336C81"/>
                </a:solidFill>
              </a:defRPr>
            </a:defPPr>
            <a:lvl1pPr>
              <a:defRPr sz="2250" b="0">
                <a:solidFill>
                  <a:srgbClr val="336C81"/>
                </a:solidFill>
              </a:defRPr>
            </a:lvl1pPr>
            <a:lvl2pPr>
              <a:defRPr sz="2250" b="0">
                <a:solidFill>
                  <a:srgbClr val="336C81"/>
                </a:solidFill>
              </a:defRPr>
            </a:lvl2pPr>
            <a:lvl3pPr>
              <a:defRPr sz="2250" b="0">
                <a:solidFill>
                  <a:srgbClr val="336C81"/>
                </a:solidFill>
              </a:defRPr>
            </a:lvl3pPr>
            <a:lvl4pPr>
              <a:defRPr sz="2250" b="0">
                <a:solidFill>
                  <a:srgbClr val="336C81"/>
                </a:solidFill>
              </a:defRPr>
            </a:lvl4pPr>
            <a:lvl5pPr>
              <a:defRPr sz="2250" b="0">
                <a:solidFill>
                  <a:srgbClr val="336C81"/>
                </a:solidFill>
              </a:defRPr>
            </a:lvl5pPr>
            <a:lvl6pPr>
              <a:defRPr sz="2250" b="0">
                <a:solidFill>
                  <a:srgbClr val="336C81"/>
                </a:solidFill>
              </a:defRPr>
            </a:lvl6pPr>
            <a:lvl7pPr>
              <a:defRPr sz="2250" b="0">
                <a:solidFill>
                  <a:srgbClr val="336C81"/>
                </a:solidFill>
              </a:defRPr>
            </a:lvl7pPr>
            <a:lvl8pPr>
              <a:defRPr sz="2250" b="0">
                <a:solidFill>
                  <a:srgbClr val="336C81"/>
                </a:solidFill>
              </a:defRPr>
            </a:lvl8pPr>
            <a:lvl9pPr>
              <a:defRPr sz="2250" b="0">
                <a:solidFill>
                  <a:srgbClr val="336C81"/>
                </a:solidFill>
              </a:defRPr>
            </a:lvl9pPr>
          </a:lstStyle>
          <a:p xmlns:a="http://schemas.openxmlformats.org/drawingml/2006/main">
            <a:pPr>
              <a:defRPr sz="2250" b="0">
                <a:solidFill>
                  <a:srgbClr val="336C81"/>
                </a:solidFill>
              </a:defRPr>
            </a:pPr>
            <a:r>
              <a:rPr sz="2250" b="0">
                <a:solidFill>
                  <a:srgbClr val="336C81"/>
                </a:solidFill>
              </a:rPr>
              <a:t>実施順：単純手法と対照群、複合手法、実データ</a:t>
            </a:r>
          </a:p>
          <a:p xmlns:a="http://schemas.openxmlformats.org/drawingml/2006/main">
            <a:pPr>
              <a:defRPr sz="2250" b="0">
                <a:solidFill>
                  <a:srgbClr val="336C81"/>
                </a:solidFill>
              </a:defRPr>
            </a:pPr>
            <a:r>
              <a:rPr sz="2250" b="0">
                <a:solidFill>
                  <a:srgbClr val="336C81"/>
                </a:solidFill>
              </a:rPr>
              <a:t>新規性は関連研究の確認後に位置づける</a:t>
            </a:r>
          </a:p>
        </p:txBody>
      </p:sp>
      <p:sp>
        <p:nvSpPr>
          <p:cNvPr id="5" name="">
            <a:extLst xmlns:a="http://schemas.openxmlformats.org/drawingml/2006/main">
              <a:ext uri="{FF2B5EF4-FFF2-40B4-BE49-F238E27FC236}">
                <a16:creationId xmlns:a16="http://schemas.microsoft.com/office/drawing/2014/main" id="{0CC21EBF-685E-4D44-9B99-166F946E8E1C}"/>
              </a:ext>
            </a:extLst>
          </p:cNvPr>
          <p:cNvSpPr>
            <a:spLocks xmlns:a="http://schemas.openxmlformats.org/drawingml/2006/main" noGrp="1"/>
          </p:cNvSpPr>
          <p:nvPr/>
        </p:nvSpPr>
        <p:spPr>
          <a:xfrm xmlns:a="http://schemas.openxmlformats.org/drawingml/2006/main">
            <a:off x="11144250" y="6276975"/>
            <a:ext cx="5238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6B7F90"/>
                </a:solidFill>
              </a:defRPr>
            </a:defPPr>
            <a:lvl1pPr>
              <a:defRPr sz="1350" b="0">
                <a:solidFill>
                  <a:srgbClr val="6B7F90"/>
                </a:solidFill>
              </a:defRPr>
            </a:lvl1pPr>
            <a:lvl2pPr>
              <a:defRPr sz="1350" b="0">
                <a:solidFill>
                  <a:srgbClr val="6B7F90"/>
                </a:solidFill>
              </a:defRPr>
            </a:lvl2pPr>
            <a:lvl3pPr>
              <a:defRPr sz="1350" b="0">
                <a:solidFill>
                  <a:srgbClr val="6B7F90"/>
                </a:solidFill>
              </a:defRPr>
            </a:lvl3pPr>
            <a:lvl4pPr>
              <a:defRPr sz="1350" b="0">
                <a:solidFill>
                  <a:srgbClr val="6B7F90"/>
                </a:solidFill>
              </a:defRPr>
            </a:lvl4pPr>
            <a:lvl5pPr>
              <a:defRPr sz="1350" b="0">
                <a:solidFill>
                  <a:srgbClr val="6B7F90"/>
                </a:solidFill>
              </a:defRPr>
            </a:lvl5pPr>
            <a:lvl6pPr>
              <a:defRPr sz="1350" b="0">
                <a:solidFill>
                  <a:srgbClr val="6B7F90"/>
                </a:solidFill>
              </a:defRPr>
            </a:lvl6pPr>
            <a:lvl7pPr>
              <a:defRPr sz="1350" b="0">
                <a:solidFill>
                  <a:srgbClr val="6B7F90"/>
                </a:solidFill>
              </a:defRPr>
            </a:lvl7pPr>
            <a:lvl8pPr>
              <a:defRPr sz="1350" b="0">
                <a:solidFill>
                  <a:srgbClr val="6B7F90"/>
                </a:solidFill>
              </a:defRPr>
            </a:lvl8pPr>
            <a:lvl9pPr>
              <a:defRPr sz="1350" b="0">
                <a:solidFill>
                  <a:srgbClr val="6B7F90"/>
                </a:solidFill>
              </a:defRPr>
            </a:lvl9pPr>
          </a:lstStyle>
          <a:p xmlns:a="http://schemas.openxmlformats.org/drawingml/2006/main">
            <a:pPr>
              <a:defRPr sz="1350" b="0">
                <a:solidFill>
                  <a:srgbClr val="6B7F90"/>
                </a:solidFill>
              </a:defRPr>
            </a:pPr>
            <a:r>
              <a:rPr sz="1350" b="0">
                <a:solidFill>
                  <a:srgbClr val="6B7F90"/>
                </a:solidFill>
              </a:rPr>
              <a:t>26</a:t>
            </a:r>
          </a:p>
        </p:txBody>
      </p:sp>
    </p:spTree>
    <p:extLst>
      <p:ext uri="{BB962C8B-B14F-4D97-AF65-F5344CB8AC3E}">
        <p14:creationId xmlns:p14="http://schemas.microsoft.com/office/powerpoint/2010/main" val="1686535227"/>
      </p:ext>
    </p:extLst>
  </p:cSld>
</p:sld>
</file>

<file path=ppt/slides/slide27.xml><?xml version="1.0" encoding="utf-8"?>
<p:sld xmlns:p="http://schemas.openxmlformats.org/presentationml/2006/main">
  <p:cSld>
    <p:bg>
      <p:bgPr>
        <a:solidFill xmlns:a="http://schemas.openxmlformats.org/drawingml/2006/main">
          <a:srgbClr val="FAFBFD"/>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E7A6ED1A-B95C-4D53-B588-49ED2A11202B}"/>
              </a:ext>
            </a:extLst>
          </p:cNvPr>
          <p:cNvSpPr>
            <a:spLocks xmlns:a="http://schemas.openxmlformats.org/drawingml/2006/main" noGrp="1"/>
          </p:cNvSpPr>
          <p:nvPr/>
        </p:nvSpPr>
        <p:spPr>
          <a:xfrm xmlns:a="http://schemas.openxmlformats.org/drawingml/2006/main">
            <a:off x="685800" y="495300"/>
            <a:ext cx="10858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150" b="1">
                <a:solidFill>
                  <a:srgbClr val="102B46"/>
                </a:solidFill>
              </a:defRPr>
            </a:defPPr>
            <a:lvl1pPr>
              <a:defRPr sz="3150" b="1">
                <a:solidFill>
                  <a:srgbClr val="102B46"/>
                </a:solidFill>
              </a:defRPr>
            </a:lvl1pPr>
            <a:lvl2pPr>
              <a:defRPr sz="3150" b="1">
                <a:solidFill>
                  <a:srgbClr val="102B46"/>
                </a:solidFill>
              </a:defRPr>
            </a:lvl2pPr>
            <a:lvl3pPr>
              <a:defRPr sz="3150" b="1">
                <a:solidFill>
                  <a:srgbClr val="102B46"/>
                </a:solidFill>
              </a:defRPr>
            </a:lvl3pPr>
            <a:lvl4pPr>
              <a:defRPr sz="3150" b="1">
                <a:solidFill>
                  <a:srgbClr val="102B46"/>
                </a:solidFill>
              </a:defRPr>
            </a:lvl4pPr>
            <a:lvl5pPr>
              <a:defRPr sz="3150" b="1">
                <a:solidFill>
                  <a:srgbClr val="102B46"/>
                </a:solidFill>
              </a:defRPr>
            </a:lvl5pPr>
            <a:lvl6pPr>
              <a:defRPr sz="3150" b="1">
                <a:solidFill>
                  <a:srgbClr val="102B46"/>
                </a:solidFill>
              </a:defRPr>
            </a:lvl6pPr>
            <a:lvl7pPr>
              <a:defRPr sz="3150" b="1">
                <a:solidFill>
                  <a:srgbClr val="102B46"/>
                </a:solidFill>
              </a:defRPr>
            </a:lvl7pPr>
            <a:lvl8pPr>
              <a:defRPr sz="3150" b="1">
                <a:solidFill>
                  <a:srgbClr val="102B46"/>
                </a:solidFill>
              </a:defRPr>
            </a:lvl8pPr>
            <a:lvl9pPr>
              <a:defRPr sz="3150" b="1">
                <a:solidFill>
                  <a:srgbClr val="102B46"/>
                </a:solidFill>
              </a:defRPr>
            </a:lvl9pPr>
          </a:lstStyle>
          <a:p xmlns:a="http://schemas.openxmlformats.org/drawingml/2006/main">
            <a:pPr>
              <a:defRPr sz="3150" b="1">
                <a:solidFill>
                  <a:srgbClr val="102B46"/>
                </a:solidFill>
              </a:defRPr>
            </a:pPr>
            <a:r>
              <a:rPr sz="3150" b="1">
                <a:solidFill>
                  <a:srgbClr val="102B46"/>
                </a:solidFill>
              </a:rPr>
              <a:t>発表全体の結論</a:t>
            </a:r>
          </a:p>
        </p:txBody>
      </p:sp>
      <p:sp>
        <p:nvSpPr>
          <p:cNvPr id="3" name="">
            <a:extLst xmlns:a="http://schemas.openxmlformats.org/drawingml/2006/main">
              <a:ext uri="{FF2B5EF4-FFF2-40B4-BE49-F238E27FC236}">
                <a16:creationId xmlns:a16="http://schemas.microsoft.com/office/drawing/2014/main" id="{702B3E2F-7C9A-4825-949E-09B8281AA14B}"/>
              </a:ext>
            </a:extLst>
          </p:cNvPr>
          <p:cNvSpPr>
            <a:spLocks xmlns:a="http://schemas.openxmlformats.org/drawingml/2006/main" noGrp="1"/>
          </p:cNvSpPr>
          <p:nvPr/>
        </p:nvSpPr>
        <p:spPr>
          <a:xfrm xmlns:a="http://schemas.openxmlformats.org/drawingml/2006/main">
            <a:off x="723900" y="1952625"/>
            <a:ext cx="1066800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625" b="1">
                <a:solidFill>
                  <a:srgbClr val="172B4D"/>
                </a:solidFill>
              </a:defRPr>
            </a:defPPr>
            <a:lvl1pPr>
              <a:defRPr sz="2625" b="1">
                <a:solidFill>
                  <a:srgbClr val="172B4D"/>
                </a:solidFill>
              </a:defRPr>
            </a:lvl1pPr>
            <a:lvl2pPr>
              <a:defRPr sz="2625" b="1">
                <a:solidFill>
                  <a:srgbClr val="172B4D"/>
                </a:solidFill>
              </a:defRPr>
            </a:lvl2pPr>
            <a:lvl3pPr>
              <a:defRPr sz="2625" b="1">
                <a:solidFill>
                  <a:srgbClr val="172B4D"/>
                </a:solidFill>
              </a:defRPr>
            </a:lvl3pPr>
            <a:lvl4pPr>
              <a:defRPr sz="2625" b="1">
                <a:solidFill>
                  <a:srgbClr val="172B4D"/>
                </a:solidFill>
              </a:defRPr>
            </a:lvl4pPr>
            <a:lvl5pPr>
              <a:defRPr sz="2625" b="1">
                <a:solidFill>
                  <a:srgbClr val="172B4D"/>
                </a:solidFill>
              </a:defRPr>
            </a:lvl5pPr>
            <a:lvl6pPr>
              <a:defRPr sz="2625" b="1">
                <a:solidFill>
                  <a:srgbClr val="172B4D"/>
                </a:solidFill>
              </a:defRPr>
            </a:lvl6pPr>
            <a:lvl7pPr>
              <a:defRPr sz="2625" b="1">
                <a:solidFill>
                  <a:srgbClr val="172B4D"/>
                </a:solidFill>
              </a:defRPr>
            </a:lvl7pPr>
            <a:lvl8pPr>
              <a:defRPr sz="2625" b="1">
                <a:solidFill>
                  <a:srgbClr val="172B4D"/>
                </a:solidFill>
              </a:defRPr>
            </a:lvl8pPr>
            <a:lvl9pPr>
              <a:defRPr sz="2625" b="1">
                <a:solidFill>
                  <a:srgbClr val="172B4D"/>
                </a:solidFill>
              </a:defRPr>
            </a:lvl9pPr>
          </a:lstStyle>
          <a:p xmlns:a="http://schemas.openxmlformats.org/drawingml/2006/main">
            <a:pPr>
              <a:defRPr sz="2625" b="1">
                <a:solidFill>
                  <a:srgbClr val="172B4D"/>
                </a:solidFill>
              </a:defRPr>
            </a:pPr>
            <a:r>
              <a:rPr sz="2625" b="1">
                <a:solidFill>
                  <a:srgbClr val="172B4D"/>
                </a:solidFill>
              </a:rPr>
              <a:t>少数例不足と損失の偏りを分けることで、</a:t>
            </a:r>
          </a:p>
          <a:p xmlns:a="http://schemas.openxmlformats.org/drawingml/2006/main">
            <a:pPr>
              <a:defRPr sz="2625" b="1">
                <a:solidFill>
                  <a:srgbClr val="172B4D"/>
                </a:solidFill>
              </a:defRPr>
            </a:pPr>
            <a:r>
              <a:rPr sz="2625" b="1">
                <a:solidFill>
                  <a:srgbClr val="172B4D"/>
                </a:solidFill>
              </a:rPr>
              <a:t>生成が必要な理由を検証できる</a:t>
            </a:r>
          </a:p>
        </p:txBody>
      </p:sp>
      <p:sp>
        <p:nvSpPr>
          <p:cNvPr id="4" name="">
            <a:extLst xmlns:a="http://schemas.openxmlformats.org/drawingml/2006/main">
              <a:ext uri="{FF2B5EF4-FFF2-40B4-BE49-F238E27FC236}">
                <a16:creationId xmlns:a16="http://schemas.microsoft.com/office/drawing/2014/main" id="{DA4B5C74-9A0B-45EA-A849-8324156D21F6}"/>
              </a:ext>
            </a:extLst>
          </p:cNvPr>
          <p:cNvSpPr>
            <a:spLocks xmlns:a="http://schemas.openxmlformats.org/drawingml/2006/main" noGrp="1"/>
          </p:cNvSpPr>
          <p:nvPr/>
        </p:nvSpPr>
        <p:spPr>
          <a:xfrm xmlns:a="http://schemas.openxmlformats.org/drawingml/2006/main">
            <a:off x="723900" y="3943350"/>
            <a:ext cx="10668000" cy="1562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0">
                <a:solidFill>
                  <a:srgbClr val="336C81"/>
                </a:solidFill>
              </a:defRPr>
            </a:defPPr>
            <a:lvl1pPr>
              <a:defRPr sz="2250" b="0">
                <a:solidFill>
                  <a:srgbClr val="336C81"/>
                </a:solidFill>
              </a:defRPr>
            </a:lvl1pPr>
            <a:lvl2pPr>
              <a:defRPr sz="2250" b="0">
                <a:solidFill>
                  <a:srgbClr val="336C81"/>
                </a:solidFill>
              </a:defRPr>
            </a:lvl2pPr>
            <a:lvl3pPr>
              <a:defRPr sz="2250" b="0">
                <a:solidFill>
                  <a:srgbClr val="336C81"/>
                </a:solidFill>
              </a:defRPr>
            </a:lvl3pPr>
            <a:lvl4pPr>
              <a:defRPr sz="2250" b="0">
                <a:solidFill>
                  <a:srgbClr val="336C81"/>
                </a:solidFill>
              </a:defRPr>
            </a:lvl4pPr>
            <a:lvl5pPr>
              <a:defRPr sz="2250" b="0">
                <a:solidFill>
                  <a:srgbClr val="336C81"/>
                </a:solidFill>
              </a:defRPr>
            </a:lvl5pPr>
            <a:lvl6pPr>
              <a:defRPr sz="2250" b="0">
                <a:solidFill>
                  <a:srgbClr val="336C81"/>
                </a:solidFill>
              </a:defRPr>
            </a:lvl6pPr>
            <a:lvl7pPr>
              <a:defRPr sz="2250" b="0">
                <a:solidFill>
                  <a:srgbClr val="336C81"/>
                </a:solidFill>
              </a:defRPr>
            </a:lvl7pPr>
            <a:lvl8pPr>
              <a:defRPr sz="2250" b="0">
                <a:solidFill>
                  <a:srgbClr val="336C81"/>
                </a:solidFill>
              </a:defRPr>
            </a:lvl8pPr>
            <a:lvl9pPr>
              <a:defRPr sz="2250" b="0">
                <a:solidFill>
                  <a:srgbClr val="336C81"/>
                </a:solidFill>
              </a:defRPr>
            </a:lvl9pPr>
          </a:lstStyle>
          <a:p xmlns:a="http://schemas.openxmlformats.org/drawingml/2006/main">
            <a:pPr>
              <a:defRPr sz="2250" b="0">
                <a:solidFill>
                  <a:srgbClr val="336C81"/>
                </a:solidFill>
              </a:defRPr>
            </a:pPr>
            <a:r>
              <a:rPr sz="2250" b="0">
                <a:solidFill>
                  <a:srgbClr val="336C81"/>
                </a:solidFill>
              </a:rPr>
              <a:t>生成法の仮定から失敗条件を導き、</a:t>
            </a:r>
          </a:p>
          <a:p xmlns:a="http://schemas.openxmlformats.org/drawingml/2006/main">
            <a:pPr>
              <a:defRPr sz="2250" b="0">
                <a:solidFill>
                  <a:srgbClr val="336C81"/>
                </a:solidFill>
              </a:defRPr>
            </a:pPr>
            <a:r>
              <a:rPr sz="2250" b="0">
                <a:solidFill>
                  <a:srgbClr val="336C81"/>
                </a:solidFill>
              </a:rPr>
              <a:t>原因に対応した改善を対照実験で確かめる</a:t>
            </a:r>
          </a:p>
        </p:txBody>
      </p:sp>
      <p:sp>
        <p:nvSpPr>
          <p:cNvPr id="5" name="">
            <a:extLst xmlns:a="http://schemas.openxmlformats.org/drawingml/2006/main">
              <a:ext uri="{FF2B5EF4-FFF2-40B4-BE49-F238E27FC236}">
                <a16:creationId xmlns:a16="http://schemas.microsoft.com/office/drawing/2014/main" id="{8F1D4D44-0995-45B0-8545-9BB716962271}"/>
              </a:ext>
            </a:extLst>
          </p:cNvPr>
          <p:cNvSpPr>
            <a:spLocks xmlns:a="http://schemas.openxmlformats.org/drawingml/2006/main" noGrp="1"/>
          </p:cNvSpPr>
          <p:nvPr/>
        </p:nvSpPr>
        <p:spPr>
          <a:xfrm xmlns:a="http://schemas.openxmlformats.org/drawingml/2006/main">
            <a:off x="11144250" y="6276975"/>
            <a:ext cx="5238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6B7F90"/>
                </a:solidFill>
              </a:defRPr>
            </a:defPPr>
            <a:lvl1pPr>
              <a:defRPr sz="1350" b="0">
                <a:solidFill>
                  <a:srgbClr val="6B7F90"/>
                </a:solidFill>
              </a:defRPr>
            </a:lvl1pPr>
            <a:lvl2pPr>
              <a:defRPr sz="1350" b="0">
                <a:solidFill>
                  <a:srgbClr val="6B7F90"/>
                </a:solidFill>
              </a:defRPr>
            </a:lvl2pPr>
            <a:lvl3pPr>
              <a:defRPr sz="1350" b="0">
                <a:solidFill>
                  <a:srgbClr val="6B7F90"/>
                </a:solidFill>
              </a:defRPr>
            </a:lvl3pPr>
            <a:lvl4pPr>
              <a:defRPr sz="1350" b="0">
                <a:solidFill>
                  <a:srgbClr val="6B7F90"/>
                </a:solidFill>
              </a:defRPr>
            </a:lvl4pPr>
            <a:lvl5pPr>
              <a:defRPr sz="1350" b="0">
                <a:solidFill>
                  <a:srgbClr val="6B7F90"/>
                </a:solidFill>
              </a:defRPr>
            </a:lvl5pPr>
            <a:lvl6pPr>
              <a:defRPr sz="1350" b="0">
                <a:solidFill>
                  <a:srgbClr val="6B7F90"/>
                </a:solidFill>
              </a:defRPr>
            </a:lvl6pPr>
            <a:lvl7pPr>
              <a:defRPr sz="1350" b="0">
                <a:solidFill>
                  <a:srgbClr val="6B7F90"/>
                </a:solidFill>
              </a:defRPr>
            </a:lvl7pPr>
            <a:lvl8pPr>
              <a:defRPr sz="1350" b="0">
                <a:solidFill>
                  <a:srgbClr val="6B7F90"/>
                </a:solidFill>
              </a:defRPr>
            </a:lvl8pPr>
            <a:lvl9pPr>
              <a:defRPr sz="1350" b="0">
                <a:solidFill>
                  <a:srgbClr val="6B7F90"/>
                </a:solidFill>
              </a:defRPr>
            </a:lvl9pPr>
          </a:lstStyle>
          <a:p xmlns:a="http://schemas.openxmlformats.org/drawingml/2006/main">
            <a:pPr>
              <a:defRPr sz="1350" b="0">
                <a:solidFill>
                  <a:srgbClr val="6B7F90"/>
                </a:solidFill>
              </a:defRPr>
            </a:pPr>
            <a:r>
              <a:rPr sz="1350" b="0">
                <a:solidFill>
                  <a:srgbClr val="6B7F90"/>
                </a:solidFill>
              </a:rPr>
              <a:t>27</a:t>
            </a:r>
          </a:p>
        </p:txBody>
      </p:sp>
    </p:spTree>
    <p:extLst>
      <p:ext uri="{BB962C8B-B14F-4D97-AF65-F5344CB8AC3E}">
        <p14:creationId xmlns:p14="http://schemas.microsoft.com/office/powerpoint/2010/main" val="106367766"/>
      </p:ext>
    </p:extLst>
  </p:cSld>
</p:sld>
</file>

<file path=ppt/slides/slide28.xml><?xml version="1.0" encoding="utf-8"?>
<p:sld xmlns:p="http://schemas.openxmlformats.org/presentationml/2006/main">
  <p:cSld>
    <p:bg>
      <p:bgPr>
        <a:solidFill xmlns:a="http://schemas.openxmlformats.org/drawingml/2006/main">
          <a:srgbClr val="FAFBFD"/>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1B818686-69DE-4552-B8B6-CCDC3CD769A5}"/>
              </a:ext>
            </a:extLst>
          </p:cNvPr>
          <p:cNvSpPr>
            <a:spLocks xmlns:a="http://schemas.openxmlformats.org/drawingml/2006/main" noGrp="1"/>
          </p:cNvSpPr>
          <p:nvPr/>
        </p:nvSpPr>
        <p:spPr>
          <a:xfrm xmlns:a="http://schemas.openxmlformats.org/drawingml/2006/main">
            <a:off x="685800" y="495300"/>
            <a:ext cx="10858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150" b="1">
                <a:solidFill>
                  <a:srgbClr val="102B46"/>
                </a:solidFill>
              </a:defRPr>
            </a:defPPr>
            <a:lvl1pPr>
              <a:defRPr sz="3150" b="1">
                <a:solidFill>
                  <a:srgbClr val="102B46"/>
                </a:solidFill>
              </a:defRPr>
            </a:lvl1pPr>
            <a:lvl2pPr>
              <a:defRPr sz="3150" b="1">
                <a:solidFill>
                  <a:srgbClr val="102B46"/>
                </a:solidFill>
              </a:defRPr>
            </a:lvl2pPr>
            <a:lvl3pPr>
              <a:defRPr sz="3150" b="1">
                <a:solidFill>
                  <a:srgbClr val="102B46"/>
                </a:solidFill>
              </a:defRPr>
            </a:lvl3pPr>
            <a:lvl4pPr>
              <a:defRPr sz="3150" b="1">
                <a:solidFill>
                  <a:srgbClr val="102B46"/>
                </a:solidFill>
              </a:defRPr>
            </a:lvl4pPr>
            <a:lvl5pPr>
              <a:defRPr sz="3150" b="1">
                <a:solidFill>
                  <a:srgbClr val="102B46"/>
                </a:solidFill>
              </a:defRPr>
            </a:lvl5pPr>
            <a:lvl6pPr>
              <a:defRPr sz="3150" b="1">
                <a:solidFill>
                  <a:srgbClr val="102B46"/>
                </a:solidFill>
              </a:defRPr>
            </a:lvl6pPr>
            <a:lvl7pPr>
              <a:defRPr sz="3150" b="1">
                <a:solidFill>
                  <a:srgbClr val="102B46"/>
                </a:solidFill>
              </a:defRPr>
            </a:lvl7pPr>
            <a:lvl8pPr>
              <a:defRPr sz="3150" b="1">
                <a:solidFill>
                  <a:srgbClr val="102B46"/>
                </a:solidFill>
              </a:defRPr>
            </a:lvl8pPr>
            <a:lvl9pPr>
              <a:defRPr sz="3150" b="1">
                <a:solidFill>
                  <a:srgbClr val="102B46"/>
                </a:solidFill>
              </a:defRPr>
            </a:lvl9pPr>
          </a:lstStyle>
          <a:p xmlns:a="http://schemas.openxmlformats.org/drawingml/2006/main">
            <a:pPr>
              <a:defRPr sz="3150" b="1">
                <a:solidFill>
                  <a:srgbClr val="102B46"/>
                </a:solidFill>
              </a:defRPr>
            </a:pPr>
            <a:r>
              <a:rPr sz="3150" b="1">
                <a:solidFill>
                  <a:srgbClr val="102B46"/>
                </a:solidFill>
              </a:rPr>
              <a:t>補足：出典と確認状況</a:t>
            </a:r>
          </a:p>
        </p:txBody>
      </p:sp>
      <p:sp>
        <p:nvSpPr>
          <p:cNvPr id="3" name="">
            <a:extLst xmlns:a="http://schemas.openxmlformats.org/drawingml/2006/main">
              <a:ext uri="{FF2B5EF4-FFF2-40B4-BE49-F238E27FC236}">
                <a16:creationId xmlns:a16="http://schemas.microsoft.com/office/drawing/2014/main" id="{C365B4EF-76E0-4D7A-A377-1AB075D6DA80}"/>
              </a:ext>
            </a:extLst>
          </p:cNvPr>
          <p:cNvSpPr>
            <a:spLocks xmlns:a="http://schemas.openxmlformats.org/drawingml/2006/main" noGrp="1"/>
          </p:cNvSpPr>
          <p:nvPr/>
        </p:nvSpPr>
        <p:spPr>
          <a:xfrm xmlns:a="http://schemas.openxmlformats.org/drawingml/2006/main">
            <a:off x="723900" y="1952625"/>
            <a:ext cx="1066800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625" b="1">
                <a:solidFill>
                  <a:srgbClr val="172B4D"/>
                </a:solidFill>
              </a:defRPr>
            </a:defPPr>
            <a:lvl1pPr>
              <a:defRPr sz="2625" b="1">
                <a:solidFill>
                  <a:srgbClr val="172B4D"/>
                </a:solidFill>
              </a:defRPr>
            </a:lvl1pPr>
            <a:lvl2pPr>
              <a:defRPr sz="2625" b="1">
                <a:solidFill>
                  <a:srgbClr val="172B4D"/>
                </a:solidFill>
              </a:defRPr>
            </a:lvl2pPr>
            <a:lvl3pPr>
              <a:defRPr sz="2625" b="1">
                <a:solidFill>
                  <a:srgbClr val="172B4D"/>
                </a:solidFill>
              </a:defRPr>
            </a:lvl3pPr>
            <a:lvl4pPr>
              <a:defRPr sz="2625" b="1">
                <a:solidFill>
                  <a:srgbClr val="172B4D"/>
                </a:solidFill>
              </a:defRPr>
            </a:lvl4pPr>
            <a:lvl5pPr>
              <a:defRPr sz="2625" b="1">
                <a:solidFill>
                  <a:srgbClr val="172B4D"/>
                </a:solidFill>
              </a:defRPr>
            </a:lvl5pPr>
            <a:lvl6pPr>
              <a:defRPr sz="2625" b="1">
                <a:solidFill>
                  <a:srgbClr val="172B4D"/>
                </a:solidFill>
              </a:defRPr>
            </a:lvl6pPr>
            <a:lvl7pPr>
              <a:defRPr sz="2625" b="1">
                <a:solidFill>
                  <a:srgbClr val="172B4D"/>
                </a:solidFill>
              </a:defRPr>
            </a:lvl7pPr>
            <a:lvl8pPr>
              <a:defRPr sz="2625" b="1">
                <a:solidFill>
                  <a:srgbClr val="172B4D"/>
                </a:solidFill>
              </a:defRPr>
            </a:lvl8pPr>
            <a:lvl9pPr>
              <a:defRPr sz="2625" b="1">
                <a:solidFill>
                  <a:srgbClr val="172B4D"/>
                </a:solidFill>
              </a:defRPr>
            </a:lvl9pPr>
          </a:lstStyle>
          <a:p xmlns:a="http://schemas.openxmlformats.org/drawingml/2006/main">
            <a:pPr>
              <a:defRPr sz="2625" b="1">
                <a:solidFill>
                  <a:srgbClr val="172B4D"/>
                </a:solidFill>
              </a:defRPr>
            </a:pPr>
            <a:r>
              <a:rPr sz="2625" b="1">
                <a:solidFill>
                  <a:srgbClr val="172B4D"/>
                </a:solidFill>
              </a:rPr>
              <a:t>SMOTE：Chawla et al., JAIR, 2002</a:t>
            </a:r>
          </a:p>
          <a:p xmlns:a="http://schemas.openxmlformats.org/drawingml/2006/main">
            <a:pPr>
              <a:defRPr sz="2625" b="1">
                <a:solidFill>
                  <a:srgbClr val="172B4D"/>
                </a:solidFill>
              </a:defRPr>
            </a:pPr>
            <a:r>
              <a:rPr sz="2625" b="1">
                <a:solidFill>
                  <a:srgbClr val="172B4D"/>
                </a:solidFill>
              </a:rPr>
              <a:t>CTGAN：Xu et al., NeurIPS, 2019</a:t>
            </a:r>
          </a:p>
        </p:txBody>
      </p:sp>
      <p:sp>
        <p:nvSpPr>
          <p:cNvPr id="4" name="">
            <a:extLst xmlns:a="http://schemas.openxmlformats.org/drawingml/2006/main">
              <a:ext uri="{FF2B5EF4-FFF2-40B4-BE49-F238E27FC236}">
                <a16:creationId xmlns:a16="http://schemas.microsoft.com/office/drawing/2014/main" id="{1E79CF2A-9DBC-4798-8482-961422E5AB96}"/>
              </a:ext>
            </a:extLst>
          </p:cNvPr>
          <p:cNvSpPr>
            <a:spLocks xmlns:a="http://schemas.openxmlformats.org/drawingml/2006/main" noGrp="1"/>
          </p:cNvSpPr>
          <p:nvPr/>
        </p:nvSpPr>
        <p:spPr>
          <a:xfrm xmlns:a="http://schemas.openxmlformats.org/drawingml/2006/main">
            <a:off x="723900" y="3943350"/>
            <a:ext cx="10668000" cy="1562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0">
                <a:solidFill>
                  <a:srgbClr val="336C81"/>
                </a:solidFill>
              </a:defRPr>
            </a:defPPr>
            <a:lvl1pPr>
              <a:defRPr sz="2250" b="0">
                <a:solidFill>
                  <a:srgbClr val="336C81"/>
                </a:solidFill>
              </a:defRPr>
            </a:lvl1pPr>
            <a:lvl2pPr>
              <a:defRPr sz="2250" b="0">
                <a:solidFill>
                  <a:srgbClr val="336C81"/>
                </a:solidFill>
              </a:defRPr>
            </a:lvl2pPr>
            <a:lvl3pPr>
              <a:defRPr sz="2250" b="0">
                <a:solidFill>
                  <a:srgbClr val="336C81"/>
                </a:solidFill>
              </a:defRPr>
            </a:lvl3pPr>
            <a:lvl4pPr>
              <a:defRPr sz="2250" b="0">
                <a:solidFill>
                  <a:srgbClr val="336C81"/>
                </a:solidFill>
              </a:defRPr>
            </a:lvl4pPr>
            <a:lvl5pPr>
              <a:defRPr sz="2250" b="0">
                <a:solidFill>
                  <a:srgbClr val="336C81"/>
                </a:solidFill>
              </a:defRPr>
            </a:lvl5pPr>
            <a:lvl6pPr>
              <a:defRPr sz="2250" b="0">
                <a:solidFill>
                  <a:srgbClr val="336C81"/>
                </a:solidFill>
              </a:defRPr>
            </a:lvl6pPr>
            <a:lvl7pPr>
              <a:defRPr sz="2250" b="0">
                <a:solidFill>
                  <a:srgbClr val="336C81"/>
                </a:solidFill>
              </a:defRPr>
            </a:lvl7pPr>
            <a:lvl8pPr>
              <a:defRPr sz="2250" b="0">
                <a:solidFill>
                  <a:srgbClr val="336C81"/>
                </a:solidFill>
              </a:defRPr>
            </a:lvl8pPr>
            <a:lvl9pPr>
              <a:defRPr sz="2250" b="0">
                <a:solidFill>
                  <a:srgbClr val="336C81"/>
                </a:solidFill>
              </a:defRPr>
            </a:lvl9pPr>
          </a:lstStyle>
          <a:p xmlns:a="http://schemas.openxmlformats.org/drawingml/2006/main">
            <a:pPr>
              <a:defRPr sz="2250" b="0">
                <a:solidFill>
                  <a:srgbClr val="336C81"/>
                </a:solidFill>
              </a:defRPr>
            </a:pPr>
            <a:r>
              <a:rPr sz="2250" b="0">
                <a:solidFill>
                  <a:srgbClr val="336C81"/>
                </a:solidFill>
              </a:rPr>
              <a:t>SDV・imbalanced-learn公式ドキュメント</a:t>
            </a:r>
          </a:p>
          <a:p xmlns:a="http://schemas.openxmlformats.org/drawingml/2006/main">
            <a:pPr>
              <a:defRPr sz="2250" b="0">
                <a:solidFill>
                  <a:srgbClr val="336C81"/>
                </a:solidFill>
              </a:defRPr>
            </a:pPr>
            <a:r>
              <a:rPr sz="2250" b="0">
                <a:solidFill>
                  <a:srgbClr val="336C81"/>
                </a:solidFill>
              </a:rPr>
              <a:t>共有論文は本文未確認のため内容を引用していない</a:t>
            </a:r>
          </a:p>
        </p:txBody>
      </p:sp>
      <p:sp>
        <p:nvSpPr>
          <p:cNvPr id="5" name="">
            <a:extLst xmlns:a="http://schemas.openxmlformats.org/drawingml/2006/main">
              <a:ext uri="{FF2B5EF4-FFF2-40B4-BE49-F238E27FC236}">
                <a16:creationId xmlns:a16="http://schemas.microsoft.com/office/drawing/2014/main" id="{3A93A2B4-9930-4BF9-833A-10823DC699E9}"/>
              </a:ext>
            </a:extLst>
          </p:cNvPr>
          <p:cNvSpPr>
            <a:spLocks xmlns:a="http://schemas.openxmlformats.org/drawingml/2006/main" noGrp="1"/>
          </p:cNvSpPr>
          <p:nvPr/>
        </p:nvSpPr>
        <p:spPr>
          <a:xfrm xmlns:a="http://schemas.openxmlformats.org/drawingml/2006/main">
            <a:off x="11144250" y="6276975"/>
            <a:ext cx="5238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6B7F90"/>
                </a:solidFill>
              </a:defRPr>
            </a:defPPr>
            <a:lvl1pPr>
              <a:defRPr sz="1350" b="0">
                <a:solidFill>
                  <a:srgbClr val="6B7F90"/>
                </a:solidFill>
              </a:defRPr>
            </a:lvl1pPr>
            <a:lvl2pPr>
              <a:defRPr sz="1350" b="0">
                <a:solidFill>
                  <a:srgbClr val="6B7F90"/>
                </a:solidFill>
              </a:defRPr>
            </a:lvl2pPr>
            <a:lvl3pPr>
              <a:defRPr sz="1350" b="0">
                <a:solidFill>
                  <a:srgbClr val="6B7F90"/>
                </a:solidFill>
              </a:defRPr>
            </a:lvl3pPr>
            <a:lvl4pPr>
              <a:defRPr sz="1350" b="0">
                <a:solidFill>
                  <a:srgbClr val="6B7F90"/>
                </a:solidFill>
              </a:defRPr>
            </a:lvl4pPr>
            <a:lvl5pPr>
              <a:defRPr sz="1350" b="0">
                <a:solidFill>
                  <a:srgbClr val="6B7F90"/>
                </a:solidFill>
              </a:defRPr>
            </a:lvl5pPr>
            <a:lvl6pPr>
              <a:defRPr sz="1350" b="0">
                <a:solidFill>
                  <a:srgbClr val="6B7F90"/>
                </a:solidFill>
              </a:defRPr>
            </a:lvl6pPr>
            <a:lvl7pPr>
              <a:defRPr sz="1350" b="0">
                <a:solidFill>
                  <a:srgbClr val="6B7F90"/>
                </a:solidFill>
              </a:defRPr>
            </a:lvl7pPr>
            <a:lvl8pPr>
              <a:defRPr sz="1350" b="0">
                <a:solidFill>
                  <a:srgbClr val="6B7F90"/>
                </a:solidFill>
              </a:defRPr>
            </a:lvl8pPr>
            <a:lvl9pPr>
              <a:defRPr sz="1350" b="0">
                <a:solidFill>
                  <a:srgbClr val="6B7F90"/>
                </a:solidFill>
              </a:defRPr>
            </a:lvl9pPr>
          </a:lstStyle>
          <a:p xmlns:a="http://schemas.openxmlformats.org/drawingml/2006/main">
            <a:pPr>
              <a:defRPr sz="1350" b="0">
                <a:solidFill>
                  <a:srgbClr val="6B7F90"/>
                </a:solidFill>
              </a:defRPr>
            </a:pPr>
            <a:r>
              <a:rPr sz="1350" b="0">
                <a:solidFill>
                  <a:srgbClr val="6B7F90"/>
                </a:solidFill>
              </a:rPr>
              <a:t>28</a:t>
            </a:r>
          </a:p>
        </p:txBody>
      </p:sp>
    </p:spTree>
    <p:extLst>
      <p:ext uri="{BB962C8B-B14F-4D97-AF65-F5344CB8AC3E}">
        <p14:creationId xmlns:p14="http://schemas.microsoft.com/office/powerpoint/2010/main" val="141037013"/>
      </p:ext>
    </p:extLst>
  </p:cSld>
</p:sld>
</file>

<file path=ppt/slides/slide29.xml><?xml version="1.0" encoding="utf-8"?>
<p:sld xmlns:p="http://schemas.openxmlformats.org/presentationml/2006/main">
  <p:cSld>
    <p:bg>
      <p:bgPr>
        <a:solidFill xmlns:a="http://schemas.openxmlformats.org/drawingml/2006/main">
          <a:srgbClr val="FAFBFD"/>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80480972-4F19-4129-8C57-9683BDA6EF3F}"/>
              </a:ext>
            </a:extLst>
          </p:cNvPr>
          <p:cNvSpPr>
            <a:spLocks xmlns:a="http://schemas.openxmlformats.org/drawingml/2006/main" noGrp="1"/>
          </p:cNvSpPr>
          <p:nvPr/>
        </p:nvSpPr>
        <p:spPr>
          <a:xfrm xmlns:a="http://schemas.openxmlformats.org/drawingml/2006/main">
            <a:off x="685800" y="495300"/>
            <a:ext cx="10858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150" b="1">
                <a:solidFill>
                  <a:srgbClr val="102B46"/>
                </a:solidFill>
              </a:defRPr>
            </a:defPPr>
            <a:lvl1pPr>
              <a:defRPr sz="3150" b="1">
                <a:solidFill>
                  <a:srgbClr val="102B46"/>
                </a:solidFill>
              </a:defRPr>
            </a:lvl1pPr>
            <a:lvl2pPr>
              <a:defRPr sz="3150" b="1">
                <a:solidFill>
                  <a:srgbClr val="102B46"/>
                </a:solidFill>
              </a:defRPr>
            </a:lvl2pPr>
            <a:lvl3pPr>
              <a:defRPr sz="3150" b="1">
                <a:solidFill>
                  <a:srgbClr val="102B46"/>
                </a:solidFill>
              </a:defRPr>
            </a:lvl3pPr>
            <a:lvl4pPr>
              <a:defRPr sz="3150" b="1">
                <a:solidFill>
                  <a:srgbClr val="102B46"/>
                </a:solidFill>
              </a:defRPr>
            </a:lvl4pPr>
            <a:lvl5pPr>
              <a:defRPr sz="3150" b="1">
                <a:solidFill>
                  <a:srgbClr val="102B46"/>
                </a:solidFill>
              </a:defRPr>
            </a:lvl5pPr>
            <a:lvl6pPr>
              <a:defRPr sz="3150" b="1">
                <a:solidFill>
                  <a:srgbClr val="102B46"/>
                </a:solidFill>
              </a:defRPr>
            </a:lvl6pPr>
            <a:lvl7pPr>
              <a:defRPr sz="3150" b="1">
                <a:solidFill>
                  <a:srgbClr val="102B46"/>
                </a:solidFill>
              </a:defRPr>
            </a:lvl7pPr>
            <a:lvl8pPr>
              <a:defRPr sz="3150" b="1">
                <a:solidFill>
                  <a:srgbClr val="102B46"/>
                </a:solidFill>
              </a:defRPr>
            </a:lvl8pPr>
            <a:lvl9pPr>
              <a:defRPr sz="3150" b="1">
                <a:solidFill>
                  <a:srgbClr val="102B46"/>
                </a:solidFill>
              </a:defRPr>
            </a:lvl9pPr>
          </a:lstStyle>
          <a:p xmlns:a="http://schemas.openxmlformats.org/drawingml/2006/main">
            <a:pPr>
              <a:defRPr sz="3150" b="1">
                <a:solidFill>
                  <a:srgbClr val="102B46"/>
                </a:solidFill>
              </a:defRPr>
            </a:pPr>
            <a:r>
              <a:rPr sz="3150" b="1">
                <a:solidFill>
                  <a:srgbClr val="102B46"/>
                </a:solidFill>
              </a:rPr>
              <a:t>補足：既存実装をそのまま比較できない理由</a:t>
            </a:r>
          </a:p>
        </p:txBody>
      </p:sp>
      <p:sp>
        <p:nvSpPr>
          <p:cNvPr id="3" name="">
            <a:extLst xmlns:a="http://schemas.openxmlformats.org/drawingml/2006/main">
              <a:ext uri="{FF2B5EF4-FFF2-40B4-BE49-F238E27FC236}">
                <a16:creationId xmlns:a16="http://schemas.microsoft.com/office/drawing/2014/main" id="{E942E08A-4A9D-4830-9058-C51E4C980785}"/>
              </a:ext>
            </a:extLst>
          </p:cNvPr>
          <p:cNvSpPr>
            <a:spLocks xmlns:a="http://schemas.openxmlformats.org/drawingml/2006/main" noGrp="1"/>
          </p:cNvSpPr>
          <p:nvPr/>
        </p:nvSpPr>
        <p:spPr>
          <a:xfrm xmlns:a="http://schemas.openxmlformats.org/drawingml/2006/main">
            <a:off x="723900" y="1952625"/>
            <a:ext cx="1066800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625" b="1">
                <a:solidFill>
                  <a:srgbClr val="172B4D"/>
                </a:solidFill>
              </a:defRPr>
            </a:defPPr>
            <a:lvl1pPr>
              <a:defRPr sz="2625" b="1">
                <a:solidFill>
                  <a:srgbClr val="172B4D"/>
                </a:solidFill>
              </a:defRPr>
            </a:lvl1pPr>
            <a:lvl2pPr>
              <a:defRPr sz="2625" b="1">
                <a:solidFill>
                  <a:srgbClr val="172B4D"/>
                </a:solidFill>
              </a:defRPr>
            </a:lvl2pPr>
            <a:lvl3pPr>
              <a:defRPr sz="2625" b="1">
                <a:solidFill>
                  <a:srgbClr val="172B4D"/>
                </a:solidFill>
              </a:defRPr>
            </a:lvl3pPr>
            <a:lvl4pPr>
              <a:defRPr sz="2625" b="1">
                <a:solidFill>
                  <a:srgbClr val="172B4D"/>
                </a:solidFill>
              </a:defRPr>
            </a:lvl4pPr>
            <a:lvl5pPr>
              <a:defRPr sz="2625" b="1">
                <a:solidFill>
                  <a:srgbClr val="172B4D"/>
                </a:solidFill>
              </a:defRPr>
            </a:lvl5pPr>
            <a:lvl6pPr>
              <a:defRPr sz="2625" b="1">
                <a:solidFill>
                  <a:srgbClr val="172B4D"/>
                </a:solidFill>
              </a:defRPr>
            </a:lvl6pPr>
            <a:lvl7pPr>
              <a:defRPr sz="2625" b="1">
                <a:solidFill>
                  <a:srgbClr val="172B4D"/>
                </a:solidFill>
              </a:defRPr>
            </a:lvl7pPr>
            <a:lvl8pPr>
              <a:defRPr sz="2625" b="1">
                <a:solidFill>
                  <a:srgbClr val="172B4D"/>
                </a:solidFill>
              </a:defRPr>
            </a:lvl8pPr>
            <a:lvl9pPr>
              <a:defRPr sz="2625" b="1">
                <a:solidFill>
                  <a:srgbClr val="172B4D"/>
                </a:solidFill>
              </a:defRPr>
            </a:lvl9pPr>
          </a:lstStyle>
          <a:p xmlns:a="http://schemas.openxmlformats.org/drawingml/2006/main">
            <a:pPr>
              <a:defRPr sz="2625" b="1">
                <a:solidFill>
                  <a:srgbClr val="172B4D"/>
                </a:solidFill>
              </a:defRPr>
            </a:pPr>
            <a:r>
              <a:rPr sz="2625" b="1">
                <a:solidFill>
                  <a:srgbClr val="172B4D"/>
                </a:solidFill>
              </a:rPr>
              <a:t>既存VIME：入力を部分的に壊し、</a:t>
            </a:r>
          </a:p>
          <a:p xmlns:a="http://schemas.openxmlformats.org/drawingml/2006/main">
            <a:pPr>
              <a:defRPr sz="2625" b="1">
                <a:solidFill>
                  <a:srgbClr val="172B4D"/>
                </a:solidFill>
              </a:defRPr>
            </a:pPr>
            <a:r>
              <a:rPr sz="2625" b="1">
                <a:solidFill>
                  <a:srgbClr val="172B4D"/>
                </a:solidFill>
              </a:rPr>
              <a:t>復元や予測の一貫性を学ぶ</a:t>
            </a:r>
          </a:p>
        </p:txBody>
      </p:sp>
      <p:sp>
        <p:nvSpPr>
          <p:cNvPr id="4" name="">
            <a:extLst xmlns:a="http://schemas.openxmlformats.org/drawingml/2006/main">
              <a:ext uri="{FF2B5EF4-FFF2-40B4-BE49-F238E27FC236}">
                <a16:creationId xmlns:a16="http://schemas.microsoft.com/office/drawing/2014/main" id="{1EBCAABB-82B2-446B-BFFA-E9893F1734F7}"/>
              </a:ext>
            </a:extLst>
          </p:cNvPr>
          <p:cNvSpPr>
            <a:spLocks xmlns:a="http://schemas.openxmlformats.org/drawingml/2006/main" noGrp="1"/>
          </p:cNvSpPr>
          <p:nvPr/>
        </p:nvSpPr>
        <p:spPr>
          <a:xfrm xmlns:a="http://schemas.openxmlformats.org/drawingml/2006/main">
            <a:off x="723900" y="3943350"/>
            <a:ext cx="10668000" cy="1562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0">
                <a:solidFill>
                  <a:srgbClr val="336C81"/>
                </a:solidFill>
              </a:defRPr>
            </a:defPPr>
            <a:lvl1pPr>
              <a:defRPr sz="2250" b="0">
                <a:solidFill>
                  <a:srgbClr val="336C81"/>
                </a:solidFill>
              </a:defRPr>
            </a:lvl1pPr>
            <a:lvl2pPr>
              <a:defRPr sz="2250" b="0">
                <a:solidFill>
                  <a:srgbClr val="336C81"/>
                </a:solidFill>
              </a:defRPr>
            </a:lvl2pPr>
            <a:lvl3pPr>
              <a:defRPr sz="2250" b="0">
                <a:solidFill>
                  <a:srgbClr val="336C81"/>
                </a:solidFill>
              </a:defRPr>
            </a:lvl3pPr>
            <a:lvl4pPr>
              <a:defRPr sz="2250" b="0">
                <a:solidFill>
                  <a:srgbClr val="336C81"/>
                </a:solidFill>
              </a:defRPr>
            </a:lvl4pPr>
            <a:lvl5pPr>
              <a:defRPr sz="2250" b="0">
                <a:solidFill>
                  <a:srgbClr val="336C81"/>
                </a:solidFill>
              </a:defRPr>
            </a:lvl5pPr>
            <a:lvl6pPr>
              <a:defRPr sz="2250" b="0">
                <a:solidFill>
                  <a:srgbClr val="336C81"/>
                </a:solidFill>
              </a:defRPr>
            </a:lvl6pPr>
            <a:lvl7pPr>
              <a:defRPr sz="2250" b="0">
                <a:solidFill>
                  <a:srgbClr val="336C81"/>
                </a:solidFill>
              </a:defRPr>
            </a:lvl7pPr>
            <a:lvl8pPr>
              <a:defRPr sz="2250" b="0">
                <a:solidFill>
                  <a:srgbClr val="336C81"/>
                </a:solidFill>
              </a:defRPr>
            </a:lvl8pPr>
            <a:lvl9pPr>
              <a:defRPr sz="2250" b="0">
                <a:solidFill>
                  <a:srgbClr val="336C81"/>
                </a:solidFill>
              </a:defRPr>
            </a:lvl9pPr>
          </a:lstStyle>
          <a:p xmlns:a="http://schemas.openxmlformats.org/drawingml/2006/main">
            <a:pPr>
              <a:defRPr sz="2250" b="0">
                <a:solidFill>
                  <a:srgbClr val="336C81"/>
                </a:solidFill>
              </a:defRPr>
            </a:pPr>
            <a:r>
              <a:rPr sz="2250" b="0">
                <a:solidFill>
                  <a:srgbClr val="336C81"/>
                </a:solidFill>
              </a:rPr>
              <a:t>今回：少数ラベル付きの訓練行を増やす</a:t>
            </a:r>
          </a:p>
          <a:p xmlns:a="http://schemas.openxmlformats.org/drawingml/2006/main">
            <a:pPr>
              <a:defRPr sz="2250" b="0">
                <a:solidFill>
                  <a:srgbClr val="336C81"/>
                </a:solidFill>
              </a:defRPr>
            </a:pPr>
            <a:r>
              <a:rPr sz="2250" b="0">
                <a:solidFill>
                  <a:srgbClr val="336C81"/>
                </a:solidFill>
              </a:rPr>
              <a:t>同じ生成器でも目的・学習信号・評価が異なる</a:t>
            </a:r>
          </a:p>
        </p:txBody>
      </p:sp>
      <p:sp>
        <p:nvSpPr>
          <p:cNvPr id="5" name="">
            <a:extLst xmlns:a="http://schemas.openxmlformats.org/drawingml/2006/main">
              <a:ext uri="{FF2B5EF4-FFF2-40B4-BE49-F238E27FC236}">
                <a16:creationId xmlns:a16="http://schemas.microsoft.com/office/drawing/2014/main" id="{B1033DAF-4FF6-49D2-BB66-41D2000FAA48}"/>
              </a:ext>
            </a:extLst>
          </p:cNvPr>
          <p:cNvSpPr>
            <a:spLocks xmlns:a="http://schemas.openxmlformats.org/drawingml/2006/main" noGrp="1"/>
          </p:cNvSpPr>
          <p:nvPr/>
        </p:nvSpPr>
        <p:spPr>
          <a:xfrm xmlns:a="http://schemas.openxmlformats.org/drawingml/2006/main">
            <a:off x="11144250" y="6276975"/>
            <a:ext cx="5238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6B7F90"/>
                </a:solidFill>
              </a:defRPr>
            </a:defPPr>
            <a:lvl1pPr>
              <a:defRPr sz="1350" b="0">
                <a:solidFill>
                  <a:srgbClr val="6B7F90"/>
                </a:solidFill>
              </a:defRPr>
            </a:lvl1pPr>
            <a:lvl2pPr>
              <a:defRPr sz="1350" b="0">
                <a:solidFill>
                  <a:srgbClr val="6B7F90"/>
                </a:solidFill>
              </a:defRPr>
            </a:lvl2pPr>
            <a:lvl3pPr>
              <a:defRPr sz="1350" b="0">
                <a:solidFill>
                  <a:srgbClr val="6B7F90"/>
                </a:solidFill>
              </a:defRPr>
            </a:lvl3pPr>
            <a:lvl4pPr>
              <a:defRPr sz="1350" b="0">
                <a:solidFill>
                  <a:srgbClr val="6B7F90"/>
                </a:solidFill>
              </a:defRPr>
            </a:lvl4pPr>
            <a:lvl5pPr>
              <a:defRPr sz="1350" b="0">
                <a:solidFill>
                  <a:srgbClr val="6B7F90"/>
                </a:solidFill>
              </a:defRPr>
            </a:lvl5pPr>
            <a:lvl6pPr>
              <a:defRPr sz="1350" b="0">
                <a:solidFill>
                  <a:srgbClr val="6B7F90"/>
                </a:solidFill>
              </a:defRPr>
            </a:lvl6pPr>
            <a:lvl7pPr>
              <a:defRPr sz="1350" b="0">
                <a:solidFill>
                  <a:srgbClr val="6B7F90"/>
                </a:solidFill>
              </a:defRPr>
            </a:lvl7pPr>
            <a:lvl8pPr>
              <a:defRPr sz="1350" b="0">
                <a:solidFill>
                  <a:srgbClr val="6B7F90"/>
                </a:solidFill>
              </a:defRPr>
            </a:lvl8pPr>
            <a:lvl9pPr>
              <a:defRPr sz="1350" b="0">
                <a:solidFill>
                  <a:srgbClr val="6B7F90"/>
                </a:solidFill>
              </a:defRPr>
            </a:lvl9pPr>
          </a:lstStyle>
          <a:p xmlns:a="http://schemas.openxmlformats.org/drawingml/2006/main">
            <a:pPr>
              <a:defRPr sz="1350" b="0">
                <a:solidFill>
                  <a:srgbClr val="6B7F90"/>
                </a:solidFill>
              </a:defRPr>
            </a:pPr>
            <a:r>
              <a:rPr sz="1350" b="0">
                <a:solidFill>
                  <a:srgbClr val="6B7F90"/>
                </a:solidFill>
              </a:rPr>
              <a:t>29</a:t>
            </a:r>
          </a:p>
        </p:txBody>
      </p:sp>
    </p:spTree>
    <p:extLst>
      <p:ext uri="{BB962C8B-B14F-4D97-AF65-F5344CB8AC3E}">
        <p14:creationId xmlns:p14="http://schemas.microsoft.com/office/powerpoint/2010/main" val="1858119105"/>
      </p:ext>
    </p:extLst>
  </p:cSld>
</p:sld>
</file>

<file path=ppt/slides/slide30.xml><?xml version="1.0" encoding="utf-8"?>
<p:sld xmlns:p="http://schemas.openxmlformats.org/presentationml/2006/main">
  <p:cSld>
    <p:bg>
      <p:bgPr>
        <a:solidFill xmlns:a="http://schemas.openxmlformats.org/drawingml/2006/main">
          <a:srgbClr val="FAFBFD"/>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84DEA602-281B-404C-A82C-3D26B0A63060}"/>
              </a:ext>
            </a:extLst>
          </p:cNvPr>
          <p:cNvSpPr>
            <a:spLocks xmlns:a="http://schemas.openxmlformats.org/drawingml/2006/main" noGrp="1"/>
          </p:cNvSpPr>
          <p:nvPr/>
        </p:nvSpPr>
        <p:spPr>
          <a:xfrm xmlns:a="http://schemas.openxmlformats.org/drawingml/2006/main">
            <a:off x="685800" y="495300"/>
            <a:ext cx="10858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150" b="1">
                <a:solidFill>
                  <a:srgbClr val="102B46"/>
                </a:solidFill>
              </a:defRPr>
            </a:defPPr>
            <a:lvl1pPr>
              <a:defRPr sz="3150" b="1">
                <a:solidFill>
                  <a:srgbClr val="102B46"/>
                </a:solidFill>
              </a:defRPr>
            </a:lvl1pPr>
            <a:lvl2pPr>
              <a:defRPr sz="3150" b="1">
                <a:solidFill>
                  <a:srgbClr val="102B46"/>
                </a:solidFill>
              </a:defRPr>
            </a:lvl2pPr>
            <a:lvl3pPr>
              <a:defRPr sz="3150" b="1">
                <a:solidFill>
                  <a:srgbClr val="102B46"/>
                </a:solidFill>
              </a:defRPr>
            </a:lvl3pPr>
            <a:lvl4pPr>
              <a:defRPr sz="3150" b="1">
                <a:solidFill>
                  <a:srgbClr val="102B46"/>
                </a:solidFill>
              </a:defRPr>
            </a:lvl4pPr>
            <a:lvl5pPr>
              <a:defRPr sz="3150" b="1">
                <a:solidFill>
                  <a:srgbClr val="102B46"/>
                </a:solidFill>
              </a:defRPr>
            </a:lvl5pPr>
            <a:lvl6pPr>
              <a:defRPr sz="3150" b="1">
                <a:solidFill>
                  <a:srgbClr val="102B46"/>
                </a:solidFill>
              </a:defRPr>
            </a:lvl6pPr>
            <a:lvl7pPr>
              <a:defRPr sz="3150" b="1">
                <a:solidFill>
                  <a:srgbClr val="102B46"/>
                </a:solidFill>
              </a:defRPr>
            </a:lvl7pPr>
            <a:lvl8pPr>
              <a:defRPr sz="3150" b="1">
                <a:solidFill>
                  <a:srgbClr val="102B46"/>
                </a:solidFill>
              </a:defRPr>
            </a:lvl8pPr>
            <a:lvl9pPr>
              <a:defRPr sz="3150" b="1">
                <a:solidFill>
                  <a:srgbClr val="102B46"/>
                </a:solidFill>
              </a:defRPr>
            </a:lvl9pPr>
          </a:lstStyle>
          <a:p xmlns:a="http://schemas.openxmlformats.org/drawingml/2006/main">
            <a:pPr>
              <a:defRPr sz="3150" b="1">
                <a:solidFill>
                  <a:srgbClr val="102B46"/>
                </a:solidFill>
              </a:defRPr>
            </a:pPr>
            <a:r>
              <a:rPr sz="3150" b="1">
                <a:solidFill>
                  <a:srgbClr val="102B46"/>
                </a:solidFill>
              </a:rPr>
              <a:t>補足：半教師ありへ進む前に必要なこと</a:t>
            </a:r>
          </a:p>
        </p:txBody>
      </p:sp>
      <p:sp>
        <p:nvSpPr>
          <p:cNvPr id="3" name="">
            <a:extLst xmlns:a="http://schemas.openxmlformats.org/drawingml/2006/main">
              <a:ext uri="{FF2B5EF4-FFF2-40B4-BE49-F238E27FC236}">
                <a16:creationId xmlns:a16="http://schemas.microsoft.com/office/drawing/2014/main" id="{5102B53E-91FF-44F3-B4E6-4F773D9EDF28}"/>
              </a:ext>
            </a:extLst>
          </p:cNvPr>
          <p:cNvSpPr>
            <a:spLocks xmlns:a="http://schemas.openxmlformats.org/drawingml/2006/main" noGrp="1"/>
          </p:cNvSpPr>
          <p:nvPr/>
        </p:nvSpPr>
        <p:spPr>
          <a:xfrm xmlns:a="http://schemas.openxmlformats.org/drawingml/2006/main">
            <a:off x="723900" y="1952625"/>
            <a:ext cx="1066800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625" b="1">
                <a:solidFill>
                  <a:srgbClr val="172B4D"/>
                </a:solidFill>
              </a:defRPr>
            </a:defPPr>
            <a:lvl1pPr>
              <a:defRPr sz="2625" b="1">
                <a:solidFill>
                  <a:srgbClr val="172B4D"/>
                </a:solidFill>
              </a:defRPr>
            </a:lvl1pPr>
            <a:lvl2pPr>
              <a:defRPr sz="2625" b="1">
                <a:solidFill>
                  <a:srgbClr val="172B4D"/>
                </a:solidFill>
              </a:defRPr>
            </a:lvl2pPr>
            <a:lvl3pPr>
              <a:defRPr sz="2625" b="1">
                <a:solidFill>
                  <a:srgbClr val="172B4D"/>
                </a:solidFill>
              </a:defRPr>
            </a:lvl3pPr>
            <a:lvl4pPr>
              <a:defRPr sz="2625" b="1">
                <a:solidFill>
                  <a:srgbClr val="172B4D"/>
                </a:solidFill>
              </a:defRPr>
            </a:lvl4pPr>
            <a:lvl5pPr>
              <a:defRPr sz="2625" b="1">
                <a:solidFill>
                  <a:srgbClr val="172B4D"/>
                </a:solidFill>
              </a:defRPr>
            </a:lvl5pPr>
            <a:lvl6pPr>
              <a:defRPr sz="2625" b="1">
                <a:solidFill>
                  <a:srgbClr val="172B4D"/>
                </a:solidFill>
              </a:defRPr>
            </a:lvl6pPr>
            <a:lvl7pPr>
              <a:defRPr sz="2625" b="1">
                <a:solidFill>
                  <a:srgbClr val="172B4D"/>
                </a:solidFill>
              </a:defRPr>
            </a:lvl7pPr>
            <a:lvl8pPr>
              <a:defRPr sz="2625" b="1">
                <a:solidFill>
                  <a:srgbClr val="172B4D"/>
                </a:solidFill>
              </a:defRPr>
            </a:lvl8pPr>
            <a:lvl9pPr>
              <a:defRPr sz="2625" b="1">
                <a:solidFill>
                  <a:srgbClr val="172B4D"/>
                </a:solidFill>
              </a:defRPr>
            </a:lvl9pPr>
          </a:lstStyle>
          <a:p xmlns:a="http://schemas.openxmlformats.org/drawingml/2006/main">
            <a:pPr>
              <a:defRPr sz="2625" b="1">
                <a:solidFill>
                  <a:srgbClr val="172B4D"/>
                </a:solidFill>
              </a:defRPr>
            </a:pPr>
            <a:r>
              <a:rPr sz="2625" b="1">
                <a:solidFill>
                  <a:srgbClr val="172B4D"/>
                </a:solidFill>
              </a:rPr>
              <a:t>ラベル付きだけで失敗条件を確認しておけば、</a:t>
            </a:r>
          </a:p>
          <a:p xmlns:a="http://schemas.openxmlformats.org/drawingml/2006/main">
            <a:pPr>
              <a:defRPr sz="2625" b="1">
                <a:solidFill>
                  <a:srgbClr val="172B4D"/>
                </a:solidFill>
              </a:defRPr>
            </a:pPr>
            <a:r>
              <a:rPr sz="2625" b="1">
                <a:solidFill>
                  <a:srgbClr val="172B4D"/>
                </a:solidFill>
              </a:rPr>
              <a:t>疑似ラベルによる誤りを追加で切り分けられる</a:t>
            </a:r>
          </a:p>
        </p:txBody>
      </p:sp>
      <p:sp>
        <p:nvSpPr>
          <p:cNvPr id="4" name="">
            <a:extLst xmlns:a="http://schemas.openxmlformats.org/drawingml/2006/main">
              <a:ext uri="{FF2B5EF4-FFF2-40B4-BE49-F238E27FC236}">
                <a16:creationId xmlns:a16="http://schemas.microsoft.com/office/drawing/2014/main" id="{7EBF4153-0794-404E-8C07-7708CE0F2D9A}"/>
              </a:ext>
            </a:extLst>
          </p:cNvPr>
          <p:cNvSpPr>
            <a:spLocks xmlns:a="http://schemas.openxmlformats.org/drawingml/2006/main" noGrp="1"/>
          </p:cNvSpPr>
          <p:nvPr/>
        </p:nvSpPr>
        <p:spPr>
          <a:xfrm xmlns:a="http://schemas.openxmlformats.org/drawingml/2006/main">
            <a:off x="723900" y="3943350"/>
            <a:ext cx="10668000" cy="1562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0">
                <a:solidFill>
                  <a:srgbClr val="336C81"/>
                </a:solidFill>
              </a:defRPr>
            </a:defPPr>
            <a:lvl1pPr>
              <a:defRPr sz="2250" b="0">
                <a:solidFill>
                  <a:srgbClr val="336C81"/>
                </a:solidFill>
              </a:defRPr>
            </a:lvl1pPr>
            <a:lvl2pPr>
              <a:defRPr sz="2250" b="0">
                <a:solidFill>
                  <a:srgbClr val="336C81"/>
                </a:solidFill>
              </a:defRPr>
            </a:lvl2pPr>
            <a:lvl3pPr>
              <a:defRPr sz="2250" b="0">
                <a:solidFill>
                  <a:srgbClr val="336C81"/>
                </a:solidFill>
              </a:defRPr>
            </a:lvl3pPr>
            <a:lvl4pPr>
              <a:defRPr sz="2250" b="0">
                <a:solidFill>
                  <a:srgbClr val="336C81"/>
                </a:solidFill>
              </a:defRPr>
            </a:lvl4pPr>
            <a:lvl5pPr>
              <a:defRPr sz="2250" b="0">
                <a:solidFill>
                  <a:srgbClr val="336C81"/>
                </a:solidFill>
              </a:defRPr>
            </a:lvl5pPr>
            <a:lvl6pPr>
              <a:defRPr sz="2250" b="0">
                <a:solidFill>
                  <a:srgbClr val="336C81"/>
                </a:solidFill>
              </a:defRPr>
            </a:lvl6pPr>
            <a:lvl7pPr>
              <a:defRPr sz="2250" b="0">
                <a:solidFill>
                  <a:srgbClr val="336C81"/>
                </a:solidFill>
              </a:defRPr>
            </a:lvl7pPr>
            <a:lvl8pPr>
              <a:defRPr sz="2250" b="0">
                <a:solidFill>
                  <a:srgbClr val="336C81"/>
                </a:solidFill>
              </a:defRPr>
            </a:lvl8pPr>
            <a:lvl9pPr>
              <a:defRPr sz="2250" b="0">
                <a:solidFill>
                  <a:srgbClr val="336C81"/>
                </a:solidFill>
              </a:defRPr>
            </a:lvl9pPr>
          </a:lstStyle>
          <a:p xmlns:a="http://schemas.openxmlformats.org/drawingml/2006/main">
            <a:pPr>
              <a:defRPr sz="2250" b="0">
                <a:solidFill>
                  <a:srgbClr val="336C81"/>
                </a:solidFill>
              </a:defRPr>
            </a:pPr>
            <a:r>
              <a:rPr sz="2250" b="0">
                <a:solidFill>
                  <a:srgbClr val="336C81"/>
                </a:solidFill>
              </a:rPr>
              <a:t>次は訓練ラベルを隠し、ラベル率を変える</a:t>
            </a:r>
          </a:p>
          <a:p xmlns:a="http://schemas.openxmlformats.org/drawingml/2006/main">
            <a:pPr>
              <a:defRPr sz="2250" b="0">
                <a:solidFill>
                  <a:srgbClr val="336C81"/>
                </a:solidFill>
              </a:defRPr>
            </a:pPr>
            <a:r>
              <a:rPr sz="2250" b="0">
                <a:solidFill>
                  <a:srgbClr val="336C81"/>
                </a:solidFill>
              </a:rPr>
              <a:t>クラスに偏った欠損は、その次の条件として調べる</a:t>
            </a:r>
          </a:p>
        </p:txBody>
      </p:sp>
      <p:sp>
        <p:nvSpPr>
          <p:cNvPr id="5" name="">
            <a:extLst xmlns:a="http://schemas.openxmlformats.org/drawingml/2006/main">
              <a:ext uri="{FF2B5EF4-FFF2-40B4-BE49-F238E27FC236}">
                <a16:creationId xmlns:a16="http://schemas.microsoft.com/office/drawing/2014/main" id="{1E505D5F-9C4C-4751-91FC-ACE0F6D7F2D9}"/>
              </a:ext>
            </a:extLst>
          </p:cNvPr>
          <p:cNvSpPr>
            <a:spLocks xmlns:a="http://schemas.openxmlformats.org/drawingml/2006/main" noGrp="1"/>
          </p:cNvSpPr>
          <p:nvPr/>
        </p:nvSpPr>
        <p:spPr>
          <a:xfrm xmlns:a="http://schemas.openxmlformats.org/drawingml/2006/main">
            <a:off x="11144250" y="6276975"/>
            <a:ext cx="5238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6B7F90"/>
                </a:solidFill>
              </a:defRPr>
            </a:defPPr>
            <a:lvl1pPr>
              <a:defRPr sz="1350" b="0">
                <a:solidFill>
                  <a:srgbClr val="6B7F90"/>
                </a:solidFill>
              </a:defRPr>
            </a:lvl1pPr>
            <a:lvl2pPr>
              <a:defRPr sz="1350" b="0">
                <a:solidFill>
                  <a:srgbClr val="6B7F90"/>
                </a:solidFill>
              </a:defRPr>
            </a:lvl2pPr>
            <a:lvl3pPr>
              <a:defRPr sz="1350" b="0">
                <a:solidFill>
                  <a:srgbClr val="6B7F90"/>
                </a:solidFill>
              </a:defRPr>
            </a:lvl3pPr>
            <a:lvl4pPr>
              <a:defRPr sz="1350" b="0">
                <a:solidFill>
                  <a:srgbClr val="6B7F90"/>
                </a:solidFill>
              </a:defRPr>
            </a:lvl4pPr>
            <a:lvl5pPr>
              <a:defRPr sz="1350" b="0">
                <a:solidFill>
                  <a:srgbClr val="6B7F90"/>
                </a:solidFill>
              </a:defRPr>
            </a:lvl5pPr>
            <a:lvl6pPr>
              <a:defRPr sz="1350" b="0">
                <a:solidFill>
                  <a:srgbClr val="6B7F90"/>
                </a:solidFill>
              </a:defRPr>
            </a:lvl6pPr>
            <a:lvl7pPr>
              <a:defRPr sz="1350" b="0">
                <a:solidFill>
                  <a:srgbClr val="6B7F90"/>
                </a:solidFill>
              </a:defRPr>
            </a:lvl7pPr>
            <a:lvl8pPr>
              <a:defRPr sz="1350" b="0">
                <a:solidFill>
                  <a:srgbClr val="6B7F90"/>
                </a:solidFill>
              </a:defRPr>
            </a:lvl8pPr>
            <a:lvl9pPr>
              <a:defRPr sz="1350" b="0">
                <a:solidFill>
                  <a:srgbClr val="6B7F90"/>
                </a:solidFill>
              </a:defRPr>
            </a:lvl9pPr>
          </a:lstStyle>
          <a:p xmlns:a="http://schemas.openxmlformats.org/drawingml/2006/main">
            <a:pPr>
              <a:defRPr sz="1350" b="0">
                <a:solidFill>
                  <a:srgbClr val="6B7F90"/>
                </a:solidFill>
              </a:defRPr>
            </a:pPr>
            <a:r>
              <a:rPr sz="1350" b="0">
                <a:solidFill>
                  <a:srgbClr val="6B7F90"/>
                </a:solidFill>
              </a:rPr>
              <a:t>30</a:t>
            </a:r>
          </a:p>
        </p:txBody>
      </p:sp>
    </p:spTree>
    <p:extLst>
      <p:ext uri="{BB962C8B-B14F-4D97-AF65-F5344CB8AC3E}">
        <p14:creationId xmlns:p14="http://schemas.microsoft.com/office/powerpoint/2010/main" val="1035843253"/>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2026-10-20T05:47:37.3120000Z</dcterms:created>
  <dcterms:modified xsi:type="dcterms:W3CDTF">2026-10-20T05:47:37.3120000Z</dcterms:modified>
</coreProperties>
</file>