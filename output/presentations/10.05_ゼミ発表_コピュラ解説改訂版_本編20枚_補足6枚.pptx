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826cb3b905476f" /><Relationship Type="http://schemas.openxmlformats.org/officeDocument/2006/relationships/extended-properties" Target="/docProps/app.xml" Id="R65908d5b2f92473b" /><Relationship Type="http://schemas.openxmlformats.org/officeDocument/2006/relationships/officeDocument" Target="/ppt/presentation.xml" Id="R7fb0f3a2353142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fb682105af4b60"/>
  </p:sldMasterIdLst>
  <p:notesMasterIdLst>
    <p:notesMasterId xmlns:r="http://schemas.openxmlformats.org/officeDocument/2006/relationships" r:id="Ra246dacee9c940c9"/>
  </p:notesMasterIdLst>
  <p:sldIdLst>
    <p:sldId xmlns:r="http://schemas.openxmlformats.org/officeDocument/2006/relationships" id="256" r:id="R7a466a2c311445af"/>
    <p:sldId xmlns:r="http://schemas.openxmlformats.org/officeDocument/2006/relationships" id="257" r:id="R2590cc00e0d34f11"/>
    <p:sldId xmlns:r="http://schemas.openxmlformats.org/officeDocument/2006/relationships" id="258" r:id="R12f991707e674cf9"/>
    <p:sldId xmlns:r="http://schemas.openxmlformats.org/officeDocument/2006/relationships" id="259" r:id="R677dc774a5a04076"/>
    <p:sldId xmlns:r="http://schemas.openxmlformats.org/officeDocument/2006/relationships" id="260" r:id="R4b150cecb2b24529"/>
    <p:sldId xmlns:r="http://schemas.openxmlformats.org/officeDocument/2006/relationships" id="261" r:id="Rb9cb9b92e43b4650"/>
    <p:sldId xmlns:r="http://schemas.openxmlformats.org/officeDocument/2006/relationships" id="262" r:id="R1ce441802c914003"/>
    <p:sldId xmlns:r="http://schemas.openxmlformats.org/officeDocument/2006/relationships" id="263" r:id="Rf9d81465b9184880"/>
    <p:sldId xmlns:r="http://schemas.openxmlformats.org/officeDocument/2006/relationships" id="264" r:id="R9eae92b7b1524a90"/>
    <p:sldId xmlns:r="http://schemas.openxmlformats.org/officeDocument/2006/relationships" id="265" r:id="R89a57f14775c4eb8"/>
    <p:sldId xmlns:r="http://schemas.openxmlformats.org/officeDocument/2006/relationships" id="266" r:id="R2c4ff07e92e1460a"/>
    <p:sldId xmlns:r="http://schemas.openxmlformats.org/officeDocument/2006/relationships" id="267" r:id="R092473235ad345a9"/>
    <p:sldId xmlns:r="http://schemas.openxmlformats.org/officeDocument/2006/relationships" id="268" r:id="Rb0aeb18afa2044dc"/>
    <p:sldId xmlns:r="http://schemas.openxmlformats.org/officeDocument/2006/relationships" id="269" r:id="Rc9130947a24f4d89"/>
    <p:sldId xmlns:r="http://schemas.openxmlformats.org/officeDocument/2006/relationships" id="270" r:id="Ra702f2d90f6449a3"/>
    <p:sldId xmlns:r="http://schemas.openxmlformats.org/officeDocument/2006/relationships" id="271" r:id="R93ff6d48569f470a"/>
    <p:sldId xmlns:r="http://schemas.openxmlformats.org/officeDocument/2006/relationships" id="272" r:id="R1c0c05533c8547b3"/>
    <p:sldId xmlns:r="http://schemas.openxmlformats.org/officeDocument/2006/relationships" id="273" r:id="Ra31017adb90944ca"/>
    <p:sldId xmlns:r="http://schemas.openxmlformats.org/officeDocument/2006/relationships" id="274" r:id="R2aa1722e9bd34e0e"/>
    <p:sldId xmlns:r="http://schemas.openxmlformats.org/officeDocument/2006/relationships" id="275" r:id="Rca6034b20b9b4ff0"/>
    <p:sldId xmlns:r="http://schemas.openxmlformats.org/officeDocument/2006/relationships" id="276" r:id="R287ca55494d142da"/>
    <p:sldId xmlns:r="http://schemas.openxmlformats.org/officeDocument/2006/relationships" id="277" r:id="R0a760e842f914efc"/>
    <p:sldId xmlns:r="http://schemas.openxmlformats.org/officeDocument/2006/relationships" id="278" r:id="Rec23d91160424ae1"/>
    <p:sldId xmlns:r="http://schemas.openxmlformats.org/officeDocument/2006/relationships" id="279" r:id="R0ab2745c9bfe48be"/>
    <p:sldId xmlns:r="http://schemas.openxmlformats.org/officeDocument/2006/relationships" id="280" r:id="R45c1ea28b2f84c04"/>
    <p:sldId xmlns:r="http://schemas.openxmlformats.org/officeDocument/2006/relationships" id="281" r:id="R158192b40a7342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d7a3a4da9444f6" /><Relationship Type="http://schemas.openxmlformats.org/officeDocument/2006/relationships/slideMaster" Target="/ppt/slideMasters/slideMaster1.xml" Id="Rc4fb682105af4b60" /><Relationship Type="http://schemas.openxmlformats.org/officeDocument/2006/relationships/notesMaster" Target="/ppt/notesMasters/notesMaster1.xml" Id="Ra246dacee9c940c9" /><Relationship Type="http://schemas.openxmlformats.org/officeDocument/2006/relationships/presProps" Target="/ppt/presProps.xml" Id="R94c5b98df022450a" /><Relationship Type="http://schemas.openxmlformats.org/officeDocument/2006/relationships/tableStyles" Target="/ppt/tableStyles.xml" Id="Rdb86703642df4b88" /><Relationship Type="http://schemas.openxmlformats.org/officeDocument/2006/relationships/slide" Target="/ppt/slides/slide1.xml" Id="R7a466a2c311445af" /><Relationship Type="http://schemas.openxmlformats.org/officeDocument/2006/relationships/slide" Target="/ppt/slides/slide2.xml" Id="R2590cc00e0d34f11" /><Relationship Type="http://schemas.openxmlformats.org/officeDocument/2006/relationships/slide" Target="/ppt/slides/slide3.xml" Id="R12f991707e674cf9" /><Relationship Type="http://schemas.openxmlformats.org/officeDocument/2006/relationships/slide" Target="/ppt/slides/slide4.xml" Id="R677dc774a5a04076" /><Relationship Type="http://schemas.openxmlformats.org/officeDocument/2006/relationships/slide" Target="/ppt/slides/slide5.xml" Id="R4b150cecb2b24529" /><Relationship Type="http://schemas.openxmlformats.org/officeDocument/2006/relationships/slide" Target="/ppt/slides/slide6.xml" Id="Rb9cb9b92e43b4650" /><Relationship Type="http://schemas.openxmlformats.org/officeDocument/2006/relationships/slide" Target="/ppt/slides/slide7.xml" Id="R1ce441802c914003" /><Relationship Type="http://schemas.openxmlformats.org/officeDocument/2006/relationships/slide" Target="/ppt/slides/slide8.xml" Id="Rf9d81465b9184880" /><Relationship Type="http://schemas.openxmlformats.org/officeDocument/2006/relationships/slide" Target="/ppt/slides/slide9.xml" Id="R9eae92b7b1524a90" /><Relationship Type="http://schemas.openxmlformats.org/officeDocument/2006/relationships/slide" Target="/ppt/slides/slide10.xml" Id="R89a57f14775c4eb8" /><Relationship Type="http://schemas.openxmlformats.org/officeDocument/2006/relationships/slide" Target="/ppt/slides/slide11.xml" Id="R2c4ff07e92e1460a" /><Relationship Type="http://schemas.openxmlformats.org/officeDocument/2006/relationships/slide" Target="/ppt/slides/slide12.xml" Id="R092473235ad345a9" /><Relationship Type="http://schemas.openxmlformats.org/officeDocument/2006/relationships/slide" Target="/ppt/slides/slide13.xml" Id="Rb0aeb18afa2044dc" /><Relationship Type="http://schemas.openxmlformats.org/officeDocument/2006/relationships/slide" Target="/ppt/slides/slide14.xml" Id="Rc9130947a24f4d89" /><Relationship Type="http://schemas.openxmlformats.org/officeDocument/2006/relationships/slide" Target="/ppt/slides/slide15.xml" Id="Ra702f2d90f6449a3" /><Relationship Type="http://schemas.openxmlformats.org/officeDocument/2006/relationships/slide" Target="/ppt/slides/slide16.xml" Id="R93ff6d48569f470a" /><Relationship Type="http://schemas.openxmlformats.org/officeDocument/2006/relationships/slide" Target="/ppt/slides/slide17.xml" Id="R1c0c05533c8547b3" /><Relationship Type="http://schemas.openxmlformats.org/officeDocument/2006/relationships/slide" Target="/ppt/slides/slide18.xml" Id="Ra31017adb90944ca" /><Relationship Type="http://schemas.openxmlformats.org/officeDocument/2006/relationships/slide" Target="/ppt/slides/slide19.xml" Id="R2aa1722e9bd34e0e" /><Relationship Type="http://schemas.openxmlformats.org/officeDocument/2006/relationships/slide" Target="/ppt/slides/slide20.xml" Id="Rca6034b20b9b4ff0" /><Relationship Type="http://schemas.openxmlformats.org/officeDocument/2006/relationships/slide" Target="/ppt/slides/slide21.xml" Id="R287ca55494d142da" /><Relationship Type="http://schemas.openxmlformats.org/officeDocument/2006/relationships/slide" Target="/ppt/slides/slide22.xml" Id="R0a760e842f914efc" /><Relationship Type="http://schemas.openxmlformats.org/officeDocument/2006/relationships/slide" Target="/ppt/slides/slide23.xml" Id="Rec23d91160424ae1" /><Relationship Type="http://schemas.openxmlformats.org/officeDocument/2006/relationships/slide" Target="/ppt/slides/slide24.xml" Id="R0ab2745c9bfe48be" /><Relationship Type="http://schemas.openxmlformats.org/officeDocument/2006/relationships/slide" Target="/ppt/slides/slide25.xml" Id="R45c1ea28b2f84c04" /><Relationship Type="http://schemas.openxmlformats.org/officeDocument/2006/relationships/slide" Target="/ppt/slides/slide26.xml" Id="R158192b40a7342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83541e040741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d697bea6e34b96" /><Relationship Type="http://schemas.openxmlformats.org/officeDocument/2006/relationships/notesMaster" Target="/ppt/notesMasters/notesMaster1.xml" Id="R90f382f964714d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697829ba1e4e18" /><Relationship Type="http://schemas.openxmlformats.org/officeDocument/2006/relationships/notesMaster" Target="/ppt/notesMasters/notesMaster1.xml" Id="Re174c7ddc39a42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8ebd6bc7f24448" /><Relationship Type="http://schemas.openxmlformats.org/officeDocument/2006/relationships/notesMaster" Target="/ppt/notesMasters/notesMaster1.xml" Id="Rcf199d8384dc42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86e1354aa04b9b" /><Relationship Type="http://schemas.openxmlformats.org/officeDocument/2006/relationships/notesMaster" Target="/ppt/notesMasters/notesMaster1.xml" Id="R640d592b150847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4857e320994dad" /><Relationship Type="http://schemas.openxmlformats.org/officeDocument/2006/relationships/notesMaster" Target="/ppt/notesMasters/notesMaster1.xml" Id="Re36a8e46029c45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07f89232f4442d" /><Relationship Type="http://schemas.openxmlformats.org/officeDocument/2006/relationships/notesMaster" Target="/ppt/notesMasters/notesMaster1.xml" Id="R5a34f4acfa3f4f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7d40467c9b4722" /><Relationship Type="http://schemas.openxmlformats.org/officeDocument/2006/relationships/notesMaster" Target="/ppt/notesMasters/notesMaster1.xml" Id="R882d6e4297b245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c534dfb7d14b0c" /><Relationship Type="http://schemas.openxmlformats.org/officeDocument/2006/relationships/notesMaster" Target="/ppt/notesMasters/notesMaster1.xml" Id="R3334442f21344b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84866eb8ec4f60" /><Relationship Type="http://schemas.openxmlformats.org/officeDocument/2006/relationships/notesMaster" Target="/ppt/notesMasters/notesMaster1.xml" Id="R69e93c0f349c4b8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1ceadffaf9b4101" /><Relationship Type="http://schemas.openxmlformats.org/officeDocument/2006/relationships/notesMaster" Target="/ppt/notesMasters/notesMaster1.xml" Id="Rfa378f59ea7347d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827ef14e55d4cd9" /><Relationship Type="http://schemas.openxmlformats.org/officeDocument/2006/relationships/notesMaster" Target="/ppt/notesMasters/notesMaster1.xml" Id="R493b3507a20b447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eef6bc797294e4e" /><Relationship Type="http://schemas.openxmlformats.org/officeDocument/2006/relationships/notesMaster" Target="/ppt/notesMasters/notesMaster1.xml" Id="R7a5d8c89afaf44d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7146cf896604464" /><Relationship Type="http://schemas.openxmlformats.org/officeDocument/2006/relationships/notesMaster" Target="/ppt/notesMasters/notesMaster1.xml" Id="R58bd49cf4ac34d5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f0be15cd6e640d8" /><Relationship Type="http://schemas.openxmlformats.org/officeDocument/2006/relationships/notesMaster" Target="/ppt/notesMasters/notesMaster1.xml" Id="Ref08bfa45f724d7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d515501dccd48bb" /><Relationship Type="http://schemas.openxmlformats.org/officeDocument/2006/relationships/notesMaster" Target="/ppt/notesMasters/notesMaster1.xml" Id="R4722da8bd0b34fa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2b9835770e54fa1" /><Relationship Type="http://schemas.openxmlformats.org/officeDocument/2006/relationships/notesMaster" Target="/ppt/notesMasters/notesMaster1.xml" Id="R1e05a01eb146496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d80a664692a4316" /><Relationship Type="http://schemas.openxmlformats.org/officeDocument/2006/relationships/notesMaster" Target="/ppt/notesMasters/notesMaster1.xml" Id="Rec3e73afc995455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c96fc31065943c9" /><Relationship Type="http://schemas.openxmlformats.org/officeDocument/2006/relationships/notesMaster" Target="/ppt/notesMasters/notesMaster1.xml" Id="R53cad65b86784ab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653cd3c7ce94529" /><Relationship Type="http://schemas.openxmlformats.org/officeDocument/2006/relationships/notesMaster" Target="/ppt/notesMasters/notesMaster1.xml" Id="R7b3050a97824488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182b5dde6b64a90" /><Relationship Type="http://schemas.openxmlformats.org/officeDocument/2006/relationships/notesMaster" Target="/ppt/notesMasters/notesMaster1.xml" Id="R5fa6d59f5b044a8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8a62c9008ad4862" /><Relationship Type="http://schemas.openxmlformats.org/officeDocument/2006/relationships/notesMaster" Target="/ppt/notesMasters/notesMaster1.xml" Id="Rfc254372d1d640a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83a8635c1844f50" /><Relationship Type="http://schemas.openxmlformats.org/officeDocument/2006/relationships/notesMaster" Target="/ppt/notesMasters/notesMaster1.xml" Id="Rcfe35fafcdf446d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5c908d296a845e9" /><Relationship Type="http://schemas.openxmlformats.org/officeDocument/2006/relationships/notesMaster" Target="/ppt/notesMasters/notesMaster1.xml" Id="Rddf7d1702e0e458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79de2f68c944385" /><Relationship Type="http://schemas.openxmlformats.org/officeDocument/2006/relationships/notesMaster" Target="/ppt/notesMasters/notesMaster1.xml" Id="R70906f8a659b4df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d794519c18b40c3" /><Relationship Type="http://schemas.openxmlformats.org/officeDocument/2006/relationships/notesMaster" Target="/ppt/notesMasters/notesMaster1.xml" Id="Raf33610370aa4c1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ddbb935bf174400" /><Relationship Type="http://schemas.openxmlformats.org/officeDocument/2006/relationships/notesMaster" Target="/ppt/notesMasters/notesMaster1.xml" Id="R386d90b9342f43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2026年10月5日。M1 齊藤光汰。本編20枚。以降は実験条件と結果の補足。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中間発表の最後に述べた方針を振り返る。独立な列置換は依存を保つ保証がない。疑似ラベルを用いる拡張は誤りの影響を受け得る。これらが常に性能低下を生むという断定はしない。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https://papers.nips.cc/paper/2020/hash/7d97667a3e056acab9aaf653807b4a03-Abstract.html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身長・体重の数値は説明用の架空例。連続な周辺分布を基本に説明する。コピュラは一様周辺を持つ同時分布関数。周辺が連続ならSklar分解のコピュラは一意。任意の依存を一つの種類で捉える保証はない。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身長・体重の数値は説明用の架空例。連続な周辺分布を基本に説明する。4点の散布図は説明用で、推定結果ではない。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身長・体重の数値は説明用の架空例。連続な周辺分布を基本に説明する。F_Yは体重YのCDF。経験分布による0.7は有限表の割合で、厳密な連続一様とは区別する。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身長・体重の数値は説明用の架空例。連続な周辺分布を基本に説明する。連続CDFの場合にF(X)はUniform(0,1)。経験順位・同値・離散の扱いは近似が必要。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身長・体重の数値は説明用の架空例。連続な周辺分布を基本に説明する。架空の連続周辺を想定した位置。前の10人表とは別の説明例。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身長・体重の数値は説明用の架空例。連続な周辺分布を基本に説明する。U,Vは一様周辺。小文字u,vはしきい値、大文字U,Vは確率変数。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身長・体重の数値は説明用の架空例。連続な周辺分布を基本に説明する。10点から求める説明用の経験割合。母集団コピュラの推定とは区別。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身長・体重の数値は説明用の架空例。連続な周辺分布を基本に説明する。独立と完全同方向依存の厳密式。完全同方向U=Vは特異コピュラで密度を持たない。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身長・体重の数値は説明用の架空例。連続な周辺分布を基本に説明する。H=P(X≤x,Y≤y)。連続周辺ならCは一意。一般の周辺にも分解は存在するが一意性は値域上に限る。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身長・体重の数値は説明用の架空例。連続な周辺分布を基本に説明する。一般化逆F^-1(u)=inf{x:F(x)≥u}。F^-1は逆CDFであり逆数ではない。説明用周辺を仮定。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Y=70は連続の確率ゼロ事象で通常の確率比ではなく条件分布で扱う。表は70kg付近の近傍を用いた直感的例で、厳密条件分布の計算結果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身長・体重の数値は説明用の架空例。連続な周辺分布を基本に説明する。一般のコピュラから条件分布を求める。コピュラの定義Cそのものと条件分布を混同しない。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身長・体重の数値は説明用の架空例。連続な周辺分布を基本に説明する。Gaussianの元特徴の正規性は不要。tは有限自由度で非退化の相関に両裾依存。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  <a:p xmlns:a="http://schemas.openxmlformats.org/drawingml/2006/main">
            <a:r>
              <a:t>https://doi.org/10.1111/j.1751-5823.2005.tb00254.x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身長・体重の数値は説明用の架空例。連続な周辺分布を基本に説明する。正の依存を持つ標準形について説明。回転形は含めない。裾は確率位置の端の領域、周辺分布の裾とは区別。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Frankは二変量では正負依存、標準多変量は制約がある。Vineはペアコピュラの構成で単独の一族ではない。ノンパラメトリックは経験・平滑化などで条件付けと次元に課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  <a:p xmlns:a="http://schemas.openxmlformats.org/drawingml/2006/main">
            <a:r>
              <a:t>https://www.annualreviews.org/content/journals/10.1146/annurev-statistics-040220-101153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身長・体重の数値は説明用の架空例。連続な周辺分布を基本に説明する。選択は初期実験の設計判断で、最適性を主張しない。二変量条件正規は分散1-rho^2。rho=.6, FY70=.7の架空計算。元の周辺分布を正規と仮定する必要はない。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  <a:p xmlns:a="http://schemas.openxmlformats.org/drawingml/2006/main">
            <a:r>
              <a:t>https://papers.nips.cc/paper/2020/hash/7d97667a3e056acab9aaf653807b4a03-Abstract.html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根拠：tmp/seminar_20261005/rerun_results.json versions。ハードウェア機種やRAMは記録にないため記載しない。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根拠：load_breast_cancer / load_wineの公式説明とrun_experiment.py。乳がんは細胞核の測定特徴、Wineはワインの化学分析と3品種。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https://scikit-learn.org/stable/modules/generated/sklearn.datasets.load_breast_cancer.html</a:t>
            </a:r>
          </a:p>
          <a:p xmlns:a="http://schemas.openxmlformats.org/drawingml/2006/main">
            <a:r>
              <a:t>https://scikit-learn.org/stable/modules/generated/sklearn.datasets.load_wine.html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根拠：rerun_results.json runs内n_labeled n_unlabeled n_test。5seedとも同数。整数丸めにより30%と厳密一致しない。層化分割。ラベルなしはラベルを隠して使用。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根拠：research-bench/src/tabular_research/vime_torch.py と run_experiment.py。原論文の全実験の再現ではなく、この実装内の比較。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https://papers.nips.cc/paper/2020/hash/7d97667a3e056acab9aaf653807b4a03-Abstract.html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根拠：run_experiment.py と rerun_results.json protocol。MinMaxは訓練全体のみ、コピュラfitはラベルなし訓練のみ。再分割5回。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根拠：rerun_results.json summary。SDはddof1。差の区間はペア差のpercentile bootstrap、5seedの探索比較で不確実性大。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ae25c4ffc54f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177d4f43424d73" /><Relationship Type="http://schemas.openxmlformats.org/officeDocument/2006/relationships/slideLayout" Target="/ppt/slideLayouts/slideLayout1.xml" Id="R31cc2483491445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cc2483491445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15ff50d284bd5" /><Relationship Type="http://schemas.openxmlformats.org/officeDocument/2006/relationships/notesSlide" Target="/ppt/notesSlides/notesSlide1.xml" Id="R7551d948e71943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21290c2dfc4f2a" /><Relationship Type="http://schemas.openxmlformats.org/officeDocument/2006/relationships/notesSlide" Target="/ppt/notesSlides/notesSlide2.xml" Id="Rf69e6fcaee3c45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9286be812459a" /><Relationship Type="http://schemas.openxmlformats.org/officeDocument/2006/relationships/notesSlide" Target="/ppt/notesSlides/notesSlide3.xml" Id="R4af63539157d45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a8f355fa7416a" /><Relationship Type="http://schemas.openxmlformats.org/officeDocument/2006/relationships/notesSlide" Target="/ppt/notesSlides/notesSlide4.xml" Id="Rffb769d1038449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8d9d719cf547c6" /><Relationship Type="http://schemas.openxmlformats.org/officeDocument/2006/relationships/chart" Target="/ppt/slides/charts/chart1.xml" Id="R726a57c8ce5c4fd4" /><Relationship Type="http://schemas.openxmlformats.org/officeDocument/2006/relationships/chart" Target="/ppt/slides/charts/chart2.xml" Id="Red38555f51bb4d50" /><Relationship Type="http://schemas.openxmlformats.org/officeDocument/2006/relationships/notesSlide" Target="/ppt/notesSlides/notesSlide5.xml" Id="R683941c74eec4f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4729c921b4008" /><Relationship Type="http://schemas.openxmlformats.org/officeDocument/2006/relationships/notesSlide" Target="/ppt/notesSlides/notesSlide6.xml" Id="R54d2a43b346946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3e0a052064e98" /><Relationship Type="http://schemas.openxmlformats.org/officeDocument/2006/relationships/notesSlide" Target="/ppt/notesSlides/notesSlide7.xml" Id="Rf47b61eab0424f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e9b05e7b34b4d" /><Relationship Type="http://schemas.openxmlformats.org/officeDocument/2006/relationships/notesSlide" Target="/ppt/notesSlides/notesSlide8.xml" Id="Rab3b2c60c8994e3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cac0b99644331" /><Relationship Type="http://schemas.openxmlformats.org/officeDocument/2006/relationships/notesSlide" Target="/ppt/notesSlides/notesSlide9.xml" Id="Rd46a870a9c0148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d856d5cd94792" /><Relationship Type="http://schemas.openxmlformats.org/officeDocument/2006/relationships/chart" Target="/ppt/slides/charts/chart3.xml" Id="R272195e2d3de4ccf" /><Relationship Type="http://schemas.openxmlformats.org/officeDocument/2006/relationships/notesSlide" Target="/ppt/notesSlides/notesSlide10.xml" Id="R38b637513f81450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e62fbc2fcc44e7" /><Relationship Type="http://schemas.openxmlformats.org/officeDocument/2006/relationships/notesSlide" Target="/ppt/notesSlides/notesSlide11.xml" Id="R5979d03e762145c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a6e67383e4519" /><Relationship Type="http://schemas.openxmlformats.org/officeDocument/2006/relationships/notesSlide" Target="/ppt/notesSlides/notesSlide12.xml" Id="R1e5488ce0294419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f662b42a54523" /><Relationship Type="http://schemas.openxmlformats.org/officeDocument/2006/relationships/notesSlide" Target="/ppt/notesSlides/notesSlide13.xml" Id="R39f312ebfb5b40c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d884cd3bc04b66" /><Relationship Type="http://schemas.openxmlformats.org/officeDocument/2006/relationships/notesSlide" Target="/ppt/notesSlides/notesSlide14.xml" Id="Rb9c23b5c792a497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1a14bc8aca4885" /><Relationship Type="http://schemas.openxmlformats.org/officeDocument/2006/relationships/notesSlide" Target="/ppt/notesSlides/notesSlide15.xml" Id="Rb979672760e64ff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6ad5b51847437c" /><Relationship Type="http://schemas.openxmlformats.org/officeDocument/2006/relationships/notesSlide" Target="/ppt/notesSlides/notesSlide16.xml" Id="R6607404cd10741b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e429615fd44b7" /><Relationship Type="http://schemas.openxmlformats.org/officeDocument/2006/relationships/notesSlide" Target="/ppt/notesSlides/notesSlide17.xml" Id="R6921b578449a462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4efdc56d744fa" /><Relationship Type="http://schemas.openxmlformats.org/officeDocument/2006/relationships/notesSlide" Target="/ppt/notesSlides/notesSlide18.xml" Id="R7cde54a2c025465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7b0ddda5c4593" /><Relationship Type="http://schemas.openxmlformats.org/officeDocument/2006/relationships/notesSlide" Target="/ppt/notesSlides/notesSlide19.xml" Id="R0f4c0ab521b541b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b835b66c14f3b" /><Relationship Type="http://schemas.openxmlformats.org/officeDocument/2006/relationships/notesSlide" Target="/ppt/notesSlides/notesSlide20.xml" Id="R37187ea3f2e444e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affb14d9944d5" /><Relationship Type="http://schemas.openxmlformats.org/officeDocument/2006/relationships/notesSlide" Target="/ppt/notesSlides/notesSlide21.xml" Id="R4887dd9fa4134ad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12ca86aef4766" /><Relationship Type="http://schemas.openxmlformats.org/officeDocument/2006/relationships/notesSlide" Target="/ppt/notesSlides/notesSlide22.xml" Id="Rcccd798db96a4a0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9102d583774516" /><Relationship Type="http://schemas.openxmlformats.org/officeDocument/2006/relationships/notesSlide" Target="/ppt/notesSlides/notesSlide23.xml" Id="R4f69d37b7d6344b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a4f777d734c63" /><Relationship Type="http://schemas.openxmlformats.org/officeDocument/2006/relationships/notesSlide" Target="/ppt/notesSlides/notesSlide24.xml" Id="R29f9fa6debfd4cf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1d469aa834dd2" /><Relationship Type="http://schemas.openxmlformats.org/officeDocument/2006/relationships/notesSlide" Target="/ppt/notesSlides/notesSlide25.xml" Id="R68530b0a510a446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cf41951e544f1" /><Relationship Type="http://schemas.openxmlformats.org/officeDocument/2006/relationships/notesSlide" Target="/ppt/notesSlides/notesSlide26.xml" Id="Rfdca214b6f894ca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ser>
          <c:idx val="0"/>
          <c:order val="0"/>
          <c:tx>
            <c:v>説明用データ</c:v>
          </c:tx>
          <c:spPr>
            <a:solidFill xmlns:a="http://schemas.openxmlformats.org/drawingml/2006/main">
              <a:srgbClr val="2B6777"/>
            </a:solidFill>
            <a:ln xmlns:a="http://schemas.openxmlformats.org/drawingml/2006/main" w="0">
              <a:noFill/>
            </a:ln>
          </c:spPr>
          <c:marker>
            <c:symbol val="circle"/>
            <c:size val="5"/>
            <c:spPr>
              <a:noFill xmlns:a="http://schemas.openxmlformats.org/drawingml/2006/main"/>
            </c:spPr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155</c:v>
                </c:pt>
                <c:pt idx="1">
                  <c:v>165</c:v>
                </c:pt>
                <c:pt idx="2">
                  <c:v>175</c:v>
                </c:pt>
                <c:pt idx="3">
                  <c:v>185</c:v>
                </c:pt>
              </c:numCache>
            </c:numRef>
          </c:xVal>
          <c:yVal>
            <c:numRef>
              <c:f>'Chart Data'!$B$2:$B$5</c:f>
              <c:numCache>
                <c:formatCode>0.0</c:formatCode>
                <c:ptCount val="4"/>
                <c:pt idx="0">
                  <c:v>48</c:v>
                </c:pt>
                <c:pt idx="1">
                  <c:v>57</c:v>
                </c:pt>
                <c:pt idx="2">
                  <c:v>68</c:v>
                </c:pt>
                <c:pt idx="3">
                  <c:v>82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90"/>
          <c:min val="4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0E0E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latin typeface="Noto Sans JP"/>
                    <a:ea typeface="Noto Sans JP"/>
                    <a:cs typeface="Noto Sans JP"/>
                  </a:rPr>
                  <a:t>体重 kg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</c:valAx>
      <c:valAx>
        <c:axId val="48650112"/>
        <c:scaling>
          <c:orientation val="minMax"/>
          <c:max val="190"/>
          <c:min val="15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0E0E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latin typeface="Noto Sans JP"/>
                    <a:ea typeface="Noto Sans JP"/>
                    <a:cs typeface="Noto Sans JP"/>
                  </a:rPr>
                  <a:t>身長 cm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valAx>
      <c:spPr>
        <a:solidFill xmlns:a="http://schemas.openxmlformats.org/drawingml/2006/main">
          <a:srgbClr val="F6F6F6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ser>
          <c:idx val="0"/>
          <c:order val="0"/>
          <c:tx>
            <c:v>説明用データ</c:v>
          </c:tx>
          <c:spPr>
            <a:solidFill xmlns:a="http://schemas.openxmlformats.org/drawingml/2006/main">
              <a:srgbClr val="E0562B"/>
            </a:solidFill>
            <a:ln xmlns:a="http://schemas.openxmlformats.org/drawingml/2006/main" w="0">
              <a:noFill/>
            </a:ln>
          </c:spPr>
          <c:marker>
            <c:symbol val="circle"/>
            <c:size val="5"/>
            <c:spPr>
              <a:noFill xmlns:a="http://schemas.openxmlformats.org/drawingml/2006/main"/>
            </c:spPr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155</c:v>
                </c:pt>
                <c:pt idx="1">
                  <c:v>165</c:v>
                </c:pt>
                <c:pt idx="2">
                  <c:v>175</c:v>
                </c:pt>
                <c:pt idx="3">
                  <c:v>185</c:v>
                </c:pt>
              </c:numCache>
            </c:numRef>
          </c:xVal>
          <c:yVal>
            <c:numRef>
              <c:f>'Chart Data'!$B$2:$B$5</c:f>
              <c:numCache>
                <c:formatCode>0.0</c:formatCode>
                <c:ptCount val="4"/>
                <c:pt idx="0">
                  <c:v>82</c:v>
                </c:pt>
                <c:pt idx="1">
                  <c:v>68</c:v>
                </c:pt>
                <c:pt idx="2">
                  <c:v>57</c:v>
                </c:pt>
                <c:pt idx="3">
                  <c:v>48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90"/>
          <c:min val="4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0E0E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latin typeface="Noto Sans JP"/>
                    <a:ea typeface="Noto Sans JP"/>
                    <a:cs typeface="Noto Sans JP"/>
                  </a:rPr>
                  <a:t>体重 kg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</c:valAx>
      <c:valAx>
        <c:axId val="48650112"/>
        <c:scaling>
          <c:orientation val="minMax"/>
          <c:max val="190"/>
          <c:min val="15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0E0E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latin typeface="Noto Sans JP"/>
                    <a:ea typeface="Noto Sans JP"/>
                    <a:cs typeface="Noto Sans JP"/>
                  </a:rPr>
                  <a:t>身長 cm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valAx>
      <c:spPr>
        <a:solidFill xmlns:a="http://schemas.openxmlformats.org/drawingml/2006/main">
          <a:srgbClr val="F6F6F6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範囲外</c:v>
          </c:tx>
          <c:spPr>
            <a:solidFill xmlns:a="http://schemas.openxmlformats.org/drawingml/2006/main">
              <a:srgbClr val="2B6777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noFill xmlns:a="http://schemas.openxmlformats.org/drawingml/2006/main"/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0.6</c:v>
                </c:pt>
                <c:pt idx="1">
                  <c:v>0.7</c:v>
                </c:pt>
                <c:pt idx="2">
                  <c:v>0.8</c:v>
                </c:pt>
                <c:pt idx="3">
                  <c:v>0.9</c:v>
                </c:pt>
                <c:pt idx="4">
                  <c:v>0.95</c:v>
                </c:pt>
              </c:numCache>
            </c:numRef>
          </c:xVal>
          <c:yVal>
            <c:numRef>
              <c:f>'Chart Data'!$B$2:$B$6</c:f>
              <c:numCache>
                <c:formatCode>General</c:formatCode>
                <c:ptCount val="5"/>
                <c:pt idx="0">
                  <c:v>0.8</c:v>
                </c:pt>
                <c:pt idx="1">
                  <c:v>0.6</c:v>
                </c:pt>
                <c:pt idx="2">
                  <c:v>0.85</c:v>
                </c:pt>
                <c:pt idx="3">
                  <c:v>0.9</c:v>
                </c:pt>
                <c:pt idx="4">
                  <c:v>0.95</c:v>
                </c:pt>
              </c:numCache>
            </c:numRef>
          </c:yVal>
        </c:ser>
        <c:ser>
          <c:idx val="1"/>
          <c:order val="1"/>
          <c:tx>
            <c:v>両条件を満たす5人</c:v>
          </c:tx>
          <c:spPr>
            <a:solidFill xmlns:a="http://schemas.openxmlformats.org/drawingml/2006/main">
              <a:srgbClr val="E0562B"/>
            </a:solidFill>
            <a:ln xmlns:a="http://schemas.openxmlformats.org/drawingml/2006/main" w="0">
              <a:noFill/>
            </a:ln>
          </c:spPr>
          <c:marker>
            <c:symbol val="circle"/>
            <c:size val="8"/>
            <c:spPr>
              <a:noFill xmlns:a="http://schemas.openxmlformats.org/drawingml/2006/main"/>
            </c:spPr>
          </c:marker>
          <c:xVal>
            <c:numRef>
              <c:f>'Chart Data'!$C$2:$C$6</c:f>
              <c:numCache>
                <c:formatCode>General</c:formatCode>
                <c:ptCount val="5"/>
                <c:pt idx="0">
                  <c:v>0.1</c:v>
                </c:pt>
                <c:pt idx="1">
                  <c:v>0.2</c:v>
                </c:pt>
                <c:pt idx="2">
                  <c:v>0.3</c:v>
                </c:pt>
                <c:pt idx="3">
                  <c:v>0.4</c:v>
                </c:pt>
                <c:pt idx="4">
                  <c:v>0.5</c:v>
                </c:pt>
              </c:numCache>
            </c:numRef>
          </c:xVal>
          <c:yVal>
            <c:numRef>
              <c:f>'Chart Data'!$D$2:$D$6</c:f>
              <c:numCache>
                <c:formatCode>General</c:formatCode>
                <c:ptCount val="5"/>
                <c:pt idx="0">
                  <c:v>0.15</c:v>
                </c:pt>
                <c:pt idx="1">
                  <c:v>0.25</c:v>
                </c:pt>
                <c:pt idx="2">
                  <c:v>0.4</c:v>
                </c:pt>
                <c:pt idx="3">
                  <c:v>0.55</c:v>
                </c:pt>
                <c:pt idx="4">
                  <c:v>0.65</c:v>
                </c:pt>
              </c:numCache>
            </c:numRef>
          </c:yVal>
        </c:ser>
        <c:ser>
          <c:idx val="2"/>
          <c:order val="2"/>
          <c:tx>
            <c:v>u=0.6</c:v>
          </c:tx>
          <c:spPr>
            <a:solidFill xmlns:a="http://schemas.openxmlformats.org/drawingml/2006/main">
              <a:srgbClr val="2B6777"/>
            </a:solidFill>
            <a:ln xmlns:a="http://schemas.openxmlformats.org/drawingml/2006/main" w="19050">
              <a:solidFill>
                <a:srgbClr val="2B6777"/>
              </a:solidFill>
            </a:ln>
          </c:spPr>
          <c:marker>
            <c:symbol val="none"/>
            <c:size val="2"/>
          </c:marker>
          <c:xVal>
            <c:numRef>
              <c:f>'Chart Data'!$E$2:$E$6</c:f>
              <c:numCache>
                <c:formatCode>General</c:formatCode>
                <c:ptCount val="5"/>
                <c:pt idx="0">
                  <c:v>0.6</c:v>
                </c:pt>
                <c:pt idx="1">
                  <c:v>0.6</c:v>
                </c:pt>
                <c:pt idx="2">
                  <c:v>0.6</c:v>
                </c:pt>
                <c:pt idx="3">
                  <c:v>0.6</c:v>
                </c:pt>
                <c:pt idx="4">
                  <c:v>0.6</c:v>
                </c:pt>
              </c:numCache>
            </c:numRef>
          </c:xVal>
          <c:yVal>
            <c:numRef>
              <c:f>'Chart Data'!$F$2:$F$6</c:f>
              <c:numCache>
                <c:formatCode>General</c:formatCode>
                <c:ptCount val="5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</c:numCache>
            </c:numRef>
          </c:yVal>
        </c:ser>
        <c:ser>
          <c:idx val="3"/>
          <c:order val="3"/>
          <c:tx>
            <c:v>v=0.7</c:v>
          </c:tx>
          <c:spPr>
            <a:solidFill xmlns:a="http://schemas.openxmlformats.org/drawingml/2006/main">
              <a:srgbClr val="2B6777"/>
            </a:solidFill>
            <a:ln xmlns:a="http://schemas.openxmlformats.org/drawingml/2006/main" w="19050">
              <a:solidFill>
                <a:srgbClr val="2B6777"/>
              </a:solidFill>
            </a:ln>
          </c:spPr>
          <c:marker>
            <c:symbol val="none"/>
            <c:size val="2"/>
          </c:marker>
          <c:xVal>
            <c:numRef>
              <c:f>'Chart Data'!$G$2:$G$6</c:f>
              <c:numCache>
                <c:formatCode>General</c:formatCode>
                <c:ptCount val="5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</c:numCache>
            </c:numRef>
          </c:xVal>
          <c:yVal>
            <c:numRef>
              <c:f>'Chart Data'!$H$2:$H$6</c:f>
              <c:numCache>
                <c:formatCode>General</c:formatCode>
                <c:ptCount val="5"/>
                <c:pt idx="0">
                  <c:v>0.7</c:v>
                </c:pt>
                <c:pt idx="1">
                  <c:v>0.7</c:v>
                </c:pt>
                <c:pt idx="2">
                  <c:v>0.7</c:v>
                </c:pt>
                <c:pt idx="3">
                  <c:v>0.7</c:v>
                </c:pt>
                <c:pt idx="4">
                  <c:v>0.7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latin typeface="Noto Sans JP"/>
                    <a:ea typeface="Noto Sans JP"/>
                    <a:cs typeface="Noto Sans JP"/>
                  </a:rPr>
                  <a:t>V：体重の位置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</c:valAx>
      <c:valAx>
        <c:axId val="48650112"/>
        <c:scaling>
          <c:orientation val="minMax"/>
          <c:max val="1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latin typeface="Noto Sans JP"/>
                    <a:ea typeface="Noto Sans JP"/>
                    <a:cs typeface="Noto Sans JP"/>
                  </a:rPr>
                  <a:t>U：身長の位置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valAx>
      <c:spPr>
        <a:solidFill xmlns:a="http://schemas.openxmlformats.org/drawingml/2006/main">
          <a:srgbClr val="F6F6F6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F9729A-E745-45EF-86AF-49FAF1CA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ゼミ発表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2FA82-4060-4530-8C7D-3A726639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C8371-EC26-4E07-8E7D-E8AD483D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変数間の依存構造を考慮したデータ拡張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83874-A8BB-4BC0-8026-5564BA38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1E75E7-9293-47B2-A0D4-1C3B8E78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831FE7-D090-4C33-B8F7-1EC3F2ED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コピュラの基礎と初期実験の方針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955F1B-3648-4341-88E6-2EC635B1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M1 齊藤光汰</a:t>
            </a:r>
          </a:p>
          <a:p xmlns:a="http://schemas.openxmlformats.org/drawingml/2006/main">
            <a:pPr algn="ctr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2026年10月5日</a:t>
            </a:r>
          </a:p>
        </p:txBody>
      </p:sp>
    </p:spTree>
    <p:extLst>
      <p:ext uri="{BB962C8B-B14F-4D97-AF65-F5344CB8AC3E}">
        <p14:creationId xmlns:p14="http://schemas.microsoft.com/office/powerpoint/2010/main" val="3789281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78B2A4-EA01-4047-A3F8-02FEDE31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本研究の問題設定と中間発表の振り返り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24F551-0E6E-42F6-B7FD-E2729242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F4ADE-213E-4063-B518-25830821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変数間の関係を考慮した、テーブルデータの拡張を目指す。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7B9EF2-B5E9-4B87-9508-5A96FF84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7F6ADC-88B1-4F68-8234-E2D1C64B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FDB342-0E84-40CA-B7A0-BA5A6DF3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10953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列ごとに値を無作為に置換すると、身長と体重などの</a:t>
            </a:r>
          </a:p>
          <a:p xmlns:a="http://schemas.openxmlformats.org/drawingml/2006/main">
            <a:pPr algn="l">
              <a:def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組合せが不自然になる可能性がある。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疑似ラベルを条件に拡張すると、誤ったラベルの影響を</a:t>
            </a:r>
          </a:p>
          <a:p xmlns:a="http://schemas.openxmlformats.org/drawingml/2006/main">
            <a:pPr algn="l">
              <a:def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受ける可能性がある。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589E69-22CF-43B6-AC52-55F2A7C1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CC5FC6-01F8-4E23-A3E2-6A36A77E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中間発表で述べた方針：依存構造を扱うために、コピュラを使用する</a:t>
            </a:r>
          </a:p>
        </p:txBody>
      </p:sp>
    </p:spTree>
    <p:extLst>
      <p:ext uri="{BB962C8B-B14F-4D97-AF65-F5344CB8AC3E}">
        <p14:creationId xmlns:p14="http://schemas.microsoft.com/office/powerpoint/2010/main" val="7506195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B1A3D8-90E5-4AA2-83AE-DFB4CC44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コピュラとは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87172-256A-4DC0-9437-73C6BA98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389F74-0F99-4973-A00F-64CF2A23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各変数の分布と、変数どうしの依存を分けて表す確率モデル。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105152-5B3D-41A4-9D7B-E0A5788E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AFE4D-0DE0-427E-80E8-6E14A4FF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7CCA21-415E-4979-ABA3-2D39E135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10953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例：身長の分布と体重の分布を、それぞれ別に扱う。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そのうえで「身長が高い人ほど体重も重い」といった</a:t>
            </a:r>
          </a:p>
          <a:p xmlns:a="http://schemas.openxmlformats.org/drawingml/2006/main">
            <a:pPr algn="l">
              <a:def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組合せの関係を、コピュラで表す。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研究では、残した特徴の値に合わせて、</a:t>
            </a:r>
          </a:p>
          <a:p xmlns:a="http://schemas.openxmlformats.org/drawingml/2006/main">
            <a:pPr algn="l">
              <a:def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置換する特徴の値を生成するために使う。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E4C943-E70E-40EB-B1D7-CD1F2189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586632-CC0B-4567-81A6-5615E0B0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まず、分布の形と組合せの関係を、例で分けて考える</a:t>
            </a:r>
          </a:p>
        </p:txBody>
      </p:sp>
    </p:spTree>
    <p:extLst>
      <p:ext uri="{BB962C8B-B14F-4D97-AF65-F5344CB8AC3E}">
        <p14:creationId xmlns:p14="http://schemas.microsoft.com/office/powerpoint/2010/main" val="6929101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B97EFA-8D6F-4BBD-A0C4-B3AFB386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周辺分布と依存構造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A3D32-038F-417B-9E79-55D38A18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9B259E-049A-4B81-9074-E14BC692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周辺分布は「一つの列」、依存構造は「列どうしの組合せ」。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2D8F2C-A2C9-43FE-9C05-488E3FA1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0D23D8-C4A3-4EDD-8BB1-884EE0A6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14350" y="2000250"/>
          <a:ext xmlns:a="http://schemas.openxmlformats.org/drawingml/2006/main" cx="57150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2143125"/>
                <a:gridCol w="2143125"/>
              </a:tblGrid>
              <a:tr h="638175"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人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身長 cm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体重 kg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155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165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57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175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68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185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82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124003-C7AF-4C80-91C6-3FE692C7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28825"/>
            <a:ext cx="490537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身長の周辺分布</a:t>
            </a:r>
          </a:p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155・165・175・185 cmの分布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体重の周辺分布</a:t>
            </a:r>
          </a:p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48・57・68・82 kgの分布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依存構造</a:t>
            </a:r>
          </a:p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高い身長に、重い体重が対応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4576C0-CBF6-4CA9-938A-AC4E15DE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88D68A-B619-48A0-B950-2950E57A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各列の値の出現頻度だけでは、組合せの関係は決まらない</a:t>
            </a:r>
          </a:p>
        </p:txBody>
      </p:sp>
    </p:spTree>
    <p:extLst>
      <p:ext uri="{BB962C8B-B14F-4D97-AF65-F5344CB8AC3E}">
        <p14:creationId xmlns:p14="http://schemas.microsoft.com/office/powerpoint/2010/main" val="5881810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5176D6-1B56-4141-ADAE-D4875005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同じ周辺分布でも、依存は異なる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20EFBB-5FDD-4009-9D72-A6D25709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74C57B-1165-4543-9454-DB8E0B19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体重の並びを逆にすると、各列の値は同じでも関係が変わる。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7ED82E-B14E-4EF3-B01E-3A3F51FD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3B0EF-AD26-4703-9AC1-747910F2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523875" y="2057400"/>
          <a:ext xmlns:a="http://schemas.openxmlformats.org/drawingml/2006/main" cx="52387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6a57c8ce5c4fd4"/>
          </a:graphicData>
        </a:graphic>
      </p:graphicFrame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238875" y="2057400"/>
          <a:ext xmlns:a="http://schemas.openxmlformats.org/drawingml/2006/main" cx="52387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d38555f51bb4d50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A479EF-9495-4AEF-96CA-82965560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430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高い人ほど重い組合せ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16EDFD-A30B-4DEC-B010-C2C86128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430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0562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E0562B"/>
                </a:solidFill>
                <a:latin typeface="Noto Sans JP"/>
                <a:ea typeface="Noto Sans JP"/>
                <a:cs typeface="Noto Sans JP"/>
              </a:rPr>
              <a:t>高い人ほど軽い組合せ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F5670C-54F3-42B9-9CA8-F41BE75A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76FB39-9838-4630-9A1E-989A7874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コピュラが扱うのは、この組合せの違い</a:t>
            </a:r>
          </a:p>
        </p:txBody>
      </p:sp>
    </p:spTree>
    <p:extLst>
      <p:ext uri="{BB962C8B-B14F-4D97-AF65-F5344CB8AC3E}">
        <p14:creationId xmlns:p14="http://schemas.microsoft.com/office/powerpoint/2010/main" val="10866656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9874F6-C1DC-4248-A485-6DF6B833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累積分布関数の意味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2AAC85-E512-4D8F-9A6A-3B03A395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B6B03-2B57-47EA-ADF6-F55CAB69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値を「その値以下が占める割合」に置き換える。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648749-995D-4740-B332-F790ACE1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0DFE63-2B46-4418-9AA4-4B8C3755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6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14350" y="2000250"/>
          <a:ext xmlns:a="http://schemas.openxmlformats.org/drawingml/2006/main" cx="11163300" cy="904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14845"/>
                <a:gridCol w="1014845"/>
                <a:gridCol w="1014845"/>
                <a:gridCol w="1014845"/>
                <a:gridCol w="1014845"/>
                <a:gridCol w="1014845"/>
                <a:gridCol w="1014845"/>
                <a:gridCol w="1014845"/>
                <a:gridCol w="1014845"/>
                <a:gridCol w="1014845"/>
                <a:gridCol w="1014845"/>
              </a:tblGrid>
              <a:tr h="904875"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体重 kg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45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50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55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60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63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67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70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75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80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90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2B2EA-8B77-45DA-9C51-CA7867A5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527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累積分布関数（CDF）の式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3B1C1A-AEE5-4EF2-BAF3-AD30B903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29025"/>
            <a:ext cx="11163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87928B-C58F-4E0A-87E3-4E9841DA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24275"/>
            <a:ext cx="10782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300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Fᵧ(70) = P(Y ≤ 70) ≈ 7 / 10 = 0.7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A5866B-5C79-4059-B7F4-EF54E7A2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Y：体重　P：確率　Fᵧ：体重の累積分布関数</a:t>
            </a:r>
          </a:p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10人中7人が70 kg以下なら、70 kgの位置は0.7。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450F00-462E-4E07-9FDA-938E859F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197549-F3B4-4BCE-BFC8-C20730CC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70 kgという値を、体重分布の中の位置0.7として表す</a:t>
            </a:r>
          </a:p>
        </p:txBody>
      </p:sp>
    </p:spTree>
    <p:extLst>
      <p:ext uri="{BB962C8B-B14F-4D97-AF65-F5344CB8AC3E}">
        <p14:creationId xmlns:p14="http://schemas.microsoft.com/office/powerpoint/2010/main" val="2303014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4CE9E8-4534-48F9-AFA9-58924315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確率積分変換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0AF8A6-85CD-461A-851B-FF5D79DF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069691-7FF6-47DA-A064-AFFB9768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身長も体重も、0〜1の共通の尺度へ変換する。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5D0B4-5A08-4B6C-9E8A-B4847227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A12C83-2486-4678-89D0-08AB34A6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59F9D-C2DE-467F-B0A1-3352B1CC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240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確率積分変換の式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00155A-43D1-4C34-A1DB-712F9CF2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19350"/>
            <a:ext cx="11163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5057B6-7C38-43AF-AAD4-ABBE518F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10782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9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U = Fₓ(X),   V = Fᵧ(Y)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C43A99-B75C-4245-AA7B-B0296B24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1085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X：身長　Y：体重　U・V：各分布の中の累積確率位置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連続な周辺分布では、UとVはそれぞれ0〜1の一様分布。</a:t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一様分布でも、UとVが独立とは限らない。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5E5A7B-48ED-46D9-9F8C-9D60BC84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772F56-08F5-4C04-A048-F383C163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単位や分布の形をそろえて、位置どうしの依存を見る</a:t>
            </a:r>
          </a:p>
        </p:txBody>
      </p:sp>
    </p:spTree>
    <p:extLst>
      <p:ext uri="{BB962C8B-B14F-4D97-AF65-F5344CB8AC3E}">
        <p14:creationId xmlns:p14="http://schemas.microsoft.com/office/powerpoint/2010/main" val="17780345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1B2AB4-80CC-4C4C-8184-3C905D78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元の値と確率位置の対応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01B73-7CA9-414E-8109-E6C8D604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257C2-5141-4B00-95CB-47329356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同じ人の身長と体重を、一組の位置として表す。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35C41A-8D4D-4F5A-BA31-786A9005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D365BD-35FC-441E-89A9-58D17E64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8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14350" y="2143125"/>
          <a:ext xmlns:a="http://schemas.openxmlformats.org/drawingml/2006/main" cx="11163300" cy="2905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2660"/>
                <a:gridCol w="2232660"/>
                <a:gridCol w="2232660"/>
                <a:gridCol w="2232660"/>
                <a:gridCol w="2232660"/>
              </a:tblGrid>
              <a:tr h="581025"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人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身長 cm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体重 kg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身長の位置 U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体重の位置 V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155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165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57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0.30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0.35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175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68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0.70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0.65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185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82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0.90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0.85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4A4A5-7CB8-4DDB-A6A2-010552FE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26F258-E12A-4CDE-955F-97F62AD6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高い身長と重い体重の関係は、UとVの組にも残る</a:t>
            </a:r>
          </a:p>
        </p:txBody>
      </p:sp>
    </p:spTree>
    <p:extLst>
      <p:ext uri="{BB962C8B-B14F-4D97-AF65-F5344CB8AC3E}">
        <p14:creationId xmlns:p14="http://schemas.microsoft.com/office/powerpoint/2010/main" val="4643663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E644C9-8384-4E05-8B63-E328AD62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コピュラの定義式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1BC02-DC99-40B2-8C85-719E212D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3CA4CC-0F9A-4D4A-BDB7-A0A60C13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二つの位置が、指定した範囲に同時に入る確率を表す。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BDEF9A-2349-48FB-9B6A-F1010B25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965E94-0A27-4BAF-8F2A-0FEA70FA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ECEB1B-A14C-437E-A19A-6D580F25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240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コピュラの定義：一様周辺を持つ同時累積分布関数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60069E-B5D1-4419-89C0-76DAAB0C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19350"/>
            <a:ext cx="11163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3248A1-0191-46F3-A334-B7E780CA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10782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9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C(u, v) = P(U ≤ u, V ≤ v)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EC92EA-2E50-4D54-BD1A-FCE37E6F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1085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C：コピュラ　u・v：位置の上限（0〜1）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C(0.6, 0.7) は「身長の位置が0.6以下」かつ</a:t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「体重の位置が0.7以下」を同時に満たす確率。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99F505-A34C-4341-AEC0-5D995A3D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2CA864-5E25-4DA7-A65D-B305B8E5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Cは点の密度でも、体重を固定した条件付き確率でもない</a:t>
            </a:r>
          </a:p>
        </p:txBody>
      </p:sp>
    </p:spTree>
    <p:extLst>
      <p:ext uri="{BB962C8B-B14F-4D97-AF65-F5344CB8AC3E}">
        <p14:creationId xmlns:p14="http://schemas.microsoft.com/office/powerpoint/2010/main" val="3103157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A36072-616D-43A9-AB2B-ED285602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定義式を図で読む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E62004-DD82-46A1-9E6B-6CB78FFE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98CE6-74CA-482E-9BAD-C573526D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左下の範囲に入る人の割合が、C(u, v)の意味。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79BB71-F25D-4514-88C2-4493BEBB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7A189-0ED2-425E-AFF9-27DB4B7A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10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23875" y="1933575"/>
          <a:ext xmlns:a="http://schemas.openxmlformats.org/drawingml/2006/main" cx="6238875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72195e2d3de4ccf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B3528-E896-413C-8070-74A6132A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19300"/>
            <a:ext cx="4381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u = 0.6、v = 0.7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両条件を満たす点：5個</a:t>
            </a:r>
          </a:p>
          <a:p xmlns:a="http://schemas.openxmlformats.org/drawingml/2006/main">
            <a:pPr algn="l">
              <a:defRPr sz="21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全体の点：10個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この例での割合</a:t>
            </a:r>
          </a:p>
          <a:p xmlns:a="http://schemas.openxmlformats.org/drawingml/2006/main">
            <a:pPr algn="l">
              <a:defRPr sz="21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5 / 10 = 0.5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F395F3-DE46-41A9-B4D0-E331AC06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327D57-FC5D-41AE-B614-B2C31437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C(0.6, 0.7)を、この例では約0.5と読む</a:t>
            </a:r>
          </a:p>
        </p:txBody>
      </p:sp>
    </p:spTree>
    <p:extLst>
      <p:ext uri="{BB962C8B-B14F-4D97-AF65-F5344CB8AC3E}">
        <p14:creationId xmlns:p14="http://schemas.microsoft.com/office/powerpoint/2010/main" val="331730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FD1BCF-EFF3-4780-BF46-E64EE300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依存が変わると、コピュラも変わる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3FE9D7-5673-4E9F-8AFD-DCDD1382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412E3-32D0-4755-BD3C-8F3DEE94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同じ位置の上限でも、依存によって同時確率が異なる。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2A82B4-C8FB-4852-B2D6-BFDDB24A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CA84B1-2786-42C4-9066-0F188D15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DACB64-5B48-431B-B08E-3D61A3DA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812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独立コピュラの式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5BA455-4B2D-46DF-93E3-9A9D82F0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11163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E2E6AB-368B-42B8-8F2D-943BF4D0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28875"/>
            <a:ext cx="10782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85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C(u, v) = uv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455084-1C64-46E0-9D53-B9C64E30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独立なら、二つの確率を掛ける。C(0.6, 0.7) = 0.42。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C975A9-24EF-427C-A2BC-8D79C2D1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909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完全同方向依存（U = V）の式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03CCDC-704A-4519-8150-C82E822F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77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C(u, v) = min(u, v)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D06D89-A5DF-425D-A700-9A71CA36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minは小さい方。両条件を満たす範囲は0.6以下なので、0.6。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F3B0DD-BE65-4241-8BAF-CD7AD194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74D294-228A-4E39-AF0F-7F3B027D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一様な周辺分布が同じでも、Cの値は変わる</a:t>
            </a:r>
          </a:p>
        </p:txBody>
      </p:sp>
    </p:spTree>
    <p:extLst>
      <p:ext uri="{BB962C8B-B14F-4D97-AF65-F5344CB8AC3E}">
        <p14:creationId xmlns:p14="http://schemas.microsoft.com/office/powerpoint/2010/main" val="17811765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9D3B9A-2671-4BD5-A7E5-95ED78A6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Sklar（スクラー）の定理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37E81-6135-4CF0-9D28-EF6429FB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1C36EC-A0B1-4862-8E08-BFC39365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元の同時分布を、周辺分布とコピュラで表す。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040D2-5BC1-41F5-B85F-C55C00E7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C13565-D6E9-4D92-B7B7-F010D71F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6C30A-0CF1-47EE-A217-DF719517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240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Sklarの定理の式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ECE252-C073-4280-B311-9135078D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19350"/>
            <a:ext cx="11163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825D46-8841-44AA-A43A-5B322653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10782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9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H(x, y) = C(Fₓ(x), Fᵧ(y))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969AA-5E44-4B77-A8FF-7D72641A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1085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H：身長と体重の同時累積分布関数</a:t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Fₓ・Fᵧ：各列の累積分布関数　C：位置どうしの依存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まずxとyを位置へ変換し、その位置の同時確率をCで求める。</a:t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連続な周辺分布では、対応するコピュラは一意に定まる。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3F40AC-F240-413E-8170-366FE56C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361A5D-4C4F-4261-9DC4-A4B73192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周辺の分布の形と、依存構造を分けてモデル化できる</a:t>
            </a:r>
          </a:p>
        </p:txBody>
      </p:sp>
    </p:spTree>
    <p:extLst>
      <p:ext uri="{BB962C8B-B14F-4D97-AF65-F5344CB8AC3E}">
        <p14:creationId xmlns:p14="http://schemas.microsoft.com/office/powerpoint/2010/main" val="11658555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9E55CA-0CF8-4260-B5BA-22761BB2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逆累積分布による生成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A3575-9C3F-46CC-B1F9-A4844BF4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3A0461-C54F-4FD0-A813-92502D36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位置の組を生成した後、元の単位に戻す。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4D729D-4050-41AD-B598-EE87F0A2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39D19B-45AB-40B6-96A4-19533308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D8870-EA1C-4A83-AEE6-56277CF5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240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逆累積分布変換（逆変換法）の式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31307F-7497-4FE7-81BB-03A6828B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19350"/>
            <a:ext cx="11163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409E26-C831-4306-A672-7A99FC44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10782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9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X = Fₓ⁻¹(U),   Y = Fᵧ⁻¹(V)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3D6CFF-72BB-48EC-8033-C8E0DB49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1085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F⁻¹：位置に対応する値を返す、逆累積分布関数（分位点関数）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例：身長の位置0.6に対応する値が172.5 cmなら、</a:t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Fₓ⁻¹(0.6) = 172.5 cm。</a:t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位置の組の依存を、身長・体重の組合せに反映する。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2448A5-FAAF-4F88-88F9-B7F0B50A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997258-3829-45CA-AA29-29DC9CD5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生成する位置の組に、どのような依存を持たせるかが重要</a:t>
            </a:r>
          </a:p>
        </p:txBody>
      </p:sp>
    </p:spTree>
    <p:extLst>
      <p:ext uri="{BB962C8B-B14F-4D97-AF65-F5344CB8AC3E}">
        <p14:creationId xmlns:p14="http://schemas.microsoft.com/office/powerpoint/2010/main" val="15681735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47BC5E-0AEF-4799-B3A4-043C4BF7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条件付き分布の意味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6FC66F-A95B-4C25-8495-D64F6756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9AC022-289E-4FD7-B6D8-BE917B68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研究では、残した値に合う分布から、置換する値を生成する。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E61E1-ACFD-48E2-BC47-3524BAC9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7F7CF-94E1-4C3C-9C8E-A78370C6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5F5BB-0D2C-4F12-844F-10FCF772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716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条件付き分布の表記：X | Y = 70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14350" y="2695575"/>
          <a:ext xmlns:a="http://schemas.openxmlformats.org/drawingml/2006/main" cx="5381625" cy="236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714625"/>
              </a:tblGrid>
              <a:tr h="590550"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70 kg付近の人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身長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168 cm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173 cm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178 cm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1B3AA3-9045-432C-84DC-107745C4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38425"/>
            <a:ext cx="52387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X | Y = 70：</a:t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体重70 kgを観測したときの身長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平均値だけに固定せず、</a:t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条件に合うばらつきから生成する。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表は考え方を示す近傍の例。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53E25-D99C-44C0-88AF-36F0ABB6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92CD86-FE63-4C25-B630-9F65AC76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「体重を残して身長を変える」を、条件付き生成として扱う</a:t>
            </a:r>
          </a:p>
        </p:txBody>
      </p:sp>
    </p:spTree>
    <p:extLst>
      <p:ext uri="{BB962C8B-B14F-4D97-AF65-F5344CB8AC3E}">
        <p14:creationId xmlns:p14="http://schemas.microsoft.com/office/powerpoint/2010/main" val="154211469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61425B-6528-4092-9613-7284AC75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コピュラを用いた条件付き生成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6B763-0F32-4317-913D-6B2DECE9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6BA0F6-FCFE-4276-8BBC-65467F5E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値を位置へ変え、依存モデルで条件付けしてから、元へ戻す。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6F20A-7859-467A-B505-0C7F7BD0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A02D7-3D9A-4091-AAC6-FF010AD0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15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14350" y="2095500"/>
          <a:ext xmlns:a="http://schemas.openxmlformats.org/drawingml/2006/main" cx="111633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496300"/>
              </a:tblGrid>
              <a:tr h="690563"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段階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体重70 kgを残し、身長を生成する例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条件を位置へ変換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v = Fᵧ(70) = 0.7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条件付きで位置を生成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V = 0.7 の条件下で、身長の位置 U を生成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元の単位へ変換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X = Fₓ⁻¹(U) で、身長cmへ戻す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75FB2B-B338-4ED9-98E7-8068FF27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使った式：累積分布変換と逆累積分布変換。</a:t>
            </a:r>
          </a:p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中央の生成方法は、選ぶコピュラの種類によって変わる。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4EB622-B74A-4694-B506-7A3600F9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09B75C-BAE9-4863-AF55-CF4177C9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条件付きの位置の生成が、既存の無作為な列置換との違い</a:t>
            </a:r>
          </a:p>
        </p:txBody>
      </p:sp>
    </p:spTree>
    <p:extLst>
      <p:ext uri="{BB962C8B-B14F-4D97-AF65-F5344CB8AC3E}">
        <p14:creationId xmlns:p14="http://schemas.microsoft.com/office/powerpoint/2010/main" val="67889442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D07870-AAD1-482F-90A8-91985F8B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コピュラの説明のまとめ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01C51-6193-4693-A375-194E8481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9D92CA-DC4A-4B5C-BAC7-FDF5C6B7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分布の形を各列で扱い、組合せの関係をコピュラで扱う。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CF95B5-5505-41B7-B1B3-32D3CC7D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920264-DE11-4617-AE0E-00DAF17F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16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14350" y="2095500"/>
          <a:ext xmlns:a="http://schemas.openxmlformats.org/drawingml/2006/main" cx="111633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21100"/>
                <a:gridCol w="3721100"/>
                <a:gridCol w="3721100"/>
              </a:tblGrid>
              <a:tr h="750094">
                <a:tc>
                  <a:txBody>
                    <a:bodyPr/>
                    <a:lstStyle/>
                    <a:p>
                      <a:pPr algn="ctr"/>
                      <a:r>
                        <a:rPr sz="2025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要素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役割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身長・体重の例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周辺分布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各変数の値の出現頻度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身長の分布、体重の分布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コピュラ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確率位置どうしの依存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高い位置と重い位置の結びつき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条件付き生成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観測値に合う値を生成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70 kgを残して身長を生成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179A6D-EEFF-4C67-8B7E-81A1A176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02A87B-A817-4DEC-A4A7-CE3F69BD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コピュラにはいくつか種類があり、表せる依存の形が異なる</a:t>
            </a:r>
          </a:p>
        </p:txBody>
      </p:sp>
    </p:spTree>
    <p:extLst>
      <p:ext uri="{BB962C8B-B14F-4D97-AF65-F5344CB8AC3E}">
        <p14:creationId xmlns:p14="http://schemas.microsoft.com/office/powerpoint/2010/main" val="69829432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4ED7A6-D31A-4E45-9262-ED1CD231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Gaussian copulaとStudent-t copula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289CE-0D44-4894-A598-745C0F48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883E16-DBF0-4F44-BCBD-96B17B28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どちらも、変換した空間で多変量分布を用いるコピュラ。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1B659F-CA82-48DB-AE32-30256CE4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E14E0-EC36-4699-93A3-29561E05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ACCB23-BC98-4F48-B78D-3FB1690F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05000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Gaussian copula（ガウシアン・コピュラ）の式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91027D-D046-414F-A00A-2594E037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11163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B75F68-2F7C-4EA2-83C5-60724877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10782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77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Cᵣ(u, v) = Φᵣ(Φ⁻¹(u), Φ⁻¹(v))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0310D4-F32C-47A9-BFCD-DED420C4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5757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Φ：標準正規CDF　Φ⁻¹：位置を正規の値に戻す逆CDF</a:t>
            </a:r>
          </a:p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Φᵣ：相関ρを持つ二変量標準正規CDF。ρで依存を表す。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0E2AA2-7FF2-4E35-8745-B8BEF08A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Student-t copula</a:t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正規分布の代わりにt分布を使う。上下両側の極端な値が</a:t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同時に出る依存を表せる。相関に加え自由度の推定が必要。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1A5F0B-A2C9-46BE-B33F-4380A5A2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128411-01DF-42AD-A4FE-8296636B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Gaussianは条件付き計算が容易。Student-tは両側の裾依存を扱える</a:t>
            </a:r>
          </a:p>
        </p:txBody>
      </p:sp>
    </p:spTree>
    <p:extLst>
      <p:ext uri="{BB962C8B-B14F-4D97-AF65-F5344CB8AC3E}">
        <p14:creationId xmlns:p14="http://schemas.microsoft.com/office/powerpoint/2010/main" val="12314632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A72171-E306-4CC9-9C77-36AF9FA5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Clayton・Gumbel・Joe copula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0942B-D80F-4A18-8FA4-8E14AFFB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D2D105-FF65-46C4-9095-DBC8A4CB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小さい側、大きい側など、特定の側で強い依存を表す。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8961C8-3D00-4E41-93E6-0A40732F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A95755-4B1A-4B6E-9A49-16383D2D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18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14350" y="2105025"/>
          <a:ext xmlns:a="http://schemas.openxmlformats.org/drawingml/2006/main" cx="111633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21100"/>
                <a:gridCol w="3721100"/>
                <a:gridCol w="3721100"/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種類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主な特徴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依存の例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Clayton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小さい値どうしの共発生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下側の裾依存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両方の指標が低い状態で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特に強く連動する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Gumbel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大きい値どうしの共発生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上側の裾依存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需要と負荷が非常に高い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状態で連動する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Joe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上側の裾依存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Gumbelとは内部の形が異なる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高い位置の共発生を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別の形でモデル化する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37C35C-719B-457F-AB57-11F88D5D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40EBBD-55B0-4BF2-BC41-624A6240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裾とは分布の端の領域。どちら側の共発生を重視するかで選ぶ</a:t>
            </a:r>
          </a:p>
        </p:txBody>
      </p:sp>
    </p:spTree>
    <p:extLst>
      <p:ext uri="{BB962C8B-B14F-4D97-AF65-F5344CB8AC3E}">
        <p14:creationId xmlns:p14="http://schemas.microsoft.com/office/powerpoint/2010/main" val="84638776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FDB75A-E7C6-4C1D-B98C-211F31B5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Frank・Vine・ノンパラメトリック・コピュラ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84A519-DF5A-4E99-A7B3-BF170549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E036B6-CFCB-424C-8865-F6BE334A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依存の対称性や、変数の組ごとの違いを扱う候補。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4331A-0C3F-47CF-9350-3FFE02C2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8638A5-38C9-482E-8B3B-9A83E717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19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14350" y="2095500"/>
          <a:ext xmlns:a="http://schemas.openxmlformats.org/drawingml/2006/main" cx="11163300" cy="3076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21100"/>
                <a:gridCol w="3721100"/>
                <a:gridCol w="3721100"/>
              </a:tblGrid>
              <a:tr h="769144"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種類・構成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特徴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推定・生成の注意点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</a:tr>
              <a:tr h="769144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Frank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対称な依存。上下の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裾依存係数は0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裾依存が0でも、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独立という意味ではない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Vine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二変量のコピュラを組合せ、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ペアごとに異なる依存を表す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組合せ・種類・パラメータを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選ぶ必要がある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  <a:tr h="769144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ノンパラメトリック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特定の一族に固定せず、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データから柔軟に推定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高次元や少数データでの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推定・条件付けが課題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F50D33-7725-491E-A4B0-C19EB2BC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25272-9484-4DDA-BB55-ABAF5EF6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柔軟なモデルほど、必要なデータ量と推定の負担も検討する</a:t>
            </a:r>
          </a:p>
        </p:txBody>
      </p:sp>
    </p:spTree>
    <p:extLst>
      <p:ext uri="{BB962C8B-B14F-4D97-AF65-F5344CB8AC3E}">
        <p14:creationId xmlns:p14="http://schemas.microsoft.com/office/powerpoint/2010/main" val="6468004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CE2FD5-C296-434A-B241-19809DE9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初期実験で用いるコピュラ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457B2-0669-4DF8-B22D-398DEA1F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40FA5C-63F9-4B9D-8D29-36F99029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まずGaussian copulaを、VIMEの条件付き置換器に用いる。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122396-86AB-48D8-8639-AE240386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AB3407-965B-47CB-BE3E-54AA666E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2BC9A-7D23-43FE-9107-BBBA8B72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3357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選択理由：多変量の条件付き分布を計算しやすく、</a:t>
            </a:r>
          </a:p>
          <a:p xmlns:a="http://schemas.openxmlformats.org/drawingml/2006/main">
            <a:pPr algn="l">
              <a:defRPr sz="21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既存の列置換と、同じ学習条件で比較できる。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6FB41E-0A86-48DA-89A6-C26C7F3C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71800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条件付き正規分布の式（身長の潜在値を生成）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FA37F-A6BD-4B40-9253-62B951D2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90900"/>
            <a:ext cx="11163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1AEC24-BE52-4AFD-B06C-F8C0BA51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10782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85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Zₓ | Zᵧ = zᵧ  ~  N(ρzᵧ, 1 − ρ²)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705128-91D8-41D5-A03A-B7D38B60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43425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Zₓ・Zᵧ：Φ⁻¹で変換した値　ρ：潜在空間の相関</a:t>
            </a:r>
          </a:p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N(平均, 分散)：正規分布。残した体重に平均を合わせ、ばらつきを残す。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9CF227-0C19-43E5-8065-A82C4A7B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AAD181-DB6D-43A9-A065-962288CF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Gaussianで依存保持と分類性能を検証し、必要に応じて他の種類へ広げる</a:t>
            </a:r>
          </a:p>
        </p:txBody>
      </p:sp>
    </p:spTree>
    <p:extLst>
      <p:ext uri="{BB962C8B-B14F-4D97-AF65-F5344CB8AC3E}">
        <p14:creationId xmlns:p14="http://schemas.microsoft.com/office/powerpoint/2010/main" val="74508319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287CB8-FA19-4346-9313-240E7159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補足：実験環境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8577D7-C614-40B7-AF39-D9040445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F7DE41-4E5F-477D-A055-ED36EB30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保存済みの2026年10月4日の実行記録に基づく。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8D40D-1F64-4365-8378-5ABD9FEF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補足資料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E170A-85EB-4D2F-885E-53910322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21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14350" y="2095500"/>
          <a:ext xmlns:a="http://schemas.openxmlformats.org/drawingml/2006/main" cx="111633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496300"/>
              </a:tblGrid>
              <a:tr h="638175"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実行環境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OS / CPU系統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macOS 26.3.1 / arm64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Python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3.12.14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主要ライブラリ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NumPy 2.5.3 / SciPy 1.18.1</a:t>
                      </a:r>
                    </a:p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scikit-learn 1.9.1 / PyTorch 2.14.1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計算デバイス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CPU / PyTorchのスレッド数1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1DA9C-F652-4624-BD2B-7BF1F6B5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A87EE6-CD20-42F6-A224-5A0FB0C4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VIMEのPyTorch実装を用いた小規模な比較実験</a:t>
            </a:r>
          </a:p>
        </p:txBody>
      </p:sp>
    </p:spTree>
    <p:extLst>
      <p:ext uri="{BB962C8B-B14F-4D97-AF65-F5344CB8AC3E}">
        <p14:creationId xmlns:p14="http://schemas.microsoft.com/office/powerpoint/2010/main" val="214019855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813CED-369E-4AE0-9E71-3CBBEB90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補足：使用するデータ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E23A34-5DEE-41EE-8673-A34E6817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D2340-DC41-4B3E-96CF-535C9976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scikit-learnに付属する、数値特徴の分類データ。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DCB2B5-F424-473E-8465-8BDF20BC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補足資料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F658BC-5FF5-4A1D-A37C-15BC979B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22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14350" y="2038350"/>
          <a:ext xmlns:a="http://schemas.openxmlformats.org/drawingml/2006/main" cx="11163300" cy="3200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21100"/>
                <a:gridCol w="3721100"/>
                <a:gridCol w="372110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Breast Cancer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Wine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行数 / 特徴数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569行 / 30特徴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178行 / 13特徴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データの内容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細胞核の大きさ・形状など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画像から求めた数値特徴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アルコール・酸・色など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ワインの化学分析値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分類ラベル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悪性 / 良性（2クラス）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ワインの品種（3クラス）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型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数値特徴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数値特徴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B1F0B2-A9CE-4534-93EF-938F51D8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0F20F4-C8B7-46B2-998B-74C25F68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ラベルは分類の正解。コピュラの依存推定にはラベルを使わない</a:t>
            </a:r>
          </a:p>
        </p:txBody>
      </p:sp>
    </p:spTree>
    <p:extLst>
      <p:ext uri="{BB962C8B-B14F-4D97-AF65-F5344CB8AC3E}">
        <p14:creationId xmlns:p14="http://schemas.microsoft.com/office/powerpoint/2010/main" val="135747405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267521-D74D-42E0-B546-54675B12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補足：ラベル付きデータの設定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24C1A-7915-4084-BA26-C5F1C76F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8F8CB-3312-410B-96B9-931DECA7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全体を訓練80%・テスト20%に分け、訓練の30%にラベルを付ける。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A3F1B0-6B2C-4D99-BBD1-FAE2C043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補足資料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9A5060-B3A2-48BB-92BD-6D1BB13F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23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14350" y="2085975"/>
          <a:ext xmlns:a="http://schemas.openxmlformats.org/drawingml/2006/main" cx="11163300" cy="2962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21100"/>
                <a:gridCol w="3721100"/>
                <a:gridCol w="3721100"/>
              </a:tblGrid>
              <a:tr h="592455"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区分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Breast Cancer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Wine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</a:tr>
              <a:tr h="592455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ラベル付き訓練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136件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42件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2455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ラベルなし訓練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319件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100件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  <a:tr h="592455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訓練合計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455件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142件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2455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テスト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114件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36件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732E51-1DDA-426A-AEEA-3B75A4C1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911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クラス比を保つ層化分割。テストデータは学習や分布推定に使わない。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CFE6C5-38FE-4353-AA9E-7CE28AF0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875E4A-E83E-49DE-AC24-24ADD746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「30%」は全データに対する割合ではなく、訓練データ内の割合</a:t>
            </a:r>
          </a:p>
        </p:txBody>
      </p:sp>
    </p:spTree>
    <p:extLst>
      <p:ext uri="{BB962C8B-B14F-4D97-AF65-F5344CB8AC3E}">
        <p14:creationId xmlns:p14="http://schemas.microsoft.com/office/powerpoint/2010/main" val="114792085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0D6134-45D1-4C9D-B46F-A25BBB26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補足：使用するモデル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0A994-4AB7-4AE2-9C0F-7923065B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EFB620-D5EF-4CE3-8AFB-FA897020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VIMEの学習枠組みで、置換器だけを変更して比較する。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CD0E7C-6914-4AF3-88B6-6D402B4B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補足資料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BCC699-1827-4CCF-A5FF-FB09C75A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24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14350" y="1952625"/>
          <a:ext xmlns:a="http://schemas.openxmlformats.org/drawingml/2006/main" cx="111633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496300"/>
              </a:tblGrid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構成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今回の設定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エンコーダ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MLP：隠れ層4層、各層32ユニット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自己教師あり学習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変更位置の推定（BCE）と元値の復元（MSE）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分類器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エンコーダを固定し、隠れ幅32のMLPで分類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半教師あり学習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ラベル付きの交差エントロピー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＋ラベルなしの3拡張の予測一貫性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比較する置換器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列ごとの無作為置換 / Gaussian copula条件付き置換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45C631-730C-4992-9015-BF745B3D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0F2D63-A658-4FC4-9C62-915F728F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学習課題とモデルをそろえ、置換方法の違いを比較する</a:t>
            </a:r>
          </a:p>
        </p:txBody>
      </p:sp>
    </p:spTree>
    <p:extLst>
      <p:ext uri="{BB962C8B-B14F-4D97-AF65-F5344CB8AC3E}">
        <p14:creationId xmlns:p14="http://schemas.microsoft.com/office/powerpoint/2010/main" val="28774810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5D7C5A-5FAB-4C85-916A-42712F63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補足：学習条件と前処理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1C021-2CEF-4772-9258-7A0368A1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1DC0BF-5D76-4DDB-A53F-70FAB048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同じデータ分割・乱数seed・学習予算で、2手法を比較する。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5BF7C-DB71-4782-8182-7A018A66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補足資料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E747FB-B8B0-4C9D-AA0A-453AF574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25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14350" y="1971675"/>
          <a:ext xmlns:a="http://schemas.openxmlformats.org/drawingml/2006/main" cx="111633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496300"/>
              </a:tblGrid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2025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共通設定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前処理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訓練データだけでMinMaxScalerを推定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学習回数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自己教師あり15 epoch / 半教師あり300反復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拡張・batch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各特徴のマスク確率0.4 / batch size 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損失重み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復元MSE：2 / 予測一貫性：1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繰り返し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seed = 11, 23, 37, 51, 67（5回）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7E9207-8427-4587-B784-C40E36AD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16D151-3213-4C11-A7C7-7FDFB04D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コピュラの周辺分布と依存は、ラベルなし訓練データから推定する</a:t>
            </a:r>
          </a:p>
        </p:txBody>
      </p:sp>
    </p:spTree>
    <p:extLst>
      <p:ext uri="{BB962C8B-B14F-4D97-AF65-F5344CB8AC3E}">
        <p14:creationId xmlns:p14="http://schemas.microsoft.com/office/powerpoint/2010/main" val="82134881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91C7DF-4463-431F-9166-71FEC54F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補足：保存済みの初期実験結果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8AB27-572E-4BE6-A184-558963CD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37A46B-825C-4783-BB12-0F83EC15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分類性能の平均差は小さく、改善の結論には追加検証が必要。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61649A-439E-446D-BD8E-2F622B90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補足資料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E2CEF-13FD-433A-9A51-D3E19889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26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14350" y="2105025"/>
          <a:ext xmlns:a="http://schemas.openxmlformats.org/drawingml/2006/main" cx="111633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21100"/>
                <a:gridCol w="3721100"/>
                <a:gridCol w="3721100"/>
              </a:tblGrid>
              <a:tr h="730250"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ROC-AUC：平均 ± SD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列置換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Gaussian copula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Breast Cancer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0.970 ± 0.012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0.973 ± 0.017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Wine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0.826 ± 0.068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0.847 ± 0.130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B1ABF5-F187-4C92-B5E2-A31CC639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243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平均差の95%区間</a:t>
            </a:r>
          </a:p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Breast Cancer：−0.005〜+0.011　Wine：−0.079〜+0.109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両方とも0を含む。少数データ・5回の探索的な比較。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B223CB-D242-4CAB-B896-18E79449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70D31-27B0-4C49-8CD7-05C6FE72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本編は手法の説明と選択まで。結果の詳細は質疑用の補足に置く</a:t>
            </a:r>
          </a:p>
        </p:txBody>
      </p:sp>
    </p:spTree>
    <p:extLst>
      <p:ext uri="{BB962C8B-B14F-4D97-AF65-F5344CB8AC3E}">
        <p14:creationId xmlns:p14="http://schemas.microsoft.com/office/powerpoint/2010/main" val="3747987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2026-10-05T00:48:28.5480000Z</dcterms:created>
  <dcterms:modified xsi:type="dcterms:W3CDTF">2026-10-05T00:48:28.5480000Z</dcterms:modified>
</coreProperties>
</file>