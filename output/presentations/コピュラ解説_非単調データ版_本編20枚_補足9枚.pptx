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c1a4b3db5a4793" /><Relationship Type="http://schemas.openxmlformats.org/officeDocument/2006/relationships/extended-properties" Target="/docProps/app.xml" Id="R079e8a99565c41a4" /><Relationship Type="http://schemas.openxmlformats.org/officeDocument/2006/relationships/officeDocument" Target="/ppt/presentation.xml" Id="R783ffad1c02f47c6" /></Relationships>
</file>

<file path=ppt/presentation.xml><?xml version="1.0" encoding="utf-8"?>
<p:presentation xmlns:p="http://schemas.openxmlformats.org/presentationml/2006/main">
  <p:sldMasterIdLst>
    <p:sldMasterId xmlns:r="http://schemas.openxmlformats.org/officeDocument/2006/relationships" id="2147483648" r:id="R8c77ec20deee4c66"/>
  </p:sldMasterIdLst>
  <p:notesMasterIdLst>
    <p:notesMasterId xmlns:r="http://schemas.openxmlformats.org/officeDocument/2006/relationships" r:id="Rf751ec15c82c4c6e"/>
  </p:notesMasterIdLst>
  <p:sldIdLst>
    <p:sldId xmlns:r="http://schemas.openxmlformats.org/officeDocument/2006/relationships" id="256" r:id="R68034bd83c73430c"/>
    <p:sldId xmlns:r="http://schemas.openxmlformats.org/officeDocument/2006/relationships" id="257" r:id="R03d5f07e1dc24e60"/>
    <p:sldId xmlns:r="http://schemas.openxmlformats.org/officeDocument/2006/relationships" id="258" r:id="R8b4a9058c69047ae"/>
    <p:sldId xmlns:r="http://schemas.openxmlformats.org/officeDocument/2006/relationships" id="259" r:id="R7fb6f3a16eea4dc5"/>
    <p:sldId xmlns:r="http://schemas.openxmlformats.org/officeDocument/2006/relationships" id="260" r:id="R15b74aa037124448"/>
    <p:sldId xmlns:r="http://schemas.openxmlformats.org/officeDocument/2006/relationships" id="261" r:id="R558d62f6c4ad40ae"/>
    <p:sldId xmlns:r="http://schemas.openxmlformats.org/officeDocument/2006/relationships" id="262" r:id="R85a6c80b7fce49b5"/>
    <p:sldId xmlns:r="http://schemas.openxmlformats.org/officeDocument/2006/relationships" id="263" r:id="Rf81f8d0cc1654405"/>
    <p:sldId xmlns:r="http://schemas.openxmlformats.org/officeDocument/2006/relationships" id="264" r:id="R6026cbd0baf24f66"/>
    <p:sldId xmlns:r="http://schemas.openxmlformats.org/officeDocument/2006/relationships" id="265" r:id="R3f22a71e1f8749cf"/>
    <p:sldId xmlns:r="http://schemas.openxmlformats.org/officeDocument/2006/relationships" id="266" r:id="Rcafdab095e034a37"/>
    <p:sldId xmlns:r="http://schemas.openxmlformats.org/officeDocument/2006/relationships" id="267" r:id="R766dd809665f4ed7"/>
    <p:sldId xmlns:r="http://schemas.openxmlformats.org/officeDocument/2006/relationships" id="268" r:id="R1e6183e8db4c475d"/>
    <p:sldId xmlns:r="http://schemas.openxmlformats.org/officeDocument/2006/relationships" id="269" r:id="R31174677f9234932"/>
    <p:sldId xmlns:r="http://schemas.openxmlformats.org/officeDocument/2006/relationships" id="270" r:id="R29670940a72b46e8"/>
    <p:sldId xmlns:r="http://schemas.openxmlformats.org/officeDocument/2006/relationships" id="271" r:id="R93a144b9ebd04ad8"/>
    <p:sldId xmlns:r="http://schemas.openxmlformats.org/officeDocument/2006/relationships" id="272" r:id="R320c249793cf4194"/>
    <p:sldId xmlns:r="http://schemas.openxmlformats.org/officeDocument/2006/relationships" id="273" r:id="R0bda7968774a4472"/>
    <p:sldId xmlns:r="http://schemas.openxmlformats.org/officeDocument/2006/relationships" id="274" r:id="Rd7e2f864fff44c69"/>
    <p:sldId xmlns:r="http://schemas.openxmlformats.org/officeDocument/2006/relationships" id="275" r:id="Rdff366623c974774"/>
    <p:sldId xmlns:r="http://schemas.openxmlformats.org/officeDocument/2006/relationships" id="276" r:id="R3241b075c7554ae3"/>
    <p:sldId xmlns:r="http://schemas.openxmlformats.org/officeDocument/2006/relationships" id="277" r:id="R3f01e203f8424856"/>
    <p:sldId xmlns:r="http://schemas.openxmlformats.org/officeDocument/2006/relationships" id="278" r:id="R963d6e699de54d06"/>
    <p:sldId xmlns:r="http://schemas.openxmlformats.org/officeDocument/2006/relationships" id="279" r:id="Rfff07f5d3e34493d"/>
    <p:sldId xmlns:r="http://schemas.openxmlformats.org/officeDocument/2006/relationships" id="280" r:id="R13d771e9065a42d3"/>
    <p:sldId xmlns:r="http://schemas.openxmlformats.org/officeDocument/2006/relationships" id="281" r:id="R66fa6e7b2adc4758"/>
    <p:sldId xmlns:r="http://schemas.openxmlformats.org/officeDocument/2006/relationships" id="282" r:id="Rda23fce58c134f27"/>
    <p:sldId xmlns:r="http://schemas.openxmlformats.org/officeDocument/2006/relationships" id="283" r:id="Rae8aa1fc7c8d4181"/>
    <p:sldId xmlns:r="http://schemas.openxmlformats.org/officeDocument/2006/relationships" id="284" r:id="Rc701b4c6c1944d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fec27269f54eb4" /><Relationship Type="http://schemas.openxmlformats.org/officeDocument/2006/relationships/slideMaster" Target="/ppt/slideMasters/slideMaster1.xml" Id="R8c77ec20deee4c66" /><Relationship Type="http://schemas.openxmlformats.org/officeDocument/2006/relationships/notesMaster" Target="/ppt/notesMasters/notesMaster1.xml" Id="Rf751ec15c82c4c6e" /><Relationship Type="http://schemas.openxmlformats.org/officeDocument/2006/relationships/presProps" Target="/ppt/presProps.xml" Id="Rb9c7d47af9c1470c" /><Relationship Type="http://schemas.openxmlformats.org/officeDocument/2006/relationships/tableStyles" Target="/ppt/tableStyles.xml" Id="R2841c3ae413a45a5" /><Relationship Type="http://schemas.openxmlformats.org/officeDocument/2006/relationships/slide" Target="/ppt/slides/slide1.xml" Id="R68034bd83c73430c" /><Relationship Type="http://schemas.openxmlformats.org/officeDocument/2006/relationships/slide" Target="/ppt/slides/slide2.xml" Id="R03d5f07e1dc24e60" /><Relationship Type="http://schemas.openxmlformats.org/officeDocument/2006/relationships/slide" Target="/ppt/slides/slide3.xml" Id="R8b4a9058c69047ae" /><Relationship Type="http://schemas.openxmlformats.org/officeDocument/2006/relationships/slide" Target="/ppt/slides/slide4.xml" Id="R7fb6f3a16eea4dc5" /><Relationship Type="http://schemas.openxmlformats.org/officeDocument/2006/relationships/slide" Target="/ppt/slides/slide5.xml" Id="R15b74aa037124448" /><Relationship Type="http://schemas.openxmlformats.org/officeDocument/2006/relationships/slide" Target="/ppt/slides/slide6.xml" Id="R558d62f6c4ad40ae" /><Relationship Type="http://schemas.openxmlformats.org/officeDocument/2006/relationships/slide" Target="/ppt/slides/slide7.xml" Id="R85a6c80b7fce49b5" /><Relationship Type="http://schemas.openxmlformats.org/officeDocument/2006/relationships/slide" Target="/ppt/slides/slide8.xml" Id="Rf81f8d0cc1654405" /><Relationship Type="http://schemas.openxmlformats.org/officeDocument/2006/relationships/slide" Target="/ppt/slides/slide9.xml" Id="R6026cbd0baf24f66" /><Relationship Type="http://schemas.openxmlformats.org/officeDocument/2006/relationships/slide" Target="/ppt/slides/slide10.xml" Id="R3f22a71e1f8749cf" /><Relationship Type="http://schemas.openxmlformats.org/officeDocument/2006/relationships/slide" Target="/ppt/slides/slide11.xml" Id="Rcafdab095e034a37" /><Relationship Type="http://schemas.openxmlformats.org/officeDocument/2006/relationships/slide" Target="/ppt/slides/slide12.xml" Id="R766dd809665f4ed7" /><Relationship Type="http://schemas.openxmlformats.org/officeDocument/2006/relationships/slide" Target="/ppt/slides/slide13.xml" Id="R1e6183e8db4c475d" /><Relationship Type="http://schemas.openxmlformats.org/officeDocument/2006/relationships/slide" Target="/ppt/slides/slide14.xml" Id="R31174677f9234932" /><Relationship Type="http://schemas.openxmlformats.org/officeDocument/2006/relationships/slide" Target="/ppt/slides/slide15.xml" Id="R29670940a72b46e8" /><Relationship Type="http://schemas.openxmlformats.org/officeDocument/2006/relationships/slide" Target="/ppt/slides/slide16.xml" Id="R93a144b9ebd04ad8" /><Relationship Type="http://schemas.openxmlformats.org/officeDocument/2006/relationships/slide" Target="/ppt/slides/slide17.xml" Id="R320c249793cf4194" /><Relationship Type="http://schemas.openxmlformats.org/officeDocument/2006/relationships/slide" Target="/ppt/slides/slide18.xml" Id="R0bda7968774a4472" /><Relationship Type="http://schemas.openxmlformats.org/officeDocument/2006/relationships/slide" Target="/ppt/slides/slide19.xml" Id="Rd7e2f864fff44c69" /><Relationship Type="http://schemas.openxmlformats.org/officeDocument/2006/relationships/slide" Target="/ppt/slides/slide20.xml" Id="Rdff366623c974774" /><Relationship Type="http://schemas.openxmlformats.org/officeDocument/2006/relationships/slide" Target="/ppt/slides/slide21.xml" Id="R3241b075c7554ae3" /><Relationship Type="http://schemas.openxmlformats.org/officeDocument/2006/relationships/slide" Target="/ppt/slides/slide22.xml" Id="R3f01e203f8424856" /><Relationship Type="http://schemas.openxmlformats.org/officeDocument/2006/relationships/slide" Target="/ppt/slides/slide23.xml" Id="R963d6e699de54d06" /><Relationship Type="http://schemas.openxmlformats.org/officeDocument/2006/relationships/slide" Target="/ppt/slides/slide24.xml" Id="Rfff07f5d3e34493d" /><Relationship Type="http://schemas.openxmlformats.org/officeDocument/2006/relationships/slide" Target="/ppt/slides/slide25.xml" Id="R13d771e9065a42d3" /><Relationship Type="http://schemas.openxmlformats.org/officeDocument/2006/relationships/slide" Target="/ppt/slides/slide26.xml" Id="R66fa6e7b2adc4758" /><Relationship Type="http://schemas.openxmlformats.org/officeDocument/2006/relationships/slide" Target="/ppt/slides/slide27.xml" Id="Rda23fce58c134f27" /><Relationship Type="http://schemas.openxmlformats.org/officeDocument/2006/relationships/slide" Target="/ppt/slides/slide28.xml" Id="Rae8aa1fc7c8d4181" /><Relationship Type="http://schemas.openxmlformats.org/officeDocument/2006/relationships/slide" Target="/ppt/slides/slide29.xml" Id="Rc701b4c6c1944d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eae5cf265947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81f7d83c094d65" /><Relationship Type="http://schemas.openxmlformats.org/officeDocument/2006/relationships/notesMaster" Target="/ppt/notesMasters/notesMaster1.xml" Id="R307224d75ac047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654c8987d24ab1" /><Relationship Type="http://schemas.openxmlformats.org/officeDocument/2006/relationships/notesMaster" Target="/ppt/notesMasters/notesMaster1.xml" Id="R721c7475a56a40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b7f9baebb048f9" /><Relationship Type="http://schemas.openxmlformats.org/officeDocument/2006/relationships/notesMaster" Target="/ppt/notesMasters/notesMaster1.xml" Id="Rffe23e0c622342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8d15bc606f4263" /><Relationship Type="http://schemas.openxmlformats.org/officeDocument/2006/relationships/notesMaster" Target="/ppt/notesMasters/notesMaster1.xml" Id="R8bdd1f0f279b44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1dfc3c7bd54036" /><Relationship Type="http://schemas.openxmlformats.org/officeDocument/2006/relationships/notesMaster" Target="/ppt/notesMasters/notesMaster1.xml" Id="R1ffb30ef923545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b1a8b53c6d4286" /><Relationship Type="http://schemas.openxmlformats.org/officeDocument/2006/relationships/notesMaster" Target="/ppt/notesMasters/notesMaster1.xml" Id="R3e9f19b2c1764e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f142cdcfc24a45" /><Relationship Type="http://schemas.openxmlformats.org/officeDocument/2006/relationships/notesMaster" Target="/ppt/notesMasters/notesMaster1.xml" Id="Ra6bf7f324dd545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74fb5185654574" /><Relationship Type="http://schemas.openxmlformats.org/officeDocument/2006/relationships/notesMaster" Target="/ppt/notesMasters/notesMaster1.xml" Id="Rf01c290622fd4b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4fec21ff5d432e" /><Relationship Type="http://schemas.openxmlformats.org/officeDocument/2006/relationships/notesMaster" Target="/ppt/notesMasters/notesMaster1.xml" Id="R985a6c46cc754f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4d2a225eaf44cf" /><Relationship Type="http://schemas.openxmlformats.org/officeDocument/2006/relationships/notesMaster" Target="/ppt/notesMasters/notesMaster1.xml" Id="R0e304710972e49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841b0147e84937" /><Relationship Type="http://schemas.openxmlformats.org/officeDocument/2006/relationships/notesMaster" Target="/ppt/notesMasters/notesMaster1.xml" Id="Rf1c2bc7376ac4e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b554e894de44f6" /><Relationship Type="http://schemas.openxmlformats.org/officeDocument/2006/relationships/notesMaster" Target="/ppt/notesMasters/notesMaster1.xml" Id="Ra7efaaada06344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f18b5535e7428f" /><Relationship Type="http://schemas.openxmlformats.org/officeDocument/2006/relationships/notesMaster" Target="/ppt/notesMasters/notesMaster1.xml" Id="Rf718c6498a5d41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1aa30bc5484c12" /><Relationship Type="http://schemas.openxmlformats.org/officeDocument/2006/relationships/notesMaster" Target="/ppt/notesMasters/notesMaster1.xml" Id="R9af7968975ea4d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a395230dcd4bb4" /><Relationship Type="http://schemas.openxmlformats.org/officeDocument/2006/relationships/notesMaster" Target="/ppt/notesMasters/notesMaster1.xml" Id="R4cbf7bf79cfc46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0cdc5745f14656" /><Relationship Type="http://schemas.openxmlformats.org/officeDocument/2006/relationships/notesMaster" Target="/ppt/notesMasters/notesMaster1.xml" Id="Rd2ac8e4733fe45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f316dee9424947" /><Relationship Type="http://schemas.openxmlformats.org/officeDocument/2006/relationships/notesMaster" Target="/ppt/notesMasters/notesMaster1.xml" Id="Ra3c71b52875a4c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076324935044b6" /><Relationship Type="http://schemas.openxmlformats.org/officeDocument/2006/relationships/notesMaster" Target="/ppt/notesMasters/notesMaster1.xml" Id="R13be29a1e83241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83bb5023cf477e" /><Relationship Type="http://schemas.openxmlformats.org/officeDocument/2006/relationships/notesMaster" Target="/ppt/notesMasters/notesMaster1.xml" Id="R8527eda443d642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0b1f333b134932" /><Relationship Type="http://schemas.openxmlformats.org/officeDocument/2006/relationships/notesMaster" Target="/ppt/notesMasters/notesMaster1.xml" Id="Rf4bb6d4433a14a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0abbed4864476e" /><Relationship Type="http://schemas.openxmlformats.org/officeDocument/2006/relationships/notesMaster" Target="/ppt/notesMasters/notesMaster1.xml" Id="R3209619cde2448e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45d9fd0831544f5" /><Relationship Type="http://schemas.openxmlformats.org/officeDocument/2006/relationships/notesMaster" Target="/ppt/notesMasters/notesMaster1.xml" Id="Re0661d7fa84a49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3a360bc09a45f7" /><Relationship Type="http://schemas.openxmlformats.org/officeDocument/2006/relationships/notesMaster" Target="/ppt/notesMasters/notesMaster1.xml" Id="R7b767aa3b7c34d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3a286ace254eec" /><Relationship Type="http://schemas.openxmlformats.org/officeDocument/2006/relationships/notesMaster" Target="/ppt/notesMasters/notesMaster1.xml" Id="R374b9bd7b9114f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38b2c7ba714c8f" /><Relationship Type="http://schemas.openxmlformats.org/officeDocument/2006/relationships/notesMaster" Target="/ppt/notesMasters/notesMaster1.xml" Id="Radf9767cd8fc48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0a639014b0a495c" /><Relationship Type="http://schemas.openxmlformats.org/officeDocument/2006/relationships/notesMaster" Target="/ppt/notesMasters/notesMaster1.xml" Id="R40c0657a98f040a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1194a9dd954fe5" /><Relationship Type="http://schemas.openxmlformats.org/officeDocument/2006/relationships/notesMaster" Target="/ppt/notesMasters/notesMaster1.xml" Id="R6bed9af89812420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d3f93c990b4181" /><Relationship Type="http://schemas.openxmlformats.org/officeDocument/2006/relationships/notesMaster" Target="/ppt/notesMasters/notesMaster1.xml" Id="Ra626623509af4d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78e0faa27734314" /><Relationship Type="http://schemas.openxmlformats.org/officeDocument/2006/relationships/notesMaster" Target="/ppt/notesMasters/notesMaster1.xml" Id="R77b82ef1a6274c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非単調な例に更新した説明資料。本編20枚、補足9枚。</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今回のVIME実装は疑似ラベルを付与しない。ラベルなしの複数拡張への予測一貫性を用いる。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Y=X²と仮定する。5点は関係を示す代表点であり、5件の経験CDFで理論CDFを推定したものではない。FX(x)=(x+1)/2、FY(y)=sqrt(y)、V=|2U-1|。実験データではない。右は依存を壊す説明用の並べ替え。</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Y=X²と仮定する。5点は関係を示す代表点であり、5件の経験CDFで理論CDFを推定したものではない。FX(x)=(x+1)/2、FY(y)=sqrt(y)、V=|2U-1|。実験データではない。C(.75,.5)=.5。代表5点の経験割合ではない。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区間長による独自導出。特異コピュラで通常の2次元密度を持た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既知の理想関係を使う説明。現実のデータでは条件付き依存を推定する必要があり、Gaussian実装の出力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Xの符号反転でZXは奇関数、ZYは偶関数。積の期待値0、潜在相関0。母集団の理想値。有限標本では推定誤差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corruption.pyの実装。周辺と相関をラベルなし訓練データから推定。正規潜在空間で条件付き生成、元値への逆変換は線形補間の経験分位点。</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今後の検証案であり未実行。補足の既存実験結果とは別。</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根拠：tmp/seminar_20261005/rerun_results.json versions。ハードウェア機種やRAMは記録にないため記載しない。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根拠：load_breast_cancer / load_wineの公式説明とrun_experiment.py。乳がんは細胞核の測定特徴、Wineはワインの化学分析と3品種。</a:t>
            </a:r>
          </a:p>
          <a:p xmlns:a="http://schemas.openxmlformats.org/drawingml/2006/main">
            <a:r>
              <a:t/>
            </a:r>
          </a:p>
          <a:p xmlns:a="http://schemas.openxmlformats.org/drawingml/2006/main">
            <a:r>
              <a:t>出典・根拠</a:t>
            </a:r>
          </a:p>
          <a:p xmlns:a="http://schemas.openxmlformats.org/drawingml/2006/main">
            <a:r>
              <a:t>https://scikit-learn.org/stable/modules/generated/sklearn.datasets.load_breast_cancer.html</a:t>
            </a:r>
          </a:p>
          <a:p xmlns:a="http://schemas.openxmlformats.org/drawingml/2006/main">
            <a:r>
              <a:t>https://scikit-learn.org/stable/modules/generated/sklearn.datasets.load_wine.html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runs内n_labeled n_unlabeled n_test。5seedとも同数。整数丸めにより30%と厳密一致しない。層化分割。ラベルなしはラベルを隠して使用。</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根拠：research-bench/src/tabular_research/vime_torch.py と run_experiment.py。原論文の全実験の再現ではなく、この実装内の比較。</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根拠：run_experiment.py と rerun_results.json protocol。MinMaxは訓練全体のみ、コピュラfitはラベルなし訓練のみ。再分割5回。</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summary。SDはddof1。差の区間はペア差のpercentile bootstrap、5seedの探索比較で不確実性大。</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ここからは今後の実験設計の提案。実験結果の主張ではない。公平な評価と不確実性の記載はNeurIPS checklistを参考にする。学習条件を統一した置換器比較で寄与を検討し、研究全体の性能は既存法の一式と比較する。</a:t>
            </a:r>
          </a:p>
          <a:p xmlns:a="http://schemas.openxmlformats.org/drawingml/2006/main">
            <a:r>
              <a:t/>
            </a:r>
          </a:p>
          <a:p xmlns:a="http://schemas.openxmlformats.org/drawingml/2006/main">
            <a:r>
              <a:t>出典・根拠</a:t>
            </a:r>
          </a:p>
          <a:p xmlns:a="http://schemas.openxmlformats.org/drawingml/2006/main">
            <a:r>
              <a:t>https://nips.cc/public/guides/PaperChecklist</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の実験計画。学習曲線は未実行。ラベルなし集合を固定するならラベル数を増減する専用のラベル付き候補を別途用意する。固定訓練プールを一部ラベル化する設計も可能だがラベルなし件数が変わるため利用プール固定と明記。学習量の比較は分類器を含む手法全体で行う。</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計画の提案。列シャッフル対比に加え、R=Iまたは各列独立生成を加えると周辺の生成と条件依存の寄与を分けやすい。補正・最適化予算は公平にし各手法の調整をvalidationで実施。クラス保持評価は別のラベル付き検証データを利用し評価用ラベルが訓練に混入しないようにする。未知実データで生成した個体の真のラベルは観測できず代理評価の限界あり。Pearsonだけでなくrank/裾/制約も対象依存に応じる。</a:t>
            </a:r>
          </a:p>
          <a:p xmlns:a="http://schemas.openxmlformats.org/drawingml/2006/main">
            <a:r>
              <a:t/>
            </a:r>
          </a:p>
          <a:p xmlns:a="http://schemas.openxmlformats.org/drawingml/2006/main">
            <a:r>
              <a:t>出典・根拠</a:t>
            </a:r>
          </a:p>
          <a:p xmlns:a="http://schemas.openxmlformats.org/drawingml/2006/main">
            <a:r>
              <a:t>https://nips.cc/public/guides/PaperChecklist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4dc79c55a542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66b75eff8d45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38059e7a543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cacde4938145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471c9f57db4a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ce1f3f0df42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6768E-027C-4DEA-BC10-BA39725509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3D3CF04-0AB6-4DAE-9498-2C7B24F8C2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D562D5-5363-4E9A-8EA4-83E45A1963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EBF688-18E7-453E-9612-AE847FF6F4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748031-1400-491A-A3AA-A0EB7E1DFB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79856F-CCB7-4353-AF5C-C74650A875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1D1C27-AC08-4337-A2A7-0FCD28CFB6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80AB03-C9F0-47BF-B3C7-9C94E4CD9B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5DE67F-3A9F-4999-AEE3-3380D9026F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24D53-3BE5-4682-9BC2-95D673218E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08ab80556249cb" /><Relationship Type="http://schemas.openxmlformats.org/officeDocument/2006/relationships/slideLayout" Target="/ppt/slideLayouts/slideLayout1.xml" Id="Rbbe4f73f7b8548ea" /><Relationship Type="http://schemas.openxmlformats.org/officeDocument/2006/relationships/slideLayout" Target="/ppt/slideLayouts/slideLayout2.xml" Id="R23047b93afee4b4c" /><Relationship Type="http://schemas.openxmlformats.org/officeDocument/2006/relationships/slideLayout" Target="/ppt/slideLayouts/slideLayout3.xml" Id="R537675d0ffb04288" /><Relationship Type="http://schemas.openxmlformats.org/officeDocument/2006/relationships/slideLayout" Target="/ppt/slideLayouts/slideLayout4.xml" Id="Ra4d3449df6b44afa" /><Relationship Type="http://schemas.openxmlformats.org/officeDocument/2006/relationships/slideLayout" Target="/ppt/slideLayouts/slideLayout5.xml" Id="R0efdcb2bcf4a4f35" /><Relationship Type="http://schemas.openxmlformats.org/officeDocument/2006/relationships/slideLayout" Target="/ppt/slideLayouts/slideLayout6.xml" Id="R9ec67679ebf24f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e4f73f7b8548ea"/>
    <p:sldLayoutId xmlns:r="http://schemas.openxmlformats.org/officeDocument/2006/relationships" id="2147483650" r:id="R23047b93afee4b4c"/>
    <p:sldLayoutId xmlns:r="http://schemas.openxmlformats.org/officeDocument/2006/relationships" id="2147483651" r:id="R537675d0ffb04288"/>
    <p:sldLayoutId xmlns:r="http://schemas.openxmlformats.org/officeDocument/2006/relationships" id="2147483652" r:id="Ra4d3449df6b44afa"/>
    <p:sldLayoutId xmlns:r="http://schemas.openxmlformats.org/officeDocument/2006/relationships" id="2147483653" r:id="R0efdcb2bcf4a4f35"/>
    <p:sldLayoutId xmlns:r="http://schemas.openxmlformats.org/officeDocument/2006/relationships" id="2147483654" r:id="R9ec67679ebf24f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a0ef7cd10f4edd" /><Relationship Type="http://schemas.openxmlformats.org/officeDocument/2006/relationships/notesSlide" Target="/ppt/notesSlides/notesSlide1.xml" Id="R62ad4f78ab21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e9bc41d4de48e2" /><Relationship Type="http://schemas.openxmlformats.org/officeDocument/2006/relationships/notesSlide" Target="/ppt/notesSlides/notesSlide2.xml" Id="Rfae1df3cd2494d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34dd01cf864883" /><Relationship Type="http://schemas.openxmlformats.org/officeDocument/2006/relationships/notesSlide" Target="/ppt/notesSlides/notesSlide3.xml" Id="Ra3c32e2c1dae43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713e64f67a4ea1" /><Relationship Type="http://schemas.openxmlformats.org/officeDocument/2006/relationships/chart" Target="/ppt/slides/charts/chart1.xml" Id="R7b381217eb794a9e" /><Relationship Type="http://schemas.openxmlformats.org/officeDocument/2006/relationships/notesSlide" Target="/ppt/notesSlides/notesSlide4.xml" Id="R70afcb838e7946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b5be74710c4a85" /><Relationship Type="http://schemas.openxmlformats.org/officeDocument/2006/relationships/chart" Target="/ppt/slides/charts/chart2.xml" Id="R8f026c02a008433c" /><Relationship Type="http://schemas.openxmlformats.org/officeDocument/2006/relationships/chart" Target="/ppt/slides/charts/chart3.xml" Id="Ref2ee3a566c241ab" /><Relationship Type="http://schemas.openxmlformats.org/officeDocument/2006/relationships/notesSlide" Target="/ppt/notesSlides/notesSlide5.xml" Id="R3433f2f7f7824d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53cc4a37624836" /><Relationship Type="http://schemas.openxmlformats.org/officeDocument/2006/relationships/notesSlide" Target="/ppt/notesSlides/notesSlide6.xml" Id="R4821735b9ed747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8576009f50453c" /><Relationship Type="http://schemas.openxmlformats.org/officeDocument/2006/relationships/notesSlide" Target="/ppt/notesSlides/notesSlide7.xml" Id="R31892527fa0746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b5cf4759f44ae0" /><Relationship Type="http://schemas.openxmlformats.org/officeDocument/2006/relationships/notesSlide" Target="/ppt/notesSlides/notesSlide8.xml" Id="R3da63c02afff44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794f4ec90d4685" /><Relationship Type="http://schemas.openxmlformats.org/officeDocument/2006/relationships/chart" Target="/ppt/slides/charts/chart4.xml" Id="R28d6782754534f34" /><Relationship Type="http://schemas.openxmlformats.org/officeDocument/2006/relationships/notesSlide" Target="/ppt/notesSlides/notesSlide9.xml" Id="R1703e142cd1f42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cd6b38a4fe4366" /><Relationship Type="http://schemas.openxmlformats.org/officeDocument/2006/relationships/notesSlide" Target="/ppt/notesSlides/notesSlide10.xml" Id="Rb5159dde0a854f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9e9b921fb34c9a" /><Relationship Type="http://schemas.openxmlformats.org/officeDocument/2006/relationships/chart" Target="/ppt/slides/charts/chart5.xml" Id="Raa2053f397b54e9f" /><Relationship Type="http://schemas.openxmlformats.org/officeDocument/2006/relationships/notesSlide" Target="/ppt/notesSlides/notesSlide11.xml" Id="R15f30052bbbf4c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43da3c6e3d419b" /><Relationship Type="http://schemas.openxmlformats.org/officeDocument/2006/relationships/notesSlide" Target="/ppt/notesSlides/notesSlide12.xml" Id="R0e9be24b582940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53c052c1f5442a2" /><Relationship Type="http://schemas.openxmlformats.org/officeDocument/2006/relationships/notesSlide" Target="/ppt/notesSlides/notesSlide13.xml" Id="Rfa4b4c39ff314e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e9438d00454917" /><Relationship Type="http://schemas.openxmlformats.org/officeDocument/2006/relationships/notesSlide" Target="/ppt/notesSlides/notesSlide14.xml" Id="R2838783fabb948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d1afbf37d547ff" /><Relationship Type="http://schemas.openxmlformats.org/officeDocument/2006/relationships/notesSlide" Target="/ppt/notesSlides/notesSlide15.xml" Id="R90b78dc167d448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74f6dfc5b164922" /><Relationship Type="http://schemas.openxmlformats.org/officeDocument/2006/relationships/notesSlide" Target="/ppt/notesSlides/notesSlide16.xml" Id="Raa803608dd5245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9ce04a4e1b24e46" /><Relationship Type="http://schemas.openxmlformats.org/officeDocument/2006/relationships/notesSlide" Target="/ppt/notesSlides/notesSlide17.xml" Id="Rf0c43c532d1341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850fe8c5f6949ef" /><Relationship Type="http://schemas.openxmlformats.org/officeDocument/2006/relationships/notesSlide" Target="/ppt/notesSlides/notesSlide18.xml" Id="Ra32bf454a68d46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d00e34c0ef24fbd" /><Relationship Type="http://schemas.openxmlformats.org/officeDocument/2006/relationships/notesSlide" Target="/ppt/notesSlides/notesSlide19.xml" Id="Rb299bb6e76d948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0dea12bf4e745dc" /><Relationship Type="http://schemas.openxmlformats.org/officeDocument/2006/relationships/notesSlide" Target="/ppt/notesSlides/notesSlide20.xml" Id="Re1c95d5722b74b8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06c59be704f44aa" /><Relationship Type="http://schemas.openxmlformats.org/officeDocument/2006/relationships/notesSlide" Target="/ppt/notesSlides/notesSlide21.xml" Id="Recda7bd05ab349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a5ebd048d914a8e" /><Relationship Type="http://schemas.openxmlformats.org/officeDocument/2006/relationships/notesSlide" Target="/ppt/notesSlides/notesSlide22.xml" Id="R9f104be79c2f489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77d554de11b44bb" /><Relationship Type="http://schemas.openxmlformats.org/officeDocument/2006/relationships/notesSlide" Target="/ppt/notesSlides/notesSlide23.xml" Id="R537dbf459c11413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6e7901bcfdb416f" /><Relationship Type="http://schemas.openxmlformats.org/officeDocument/2006/relationships/notesSlide" Target="/ppt/notesSlides/notesSlide24.xml" Id="R576f04ae98f94e1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a616edf322341c0" /><Relationship Type="http://schemas.openxmlformats.org/officeDocument/2006/relationships/notesSlide" Target="/ppt/notesSlides/notesSlide25.xml" Id="R42b83790120a45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c61395013bc4c0e" /><Relationship Type="http://schemas.openxmlformats.org/officeDocument/2006/relationships/notesSlide" Target="/ppt/notesSlides/notesSlide26.xml" Id="R8de063e1aa9448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8462e8f295041f1" /><Relationship Type="http://schemas.openxmlformats.org/officeDocument/2006/relationships/notesSlide" Target="/ppt/notesSlides/notesSlide27.xml" Id="Ra63b8669873f4df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095d1c6cb734229" /><Relationship Type="http://schemas.openxmlformats.org/officeDocument/2006/relationships/notesSlide" Target="/ppt/notesSlides/notesSlide28.xml" Id="R74a164f958ef40a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9d3dcc8b34481b" /><Relationship Type="http://schemas.openxmlformats.org/officeDocument/2006/relationships/notesSlide" Target="/ppt/notesSlides/notesSlide29.xml" Id="R9192825d83b447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Data'!$A$2:$A$82</c:f>
              <c:numCache>
                <c:formatCode>General</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Cache>
            </c:numRef>
          </c:xVal>
          <c:yVal>
            <c:numRef>
              <c:f>'Chart Data'!$B$2:$B$82</c:f>
              <c:numCache>
                <c:formatCode>0.0</c:formatCode>
                <c:ptCount val="81"/>
                <c:pt idx="0">
                  <c:v>1</c:v>
                </c:pt>
                <c:pt idx="1">
                  <c:v>0.950625</c:v>
                </c:pt>
                <c:pt idx="2">
                  <c:v>0.9025</c:v>
                </c:pt>
                <c:pt idx="3">
                  <c:v>0.855625</c:v>
                </c:pt>
                <c:pt idx="4">
                  <c:v>0.81</c:v>
                </c:pt>
                <c:pt idx="5">
                  <c:v>0.765625</c:v>
                </c:pt>
                <c:pt idx="6">
                  <c:v>0.7225</c:v>
                </c:pt>
                <c:pt idx="7">
                  <c:v>0.680625</c:v>
                </c:pt>
                <c:pt idx="8">
                  <c:v>0.64</c:v>
                </c:pt>
                <c:pt idx="9">
                  <c:v>0.600625</c:v>
                </c:pt>
                <c:pt idx="10">
                  <c:v>0.5625</c:v>
                </c:pt>
                <c:pt idx="11">
                  <c:v>0.525625</c:v>
                </c:pt>
                <c:pt idx="12">
                  <c:v>0.49</c:v>
                </c:pt>
                <c:pt idx="13">
                  <c:v>0.455625</c:v>
                </c:pt>
                <c:pt idx="14">
                  <c:v>0.4225</c:v>
                </c:pt>
                <c:pt idx="15">
                  <c:v>0.390625</c:v>
                </c:pt>
                <c:pt idx="16">
                  <c:v>0.36</c:v>
                </c:pt>
                <c:pt idx="17">
                  <c:v>0.330625</c:v>
                </c:pt>
                <c:pt idx="18">
                  <c:v>0.3025</c:v>
                </c:pt>
                <c:pt idx="19">
                  <c:v>0.275625</c:v>
                </c:pt>
                <c:pt idx="20">
                  <c:v>0.25</c:v>
                </c:pt>
                <c:pt idx="21">
                  <c:v>0.225625</c:v>
                </c:pt>
                <c:pt idx="22">
                  <c:v>0.2025</c:v>
                </c:pt>
                <c:pt idx="23">
                  <c:v>0.180625</c:v>
                </c:pt>
                <c:pt idx="24">
                  <c:v>0.16</c:v>
                </c:pt>
                <c:pt idx="25">
                  <c:v>0.140625</c:v>
                </c:pt>
                <c:pt idx="26">
                  <c:v>0.1225</c:v>
                </c:pt>
                <c:pt idx="27">
                  <c:v>0.105625</c:v>
                </c:pt>
                <c:pt idx="28">
                  <c:v>0.09</c:v>
                </c:pt>
                <c:pt idx="29">
                  <c:v>0.075625</c:v>
                </c:pt>
                <c:pt idx="30">
                  <c:v>0.0625</c:v>
                </c:pt>
                <c:pt idx="31">
                  <c:v>0.050625</c:v>
                </c:pt>
                <c:pt idx="32">
                  <c:v>0.04</c:v>
                </c:pt>
                <c:pt idx="33">
                  <c:v>0.030625</c:v>
                </c:pt>
                <c:pt idx="34">
                  <c:v>0.0225</c:v>
                </c:pt>
                <c:pt idx="35">
                  <c:v>0.015625</c:v>
                </c:pt>
                <c:pt idx="36">
                  <c:v>0.01</c:v>
                </c:pt>
                <c:pt idx="37">
                  <c:v>0.005625</c:v>
                </c:pt>
                <c:pt idx="38">
                  <c:v>0.0025</c:v>
                </c:pt>
                <c:pt idx="39">
                  <c:v>0.000625</c:v>
                </c:pt>
                <c:pt idx="40">
                  <c:v>0</c:v>
                </c:pt>
                <c:pt idx="41">
                  <c:v>0.000625</c:v>
                </c:pt>
                <c:pt idx="42">
                  <c:v>0.0025</c:v>
                </c:pt>
                <c:pt idx="43">
                  <c:v>0.005625</c:v>
                </c:pt>
                <c:pt idx="44">
                  <c:v>0.01</c:v>
                </c:pt>
                <c:pt idx="45">
                  <c:v>0.015625</c:v>
                </c:pt>
                <c:pt idx="46">
                  <c:v>0.0225</c:v>
                </c:pt>
                <c:pt idx="47">
                  <c:v>0.030625</c:v>
                </c:pt>
                <c:pt idx="48">
                  <c:v>0.04</c:v>
                </c:pt>
                <c:pt idx="49">
                  <c:v>0.050625</c:v>
                </c:pt>
                <c:pt idx="50">
                  <c:v>0.0625</c:v>
                </c:pt>
                <c:pt idx="51">
                  <c:v>0.075625</c:v>
                </c:pt>
                <c:pt idx="52">
                  <c:v>0.09</c:v>
                </c:pt>
                <c:pt idx="53">
                  <c:v>0.105625</c:v>
                </c:pt>
                <c:pt idx="54">
                  <c:v>0.1225</c:v>
                </c:pt>
                <c:pt idx="55">
                  <c:v>0.140625</c:v>
                </c:pt>
                <c:pt idx="56">
                  <c:v>0.16</c:v>
                </c:pt>
                <c:pt idx="57">
                  <c:v>0.180625</c:v>
                </c:pt>
                <c:pt idx="58">
                  <c:v>0.2025</c:v>
                </c:pt>
                <c:pt idx="59">
                  <c:v>0.225625</c:v>
                </c:pt>
                <c:pt idx="60">
                  <c:v>0.25</c:v>
                </c:pt>
                <c:pt idx="61">
                  <c:v>0.275625</c:v>
                </c:pt>
                <c:pt idx="62">
                  <c:v>0.3025</c:v>
                </c:pt>
                <c:pt idx="63">
                  <c:v>0.330625</c:v>
                </c:pt>
                <c:pt idx="64">
                  <c:v>0.36</c:v>
                </c:pt>
                <c:pt idx="65">
                  <c:v>0.390625</c:v>
                </c:pt>
                <c:pt idx="66">
                  <c:v>0.4225</c:v>
                </c:pt>
                <c:pt idx="67">
                  <c:v>0.455625</c:v>
                </c:pt>
                <c:pt idx="68">
                  <c:v>0.49</c:v>
                </c:pt>
                <c:pt idx="69">
                  <c:v>0.525625</c:v>
                </c:pt>
                <c:pt idx="70">
                  <c:v>0.5625</c:v>
                </c:pt>
                <c:pt idx="71">
                  <c:v>0.600625</c:v>
                </c:pt>
                <c:pt idx="72">
                  <c:v>0.64</c:v>
                </c:pt>
                <c:pt idx="73">
                  <c:v>0.680625</c:v>
                </c:pt>
                <c:pt idx="74">
                  <c:v>0.7225</c:v>
                </c:pt>
                <c:pt idx="75">
                  <c:v>0.765625</c:v>
                </c:pt>
                <c:pt idx="76">
                  <c:v>0.81</c:v>
                </c:pt>
                <c:pt idx="77">
                  <c:v>0.855625</c:v>
                </c:pt>
                <c:pt idx="78">
                  <c:v>0.9025</c:v>
                </c:pt>
                <c:pt idx="79">
                  <c:v>0.950625</c:v>
                </c:pt>
                <c:pt idx="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 = X²</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Data'!$A$2:$A$6</c:f>
              <c:numCache>
                <c:formatCode>General</c:formatCode>
                <c:ptCount val="5"/>
                <c:pt idx="0">
                  <c:v>-1</c:v>
                </c:pt>
                <c:pt idx="1">
                  <c:v>-0.5</c:v>
                </c:pt>
                <c:pt idx="2">
                  <c:v>0</c:v>
                </c:pt>
                <c:pt idx="3">
                  <c:v>0.5</c:v>
                </c:pt>
                <c:pt idx="4">
                  <c:v>1</c:v>
                </c:pt>
              </c:numCache>
            </c:numRef>
          </c:xVal>
          <c:yVal>
            <c:numRef>
              <c:f>'Chart Data'!$B$2:$B$6</c:f>
              <c:numCache>
                <c:formatCode>0.0</c:formatCode>
                <c:ptCount val="5"/>
                <c:pt idx="0">
                  <c:v>1</c:v>
                </c:pt>
                <c:pt idx="1">
                  <c:v>0.25</c:v>
                </c:pt>
                <c:pt idx="2">
                  <c:v>0</c:v>
                </c:pt>
                <c:pt idx="3">
                  <c:v>0.25</c:v>
                </c:pt>
                <c:pt idx="4">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E0562B"/>
            </a:solidFill>
            <a:ln xmlns:a="http://schemas.openxmlformats.org/drawingml/2006/main" w="0">
              <a:noFill/>
            </a:ln>
          </c:spPr>
          <c:marker>
            <c:symbol val="circle"/>
            <c:size val="5"/>
          </c:marker>
          <c:xVal>
            <c:numRef>
              <c:f>'Chart Data'!$A$2:$A$6</c:f>
              <c:numCache>
                <c:formatCode>General</c:formatCode>
                <c:ptCount val="5"/>
                <c:pt idx="0">
                  <c:v>-1</c:v>
                </c:pt>
                <c:pt idx="1">
                  <c:v>-0.5</c:v>
                </c:pt>
                <c:pt idx="2">
                  <c:v>0</c:v>
                </c:pt>
                <c:pt idx="3">
                  <c:v>0.5</c:v>
                </c:pt>
                <c:pt idx="4">
                  <c:v>1</c:v>
                </c:pt>
              </c:numCache>
            </c:numRef>
          </c:xVal>
          <c:yVal>
            <c:numRef>
              <c:f>'Chart Data'!$B$2:$B$6</c:f>
              <c:numCache>
                <c:formatCode>0.0</c:formatCode>
                <c:ptCount val="5"/>
                <c:pt idx="0">
                  <c:v>0</c:v>
                </c:pt>
                <c:pt idx="1">
                  <c:v>1</c:v>
                </c:pt>
                <c:pt idx="2">
                  <c:v>0.25</c:v>
                </c:pt>
                <c:pt idx="3">
                  <c:v>1</c:v>
                </c:pt>
                <c:pt idx="4">
                  <c:v>0.25</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Data'!$A$2:$A$82</c:f>
              <c:numCache>
                <c:formatCode>General</c:formatCode>
                <c:ptCount val="81"/>
                <c:pt idx="0">
                  <c:v>0</c:v>
                </c:pt>
                <c:pt idx="1">
                  <c:v>0.0125</c:v>
                </c:pt>
                <c:pt idx="2">
                  <c:v>0.025</c:v>
                </c:pt>
                <c:pt idx="3">
                  <c:v>0.0375</c:v>
                </c:pt>
                <c:pt idx="4">
                  <c:v>0.05</c:v>
                </c:pt>
                <c:pt idx="5">
                  <c:v>0.0625</c:v>
                </c:pt>
                <c:pt idx="6">
                  <c:v>0.075</c:v>
                </c:pt>
                <c:pt idx="7">
                  <c:v>0.0875</c:v>
                </c:pt>
                <c:pt idx="8">
                  <c:v>0.1</c:v>
                </c:pt>
                <c:pt idx="9">
                  <c:v>0.1125</c:v>
                </c:pt>
                <c:pt idx="10">
                  <c:v>0.125</c:v>
                </c:pt>
                <c:pt idx="11">
                  <c:v>0.1375</c:v>
                </c:pt>
                <c:pt idx="12">
                  <c:v>0.15</c:v>
                </c:pt>
                <c:pt idx="13">
                  <c:v>0.1625</c:v>
                </c:pt>
                <c:pt idx="14">
                  <c:v>0.175</c:v>
                </c:pt>
                <c:pt idx="15">
                  <c:v>0.1875</c:v>
                </c:pt>
                <c:pt idx="16">
                  <c:v>0.2</c:v>
                </c:pt>
                <c:pt idx="17">
                  <c:v>0.2125</c:v>
                </c:pt>
                <c:pt idx="18">
                  <c:v>0.225</c:v>
                </c:pt>
                <c:pt idx="19">
                  <c:v>0.2375</c:v>
                </c:pt>
                <c:pt idx="20">
                  <c:v>0.25</c:v>
                </c:pt>
                <c:pt idx="21">
                  <c:v>0.2625</c:v>
                </c:pt>
                <c:pt idx="22">
                  <c:v>0.275</c:v>
                </c:pt>
                <c:pt idx="23">
                  <c:v>0.2875</c:v>
                </c:pt>
                <c:pt idx="24">
                  <c:v>0.3</c:v>
                </c:pt>
                <c:pt idx="25">
                  <c:v>0.3125</c:v>
                </c:pt>
                <c:pt idx="26">
                  <c:v>0.325</c:v>
                </c:pt>
                <c:pt idx="27">
                  <c:v>0.3375</c:v>
                </c:pt>
                <c:pt idx="28">
                  <c:v>0.35</c:v>
                </c:pt>
                <c:pt idx="29">
                  <c:v>0.3625</c:v>
                </c:pt>
                <c:pt idx="30">
                  <c:v>0.375</c:v>
                </c:pt>
                <c:pt idx="31">
                  <c:v>0.3875</c:v>
                </c:pt>
                <c:pt idx="32">
                  <c:v>0.4</c:v>
                </c:pt>
                <c:pt idx="33">
                  <c:v>0.4125</c:v>
                </c:pt>
                <c:pt idx="34">
                  <c:v>0.425</c:v>
                </c:pt>
                <c:pt idx="35">
                  <c:v>0.4375</c:v>
                </c:pt>
                <c:pt idx="36">
                  <c:v>0.45</c:v>
                </c:pt>
                <c:pt idx="37">
                  <c:v>0.4625</c:v>
                </c:pt>
                <c:pt idx="38">
                  <c:v>0.475</c:v>
                </c:pt>
                <c:pt idx="39">
                  <c:v>0.4875</c:v>
                </c:pt>
                <c:pt idx="40">
                  <c:v>0.5</c:v>
                </c:pt>
                <c:pt idx="41">
                  <c:v>0.5125</c:v>
                </c:pt>
                <c:pt idx="42">
                  <c:v>0.525</c:v>
                </c:pt>
                <c:pt idx="43">
                  <c:v>0.5375</c:v>
                </c:pt>
                <c:pt idx="44">
                  <c:v>0.55</c:v>
                </c:pt>
                <c:pt idx="45">
                  <c:v>0.5625</c:v>
                </c:pt>
                <c:pt idx="46">
                  <c:v>0.575</c:v>
                </c:pt>
                <c:pt idx="47">
                  <c:v>0.5875</c:v>
                </c:pt>
                <c:pt idx="48">
                  <c:v>0.6</c:v>
                </c:pt>
                <c:pt idx="49">
                  <c:v>0.6125</c:v>
                </c:pt>
                <c:pt idx="50">
                  <c:v>0.625</c:v>
                </c:pt>
                <c:pt idx="51">
                  <c:v>0.6375</c:v>
                </c:pt>
                <c:pt idx="52">
                  <c:v>0.65</c:v>
                </c:pt>
                <c:pt idx="53">
                  <c:v>0.6625</c:v>
                </c:pt>
                <c:pt idx="54">
                  <c:v>0.675</c:v>
                </c:pt>
                <c:pt idx="55">
                  <c:v>0.6875</c:v>
                </c:pt>
                <c:pt idx="56">
                  <c:v>0.7</c:v>
                </c:pt>
                <c:pt idx="57">
                  <c:v>0.7125</c:v>
                </c:pt>
                <c:pt idx="58">
                  <c:v>0.725</c:v>
                </c:pt>
                <c:pt idx="59">
                  <c:v>0.7375</c:v>
                </c:pt>
                <c:pt idx="60">
                  <c:v>0.75</c:v>
                </c:pt>
                <c:pt idx="61">
                  <c:v>0.7625</c:v>
                </c:pt>
                <c:pt idx="62">
                  <c:v>0.775</c:v>
                </c:pt>
                <c:pt idx="63">
                  <c:v>0.7875</c:v>
                </c:pt>
                <c:pt idx="64">
                  <c:v>0.8</c:v>
                </c:pt>
                <c:pt idx="65">
                  <c:v>0.8125</c:v>
                </c:pt>
                <c:pt idx="66">
                  <c:v>0.825</c:v>
                </c:pt>
                <c:pt idx="67">
                  <c:v>0.8375</c:v>
                </c:pt>
                <c:pt idx="68">
                  <c:v>0.85</c:v>
                </c:pt>
                <c:pt idx="69">
                  <c:v>0.8625</c:v>
                </c:pt>
                <c:pt idx="70">
                  <c:v>0.875</c:v>
                </c:pt>
                <c:pt idx="71">
                  <c:v>0.8875</c:v>
                </c:pt>
                <c:pt idx="72">
                  <c:v>0.9</c:v>
                </c:pt>
                <c:pt idx="73">
                  <c:v>0.9125</c:v>
                </c:pt>
                <c:pt idx="74">
                  <c:v>0.925</c:v>
                </c:pt>
                <c:pt idx="75">
                  <c:v>0.9375</c:v>
                </c:pt>
                <c:pt idx="76">
                  <c:v>0.95</c:v>
                </c:pt>
                <c:pt idx="77">
                  <c:v>0.9625</c:v>
                </c:pt>
                <c:pt idx="78">
                  <c:v>0.975</c:v>
                </c:pt>
                <c:pt idx="79">
                  <c:v>0.9875</c:v>
                </c:pt>
                <c:pt idx="80">
                  <c:v>1</c:v>
                </c:pt>
              </c:numCache>
            </c:numRef>
          </c:xVal>
          <c:yVal>
            <c:numRef>
              <c:f>'Chart Data'!$B$2:$B$82</c:f>
              <c:numCache>
                <c:formatCode>0.0</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V：Yの位置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U：Xの位置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Data'!$A$2:$A$82</c:f>
              <c:numCache>
                <c:formatCode>General</c:formatCode>
                <c:ptCount val="81"/>
                <c:pt idx="0">
                  <c:v>0</c:v>
                </c:pt>
                <c:pt idx="1">
                  <c:v>0.0125</c:v>
                </c:pt>
                <c:pt idx="2">
                  <c:v>0.025</c:v>
                </c:pt>
                <c:pt idx="3">
                  <c:v>0.0375</c:v>
                </c:pt>
                <c:pt idx="4">
                  <c:v>0.05</c:v>
                </c:pt>
                <c:pt idx="5">
                  <c:v>0.0625</c:v>
                </c:pt>
                <c:pt idx="6">
                  <c:v>0.075</c:v>
                </c:pt>
                <c:pt idx="7">
                  <c:v>0.0875</c:v>
                </c:pt>
                <c:pt idx="8">
                  <c:v>0.1</c:v>
                </c:pt>
                <c:pt idx="9">
                  <c:v>0.1125</c:v>
                </c:pt>
                <c:pt idx="10">
                  <c:v>0.125</c:v>
                </c:pt>
                <c:pt idx="11">
                  <c:v>0.1375</c:v>
                </c:pt>
                <c:pt idx="12">
                  <c:v>0.15</c:v>
                </c:pt>
                <c:pt idx="13">
                  <c:v>0.1625</c:v>
                </c:pt>
                <c:pt idx="14">
                  <c:v>0.175</c:v>
                </c:pt>
                <c:pt idx="15">
                  <c:v>0.1875</c:v>
                </c:pt>
                <c:pt idx="16">
                  <c:v>0.2</c:v>
                </c:pt>
                <c:pt idx="17">
                  <c:v>0.2125</c:v>
                </c:pt>
                <c:pt idx="18">
                  <c:v>0.225</c:v>
                </c:pt>
                <c:pt idx="19">
                  <c:v>0.2375</c:v>
                </c:pt>
                <c:pt idx="20">
                  <c:v>0.25</c:v>
                </c:pt>
                <c:pt idx="21">
                  <c:v>0.2625</c:v>
                </c:pt>
                <c:pt idx="22">
                  <c:v>0.275</c:v>
                </c:pt>
                <c:pt idx="23">
                  <c:v>0.2875</c:v>
                </c:pt>
                <c:pt idx="24">
                  <c:v>0.3</c:v>
                </c:pt>
                <c:pt idx="25">
                  <c:v>0.3125</c:v>
                </c:pt>
                <c:pt idx="26">
                  <c:v>0.325</c:v>
                </c:pt>
                <c:pt idx="27">
                  <c:v>0.3375</c:v>
                </c:pt>
                <c:pt idx="28">
                  <c:v>0.35</c:v>
                </c:pt>
                <c:pt idx="29">
                  <c:v>0.3625</c:v>
                </c:pt>
                <c:pt idx="30">
                  <c:v>0.375</c:v>
                </c:pt>
                <c:pt idx="31">
                  <c:v>0.3875</c:v>
                </c:pt>
                <c:pt idx="32">
                  <c:v>0.4</c:v>
                </c:pt>
                <c:pt idx="33">
                  <c:v>0.4125</c:v>
                </c:pt>
                <c:pt idx="34">
                  <c:v>0.425</c:v>
                </c:pt>
                <c:pt idx="35">
                  <c:v>0.4375</c:v>
                </c:pt>
                <c:pt idx="36">
                  <c:v>0.45</c:v>
                </c:pt>
                <c:pt idx="37">
                  <c:v>0.4625</c:v>
                </c:pt>
                <c:pt idx="38">
                  <c:v>0.475</c:v>
                </c:pt>
                <c:pt idx="39">
                  <c:v>0.4875</c:v>
                </c:pt>
                <c:pt idx="40">
                  <c:v>0.5</c:v>
                </c:pt>
                <c:pt idx="41">
                  <c:v>0.5125</c:v>
                </c:pt>
                <c:pt idx="42">
                  <c:v>0.525</c:v>
                </c:pt>
                <c:pt idx="43">
                  <c:v>0.5375</c:v>
                </c:pt>
                <c:pt idx="44">
                  <c:v>0.55</c:v>
                </c:pt>
                <c:pt idx="45">
                  <c:v>0.5625</c:v>
                </c:pt>
                <c:pt idx="46">
                  <c:v>0.575</c:v>
                </c:pt>
                <c:pt idx="47">
                  <c:v>0.5875</c:v>
                </c:pt>
                <c:pt idx="48">
                  <c:v>0.6</c:v>
                </c:pt>
                <c:pt idx="49">
                  <c:v>0.6125</c:v>
                </c:pt>
                <c:pt idx="50">
                  <c:v>0.625</c:v>
                </c:pt>
                <c:pt idx="51">
                  <c:v>0.6375</c:v>
                </c:pt>
                <c:pt idx="52">
                  <c:v>0.65</c:v>
                </c:pt>
                <c:pt idx="53">
                  <c:v>0.6625</c:v>
                </c:pt>
                <c:pt idx="54">
                  <c:v>0.675</c:v>
                </c:pt>
                <c:pt idx="55">
                  <c:v>0.6875</c:v>
                </c:pt>
                <c:pt idx="56">
                  <c:v>0.7</c:v>
                </c:pt>
                <c:pt idx="57">
                  <c:v>0.7125</c:v>
                </c:pt>
                <c:pt idx="58">
                  <c:v>0.725</c:v>
                </c:pt>
                <c:pt idx="59">
                  <c:v>0.7375</c:v>
                </c:pt>
                <c:pt idx="60">
                  <c:v>0.75</c:v>
                </c:pt>
                <c:pt idx="61">
                  <c:v>0.7625</c:v>
                </c:pt>
                <c:pt idx="62">
                  <c:v>0.775</c:v>
                </c:pt>
                <c:pt idx="63">
                  <c:v>0.7875</c:v>
                </c:pt>
                <c:pt idx="64">
                  <c:v>0.8</c:v>
                </c:pt>
                <c:pt idx="65">
                  <c:v>0.8125</c:v>
                </c:pt>
                <c:pt idx="66">
                  <c:v>0.825</c:v>
                </c:pt>
                <c:pt idx="67">
                  <c:v>0.8375</c:v>
                </c:pt>
                <c:pt idx="68">
                  <c:v>0.85</c:v>
                </c:pt>
                <c:pt idx="69">
                  <c:v>0.8625</c:v>
                </c:pt>
                <c:pt idx="70">
                  <c:v>0.875</c:v>
                </c:pt>
                <c:pt idx="71">
                  <c:v>0.8875</c:v>
                </c:pt>
                <c:pt idx="72">
                  <c:v>0.9</c:v>
                </c:pt>
                <c:pt idx="73">
                  <c:v>0.9125</c:v>
                </c:pt>
                <c:pt idx="74">
                  <c:v>0.925</c:v>
                </c:pt>
                <c:pt idx="75">
                  <c:v>0.9375</c:v>
                </c:pt>
                <c:pt idx="76">
                  <c:v>0.95</c:v>
                </c:pt>
                <c:pt idx="77">
                  <c:v>0.9625</c:v>
                </c:pt>
                <c:pt idx="78">
                  <c:v>0.975</c:v>
                </c:pt>
                <c:pt idx="79">
                  <c:v>0.9875</c:v>
                </c:pt>
                <c:pt idx="80">
                  <c:v>1</c:v>
                </c:pt>
              </c:numCache>
            </c:numRef>
          </c:xVal>
          <c:yVal>
            <c:numRef>
              <c:f>'Chart Data'!$B$2:$B$82</c:f>
              <c:numCache>
                <c:formatCode>0.0</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B5CDCA-5761-4612-B9E0-09B89CDD95A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ゼミ発表</a:t>
            </a:r>
          </a:p>
        </p:txBody>
      </p:sp>
      <p:sp>
        <p:nvSpPr>
          <p:cNvPr id="2" name="">
            <a:extLst xmlns:a="http://schemas.openxmlformats.org/drawingml/2006/main">
              <a:ext uri="{FF2B5EF4-FFF2-40B4-BE49-F238E27FC236}">
                <a16:creationId xmlns:a16="http://schemas.microsoft.com/office/drawing/2014/main" id="{37F8A42B-7B0D-4A19-B449-2391E3D0410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7C86D0-ACAE-41A9-BB85-A684431F645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変数間の依存構造を考慮したデータ拡張</a:t>
            </a:r>
          </a:p>
        </p:txBody>
      </p:sp>
      <p:sp>
        <p:nvSpPr>
          <p:cNvPr id="4" name="">
            <a:extLst xmlns:a="http://schemas.openxmlformats.org/drawingml/2006/main">
              <a:ext uri="{FF2B5EF4-FFF2-40B4-BE49-F238E27FC236}">
                <a16:creationId xmlns:a16="http://schemas.microsoft.com/office/drawing/2014/main" id="{FB3826A0-9E3F-42F2-AE25-EDCCD5FAD21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108D27F5-4E26-4F8D-8343-4BD8A5BC425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a:t>
            </a:r>
          </a:p>
        </p:txBody>
      </p:sp>
      <p:sp>
        <p:nvSpPr>
          <p:cNvPr id="6" name="">
            <a:extLst xmlns:a="http://schemas.openxmlformats.org/drawingml/2006/main">
              <a:ext uri="{FF2B5EF4-FFF2-40B4-BE49-F238E27FC236}">
                <a16:creationId xmlns:a16="http://schemas.microsoft.com/office/drawing/2014/main" id="{7F349531-A393-4A36-A572-7987F4DBC70C}"/>
              </a:ext>
            </a:extLst>
          </p:cNvPr>
          <p:cNvSpPr>
            <a:spLocks xmlns:a="http://schemas.openxmlformats.org/drawingml/2006/main" noGrp="1"/>
          </p:cNvSpPr>
          <p:nvPr/>
        </p:nvSpPr>
        <p:spPr>
          <a:xfrm xmlns:a="http://schemas.openxmlformats.org/drawingml/2006/main">
            <a:off x="857250" y="2762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450" b="1">
                <a:solidFill>
                  <a:srgbClr val="222222"/>
                </a:solidFill>
                <a:latin typeface="Noto Sans JP"/>
                <a:ea typeface="Noto Sans JP"/>
                <a:cs typeface="Noto Sans JP"/>
              </a:defRPr>
            </a:defPPr>
          </a:lstStyle>
          <a:p xmlns:a="http://schemas.openxmlformats.org/drawingml/2006/main">
            <a:pPr algn="ctr">
              <a:defRPr sz="3450" b="1">
                <a:solidFill>
                  <a:srgbClr val="222222"/>
                </a:solidFill>
                <a:latin typeface="Noto Sans JP"/>
                <a:ea typeface="Noto Sans JP"/>
                <a:cs typeface="Noto Sans JP"/>
              </a:defRPr>
            </a:pPr>
            <a:r>
              <a:rPr sz="3450" b="1">
                <a:solidFill>
                  <a:srgbClr val="222222"/>
                </a:solidFill>
                <a:latin typeface="Noto Sans JP"/>
                <a:ea typeface="Noto Sans JP"/>
                <a:cs typeface="Noto Sans JP"/>
              </a:rPr>
              <a:t>コピュラの基礎と初期実験の方針</a:t>
            </a:r>
          </a:p>
        </p:txBody>
      </p:sp>
      <p:sp>
        <p:nvSpPr>
          <p:cNvPr id="7" name="">
            <a:extLst xmlns:a="http://schemas.openxmlformats.org/drawingml/2006/main">
              <a:ext uri="{FF2B5EF4-FFF2-40B4-BE49-F238E27FC236}">
                <a16:creationId xmlns:a16="http://schemas.microsoft.com/office/drawing/2014/main" id="{26CDEB9E-5276-46FD-ACD4-4A89C42B8B9E}"/>
              </a:ext>
            </a:extLst>
          </p:cNvPr>
          <p:cNvSpPr>
            <a:spLocks xmlns:a="http://schemas.openxmlformats.org/drawingml/2006/main" noGrp="1"/>
          </p:cNvSpPr>
          <p:nvPr/>
        </p:nvSpPr>
        <p:spPr>
          <a:xfrm xmlns:a="http://schemas.openxmlformats.org/drawingml/2006/main">
            <a:off x="857250" y="4286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0">
                <a:solidFill>
                  <a:srgbClr val="222222"/>
                </a:solidFill>
                <a:latin typeface="Noto Sans JP"/>
                <a:ea typeface="Noto Sans JP"/>
                <a:cs typeface="Noto Sans JP"/>
              </a:defRPr>
            </a:defPPr>
          </a:lstStyle>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M1 齊藤光汰</a:t>
            </a:r>
          </a:p>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非単調な関係を用いた解説版</a:t>
            </a:r>
          </a:p>
        </p:txBody>
      </p:sp>
    </p:spTree>
    <p:extLst>
      <p:ext uri="{BB962C8B-B14F-4D97-AF65-F5344CB8AC3E}">
        <p14:creationId xmlns:p14="http://schemas.microsoft.com/office/powerpoint/2010/main" val="21266600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BDAF3E-BF2A-4271-A801-43C949CCD81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本研究の問題設定</a:t>
            </a:r>
          </a:p>
        </p:txBody>
      </p:sp>
      <p:sp>
        <p:nvSpPr>
          <p:cNvPr id="2" name="">
            <a:extLst xmlns:a="http://schemas.openxmlformats.org/drawingml/2006/main">
              <a:ext uri="{FF2B5EF4-FFF2-40B4-BE49-F238E27FC236}">
                <a16:creationId xmlns:a16="http://schemas.microsoft.com/office/drawing/2014/main" id="{1582E098-F7D7-4B74-84F4-ECDF2E06562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22AE8F-4A15-4AD0-BBA2-97881E4532F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少ないラベル付きデータと、ラベルなしデータを使う。</a:t>
            </a:r>
          </a:p>
        </p:txBody>
      </p:sp>
      <p:sp>
        <p:nvSpPr>
          <p:cNvPr id="4" name="">
            <a:extLst xmlns:a="http://schemas.openxmlformats.org/drawingml/2006/main">
              <a:ext uri="{FF2B5EF4-FFF2-40B4-BE49-F238E27FC236}">
                <a16:creationId xmlns:a16="http://schemas.microsoft.com/office/drawing/2014/main" id="{0EAFE801-EA34-4E01-98B2-26932C10690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1A5C728-3D84-4399-9F54-AE388C4B6A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a:t>
            </a:r>
          </a:p>
        </p:txBody>
      </p:sp>
      <p:sp>
        <p:nvSpPr>
          <p:cNvPr id="6" name="">
            <a:extLst xmlns:a="http://schemas.openxmlformats.org/drawingml/2006/main">
              <a:ext uri="{FF2B5EF4-FFF2-40B4-BE49-F238E27FC236}">
                <a16:creationId xmlns:a16="http://schemas.microsoft.com/office/drawing/2014/main" id="{8515C56A-4EA6-497A-B13E-08C5779ECC91}"/>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22222"/>
                </a:solidFill>
                <a:latin typeface="Noto Sans JP"/>
                <a:ea typeface="Noto Sans JP"/>
                <a:cs typeface="Noto Sans JP"/>
              </a:defRPr>
            </a:defPPr>
          </a:lstStyle>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目的：依存を考慮したデータ拡張で、分類性能の改善を目指す。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列を別々に置換すると、元の変数間の関係から</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外れた組合せが生じる可能性がある。</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中間発表で述べた方針：依存構造を扱うために</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コピュラを使用する。</a:t>
            </a:r>
          </a:p>
        </p:txBody>
      </p:sp>
      <p:sp>
        <p:nvSpPr>
          <p:cNvPr id="7" name="">
            <a:extLst xmlns:a="http://schemas.openxmlformats.org/drawingml/2006/main">
              <a:ext uri="{FF2B5EF4-FFF2-40B4-BE49-F238E27FC236}">
                <a16:creationId xmlns:a16="http://schemas.microsoft.com/office/drawing/2014/main" id="{B46D19C0-6FE8-46E3-83BB-89A29E682D3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D2A0843-C6DD-4D3A-870A-3AC54DFE135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今回の半教師あり学習は、擬似ラベルを付与せず予測一貫性を使う</a:t>
            </a:r>
          </a:p>
        </p:txBody>
      </p:sp>
    </p:spTree>
    <p:extLst>
      <p:ext uri="{BB962C8B-B14F-4D97-AF65-F5344CB8AC3E}">
        <p14:creationId xmlns:p14="http://schemas.microsoft.com/office/powerpoint/2010/main" val="10863192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77C7DE-9CAD-48EA-8972-EDD333E2D93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コピュラとは</a:t>
            </a:r>
          </a:p>
        </p:txBody>
      </p:sp>
      <p:sp>
        <p:nvSpPr>
          <p:cNvPr id="2" name="">
            <a:extLst xmlns:a="http://schemas.openxmlformats.org/drawingml/2006/main">
              <a:ext uri="{FF2B5EF4-FFF2-40B4-BE49-F238E27FC236}">
                <a16:creationId xmlns:a16="http://schemas.microsoft.com/office/drawing/2014/main" id="{E7B06D89-39D6-4819-AFCE-4D462959930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C50325-A818-4FAF-955A-BA089ED7603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各変数の分布と、変数間の依存を分けて表す。</a:t>
            </a:r>
          </a:p>
        </p:txBody>
      </p:sp>
      <p:sp>
        <p:nvSpPr>
          <p:cNvPr id="4" name="">
            <a:extLst xmlns:a="http://schemas.openxmlformats.org/drawingml/2006/main">
              <a:ext uri="{FF2B5EF4-FFF2-40B4-BE49-F238E27FC236}">
                <a16:creationId xmlns:a16="http://schemas.microsoft.com/office/drawing/2014/main" id="{4F04E659-4FE2-4699-B687-D5B90A077E8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E66727D-8DD9-46DB-8401-2453F2B15F1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a:t>
            </a:r>
          </a:p>
        </p:txBody>
      </p:sp>
      <p:sp>
        <p:nvSpPr>
          <p:cNvPr id="6" name="">
            <a:extLst xmlns:a="http://schemas.openxmlformats.org/drawingml/2006/main">
              <a:ext uri="{FF2B5EF4-FFF2-40B4-BE49-F238E27FC236}">
                <a16:creationId xmlns:a16="http://schemas.microsoft.com/office/drawing/2014/main" id="{27BD727D-0A00-44C0-B75F-028D946EA4CF}"/>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22222"/>
                </a:solidFill>
                <a:latin typeface="Noto Sans JP"/>
                <a:ea typeface="Noto Sans JP"/>
                <a:cs typeface="Noto Sans JP"/>
              </a:defRPr>
            </a:defPPr>
          </a:lstStyle>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周辺分布：Xだけ、Yだけを見たときの値の分布。</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コピュラ：分布内の確率位置どうしの組合せを表す。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例：Xが増えるとYが一度下がり、その後に上がる</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U字型の関係を、同じ例で説明する。</a:t>
            </a:r>
          </a:p>
        </p:txBody>
      </p:sp>
      <p:sp>
        <p:nvSpPr>
          <p:cNvPr id="7" name="">
            <a:extLst xmlns:a="http://schemas.openxmlformats.org/drawingml/2006/main">
              <a:ext uri="{FF2B5EF4-FFF2-40B4-BE49-F238E27FC236}">
                <a16:creationId xmlns:a16="http://schemas.microsoft.com/office/drawing/2014/main" id="{9CE1B90B-C63D-4A31-84CD-B56DF4B239C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E1BDC5-CFC6-42BD-9ADA-588D4BA101C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コピュラの種類によって、表現できる依存の形は異なる</a:t>
            </a:r>
          </a:p>
        </p:txBody>
      </p:sp>
    </p:spTree>
    <p:extLst>
      <p:ext uri="{BB962C8B-B14F-4D97-AF65-F5344CB8AC3E}">
        <p14:creationId xmlns:p14="http://schemas.microsoft.com/office/powerpoint/2010/main" val="13997608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2E3250-0C22-42B7-9255-2E54CD44C99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説明に使う非単調なデータ</a:t>
            </a:r>
          </a:p>
        </p:txBody>
      </p:sp>
      <p:sp>
        <p:nvSpPr>
          <p:cNvPr id="2" name="">
            <a:extLst xmlns:a="http://schemas.openxmlformats.org/drawingml/2006/main">
              <a:ext uri="{FF2B5EF4-FFF2-40B4-BE49-F238E27FC236}">
                <a16:creationId xmlns:a16="http://schemas.microsoft.com/office/drawing/2014/main" id="{846295F6-D411-4713-BF23-19F3EEF45D7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6854A4-5371-4B00-8858-7BD0C39393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Xは−1〜1の一様分布、YはXの二乗と仮定する。</a:t>
            </a:r>
          </a:p>
        </p:txBody>
      </p:sp>
      <p:sp>
        <p:nvSpPr>
          <p:cNvPr id="4" name="">
            <a:extLst xmlns:a="http://schemas.openxmlformats.org/drawingml/2006/main">
              <a:ext uri="{FF2B5EF4-FFF2-40B4-BE49-F238E27FC236}">
                <a16:creationId xmlns:a16="http://schemas.microsoft.com/office/drawing/2014/main" id="{601A64B9-D4C3-4133-AE77-5118FD285DD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EC15943-73D6-4D3F-B578-846B5F264DA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a:t>
            </a:r>
          </a:p>
        </p:txBody>
      </p:sp>
      <p:graphicFrame>
        <p:nvGraphicFramePr>
          <p:cNvPr id="6" name="">
            <a:extLst xmlns:a="http://schemas.openxmlformats.org/drawingml/2006/main">
              <a:ext uri="{FF2B5EF4-FFF2-40B4-BE49-F238E27FC236}">
                <a16:creationId xmlns:a16="http://schemas.microsoft.com/office/drawing/2014/main" id="{8638FF7D-06CD-4D0D-AF88-4B5CC7054F84}"/>
              </a:ext>
            </a:extLst>
          </p:cNvPr>
          <p:cNvGraphicFramePr/>
          <p:nvPr/>
        </p:nvGraphicFramePr>
        <p:xfrm>
          <a:off xmlns:a="http://schemas.openxmlformats.org/drawingml/2006/main" x="514350" y="2057400"/>
          <a:ext xmlns:a="http://schemas.openxmlformats.org/drawingml/2006/main" cx="5524500" cy="3143250"/>
        </p:xfrm>
        <a:graphic xmlns:a="http://schemas.openxmlformats.org/drawingml/2006/main">
          <a:graphicData uri="http://schemas.openxmlformats.org/drawingml/2006/table">
            <a:tbl>
              <a:tblPr/>
              <a:tblGrid>
                <a:gridCol w="1841500"/>
                <a:gridCol w="1841500"/>
                <a:gridCol w="1841500"/>
              </a:tblGrid>
              <a:tr h="523875">
                <a:tc>
                  <a:txBody>
                    <a:bodyPr/>
                    <a:lstStyle/>
                    <a:p>
                      <a:pPr algn="ctr"/>
                      <a:r>
                        <a:rPr sz="2025" b="1">
                          <a:solidFill>
                            <a:srgbClr val="2E7D5B"/>
                          </a:solidFill>
                          <a:latin typeface="Noto Sans JP"/>
                          <a:ea typeface="Noto Sans JP"/>
                          <a:cs typeface="Noto Sans JP"/>
                        </a:rPr>
                        <a:t>代表点</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X</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Y = X²</a:t>
                      </a:r>
                    </a:p>
                  </a:txBody>
                  <a:tcPr marL="91440" marR="91440" marT="45720" marB="45720" anchor="ctr">
                    <a:solidFill>
                      <a:srgbClr val="E7F2EC"/>
                    </a:solidFill>
                  </a:tcPr>
                </a:tc>
              </a:tr>
              <a:tr h="523875">
                <a:tc>
                  <a:txBody>
                    <a:bodyPr/>
                    <a:lstStyle/>
                    <a:p>
                      <a:pPr algn="ctr"/>
                      <a:r>
                        <a:rPr sz="202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r>
              <a:tr h="523875">
                <a:tc>
                  <a:txBody>
                    <a:bodyPr/>
                    <a:lstStyle/>
                    <a:p>
                      <a:pPr algn="ctr"/>
                      <a:r>
                        <a:rPr sz="202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0.25</a:t>
                      </a:r>
                    </a:p>
                  </a:txBody>
                  <a:tcPr marL="91440" marR="91440" marT="45720" marB="45720" anchor="ctr">
                    <a:solidFill>
                      <a:srgbClr val="F6F6F6"/>
                    </a:solidFill>
                  </a:tcPr>
                </a:tc>
              </a:tr>
              <a:tr h="523875">
                <a:tc>
                  <a:txBody>
                    <a:bodyPr/>
                    <a:lstStyle/>
                    <a:p>
                      <a:pPr algn="ctr"/>
                      <a:r>
                        <a:rPr sz="202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FFFFF"/>
                    </a:solidFill>
                  </a:tcPr>
                </a:tc>
              </a:tr>
              <a:tr h="523875">
                <a:tc>
                  <a:txBody>
                    <a:bodyPr/>
                    <a:lstStyle/>
                    <a:p>
                      <a:pPr algn="ctr"/>
                      <a:r>
                        <a:rPr sz="202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0.25</a:t>
                      </a:r>
                    </a:p>
                  </a:txBody>
                  <a:tcPr marL="91440" marR="91440" marT="45720" marB="45720" anchor="ctr">
                    <a:solidFill>
                      <a:srgbClr val="F6F6F6"/>
                    </a:solidFill>
                  </a:tcPr>
                </a:tc>
              </a:tr>
              <a:tr h="523875">
                <a:tc>
                  <a:txBody>
                    <a:bodyPr/>
                    <a:lstStyle/>
                    <a:p>
                      <a:pPr algn="ctr"/>
                      <a:r>
                        <a:rPr sz="202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r>
            </a:tbl>
          </a:graphicData>
        </a:graphic>
      </p:graphicFrame>
      <p:graphicFrame>
        <p:nvGraphicFramePr>
          <p:cNvPr id="7" name="Chart">
            <a:extLst xmlns:a="http://schemas.openxmlformats.org/drawingml/2006/main">
              <a:ext uri="{FF2B5EF4-FFF2-40B4-BE49-F238E27FC236}">
                <a16:creationId xmlns:a16="http://schemas.microsoft.com/office/drawing/2014/main" id="{D8A690F7-C8B9-4EA8-87BD-9E165F95CECD}"/>
              </a:ext>
            </a:extLst>
          </p:cNvPr>
          <p:cNvGraphicFramePr/>
          <p:nvPr/>
        </p:nvGraphicFramePr>
        <p:xfrm>
          <a:off xmlns:a="http://schemas.openxmlformats.org/drawingml/2006/main" x="6477000" y="2000250"/>
          <a:ext xmlns:a="http://schemas.openxmlformats.org/drawingml/2006/main" cx="5095875" cy="3381375"/>
        </p:xfrm>
        <a:graphic xmlns:a="http://schemas.openxmlformats.org/drawingml/2006/main">
          <a:graphicData uri="http://schemas.openxmlformats.org/drawingml/2006/chart">
            <c:chart xmlns:r="http://schemas.openxmlformats.org/officeDocument/2006/relationships" xmlns:c="http://schemas.openxmlformats.org/drawingml/2006/chart" r:id="R7b381217eb794a9e"/>
          </a:graphicData>
        </a:graphic>
      </p:graphicFrame>
      <p:sp>
        <p:nvSpPr>
          <p:cNvPr id="8" name="">
            <a:extLst xmlns:a="http://schemas.openxmlformats.org/drawingml/2006/main">
              <a:ext uri="{FF2B5EF4-FFF2-40B4-BE49-F238E27FC236}">
                <a16:creationId xmlns:a16="http://schemas.microsoft.com/office/drawing/2014/main" id="{DE11BA16-007B-43CD-A4BF-CEE298D725D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AECA28-2B7B-45F3-8047-154B2A03E13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Xが−1から0へ増えるとYは下がり、0から1へ増えるとYは上がる</a:t>
            </a:r>
          </a:p>
        </p:txBody>
      </p:sp>
    </p:spTree>
    <p:extLst>
      <p:ext uri="{BB962C8B-B14F-4D97-AF65-F5344CB8AC3E}">
        <p14:creationId xmlns:p14="http://schemas.microsoft.com/office/powerpoint/2010/main" val="358083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3B9D19-6C75-43B8-9782-A952B145AA2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独立な置換で壊れる関係</a:t>
            </a:r>
          </a:p>
        </p:txBody>
      </p:sp>
      <p:sp>
        <p:nvSpPr>
          <p:cNvPr id="2" name="">
            <a:extLst xmlns:a="http://schemas.openxmlformats.org/drawingml/2006/main">
              <a:ext uri="{FF2B5EF4-FFF2-40B4-BE49-F238E27FC236}">
                <a16:creationId xmlns:a16="http://schemas.microsoft.com/office/drawing/2014/main" id="{DAAD989F-DA71-4372-A4ED-B7CB51A63E5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FD965C-6F7F-4214-B91C-8E844E3115C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Yの対応だけを入れ替えると、同じ列の値でも関係が変わる。</a:t>
            </a:r>
          </a:p>
        </p:txBody>
      </p:sp>
      <p:sp>
        <p:nvSpPr>
          <p:cNvPr id="4" name="">
            <a:extLst xmlns:a="http://schemas.openxmlformats.org/drawingml/2006/main">
              <a:ext uri="{FF2B5EF4-FFF2-40B4-BE49-F238E27FC236}">
                <a16:creationId xmlns:a16="http://schemas.microsoft.com/office/drawing/2014/main" id="{BBF847CF-E5AF-4098-BF8B-6FDDF863306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8D8303C1-9DDF-42CB-BD28-6D84BFE60AD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graphicFrame>
        <p:nvGraphicFramePr>
          <p:cNvPr id="6" name="Chart">
            <a:extLst xmlns:a="http://schemas.openxmlformats.org/drawingml/2006/main">
              <a:ext uri="{FF2B5EF4-FFF2-40B4-BE49-F238E27FC236}">
                <a16:creationId xmlns:a16="http://schemas.microsoft.com/office/drawing/2014/main" id="{D328841C-51EA-4C71-BED0-F8918D1B2397}"/>
              </a:ext>
            </a:extLst>
          </p:cNvPr>
          <p:cNvGraphicFramePr/>
          <p:nvPr/>
        </p:nvGraphicFramePr>
        <p:xfrm>
          <a:off xmlns:a="http://schemas.openxmlformats.org/drawingml/2006/main" x="523875" y="20669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8f026c02a008433c"/>
          </a:graphicData>
        </a:graphic>
      </p:graphicFrame>
      <p:graphicFrame>
        <p:nvGraphicFramePr>
          <p:cNvPr id="7" name="Chart">
            <a:extLst xmlns:a="http://schemas.openxmlformats.org/drawingml/2006/main">
              <a:ext uri="{FF2B5EF4-FFF2-40B4-BE49-F238E27FC236}">
                <a16:creationId xmlns:a16="http://schemas.microsoft.com/office/drawing/2014/main" id="{9EB8D8BB-9C74-4AA7-B1CD-6D77C4974893}"/>
              </a:ext>
            </a:extLst>
          </p:cNvPr>
          <p:cNvGraphicFramePr/>
          <p:nvPr/>
        </p:nvGraphicFramePr>
        <p:xfrm>
          <a:off xmlns:a="http://schemas.openxmlformats.org/drawingml/2006/main" x="6238875" y="20669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ef2ee3a566c241ab"/>
          </a:graphicData>
        </a:graphic>
      </p:graphicFrame>
      <p:sp>
        <p:nvSpPr>
          <p:cNvPr id="8" name="">
            <a:extLst xmlns:a="http://schemas.openxmlformats.org/drawingml/2006/main">
              <a:ext uri="{FF2B5EF4-FFF2-40B4-BE49-F238E27FC236}">
                <a16:creationId xmlns:a16="http://schemas.microsoft.com/office/drawing/2014/main" id="{20E83227-81C9-48E9-84F6-4D5604E5179A}"/>
              </a:ext>
            </a:extLst>
          </p:cNvPr>
          <p:cNvSpPr>
            <a:spLocks xmlns:a="http://schemas.openxmlformats.org/drawingml/2006/main" noGrp="1"/>
          </p:cNvSpPr>
          <p:nvPr/>
        </p:nvSpPr>
        <p:spPr>
          <a:xfrm xmlns:a="http://schemas.openxmlformats.org/drawingml/2006/main">
            <a:off x="619125"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元の代表点：Y = X²</a:t>
            </a:r>
          </a:p>
        </p:txBody>
      </p:sp>
      <p:sp>
        <p:nvSpPr>
          <p:cNvPr id="9" name="">
            <a:extLst xmlns:a="http://schemas.openxmlformats.org/drawingml/2006/main">
              <a:ext uri="{FF2B5EF4-FFF2-40B4-BE49-F238E27FC236}">
                <a16:creationId xmlns:a16="http://schemas.microsoft.com/office/drawing/2014/main" id="{2906B1DB-5EB8-4AE9-A798-03CE9E08B5C8}"/>
              </a:ext>
            </a:extLst>
          </p:cNvPr>
          <p:cNvSpPr>
            <a:spLocks xmlns:a="http://schemas.openxmlformats.org/drawingml/2006/main" noGrp="1"/>
          </p:cNvSpPr>
          <p:nvPr/>
        </p:nvSpPr>
        <p:spPr>
          <a:xfrm xmlns:a="http://schemas.openxmlformats.org/drawingml/2006/main">
            <a:off x="6286500"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E0562B"/>
                </a:solidFill>
                <a:latin typeface="Noto Sans JP"/>
                <a:ea typeface="Noto Sans JP"/>
                <a:cs typeface="Noto Sans JP"/>
              </a:defRPr>
            </a:defPPr>
          </a:lstStyle>
          <a:p xmlns:a="http://schemas.openxmlformats.org/drawingml/2006/main">
            <a:pPr algn="l">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Yだけを並べ替えた例</a:t>
            </a:r>
          </a:p>
        </p:txBody>
      </p:sp>
      <p:sp>
        <p:nvSpPr>
          <p:cNvPr id="10" name="">
            <a:extLst xmlns:a="http://schemas.openxmlformats.org/drawingml/2006/main">
              <a:ext uri="{FF2B5EF4-FFF2-40B4-BE49-F238E27FC236}">
                <a16:creationId xmlns:a16="http://schemas.microsoft.com/office/drawing/2014/main" id="{49400A2D-7900-410F-AD73-859F54B7DE3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B8201D-6924-48D3-8BF2-7998752A7DE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例えばX = 0にY = 0.25を対応させると、元の関係から外れる</a:t>
            </a:r>
          </a:p>
        </p:txBody>
      </p:sp>
    </p:spTree>
    <p:extLst>
      <p:ext uri="{BB962C8B-B14F-4D97-AF65-F5344CB8AC3E}">
        <p14:creationId xmlns:p14="http://schemas.microsoft.com/office/powerpoint/2010/main" val="1747475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08D4D8-12D6-4C4B-B8DA-883944279E0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Xの累積分布関数</a:t>
            </a:r>
          </a:p>
        </p:txBody>
      </p:sp>
      <p:sp>
        <p:nvSpPr>
          <p:cNvPr id="2" name="">
            <a:extLst xmlns:a="http://schemas.openxmlformats.org/drawingml/2006/main">
              <a:ext uri="{FF2B5EF4-FFF2-40B4-BE49-F238E27FC236}">
                <a16:creationId xmlns:a16="http://schemas.microsoft.com/office/drawing/2014/main" id="{4E650C7E-6366-4024-8308-D0C838A7860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870450-AA90-47DE-925D-9C3648E03A0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累積分布関数は「その値以下になる確率」を表す。</a:t>
            </a:r>
          </a:p>
        </p:txBody>
      </p:sp>
      <p:sp>
        <p:nvSpPr>
          <p:cNvPr id="4" name="">
            <a:extLst xmlns:a="http://schemas.openxmlformats.org/drawingml/2006/main">
              <a:ext uri="{FF2B5EF4-FFF2-40B4-BE49-F238E27FC236}">
                <a16:creationId xmlns:a16="http://schemas.microsoft.com/office/drawing/2014/main" id="{99E5F9E7-0B38-4811-9A55-60D95D0797D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404D2F3-96B7-4A45-9CE5-DC2492834EA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2E7656EF-5317-4A86-95FE-3FC728432BBC}"/>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一様分布の累積分布関数（−1 ≤ x ≤ 1）</a:t>
            </a:r>
          </a:p>
        </p:txBody>
      </p:sp>
      <p:sp>
        <p:nvSpPr>
          <p:cNvPr id="7" name="">
            <a:extLst xmlns:a="http://schemas.openxmlformats.org/drawingml/2006/main">
              <a:ext uri="{FF2B5EF4-FFF2-40B4-BE49-F238E27FC236}">
                <a16:creationId xmlns:a16="http://schemas.microsoft.com/office/drawing/2014/main" id="{B1E8E2E3-5ED4-4D88-BB60-7C21AE179745}"/>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F93B5A-4A36-4859-A048-ADFF7EBC8599}"/>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Fₓ(x) = P(X ≤ x) = (x + 1) / 2</a:t>
            </a:r>
          </a:p>
        </p:txBody>
      </p:sp>
      <p:sp>
        <p:nvSpPr>
          <p:cNvPr id="9" name="">
            <a:extLst xmlns:a="http://schemas.openxmlformats.org/drawingml/2006/main">
              <a:ext uri="{FF2B5EF4-FFF2-40B4-BE49-F238E27FC236}">
                <a16:creationId xmlns:a16="http://schemas.microsoft.com/office/drawing/2014/main" id="{7898DCA1-D289-4CEF-97BD-0F8BDF9994CF}"/>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分母2：区間−1〜1の長さ。分子x+1：区間−1〜xの長さ。</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例：x = 0.5なら、Fₓ(0.5) = 1.5 / 2 = 0.75。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母集団の75%が、X = 0.5以下に位置する。</a:t>
            </a:r>
          </a:p>
        </p:txBody>
      </p:sp>
      <p:sp>
        <p:nvSpPr>
          <p:cNvPr id="10" name="">
            <a:extLst xmlns:a="http://schemas.openxmlformats.org/drawingml/2006/main">
              <a:ext uri="{FF2B5EF4-FFF2-40B4-BE49-F238E27FC236}">
                <a16:creationId xmlns:a16="http://schemas.microsoft.com/office/drawing/2014/main" id="{E882A7DD-5084-4F25-A5CE-0BCD60CD9C2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A9863D0-1CF7-4D16-83E7-9F4C6A15094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この例の位置は、仮定した母集団のCDFから計算する</a:t>
            </a:r>
          </a:p>
        </p:txBody>
      </p:sp>
    </p:spTree>
    <p:extLst>
      <p:ext uri="{BB962C8B-B14F-4D97-AF65-F5344CB8AC3E}">
        <p14:creationId xmlns:p14="http://schemas.microsoft.com/office/powerpoint/2010/main" val="7678777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71822E-F592-4205-BB2B-EF813C1E583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Yの累積分布関数</a:t>
            </a:r>
          </a:p>
        </p:txBody>
      </p:sp>
      <p:sp>
        <p:nvSpPr>
          <p:cNvPr id="2" name="">
            <a:extLst xmlns:a="http://schemas.openxmlformats.org/drawingml/2006/main">
              <a:ext uri="{FF2B5EF4-FFF2-40B4-BE49-F238E27FC236}">
                <a16:creationId xmlns:a16="http://schemas.microsoft.com/office/drawing/2014/main" id="{2A649C8B-8043-4925-AAC8-FD67FE31852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2CB271-4C75-4526-A2C8-3F1B02E8314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Y ≤ yの条件を、Xが入る区間に置き換える。</a:t>
            </a:r>
          </a:p>
        </p:txBody>
      </p:sp>
      <p:sp>
        <p:nvSpPr>
          <p:cNvPr id="4" name="">
            <a:extLst xmlns:a="http://schemas.openxmlformats.org/drawingml/2006/main">
              <a:ext uri="{FF2B5EF4-FFF2-40B4-BE49-F238E27FC236}">
                <a16:creationId xmlns:a16="http://schemas.microsoft.com/office/drawing/2014/main" id="{07016D22-49DD-4545-97C1-2E838250165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45936E0-797C-4D57-AFA8-3B839A49DA6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EFAC5597-1F36-4A4D-8C23-8E7BAE76EE90}"/>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二乗した変数の累積分布関数（0 ≤ y ≤ 1）</a:t>
            </a:r>
          </a:p>
        </p:txBody>
      </p:sp>
      <p:sp>
        <p:nvSpPr>
          <p:cNvPr id="7" name="">
            <a:extLst xmlns:a="http://schemas.openxmlformats.org/drawingml/2006/main">
              <a:ext uri="{FF2B5EF4-FFF2-40B4-BE49-F238E27FC236}">
                <a16:creationId xmlns:a16="http://schemas.microsoft.com/office/drawing/2014/main" id="{A125702C-2A6F-434C-A788-2A5166A1B258}"/>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740789-28A4-4603-8A3A-AD93B3356B7E}"/>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Fᵧ(y) = P(−√y ≤ X ≤ √y) = √y</a:t>
            </a:r>
          </a:p>
        </p:txBody>
      </p:sp>
      <p:sp>
        <p:nvSpPr>
          <p:cNvPr id="9" name="">
            <a:extLst xmlns:a="http://schemas.openxmlformats.org/drawingml/2006/main">
              <a:ext uri="{FF2B5EF4-FFF2-40B4-BE49-F238E27FC236}">
                <a16:creationId xmlns:a16="http://schemas.microsoft.com/office/drawing/2014/main" id="{F4F13492-61DE-40DE-9CF6-276FCA6A7C8B}"/>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Y = X²なので、Y ≤ yは−√y ≤ X ≤ √yと同じ条件。</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区間の長さ2√yを、全区間の長さ2で割る。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例：y = 0.25なら、−0.5 ≤ X ≤ 0.5。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Fᵧ(0.25) = 1 / 2 = 0.5。</a:t>
            </a:r>
          </a:p>
        </p:txBody>
      </p:sp>
      <p:sp>
        <p:nvSpPr>
          <p:cNvPr id="10" name="">
            <a:extLst xmlns:a="http://schemas.openxmlformats.org/drawingml/2006/main">
              <a:ext uri="{FF2B5EF4-FFF2-40B4-BE49-F238E27FC236}">
                <a16:creationId xmlns:a16="http://schemas.microsoft.com/office/drawing/2014/main" id="{E7A69334-5B4D-4B5C-AC14-A321ABFD0FB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B06B98-E80D-45C9-97F5-582872B359D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Yの位置はXの位置と違うCDFで計算する</a:t>
            </a:r>
          </a:p>
        </p:txBody>
      </p:sp>
    </p:spTree>
    <p:extLst>
      <p:ext uri="{BB962C8B-B14F-4D97-AF65-F5344CB8AC3E}">
        <p14:creationId xmlns:p14="http://schemas.microsoft.com/office/powerpoint/2010/main" val="178978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27D5C6-7150-4EDC-B493-02848654BA2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値と確率位置の対応</a:t>
            </a:r>
          </a:p>
        </p:txBody>
      </p:sp>
      <p:sp>
        <p:nvSpPr>
          <p:cNvPr id="2" name="">
            <a:extLst xmlns:a="http://schemas.openxmlformats.org/drawingml/2006/main">
              <a:ext uri="{FF2B5EF4-FFF2-40B4-BE49-F238E27FC236}">
                <a16:creationId xmlns:a16="http://schemas.microsoft.com/office/drawing/2014/main" id="{C6BE1E16-69D6-4944-BE1D-217719B50E0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BA0A8E-B26A-4CAE-9820-121996995C2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同じ代表点を、各列のCDFで0〜1の位置に変換する。</a:t>
            </a:r>
          </a:p>
        </p:txBody>
      </p:sp>
      <p:sp>
        <p:nvSpPr>
          <p:cNvPr id="4" name="">
            <a:extLst xmlns:a="http://schemas.openxmlformats.org/drawingml/2006/main">
              <a:ext uri="{FF2B5EF4-FFF2-40B4-BE49-F238E27FC236}">
                <a16:creationId xmlns:a16="http://schemas.microsoft.com/office/drawing/2014/main" id="{A003046D-BC0F-473C-88EB-F3EB8B6CDDA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6697630-A6A0-4F2E-A713-BD8ADF61F0E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6" name="">
            <a:extLst xmlns:a="http://schemas.openxmlformats.org/drawingml/2006/main">
              <a:ext uri="{FF2B5EF4-FFF2-40B4-BE49-F238E27FC236}">
                <a16:creationId xmlns:a16="http://schemas.microsoft.com/office/drawing/2014/main" id="{B4F6AC43-0E1B-4963-BF49-74E95B0ABE1C}"/>
              </a:ext>
            </a:extLst>
          </p:cNvPr>
          <p:cNvGraphicFramePr/>
          <p:nvPr/>
        </p:nvGraphicFramePr>
        <p:xfrm>
          <a:off xmlns:a="http://schemas.openxmlformats.org/drawingml/2006/main" x="514350" y="2000250"/>
          <a:ext xmlns:a="http://schemas.openxmlformats.org/drawingml/2006/main" cx="6667500" cy="3190875"/>
        </p:xfrm>
        <a:graphic xmlns:a="http://schemas.openxmlformats.org/drawingml/2006/main">
          <a:graphicData uri="http://schemas.openxmlformats.org/drawingml/2006/table">
            <a:tbl>
              <a:tblPr/>
              <a:tblGrid>
                <a:gridCol w="666750"/>
                <a:gridCol w="1238250"/>
                <a:gridCol w="1238250"/>
                <a:gridCol w="1762125"/>
                <a:gridCol w="1762125"/>
              </a:tblGrid>
              <a:tr h="531813">
                <a:tc>
                  <a:txBody>
                    <a:bodyPr/>
                    <a:lstStyle/>
                    <a:p>
                      <a:pPr algn="ctr"/>
                      <a:r>
                        <a:rPr sz="1875" b="1">
                          <a:solidFill>
                            <a:srgbClr val="2E7D5B"/>
                          </a:solidFill>
                          <a:latin typeface="Noto Sans JP"/>
                          <a:ea typeface="Noto Sans JP"/>
                          <a:cs typeface="Noto Sans JP"/>
                        </a:rPr>
                        <a:t>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X</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Y</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U = Fₓ(X)</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 = Fᵧ(Y)</a:t>
                      </a:r>
                    </a:p>
                  </a:txBody>
                  <a:tcPr marL="91440" marR="91440" marT="45720" marB="45720" anchor="ctr">
                    <a:solidFill>
                      <a:srgbClr val="E7F2EC"/>
                    </a:solidFill>
                  </a:tcPr>
                </a:tc>
              </a:tr>
              <a:tr h="531813">
                <a:tc>
                  <a:txBody>
                    <a:bodyPr/>
                    <a:lstStyle/>
                    <a:p>
                      <a:pPr algn="ctr"/>
                      <a:r>
                        <a:rPr sz="18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r>
              <a:tr h="531813">
                <a:tc>
                  <a:txBody>
                    <a:bodyPr/>
                    <a:lstStyle/>
                    <a:p>
                      <a:pPr algn="ctr"/>
                      <a:r>
                        <a:rPr sz="18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r>
              <a:tr h="531813">
                <a:tc>
                  <a:txBody>
                    <a:bodyPr/>
                    <a:lstStyle/>
                    <a:p>
                      <a:pPr algn="ctr"/>
                      <a:r>
                        <a:rPr sz="18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r>
              <a:tr h="531813">
                <a:tc>
                  <a:txBody>
                    <a:bodyPr/>
                    <a:lstStyle/>
                    <a:p>
                      <a:pPr algn="ctr"/>
                      <a:r>
                        <a:rPr sz="18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0.75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r>
              <a:tr h="531813">
                <a:tc>
                  <a:txBody>
                    <a:bodyPr/>
                    <a:lstStyle/>
                    <a:p>
                      <a:pPr algn="ctr"/>
                      <a:r>
                        <a:rPr sz="187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6BFAE5-E221-40EA-87C6-10F8DBAE6CE5}"/>
              </a:ext>
            </a:extLst>
          </p:cNvPr>
          <p:cNvSpPr>
            <a:spLocks xmlns:a="http://schemas.openxmlformats.org/drawingml/2006/main" noGrp="1"/>
          </p:cNvSpPr>
          <p:nvPr/>
        </p:nvSpPr>
        <p:spPr>
          <a:xfrm xmlns:a="http://schemas.openxmlformats.org/drawingml/2006/main">
            <a:off x="7524750" y="2000250"/>
            <a:ext cx="400050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Dの計算（X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(0.5 + 1) / 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 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√0.25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位置の組は (0.75, 0.5)。</a:t>
            </a:r>
          </a:p>
        </p:txBody>
      </p:sp>
      <p:sp>
        <p:nvSpPr>
          <p:cNvPr id="8" name="">
            <a:extLst xmlns:a="http://schemas.openxmlformats.org/drawingml/2006/main">
              <a:ext uri="{FF2B5EF4-FFF2-40B4-BE49-F238E27FC236}">
                <a16:creationId xmlns:a16="http://schemas.microsoft.com/office/drawing/2014/main" id="{B1D61DE8-9097-4311-AEE0-651D9B9FE84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A83C5C-333F-463F-801F-34B18C8CF40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5点の順位割合ではなく、前の2枚で導出した母集団CDFを使う</a:t>
            </a:r>
          </a:p>
        </p:txBody>
      </p:sp>
    </p:spTree>
    <p:extLst>
      <p:ext uri="{BB962C8B-B14F-4D97-AF65-F5344CB8AC3E}">
        <p14:creationId xmlns:p14="http://schemas.microsoft.com/office/powerpoint/2010/main" val="10182536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2751F2-2C19-498F-8343-1A00E9ADF3A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確率積分変換後の依存</a:t>
            </a:r>
          </a:p>
        </p:txBody>
      </p:sp>
      <p:sp>
        <p:nvSpPr>
          <p:cNvPr id="2" name="">
            <a:extLst xmlns:a="http://schemas.openxmlformats.org/drawingml/2006/main">
              <a:ext uri="{FF2B5EF4-FFF2-40B4-BE49-F238E27FC236}">
                <a16:creationId xmlns:a16="http://schemas.microsoft.com/office/drawing/2014/main" id="{3CB0A169-8429-4297-80B5-DC74CB59563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227E37-7105-4549-B513-FE69176856F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位置に変換した後も、非単調な関係が残る。</a:t>
            </a:r>
          </a:p>
        </p:txBody>
      </p:sp>
      <p:sp>
        <p:nvSpPr>
          <p:cNvPr id="4" name="">
            <a:extLst xmlns:a="http://schemas.openxmlformats.org/drawingml/2006/main">
              <a:ext uri="{FF2B5EF4-FFF2-40B4-BE49-F238E27FC236}">
                <a16:creationId xmlns:a16="http://schemas.microsoft.com/office/drawing/2014/main" id="{9CFF079B-40A9-4EE5-8F29-6ED15ECB1F3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941D24C4-6D3E-4098-9EE0-39E4521341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6" name="Chart">
            <a:extLst xmlns:a="http://schemas.openxmlformats.org/drawingml/2006/main">
              <a:ext uri="{FF2B5EF4-FFF2-40B4-BE49-F238E27FC236}">
                <a16:creationId xmlns:a16="http://schemas.microsoft.com/office/drawing/2014/main" id="{122BB336-61C9-4946-951B-8C591CADC09D}"/>
              </a:ext>
            </a:extLst>
          </p:cNvPr>
          <p:cNvGraphicFramePr/>
          <p:nvPr/>
        </p:nvGraphicFramePr>
        <p:xfrm>
          <a:off xmlns:a="http://schemas.openxmlformats.org/drawingml/2006/main" x="514350" y="2028825"/>
          <a:ext xmlns:a="http://schemas.openxmlformats.org/drawingml/2006/main" cx="5905500" cy="3381375"/>
        </p:xfrm>
        <a:graphic xmlns:a="http://schemas.openxmlformats.org/drawingml/2006/main">
          <a:graphicData uri="http://schemas.openxmlformats.org/drawingml/2006/chart">
            <c:chart xmlns:r="http://schemas.openxmlformats.org/officeDocument/2006/relationships" xmlns:c="http://schemas.openxmlformats.org/drawingml/2006/chart" r:id="R28d6782754534f34"/>
          </a:graphicData>
        </a:graphic>
      </p:graphicFrame>
      <p:sp>
        <p:nvSpPr>
          <p:cNvPr id="7" name="">
            <a:extLst xmlns:a="http://schemas.openxmlformats.org/drawingml/2006/main">
              <a:ext uri="{FF2B5EF4-FFF2-40B4-BE49-F238E27FC236}">
                <a16:creationId xmlns:a16="http://schemas.microsoft.com/office/drawing/2014/main" id="{3EB7E104-907D-4719-813A-1CFFB0A6BB23}"/>
              </a:ext>
            </a:extLst>
          </p:cNvPr>
          <p:cNvSpPr>
            <a:spLocks xmlns:a="http://schemas.openxmlformats.org/drawingml/2006/main" noGrp="1"/>
          </p:cNvSpPr>
          <p:nvPr/>
        </p:nvSpPr>
        <p:spPr>
          <a:xfrm xmlns:a="http://schemas.openxmlformats.org/drawingml/2006/main">
            <a:off x="6905625" y="2009775"/>
            <a:ext cx="4714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確率積分変換</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Fₓ(X),  V = Fᵧ(Y)</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X = 2U − 1なので</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√Y = |X|</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   = |2U − 1|</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位置の散布図もV字型になる。</a:t>
            </a:r>
          </a:p>
        </p:txBody>
      </p:sp>
      <p:sp>
        <p:nvSpPr>
          <p:cNvPr id="8" name="">
            <a:extLst xmlns:a="http://schemas.openxmlformats.org/drawingml/2006/main">
              <a:ext uri="{FF2B5EF4-FFF2-40B4-BE49-F238E27FC236}">
                <a16:creationId xmlns:a16="http://schemas.microsoft.com/office/drawing/2014/main" id="{D953DA9B-3D8A-48D2-B56C-244860A6DAA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05A3CE-99CB-4298-AD4B-DE881573EF7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CDFへの変換は、非単調な依存を必ず直線に変える操作ではない</a:t>
            </a:r>
          </a:p>
        </p:txBody>
      </p:sp>
    </p:spTree>
    <p:extLst>
      <p:ext uri="{BB962C8B-B14F-4D97-AF65-F5344CB8AC3E}">
        <p14:creationId xmlns:p14="http://schemas.microsoft.com/office/powerpoint/2010/main" val="6652378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EE3AA3-78B4-4D29-A266-9ABD204B2B3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コピュラの定義式</a:t>
            </a:r>
          </a:p>
        </p:txBody>
      </p:sp>
      <p:sp>
        <p:nvSpPr>
          <p:cNvPr id="2" name="">
            <a:extLst xmlns:a="http://schemas.openxmlformats.org/drawingml/2006/main">
              <a:ext uri="{FF2B5EF4-FFF2-40B4-BE49-F238E27FC236}">
                <a16:creationId xmlns:a16="http://schemas.microsoft.com/office/drawing/2014/main" id="{E62466C7-3B60-497D-AFF3-49B72D5236B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75192D-4D1F-4891-92F2-E79B8987266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二つの位置が、指定範囲に同時に入る確率を表す。</a:t>
            </a:r>
          </a:p>
        </p:txBody>
      </p:sp>
      <p:sp>
        <p:nvSpPr>
          <p:cNvPr id="4" name="">
            <a:extLst xmlns:a="http://schemas.openxmlformats.org/drawingml/2006/main">
              <a:ext uri="{FF2B5EF4-FFF2-40B4-BE49-F238E27FC236}">
                <a16:creationId xmlns:a16="http://schemas.microsoft.com/office/drawing/2014/main" id="{AE6CF059-4F71-4898-BDCB-7CAAB7D1AA8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EBB61ED-F77F-4BB7-A4A1-4E29B995327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sp>
        <p:nvSpPr>
          <p:cNvPr id="6" name="">
            <a:extLst xmlns:a="http://schemas.openxmlformats.org/drawingml/2006/main">
              <a:ext uri="{FF2B5EF4-FFF2-40B4-BE49-F238E27FC236}">
                <a16:creationId xmlns:a16="http://schemas.microsoft.com/office/drawing/2014/main" id="{6965C839-A424-433D-9625-5C194951B424}"/>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一様周辺を持つ同時累積分布関数</a:t>
            </a:r>
          </a:p>
        </p:txBody>
      </p:sp>
      <p:sp>
        <p:nvSpPr>
          <p:cNvPr id="7" name="">
            <a:extLst xmlns:a="http://schemas.openxmlformats.org/drawingml/2006/main">
              <a:ext uri="{FF2B5EF4-FFF2-40B4-BE49-F238E27FC236}">
                <a16:creationId xmlns:a16="http://schemas.microsoft.com/office/drawing/2014/main" id="{C7CC6FB8-7BF8-417F-83FE-C5B8796B99D1}"/>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1943D87-BFCC-417C-BCCC-CB8C06C2012C}"/>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 v) = P(U ≤ u, V ≤ v)</a:t>
            </a:r>
          </a:p>
        </p:txBody>
      </p:sp>
      <p:sp>
        <p:nvSpPr>
          <p:cNvPr id="9" name="">
            <a:extLst xmlns:a="http://schemas.openxmlformats.org/drawingml/2006/main">
              <a:ext uri="{FF2B5EF4-FFF2-40B4-BE49-F238E27FC236}">
                <a16:creationId xmlns:a16="http://schemas.microsoft.com/office/drawing/2014/main" id="{507577BD-31E8-4423-ADC6-49F521351EEA}"/>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U・V：確率位置の変数。u・v：それぞれの位置の上限。</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例：C(0.75, 0.5)は、Uが0.75以下、かつ</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Vが0.5以下になる確率。条件付き確率とは区別する。</a:t>
            </a:r>
          </a:p>
        </p:txBody>
      </p:sp>
      <p:sp>
        <p:nvSpPr>
          <p:cNvPr id="10" name="">
            <a:extLst xmlns:a="http://schemas.openxmlformats.org/drawingml/2006/main">
              <a:ext uri="{FF2B5EF4-FFF2-40B4-BE49-F238E27FC236}">
                <a16:creationId xmlns:a16="http://schemas.microsoft.com/office/drawing/2014/main" id="{DDDC2AD4-4EBF-4EDF-9BD2-C9F1F9B94B8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D1AB0A-734D-4F24-90F9-F7EF5CBBE1B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このU字型の元データにも、依存を表すコピュラが存在する</a:t>
            </a:r>
          </a:p>
        </p:txBody>
      </p:sp>
    </p:spTree>
    <p:extLst>
      <p:ext uri="{BB962C8B-B14F-4D97-AF65-F5344CB8AC3E}">
        <p14:creationId xmlns:p14="http://schemas.microsoft.com/office/powerpoint/2010/main" val="1452206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D3AF17-0A88-49DC-BD9B-1A8D1CF30E2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この例の同時確率</a:t>
            </a:r>
          </a:p>
        </p:txBody>
      </p:sp>
      <p:sp>
        <p:nvSpPr>
          <p:cNvPr id="2" name="">
            <a:extLst xmlns:a="http://schemas.openxmlformats.org/drawingml/2006/main">
              <a:ext uri="{FF2B5EF4-FFF2-40B4-BE49-F238E27FC236}">
                <a16:creationId xmlns:a16="http://schemas.microsoft.com/office/drawing/2014/main" id="{4205BC29-AFB8-4C50-80E1-6BE9891E043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E970E8-9597-43C6-9797-4EC4D01471E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0.5を満たすUの範囲は、0.25〜0.75。</a:t>
            </a:r>
          </a:p>
        </p:txBody>
      </p:sp>
      <p:sp>
        <p:nvSpPr>
          <p:cNvPr id="4" name="">
            <a:extLst xmlns:a="http://schemas.openxmlformats.org/drawingml/2006/main">
              <a:ext uri="{FF2B5EF4-FFF2-40B4-BE49-F238E27FC236}">
                <a16:creationId xmlns:a16="http://schemas.microsoft.com/office/drawing/2014/main" id="{D3AFB1F6-0536-44F5-AB79-293179D4346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09C2109-1DE9-4482-96E5-BC518AA702B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6" name="Chart">
            <a:extLst xmlns:a="http://schemas.openxmlformats.org/drawingml/2006/main">
              <a:ext uri="{FF2B5EF4-FFF2-40B4-BE49-F238E27FC236}">
                <a16:creationId xmlns:a16="http://schemas.microsoft.com/office/drawing/2014/main" id="{D554AF17-5F29-462D-99F6-C3A720C12009}"/>
              </a:ext>
            </a:extLst>
          </p:cNvPr>
          <p:cNvGraphicFramePr/>
          <p:nvPr/>
        </p:nvGraphicFramePr>
        <p:xfrm>
          <a:off xmlns:a="http://schemas.openxmlformats.org/drawingml/2006/main" x="514350" y="2076450"/>
          <a:ext xmlns:a="http://schemas.openxmlformats.org/drawingml/2006/main" cx="5810250" cy="3286125"/>
        </p:xfrm>
        <a:graphic xmlns:a="http://schemas.openxmlformats.org/drawingml/2006/main">
          <a:graphicData uri="http://schemas.openxmlformats.org/drawingml/2006/chart">
            <c:chart xmlns:r="http://schemas.openxmlformats.org/officeDocument/2006/relationships" xmlns:c="http://schemas.openxmlformats.org/drawingml/2006/chart" r:id="Raa2053f397b54e9f"/>
          </a:graphicData>
        </a:graphic>
      </p:graphicFrame>
      <p:sp>
        <p:nvSpPr>
          <p:cNvPr id="7" name="">
            <a:extLst xmlns:a="http://schemas.openxmlformats.org/drawingml/2006/main">
              <a:ext uri="{FF2B5EF4-FFF2-40B4-BE49-F238E27FC236}">
                <a16:creationId xmlns:a16="http://schemas.microsoft.com/office/drawing/2014/main" id="{46A35F6F-8CB2-48EC-9D2A-E35D43483038}"/>
              </a:ext>
            </a:extLst>
          </p:cNvPr>
          <p:cNvSpPr>
            <a:spLocks xmlns:a="http://schemas.openxmlformats.org/drawingml/2006/main" noGrp="1"/>
          </p:cNvSpPr>
          <p:nvPr/>
        </p:nvSpPr>
        <p:spPr>
          <a:xfrm xmlns:a="http://schemas.openxmlformats.org/drawingml/2006/main">
            <a:off x="6762750" y="2000250"/>
            <a:ext cx="485775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|2U − 1|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0.25 ≤ U ≤ 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さらにU ≤ 0.75を満たす区間は</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同じ0.25〜0.75。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C(0.75, 0.5) = 0.75 − 0.25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 0.5</a:t>
            </a:r>
          </a:p>
        </p:txBody>
      </p:sp>
      <p:sp>
        <p:nvSpPr>
          <p:cNvPr id="8" name="">
            <a:extLst xmlns:a="http://schemas.openxmlformats.org/drawingml/2006/main">
              <a:ext uri="{FF2B5EF4-FFF2-40B4-BE49-F238E27FC236}">
                <a16:creationId xmlns:a16="http://schemas.microsoft.com/office/drawing/2014/main" id="{F999CB44-74AA-4C6D-BBF0-79BADF5564D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0C072B-783E-47C9-97ED-BCB1BE67B8F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Uは一様分布なので、区間の長さがそのまま確率になる</a:t>
            </a:r>
          </a:p>
        </p:txBody>
      </p:sp>
    </p:spTree>
    <p:extLst>
      <p:ext uri="{BB962C8B-B14F-4D97-AF65-F5344CB8AC3E}">
        <p14:creationId xmlns:p14="http://schemas.microsoft.com/office/powerpoint/2010/main" val="16175586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123935B-072E-4DE7-BFA1-B0422147067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この例のコピュラの式</a:t>
            </a:r>
          </a:p>
        </p:txBody>
      </p:sp>
      <p:sp>
        <p:nvSpPr>
          <p:cNvPr id="2" name="">
            <a:extLst xmlns:a="http://schemas.openxmlformats.org/drawingml/2006/main">
              <a:ext uri="{FF2B5EF4-FFF2-40B4-BE49-F238E27FC236}">
                <a16:creationId xmlns:a16="http://schemas.microsoft.com/office/drawing/2014/main" id="{AC28009B-9473-435E-98F1-A2874F5CF8F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053CDE-BA1B-48F3-87A3-84CD3DB1268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vとなるUの区間と、U ≤ uの範囲を重ねる。</a:t>
            </a:r>
          </a:p>
        </p:txBody>
      </p:sp>
      <p:sp>
        <p:nvSpPr>
          <p:cNvPr id="4" name="">
            <a:extLst xmlns:a="http://schemas.openxmlformats.org/drawingml/2006/main">
              <a:ext uri="{FF2B5EF4-FFF2-40B4-BE49-F238E27FC236}">
                <a16:creationId xmlns:a16="http://schemas.microsoft.com/office/drawing/2014/main" id="{559D5EAE-6610-4CE5-A0F8-23B4674736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00A9C4F-972D-4973-9539-1BEE8BA0651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BCBE04D2-2D00-4CDF-A58C-EEDFCE9545C1}"/>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U字型の例に対応するコピュラ（0 ≤ u, v ≤ 1）</a:t>
            </a:r>
          </a:p>
        </p:txBody>
      </p:sp>
      <p:sp>
        <p:nvSpPr>
          <p:cNvPr id="7" name="">
            <a:extLst xmlns:a="http://schemas.openxmlformats.org/drawingml/2006/main">
              <a:ext uri="{FF2B5EF4-FFF2-40B4-BE49-F238E27FC236}">
                <a16:creationId xmlns:a16="http://schemas.microsoft.com/office/drawing/2014/main" id="{CBBEFE4D-87B3-4234-93F2-5EBB5A7FE105}"/>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A98F81-F854-4E97-A549-DD12C18490E0}"/>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C(u,v) = max{0, min(u, (1+v)/2) − (1−v)/2}</a:t>
            </a:r>
          </a:p>
        </p:txBody>
      </p:sp>
      <p:sp>
        <p:nvSpPr>
          <p:cNvPr id="9" name="">
            <a:extLst xmlns:a="http://schemas.openxmlformats.org/drawingml/2006/main">
              <a:ext uri="{FF2B5EF4-FFF2-40B4-BE49-F238E27FC236}">
                <a16:creationId xmlns:a16="http://schemas.microsoft.com/office/drawing/2014/main" id="{227638C4-ABA9-4C1C-9843-964093EC1647}"/>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vを満たす区間：[(1−v)/2, (1+v)/2]。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min：区間の右端をuまでに制限する。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max：区間が重ならないとき、確率を0にする。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例：u = 0.75、v = 0.5なら、0.75 − 0.25 = 0.5。</a:t>
            </a:r>
          </a:p>
        </p:txBody>
      </p:sp>
      <p:sp>
        <p:nvSpPr>
          <p:cNvPr id="10" name="">
            <a:extLst xmlns:a="http://schemas.openxmlformats.org/drawingml/2006/main">
              <a:ext uri="{FF2B5EF4-FFF2-40B4-BE49-F238E27FC236}">
                <a16:creationId xmlns:a16="http://schemas.microsoft.com/office/drawing/2014/main" id="{92914DC0-3CA1-4711-ADF4-324B8A4707F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F0C571-53B5-415E-B330-D0B00991ACA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この式は、この説明用の関係から導出した専用のコピュラ</a:t>
            </a:r>
          </a:p>
        </p:txBody>
      </p:sp>
    </p:spTree>
    <p:extLst>
      <p:ext uri="{BB962C8B-B14F-4D97-AF65-F5344CB8AC3E}">
        <p14:creationId xmlns:p14="http://schemas.microsoft.com/office/powerpoint/2010/main" val="12512187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845894-713F-4653-A1AF-70A02E1044D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Sklarの定理</a:t>
            </a:r>
          </a:p>
        </p:txBody>
      </p:sp>
      <p:sp>
        <p:nvSpPr>
          <p:cNvPr id="2" name="">
            <a:extLst xmlns:a="http://schemas.openxmlformats.org/drawingml/2006/main">
              <a:ext uri="{FF2B5EF4-FFF2-40B4-BE49-F238E27FC236}">
                <a16:creationId xmlns:a16="http://schemas.microsoft.com/office/drawing/2014/main" id="{7B70346C-98A4-45F7-A09D-1E8ADA8E21B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4C6CB0-AD4E-4B43-B2C1-B51A7C79B56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元の値での同時確率を、周辺CDFとコピュラで表す。</a:t>
            </a:r>
          </a:p>
        </p:txBody>
      </p:sp>
      <p:sp>
        <p:nvSpPr>
          <p:cNvPr id="4" name="">
            <a:extLst xmlns:a="http://schemas.openxmlformats.org/drawingml/2006/main">
              <a:ext uri="{FF2B5EF4-FFF2-40B4-BE49-F238E27FC236}">
                <a16:creationId xmlns:a16="http://schemas.microsoft.com/office/drawing/2014/main" id="{5B70C705-5C75-4E85-A0DA-D52F35B9526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23969B8-2A3F-43A9-9A9B-745DCA11536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AC002EC4-8AE7-49AA-96DE-CA3C381D3C1E}"/>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Sklar（スクラー）の分解式</a:t>
            </a:r>
          </a:p>
        </p:txBody>
      </p:sp>
      <p:sp>
        <p:nvSpPr>
          <p:cNvPr id="7" name="">
            <a:extLst xmlns:a="http://schemas.openxmlformats.org/drawingml/2006/main">
              <a:ext uri="{FF2B5EF4-FFF2-40B4-BE49-F238E27FC236}">
                <a16:creationId xmlns:a16="http://schemas.microsoft.com/office/drawing/2014/main" id="{A128A1DE-60AB-428C-860A-45D12C9B58A3}"/>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3B7EE3-52D8-4E9F-8119-4BEB16DA1CC8}"/>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Fₓᵧ(x,y) = C(Fₓ(x), Fᵧ(y))</a:t>
            </a:r>
          </a:p>
        </p:txBody>
      </p:sp>
      <p:sp>
        <p:nvSpPr>
          <p:cNvPr id="9" name="">
            <a:extLst xmlns:a="http://schemas.openxmlformats.org/drawingml/2006/main">
              <a:ext uri="{FF2B5EF4-FFF2-40B4-BE49-F238E27FC236}">
                <a16:creationId xmlns:a16="http://schemas.microsoft.com/office/drawing/2014/main" id="{347764E4-1761-4A8C-9901-1B34CE6D32D7}"/>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Fₓᵧ：X ≤ xかつY ≤ yとなる同時累積確率。</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Fₓ・Fᵧ：各列の分布。C：確率位置どうしの依存。</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例：x = 0.5、y = 0.25なら</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Fₓᵧ(0.5,0.25) = C(0.75,0.5) = 0.5。</a:t>
            </a:r>
          </a:p>
        </p:txBody>
      </p:sp>
      <p:sp>
        <p:nvSpPr>
          <p:cNvPr id="10" name="">
            <a:extLst xmlns:a="http://schemas.openxmlformats.org/drawingml/2006/main">
              <a:ext uri="{FF2B5EF4-FFF2-40B4-BE49-F238E27FC236}">
                <a16:creationId xmlns:a16="http://schemas.microsoft.com/office/drawing/2014/main" id="{B3A8EEE8-5F13-43DA-A787-5C02C20B456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6E0E5E-E8BA-4E00-A8F8-E4B8D932D10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値の分布を扱う部分と、組合せの関係を扱う部分を分ける</a:t>
            </a:r>
          </a:p>
        </p:txBody>
      </p:sp>
    </p:spTree>
    <p:extLst>
      <p:ext uri="{BB962C8B-B14F-4D97-AF65-F5344CB8AC3E}">
        <p14:creationId xmlns:p14="http://schemas.microsoft.com/office/powerpoint/2010/main" val="6205757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EB7F9D-8274-48C5-8DE9-171A8A917B4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条件付き補完の具体例</a:t>
            </a:r>
          </a:p>
        </p:txBody>
      </p:sp>
      <p:sp>
        <p:nvSpPr>
          <p:cNvPr id="2" name="">
            <a:extLst xmlns:a="http://schemas.openxmlformats.org/drawingml/2006/main">
              <a:ext uri="{FF2B5EF4-FFF2-40B4-BE49-F238E27FC236}">
                <a16:creationId xmlns:a16="http://schemas.microsoft.com/office/drawing/2014/main" id="{2D9C3608-CC14-4EE0-BE06-CACBBE87A0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E95ECB-8BD3-4168-AD8C-E195EB9BF13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X = 0.6を残し、マスクしたYを生成する。</a:t>
            </a:r>
          </a:p>
        </p:txBody>
      </p:sp>
      <p:sp>
        <p:nvSpPr>
          <p:cNvPr id="4" name="">
            <a:extLst xmlns:a="http://schemas.openxmlformats.org/drawingml/2006/main">
              <a:ext uri="{FF2B5EF4-FFF2-40B4-BE49-F238E27FC236}">
                <a16:creationId xmlns:a16="http://schemas.microsoft.com/office/drawing/2014/main" id="{091FEC01-C305-472E-BAD2-E1606554237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7BC61FD-05E2-447D-8417-080E078B6BE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A14B7362-2922-4157-8EBF-1824B25FFA6C}"/>
              </a:ext>
            </a:extLst>
          </p:cNvPr>
          <p:cNvSpPr>
            <a:spLocks xmlns:a="http://schemas.openxmlformats.org/drawingml/2006/main" noGrp="1"/>
          </p:cNvSpPr>
          <p:nvPr/>
        </p:nvSpPr>
        <p:spPr>
          <a:xfrm xmlns:a="http://schemas.openxmlformats.org/drawingml/2006/main">
            <a:off x="552450" y="204787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593975C7-86F8-4084-A3CB-30B60365CD50}"/>
              </a:ext>
            </a:extLst>
          </p:cNvPr>
          <p:cNvSpPr>
            <a:spLocks xmlns:a="http://schemas.openxmlformats.org/drawingml/2006/main" noGrp="1"/>
          </p:cNvSpPr>
          <p:nvPr/>
        </p:nvSpPr>
        <p:spPr>
          <a:xfrm xmlns:a="http://schemas.openxmlformats.org/drawingml/2006/main">
            <a:off x="1257300" y="204787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観測値を位置に変換：u = Fₓ(0.6) = (0.6 + 1) / 2 = 0.8</a:t>
            </a:r>
          </a:p>
        </p:txBody>
      </p:sp>
      <p:sp>
        <p:nvSpPr>
          <p:cNvPr id="8" name="">
            <a:extLst xmlns:a="http://schemas.openxmlformats.org/drawingml/2006/main">
              <a:ext uri="{FF2B5EF4-FFF2-40B4-BE49-F238E27FC236}">
                <a16:creationId xmlns:a16="http://schemas.microsoft.com/office/drawing/2014/main" id="{A947258F-5229-426D-8BF4-C7AC48FFE3E2}"/>
              </a:ext>
            </a:extLst>
          </p:cNvPr>
          <p:cNvSpPr>
            <a:spLocks xmlns:a="http://schemas.openxmlformats.org/drawingml/2006/main" noGrp="1"/>
          </p:cNvSpPr>
          <p:nvPr/>
        </p:nvSpPr>
        <p:spPr>
          <a:xfrm xmlns:a="http://schemas.openxmlformats.org/drawingml/2006/main">
            <a:off x="552450" y="296862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31851DA-35CF-4F58-9E51-46A8FB0B1056}"/>
              </a:ext>
            </a:extLst>
          </p:cNvPr>
          <p:cNvSpPr>
            <a:spLocks xmlns:a="http://schemas.openxmlformats.org/drawingml/2006/main" noGrp="1"/>
          </p:cNvSpPr>
          <p:nvPr/>
        </p:nvSpPr>
        <p:spPr>
          <a:xfrm xmlns:a="http://schemas.openxmlformats.org/drawingml/2006/main">
            <a:off x="1257300" y="296862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この例の条件付き位置：v = |2u − 1| = |1.6 − 1| = 0.6</a:t>
            </a:r>
          </a:p>
        </p:txBody>
      </p:sp>
      <p:sp>
        <p:nvSpPr>
          <p:cNvPr id="10" name="">
            <a:extLst xmlns:a="http://schemas.openxmlformats.org/drawingml/2006/main">
              <a:ext uri="{FF2B5EF4-FFF2-40B4-BE49-F238E27FC236}">
                <a16:creationId xmlns:a16="http://schemas.microsoft.com/office/drawing/2014/main" id="{E74859B8-E3AA-4FEF-B77B-724A9C70405B}"/>
              </a:ext>
            </a:extLst>
          </p:cNvPr>
          <p:cNvSpPr>
            <a:spLocks xmlns:a="http://schemas.openxmlformats.org/drawingml/2006/main" noGrp="1"/>
          </p:cNvSpPr>
          <p:nvPr/>
        </p:nvSpPr>
        <p:spPr>
          <a:xfrm xmlns:a="http://schemas.openxmlformats.org/drawingml/2006/main">
            <a:off x="552450" y="388937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896D5E4E-0C3B-4900-ADE5-2DBF46D119F8}"/>
              </a:ext>
            </a:extLst>
          </p:cNvPr>
          <p:cNvSpPr>
            <a:spLocks xmlns:a="http://schemas.openxmlformats.org/drawingml/2006/main" noGrp="1"/>
          </p:cNvSpPr>
          <p:nvPr/>
        </p:nvSpPr>
        <p:spPr>
          <a:xfrm xmlns:a="http://schemas.openxmlformats.org/drawingml/2006/main">
            <a:off x="1257300" y="388937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逆CDFで値へ戻す：y = Fᵧ⁻¹(v) = v² = 0.6² = 0.36</a:t>
            </a:r>
          </a:p>
        </p:txBody>
      </p:sp>
      <p:sp>
        <p:nvSpPr>
          <p:cNvPr id="12" name="">
            <a:extLst xmlns:a="http://schemas.openxmlformats.org/drawingml/2006/main">
              <a:ext uri="{FF2B5EF4-FFF2-40B4-BE49-F238E27FC236}">
                <a16:creationId xmlns:a16="http://schemas.microsoft.com/office/drawing/2014/main" id="{1FF47F96-56F3-4D8D-AE0C-8C061AFDA3A4}"/>
              </a:ext>
            </a:extLst>
          </p:cNvPr>
          <p:cNvSpPr>
            <a:spLocks xmlns:a="http://schemas.openxmlformats.org/drawingml/2006/main" noGrp="1"/>
          </p:cNvSpPr>
          <p:nvPr/>
        </p:nvSpPr>
        <p:spPr>
          <a:xfrm xmlns:a="http://schemas.openxmlformats.org/drawingml/2006/main">
            <a:off x="619125" y="49149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X = 0.6の行がなくても、推定した条件付きモデルで位置を求める。</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このノイズなしの理想例では、固定したXに対するYは一つに決まる。</a:t>
            </a:r>
          </a:p>
        </p:txBody>
      </p:sp>
      <p:sp>
        <p:nvSpPr>
          <p:cNvPr id="13" name="">
            <a:extLst xmlns:a="http://schemas.openxmlformats.org/drawingml/2006/main">
              <a:ext uri="{FF2B5EF4-FFF2-40B4-BE49-F238E27FC236}">
                <a16:creationId xmlns:a16="http://schemas.microsoft.com/office/drawing/2014/main" id="{25083573-D806-407C-BFA2-3134753DFDE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48CFAA-7A75-42E2-B4B6-70AB0E9FB98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この補完は専用の依存式を使う例で、Gaussianコピュラの補完ではない</a:t>
            </a:r>
          </a:p>
        </p:txBody>
      </p:sp>
    </p:spTree>
    <p:extLst>
      <p:ext uri="{BB962C8B-B14F-4D97-AF65-F5344CB8AC3E}">
        <p14:creationId xmlns:p14="http://schemas.microsoft.com/office/powerpoint/2010/main" val="6963429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281DFD-2D95-4DA2-8459-2D9BCEA54A5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独立と、この例の依存の違い</a:t>
            </a:r>
          </a:p>
        </p:txBody>
      </p:sp>
      <p:sp>
        <p:nvSpPr>
          <p:cNvPr id="2" name="">
            <a:extLst xmlns:a="http://schemas.openxmlformats.org/drawingml/2006/main">
              <a:ext uri="{FF2B5EF4-FFF2-40B4-BE49-F238E27FC236}">
                <a16:creationId xmlns:a16="http://schemas.microsoft.com/office/drawing/2014/main" id="{6D8ECB37-FACE-4BB6-8215-CDB37DA1524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349481-FD4B-4FB6-A4B4-3A84E135FA7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同じ周辺分布でも、条件付きで生成できる位置が異なる。</a:t>
            </a:r>
          </a:p>
        </p:txBody>
      </p:sp>
      <p:sp>
        <p:nvSpPr>
          <p:cNvPr id="4" name="">
            <a:extLst xmlns:a="http://schemas.openxmlformats.org/drawingml/2006/main">
              <a:ext uri="{FF2B5EF4-FFF2-40B4-BE49-F238E27FC236}">
                <a16:creationId xmlns:a16="http://schemas.microsoft.com/office/drawing/2014/main" id="{2564E17F-60FB-4C54-8A10-09F86A91F73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1913849-C8F9-4A1B-B6F8-F284B53607F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6" name="">
            <a:extLst xmlns:a="http://schemas.openxmlformats.org/drawingml/2006/main">
              <a:ext uri="{FF2B5EF4-FFF2-40B4-BE49-F238E27FC236}">
                <a16:creationId xmlns:a16="http://schemas.microsoft.com/office/drawing/2014/main" id="{304E5158-FCF2-4CB1-B510-6F93920D1614}"/>
              </a:ext>
            </a:extLst>
          </p:cNvPr>
          <p:cNvGraphicFramePr/>
          <p:nvPr/>
        </p:nvGraphicFramePr>
        <p:xfrm>
          <a:off xmlns:a="http://schemas.openxmlformats.org/drawingml/2006/main" x="514350" y="2095500"/>
          <a:ext xmlns:a="http://schemas.openxmlformats.org/drawingml/2006/main" cx="11163300" cy="3114675"/>
        </p:xfrm>
        <a:graphic xmlns:a="http://schemas.openxmlformats.org/drawingml/2006/main">
          <a:graphicData uri="http://schemas.openxmlformats.org/drawingml/2006/table">
            <a:tbl>
              <a:tblPr/>
              <a:tblGrid>
                <a:gridCol w="2667000"/>
                <a:gridCol w="8496300"/>
              </a:tblGrid>
              <a:tr h="778669">
                <a:tc>
                  <a:txBody>
                    <a:bodyPr/>
                    <a:lstStyle/>
                    <a:p>
                      <a:pPr algn="ctr"/>
                      <a:r>
                        <a:rPr sz="2025"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X = 0.6（U = 0.8）のとき</a:t>
                      </a:r>
                    </a:p>
                  </a:txBody>
                  <a:tcPr marL="91440" marR="91440" marT="45720" marB="45720" anchor="ctr">
                    <a:solidFill>
                      <a:srgbClr val="E7F2EC"/>
                    </a:solidFill>
                  </a:tcPr>
                </a:tc>
              </a:tr>
              <a:tr h="778669">
                <a:tc>
                  <a:txBody>
                    <a:bodyPr/>
                    <a:lstStyle/>
                    <a:p>
                      <a:pPr algn="ctr"/>
                      <a:r>
                        <a:rPr sz="2025" b="0">
                          <a:solidFill>
                            <a:srgbClr val="222222"/>
                          </a:solidFill>
                          <a:latin typeface="Noto Sans JP"/>
                          <a:ea typeface="Noto Sans JP"/>
                          <a:cs typeface="Noto Sans JP"/>
                        </a:rPr>
                        <a:t>独立：C(u,v) = uv</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Vは0〜1のどこからでも生成できる。</a:t>
                      </a:r>
                    </a:p>
                    <a:p>
                      <a:pPr algn="ctr"/>
                      <a:r>
                        <a:rPr sz="2025" b="0">
                          <a:solidFill>
                            <a:srgbClr val="222222"/>
                          </a:solidFill>
                          <a:latin typeface="Noto Sans JP"/>
                          <a:ea typeface="Noto Sans JP"/>
                          <a:cs typeface="Noto Sans JP"/>
                        </a:rPr>
                        <a:t>YもXに関係なく生成する。</a:t>
                      </a:r>
                    </a:p>
                  </a:txBody>
                  <a:tcPr marL="91440" marR="91440" marT="45720" marB="45720" anchor="ctr">
                    <a:solidFill>
                      <a:srgbClr val="FFFFFF"/>
                    </a:solidFill>
                  </a:tcPr>
                </a:tc>
              </a:tr>
              <a:tr h="778669">
                <a:tc>
                  <a:txBody>
                    <a:bodyPr/>
                    <a:lstStyle/>
                    <a:p>
                      <a:pPr algn="ctr"/>
                      <a:r>
                        <a:rPr sz="2025" b="0">
                          <a:solidFill>
                            <a:srgbClr val="222222"/>
                          </a:solidFill>
                          <a:latin typeface="Noto Sans JP"/>
                          <a:ea typeface="Noto Sans JP"/>
                          <a:cs typeface="Noto Sans JP"/>
                        </a:rPr>
                        <a:t>今回の非単調な依存</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V = |2 × 0.8 − 1| = 0.6に決まる。</a:t>
                      </a:r>
                    </a:p>
                    <a:p>
                      <a:pPr algn="ctr"/>
                      <a:r>
                        <a:rPr sz="2025" b="0">
                          <a:solidFill>
                            <a:srgbClr val="222222"/>
                          </a:solidFill>
                          <a:latin typeface="Noto Sans JP"/>
                          <a:ea typeface="Noto Sans JP"/>
                          <a:cs typeface="Noto Sans JP"/>
                        </a:rPr>
                        <a:t>Y = 0.36になる。</a:t>
                      </a:r>
                    </a:p>
                  </a:txBody>
                  <a:tcPr marL="91440" marR="91440" marT="45720" marB="45720" anchor="ctr">
                    <a:solidFill>
                      <a:srgbClr val="F6F6F6"/>
                    </a:solidFill>
                  </a:tcPr>
                </a:tc>
              </a:tr>
              <a:tr h="778669">
                <a:tc>
                  <a:txBody>
                    <a:bodyPr/>
                    <a:lstStyle/>
                    <a:p>
                      <a:pPr algn="ctr"/>
                      <a:r>
                        <a:rPr sz="2025" b="0">
                          <a:solidFill>
                            <a:srgbClr val="222222"/>
                          </a:solidFill>
                          <a:latin typeface="Noto Sans JP"/>
                          <a:ea typeface="Noto Sans JP"/>
                          <a:cs typeface="Noto Sans JP"/>
                        </a:rPr>
                        <a:t>完全同方向依存：C(u,v) = min(u,v)</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U = Vが常に成り立つ関係。</a:t>
                      </a:r>
                    </a:p>
                    <a:p>
                      <a:pPr algn="ctr"/>
                      <a:r>
                        <a:rPr sz="2025" b="0">
                          <a:solidFill>
                            <a:srgbClr val="222222"/>
                          </a:solidFill>
                          <a:latin typeface="Noto Sans JP"/>
                          <a:ea typeface="Noto Sans JP"/>
                          <a:cs typeface="Noto Sans JP"/>
                        </a:rPr>
                        <a:t>今回のV字型の依存とは異なる。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5F0EE20-EDEE-4C26-9269-231F0C88E0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438BC1-2953-4A52-99A6-F44AD59AAD5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独立・完全同方向・今回の非単調な依存は、それぞれ異なる</a:t>
            </a:r>
          </a:p>
        </p:txBody>
      </p:sp>
    </p:spTree>
    <p:extLst>
      <p:ext uri="{BB962C8B-B14F-4D97-AF65-F5344CB8AC3E}">
        <p14:creationId xmlns:p14="http://schemas.microsoft.com/office/powerpoint/2010/main" val="144579141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072F39-E07D-406E-871F-DEA1E43EBE5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Gaussianコピュラの限界</a:t>
            </a:r>
          </a:p>
        </p:txBody>
      </p:sp>
      <p:sp>
        <p:nvSpPr>
          <p:cNvPr id="2" name="">
            <a:extLst xmlns:a="http://schemas.openxmlformats.org/drawingml/2006/main">
              <a:ext uri="{FF2B5EF4-FFF2-40B4-BE49-F238E27FC236}">
                <a16:creationId xmlns:a16="http://schemas.microsoft.com/office/drawing/2014/main" id="{086290AE-A966-4A61-96EC-10B7A6F2E25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952D82-A6C5-41D4-8C66-7EA8132E0AB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この対称なU字型では、相関が0でも強い依存がある。</a:t>
            </a:r>
          </a:p>
        </p:txBody>
      </p:sp>
      <p:sp>
        <p:nvSpPr>
          <p:cNvPr id="4" name="">
            <a:extLst xmlns:a="http://schemas.openxmlformats.org/drawingml/2006/main">
              <a:ext uri="{FF2B5EF4-FFF2-40B4-BE49-F238E27FC236}">
                <a16:creationId xmlns:a16="http://schemas.microsoft.com/office/drawing/2014/main" id="{ED589B70-2847-4A55-A0A4-8923A5D9B8F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1052D36-3406-4478-A3F4-1DD4FB5D052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19B08D33-2A95-4162-BE41-44754DA9206F}"/>
              </a:ext>
            </a:extLst>
          </p:cNvPr>
          <p:cNvSpPr>
            <a:spLocks xmlns:a="http://schemas.openxmlformats.org/drawingml/2006/main" noGrp="1"/>
          </p:cNvSpPr>
          <p:nvPr/>
        </p:nvSpPr>
        <p:spPr>
          <a:xfrm xmlns:a="http://schemas.openxmlformats.org/drawingml/2006/main">
            <a:off x="619125" y="20097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22222"/>
                </a:solidFill>
                <a:latin typeface="Noto Sans JP"/>
                <a:ea typeface="Noto Sans JP"/>
                <a:cs typeface="Noto Sans JP"/>
              </a:defRPr>
            </a:defPPr>
          </a:lstStyle>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元の値のPearson相関は0。それでも、YはX²で完全に決まる。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潜在値 Zₓ = Φ⁻¹(U)、Zᵧ = Φ⁻¹(V)でも、</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対称性によって相関は0になる。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Gaussianコピュラは相関0を独立として扱うため、</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このU字型の依存を再現できない。</a:t>
            </a:r>
          </a:p>
        </p:txBody>
      </p:sp>
      <p:sp>
        <p:nvSpPr>
          <p:cNvPr id="7" name="">
            <a:extLst xmlns:a="http://schemas.openxmlformats.org/drawingml/2006/main">
              <a:ext uri="{FF2B5EF4-FFF2-40B4-BE49-F238E27FC236}">
                <a16:creationId xmlns:a16="http://schemas.microsoft.com/office/drawing/2014/main" id="{23B5A8BB-6447-4D2E-9863-761DD392E1A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FFF2E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A15959-851D-43A4-9AE6-9FE6B1D9DAB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E0562B"/>
                </a:solidFill>
                <a:latin typeface="Noto Sans JP"/>
                <a:ea typeface="Noto Sans JP"/>
                <a:cs typeface="Noto Sans JP"/>
              </a:defRPr>
            </a:defPPr>
          </a:lstStyle>
          <a:p xmlns:a="http://schemas.openxmlformats.org/drawingml/2006/main">
            <a:pPr algn="ctr">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「Gaussianコピュラで任意の非線形依存を保持できる」とは言えない</a:t>
            </a:r>
          </a:p>
        </p:txBody>
      </p:sp>
    </p:spTree>
    <p:extLst>
      <p:ext uri="{BB962C8B-B14F-4D97-AF65-F5344CB8AC3E}">
        <p14:creationId xmlns:p14="http://schemas.microsoft.com/office/powerpoint/2010/main" val="8734790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995E02-BACB-449F-8206-8BD0E010068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Gaussian・Student-t コピュラ</a:t>
            </a:r>
          </a:p>
        </p:txBody>
      </p:sp>
      <p:sp>
        <p:nvSpPr>
          <p:cNvPr id="2" name="">
            <a:extLst xmlns:a="http://schemas.openxmlformats.org/drawingml/2006/main">
              <a:ext uri="{FF2B5EF4-FFF2-40B4-BE49-F238E27FC236}">
                <a16:creationId xmlns:a16="http://schemas.microsoft.com/office/drawing/2014/main" id="{DA0E4DEB-B7EE-4093-B5EC-417E5A667BD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E331BE-02A2-41DE-BDD1-1CBCCC82E6C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多変量分布を使い、潜在空間の依存を表す。</a:t>
            </a:r>
          </a:p>
        </p:txBody>
      </p:sp>
      <p:sp>
        <p:nvSpPr>
          <p:cNvPr id="4" name="">
            <a:extLst xmlns:a="http://schemas.openxmlformats.org/drawingml/2006/main">
              <a:ext uri="{FF2B5EF4-FFF2-40B4-BE49-F238E27FC236}">
                <a16:creationId xmlns:a16="http://schemas.microsoft.com/office/drawing/2014/main" id="{8FDED9AD-0543-4790-8361-C70B995A157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39B9727-E720-487A-A987-1BF0F367B8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8EFF1356-A350-466D-BAED-508975FF8529}"/>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Gaussianコピュラの式</a:t>
            </a:r>
          </a:p>
        </p:txBody>
      </p:sp>
      <p:sp>
        <p:nvSpPr>
          <p:cNvPr id="7" name="">
            <a:extLst xmlns:a="http://schemas.openxmlformats.org/drawingml/2006/main">
              <a:ext uri="{FF2B5EF4-FFF2-40B4-BE49-F238E27FC236}">
                <a16:creationId xmlns:a16="http://schemas.microsoft.com/office/drawing/2014/main" id="{60AD8402-98B7-4BCB-8217-1A0766563017}"/>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7E1C44-038D-4FBB-B7B9-35FE1C885DBA}"/>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Cρ(u,v) = Φρ(Φ⁻¹(u), Φ⁻¹(v))</a:t>
            </a:r>
          </a:p>
        </p:txBody>
      </p:sp>
      <p:sp>
        <p:nvSpPr>
          <p:cNvPr id="9" name="">
            <a:extLst xmlns:a="http://schemas.openxmlformats.org/drawingml/2006/main">
              <a:ext uri="{FF2B5EF4-FFF2-40B4-BE49-F238E27FC236}">
                <a16:creationId xmlns:a16="http://schemas.microsoft.com/office/drawing/2014/main" id="{F71C8947-DD3F-462F-965E-E78B82F741AB}"/>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Φ：標準正規CDF。Φ⁻¹：位置を潜在値へ変換する逆CDF。</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Φρ：相関ρの二変量正規CDF。ρはデータから推定する。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Student-tはt分布を使い、両側の裾依存を扱える。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どちらも、今回のU字型をそのまま再現する保証はない。</a:t>
            </a:r>
          </a:p>
        </p:txBody>
      </p:sp>
      <p:sp>
        <p:nvSpPr>
          <p:cNvPr id="10" name="">
            <a:extLst xmlns:a="http://schemas.openxmlformats.org/drawingml/2006/main">
              <a:ext uri="{FF2B5EF4-FFF2-40B4-BE49-F238E27FC236}">
                <a16:creationId xmlns:a16="http://schemas.microsoft.com/office/drawing/2014/main" id="{91C4C19F-C7C7-49C2-BA07-AA30B8AF6FA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F81C13-707F-4AB1-B8A7-2D343785CF5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元の変数が正規分布である必要はないが、依存の形に制約がある</a:t>
            </a:r>
          </a:p>
        </p:txBody>
      </p:sp>
    </p:spTree>
    <p:extLst>
      <p:ext uri="{BB962C8B-B14F-4D97-AF65-F5344CB8AC3E}">
        <p14:creationId xmlns:p14="http://schemas.microsoft.com/office/powerpoint/2010/main" val="1844875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DC255E-3627-4395-BAB3-C769D31BFB0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その他のコピュラの種類</a:t>
            </a:r>
          </a:p>
        </p:txBody>
      </p:sp>
      <p:sp>
        <p:nvSpPr>
          <p:cNvPr id="2" name="">
            <a:extLst xmlns:a="http://schemas.openxmlformats.org/drawingml/2006/main">
              <a:ext uri="{FF2B5EF4-FFF2-40B4-BE49-F238E27FC236}">
                <a16:creationId xmlns:a16="http://schemas.microsoft.com/office/drawing/2014/main" id="{11ACE847-19A3-482C-8CB7-067E8EE9EBC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757D5A-27D9-450A-B8F1-69D0C9E35E3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表したい依存の形に応じて、種類と推定方法を選ぶ。</a:t>
            </a:r>
          </a:p>
        </p:txBody>
      </p:sp>
      <p:sp>
        <p:nvSpPr>
          <p:cNvPr id="4" name="">
            <a:extLst xmlns:a="http://schemas.openxmlformats.org/drawingml/2006/main">
              <a:ext uri="{FF2B5EF4-FFF2-40B4-BE49-F238E27FC236}">
                <a16:creationId xmlns:a16="http://schemas.microsoft.com/office/drawing/2014/main" id="{113ADE61-1D95-46D2-9DFD-2F8C767216E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4A7DBC0-C4D1-443F-8E52-D2F03F853BC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graphicFrame>
        <p:nvGraphicFramePr>
          <p:cNvPr id="6" name="">
            <a:extLst xmlns:a="http://schemas.openxmlformats.org/drawingml/2006/main">
              <a:ext uri="{FF2B5EF4-FFF2-40B4-BE49-F238E27FC236}">
                <a16:creationId xmlns:a16="http://schemas.microsoft.com/office/drawing/2014/main" id="{DE00C7AA-2D6F-4925-B384-A174EE5356B3}"/>
              </a:ext>
            </a:extLst>
          </p:cNvPr>
          <p:cNvGraphicFramePr/>
          <p:nvPr/>
        </p:nvGraphicFramePr>
        <p:xfrm>
          <a:off xmlns:a="http://schemas.openxmlformats.org/drawingml/2006/main" x="514350" y="2066925"/>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950" b="1">
                          <a:solidFill>
                            <a:srgbClr val="2E7D5B"/>
                          </a:solidFill>
                          <a:latin typeface="Noto Sans JP"/>
                          <a:ea typeface="Noto Sans JP"/>
                          <a:cs typeface="Noto Sans JP"/>
                        </a:rPr>
                        <a:t>種類・構成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主な特徴</a:t>
                      </a:r>
                    </a:p>
                  </a:txBody>
                  <a:tcPr marL="91440" marR="91440" marT="45720" marB="45720" anchor="ctr">
                    <a:solidFill>
                      <a:srgbClr val="E7F2EC"/>
                    </a:solidFill>
                  </a:tcPr>
                </a:tc>
              </a:tr>
              <a:tr h="653415">
                <a:tc>
                  <a:txBody>
                    <a:bodyPr/>
                    <a:lstStyle/>
                    <a:p>
                      <a:pPr algn="ctr"/>
                      <a:r>
                        <a:rPr sz="195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標準形は、下側または上側の裾依存を扱う。</a:t>
                      </a:r>
                    </a:p>
                  </a:txBody>
                  <a:tcPr marL="91440" marR="91440" marT="45720" marB="45720" anchor="ctr">
                    <a:solidFill>
                      <a:srgbClr val="FFFFFF"/>
                    </a:solidFill>
                  </a:tcPr>
                </a:tc>
              </a:tr>
              <a:tr h="653415">
                <a:tc>
                  <a:txBody>
                    <a:bodyPr/>
                    <a:lstStyle/>
                    <a:p>
                      <a:pPr algn="ctr"/>
                      <a:r>
                        <a:rPr sz="195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対称な依存。上下の裾依存係数は0。</a:t>
                      </a:r>
                    </a:p>
                  </a:txBody>
                  <a:tcPr marL="91440" marR="91440" marT="45720" marB="45720" anchor="ctr">
                    <a:solidFill>
                      <a:srgbClr val="F6F6F6"/>
                    </a:solidFill>
                  </a:tcPr>
                </a:tc>
              </a:tr>
              <a:tr h="653415">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ペアのコピュラを組み合わせる構成。</a:t>
                      </a:r>
                    </a:p>
                    <a:p>
                      <a:pPr algn="ctr"/>
                      <a:r>
                        <a:rPr sz="1950" b="0">
                          <a:solidFill>
                            <a:srgbClr val="222222"/>
                          </a:solidFill>
                          <a:latin typeface="Noto Sans JP"/>
                          <a:ea typeface="Noto Sans JP"/>
                          <a:cs typeface="Noto Sans JP"/>
                        </a:rPr>
                        <a:t>構成と各ペアのモデル選択が必要。</a:t>
                      </a:r>
                    </a:p>
                  </a:txBody>
                  <a:tcPr marL="91440" marR="91440" marT="45720" marB="45720" anchor="ctr">
                    <a:solidFill>
                      <a:srgbClr val="FFFFFF"/>
                    </a:solidFill>
                  </a:tcPr>
                </a:tc>
              </a:tr>
              <a:tr h="653415">
                <a:tc>
                  <a:txBody>
                    <a:bodyPr/>
                    <a:lstStyle/>
                    <a:p>
                      <a:pPr algn="ctr"/>
                      <a:r>
                        <a:rPr sz="1950" b="0">
                          <a:solidFill>
                            <a:srgbClr val="222222"/>
                          </a:solidFill>
                          <a:latin typeface="Noto Sans JP"/>
                          <a:ea typeface="Noto Sans JP"/>
                          <a:cs typeface="Noto Sans JP"/>
                        </a:rPr>
                        <a:t>ノンパラメトリック</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特定の一族に固定せず、依存を柔軟に推定。</a:t>
                      </a:r>
                    </a:p>
                    <a:p>
                      <a:pPr algn="ctr"/>
                      <a:r>
                        <a:rPr sz="1950" b="0">
                          <a:solidFill>
                            <a:srgbClr val="222222"/>
                          </a:solidFill>
                          <a:latin typeface="Noto Sans JP"/>
                          <a:ea typeface="Noto Sans JP"/>
                          <a:cs typeface="Noto Sans JP"/>
                        </a:rPr>
                        <a:t>平滑化・条件付き生成・高次元への対応が課題。</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F0511792-A5E9-40C2-95A1-2F95B46B52F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AF2992-113F-43F6-9B63-6A13D85BF09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非単調な関係では、その形を捉えられるモデルかを確認する</a:t>
            </a:r>
          </a:p>
        </p:txBody>
      </p:sp>
    </p:spTree>
    <p:extLst>
      <p:ext uri="{BB962C8B-B14F-4D97-AF65-F5344CB8AC3E}">
        <p14:creationId xmlns:p14="http://schemas.microsoft.com/office/powerpoint/2010/main" val="5762145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9F6756-BEA3-4893-A12C-C3BEBD87A13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初期実験の条件付き生成</a:t>
            </a:r>
          </a:p>
        </p:txBody>
      </p:sp>
      <p:sp>
        <p:nvSpPr>
          <p:cNvPr id="2" name="">
            <a:extLst xmlns:a="http://schemas.openxmlformats.org/drawingml/2006/main">
              <a:ext uri="{FF2B5EF4-FFF2-40B4-BE49-F238E27FC236}">
                <a16:creationId xmlns:a16="http://schemas.microsoft.com/office/drawing/2014/main" id="{A49AE3EB-5C0C-45D0-A29F-13650642029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2786B0-9AD9-4AF6-AEDC-5387DE2435A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現在の実装ではGaussianコピュラを使用する。</a:t>
            </a:r>
          </a:p>
        </p:txBody>
      </p:sp>
      <p:sp>
        <p:nvSpPr>
          <p:cNvPr id="4" name="">
            <a:extLst xmlns:a="http://schemas.openxmlformats.org/drawingml/2006/main">
              <a:ext uri="{FF2B5EF4-FFF2-40B4-BE49-F238E27FC236}">
                <a16:creationId xmlns:a16="http://schemas.microsoft.com/office/drawing/2014/main" id="{B166F390-304E-42E6-BC72-87F4359A925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AF561DA-26E1-4505-9AAC-68E50A3D77A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sp>
        <p:nvSpPr>
          <p:cNvPr id="6" name="">
            <a:extLst xmlns:a="http://schemas.openxmlformats.org/drawingml/2006/main">
              <a:ext uri="{FF2B5EF4-FFF2-40B4-BE49-F238E27FC236}">
                <a16:creationId xmlns:a16="http://schemas.microsoft.com/office/drawing/2014/main" id="{B0F28663-46BF-433E-A0B6-B0D5FBADDBAE}"/>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二変量の条件付き正規分布（平均と分散）</a:t>
            </a:r>
          </a:p>
        </p:txBody>
      </p:sp>
      <p:sp>
        <p:nvSpPr>
          <p:cNvPr id="7" name="">
            <a:extLst xmlns:a="http://schemas.openxmlformats.org/drawingml/2006/main">
              <a:ext uri="{FF2B5EF4-FFF2-40B4-BE49-F238E27FC236}">
                <a16:creationId xmlns:a16="http://schemas.microsoft.com/office/drawing/2014/main" id="{4D53D637-B2A3-4C35-8978-BA3B54AAB2D2}"/>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11B4D5-4938-45D7-BD18-7641D1612D09}"/>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Zᵧ | Zₓ = zₓ  ~  N(ρzₓ, 1 − ρ²)</a:t>
            </a:r>
          </a:p>
        </p:txBody>
      </p:sp>
      <p:sp>
        <p:nvSpPr>
          <p:cNvPr id="9" name="">
            <a:extLst xmlns:a="http://schemas.openxmlformats.org/drawingml/2006/main">
              <a:ext uri="{FF2B5EF4-FFF2-40B4-BE49-F238E27FC236}">
                <a16:creationId xmlns:a16="http://schemas.microsoft.com/office/drawing/2014/main" id="{45D58DE6-681B-4D37-9F9C-E17C240A6A1F}"/>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Zₓ・Zᵧ：Φ⁻¹で変換した潜在値。N(平均, 分散)：正規分布。</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ρ：ラベルなしデータから推定する潜在相関。</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乱数でZᵧを生成し、V = Φ(Zᵧ)、Y = Fᵧ⁻¹(V)へ戻す。</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今回のU字型でρ = 0なら、Xを使わない生成になってしまう。</a:t>
            </a:r>
          </a:p>
        </p:txBody>
      </p:sp>
      <p:sp>
        <p:nvSpPr>
          <p:cNvPr id="10" name="">
            <a:extLst xmlns:a="http://schemas.openxmlformats.org/drawingml/2006/main">
              <a:ext uri="{FF2B5EF4-FFF2-40B4-BE49-F238E27FC236}">
                <a16:creationId xmlns:a16="http://schemas.microsoft.com/office/drawing/2014/main" id="{C890805D-1E38-497F-B1C6-4B95D88213F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BAD776-5D55-4725-A103-57780EAC143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周辺の逆CDFは実装では経験分位点の線形補間を使う</a:t>
            </a:r>
          </a:p>
        </p:txBody>
      </p:sp>
    </p:spTree>
    <p:extLst>
      <p:ext uri="{BB962C8B-B14F-4D97-AF65-F5344CB8AC3E}">
        <p14:creationId xmlns:p14="http://schemas.microsoft.com/office/powerpoint/2010/main" val="18246214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3DAE42-567F-4558-82A9-EB7C6B06ECA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研究で検証すること</a:t>
            </a:r>
          </a:p>
        </p:txBody>
      </p:sp>
      <p:sp>
        <p:nvSpPr>
          <p:cNvPr id="2" name="">
            <a:extLst xmlns:a="http://schemas.openxmlformats.org/drawingml/2006/main">
              <a:ext uri="{FF2B5EF4-FFF2-40B4-BE49-F238E27FC236}">
                <a16:creationId xmlns:a16="http://schemas.microsoft.com/office/drawing/2014/main" id="{3CC0790B-07DA-47F4-97A5-9D53DC43F1F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2533FA-2AFC-4537-AFA5-3CA1A108B95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依存の再現と、分類性能への効果を実験で確かめる。</a:t>
            </a:r>
          </a:p>
        </p:txBody>
      </p:sp>
      <p:sp>
        <p:nvSpPr>
          <p:cNvPr id="4" name="">
            <a:extLst xmlns:a="http://schemas.openxmlformats.org/drawingml/2006/main">
              <a:ext uri="{FF2B5EF4-FFF2-40B4-BE49-F238E27FC236}">
                <a16:creationId xmlns:a16="http://schemas.microsoft.com/office/drawing/2014/main" id="{4637DAC3-DAC8-444E-A26A-218C1DD2453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EC7C40E-B559-4B67-876F-D58CA61D4DC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EC12D2FA-5FB8-4CDC-95A4-21CA2553E87B}"/>
              </a:ext>
            </a:extLst>
          </p:cNvPr>
          <p:cNvSpPr>
            <a:spLocks xmlns:a="http://schemas.openxmlformats.org/drawingml/2006/main" noGrp="1"/>
          </p:cNvSpPr>
          <p:nvPr/>
        </p:nvSpPr>
        <p:spPr>
          <a:xfrm xmlns:a="http://schemas.openxmlformats.org/drawingml/2006/main">
            <a:off x="619125" y="20097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22222"/>
                </a:solidFill>
                <a:latin typeface="Noto Sans JP"/>
                <a:ea typeface="Noto Sans JP"/>
                <a:cs typeface="Noto Sans JP"/>
              </a:defRPr>
            </a:defPPr>
          </a:lstStyle>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現在：Gaussianによる拡張と列置換を、同じ条件で比較する。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追加検証：U字型などの非単調な合成データで、</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生成後にも関係が残るかを調べる。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非単調な依存を保持できない場合は、</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柔軟なコピュラや別の条件付き生成器を検討する。</a:t>
            </a:r>
          </a:p>
        </p:txBody>
      </p:sp>
      <p:sp>
        <p:nvSpPr>
          <p:cNvPr id="7" name="">
            <a:extLst xmlns:a="http://schemas.openxmlformats.org/drawingml/2006/main">
              <a:ext uri="{FF2B5EF4-FFF2-40B4-BE49-F238E27FC236}">
                <a16:creationId xmlns:a16="http://schemas.microsoft.com/office/drawing/2014/main" id="{7EC3F082-BB39-4726-8A5D-68719863560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54C741-04DD-4411-A8CF-849C0DA8D6E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非単調な依存を表せることと、現在のGaussian実装の能力を区別する</a:t>
            </a:r>
          </a:p>
        </p:txBody>
      </p:sp>
    </p:spTree>
    <p:extLst>
      <p:ext uri="{BB962C8B-B14F-4D97-AF65-F5344CB8AC3E}">
        <p14:creationId xmlns:p14="http://schemas.microsoft.com/office/powerpoint/2010/main" val="7146231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D990F7-3B6C-4090-A6B7-6F5E40AF052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補足：実験環境</a:t>
            </a:r>
          </a:p>
        </p:txBody>
      </p:sp>
      <p:sp>
        <p:nvSpPr>
          <p:cNvPr id="2" name="">
            <a:extLst xmlns:a="http://schemas.openxmlformats.org/drawingml/2006/main">
              <a:ext uri="{FF2B5EF4-FFF2-40B4-BE49-F238E27FC236}">
                <a16:creationId xmlns:a16="http://schemas.microsoft.com/office/drawing/2014/main" id="{84E17496-1AF1-448D-8C28-DC66571A13C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0D66FE-24ED-4F07-A204-45CA29D9B9E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保存済みの2026年10月4日の実行記録に基づく。</a:t>
            </a:r>
          </a:p>
        </p:txBody>
      </p:sp>
      <p:sp>
        <p:nvSpPr>
          <p:cNvPr id="4" name="">
            <a:extLst xmlns:a="http://schemas.openxmlformats.org/drawingml/2006/main">
              <a:ext uri="{FF2B5EF4-FFF2-40B4-BE49-F238E27FC236}">
                <a16:creationId xmlns:a16="http://schemas.microsoft.com/office/drawing/2014/main" id="{46782A2C-0105-4129-A00A-8A5F70B892C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115D6088-1482-4DDD-B9D7-7D26BC10649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graphicFrame>
        <p:nvGraphicFramePr>
          <p:cNvPr id="6" name="">
            <a:extLst xmlns:a="http://schemas.openxmlformats.org/drawingml/2006/main">
              <a:ext uri="{FF2B5EF4-FFF2-40B4-BE49-F238E27FC236}">
                <a16:creationId xmlns:a16="http://schemas.microsoft.com/office/drawing/2014/main" id="{2ED02404-D8E8-4021-8568-9039785579B2}"/>
              </a:ext>
            </a:extLst>
          </p:cNvPr>
          <p:cNvGraphicFramePr/>
          <p:nvPr/>
        </p:nvGraphicFramePr>
        <p:xfrm>
          <a:off xmlns:a="http://schemas.openxmlformats.org/drawingml/2006/main" x="514350" y="2095500"/>
          <a:ext xmlns:a="http://schemas.openxmlformats.org/drawingml/2006/main" cx="11163300" cy="3190875"/>
        </p:xfrm>
        <a:graphic xmlns:a="http://schemas.openxmlformats.org/drawingml/2006/main">
          <a:graphicData uri="http://schemas.openxmlformats.org/drawingml/2006/table">
            <a:tbl>
              <a:tblPr/>
              <a:tblGrid>
                <a:gridCol w="2667000"/>
                <a:gridCol w="8496300"/>
              </a:tblGrid>
              <a:tr h="638175">
                <a:tc>
                  <a:txBody>
                    <a:bodyPr/>
                    <a:lstStyle/>
                    <a:p>
                      <a:pPr algn="ctr"/>
                      <a:r>
                        <a:rPr sz="21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実行環境</a:t>
                      </a:r>
                    </a:p>
                  </a:txBody>
                  <a:tcPr marL="91440" marR="91440" marT="45720" marB="45720" anchor="ctr">
                    <a:solidFill>
                      <a:srgbClr val="E7F2EC"/>
                    </a:solidFill>
                  </a:tcPr>
                </a:tc>
              </a:tr>
              <a:tr h="638175">
                <a:tc>
                  <a:txBody>
                    <a:bodyPr/>
                    <a:lstStyle/>
                    <a:p>
                      <a:pPr algn="ctr"/>
                      <a:r>
                        <a:rPr sz="2100" b="0">
                          <a:solidFill>
                            <a:srgbClr val="222222"/>
                          </a:solidFill>
                          <a:latin typeface="Noto Sans JP"/>
                          <a:ea typeface="Noto Sans JP"/>
                          <a:cs typeface="Noto Sans JP"/>
                        </a:rPr>
                        <a:t>OS / CPU系統</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macOS 26.3.1 / arm64</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Python</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3.12.14</a:t>
                      </a:r>
                    </a:p>
                  </a:txBody>
                  <a:tcPr marL="91440" marR="91440" marT="45720" marB="45720" anchor="ctr">
                    <a:solidFill>
                      <a:srgbClr val="F6F6F6"/>
                    </a:solidFill>
                  </a:tcPr>
                </a:tc>
              </a:tr>
              <a:tr h="638175">
                <a:tc>
                  <a:txBody>
                    <a:bodyPr/>
                    <a:lstStyle/>
                    <a:p>
                      <a:pPr algn="ctr"/>
                      <a:r>
                        <a:rPr sz="2100" b="0">
                          <a:solidFill>
                            <a:srgbClr val="222222"/>
                          </a:solidFill>
                          <a:latin typeface="Noto Sans JP"/>
                          <a:ea typeface="Noto Sans JP"/>
                          <a:cs typeface="Noto Sans JP"/>
                        </a:rPr>
                        <a:t>主要ライブラリ</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NumPy 2.5.3 / SciPy 1.18.1</a:t>
                      </a:r>
                    </a:p>
                    <a:p>
                      <a:pPr algn="ctr"/>
                      <a:r>
                        <a:rPr sz="2100" b="0">
                          <a:solidFill>
                            <a:srgbClr val="222222"/>
                          </a:solidFill>
                          <a:latin typeface="Noto Sans JP"/>
                          <a:ea typeface="Noto Sans JP"/>
                          <a:cs typeface="Noto Sans JP"/>
                        </a:rPr>
                        <a:t>scikit-learn 1.9.1 / PyTorch 2.14.1</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計算デバイス</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CPU / PyTorchのスレッド数1</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7E3CD0D0-2657-40FF-8900-53E4AA64264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6BC8C5-BCD1-4CE8-B956-E51C04BFF22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VIMEのPyTorch実装を用いた小規模な比較実験</a:t>
            </a:r>
          </a:p>
        </p:txBody>
      </p:sp>
    </p:spTree>
    <p:extLst>
      <p:ext uri="{BB962C8B-B14F-4D97-AF65-F5344CB8AC3E}">
        <p14:creationId xmlns:p14="http://schemas.microsoft.com/office/powerpoint/2010/main" val="271502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C13723-174C-4FB1-AA22-8CA7DE1D284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補足：使用するデータ</a:t>
            </a:r>
          </a:p>
        </p:txBody>
      </p:sp>
      <p:sp>
        <p:nvSpPr>
          <p:cNvPr id="2" name="">
            <a:extLst xmlns:a="http://schemas.openxmlformats.org/drawingml/2006/main">
              <a:ext uri="{FF2B5EF4-FFF2-40B4-BE49-F238E27FC236}">
                <a16:creationId xmlns:a16="http://schemas.microsoft.com/office/drawing/2014/main" id="{22C6E80C-E067-409E-872C-DD8522F2169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14877A-3C5D-4548-8312-217DC8ACF85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scikit-learnに付属する、数値特徴の分類データ。</a:t>
            </a:r>
          </a:p>
        </p:txBody>
      </p:sp>
      <p:sp>
        <p:nvSpPr>
          <p:cNvPr id="4" name="">
            <a:extLst xmlns:a="http://schemas.openxmlformats.org/drawingml/2006/main">
              <a:ext uri="{FF2B5EF4-FFF2-40B4-BE49-F238E27FC236}">
                <a16:creationId xmlns:a16="http://schemas.microsoft.com/office/drawing/2014/main" id="{2E76589C-59CF-4E3D-A12C-ED50965443B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30EB9193-2459-4B55-A59C-F7AD9841F0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6" name="">
            <a:extLst xmlns:a="http://schemas.openxmlformats.org/drawingml/2006/main">
              <a:ext uri="{FF2B5EF4-FFF2-40B4-BE49-F238E27FC236}">
                <a16:creationId xmlns:a16="http://schemas.microsoft.com/office/drawing/2014/main" id="{2048EDFD-1545-47EA-954D-C37C222EF7BF}"/>
              </a:ext>
            </a:extLst>
          </p:cNvPr>
          <p:cNvGraphicFramePr/>
          <p:nvPr/>
        </p:nvGraphicFramePr>
        <p:xfrm>
          <a:off xmlns:a="http://schemas.openxmlformats.org/drawingml/2006/main" x="514350" y="2038350"/>
          <a:ext xmlns:a="http://schemas.openxmlformats.org/drawingml/2006/main" cx="11163300" cy="3200400"/>
        </p:xfrm>
        <a:graphic xmlns:a="http://schemas.openxmlformats.org/drawingml/2006/main">
          <a:graphicData uri="http://schemas.openxmlformats.org/drawingml/2006/table">
            <a:tbl>
              <a:tblPr/>
              <a:tblGrid>
                <a:gridCol w="3721100"/>
                <a:gridCol w="3721100"/>
                <a:gridCol w="3721100"/>
              </a:tblGrid>
              <a:tr h="640080">
                <a:tc>
                  <a:txBody>
                    <a:bodyPr/>
                    <a:lstStyle/>
                    <a:p>
                      <a:pPr algn="ctr"/>
                      <a:r>
                        <a:rPr sz="195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Wine</a:t>
                      </a:r>
                    </a:p>
                  </a:txBody>
                  <a:tcPr marL="91440" marR="91440" marT="45720" marB="45720" anchor="ctr">
                    <a:solidFill>
                      <a:srgbClr val="E7F2EC"/>
                    </a:solidFill>
                  </a:tcPr>
                </a:tc>
              </a:tr>
              <a:tr h="640080">
                <a:tc>
                  <a:txBody>
                    <a:bodyPr/>
                    <a:lstStyle/>
                    <a:p>
                      <a:pPr algn="ctr"/>
                      <a:r>
                        <a:rPr sz="1950" b="0">
                          <a:solidFill>
                            <a:srgbClr val="222222"/>
                          </a:solidFill>
                          <a:latin typeface="Noto Sans JP"/>
                          <a:ea typeface="Noto Sans JP"/>
                          <a:cs typeface="Noto Sans JP"/>
                        </a:rPr>
                        <a:t>行数 / 特徴数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569行 / 30特徴</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178行 / 13特徴</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データの内容</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細胞核の大きさ・形状など</a:t>
                      </a:r>
                    </a:p>
                    <a:p>
                      <a:pPr algn="ctr"/>
                      <a:r>
                        <a:rPr sz="1950" b="0">
                          <a:solidFill>
                            <a:srgbClr val="222222"/>
                          </a:solidFill>
                          <a:latin typeface="Noto Sans JP"/>
                          <a:ea typeface="Noto Sans JP"/>
                          <a:cs typeface="Noto Sans JP"/>
                        </a:rPr>
                        <a:t>画像から求めた数値特徴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アルコール・酸・色など</a:t>
                      </a:r>
                    </a:p>
                    <a:p>
                      <a:pPr algn="ctr"/>
                      <a:r>
                        <a:rPr sz="1950" b="0">
                          <a:solidFill>
                            <a:srgbClr val="222222"/>
                          </a:solidFill>
                          <a:latin typeface="Noto Sans JP"/>
                          <a:ea typeface="Noto Sans JP"/>
                          <a:cs typeface="Noto Sans JP"/>
                        </a:rPr>
                        <a:t>ワインの化学分析値</a:t>
                      </a:r>
                    </a:p>
                  </a:txBody>
                  <a:tcPr marL="91440" marR="91440" marT="45720" marB="45720" anchor="ctr">
                    <a:solidFill>
                      <a:srgbClr val="F6F6F6"/>
                    </a:solidFill>
                  </a:tcPr>
                </a:tc>
              </a:tr>
              <a:tr h="640080">
                <a:tc>
                  <a:txBody>
                    <a:bodyPr/>
                    <a:lstStyle/>
                    <a:p>
                      <a:pPr algn="ctr"/>
                      <a:r>
                        <a:rPr sz="1950" b="0">
                          <a:solidFill>
                            <a:srgbClr val="222222"/>
                          </a:solidFill>
                          <a:latin typeface="Noto Sans JP"/>
                          <a:ea typeface="Noto Sans JP"/>
                          <a:cs typeface="Noto Sans JP"/>
                        </a:rPr>
                        <a:t>分類ラベル</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悪性 / 良性（2クラス）</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ワインの品種（3クラス）</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0A681D7-A447-43A2-BB1B-15965F829AE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CA5B054-4769-472F-BAEB-CFCDB3F9495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ラベルは分類の正解。コピュラの依存推定にはラベルを使わない</a:t>
            </a:r>
          </a:p>
        </p:txBody>
      </p:sp>
    </p:spTree>
    <p:extLst>
      <p:ext uri="{BB962C8B-B14F-4D97-AF65-F5344CB8AC3E}">
        <p14:creationId xmlns:p14="http://schemas.microsoft.com/office/powerpoint/2010/main" val="2731554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C6758D-BACC-4723-AB3F-BAA53A49D46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補足：ラベル付きデータの設定</a:t>
            </a:r>
          </a:p>
        </p:txBody>
      </p:sp>
      <p:sp>
        <p:nvSpPr>
          <p:cNvPr id="2" name="">
            <a:extLst xmlns:a="http://schemas.openxmlformats.org/drawingml/2006/main">
              <a:ext uri="{FF2B5EF4-FFF2-40B4-BE49-F238E27FC236}">
                <a16:creationId xmlns:a16="http://schemas.microsoft.com/office/drawing/2014/main" id="{660163B0-25A3-4333-9B6C-B57E2A9294F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A53F36-C63A-44E5-A1D3-2BE6BDEA40B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全体を訓練80%・テスト20%に分け、訓練の30%にラベルを付ける。</a:t>
            </a:r>
          </a:p>
        </p:txBody>
      </p:sp>
      <p:sp>
        <p:nvSpPr>
          <p:cNvPr id="4" name="">
            <a:extLst xmlns:a="http://schemas.openxmlformats.org/drawingml/2006/main">
              <a:ext uri="{FF2B5EF4-FFF2-40B4-BE49-F238E27FC236}">
                <a16:creationId xmlns:a16="http://schemas.microsoft.com/office/drawing/2014/main" id="{DF71D566-69A1-46C2-BC50-CA623D68BF0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37593458-16BC-45F9-B9F0-8080DD8AE8E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graphicFrame>
        <p:nvGraphicFramePr>
          <p:cNvPr id="6" name="">
            <a:extLst xmlns:a="http://schemas.openxmlformats.org/drawingml/2006/main">
              <a:ext uri="{FF2B5EF4-FFF2-40B4-BE49-F238E27FC236}">
                <a16:creationId xmlns:a16="http://schemas.microsoft.com/office/drawing/2014/main" id="{900E1B98-BBCF-471D-ACE3-25C438AFECE2}"/>
              </a:ext>
            </a:extLst>
          </p:cNvPr>
          <p:cNvGraphicFramePr/>
          <p:nvPr/>
        </p:nvGraphicFramePr>
        <p:xfrm>
          <a:off xmlns:a="http://schemas.openxmlformats.org/drawingml/2006/main" x="514350" y="2085975"/>
          <a:ext xmlns:a="http://schemas.openxmlformats.org/drawingml/2006/main" cx="11163300" cy="2962275"/>
        </p:xfrm>
        <a:graphic xmlns:a="http://schemas.openxmlformats.org/drawingml/2006/main">
          <a:graphicData uri="http://schemas.openxmlformats.org/drawingml/2006/table">
            <a:tbl>
              <a:tblPr/>
              <a:tblGrid>
                <a:gridCol w="3721100"/>
                <a:gridCol w="3721100"/>
                <a:gridCol w="3721100"/>
              </a:tblGrid>
              <a:tr h="592455">
                <a:tc>
                  <a:txBody>
                    <a:bodyPr/>
                    <a:lstStyle/>
                    <a:p>
                      <a:pPr algn="ctr"/>
                      <a:r>
                        <a:rPr sz="2100" b="1">
                          <a:solidFill>
                            <a:srgbClr val="2E7D5B"/>
                          </a:solidFill>
                          <a:latin typeface="Noto Sans JP"/>
                          <a:ea typeface="Noto Sans JP"/>
                          <a:cs typeface="Noto Sans JP"/>
                        </a:rPr>
                        <a:t>区分</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Wine</a:t>
                      </a:r>
                    </a:p>
                  </a:txBody>
                  <a:tcPr marL="91440" marR="91440" marT="45720" marB="45720" anchor="ctr">
                    <a:solidFill>
                      <a:srgbClr val="E7F2EC"/>
                    </a:solidFill>
                  </a:tcPr>
                </a:tc>
              </a:tr>
              <a:tr h="592455">
                <a:tc>
                  <a:txBody>
                    <a:bodyPr/>
                    <a:lstStyle/>
                    <a:p>
                      <a:pPr algn="ctr"/>
                      <a:r>
                        <a:rPr sz="2100" b="0">
                          <a:solidFill>
                            <a:srgbClr val="222222"/>
                          </a:solidFill>
                          <a:latin typeface="Noto Sans JP"/>
                          <a:ea typeface="Noto Sans JP"/>
                          <a:cs typeface="Noto Sans JP"/>
                        </a:rPr>
                        <a:t>ラベル付き訓練</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136件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ラベルなし訓練</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319件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100件</a:t>
                      </a:r>
                    </a:p>
                  </a:txBody>
                  <a:tcPr marL="91440" marR="91440" marT="45720" marB="45720" anchor="ctr">
                    <a:solidFill>
                      <a:srgbClr val="F6F6F6"/>
                    </a:solidFill>
                  </a:tcPr>
                </a:tc>
              </a:tr>
              <a:tr h="592455">
                <a:tc>
                  <a:txBody>
                    <a:bodyPr/>
                    <a:lstStyle/>
                    <a:p>
                      <a:pPr algn="ctr"/>
                      <a:r>
                        <a:rPr sz="2100" b="0">
                          <a:solidFill>
                            <a:srgbClr val="222222"/>
                          </a:solidFill>
                          <a:latin typeface="Noto Sans JP"/>
                          <a:ea typeface="Noto Sans JP"/>
                          <a:cs typeface="Noto Sans JP"/>
                        </a:rPr>
                        <a:t>訓練合計</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455件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テスト</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114件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36件</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8046665C-2FDC-4C57-8339-753A63F032CF}"/>
              </a:ext>
            </a:extLst>
          </p:cNvPr>
          <p:cNvSpPr>
            <a:spLocks xmlns:a="http://schemas.openxmlformats.org/drawingml/2006/main" noGrp="1"/>
          </p:cNvSpPr>
          <p:nvPr/>
        </p:nvSpPr>
        <p:spPr>
          <a:xfrm xmlns:a="http://schemas.openxmlformats.org/drawingml/2006/main">
            <a:off x="619125" y="51911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クラス比を保つ層化分割。テストデータは学習や分布推定に使わない。</a:t>
            </a:r>
          </a:p>
        </p:txBody>
      </p:sp>
      <p:sp>
        <p:nvSpPr>
          <p:cNvPr id="8" name="">
            <a:extLst xmlns:a="http://schemas.openxmlformats.org/drawingml/2006/main">
              <a:ext uri="{FF2B5EF4-FFF2-40B4-BE49-F238E27FC236}">
                <a16:creationId xmlns:a16="http://schemas.microsoft.com/office/drawing/2014/main" id="{FF78F743-0587-49B8-977A-2FD8AABD598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1E142EB-5E02-4006-A8F5-4C76BB855FE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「30%」は全データに対する割合ではなく、訓練データ内の割合</a:t>
            </a:r>
          </a:p>
        </p:txBody>
      </p:sp>
    </p:spTree>
    <p:extLst>
      <p:ext uri="{BB962C8B-B14F-4D97-AF65-F5344CB8AC3E}">
        <p14:creationId xmlns:p14="http://schemas.microsoft.com/office/powerpoint/2010/main" val="14466261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7ED6FD-6719-40C6-B1B0-6B30F702EB4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補足：使用するモデル</a:t>
            </a:r>
          </a:p>
        </p:txBody>
      </p:sp>
      <p:sp>
        <p:nvSpPr>
          <p:cNvPr id="2" name="">
            <a:extLst xmlns:a="http://schemas.openxmlformats.org/drawingml/2006/main">
              <a:ext uri="{FF2B5EF4-FFF2-40B4-BE49-F238E27FC236}">
                <a16:creationId xmlns:a16="http://schemas.microsoft.com/office/drawing/2014/main" id="{65BC43CB-B991-4049-9C82-116EA95C2F2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4B12C5-F1D0-4DA1-A7BC-313A2B017ED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VIMEの学習枠組みで、置換器だけを変更して比較する。</a:t>
            </a:r>
          </a:p>
        </p:txBody>
      </p:sp>
      <p:sp>
        <p:nvSpPr>
          <p:cNvPr id="4" name="">
            <a:extLst xmlns:a="http://schemas.openxmlformats.org/drawingml/2006/main">
              <a:ext uri="{FF2B5EF4-FFF2-40B4-BE49-F238E27FC236}">
                <a16:creationId xmlns:a16="http://schemas.microsoft.com/office/drawing/2014/main" id="{7930A89A-97D3-4CEA-907E-575FE0CE695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B3CED096-78E1-4B92-B222-09924332D91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6" name="">
            <a:extLst xmlns:a="http://schemas.openxmlformats.org/drawingml/2006/main">
              <a:ext uri="{FF2B5EF4-FFF2-40B4-BE49-F238E27FC236}">
                <a16:creationId xmlns:a16="http://schemas.microsoft.com/office/drawing/2014/main" id="{D1695665-DEFE-4DB4-BC5C-9869EA8462AA}"/>
              </a:ext>
            </a:extLst>
          </p:cNvPr>
          <p:cNvGraphicFramePr/>
          <p:nvPr/>
        </p:nvGraphicFramePr>
        <p:xfrm>
          <a:off xmlns:a="http://schemas.openxmlformats.org/drawingml/2006/main" x="514350" y="195262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今回の設定</a:t>
                      </a:r>
                    </a:p>
                  </a:txBody>
                  <a:tcPr marL="91440" marR="91440" marT="45720" marB="45720" anchor="ctr">
                    <a:solidFill>
                      <a:srgbClr val="E7F2EC"/>
                    </a:solidFill>
                  </a:tcPr>
                </a:tc>
              </a:tr>
              <a:tr h="555625">
                <a:tc>
                  <a:txBody>
                    <a:bodyPr/>
                    <a:lstStyle/>
                    <a:p>
                      <a:pPr algn="ctr"/>
                      <a:r>
                        <a:rPr sz="1950" b="0">
                          <a:solidFill>
                            <a:srgbClr val="222222"/>
                          </a:solidFill>
                          <a:latin typeface="Noto Sans JP"/>
                          <a:ea typeface="Noto Sans JP"/>
                          <a:cs typeface="Noto Sans JP"/>
                        </a:rPr>
                        <a:t>エンコーダ</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MLP：隠れ層4層、各層32ユニット</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自己教師あり学習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変更位置の推定（BCE）と元値の復元（MSE）</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分類器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エンコーダを固定し、隠れ幅32のMLPで分類</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半教師あり学習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ラベル付きの交差エントロピー</a:t>
                      </a:r>
                    </a:p>
                    <a:p>
                      <a:pPr algn="ctr"/>
                      <a:r>
                        <a:rPr sz="1950" b="0">
                          <a:solidFill>
                            <a:srgbClr val="222222"/>
                          </a:solidFill>
                          <a:latin typeface="Noto Sans JP"/>
                          <a:ea typeface="Noto Sans JP"/>
                          <a:cs typeface="Noto Sans JP"/>
                        </a:rPr>
                        <a:t>＋ラベルなしの3拡張の予測一貫性</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比較する置換器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列ごとの無作為置換 / Gaussian copula条件付き置換</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895B213-F781-4735-BE72-1B0DB1A2CCE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96BE56-E918-4780-AA4B-D4B29837B6C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学習課題とモデルをそろえ、置換方法の違いを比較する</a:t>
            </a:r>
          </a:p>
        </p:txBody>
      </p:sp>
    </p:spTree>
    <p:extLst>
      <p:ext uri="{BB962C8B-B14F-4D97-AF65-F5344CB8AC3E}">
        <p14:creationId xmlns:p14="http://schemas.microsoft.com/office/powerpoint/2010/main" val="11868531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F64648-8E54-41D3-8A5C-9EB58C643AE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補足：学習条件と前処理</a:t>
            </a:r>
          </a:p>
        </p:txBody>
      </p:sp>
      <p:sp>
        <p:nvSpPr>
          <p:cNvPr id="2" name="">
            <a:extLst xmlns:a="http://schemas.openxmlformats.org/drawingml/2006/main">
              <a:ext uri="{FF2B5EF4-FFF2-40B4-BE49-F238E27FC236}">
                <a16:creationId xmlns:a16="http://schemas.microsoft.com/office/drawing/2014/main" id="{E5D71DA1-D463-495B-BFA0-0F522AB32FA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D62465-A7ED-450C-B15E-95C999C560C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同じデータ分割・乱数seed・学習予算で、2手法を比較する。</a:t>
            </a:r>
          </a:p>
        </p:txBody>
      </p:sp>
      <p:sp>
        <p:nvSpPr>
          <p:cNvPr id="4" name="">
            <a:extLst xmlns:a="http://schemas.openxmlformats.org/drawingml/2006/main">
              <a:ext uri="{FF2B5EF4-FFF2-40B4-BE49-F238E27FC236}">
                <a16:creationId xmlns:a16="http://schemas.microsoft.com/office/drawing/2014/main" id="{4493D84F-F00A-451C-BCEE-9277134EF68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BD5DF860-A809-4454-BEAD-45D10E84026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6" name="">
            <a:extLst xmlns:a="http://schemas.openxmlformats.org/drawingml/2006/main">
              <a:ext uri="{FF2B5EF4-FFF2-40B4-BE49-F238E27FC236}">
                <a16:creationId xmlns:a16="http://schemas.microsoft.com/office/drawing/2014/main" id="{B83F065E-542B-400A-8DBE-C2CEF273FA29}"/>
              </a:ext>
            </a:extLst>
          </p:cNvPr>
          <p:cNvGraphicFramePr/>
          <p:nvPr/>
        </p:nvGraphicFramePr>
        <p:xfrm>
          <a:off xmlns:a="http://schemas.openxmlformats.org/drawingml/2006/main" x="514350" y="197167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2025"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共通設定</a:t>
                      </a:r>
                    </a:p>
                  </a:txBody>
                  <a:tcPr marL="91440" marR="91440" marT="45720" marB="45720" anchor="ctr">
                    <a:solidFill>
                      <a:srgbClr val="E7F2EC"/>
                    </a:solidFill>
                  </a:tcPr>
                </a:tc>
              </a:tr>
              <a:tr h="555625">
                <a:tc>
                  <a:txBody>
                    <a:bodyPr/>
                    <a:lstStyle/>
                    <a:p>
                      <a:pPr algn="ctr"/>
                      <a:r>
                        <a:rPr sz="2025" b="0">
                          <a:solidFill>
                            <a:srgbClr val="222222"/>
                          </a:solidFill>
                          <a:latin typeface="Noto Sans JP"/>
                          <a:ea typeface="Noto Sans JP"/>
                          <a:cs typeface="Noto Sans JP"/>
                        </a:rPr>
                        <a:t>前処理</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訓練データだけでMinMaxScalerを推定</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学習回数</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自己教師あり15 epoch / 半教師あり300反復</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拡張・batch</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各特徴のマスク確率0.4 / batch size 64</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損失重み</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復元MSE：2 / 予測一貫性：1</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seed = 11, 23, 37, 51, 67（5回）</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B6F0A83-72DF-43D4-A958-919940C3C7B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516C14-D961-415D-AF6D-867F7594944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コピュラの周辺分布と依存は、ラベルなし訓練データから推定する</a:t>
            </a:r>
          </a:p>
        </p:txBody>
      </p:sp>
    </p:spTree>
    <p:extLst>
      <p:ext uri="{BB962C8B-B14F-4D97-AF65-F5344CB8AC3E}">
        <p14:creationId xmlns:p14="http://schemas.microsoft.com/office/powerpoint/2010/main" val="9525874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D6A89E-761D-4B2D-BC79-DE48CA6EF9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補足：保存済みの初期実験結果</a:t>
            </a:r>
          </a:p>
        </p:txBody>
      </p:sp>
      <p:sp>
        <p:nvSpPr>
          <p:cNvPr id="2" name="">
            <a:extLst xmlns:a="http://schemas.openxmlformats.org/drawingml/2006/main">
              <a:ext uri="{FF2B5EF4-FFF2-40B4-BE49-F238E27FC236}">
                <a16:creationId xmlns:a16="http://schemas.microsoft.com/office/drawing/2014/main" id="{13358381-56DA-4A43-BD02-D18B1903E7A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AF121F-1AF2-447A-8F5C-DF189419277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分類性能の平均差は小さく、改善の結論には追加検証が必要。</a:t>
            </a:r>
          </a:p>
        </p:txBody>
      </p:sp>
      <p:sp>
        <p:nvSpPr>
          <p:cNvPr id="4" name="">
            <a:extLst xmlns:a="http://schemas.openxmlformats.org/drawingml/2006/main">
              <a:ext uri="{FF2B5EF4-FFF2-40B4-BE49-F238E27FC236}">
                <a16:creationId xmlns:a16="http://schemas.microsoft.com/office/drawing/2014/main" id="{B5B0A345-6BA9-44E8-8453-7A6411F7ECB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162C5E71-E795-4CA3-8B60-B8A8425255F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6" name="">
            <a:extLst xmlns:a="http://schemas.openxmlformats.org/drawingml/2006/main">
              <a:ext uri="{FF2B5EF4-FFF2-40B4-BE49-F238E27FC236}">
                <a16:creationId xmlns:a16="http://schemas.microsoft.com/office/drawing/2014/main" id="{9C5B3FA0-BC9B-437D-9864-AE3A637DBFC9}"/>
              </a:ext>
            </a:extLst>
          </p:cNvPr>
          <p:cNvGraphicFramePr/>
          <p:nvPr/>
        </p:nvGraphicFramePr>
        <p:xfrm>
          <a:off xmlns:a="http://schemas.openxmlformats.org/drawingml/2006/main" x="514350" y="2105025"/>
          <a:ext xmlns:a="http://schemas.openxmlformats.org/drawingml/2006/main" cx="11163300" cy="2190750"/>
        </p:xfrm>
        <a:graphic xmlns:a="http://schemas.openxmlformats.org/drawingml/2006/main">
          <a:graphicData uri="http://schemas.openxmlformats.org/drawingml/2006/table">
            <a:tbl>
              <a:tblPr/>
              <a:tblGrid>
                <a:gridCol w="3721100"/>
                <a:gridCol w="3721100"/>
                <a:gridCol w="3721100"/>
              </a:tblGrid>
              <a:tr h="730250">
                <a:tc>
                  <a:txBody>
                    <a:bodyPr/>
                    <a:lstStyle/>
                    <a:p>
                      <a:pPr algn="ctr"/>
                      <a:r>
                        <a:rPr sz="2100" b="1">
                          <a:solidFill>
                            <a:srgbClr val="2E7D5B"/>
                          </a:solidFill>
                          <a:latin typeface="Noto Sans JP"/>
                          <a:ea typeface="Noto Sans JP"/>
                          <a:cs typeface="Noto Sans JP"/>
                        </a:rPr>
                        <a:t>ROC-AUC：平均 ± SD</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Gaussian copula</a:t>
                      </a:r>
                    </a:p>
                  </a:txBody>
                  <a:tcPr marL="91440" marR="91440" marT="45720" marB="45720" anchor="ctr">
                    <a:solidFill>
                      <a:srgbClr val="E7F2EC"/>
                    </a:solidFill>
                  </a:tcPr>
                </a:tc>
              </a:tr>
              <a:tr h="730250">
                <a:tc>
                  <a:txBody>
                    <a:bodyPr/>
                    <a:lstStyle/>
                    <a:p>
                      <a:pPr algn="ctr"/>
                      <a:r>
                        <a:rPr sz="210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0.973 ± 0.017</a:t>
                      </a:r>
                    </a:p>
                  </a:txBody>
                  <a:tcPr marL="91440" marR="91440" marT="45720" marB="45720" anchor="ctr">
                    <a:solidFill>
                      <a:srgbClr val="FFFFFF"/>
                    </a:solidFill>
                  </a:tcPr>
                </a:tc>
              </a:tr>
              <a:tr h="730250">
                <a:tc>
                  <a:txBody>
                    <a:bodyPr/>
                    <a:lstStyle/>
                    <a:p>
                      <a:pPr algn="ctr"/>
                      <a:r>
                        <a:rPr sz="210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EC88FAF-DB12-4454-AF2A-3B4D3DF66BFA}"/>
              </a:ext>
            </a:extLst>
          </p:cNvPr>
          <p:cNvSpPr>
            <a:spLocks xmlns:a="http://schemas.openxmlformats.org/drawingml/2006/main" noGrp="1"/>
          </p:cNvSpPr>
          <p:nvPr/>
        </p:nvSpPr>
        <p:spPr>
          <a:xfrm xmlns:a="http://schemas.openxmlformats.org/drawingml/2006/main">
            <a:off x="619125" y="4524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222222"/>
                </a:solidFill>
                <a:latin typeface="Noto Sans JP"/>
                <a:ea typeface="Noto Sans JP"/>
                <a:cs typeface="Noto Sans JP"/>
              </a:defRPr>
            </a:defPPr>
          </a:lstStyle>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平均差の95%区間</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Breast Cancer：−0.005〜+0.011　Wine：−0.079〜+0.109</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両方とも0を含む。少数データ・5回の探索的な比較。</a:t>
            </a:r>
          </a:p>
        </p:txBody>
      </p:sp>
      <p:sp>
        <p:nvSpPr>
          <p:cNvPr id="8" name="">
            <a:extLst xmlns:a="http://schemas.openxmlformats.org/drawingml/2006/main">
              <a:ext uri="{FF2B5EF4-FFF2-40B4-BE49-F238E27FC236}">
                <a16:creationId xmlns:a16="http://schemas.microsoft.com/office/drawing/2014/main" id="{11D94E52-2860-4432-A18A-52349AF3CB5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A68647-B4D3-4CE8-BFFE-CF9351BA7C6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現在は探索的な結果。次ページの評価条件に沿って、追加検証する</a:t>
            </a:r>
          </a:p>
        </p:txBody>
      </p:sp>
    </p:spTree>
    <p:extLst>
      <p:ext uri="{BB962C8B-B14F-4D97-AF65-F5344CB8AC3E}">
        <p14:creationId xmlns:p14="http://schemas.microsoft.com/office/powerpoint/2010/main" val="4221522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2FF532-CC9D-456A-8425-04A4F865597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補足：提案手法が優れていると言える条件</a:t>
            </a:r>
          </a:p>
        </p:txBody>
      </p:sp>
      <p:sp>
        <p:nvSpPr>
          <p:cNvPr id="2" name="">
            <a:extLst xmlns:a="http://schemas.openxmlformats.org/drawingml/2006/main">
              <a:ext uri="{FF2B5EF4-FFF2-40B4-BE49-F238E27FC236}">
                <a16:creationId xmlns:a16="http://schemas.microsoft.com/office/drawing/2014/main" id="{E768393B-3830-495E-A586-3FC6F565634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E92F64-592A-4B24-B46A-2B00EF7E541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研究仮説：依存を考慮した拡張が、分類の学習に役立つか。</a:t>
            </a:r>
          </a:p>
        </p:txBody>
      </p:sp>
      <p:sp>
        <p:nvSpPr>
          <p:cNvPr id="4" name="">
            <a:extLst xmlns:a="http://schemas.openxmlformats.org/drawingml/2006/main">
              <a:ext uri="{FF2B5EF4-FFF2-40B4-BE49-F238E27FC236}">
                <a16:creationId xmlns:a16="http://schemas.microsoft.com/office/drawing/2014/main" id="{9A9642DF-0461-48EE-8391-0FD352754E7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1DBDD2BB-04DA-41D7-BA20-C98C0155B6E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6" name="">
            <a:extLst xmlns:a="http://schemas.openxmlformats.org/drawingml/2006/main">
              <a:ext uri="{FF2B5EF4-FFF2-40B4-BE49-F238E27FC236}">
                <a16:creationId xmlns:a16="http://schemas.microsoft.com/office/drawing/2014/main" id="{F665BBE3-8F97-4864-AC7E-FEFEF932DBAA}"/>
              </a:ext>
            </a:extLst>
          </p:cNvPr>
          <p:cNvGraphicFramePr/>
          <p:nvPr/>
        </p:nvGraphicFramePr>
        <p:xfrm>
          <a:off xmlns:a="http://schemas.openxmlformats.org/drawingml/2006/main" x="514350" y="2095500"/>
          <a:ext xmlns:a="http://schemas.openxmlformats.org/drawingml/2006/main" cx="11163300" cy="2876550"/>
        </p:xfrm>
        <a:graphic xmlns:a="http://schemas.openxmlformats.org/drawingml/2006/main">
          <a:graphicData uri="http://schemas.openxmlformats.org/drawingml/2006/table">
            <a:tbl>
              <a:tblPr/>
              <a:tblGrid>
                <a:gridCol w="2667000"/>
                <a:gridCol w="8496300"/>
              </a:tblGrid>
              <a:tr h="719138">
                <a:tc>
                  <a:txBody>
                    <a:bodyPr/>
                    <a:lstStyle/>
                    <a:p>
                      <a:pPr algn="ctr"/>
                      <a:r>
                        <a:rPr sz="1950" b="1">
                          <a:solidFill>
                            <a:srgbClr val="2E7D5B"/>
                          </a:solidFill>
                          <a:latin typeface="Noto Sans JP"/>
                          <a:ea typeface="Noto Sans JP"/>
                          <a:cs typeface="Noto Sans JP"/>
                        </a:rPr>
                        <a:t>示したいこと</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優位性の根拠になる結果</a:t>
                      </a:r>
                    </a:p>
                  </a:txBody>
                  <a:tcPr marL="91440" marR="91440" marT="45720" marB="45720" anchor="ctr">
                    <a:solidFill>
                      <a:srgbClr val="E7F2EC"/>
                    </a:solidFill>
                  </a:tcPr>
                </a:tc>
              </a:tr>
              <a:tr h="719138">
                <a:tc>
                  <a:txBody>
                    <a:bodyPr/>
                    <a:lstStyle/>
                    <a:p>
                      <a:pPr algn="ctr"/>
                      <a:r>
                        <a:rPr sz="1950" b="0">
                          <a:solidFill>
                            <a:srgbClr val="222222"/>
                          </a:solidFill>
                          <a:latin typeface="Noto Sans JP"/>
                          <a:ea typeface="Noto Sans JP"/>
                          <a:cs typeface="Noto Sans JP"/>
                        </a:rPr>
                        <a:t>分類性能の改善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同じラベル数・利用データ・評価条件で、</a:t>
                      </a:r>
                    </a:p>
                    <a:p>
                      <a:pPr algn="ctr"/>
                      <a:r>
                        <a:rPr sz="1950" b="0">
                          <a:solidFill>
                            <a:srgbClr val="222222"/>
                          </a:solidFill>
                          <a:latin typeface="Noto Sans JP"/>
                          <a:ea typeface="Noto Sans JP"/>
                          <a:cs typeface="Noto Sans JP"/>
                        </a:rPr>
                        <a:t>既存の拡張よりテスト性能が安定して高い</a:t>
                      </a:r>
                    </a:p>
                  </a:txBody>
                  <a:tcPr marL="91440" marR="91440" marT="45720" marB="45720" anchor="ctr">
                    <a:solidFill>
                      <a:srgbClr val="FFFFFF"/>
                    </a:solidFill>
                  </a:tcPr>
                </a:tc>
              </a:tr>
              <a:tr h="719138">
                <a:tc>
                  <a:txBody>
                    <a:bodyPr/>
                    <a:lstStyle/>
                    <a:p>
                      <a:pPr algn="ctr"/>
                      <a:r>
                        <a:rPr sz="1950" b="0">
                          <a:solidFill>
                            <a:srgbClr val="222222"/>
                          </a:solidFill>
                          <a:latin typeface="Noto Sans JP"/>
                          <a:ea typeface="Noto Sans JP"/>
                          <a:cs typeface="Noto Sans JP"/>
                        </a:rPr>
                        <a:t>ラベル効率の改善</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同じ量のラベルなしデータを用いた比較で、</a:t>
                      </a:r>
                    </a:p>
                    <a:p>
                      <a:pPr algn="ctr"/>
                      <a:r>
                        <a:rPr sz="1950" b="0">
                          <a:solidFill>
                            <a:srgbClr val="222222"/>
                          </a:solidFill>
                          <a:latin typeface="Noto Sans JP"/>
                          <a:ea typeface="Noto Sans JP"/>
                          <a:cs typeface="Noto Sans JP"/>
                        </a:rPr>
                        <a:t>より少ないラベルから同等以上の性能を得る</a:t>
                      </a:r>
                    </a:p>
                  </a:txBody>
                  <a:tcPr marL="91440" marR="91440" marT="45720" marB="45720" anchor="ctr">
                    <a:solidFill>
                      <a:srgbClr val="F6F6F6"/>
                    </a:solidFill>
                  </a:tcPr>
                </a:tc>
              </a:tr>
              <a:tr h="719138">
                <a:tc>
                  <a:txBody>
                    <a:bodyPr/>
                    <a:lstStyle/>
                    <a:p>
                      <a:pPr algn="ctr"/>
                      <a:r>
                        <a:rPr sz="1950" b="0">
                          <a:solidFill>
                            <a:srgbClr val="222222"/>
                          </a:solidFill>
                          <a:latin typeface="Noto Sans JP"/>
                          <a:ea typeface="Noto Sans JP"/>
                          <a:cs typeface="Noto Sans JP"/>
                        </a:rPr>
                        <a:t>改善の仕組み</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依存を壊すアブレーションで性能が落ち、</a:t>
                      </a:r>
                    </a:p>
                    <a:p>
                      <a:pPr algn="ctr"/>
                      <a:r>
                        <a:rPr sz="1950" b="0">
                          <a:solidFill>
                            <a:srgbClr val="222222"/>
                          </a:solidFill>
                          <a:latin typeface="Noto Sans JP"/>
                          <a:ea typeface="Noto Sans JP"/>
                          <a:cs typeface="Noto Sans JP"/>
                        </a:rPr>
                        <a:t>生成の妥当性の改善と合わせて説明できる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C33D432-2A82-4FC2-B027-233DDD4BE662}"/>
              </a:ext>
            </a:extLst>
          </p:cNvPr>
          <p:cNvSpPr>
            <a:spLocks xmlns:a="http://schemas.openxmlformats.org/drawingml/2006/main" noGrp="1"/>
          </p:cNvSpPr>
          <p:nvPr/>
        </p:nvSpPr>
        <p:spPr>
          <a:xfrm xmlns:a="http://schemas.openxmlformats.org/drawingml/2006/main">
            <a:off x="619125" y="51816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主要指標と意味のある改善幅を事前に決め、複数データ・反復で確認する。</a:t>
            </a:r>
          </a:p>
        </p:txBody>
      </p:sp>
      <p:sp>
        <p:nvSpPr>
          <p:cNvPr id="8" name="">
            <a:extLst xmlns:a="http://schemas.openxmlformats.org/drawingml/2006/main">
              <a:ext uri="{FF2B5EF4-FFF2-40B4-BE49-F238E27FC236}">
                <a16:creationId xmlns:a16="http://schemas.microsoft.com/office/drawing/2014/main" id="{23218624-A36A-4BAD-99AC-379D71E8808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4C9B907-2C75-443B-86F5-11EF9B955AF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基本は同条件での分類改善。少ないラベルでの学習は、追加で示せる価値</a:t>
            </a:r>
          </a:p>
        </p:txBody>
      </p:sp>
    </p:spTree>
    <p:extLst>
      <p:ext uri="{BB962C8B-B14F-4D97-AF65-F5344CB8AC3E}">
        <p14:creationId xmlns:p14="http://schemas.microsoft.com/office/powerpoint/2010/main" val="7353615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0E789D-0A04-433E-819F-18D609FCA49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補足：少ないデータで学習するとは</a:t>
            </a:r>
          </a:p>
        </p:txBody>
      </p:sp>
      <p:sp>
        <p:nvSpPr>
          <p:cNvPr id="2" name="">
            <a:extLst xmlns:a="http://schemas.openxmlformats.org/drawingml/2006/main">
              <a:ext uri="{FF2B5EF4-FFF2-40B4-BE49-F238E27FC236}">
                <a16:creationId xmlns:a16="http://schemas.microsoft.com/office/drawing/2014/main" id="{6C3C660E-562A-44D6-9DED-442B56AF4ED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60211F-55FA-4F2B-875D-62C7DAFECE0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ラベル付きデータと、利用する総データ量を分けて考える。</a:t>
            </a:r>
          </a:p>
        </p:txBody>
      </p:sp>
      <p:sp>
        <p:nvSpPr>
          <p:cNvPr id="4" name="">
            <a:extLst xmlns:a="http://schemas.openxmlformats.org/drawingml/2006/main">
              <a:ext uri="{FF2B5EF4-FFF2-40B4-BE49-F238E27FC236}">
                <a16:creationId xmlns:a16="http://schemas.microsoft.com/office/drawing/2014/main" id="{F1C1BF12-F5B3-412E-981F-82287001D36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074DF625-D9E0-4EA9-A506-F31221745B1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EFEE0B6A-202F-4358-9DB3-117EC12D26A5}"/>
              </a:ext>
            </a:extLst>
          </p:cNvPr>
          <p:cNvSpPr>
            <a:spLocks xmlns:a="http://schemas.openxmlformats.org/drawingml/2006/main" noGrp="1"/>
          </p:cNvSpPr>
          <p:nvPr/>
        </p:nvSpPr>
        <p:spPr>
          <a:xfrm xmlns:a="http://schemas.openxmlformats.org/drawingml/2006/main">
            <a:off x="619125" y="19716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同じラベルなしデータを使い、ラベル数を段階的に変える。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例：5%・10%・20%・30%相当のラベル予算で学習曲線を比較。</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総データ量の効率を示す場合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ラベル付き・ラベルなしを含む利用総件数を変え、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同じ評価データで目標性能に必要な件数を比較する。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各設定で、すべてのクラスにラベルが含まれる件数を確保する。</a:t>
            </a:r>
          </a:p>
        </p:txBody>
      </p:sp>
      <p:sp>
        <p:nvSpPr>
          <p:cNvPr id="7" name="">
            <a:extLst xmlns:a="http://schemas.openxmlformats.org/drawingml/2006/main">
              <a:ext uri="{FF2B5EF4-FFF2-40B4-BE49-F238E27FC236}">
                <a16:creationId xmlns:a16="http://schemas.microsoft.com/office/drawing/2014/main" id="{310ACAB3-53F9-4FE9-9AF4-729227EA09B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B98B99-7096-4D46-BA2F-BCC45616A12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コピュラの推定にもデータが必要。少ないデータで必ず勝つとは限らない</a:t>
            </a:r>
          </a:p>
        </p:txBody>
      </p:sp>
    </p:spTree>
    <p:extLst>
      <p:ext uri="{BB962C8B-B14F-4D97-AF65-F5344CB8AC3E}">
        <p14:creationId xmlns:p14="http://schemas.microsoft.com/office/powerpoint/2010/main" val="203760347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D63C5D-CB43-4222-9958-EF6B32444B1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補足：研究仮説を検証する比較実験</a:t>
            </a:r>
          </a:p>
        </p:txBody>
      </p:sp>
      <p:sp>
        <p:nvSpPr>
          <p:cNvPr id="2" name="">
            <a:extLst xmlns:a="http://schemas.openxmlformats.org/drawingml/2006/main">
              <a:ext uri="{FF2B5EF4-FFF2-40B4-BE49-F238E27FC236}">
                <a16:creationId xmlns:a16="http://schemas.microsoft.com/office/drawing/2014/main" id="{A5A775E2-E0E6-4663-9A28-B97E3580CC4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51BB48-5D11-4224-9693-A77AF62E7B8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置換器の効果と、手法全体の性能を分けて調べる。</a:t>
            </a:r>
          </a:p>
        </p:txBody>
      </p:sp>
      <p:sp>
        <p:nvSpPr>
          <p:cNvPr id="4" name="">
            <a:extLst xmlns:a="http://schemas.openxmlformats.org/drawingml/2006/main">
              <a:ext uri="{FF2B5EF4-FFF2-40B4-BE49-F238E27FC236}">
                <a16:creationId xmlns:a16="http://schemas.microsoft.com/office/drawing/2014/main" id="{6C8F65A5-8666-4CCB-B41C-C0837418F67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6D9B2895-8E44-4CC3-B7D5-8D0D4A5489F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graphicFrame>
        <p:nvGraphicFramePr>
          <p:cNvPr id="6" name="">
            <a:extLst xmlns:a="http://schemas.openxmlformats.org/drawingml/2006/main">
              <a:ext uri="{FF2B5EF4-FFF2-40B4-BE49-F238E27FC236}">
                <a16:creationId xmlns:a16="http://schemas.microsoft.com/office/drawing/2014/main" id="{DE031127-D968-49C4-9C7D-44EE911B702C}"/>
              </a:ext>
            </a:extLst>
          </p:cNvPr>
          <p:cNvGraphicFramePr/>
          <p:nvPr/>
        </p:nvGraphicFramePr>
        <p:xfrm>
          <a:off xmlns:a="http://schemas.openxmlformats.org/drawingml/2006/main" x="514350" y="2047875"/>
          <a:ext xmlns:a="http://schemas.openxmlformats.org/drawingml/2006/main" cx="11163300" cy="3219450"/>
        </p:xfrm>
        <a:graphic xmlns:a="http://schemas.openxmlformats.org/drawingml/2006/main">
          <a:graphicData uri="http://schemas.openxmlformats.org/drawingml/2006/table">
            <a:tbl>
              <a:tblPr/>
              <a:tblGrid>
                <a:gridCol w="2667000"/>
                <a:gridCol w="8496300"/>
              </a:tblGrid>
              <a:tr h="643890">
                <a:tc>
                  <a:txBody>
                    <a:bodyPr/>
                    <a:lstStyle/>
                    <a:p>
                      <a:pPr algn="ctr"/>
                      <a:r>
                        <a:rPr sz="1875" b="1">
                          <a:solidFill>
                            <a:srgbClr val="2E7D5B"/>
                          </a:solidFill>
                          <a:latin typeface="Noto Sans JP"/>
                          <a:ea typeface="Noto Sans JP"/>
                          <a:cs typeface="Noto Sans JP"/>
                        </a:rPr>
                        <a:t>比較・評価</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確認すること</a:t>
                      </a:r>
                    </a:p>
                  </a:txBody>
                  <a:tcPr marL="91440" marR="91440" marT="45720" marB="45720" anchor="ctr">
                    <a:solidFill>
                      <a:srgbClr val="E7F2EC"/>
                    </a:solidFill>
                  </a:tcPr>
                </a:tc>
              </a:tr>
              <a:tr h="643890">
                <a:tc>
                  <a:txBody>
                    <a:bodyPr/>
                    <a:lstStyle/>
                    <a:p>
                      <a:pPr algn="ctr"/>
                      <a:r>
                        <a:rPr sz="1875" b="0">
                          <a:solidFill>
                            <a:srgbClr val="222222"/>
                          </a:solidFill>
                          <a:latin typeface="Noto Sans JP"/>
                          <a:ea typeface="Noto Sans JP"/>
                          <a:cs typeface="Noto Sans JP"/>
                        </a:rPr>
                        <a:t>同じVIME内の比較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列置換 / 各列独立生成 / コピュラ条件付き生成</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既存手法との比較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拡張なし、先行研究1・2、近傍法などの分類性能</a:t>
                      </a:r>
                    </a:p>
                  </a:txBody>
                  <a:tcPr marL="91440" marR="91440" marT="45720" marB="45720" anchor="ctr">
                    <a:solidFill>
                      <a:srgbClr val="F6F6F6"/>
                    </a:solidFill>
                  </a:tcPr>
                </a:tc>
              </a:tr>
              <a:tr h="643890">
                <a:tc>
                  <a:txBody>
                    <a:bodyPr/>
                    <a:lstStyle/>
                    <a:p>
                      <a:pPr algn="ctr"/>
                      <a:r>
                        <a:rPr sz="1875" b="0">
                          <a:solidFill>
                            <a:srgbClr val="222222"/>
                          </a:solidFill>
                          <a:latin typeface="Noto Sans JP"/>
                          <a:ea typeface="Noto Sans JP"/>
                          <a:cs typeface="Noto Sans JP"/>
                        </a:rPr>
                        <a:t>評価条件の統一</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同じ分割・利用データ・モデル規模・調整予算。</a:t>
                      </a:r>
                    </a:p>
                    <a:p>
                      <a:pPr algn="ctr"/>
                      <a:r>
                        <a:rPr sz="1875" b="0">
                          <a:solidFill>
                            <a:srgbClr val="222222"/>
                          </a:solidFill>
                          <a:latin typeface="Noto Sans JP"/>
                          <a:ea typeface="Noto Sans JP"/>
                          <a:cs typeface="Noto Sans JP"/>
                        </a:rPr>
                        <a:t>複数データとseedで差と不確実性を報告</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生成品質の評価</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依存の再現、既知の制約違反、変更量・多様性、</a:t>
                      </a:r>
                    </a:p>
                    <a:p>
                      <a:pPr algn="ctr"/>
                      <a:r>
                        <a:rPr sz="1875" b="0">
                          <a:solidFill>
                            <a:srgbClr val="222222"/>
                          </a:solidFill>
                          <a:latin typeface="Noto Sans JP"/>
                          <a:ea typeface="Noto Sans JP"/>
                          <a:cs typeface="Noto Sans JP"/>
                        </a:rPr>
                        <a:t>ラベル付き検証データでのクラス保持の代理評価</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2C7DA448-768C-4114-912E-06F21D7EFF2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E49551-4289-457B-A707-A76E22A66BC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依存を保つだけでは、クラス保持や分類性能の向上は保証されない</a:t>
            </a:r>
          </a:p>
        </p:txBody>
      </p:sp>
    </p:spTree>
    <p:extLst>
      <p:ext uri="{BB962C8B-B14F-4D97-AF65-F5344CB8AC3E}">
        <p14:creationId xmlns:p14="http://schemas.microsoft.com/office/powerpoint/2010/main" val="11763522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2026-10-09T07:43:14.3170000Z</dcterms:created>
  <dcterms:modified xsi:type="dcterms:W3CDTF">2026-10-09T07:43:14.3170000Z</dcterms:modified>
</coreProperties>
</file>