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pula/theme/theme1.xml" ContentType="application/vnd.openxmlformats-officedocument.theme+xml"/>
  <Override PartName="/ppt/copula/slideMasters/slideMaster1.xml" ContentType="application/vnd.openxmlformats-officedocument.presentationml.slideMaster+xml"/>
  <Override PartName="/ppt/copula/slideMasters/theme/theme2.xml" ContentType="application/vnd.openxmlformats-officedocument.theme+xml"/>
  <Override PartName="/ppt/copula/slideLayouts/slideLayout1.xml" ContentType="application/vnd.openxmlformats-officedocument.presentationml.slideLayout+xml"/>
  <Override PartName="/ppt/copula/notesMasters/notesMaster1.xml" ContentType="application/vnd.openxmlformats-officedocument.presentationml.notesMaster+xml"/>
  <Override PartName="/ppt/copula/notesMasters/theme/theme3.xml" ContentType="application/vnd.openxmlformats-officedocument.theme+xml"/>
  <Override PartName="/ppt/copula/presProps.xml" ContentType="application/vnd.openxmlformats-officedocument.presentationml.presProps+xml"/>
  <Override PartName="/ppt/copula/tableStyles.xml" ContentType="application/vnd.openxmlformats-officedocument.presentationml.tableStyles+xml"/>
  <Override PartName="/ppt/slides/slide101.xml" ContentType="application/vnd.openxmlformats-officedocument.presentationml.slide+xml"/>
  <Override PartName="/ppt/copula/notesSlides/notesSlide1.xml" ContentType="application/vnd.openxmlformats-officedocument.presentationml.notesSlide+xml"/>
  <Override PartName="/ppt/slides/slide102.xml" ContentType="application/vnd.openxmlformats-officedocument.presentationml.slide+xml"/>
  <Override PartName="/ppt/copula/notesSlides/notesSlide2.xml" ContentType="application/vnd.openxmlformats-officedocument.presentationml.notesSlide+xml"/>
  <Override PartName="/ppt/slides/slide103.xml" ContentType="application/vnd.openxmlformats-officedocument.presentationml.slide+xml"/>
  <Override PartName="/ppt/copula/notesSlides/notesSlide3.xml" ContentType="application/vnd.openxmlformats-officedocument.presentationml.notesSlide+xml"/>
  <Override PartName="/ppt/slides/slide104.xml" ContentType="application/vnd.openxmlformats-officedocument.presentationml.slide+xml"/>
  <Override PartName="/ppt/copula/notesSlides/notesSlide4.xml" ContentType="application/vnd.openxmlformats-officedocument.presentationml.notesSlide+xml"/>
  <Override PartName="/ppt/slides/slide105.xml" ContentType="application/vnd.openxmlformats-officedocument.presentationml.slide+xml"/>
  <Override PartName="/ppt/copula/notesSlides/notesSlide5.xml" ContentType="application/vnd.openxmlformats-officedocument.presentationml.notesSlide+xml"/>
  <Override PartName="/ppt/slides/slide106.xml" ContentType="application/vnd.openxmlformats-officedocument.presentationml.slide+xml"/>
  <Override PartName="/ppt/copula/notesSlides/notesSlide6.xml" ContentType="application/vnd.openxmlformats-officedocument.presentationml.notesSlide+xml"/>
  <Override PartName="/ppt/slides/slide107.xml" ContentType="application/vnd.openxmlformats-officedocument.presentationml.slide+xml"/>
  <Override PartName="/ppt/copula/slides/charts/chart1.xml" ContentType="application/vnd.openxmlformats-officedocument.drawingml.chart+xml"/>
  <Override PartName="/ppt/copula/notesSlides/notesSlide7.xml" ContentType="application/vnd.openxmlformats-officedocument.presentationml.notesSlide+xml"/>
  <Override PartName="/ppt/slides/slide108.xml" ContentType="application/vnd.openxmlformats-officedocument.presentationml.slide+xml"/>
  <Override PartName="/ppt/copula/notesSlides/notesSlide8.xml" ContentType="application/vnd.openxmlformats-officedocument.presentationml.notesSlide+xml"/>
  <Override PartName="/ppt/slides/slide109.xml" ContentType="application/vnd.openxmlformats-officedocument.presentationml.slide+xml"/>
  <Override PartName="/ppt/copula/notesSlides/notesSlide9.xml" ContentType="application/vnd.openxmlformats-officedocument.presentationml.notesSlide+xml"/>
  <Override PartName="/ppt/slides/slide110.xml" ContentType="application/vnd.openxmlformats-officedocument.presentationml.slide+xml"/>
  <Override PartName="/ppt/copula/notesSlides/notesSlide10.xml" ContentType="application/vnd.openxmlformats-officedocument.presentationml.notesSlide+xml"/>
  <Override PartName="/ppt/slides/slide111.xml" ContentType="application/vnd.openxmlformats-officedocument.presentationml.slide+xml"/>
  <Override PartName="/ppt/copula/slides/charts/chart2.xml" ContentType="application/vnd.openxmlformats-officedocument.drawingml.chart+xml"/>
  <Override PartName="/ppt/copula/notesSlides/notesSlide11.xml" ContentType="application/vnd.openxmlformats-officedocument.presentationml.notesSlide+xml"/>
  <Override PartName="/ppt/slides/slide112.xml" ContentType="application/vnd.openxmlformats-officedocument.presentationml.slide+xml"/>
  <Override PartName="/ppt/copula/notesSlides/notesSlide12.xml" ContentType="application/vnd.openxmlformats-officedocument.presentationml.notesSlide+xml"/>
  <Override PartName="/ppt/slides/slide113.xml" ContentType="application/vnd.openxmlformats-officedocument.presentationml.slide+xml"/>
  <Override PartName="/ppt/copula/notesSlides/notesSlide13.xml" ContentType="application/vnd.openxmlformats-officedocument.presentationml.notesSlide+xml"/>
  <Override PartName="/ppt/slides/slide114.xml" ContentType="application/vnd.openxmlformats-officedocument.presentationml.slide+xml"/>
  <Override PartName="/ppt/copula/notesSlides/notesSlide14.xml" ContentType="application/vnd.openxmlformats-officedocument.presentationml.notesSlide+xml"/>
  <Override PartName="/ppt/slides/slide115.xml" ContentType="application/vnd.openxmlformats-officedocument.presentationml.slide+xml"/>
  <Override PartName="/ppt/copula/notesSlides/notesSlide15.xml" ContentType="application/vnd.openxmlformats-officedocument.presentationml.notesSlide+xml"/>
  <Override PartName="/ppt/slides/slide116.xml" ContentType="application/vnd.openxmlformats-officedocument.presentationml.slide+xml"/>
  <Override PartName="/ppt/copula/notesSlides/notesSlide16.xml" ContentType="application/vnd.openxmlformats-officedocument.presentationml.notesSlide+xml"/>
  <Override PartName="/ppt/slides/slide117.xml" ContentType="application/vnd.openxmlformats-officedocument.presentationml.slide+xml"/>
  <Override PartName="/ppt/copula/notesSlides/notesSlide17.xml" ContentType="application/vnd.openxmlformats-officedocument.presentationml.notesSlide+xml"/>
  <Override PartName="/ppt/slides/slide118.xml" ContentType="application/vnd.openxmlformats-officedocument.presentationml.slide+xml"/>
  <Override PartName="/ppt/copula/notesSlides/notesSlide18.xml" ContentType="application/vnd.openxmlformats-officedocument.presentationml.notesSlide+xml"/>
  <Override PartName="/ppt/slides/slide119.xml" ContentType="application/vnd.openxmlformats-officedocument.presentationml.slide+xml"/>
  <Override PartName="/ppt/copula/notesSlides/notesSlide19.xml" ContentType="application/vnd.openxmlformats-officedocument.presentationml.notesSlide+xml"/>
  <Override PartName="/ppt/slides/slide120.xml" ContentType="application/vnd.openxmlformats-officedocument.presentationml.slide+xml"/>
  <Override PartName="/ppt/copula/notesSlides/notesSlide20.xml" ContentType="application/vnd.openxmlformats-officedocument.presentationml.notesSlide+xml"/>
  <Override PartName="/ppt/slides/slide121.xml" ContentType="application/vnd.openxmlformats-officedocument.presentationml.slide+xml"/>
  <Override PartName="/ppt/copula/notesSlides/notesSlide21.xml" ContentType="application/vnd.openxmlformats-officedocument.presentationml.notesSlide+xml"/>
  <Override PartName="/ppt/slides/slide122.xml" ContentType="application/vnd.openxmlformats-officedocument.presentationml.slide+xml"/>
  <Override PartName="/ppt/copula/notesSlides/notesSlide22.xml" ContentType="application/vnd.openxmlformats-officedocument.presentationml.notesSlide+xml"/>
  <Override PartName="/ppt/slides/slide123.xml" ContentType="application/vnd.openxmlformats-officedocument.presentationml.slide+xml"/>
  <Override PartName="/ppt/copula/notesSlides/notesSlide23.xml" ContentType="application/vnd.openxmlformats-officedocument.presentationml.notesSlide+xml"/>
  <Override PartName="/ppt/slides/slide124.xml" ContentType="application/vnd.openxmlformats-officedocument.presentationml.slide+xml"/>
  <Override PartName="/ppt/copula/notesSlides/notesSlide24.xml" ContentType="application/vnd.openxmlformats-officedocument.presentationml.notesSlide+xml"/>
  <Override PartName="/ppt/slides/slide125.xml" ContentType="application/vnd.openxmlformats-officedocument.presentationml.slide+xml"/>
  <Override PartName="/ppt/copula/notesSlides/notesSlide25.xml" ContentType="application/vnd.openxmlformats-officedocument.presentationml.notesSlide+xml"/>
  <Override PartName="/ppt/slides/slide126.xml" ContentType="application/vnd.openxmlformats-officedocument.presentationml.slide+xml"/>
  <Override PartName="/ppt/copula/notesSlides/notesSlide26.xml" ContentType="application/vnd.openxmlformats-officedocument.presentationml.notesSlide+xml"/>
  <Override PartName="/ppt/slides/slide127.xml" ContentType="application/vnd.openxmlformats-officedocument.presentationml.slide+xml"/>
  <Override PartName="/ppt/copula/notesSlides/notesSlide27.xml" ContentType="application/vnd.openxmlformats-officedocument.presentationml.notesSlide+xml"/>
  <Override PartName="/ppt/slides/slide128.xml" ContentType="application/vnd.openxmlformats-officedocument.presentationml.slide+xml"/>
  <Override PartName="/ppt/copula/notesSlides/notesSlide28.xml" ContentType="application/vnd.openxmlformats-officedocument.presentationml.notesSlide+xml"/>
  <Override PartName="/ppt/slides/slide129.xml" ContentType="application/vnd.openxmlformats-officedocument.presentationml.slide+xml"/>
  <Override PartName="/ppt/copula/notesSlides/notesSlide29.xml" ContentType="application/vnd.openxmlformats-officedocument.presentationml.notesSlide+xml"/>
  <Override PartName="/ppt/slides/slide130.xml" ContentType="application/vnd.openxmlformats-officedocument.presentationml.slide+xml"/>
  <Override PartName="/ppt/copula/notesSlides/notesSlide30.xml" ContentType="application/vnd.openxmlformats-officedocument.presentationml.notesSlide+xml"/>
  <Override PartName="/ppt/slides/slide131.xml" ContentType="application/vnd.openxmlformats-officedocument.presentationml.slide+xml"/>
  <Override PartName="/ppt/copula/notesSlides/notesSlide31.xml" ContentType="application/vnd.openxmlformats-officedocument.presentationml.notesSlide+xml"/>
  <Override PartName="/ppt/slides/slide132.xml" ContentType="application/vnd.openxmlformats-officedocument.presentationml.slide+xml"/>
  <Override PartName="/ppt/copula/slides/charts/chart3.xml" ContentType="application/vnd.openxmlformats-officedocument.drawingml.chart+xml"/>
  <Override PartName="/ppt/copula/slides/charts/chart4.xml" ContentType="application/vnd.openxmlformats-officedocument.drawingml.chart+xml"/>
  <Override PartName="/ppt/copula/slides/charts/chart5.xml" ContentType="application/vnd.openxmlformats-officedocument.drawingml.chart+xml"/>
  <Override PartName="/ppt/copula/notesSlides/notesSlide32.xml" ContentType="application/vnd.openxmlformats-officedocument.presentationml.notesSlide+xml"/>
  <Override PartName="/ppt/slides/slide133.xml" ContentType="application/vnd.openxmlformats-officedocument.presentationml.slide+xml"/>
  <Override PartName="/ppt/copula/notesSlides/notesSlide33.xml" ContentType="application/vnd.openxmlformats-officedocument.presentationml.notesSlide+xml"/>
  <Override PartName="/ppt/slides/slide134.xml" ContentType="application/vnd.openxmlformats-officedocument.presentationml.slide+xml"/>
  <Override PartName="/ppt/copula/notesSlides/notesSlide34.xml" ContentType="application/vnd.openxmlformats-officedocument.presentationml.notesSlide+xml"/>
  <Override PartName="/ppt/slides/slide135.xml" ContentType="application/vnd.openxmlformats-officedocument.presentationml.slide+xml"/>
  <Override PartName="/ppt/copula/notesSlides/notesSlide35.xml" ContentType="application/vnd.openxmlformats-officedocument.presentationml.notesSlide+xml"/>
  <Override PartName="/ppt/slides/slide136.xml" ContentType="application/vnd.openxmlformats-officedocument.presentationml.slide+xml"/>
  <Override PartName="/ppt/copula/notesSlides/notesSlide36.xml" ContentType="application/vnd.openxmlformats-officedocument.presentationml.notesSlide+xml"/>
  <Override PartName="/ppt/slides/slide137.xml" ContentType="application/vnd.openxmlformats-officedocument.presentationml.slide+xml"/>
  <Override PartName="/ppt/copula/notesSlides/notesSlide37.xml" ContentType="application/vnd.openxmlformats-officedocument.presentationml.notesSlide+xml"/>
  <Override PartName="/ppt/slides/slide138.xml" ContentType="application/vnd.openxmlformats-officedocument.presentationml.slide+xml"/>
  <Override PartName="/ppt/copula/notesSlides/notesSlide38.xml" ContentType="application/vnd.openxmlformats-officedocument.presentationml.notesSlide+xml"/>
  <Override PartName="/ppt/slides/slide139.xml" ContentType="application/vnd.openxmlformats-officedocument.presentationml.slide+xml"/>
  <Override PartName="/ppt/copula/notesSlides/notesSlide39.xml" ContentType="application/vnd.openxmlformats-officedocument.presentationml.notesSlide+xml"/>
  <Override PartName="/ppt/slides/slide140.xml" ContentType="application/vnd.openxmlformats-officedocument.presentationml.slide+xml"/>
  <Override PartName="/ppt/copula/notesSlides/notesSlide40.xml" ContentType="application/vnd.openxmlformats-officedocument.presentationml.notesSlide+xml"/>
  <Override PartName="/ppt/slides/slide141.xml" ContentType="application/vnd.openxmlformats-officedocument.presentationml.slide+xml"/>
  <Override PartName="/ppt/copula/notesSlides/notesSlide41.xml" ContentType="application/vnd.openxmlformats-officedocument.presentationml.notesSlide+xml"/>
  <Override PartName="/ppt/slides/slide142.xml" ContentType="application/vnd.openxmlformats-officedocument.presentationml.slide+xml"/>
  <Override PartName="/ppt/copula/notesSlides/notesSlide42.xml" ContentType="application/vnd.openxmlformats-officedocument.presentationml.notesSlide+xml"/>
  <Override PartName="/ppt/slides/slide143.xml" ContentType="application/vnd.openxmlformats-officedocument.presentationml.slide+xml"/>
  <Override PartName="/ppt/copula/notesSlides/notesSlide43.xml" ContentType="application/vnd.openxmlformats-officedocument.presentationml.notesSlide+xml"/>
  <Override PartName="/ppt/slides/slide144.xml" ContentType="application/vnd.openxmlformats-officedocument.presentationml.slide+xml"/>
  <Override PartName="/ppt/copula/notesSlides/notesSlide44.xml" ContentType="application/vnd.openxmlformats-officedocument.presentationml.notesSlide+xml"/>
  <Override PartName="/ppt/slides/slide145.xml" ContentType="application/vnd.openxmlformats-officedocument.presentationml.slide+xml"/>
  <Override PartName="/ppt/copula/notesSlides/notesSlide45.xml" ContentType="application/vnd.openxmlformats-officedocument.presentationml.notesSlide+xml"/>
  <Override PartName="/ppt/slides/slide146.xml" ContentType="application/vnd.openxmlformats-officedocument.presentationml.slide+xml"/>
  <Override PartName="/ppt/copula/notesSlides/notesSlide46.xml" ContentType="application/vnd.openxmlformats-officedocument.presentationml.notesSlide+xml"/>
  <Override PartName="/ppt/slides/slide147.xml" ContentType="application/vnd.openxmlformats-officedocument.presentationml.slide+xml"/>
  <Override PartName="/ppt/copula/notesSlides/notesSlide47.xml" ContentType="application/vnd.openxmlformats-officedocument.presentationml.notesSlide+xml"/>
  <Override PartName="/ppt/slides/slide148.xml" ContentType="application/vnd.openxmlformats-officedocument.presentationml.slide+xml"/>
  <Override PartName="/ppt/copula/notesSlides/notesSlide48.xml" ContentType="application/vnd.openxmlformats-officedocument.presentationml.notesSlide+xml"/>
  <Override PartName="/ppt/slides/slide149.xml" ContentType="application/vnd.openxmlformats-officedocument.presentationml.slide+xml"/>
  <Override PartName="/ppt/copula/notesSlides/notesSlide49.xml" ContentType="application/vnd.openxmlformats-officedocument.presentationml.notesSlide+xml"/>
  <Override PartName="/ppt/slides/slide150.xml" ContentType="application/vnd.openxmlformats-officedocument.presentationml.slide+xml"/>
  <Override PartName="/ppt/copula/notesSlides/notesSlide50.xml" ContentType="application/vnd.openxmlformats-officedocument.presentationml.notesSlide+xml"/>
  <Override PartName="/ppt/slides/slide151.xml" ContentType="application/vnd.openxmlformats-officedocument.presentationml.slide+xml"/>
  <Override PartName="/ppt/copula/notesSlides/notesSlide51.xml" ContentType="application/vnd.openxmlformats-officedocument.presentationml.notesSlide+xml"/>
  <Override PartName="/ppt/slides/slide152.xml" ContentType="application/vnd.openxmlformats-officedocument.presentationml.slide+xml"/>
  <Override PartName="/ppt/copula/notesSlides/notesSlide52.xml" ContentType="application/vnd.openxmlformats-officedocument.presentationml.notesSlide+xml"/>
  <Override PartName="/ppt/slides/slide153.xml" ContentType="application/vnd.openxmlformats-officedocument.presentationml.slide+xml"/>
  <Override PartName="/ppt/copula/notesSlides/notesSlide53.xml" ContentType="application/vnd.openxmlformats-officedocument.presentationml.notesSlide+xml"/>
  <Override PartName="/ppt/slides/slide154.xml" ContentType="application/vnd.openxmlformats-officedocument.presentationml.slide+xml"/>
  <Override PartName="/ppt/copula/notesSlides/notesSlide54.xml" ContentType="application/vnd.openxmlformats-officedocument.presentationml.notesSlide+xml"/>
  <Override PartName="/ppt/slides/slide155.xml" ContentType="application/vnd.openxmlformats-officedocument.presentationml.slide+xml"/>
  <Override PartName="/ppt/copula/notesSlides/notesSlide55.xml" ContentType="application/vnd.openxmlformats-officedocument.presentationml.notesSlide+xml"/>
  <Override PartName="/ppt/slides/slide156.xml" ContentType="application/vnd.openxmlformats-officedocument.presentationml.slide+xml"/>
  <Override PartName="/ppt/copula/notesSlides/notesSlide56.xml" ContentType="application/vnd.openxmlformats-officedocument.presentationml.notesSlide+xml"/>
  <Override PartName="/ppt/slides/slide157.xml" ContentType="application/vnd.openxmlformats-officedocument.presentationml.slide+xml"/>
  <Override PartName="/ppt/copula/notesSlides/notesSlide57.xml" ContentType="application/vnd.openxmlformats-officedocument.presentationml.notesSlide+xml"/>
  <Override PartName="/ppt/slides/slide158.xml" ContentType="application/vnd.openxmlformats-officedocument.presentationml.slide+xml"/>
  <Override PartName="/ppt/copula/notesSlides/notesSlide58.xml" ContentType="application/vnd.openxmlformats-officedocument.presentationml.notesSlide+xml"/>
  <Override PartName="/ppt/slides/slide159.xml" ContentType="application/vnd.openxmlformats-officedocument.presentationml.slide+xml"/>
  <Override PartName="/ppt/copula/notesSlides/notesSlide59.xml" ContentType="application/vnd.openxmlformats-officedocument.presentationml.notesSlide+xml"/>
  <Override PartName="/ppt/slides/slide160.xml" ContentType="application/vnd.openxmlformats-officedocument.presentationml.slide+xml"/>
  <Override PartName="/ppt/copula/notesSlides/notesSlide60.xml" ContentType="application/vnd.openxmlformats-officedocument.presentationml.notesSlide+xml"/>
  <Override PartName="/ppt/slides/slide161.xml" ContentType="application/vnd.openxmlformats-officedocument.presentationml.slide+xml"/>
  <Override PartName="/ppt/copula/notesSlides/notesSlide61.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5000" r:id="rIdCopula2"/>
  </p:sldMasterIdLst>
  <p:notesMasterIdLst>
    <p:notesMasterId r:id="rId23"/>
    <p:notesMasterId r:id="rIdCopula3"/>
  </p:notesMasterIdLst>
  <p:sldIdLst>
    <p:sldId id="256" r:id="rId2"/>
    <p:sldId id="257" r:id="rId3"/>
    <p:sldId id="296" r:id="rId4"/>
    <p:sldId id="315" r:id="rId5"/>
    <p:sldId id="1000" r:id="rIdCopula6"/>
    <p:sldId id="1001" r:id="rIdCopula7"/>
    <p:sldId id="1002" r:id="rIdCopula8"/>
    <p:sldId id="1003" r:id="rIdCopula9"/>
    <p:sldId id="1004" r:id="rIdCopula10"/>
    <p:sldId id="1005" r:id="rIdCopula11"/>
    <p:sldId id="1006" r:id="rIdCopula12"/>
    <p:sldId id="1007" r:id="rIdCopula13"/>
    <p:sldId id="1008" r:id="rIdCopula14"/>
    <p:sldId id="1009" r:id="rIdCopula15"/>
    <p:sldId id="1010" r:id="rIdCopula16"/>
    <p:sldId id="1011" r:id="rIdCopula17"/>
    <p:sldId id="1012" r:id="rIdCopula18"/>
    <p:sldId id="1013" r:id="rIdCopula19"/>
    <p:sldId id="1014" r:id="rIdCopula20"/>
    <p:sldId id="1015" r:id="rIdCopula21"/>
    <p:sldId id="1016" r:id="rIdCopula22"/>
    <p:sldId id="1017" r:id="rIdCopula23"/>
    <p:sldId id="1018" r:id="rIdCopula24"/>
    <p:sldId id="1019" r:id="rIdCopula25"/>
    <p:sldId id="1020" r:id="rIdCopula26"/>
    <p:sldId id="1021" r:id="rIdCopula27"/>
    <p:sldId id="1022" r:id="rIdCopula28"/>
    <p:sldId id="1023" r:id="rIdCopula29"/>
    <p:sldId id="1024" r:id="rIdCopula30"/>
    <p:sldId id="1025" r:id="rIdCopula31"/>
    <p:sldId id="1026" r:id="rIdCopula32"/>
    <p:sldId id="1027" r:id="rIdCopula33"/>
    <p:sldId id="1028" r:id="rIdCopula34"/>
    <p:sldId id="1029" r:id="rIdCopula35"/>
    <p:sldId id="1030" r:id="rIdCopula36"/>
    <p:sldId id="1031" r:id="rIdCopula37"/>
    <p:sldId id="1032" r:id="rIdCopula38"/>
    <p:sldId id="1033" r:id="rIdCopula39"/>
    <p:sldId id="1034" r:id="rIdCopula40"/>
    <p:sldId id="1035" r:id="rIdCopula41"/>
    <p:sldId id="1036" r:id="rIdCopula42"/>
    <p:sldId id="1037" r:id="rIdCopula43"/>
    <p:sldId id="1038" r:id="rIdCopula44"/>
    <p:sldId id="1039" r:id="rIdCopula45"/>
    <p:sldId id="1040" r:id="rIdCopula46"/>
    <p:sldId id="1041" r:id="rIdCopula47"/>
    <p:sldId id="1042" r:id="rIdCopula48"/>
    <p:sldId id="1043" r:id="rIdCopula49"/>
    <p:sldId id="1044" r:id="rIdCopula50"/>
    <p:sldId id="1045" r:id="rIdCopula51"/>
    <p:sldId id="1046" r:id="rIdCopula52"/>
    <p:sldId id="1047" r:id="rIdCopula53"/>
    <p:sldId id="1048" r:id="rIdCopula54"/>
    <p:sldId id="1049" r:id="rIdCopula55"/>
    <p:sldId id="1050" r:id="rIdCopula56"/>
    <p:sldId id="1051" r:id="rIdCopula57"/>
    <p:sldId id="1052" r:id="rIdCopula58"/>
    <p:sldId id="1053" r:id="rIdCopula59"/>
    <p:sldId id="1054" r:id="rIdCopula60"/>
    <p:sldId id="1055" r:id="rIdCopula61"/>
    <p:sldId id="1056" r:id="rIdCopula62"/>
    <p:sldId id="1057" r:id="rIdCopula63"/>
    <p:sldId id="1058" r:id="rIdCopula64"/>
    <p:sldId id="1059" r:id="rIdCopula65"/>
    <p:sldId id="1060" r:id="rIdCopula6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24" Type="http://schemas.openxmlformats.org/officeDocument/2006/relationships/presProps" Target="presProps.xml"/><Relationship Id="rId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4" Type="http://schemas.openxmlformats.org/officeDocument/2006/relationships/slide" Target="slides/slide3.xml"/><Relationship Id="rId27" Type="http://schemas.openxmlformats.org/officeDocument/2006/relationships/tableStyles" Target="tableStyles.xml"/><Relationship Id="rIdCopula1" Type="http://schemas.openxmlformats.org/officeDocument/2006/relationships/theme" Target="copula/theme/theme1.xml"/><Relationship Id="rIdCopula2" Type="http://schemas.openxmlformats.org/officeDocument/2006/relationships/slideMaster" Target="copula/slideMasters/slideMaster1.xml"/><Relationship Id="rIdCopula3" Type="http://schemas.openxmlformats.org/officeDocument/2006/relationships/notesMaster" Target="copula/notesMasters/notesMaster1.xml"/><Relationship Id="rIdCopula4" Type="http://schemas.openxmlformats.org/officeDocument/2006/relationships/presProps" Target="copula/presProps.xml"/><Relationship Id="rIdCopula5" Type="http://schemas.openxmlformats.org/officeDocument/2006/relationships/tableStyles" Target="copula/tableStyles.xml"/><Relationship Id="rIdCopula6" Type="http://schemas.openxmlformats.org/officeDocument/2006/relationships/slide" Target="slides/slide101.xml"/><Relationship Id="rIdCopula7" Type="http://schemas.openxmlformats.org/officeDocument/2006/relationships/slide" Target="slides/slide102.xml"/><Relationship Id="rIdCopula8" Type="http://schemas.openxmlformats.org/officeDocument/2006/relationships/slide" Target="slides/slide103.xml"/><Relationship Id="rIdCopula9" Type="http://schemas.openxmlformats.org/officeDocument/2006/relationships/slide" Target="slides/slide104.xml"/><Relationship Id="rIdCopula10" Type="http://schemas.openxmlformats.org/officeDocument/2006/relationships/slide" Target="slides/slide105.xml"/><Relationship Id="rIdCopula11" Type="http://schemas.openxmlformats.org/officeDocument/2006/relationships/slide" Target="slides/slide106.xml"/><Relationship Id="rIdCopula12" Type="http://schemas.openxmlformats.org/officeDocument/2006/relationships/slide" Target="slides/slide107.xml"/><Relationship Id="rIdCopula13" Type="http://schemas.openxmlformats.org/officeDocument/2006/relationships/slide" Target="slides/slide108.xml"/><Relationship Id="rIdCopula14" Type="http://schemas.openxmlformats.org/officeDocument/2006/relationships/slide" Target="slides/slide109.xml"/><Relationship Id="rIdCopula15" Type="http://schemas.openxmlformats.org/officeDocument/2006/relationships/slide" Target="slides/slide110.xml"/><Relationship Id="rIdCopula16" Type="http://schemas.openxmlformats.org/officeDocument/2006/relationships/slide" Target="slides/slide111.xml"/><Relationship Id="rIdCopula17" Type="http://schemas.openxmlformats.org/officeDocument/2006/relationships/slide" Target="slides/slide112.xml"/><Relationship Id="rIdCopula18" Type="http://schemas.openxmlformats.org/officeDocument/2006/relationships/slide" Target="slides/slide113.xml"/><Relationship Id="rIdCopula19" Type="http://schemas.openxmlformats.org/officeDocument/2006/relationships/slide" Target="slides/slide114.xml"/><Relationship Id="rIdCopula20" Type="http://schemas.openxmlformats.org/officeDocument/2006/relationships/slide" Target="slides/slide115.xml"/><Relationship Id="rIdCopula21" Type="http://schemas.openxmlformats.org/officeDocument/2006/relationships/slide" Target="slides/slide116.xml"/><Relationship Id="rIdCopula22" Type="http://schemas.openxmlformats.org/officeDocument/2006/relationships/slide" Target="slides/slide117.xml"/><Relationship Id="rIdCopula23" Type="http://schemas.openxmlformats.org/officeDocument/2006/relationships/slide" Target="slides/slide118.xml"/><Relationship Id="rIdCopula24" Type="http://schemas.openxmlformats.org/officeDocument/2006/relationships/slide" Target="slides/slide119.xml"/><Relationship Id="rIdCopula25" Type="http://schemas.openxmlformats.org/officeDocument/2006/relationships/slide" Target="slides/slide120.xml"/><Relationship Id="rIdCopula26" Type="http://schemas.openxmlformats.org/officeDocument/2006/relationships/slide" Target="slides/slide121.xml"/><Relationship Id="rIdCopula27" Type="http://schemas.openxmlformats.org/officeDocument/2006/relationships/slide" Target="slides/slide122.xml"/><Relationship Id="rIdCopula28" Type="http://schemas.openxmlformats.org/officeDocument/2006/relationships/slide" Target="slides/slide123.xml"/><Relationship Id="rIdCopula29" Type="http://schemas.openxmlformats.org/officeDocument/2006/relationships/slide" Target="slides/slide124.xml"/><Relationship Id="rIdCopula30" Type="http://schemas.openxmlformats.org/officeDocument/2006/relationships/slide" Target="slides/slide125.xml"/><Relationship Id="rIdCopula31" Type="http://schemas.openxmlformats.org/officeDocument/2006/relationships/slide" Target="slides/slide126.xml"/><Relationship Id="rIdCopula32" Type="http://schemas.openxmlformats.org/officeDocument/2006/relationships/slide" Target="slides/slide127.xml"/><Relationship Id="rIdCopula33" Type="http://schemas.openxmlformats.org/officeDocument/2006/relationships/slide" Target="slides/slide128.xml"/><Relationship Id="rIdCopula34" Type="http://schemas.openxmlformats.org/officeDocument/2006/relationships/slide" Target="slides/slide129.xml"/><Relationship Id="rIdCopula35" Type="http://schemas.openxmlformats.org/officeDocument/2006/relationships/slide" Target="slides/slide130.xml"/><Relationship Id="rIdCopula36" Type="http://schemas.openxmlformats.org/officeDocument/2006/relationships/slide" Target="slides/slide131.xml"/><Relationship Id="rIdCopula37" Type="http://schemas.openxmlformats.org/officeDocument/2006/relationships/slide" Target="slides/slide132.xml"/><Relationship Id="rIdCopula38" Type="http://schemas.openxmlformats.org/officeDocument/2006/relationships/slide" Target="slides/slide133.xml"/><Relationship Id="rIdCopula39" Type="http://schemas.openxmlformats.org/officeDocument/2006/relationships/slide" Target="slides/slide134.xml"/><Relationship Id="rIdCopula40" Type="http://schemas.openxmlformats.org/officeDocument/2006/relationships/slide" Target="slides/slide135.xml"/><Relationship Id="rIdCopula41" Type="http://schemas.openxmlformats.org/officeDocument/2006/relationships/slide" Target="slides/slide136.xml"/><Relationship Id="rIdCopula42" Type="http://schemas.openxmlformats.org/officeDocument/2006/relationships/slide" Target="slides/slide137.xml"/><Relationship Id="rIdCopula43" Type="http://schemas.openxmlformats.org/officeDocument/2006/relationships/slide" Target="slides/slide138.xml"/><Relationship Id="rIdCopula44" Type="http://schemas.openxmlformats.org/officeDocument/2006/relationships/slide" Target="slides/slide139.xml"/><Relationship Id="rIdCopula45" Type="http://schemas.openxmlformats.org/officeDocument/2006/relationships/slide" Target="slides/slide140.xml"/><Relationship Id="rIdCopula46" Type="http://schemas.openxmlformats.org/officeDocument/2006/relationships/slide" Target="slides/slide141.xml"/><Relationship Id="rIdCopula47" Type="http://schemas.openxmlformats.org/officeDocument/2006/relationships/slide" Target="slides/slide142.xml"/><Relationship Id="rIdCopula48" Type="http://schemas.openxmlformats.org/officeDocument/2006/relationships/slide" Target="slides/slide143.xml"/><Relationship Id="rIdCopula49" Type="http://schemas.openxmlformats.org/officeDocument/2006/relationships/slide" Target="slides/slide144.xml"/><Relationship Id="rIdCopula50" Type="http://schemas.openxmlformats.org/officeDocument/2006/relationships/slide" Target="slides/slide145.xml"/><Relationship Id="rIdCopula51" Type="http://schemas.openxmlformats.org/officeDocument/2006/relationships/slide" Target="slides/slide146.xml"/><Relationship Id="rIdCopula52" Type="http://schemas.openxmlformats.org/officeDocument/2006/relationships/slide" Target="slides/slide147.xml"/><Relationship Id="rIdCopula53" Type="http://schemas.openxmlformats.org/officeDocument/2006/relationships/slide" Target="slides/slide148.xml"/><Relationship Id="rIdCopula54" Type="http://schemas.openxmlformats.org/officeDocument/2006/relationships/slide" Target="slides/slide149.xml"/><Relationship Id="rIdCopula55" Type="http://schemas.openxmlformats.org/officeDocument/2006/relationships/slide" Target="slides/slide150.xml"/><Relationship Id="rIdCopula56" Type="http://schemas.openxmlformats.org/officeDocument/2006/relationships/slide" Target="slides/slide151.xml"/><Relationship Id="rIdCopula57" Type="http://schemas.openxmlformats.org/officeDocument/2006/relationships/slide" Target="slides/slide152.xml"/><Relationship Id="rIdCopula58" Type="http://schemas.openxmlformats.org/officeDocument/2006/relationships/slide" Target="slides/slide153.xml"/><Relationship Id="rIdCopula59" Type="http://schemas.openxmlformats.org/officeDocument/2006/relationships/slide" Target="slides/slide154.xml"/><Relationship Id="rIdCopula60" Type="http://schemas.openxmlformats.org/officeDocument/2006/relationships/slide" Target="slides/slide155.xml"/><Relationship Id="rIdCopula61" Type="http://schemas.openxmlformats.org/officeDocument/2006/relationships/slide" Target="slides/slide156.xml"/><Relationship Id="rIdCopula62" Type="http://schemas.openxmlformats.org/officeDocument/2006/relationships/slide" Target="slides/slide157.xml"/><Relationship Id="rIdCopula63" Type="http://schemas.openxmlformats.org/officeDocument/2006/relationships/slide" Target="slides/slide158.xml"/><Relationship Id="rIdCopula64" Type="http://schemas.openxmlformats.org/officeDocument/2006/relationships/slide" Target="slides/slide159.xml"/><Relationship Id="rIdCopula65" Type="http://schemas.openxmlformats.org/officeDocument/2006/relationships/slide" Target="slides/slide160.xml"/><Relationship Id="rIdCopula66" Type="http://schemas.openxmlformats.org/officeDocument/2006/relationships/slide" Target="slides/slide1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copula/notesMasters/_rels/notesMaster1.xml.rels><?xml version='1.0' encoding='UTF-8' standalone='yes'?>
<Relationships xmlns="http://schemas.openxmlformats.org/package/2006/relationships"><Relationship Type="http://schemas.openxmlformats.org/officeDocument/2006/relationships/theme" Target="theme/theme3.xml" Id="R956e898dfed04098"/></Relationships>
</file>

<file path=ppt/copul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copul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notesSlides/_rels/notesSlide1.xml.rels><?xml version='1.0' encoding='UTF-8' standalone='yes'?>
<Relationships xmlns="http://schemas.openxmlformats.org/package/2006/relationships"><Relationship Type="http://schemas.openxmlformats.org/officeDocument/2006/relationships/slide" Target="../../slides/slide101.xml" Id="R28a5f2e181a445ec"/><Relationship Type="http://schemas.openxmlformats.org/officeDocument/2006/relationships/notesMaster" Target="../notesMasters/notesMaster1.xml" Id="Rce5c736d27574682"/></Relationships>
</file>

<file path=ppt/copula/notesSlides/_rels/notesSlide2.xml.rels><?xml version='1.0' encoding='UTF-8' standalone='yes'?>
<Relationships xmlns="http://schemas.openxmlformats.org/package/2006/relationships"><Relationship Type="http://schemas.openxmlformats.org/officeDocument/2006/relationships/slide" Target="../../slides/slide102.xml" Id="R837c2f03515942e3"/><Relationship Type="http://schemas.openxmlformats.org/officeDocument/2006/relationships/notesMaster" Target="../notesMasters/notesMaster1.xml" Id="R58cda9cbcea84635"/></Relationships>
</file>

<file path=ppt/copula/notesSlides/_rels/notesSlide3.xml.rels><?xml version='1.0' encoding='UTF-8' standalone='yes'?>
<Relationships xmlns="http://schemas.openxmlformats.org/package/2006/relationships"><Relationship Type="http://schemas.openxmlformats.org/officeDocument/2006/relationships/slide" Target="../../slides/slide103.xml" Id="Rc347f32c853043d9"/><Relationship Type="http://schemas.openxmlformats.org/officeDocument/2006/relationships/notesMaster" Target="../notesMasters/notesMaster1.xml" Id="R847f734848504633"/></Relationships>
</file>

<file path=ppt/copula/notesSlides/_rels/notesSlide4.xml.rels><?xml version='1.0' encoding='UTF-8' standalone='yes'?>
<Relationships xmlns="http://schemas.openxmlformats.org/package/2006/relationships"><Relationship Type="http://schemas.openxmlformats.org/officeDocument/2006/relationships/slide" Target="../../slides/slide104.xml" Id="Rd25e426aa28d45cd"/><Relationship Type="http://schemas.openxmlformats.org/officeDocument/2006/relationships/notesMaster" Target="../notesMasters/notesMaster1.xml" Id="R40598b3d9bc84b81"/></Relationships>
</file>

<file path=ppt/copula/notesSlides/_rels/notesSlide5.xml.rels><?xml version='1.0' encoding='UTF-8' standalone='yes'?>
<Relationships xmlns="http://schemas.openxmlformats.org/package/2006/relationships"><Relationship Type="http://schemas.openxmlformats.org/officeDocument/2006/relationships/slide" Target="../../slides/slide105.xml" Id="Rd3db3d1d72664cdf"/><Relationship Type="http://schemas.openxmlformats.org/officeDocument/2006/relationships/notesMaster" Target="../notesMasters/notesMaster1.xml" Id="R9ac160a2536a444a"/></Relationships>
</file>

<file path=ppt/copula/notesSlides/_rels/notesSlide6.xml.rels><?xml version='1.0' encoding='UTF-8' standalone='yes'?>
<Relationships xmlns="http://schemas.openxmlformats.org/package/2006/relationships"><Relationship Type="http://schemas.openxmlformats.org/officeDocument/2006/relationships/slide" Target="../../slides/slide106.xml" Id="R2b09c0ebbfe64b6e"/><Relationship Type="http://schemas.openxmlformats.org/officeDocument/2006/relationships/notesMaster" Target="../notesMasters/notesMaster1.xml" Id="Re6228859691e450e"/></Relationships>
</file>

<file path=ppt/copula/notesSlides/_rels/notesSlide7.xml.rels><?xml version='1.0' encoding='UTF-8' standalone='yes'?>
<Relationships xmlns="http://schemas.openxmlformats.org/package/2006/relationships"><Relationship Type="http://schemas.openxmlformats.org/officeDocument/2006/relationships/slide" Target="../../slides/slide107.xml" Id="R2ef5216cbce04bed"/><Relationship Type="http://schemas.openxmlformats.org/officeDocument/2006/relationships/notesMaster" Target="../notesMasters/notesMaster1.xml" Id="R7a056cb7c397478e"/></Relationships>
</file>

<file path=ppt/copula/notesSlides/_rels/notesSlide8.xml.rels><?xml version='1.0' encoding='UTF-8' standalone='yes'?>
<Relationships xmlns="http://schemas.openxmlformats.org/package/2006/relationships"><Relationship Type="http://schemas.openxmlformats.org/officeDocument/2006/relationships/slide" Target="../../slides/slide108.xml" Id="Rcf5928d0926d445f"/><Relationship Type="http://schemas.openxmlformats.org/officeDocument/2006/relationships/notesMaster" Target="../notesMasters/notesMaster1.xml" Id="R7d30226446174fdb"/></Relationships>
</file>

<file path=ppt/copula/notesSlides/_rels/notesSlide9.xml.rels><?xml version='1.0' encoding='UTF-8' standalone='yes'?>
<Relationships xmlns="http://schemas.openxmlformats.org/package/2006/relationships"><Relationship Type="http://schemas.openxmlformats.org/officeDocument/2006/relationships/slide" Target="../../slides/slide109.xml" Id="R35d8fc70455f4022"/><Relationship Type="http://schemas.openxmlformats.org/officeDocument/2006/relationships/notesMaster" Target="../notesMasters/notesMaster1.xml" Id="R39ca373dbc7a4294"/></Relationships>
</file>

<file path=ppt/copula/notesSlides/_rels/notesSlide10.xml.rels><?xml version='1.0' encoding='UTF-8' standalone='yes'?>
<Relationships xmlns="http://schemas.openxmlformats.org/package/2006/relationships"><Relationship Type="http://schemas.openxmlformats.org/officeDocument/2006/relationships/slide" Target="../../slides/slide110.xml" Id="Rc9511a8915934647"/><Relationship Type="http://schemas.openxmlformats.org/officeDocument/2006/relationships/notesMaster" Target="../notesMasters/notesMaster1.xml" Id="R1f942e0896b24ef7"/></Relationships>
</file>

<file path=ppt/copula/notesSlides/_rels/notesSlide11.xml.rels><?xml version='1.0' encoding='UTF-8' standalone='yes'?>
<Relationships xmlns="http://schemas.openxmlformats.org/package/2006/relationships"><Relationship Type="http://schemas.openxmlformats.org/officeDocument/2006/relationships/slide" Target="../../slides/slide111.xml" Id="R4fc6285954cc4c73"/><Relationship Type="http://schemas.openxmlformats.org/officeDocument/2006/relationships/notesMaster" Target="../notesMasters/notesMaster1.xml" Id="R2f0c3b7cfc3e43c8"/></Relationships>
</file>

<file path=ppt/copula/notesSlides/_rels/notesSlide12.xml.rels><?xml version='1.0' encoding='UTF-8' standalone='yes'?>
<Relationships xmlns="http://schemas.openxmlformats.org/package/2006/relationships"><Relationship Type="http://schemas.openxmlformats.org/officeDocument/2006/relationships/slide" Target="../../slides/slide112.xml" Id="Re578d33aaf2a4764"/><Relationship Type="http://schemas.openxmlformats.org/officeDocument/2006/relationships/notesMaster" Target="../notesMasters/notesMaster1.xml" Id="Rd12aaf3361194f49"/></Relationships>
</file>

<file path=ppt/copula/notesSlides/_rels/notesSlide13.xml.rels><?xml version='1.0' encoding='UTF-8' standalone='yes'?>
<Relationships xmlns="http://schemas.openxmlformats.org/package/2006/relationships"><Relationship Type="http://schemas.openxmlformats.org/officeDocument/2006/relationships/slide" Target="../../slides/slide113.xml" Id="Rc094d093c0904670"/><Relationship Type="http://schemas.openxmlformats.org/officeDocument/2006/relationships/notesMaster" Target="../notesMasters/notesMaster1.xml" Id="R18b2d397a1c94a7e"/></Relationships>
</file>

<file path=ppt/copula/notesSlides/_rels/notesSlide14.xml.rels><?xml version='1.0' encoding='UTF-8' standalone='yes'?>
<Relationships xmlns="http://schemas.openxmlformats.org/package/2006/relationships"><Relationship Type="http://schemas.openxmlformats.org/officeDocument/2006/relationships/slide" Target="../../slides/slide114.xml" Id="Rb5d31864a95e43e1"/><Relationship Type="http://schemas.openxmlformats.org/officeDocument/2006/relationships/notesMaster" Target="../notesMasters/notesMaster1.xml" Id="R3700e6771fa64dca"/></Relationships>
</file>

<file path=ppt/copula/notesSlides/_rels/notesSlide15.xml.rels><?xml version='1.0' encoding='UTF-8' standalone='yes'?>
<Relationships xmlns="http://schemas.openxmlformats.org/package/2006/relationships"><Relationship Type="http://schemas.openxmlformats.org/officeDocument/2006/relationships/slide" Target="../../slides/slide115.xml" Id="R56d3fbb1819e4d5c"/><Relationship Type="http://schemas.openxmlformats.org/officeDocument/2006/relationships/notesMaster" Target="../notesMasters/notesMaster1.xml" Id="R61c3a505e6c34dfb"/></Relationships>
</file>

<file path=ppt/copula/notesSlides/_rels/notesSlide16.xml.rels><?xml version='1.0' encoding='UTF-8' standalone='yes'?>
<Relationships xmlns="http://schemas.openxmlformats.org/package/2006/relationships"><Relationship Type="http://schemas.openxmlformats.org/officeDocument/2006/relationships/slide" Target="../../slides/slide116.xml" Id="Rcf5aec21cfb9428c"/><Relationship Type="http://schemas.openxmlformats.org/officeDocument/2006/relationships/notesMaster" Target="../notesMasters/notesMaster1.xml" Id="R732de2e866ab4789"/></Relationships>
</file>

<file path=ppt/copula/notesSlides/_rels/notesSlide17.xml.rels><?xml version='1.0' encoding='UTF-8' standalone='yes'?>
<Relationships xmlns="http://schemas.openxmlformats.org/package/2006/relationships"><Relationship Type="http://schemas.openxmlformats.org/officeDocument/2006/relationships/slide" Target="../../slides/slide117.xml" Id="R9f39bc2001884566"/><Relationship Type="http://schemas.openxmlformats.org/officeDocument/2006/relationships/notesMaster" Target="../notesMasters/notesMaster1.xml" Id="R87f4c3911e3843b6"/></Relationships>
</file>

<file path=ppt/copula/notesSlides/_rels/notesSlide18.xml.rels><?xml version='1.0' encoding='UTF-8' standalone='yes'?>
<Relationships xmlns="http://schemas.openxmlformats.org/package/2006/relationships"><Relationship Type="http://schemas.openxmlformats.org/officeDocument/2006/relationships/slide" Target="../../slides/slide118.xml" Id="R3d1fce54d0b042a1"/><Relationship Type="http://schemas.openxmlformats.org/officeDocument/2006/relationships/notesMaster" Target="../notesMasters/notesMaster1.xml" Id="R2d6e48d80b044c97"/></Relationships>
</file>

<file path=ppt/copula/notesSlides/_rels/notesSlide19.xml.rels><?xml version='1.0' encoding='UTF-8' standalone='yes'?>
<Relationships xmlns="http://schemas.openxmlformats.org/package/2006/relationships"><Relationship Type="http://schemas.openxmlformats.org/officeDocument/2006/relationships/slide" Target="../../slides/slide119.xml" Id="R901397fbc12a488a"/><Relationship Type="http://schemas.openxmlformats.org/officeDocument/2006/relationships/notesMaster" Target="../notesMasters/notesMaster1.xml" Id="Ra55bcafd036740e5"/></Relationships>
</file>

<file path=ppt/copula/notesSlides/_rels/notesSlide20.xml.rels><?xml version='1.0' encoding='UTF-8' standalone='yes'?>
<Relationships xmlns="http://schemas.openxmlformats.org/package/2006/relationships"><Relationship Type="http://schemas.openxmlformats.org/officeDocument/2006/relationships/slide" Target="../../slides/slide120.xml" Id="R648831c9aae047c6"/><Relationship Type="http://schemas.openxmlformats.org/officeDocument/2006/relationships/notesMaster" Target="../notesMasters/notesMaster1.xml" Id="R2dfad943c65d48b7"/></Relationships>
</file>

<file path=ppt/copula/notesSlides/_rels/notesSlide21.xml.rels><?xml version='1.0' encoding='UTF-8' standalone='yes'?>
<Relationships xmlns="http://schemas.openxmlformats.org/package/2006/relationships"><Relationship Type="http://schemas.openxmlformats.org/officeDocument/2006/relationships/slide" Target="../../slides/slide121.xml" Id="R9a81195d9ad545d4"/><Relationship Type="http://schemas.openxmlformats.org/officeDocument/2006/relationships/notesMaster" Target="../notesMasters/notesMaster1.xml" Id="Rbd36c263eb084745"/></Relationships>
</file>

<file path=ppt/copula/notesSlides/_rels/notesSlide22.xml.rels><?xml version='1.0' encoding='UTF-8' standalone='yes'?>
<Relationships xmlns="http://schemas.openxmlformats.org/package/2006/relationships"><Relationship Type="http://schemas.openxmlformats.org/officeDocument/2006/relationships/slide" Target="../../slides/slide122.xml" Id="Rc5fb2e2ca6f04e77"/><Relationship Type="http://schemas.openxmlformats.org/officeDocument/2006/relationships/notesMaster" Target="../notesMasters/notesMaster1.xml" Id="R27b4bc8cd35c4bff"/></Relationships>
</file>

<file path=ppt/copula/notesSlides/_rels/notesSlide23.xml.rels><?xml version='1.0' encoding='UTF-8' standalone='yes'?>
<Relationships xmlns="http://schemas.openxmlformats.org/package/2006/relationships"><Relationship Type="http://schemas.openxmlformats.org/officeDocument/2006/relationships/slide" Target="../../slides/slide123.xml" Id="R6504fd7d42bc40df"/><Relationship Type="http://schemas.openxmlformats.org/officeDocument/2006/relationships/notesMaster" Target="../notesMasters/notesMaster1.xml" Id="Ra7c1196811464510"/></Relationships>
</file>

<file path=ppt/copula/notesSlides/_rels/notesSlide24.xml.rels><?xml version='1.0' encoding='UTF-8' standalone='yes'?>
<Relationships xmlns="http://schemas.openxmlformats.org/package/2006/relationships"><Relationship Type="http://schemas.openxmlformats.org/officeDocument/2006/relationships/slide" Target="../../slides/slide124.xml" Id="R9ed17ef8b78e4637"/><Relationship Type="http://schemas.openxmlformats.org/officeDocument/2006/relationships/notesMaster" Target="../notesMasters/notesMaster1.xml" Id="R3cb02fbfdb7c49fc"/></Relationships>
</file>

<file path=ppt/copula/notesSlides/_rels/notesSlide25.xml.rels><?xml version='1.0' encoding='UTF-8' standalone='yes'?>
<Relationships xmlns="http://schemas.openxmlformats.org/package/2006/relationships"><Relationship Type="http://schemas.openxmlformats.org/officeDocument/2006/relationships/slide" Target="../../slides/slide125.xml" Id="R2e93407f95d14bf1"/><Relationship Type="http://schemas.openxmlformats.org/officeDocument/2006/relationships/notesMaster" Target="../notesMasters/notesMaster1.xml" Id="Ra763e512e69644b1"/></Relationships>
</file>

<file path=ppt/copula/notesSlides/_rels/notesSlide26.xml.rels><?xml version='1.0' encoding='UTF-8' standalone='yes'?>
<Relationships xmlns="http://schemas.openxmlformats.org/package/2006/relationships"><Relationship Type="http://schemas.openxmlformats.org/officeDocument/2006/relationships/slide" Target="../../slides/slide126.xml" Id="Ra8255c192789443d"/><Relationship Type="http://schemas.openxmlformats.org/officeDocument/2006/relationships/notesMaster" Target="../notesMasters/notesMaster1.xml" Id="Rf14594a0de0a41df"/></Relationships>
</file>

<file path=ppt/copula/notesSlides/_rels/notesSlide27.xml.rels><?xml version='1.0' encoding='UTF-8' standalone='yes'?>
<Relationships xmlns="http://schemas.openxmlformats.org/package/2006/relationships"><Relationship Type="http://schemas.openxmlformats.org/officeDocument/2006/relationships/slide" Target="../../slides/slide127.xml" Id="Rc440b97beef24a42"/><Relationship Type="http://schemas.openxmlformats.org/officeDocument/2006/relationships/notesMaster" Target="../notesMasters/notesMaster1.xml" Id="R9f3098f40e5a4dbd"/></Relationships>
</file>

<file path=ppt/copula/notesSlides/_rels/notesSlide28.xml.rels><?xml version='1.0' encoding='UTF-8' standalone='yes'?>
<Relationships xmlns="http://schemas.openxmlformats.org/package/2006/relationships"><Relationship Type="http://schemas.openxmlformats.org/officeDocument/2006/relationships/slide" Target="../../slides/slide128.xml" Id="R028dae5aea6a4273"/><Relationship Type="http://schemas.openxmlformats.org/officeDocument/2006/relationships/notesMaster" Target="../notesMasters/notesMaster1.xml" Id="Rbd10b443a31a436e"/></Relationships>
</file>

<file path=ppt/copula/notesSlides/_rels/notesSlide29.xml.rels><?xml version='1.0' encoding='UTF-8' standalone='yes'?>
<Relationships xmlns="http://schemas.openxmlformats.org/package/2006/relationships"><Relationship Type="http://schemas.openxmlformats.org/officeDocument/2006/relationships/slide" Target="../../slides/slide129.xml" Id="R0cc496f3b3c5410c"/><Relationship Type="http://schemas.openxmlformats.org/officeDocument/2006/relationships/notesMaster" Target="../notesMasters/notesMaster1.xml" Id="R7765e25c24d142b9"/></Relationships>
</file>

<file path=ppt/copula/notesSlides/_rels/notesSlide30.xml.rels><?xml version='1.0' encoding='UTF-8' standalone='yes'?>
<Relationships xmlns="http://schemas.openxmlformats.org/package/2006/relationships"><Relationship Type="http://schemas.openxmlformats.org/officeDocument/2006/relationships/slide" Target="../../slides/slide130.xml" Id="Rf94feca72c504ae3"/><Relationship Type="http://schemas.openxmlformats.org/officeDocument/2006/relationships/notesMaster" Target="../notesMasters/notesMaster1.xml" Id="Rbcb0f6a188f84d87"/></Relationships>
</file>

<file path=ppt/copula/notesSlides/_rels/notesSlide31.xml.rels><?xml version='1.0' encoding='UTF-8' standalone='yes'?>
<Relationships xmlns="http://schemas.openxmlformats.org/package/2006/relationships"><Relationship Type="http://schemas.openxmlformats.org/officeDocument/2006/relationships/slide" Target="../../slides/slide131.xml" Id="R8e2e7a75430c4888"/><Relationship Type="http://schemas.openxmlformats.org/officeDocument/2006/relationships/notesMaster" Target="../notesMasters/notesMaster1.xml" Id="R5250772fe6fe4d3b"/></Relationships>
</file>

<file path=ppt/copula/notesSlides/_rels/notesSlide32.xml.rels><?xml version='1.0' encoding='UTF-8' standalone='yes'?>
<Relationships xmlns="http://schemas.openxmlformats.org/package/2006/relationships"><Relationship Type="http://schemas.openxmlformats.org/officeDocument/2006/relationships/slide" Target="../../slides/slide132.xml" Id="R03cc0cb8c7414944"/><Relationship Type="http://schemas.openxmlformats.org/officeDocument/2006/relationships/notesMaster" Target="../notesMasters/notesMaster1.xml" Id="Rcb6cb1bfa2344b48"/></Relationships>
</file>

<file path=ppt/copula/notesSlides/_rels/notesSlide33.xml.rels><?xml version='1.0' encoding='UTF-8' standalone='yes'?>
<Relationships xmlns="http://schemas.openxmlformats.org/package/2006/relationships"><Relationship Type="http://schemas.openxmlformats.org/officeDocument/2006/relationships/slide" Target="../../slides/slide133.xml" Id="R3482af3888584390"/><Relationship Type="http://schemas.openxmlformats.org/officeDocument/2006/relationships/notesMaster" Target="../notesMasters/notesMaster1.xml" Id="Rb2c10d33319a4ade"/></Relationships>
</file>

<file path=ppt/copula/notesSlides/_rels/notesSlide34.xml.rels><?xml version='1.0' encoding='UTF-8' standalone='yes'?>
<Relationships xmlns="http://schemas.openxmlformats.org/package/2006/relationships"><Relationship Type="http://schemas.openxmlformats.org/officeDocument/2006/relationships/slide" Target="../../slides/slide134.xml" Id="R24b434d93b014444"/><Relationship Type="http://schemas.openxmlformats.org/officeDocument/2006/relationships/notesMaster" Target="../notesMasters/notesMaster1.xml" Id="Reeb564993d264ff3"/></Relationships>
</file>

<file path=ppt/copula/notesSlides/_rels/notesSlide35.xml.rels><?xml version='1.0' encoding='UTF-8' standalone='yes'?>
<Relationships xmlns="http://schemas.openxmlformats.org/package/2006/relationships"><Relationship Type="http://schemas.openxmlformats.org/officeDocument/2006/relationships/slide" Target="../../slides/slide135.xml" Id="R0041ac0626244c68"/><Relationship Type="http://schemas.openxmlformats.org/officeDocument/2006/relationships/notesMaster" Target="../notesMasters/notesMaster1.xml" Id="R74e108d2ffd94d48"/></Relationships>
</file>

<file path=ppt/copula/notesSlides/_rels/notesSlide36.xml.rels><?xml version='1.0' encoding='UTF-8' standalone='yes'?>
<Relationships xmlns="http://schemas.openxmlformats.org/package/2006/relationships"><Relationship Type="http://schemas.openxmlformats.org/officeDocument/2006/relationships/slide" Target="../../slides/slide136.xml" Id="Rcd21b3de32824a17"/><Relationship Type="http://schemas.openxmlformats.org/officeDocument/2006/relationships/notesMaster" Target="../notesMasters/notesMaster1.xml" Id="R9892f447d35f4d28"/></Relationships>
</file>

<file path=ppt/copula/notesSlides/_rels/notesSlide37.xml.rels><?xml version='1.0' encoding='UTF-8' standalone='yes'?>
<Relationships xmlns="http://schemas.openxmlformats.org/package/2006/relationships"><Relationship Type="http://schemas.openxmlformats.org/officeDocument/2006/relationships/slide" Target="../../slides/slide137.xml" Id="R0f68d1a0cad44aee"/><Relationship Type="http://schemas.openxmlformats.org/officeDocument/2006/relationships/notesMaster" Target="../notesMasters/notesMaster1.xml" Id="R7f767e2a86584a84"/></Relationships>
</file>

<file path=ppt/copula/notesSlides/_rels/notesSlide38.xml.rels><?xml version='1.0' encoding='UTF-8' standalone='yes'?>
<Relationships xmlns="http://schemas.openxmlformats.org/package/2006/relationships"><Relationship Type="http://schemas.openxmlformats.org/officeDocument/2006/relationships/slide" Target="../../slides/slide138.xml" Id="R7455691d86534a9f"/><Relationship Type="http://schemas.openxmlformats.org/officeDocument/2006/relationships/notesMaster" Target="../notesMasters/notesMaster1.xml" Id="Rab98295d8ac84f9a"/></Relationships>
</file>

<file path=ppt/copula/notesSlides/_rels/notesSlide39.xml.rels><?xml version='1.0' encoding='UTF-8' standalone='yes'?>
<Relationships xmlns="http://schemas.openxmlformats.org/package/2006/relationships"><Relationship Type="http://schemas.openxmlformats.org/officeDocument/2006/relationships/slide" Target="../../slides/slide139.xml" Id="R7c8e7212e91b44f6"/><Relationship Type="http://schemas.openxmlformats.org/officeDocument/2006/relationships/notesMaster" Target="../notesMasters/notesMaster1.xml" Id="Rc1da2e0c4734414b"/></Relationships>
</file>

<file path=ppt/copula/notesSlides/_rels/notesSlide40.xml.rels><?xml version='1.0' encoding='UTF-8' standalone='yes'?>
<Relationships xmlns="http://schemas.openxmlformats.org/package/2006/relationships"><Relationship Type="http://schemas.openxmlformats.org/officeDocument/2006/relationships/slide" Target="../../slides/slide140.xml" Id="R1c8a3a92f2014e38"/><Relationship Type="http://schemas.openxmlformats.org/officeDocument/2006/relationships/notesMaster" Target="../notesMasters/notesMaster1.xml" Id="Rc36d8ad0ea3941ca"/></Relationships>
</file>

<file path=ppt/copula/notesSlides/_rels/notesSlide41.xml.rels><?xml version='1.0' encoding='UTF-8' standalone='yes'?>
<Relationships xmlns="http://schemas.openxmlformats.org/package/2006/relationships"><Relationship Type="http://schemas.openxmlformats.org/officeDocument/2006/relationships/slide" Target="../../slides/slide141.xml" Id="R3fe638d264ed4109"/><Relationship Type="http://schemas.openxmlformats.org/officeDocument/2006/relationships/notesMaster" Target="../notesMasters/notesMaster1.xml" Id="Re4a8d197fc9349f1"/></Relationships>
</file>

<file path=ppt/copula/notesSlides/_rels/notesSlide42.xml.rels><?xml version='1.0' encoding='UTF-8' standalone='yes'?>
<Relationships xmlns="http://schemas.openxmlformats.org/package/2006/relationships"><Relationship Type="http://schemas.openxmlformats.org/officeDocument/2006/relationships/slide" Target="../../slides/slide142.xml" Id="R1b34749354f54e82"/><Relationship Type="http://schemas.openxmlformats.org/officeDocument/2006/relationships/notesMaster" Target="../notesMasters/notesMaster1.xml" Id="R390d5e0ab7984436"/></Relationships>
</file>

<file path=ppt/copula/notesSlides/_rels/notesSlide43.xml.rels><?xml version='1.0' encoding='UTF-8' standalone='yes'?>
<Relationships xmlns="http://schemas.openxmlformats.org/package/2006/relationships"><Relationship Type="http://schemas.openxmlformats.org/officeDocument/2006/relationships/slide" Target="../../slides/slide143.xml" Id="Rd076dad82bed4e20"/><Relationship Type="http://schemas.openxmlformats.org/officeDocument/2006/relationships/notesMaster" Target="../notesMasters/notesMaster1.xml" Id="R98c3b7c9b434423c"/></Relationships>
</file>

<file path=ppt/copula/notesSlides/_rels/notesSlide44.xml.rels><?xml version='1.0' encoding='UTF-8' standalone='yes'?>
<Relationships xmlns="http://schemas.openxmlformats.org/package/2006/relationships"><Relationship Type="http://schemas.openxmlformats.org/officeDocument/2006/relationships/slide" Target="../../slides/slide144.xml" Id="Rc6878a9b1d204886"/><Relationship Type="http://schemas.openxmlformats.org/officeDocument/2006/relationships/notesMaster" Target="../notesMasters/notesMaster1.xml" Id="Re05b3d9f1f674a8c"/></Relationships>
</file>

<file path=ppt/copula/notesSlides/_rels/notesSlide45.xml.rels><?xml version='1.0' encoding='UTF-8' standalone='yes'?>
<Relationships xmlns="http://schemas.openxmlformats.org/package/2006/relationships"><Relationship Type="http://schemas.openxmlformats.org/officeDocument/2006/relationships/slide" Target="../../slides/slide145.xml" Id="Rc9889485836844cd"/><Relationship Type="http://schemas.openxmlformats.org/officeDocument/2006/relationships/notesMaster" Target="../notesMasters/notesMaster1.xml" Id="Re1ec131408f14f59"/></Relationships>
</file>

<file path=ppt/copula/notesSlides/_rels/notesSlide46.xml.rels><?xml version='1.0' encoding='UTF-8' standalone='yes'?>
<Relationships xmlns="http://schemas.openxmlformats.org/package/2006/relationships"><Relationship Type="http://schemas.openxmlformats.org/officeDocument/2006/relationships/slide" Target="../../slides/slide146.xml" Id="Rb2a772f8fafe4b66"/><Relationship Type="http://schemas.openxmlformats.org/officeDocument/2006/relationships/notesMaster" Target="../notesMasters/notesMaster1.xml" Id="R71112927b3b74868"/></Relationships>
</file>

<file path=ppt/copula/notesSlides/_rels/notesSlide47.xml.rels><?xml version='1.0' encoding='UTF-8' standalone='yes'?>
<Relationships xmlns="http://schemas.openxmlformats.org/package/2006/relationships"><Relationship Type="http://schemas.openxmlformats.org/officeDocument/2006/relationships/slide" Target="../../slides/slide147.xml" Id="R348c9cc4064f4d8d"/><Relationship Type="http://schemas.openxmlformats.org/officeDocument/2006/relationships/notesMaster" Target="../notesMasters/notesMaster1.xml" Id="R5b7d0db0f3c34782"/></Relationships>
</file>

<file path=ppt/copula/notesSlides/_rels/notesSlide48.xml.rels><?xml version='1.0' encoding='UTF-8' standalone='yes'?>
<Relationships xmlns="http://schemas.openxmlformats.org/package/2006/relationships"><Relationship Type="http://schemas.openxmlformats.org/officeDocument/2006/relationships/slide" Target="../../slides/slide148.xml" Id="R671eb870a1c7493c"/><Relationship Type="http://schemas.openxmlformats.org/officeDocument/2006/relationships/notesMaster" Target="../notesMasters/notesMaster1.xml" Id="Rca7c85077b334d5f"/></Relationships>
</file>

<file path=ppt/copula/notesSlides/_rels/notesSlide49.xml.rels><?xml version='1.0' encoding='UTF-8' standalone='yes'?>
<Relationships xmlns="http://schemas.openxmlformats.org/package/2006/relationships"><Relationship Type="http://schemas.openxmlformats.org/officeDocument/2006/relationships/slide" Target="../../slides/slide149.xml" Id="R97906162e42b44c0"/><Relationship Type="http://schemas.openxmlformats.org/officeDocument/2006/relationships/notesMaster" Target="../notesMasters/notesMaster1.xml" Id="R27f7d4b8cfc84567"/></Relationships>
</file>

<file path=ppt/copula/notesSlides/_rels/notesSlide50.xml.rels><?xml version='1.0' encoding='UTF-8' standalone='yes'?>
<Relationships xmlns="http://schemas.openxmlformats.org/package/2006/relationships"><Relationship Type="http://schemas.openxmlformats.org/officeDocument/2006/relationships/slide" Target="../../slides/slide150.xml" Id="R919f8b20b1b5474c"/><Relationship Type="http://schemas.openxmlformats.org/officeDocument/2006/relationships/notesMaster" Target="../notesMasters/notesMaster1.xml" Id="R8d31578926f44032"/></Relationships>
</file>

<file path=ppt/copula/notesSlides/_rels/notesSlide51.xml.rels><?xml version='1.0' encoding='UTF-8' standalone='yes'?>
<Relationships xmlns="http://schemas.openxmlformats.org/package/2006/relationships"><Relationship Type="http://schemas.openxmlformats.org/officeDocument/2006/relationships/slide" Target="../../slides/slide151.xml" Id="R2fb606ed96834704"/><Relationship Type="http://schemas.openxmlformats.org/officeDocument/2006/relationships/notesMaster" Target="../notesMasters/notesMaster1.xml" Id="Rbc86bd89f24140a7"/></Relationships>
</file>

<file path=ppt/copula/notesSlides/_rels/notesSlide52.xml.rels><?xml version='1.0' encoding='UTF-8' standalone='yes'?>
<Relationships xmlns="http://schemas.openxmlformats.org/package/2006/relationships"><Relationship Type="http://schemas.openxmlformats.org/officeDocument/2006/relationships/slide" Target="../../slides/slide152.xml" Id="Rc593f89f2f944a38"/><Relationship Type="http://schemas.openxmlformats.org/officeDocument/2006/relationships/notesMaster" Target="../notesMasters/notesMaster1.xml" Id="Ra1e2a0ed2ba048ca"/></Relationships>
</file>

<file path=ppt/copula/notesSlides/_rels/notesSlide53.xml.rels><?xml version='1.0' encoding='UTF-8' standalone='yes'?>
<Relationships xmlns="http://schemas.openxmlformats.org/package/2006/relationships"><Relationship Type="http://schemas.openxmlformats.org/officeDocument/2006/relationships/slide" Target="../../slides/slide153.xml" Id="R663b8a1fb3594dc3"/><Relationship Type="http://schemas.openxmlformats.org/officeDocument/2006/relationships/notesMaster" Target="../notesMasters/notesMaster1.xml" Id="Ra7cc2bec54354543"/></Relationships>
</file>

<file path=ppt/copula/notesSlides/_rels/notesSlide54.xml.rels><?xml version='1.0' encoding='UTF-8' standalone='yes'?>
<Relationships xmlns="http://schemas.openxmlformats.org/package/2006/relationships"><Relationship Type="http://schemas.openxmlformats.org/officeDocument/2006/relationships/slide" Target="../../slides/slide154.xml" Id="Rf88e972768b847a6"/><Relationship Type="http://schemas.openxmlformats.org/officeDocument/2006/relationships/notesMaster" Target="../notesMasters/notesMaster1.xml" Id="R9f18839eb5b24e42"/></Relationships>
</file>

<file path=ppt/copula/notesSlides/_rels/notesSlide55.xml.rels><?xml version='1.0' encoding='UTF-8' standalone='yes'?>
<Relationships xmlns="http://schemas.openxmlformats.org/package/2006/relationships"><Relationship Type="http://schemas.openxmlformats.org/officeDocument/2006/relationships/slide" Target="../../slides/slide155.xml" Id="R82559ede2fba424d"/><Relationship Type="http://schemas.openxmlformats.org/officeDocument/2006/relationships/notesMaster" Target="../notesMasters/notesMaster1.xml" Id="R8ed2e41d485946c9"/></Relationships>
</file>

<file path=ppt/copula/notesSlides/_rels/notesSlide56.xml.rels><?xml version='1.0' encoding='UTF-8' standalone='yes'?>
<Relationships xmlns="http://schemas.openxmlformats.org/package/2006/relationships"><Relationship Type="http://schemas.openxmlformats.org/officeDocument/2006/relationships/slide" Target="../../slides/slide156.xml" Id="R5586899296074194"/><Relationship Type="http://schemas.openxmlformats.org/officeDocument/2006/relationships/notesMaster" Target="../notesMasters/notesMaster1.xml" Id="R1856201d286743ce"/></Relationships>
</file>

<file path=ppt/copula/notesSlides/_rels/notesSlide57.xml.rels><?xml version='1.0' encoding='UTF-8' standalone='yes'?>
<Relationships xmlns="http://schemas.openxmlformats.org/package/2006/relationships"><Relationship Type="http://schemas.openxmlformats.org/officeDocument/2006/relationships/slide" Target="../../slides/slide157.xml" Id="R9d433cebd40c480a"/><Relationship Type="http://schemas.openxmlformats.org/officeDocument/2006/relationships/notesMaster" Target="../notesMasters/notesMaster1.xml" Id="R359cb1a67968495d"/></Relationships>
</file>

<file path=ppt/copula/notesSlides/_rels/notesSlide58.xml.rels><?xml version='1.0' encoding='UTF-8' standalone='yes'?>
<Relationships xmlns="http://schemas.openxmlformats.org/package/2006/relationships"><Relationship Type="http://schemas.openxmlformats.org/officeDocument/2006/relationships/slide" Target="../../slides/slide158.xml" Id="Rdcd99105a2bd4a9f"/><Relationship Type="http://schemas.openxmlformats.org/officeDocument/2006/relationships/notesMaster" Target="../notesMasters/notesMaster1.xml" Id="R5da3eef6ad1e4efc"/></Relationships>
</file>

<file path=ppt/copula/notesSlides/_rels/notesSlide59.xml.rels><?xml version='1.0' encoding='UTF-8' standalone='yes'?>
<Relationships xmlns="http://schemas.openxmlformats.org/package/2006/relationships"><Relationship Type="http://schemas.openxmlformats.org/officeDocument/2006/relationships/slide" Target="../../slides/slide159.xml" Id="R25b0ca5ffeb14f7f"/><Relationship Type="http://schemas.openxmlformats.org/officeDocument/2006/relationships/notesMaster" Target="../notesMasters/notesMaster1.xml" Id="R0c9d5e8ba8c34be8"/></Relationships>
</file>

<file path=ppt/copula/notesSlides/_rels/notesSlide60.xml.rels><?xml version='1.0' encoding='UTF-8' standalone='yes'?>
<Relationships xmlns="http://schemas.openxmlformats.org/package/2006/relationships"><Relationship Type="http://schemas.openxmlformats.org/officeDocument/2006/relationships/slide" Target="../../slides/slide160.xml" Id="R8cc3ff9ddee2450c"/><Relationship Type="http://schemas.openxmlformats.org/officeDocument/2006/relationships/notesMaster" Target="../notesMasters/notesMaster1.xml" Id="Rda8f4e7759dd40fe"/></Relationships>
</file>

<file path=ppt/copula/notesSlides/_rels/notesSlide61.xml.rels><?xml version='1.0' encoding='UTF-8' standalone='yes'?>
<Relationships xmlns="http://schemas.openxmlformats.org/package/2006/relationships"><Relationship Type="http://schemas.openxmlformats.org/officeDocument/2006/relationships/slide" Target="../../slides/slide161.xml" Id="R5f71574cf0b34d4e"/><Relationship Type="http://schemas.openxmlformats.org/officeDocument/2006/relationships/notesMaster" Target="../notesMasters/notesMaster1.xml" Id="Rbf5c4924748644df"/></Relationships>
</file>

<file path=ppt/copul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コピュラを使う予定で終わりました。今日は何を学習し、どう条件付き生成を行い、どこに入れるかを説明します。まず直感、次に数式、最後に実装と探索的結果です。最初の4枚の主張は研究上の仮説を含み、今回の結果だけで実証済みとは言え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MEは自己教師ありマスク推定と元値復元、半教師あり一貫性学習を使います。クラス条件付き法はクラス内での置換を使います。本研究はまずVIME内の生成器だけを変える比較を行います。無条件生成が常に悪い、条件付きなら常にラベルを保つ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身長体重は説明用の架空データです。生物学的な正しさや体型の正常判定ではありません。列別の値の集合は同じです。それでも身長が高い人ほど体重が重いという関係は逆になります。これが周辺分布だけでは決まらない依存構造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けるとはデータの列を独立にすることではありません。元の同時分布を、周辺分布とコピュラの組で表すことです。どれくらいの身長が存在するかと、その高さの人の体重がどの位置に来るかを分けます。位置を生成して元の単位へ戻せば再び組合せ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人の説明用の経験分布です。170cm以下は150から170までの7人です。170cmそのものの割合1/10とは違います。累積は小さい側から足し上げることです。これは理論的な連続分布ではなく経験累積分布なので階段状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は身長をその周辺累積分布で変換した確率変数、uは一人の具体的な位置です。体重でも同様です。別の集団の累積分布を使えば同じ175cmでも位置は変わります。単位変更など狭義単調増加変換にはコピュラは不変ですが、非単調変換には一般に不変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ここは説明用の順位位置です。点の集合そのものと、点の分布を表す累積分布関数Cは区別します。右上や左下に点が集まるほど同じ方向の位置を取る傾向があります。コピュラはその確率分布を表します。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X,Yは抽出した人の身長体重という確率変数です。x,yはそれを比較するしきい値です。FX(x)=P(X≤x)です。U=FX(X)とV=FY(Y)は変数で、u,vは0から1のしきい値。RはGaussian copulaの潜在正規空間の相関行列です。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な周辺分布なら確率積分変換でU,Vは各々一様です。それぞれ一様なことは互いに独立なことを意味しません。Cは2変数の同時CDF。一般にはd個の一様周辺を持つd次元CDFです。経験分布や離散変数の場合、FX(X)が連続一様になるという説明はそのまま適用でき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体重の位置、横軸身長の位置として左下の長方形に入る確率です。点ちょうど一つの確率や条件付き確率P(V≤.5|U≤.8)ではありません。条件付きならC(.8,.5)/.8になります。一様独立では長方形の面積.4と一致しますが一般に面積そのもの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均等格子の説明用100点です。有限な離散例であり連続一様の標本や実データではありません。境界U=.8,V=.5の左下が40点。独立な連続一様での理論値も.4になります。この面積計算が一般copulaにも常に成立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完全逆方向V=1−UならU≤uかつ1−U≤v、つまり1−v≤U≤uです。区間の長さmax(u+v−1,0)です。.8+.5−1=.3。一様周辺から制限されるFréchet境界はこの範囲です。極端な2つを含め関係の違いがCに表れます。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x,y)=P(X≤x,Y≤y)です。Sklarの定理は任意の同時CDFにこの分解が存在すると述べます。周辺が連続ならCは一意です。離散では周辺の値域上のみ定まり、一意とは限りません。独立の仮定なしで分けて表す数学的根拠がここ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(U,V)~Cの組を生成し、一般化逆関数F^-1(u)=inf{x:F(x)≥u}で戻します。理論的に任意の周辺分布にコピュラを組み合わせられます。ただし有限データで推定する際は、コピュラの仮定と周辺推定の誤差が残ります。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裾は分布の端です。λUはq→1でP(V&gt;q|U&gt;q)の極限、λLはq→0でP(V≤q|U≤q)の極限です。高いPearson相関でもGaussian copulaは非退化ならλU=λL=0。一方有限q=.95では依存はあり得ます。ゼロ裾依存を極端事象が無関係と解釈しないこと。</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各周辺の形を正規に限定しません。各列を確率位置、さらに潜在標準正規へ変えた後、その同時分布に多変量正規を仮定します。4枚目の非線形や裾依存をすべてGaussianで捉えるという意味ではありません。一般コピュラの表現可能性と一つの家族の表現力を区別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平均順位を使ってu=(r−.5)/nとし、同値には同じ平均順位を与えます。端点0と1を避けるためです。説明で使ったFhat=人数/nと推定用の擬似観測は少し違います。コピュラ学習は現在コードではラベルなし訓練部分のみ。テストデータを混ぜない。位置が一様に近くても列同士の組合せは保た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Φ^-1は同じ累積確率位置にある標準正規の値を返します。各列の周辺を正規へ変えるだけなので同時正規性は自動的には成立しません。この後のGaussianという仮定を別に置きます。極端なuはクリップしています。潜在空間とはここではこの確率変換された空間であり、ニューラルencoder潜在とは別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全列のZを標準多変量正規N(0,R)と仮定します。Rは潜在正規値間の相関で元のcm/kgのPearson相関とは一般に異なります。有限サンプルでは行列が不安定になり得るので実装は縮小と固有値補正を使います。Gaussian copulaのCDFはΦR(Φ^-1u1,...,Φ^-1ud)です。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はマスクして置換する列、Oは観測して残す列。欠損値を扱っているのではなくデータ拡張の人工マスクです。身長値175cmは説明用周辺で80%位置という仮定で、前の4人順位表とは別の説明例です。独立だと体重位置は身長に影響されません。正の依存なら高い身長に合わせ体重の分布が高い方へ動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変量の標準多変量正規の公式です。ρ=.6、zX=.841621で平均.5049726、分散.64、標準偏差.8。ρ=0なら条件付けても標準正規のまま。ρが高いほど既知の身長から体重を絞れますが一点には決まりません。残差εがあるためです。潜在平均は元スケール平均とは一般に一致し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-1,0,1は手順を示す選んだ例で、等確率の3択という意味ではありません。実際には連続な標準正規乱数を引きます。ZY=.505+.8ε。さらにΦでVへ戻し、FY^-1でkgに戻します。補足としてY~N(65,10²)という説明用周辺を使うと62.05、70.05、78.05kgになります。これは実データの推定結果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正規周辺N(65,10²)の場合です。FY^-1(v)=65+10Φ^-1(v)なのでこの数値になります。実装では正規な体重を仮定せず訓練列の経験分位点を線形補間します。補間によって元の訓練値にない連続値が出ることがあります。一般に無条件周辺を利用するが生成結果は条件付き分布になるため、各行で周辺と同じ分布を要求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YとZwaistを条件付き共分散で一緒に引くことで置換列同士の依存も残します。各列を個別に引く方法と重要な違いがあります。高次元ではRの逆計算を直接するよりsolveを使う。詳細数式は補足。全列マスクなら無条件同時生成、マスクなしなら変更なし。</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VIMEのPyTorch再実装です。自己教師ありはマスク推定BCEと元特徴値復元MSE。半教師ありはラベルあり分類損失とラベルなし複数拡張への予測一貫性。比較では同じ予測器・エンコーダ・予算を使います。元論文の表を同じ実験環境で再現した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ラベルなしで依存を学習すれば擬似ラベルへの依存は減らせますが、クラス意味を保つ保証はありません。混合クラスの全体分布では条件付き生成が別クラスへ移る可能性があります。強い条件付けで元に近すぎるとマスク推定課題が難しく/弱い復元信号になる、強い破壊でラベルを壊す、強度と難易度のトレードオフがあります。</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今回2026-10-04に既存corruption.pyを実行。Z1~N(0,1),Z2=.8Z1+.6εで2500行、seed20261004。第1列を残して第2列を全行マスク。corruption RNG314159、同じ入力とマスク。推定も生成も同じ合成データなので学習動作確認であって汎化評価ではありません。図は先頭180行、集計は2500行すべて。縮小0.05で依存を少し弱く推定します。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理論上Z2|Z1の条件平均は.8Z1、条件分散.36。指標は生成Z2と真の条件平均.8X1との差の二乗平均。元データの値は約.352で.36に近い、独立置換は約1.653、copulaは約.409。これは条件分布とのKL等ではなく残差二乗の簡単な指標であり、小さいほど常に良いわけではなく条件平均固定だと0になって多様性がなくなるため分散も見る必要がある。観測列は両法とも変更されないことをarray_equalで確認済み。</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新しい仮想環境で同じ既存VIMEClassifierを実行。分割や予算は保存結果のプロトコルと揃えたがライブラリバージョンとCPU threads1は異なる。保存値の完全再現ではありません。同一環境とはこの再実行内での2手法が同じ環境を使った意味。モデルと分割、学習予算を一致。差の区間はseed差のpercentile bootstrap1万回、95%。少ないseedで重なったholdoutなので探索的指標です。結果から万能な優位を主張しません。</a:t>
            </a:r>
          </a:p>
          <a:p xmlns:a="http://schemas.openxmlformats.org/drawingml/2006/main">
            <a:r>
              <a:t>実行環境：{"python":"3.12.14","numpy":"2.5.3","scipy":"1.18.1","sklearn":"1.9.1","torch":"2.14.1","platform":"macOS-26.3.1-arm64-arm-64bit","threads":1}</a:t>
            </a:r>
          </a:p>
          <a:p xmlns:a="http://schemas.openxmlformats.org/drawingml/2006/main">
            <a:r>
              <a:t>元結果：tmp/seminar_20261005/rerun_results.json</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5seedの新結果の数値と矛盾しない説明をします。区間0を含むかどうかは計算結果に基づくが、含まない場合も小標本の探索的実験で強い統計的主張はしない。保存済みの2手法のAUCは全seedで一致した。環境や乱数、条件の記録を維持し、さらにデータ数を増や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生成器が何を改善したかの裏付けです。合成データでは既知の真の条件分布との誤差、実データでは近傍距離や特徴間制約逸脱を見ます。近傍距離だけだと元に近ければ有利なので元行からの変更量と併記。ラベル保持の評価は既知のラベルや妥当な参照モデルを使い、ラベルなしデータの真値と混同しない。コピュラ種類やマスク率は検証用分割のみで選択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が発表の主線です。時間に合わせて種類詳細や数式を補足から説明できます。今回の貢献が確立したとは言いません。対象と比較の設計を具体化し、実装と保存済みの小規模結果を示した段階です。質疑では条件付き分布、ラベル保持、カテゴリ型、マスクの難易度、同時正規仮定を補足で答え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copula/slideLayouts/_rels/slideLayout1.xml.rels><?xml version='1.0' encoding='UTF-8' standalone='yes'?>
<Relationships xmlns="http://schemas.openxmlformats.org/package/2006/relationships"><Relationship Type="http://schemas.openxmlformats.org/officeDocument/2006/relationships/slideMaster" Target="../slideMasters/slideMaster1.xml" Id="Rc7b0580437ed44a6"/></Relationships>
</file>

<file path=ppt/copul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copula/slideMasters/_rels/slideMaster1.xml.rels><?xml version='1.0' encoding='UTF-8' standalone='yes'?>
<Relationships xmlns="http://schemas.openxmlformats.org/package/2006/relationships"><Relationship Type="http://schemas.openxmlformats.org/officeDocument/2006/relationships/theme" Target="theme/theme2.xml" Id="Rb8efaf794a904081"/><Relationship Type="http://schemas.openxmlformats.org/officeDocument/2006/relationships/slideLayout" Target="../slideLayouts/slideLayout1.xml" Id="R1e296d72ef364c60"/></Relationships>
</file>

<file path=ppt/copul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296d72ef364c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copul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slides/charts/_rels/chart1.xml.rels><Relationships xmlns="http://schemas.openxmlformats.org/package/2006/relationships"><Relationship Id="rIdChartSnapshot1" Type="http://schemas.openxmlformats.org/officeDocument/2006/relationships/package" Target="../../../embeddings/chart-data-snapshot-001.xlsx"/></Relationships>
</file>

<file path=ppt/copula/slides/charts/_rels/chart2.xml.rels><Relationships xmlns="http://schemas.openxmlformats.org/package/2006/relationships"><Relationship Id="rIdChartSnapshot1" Type="http://schemas.openxmlformats.org/officeDocument/2006/relationships/package" Target="../../../embeddings/chart-data-snapshot-002.xlsx"/></Relationships>
</file>

<file path=ppt/copula/slides/charts/_rels/chart3.xml.rels><Relationships xmlns="http://schemas.openxmlformats.org/package/2006/relationships"><Relationship Id="rIdChartSnapshot1" Type="http://schemas.openxmlformats.org/officeDocument/2006/relationships/package" Target="../../../embeddings/chart-data-snapshot-003.xlsx"/></Relationships>
</file>

<file path=ppt/copula/slides/charts/_rels/chart4.xml.rels><Relationships xmlns="http://schemas.openxmlformats.org/package/2006/relationships"><Relationship Id="rIdChartSnapshot1" Type="http://schemas.openxmlformats.org/officeDocument/2006/relationships/package" Target="../../../embeddings/chart-data-snapshot-004.xlsx"/></Relationships>
</file>

<file path=ppt/copula/slides/charts/_rels/chart5.xml.rels><Relationships xmlns="http://schemas.openxmlformats.org/package/2006/relationships"><Relationship Id="rIdChartSnapshot1" Type="http://schemas.openxmlformats.org/officeDocument/2006/relationships/package" Target="../../../embeddings/chart-data-snapshot-005.xlsx"/></Relationships>
</file>

<file path=ppt/copula/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Data'!$A$2:$A$10</c:f>
              <c:numCache>
                <c:formatCode>General</c:formatCode>
                <c:ptCount val="9"/>
                <c:pt idx="0">
                  <c:v>0.1</c:v>
                </c:pt>
                <c:pt idx="1">
                  <c:v>0.2</c:v>
                </c:pt>
                <c:pt idx="2">
                  <c:v>0.3</c:v>
                </c:pt>
                <c:pt idx="3">
                  <c:v>0.4</c:v>
                </c:pt>
                <c:pt idx="4">
                  <c:v>0.5</c:v>
                </c:pt>
                <c:pt idx="5">
                  <c:v>0.6</c:v>
                </c:pt>
                <c:pt idx="6">
                  <c:v>0.7</c:v>
                </c:pt>
                <c:pt idx="7">
                  <c:v>0.8</c:v>
                </c:pt>
                <c:pt idx="8">
                  <c:v>0.9</c:v>
                </c:pt>
              </c:numCache>
            </c:numRef>
          </c:xVal>
          <c:yVal>
            <c:numRef>
              <c:f>'Chart Data'!$B$2:$B$10</c:f>
              <c:numCache>
                <c:formatCode>0.0</c:formatCode>
                <c:ptCount val="9"/>
                <c:pt idx="0">
                  <c:v>0.15</c:v>
                </c:pt>
                <c:pt idx="1">
                  <c:v>0.23</c:v>
                </c:pt>
                <c:pt idx="2">
                  <c:v>0.2</c:v>
                </c:pt>
                <c:pt idx="3">
                  <c:v>0.48</c:v>
                </c:pt>
                <c:pt idx="4">
                  <c:v>0.42</c:v>
                </c:pt>
                <c:pt idx="5">
                  <c:v>0.7</c:v>
                </c:pt>
                <c:pt idx="6">
                  <c:v>0.62</c:v>
                </c:pt>
                <c:pt idx="7">
                  <c:v>0.84</c:v>
                </c:pt>
                <c:pt idx="8">
                  <c:v>0.91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範囲の外</c:v>
          </c:tx>
          <c:spPr>
            <a:solidFill xmlns:a="http://schemas.openxmlformats.org/drawingml/2006/main">
              <a:srgbClr val="AAAAAA"/>
            </a:solidFill>
            <a:ln xmlns:a="http://schemas.openxmlformats.org/drawingml/2006/main" w="0">
              <a:noFill/>
            </a:ln>
          </c:spPr>
          <c:marker>
            <c:symbol val="circle"/>
            <c:size val="5"/>
            <c:spPr>
              <a:noFill xmlns:a="http://schemas.openxmlformats.org/drawingml/2006/main"/>
            </c:spPr>
          </c:marker>
          <c:xVal>
            <c:numRef>
              <c:f>'Chart Data'!$A$2:$A$61</c:f>
              <c:numCache>
                <c:formatCode>General</c:formatCode>
                <c:ptCount val="6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pt idx="40">
                  <c:v>0.85</c:v>
                </c:pt>
                <c:pt idx="41">
                  <c:v>0.85</c:v>
                </c:pt>
                <c:pt idx="42">
                  <c:v>0.85</c:v>
                </c:pt>
                <c:pt idx="43">
                  <c:v>0.85</c:v>
                </c:pt>
                <c:pt idx="44">
                  <c:v>0.85</c:v>
                </c:pt>
                <c:pt idx="45">
                  <c:v>0.85</c:v>
                </c:pt>
                <c:pt idx="46">
                  <c:v>0.85</c:v>
                </c:pt>
                <c:pt idx="47">
                  <c:v>0.85</c:v>
                </c:pt>
                <c:pt idx="48">
                  <c:v>0.85</c:v>
                </c:pt>
                <c:pt idx="49">
                  <c:v>0.85</c:v>
                </c:pt>
                <c:pt idx="50">
                  <c:v>0.95</c:v>
                </c:pt>
                <c:pt idx="51">
                  <c:v>0.95</c:v>
                </c:pt>
                <c:pt idx="52">
                  <c:v>0.95</c:v>
                </c:pt>
                <c:pt idx="53">
                  <c:v>0.95</c:v>
                </c:pt>
                <c:pt idx="54">
                  <c:v>0.95</c:v>
                </c:pt>
                <c:pt idx="55">
                  <c:v>0.95</c:v>
                </c:pt>
                <c:pt idx="56">
                  <c:v>0.95</c:v>
                </c:pt>
                <c:pt idx="57">
                  <c:v>0.95</c:v>
                </c:pt>
                <c:pt idx="58">
                  <c:v>0.95</c:v>
                </c:pt>
                <c:pt idx="59">
                  <c:v>0.95</c:v>
                </c:pt>
              </c:numCache>
            </c:numRef>
          </c:xVal>
          <c:yVal>
            <c:numRef>
              <c:f>'Chart Data'!$B$2:$B$61</c:f>
              <c:numCache>
                <c:formatCode>0.0</c:formatCode>
                <c:ptCount val="60"/>
                <c:pt idx="0">
                  <c:v>0.55</c:v>
                </c:pt>
                <c:pt idx="1">
                  <c:v>0.65</c:v>
                </c:pt>
                <c:pt idx="2">
                  <c:v>0.75</c:v>
                </c:pt>
                <c:pt idx="3">
                  <c:v>0.85</c:v>
                </c:pt>
                <c:pt idx="4">
                  <c:v>0.95</c:v>
                </c:pt>
                <c:pt idx="5">
                  <c:v>0.55</c:v>
                </c:pt>
                <c:pt idx="6">
                  <c:v>0.65</c:v>
                </c:pt>
                <c:pt idx="7">
                  <c:v>0.75</c:v>
                </c:pt>
                <c:pt idx="8">
                  <c:v>0.85</c:v>
                </c:pt>
                <c:pt idx="9">
                  <c:v>0.95</c:v>
                </c:pt>
                <c:pt idx="10">
                  <c:v>0.55</c:v>
                </c:pt>
                <c:pt idx="11">
                  <c:v>0.65</c:v>
                </c:pt>
                <c:pt idx="12">
                  <c:v>0.75</c:v>
                </c:pt>
                <c:pt idx="13">
                  <c:v>0.85</c:v>
                </c:pt>
                <c:pt idx="14">
                  <c:v>0.95</c:v>
                </c:pt>
                <c:pt idx="15">
                  <c:v>0.55</c:v>
                </c:pt>
                <c:pt idx="16">
                  <c:v>0.65</c:v>
                </c:pt>
                <c:pt idx="17">
                  <c:v>0.75</c:v>
                </c:pt>
                <c:pt idx="18">
                  <c:v>0.85</c:v>
                </c:pt>
                <c:pt idx="19">
                  <c:v>0.95</c:v>
                </c:pt>
                <c:pt idx="20">
                  <c:v>0.55</c:v>
                </c:pt>
                <c:pt idx="21">
                  <c:v>0.65</c:v>
                </c:pt>
                <c:pt idx="22">
                  <c:v>0.75</c:v>
                </c:pt>
                <c:pt idx="23">
                  <c:v>0.85</c:v>
                </c:pt>
                <c:pt idx="24">
                  <c:v>0.95</c:v>
                </c:pt>
                <c:pt idx="25">
                  <c:v>0.55</c:v>
                </c:pt>
                <c:pt idx="26">
                  <c:v>0.65</c:v>
                </c:pt>
                <c:pt idx="27">
                  <c:v>0.75</c:v>
                </c:pt>
                <c:pt idx="28">
                  <c:v>0.85</c:v>
                </c:pt>
                <c:pt idx="29">
                  <c:v>0.95</c:v>
                </c:pt>
                <c:pt idx="30">
                  <c:v>0.55</c:v>
                </c:pt>
                <c:pt idx="31">
                  <c:v>0.65</c:v>
                </c:pt>
                <c:pt idx="32">
                  <c:v>0.75</c:v>
                </c:pt>
                <c:pt idx="33">
                  <c:v>0.85</c:v>
                </c:pt>
                <c:pt idx="34">
                  <c:v>0.95</c:v>
                </c:pt>
                <c:pt idx="35">
                  <c:v>0.55</c:v>
                </c:pt>
                <c:pt idx="36">
                  <c:v>0.65</c:v>
                </c:pt>
                <c:pt idx="37">
                  <c:v>0.75</c:v>
                </c:pt>
                <c:pt idx="38">
                  <c:v>0.85</c:v>
                </c:pt>
                <c:pt idx="39">
                  <c:v>0.95</c:v>
                </c:pt>
                <c:pt idx="40">
                  <c:v>0.05</c:v>
                </c:pt>
                <c:pt idx="41">
                  <c:v>0.15</c:v>
                </c:pt>
                <c:pt idx="42">
                  <c:v>0.25</c:v>
                </c:pt>
                <c:pt idx="43">
                  <c:v>0.35</c:v>
                </c:pt>
                <c:pt idx="44">
                  <c:v>0.45</c:v>
                </c:pt>
                <c:pt idx="45">
                  <c:v>0.55</c:v>
                </c:pt>
                <c:pt idx="46">
                  <c:v>0.65</c:v>
                </c:pt>
                <c:pt idx="47">
                  <c:v>0.75</c:v>
                </c:pt>
                <c:pt idx="48">
                  <c:v>0.85</c:v>
                </c:pt>
                <c:pt idx="49">
                  <c:v>0.95</c:v>
                </c:pt>
                <c:pt idx="50">
                  <c:v>0.05</c:v>
                </c:pt>
                <c:pt idx="51">
                  <c:v>0.15</c:v>
                </c:pt>
                <c:pt idx="52">
                  <c:v>0.25</c:v>
                </c:pt>
                <c:pt idx="53">
                  <c:v>0.35</c:v>
                </c:pt>
                <c:pt idx="54">
                  <c:v>0.45</c:v>
                </c:pt>
                <c:pt idx="55">
                  <c:v>0.55</c:v>
                </c:pt>
                <c:pt idx="56">
                  <c:v>0.65</c:v>
                </c:pt>
                <c:pt idx="57">
                  <c:v>0.75</c:v>
                </c:pt>
                <c:pt idx="58">
                  <c:v>0.85</c:v>
                </c:pt>
                <c:pt idx="59">
                  <c:v>0.95</c:v>
                </c:pt>
              </c:numCache>
            </c:numRef>
          </c:yVal>
        </c:ser>
        <c:ser>
          <c:idx val="1"/>
          <c:order val="1"/>
          <c:tx>
            <c:v>両条件を満たす</c:v>
          </c:tx>
          <c:spPr>
            <a:solidFill xmlns:a="http://schemas.openxmlformats.org/drawingml/2006/main">
              <a:srgbClr val="2E7D5B"/>
            </a:solidFill>
            <a:ln xmlns:a="http://schemas.openxmlformats.org/drawingml/2006/main" w="0">
              <a:noFill/>
            </a:ln>
          </c:spPr>
          <c:marker>
            <c:symbol val="circle"/>
            <c:size val="6"/>
            <c:spPr>
              <a:noFill xmlns:a="http://schemas.openxmlformats.org/drawingml/2006/main"/>
            </c:spPr>
          </c:marker>
          <c:xVal>
            <c:numRef>
              <c:f>'Chart Data'!$C$2:$C$41</c:f>
              <c:numCache>
                <c:formatCode>General</c:formatCode>
                <c:ptCount val="4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numCache>
            </c:numRef>
          </c:xVal>
          <c:yVal>
            <c:numRef>
              <c:f>'Chart Data'!$D$2:$D$41</c:f>
              <c:numCache>
                <c:formatCode>0.0</c:formatCode>
                <c:ptCount val="40"/>
                <c:pt idx="0">
                  <c:v>0.05</c:v>
                </c:pt>
                <c:pt idx="1">
                  <c:v>0.15</c:v>
                </c:pt>
                <c:pt idx="2">
                  <c:v>0.25</c:v>
                </c:pt>
                <c:pt idx="3">
                  <c:v>0.35</c:v>
                </c:pt>
                <c:pt idx="4">
                  <c:v>0.45</c:v>
                </c:pt>
                <c:pt idx="5">
                  <c:v>0.05</c:v>
                </c:pt>
                <c:pt idx="6">
                  <c:v>0.15</c:v>
                </c:pt>
                <c:pt idx="7">
                  <c:v>0.25</c:v>
                </c:pt>
                <c:pt idx="8">
                  <c:v>0.35</c:v>
                </c:pt>
                <c:pt idx="9">
                  <c:v>0.45</c:v>
                </c:pt>
                <c:pt idx="10">
                  <c:v>0.05</c:v>
                </c:pt>
                <c:pt idx="11">
                  <c:v>0.15</c:v>
                </c:pt>
                <c:pt idx="12">
                  <c:v>0.25</c:v>
                </c:pt>
                <c:pt idx="13">
                  <c:v>0.35</c:v>
                </c:pt>
                <c:pt idx="14">
                  <c:v>0.45</c:v>
                </c:pt>
                <c:pt idx="15">
                  <c:v>0.05</c:v>
                </c:pt>
                <c:pt idx="16">
                  <c:v>0.15</c:v>
                </c:pt>
                <c:pt idx="17">
                  <c:v>0.25</c:v>
                </c:pt>
                <c:pt idx="18">
                  <c:v>0.35</c:v>
                </c:pt>
                <c:pt idx="19">
                  <c:v>0.45</c:v>
                </c:pt>
                <c:pt idx="20">
                  <c:v>0.05</c:v>
                </c:pt>
                <c:pt idx="21">
                  <c:v>0.15</c:v>
                </c:pt>
                <c:pt idx="22">
                  <c:v>0.25</c:v>
                </c:pt>
                <c:pt idx="23">
                  <c:v>0.35</c:v>
                </c:pt>
                <c:pt idx="24">
                  <c:v>0.45</c:v>
                </c:pt>
                <c:pt idx="25">
                  <c:v>0.05</c:v>
                </c:pt>
                <c:pt idx="26">
                  <c:v>0.15</c:v>
                </c:pt>
                <c:pt idx="27">
                  <c:v>0.25</c:v>
                </c:pt>
                <c:pt idx="28">
                  <c:v>0.35</c:v>
                </c:pt>
                <c:pt idx="29">
                  <c:v>0.45</c:v>
                </c:pt>
                <c:pt idx="30">
                  <c:v>0.05</c:v>
                </c:pt>
                <c:pt idx="31">
                  <c:v>0.15</c:v>
                </c:pt>
                <c:pt idx="32">
                  <c:v>0.25</c:v>
                </c:pt>
                <c:pt idx="33">
                  <c:v>0.35</c:v>
                </c:pt>
                <c:pt idx="34">
                  <c:v>0.45</c:v>
                </c:pt>
                <c:pt idx="35">
                  <c:v>0.05</c:v>
                </c:pt>
                <c:pt idx="36">
                  <c:v>0.15</c:v>
                </c:pt>
                <c:pt idx="37">
                  <c:v>0.25</c:v>
                </c:pt>
                <c:pt idx="38">
                  <c:v>0.35</c:v>
                </c:pt>
                <c:pt idx="39">
                  <c:v>0.45</c:v>
                </c:pt>
              </c:numCache>
            </c:numRef>
          </c:yVal>
        </c:ser>
        <c:ser>
          <c:idx val="2"/>
          <c:order val="2"/>
          <c:tx>
            <c:v>境界</c:v>
          </c:tx>
          <c:spPr>
            <a:solidFill xmlns:a="http://schemas.openxmlformats.org/drawingml/2006/main">
              <a:srgbClr val="2E7D5B"/>
            </a:solidFill>
            <a:ln xmlns:a="http://schemas.openxmlformats.org/drawingml/2006/main" w="19050">
              <a:solidFill>
                <a:srgbClr val="2E7D5B"/>
              </a:solidFill>
            </a:ln>
          </c:spPr>
          <c:marker>
            <c:symbol val="none"/>
          </c:marker>
          <c:xVal>
            <c:numRef>
              <c:f>'Chart Data'!$E$2:$E$6</c:f>
              <c:numCache>
                <c:formatCode>General</c:formatCode>
                <c:ptCount val="5"/>
                <c:pt idx="0">
                  <c:v>0</c:v>
                </c:pt>
                <c:pt idx="1">
                  <c:v>0.8</c:v>
                </c:pt>
                <c:pt idx="2">
                  <c:v>0.8</c:v>
                </c:pt>
                <c:pt idx="3">
                  <c:v>0</c:v>
                </c:pt>
                <c:pt idx="4">
                  <c:v>0</c:v>
                </c:pt>
              </c:numCache>
            </c:numRef>
          </c:xVal>
          <c:yVal>
            <c:numRef>
              <c:f>'Chart Data'!$F$2:$F$6</c:f>
              <c:numCache>
                <c:formatCode>0.0</c:formatCode>
                <c:ptCount val="5"/>
                <c:pt idx="0">
                  <c:v>0</c:v>
                </c:pt>
                <c:pt idx="1">
                  <c:v>0</c:v>
                </c:pt>
                <c:pt idx="2">
                  <c:v>0.5</c:v>
                </c:pt>
                <c:pt idx="3">
                  <c:v>0.5</c:v>
                </c:pt>
                <c:pt idx="4">
                  <c:v>0</c:v>
                </c:pt>
              </c:numCache>
            </c:numRef>
          </c:yVal>
        </c:ser>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tableStyles.xml><?xml version="1.0" encoding="utf-8"?>
<a:tblStyleLst xmlns:a="http://schemas.openxmlformats.org/drawingml/2006/main" def="{5C22544A-7EE6-4342-B048-85BDC9FD1C3A}"/>
</file>

<file path=ppt/copul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Type="http://schemas.openxmlformats.org/officeDocument/2006/relationships/slideLayout" Target="../copula/slideLayouts/slideLayout1.xml" Id="R68e3cd0cac2a4d1d"/><Relationship Type="http://schemas.openxmlformats.org/officeDocument/2006/relationships/notesSlide" Target="../copula/notesSlides/notesSlide1.xml" Id="Rf22a2e8a84984223"/></Relationships>
</file>

<file path=ppt/slides/_rels/slide102.xml.rels><?xml version='1.0' encoding='UTF-8' standalone='yes'?>
<Relationships xmlns="http://schemas.openxmlformats.org/package/2006/relationships"><Relationship Type="http://schemas.openxmlformats.org/officeDocument/2006/relationships/slideLayout" Target="../copula/slideLayouts/slideLayout1.xml" Id="R41a18a66533447bd"/><Relationship Type="http://schemas.openxmlformats.org/officeDocument/2006/relationships/notesSlide" Target="../copula/notesSlides/notesSlide2.xml" Id="R7aea88e8ae9f4dcf"/></Relationships>
</file>

<file path=ppt/slides/_rels/slide103.xml.rels><?xml version='1.0' encoding='UTF-8' standalone='yes'?>
<Relationships xmlns="http://schemas.openxmlformats.org/package/2006/relationships"><Relationship Type="http://schemas.openxmlformats.org/officeDocument/2006/relationships/slideLayout" Target="../copula/slideLayouts/slideLayout1.xml" Id="R942c02d5ce424357"/><Relationship Type="http://schemas.openxmlformats.org/officeDocument/2006/relationships/notesSlide" Target="../copula/notesSlides/notesSlide3.xml" Id="Rce6bde798c7c424b"/></Relationships>
</file>

<file path=ppt/slides/_rels/slide104.xml.rels><?xml version='1.0' encoding='UTF-8' standalone='yes'?>
<Relationships xmlns="http://schemas.openxmlformats.org/package/2006/relationships"><Relationship Type="http://schemas.openxmlformats.org/officeDocument/2006/relationships/slideLayout" Target="../copula/slideLayouts/slideLayout1.xml" Id="R2de3cbbe7af34a18"/><Relationship Type="http://schemas.openxmlformats.org/officeDocument/2006/relationships/notesSlide" Target="../copula/notesSlides/notesSlide4.xml" Id="R5b7cbdeddc504199"/></Relationships>
</file>

<file path=ppt/slides/_rels/slide105.xml.rels><?xml version='1.0' encoding='UTF-8' standalone='yes'?>
<Relationships xmlns="http://schemas.openxmlformats.org/package/2006/relationships"><Relationship Type="http://schemas.openxmlformats.org/officeDocument/2006/relationships/slideLayout" Target="../copula/slideLayouts/slideLayout1.xml" Id="Rb85858de7acf4c73"/><Relationship Type="http://schemas.openxmlformats.org/officeDocument/2006/relationships/notesSlide" Target="../copula/notesSlides/notesSlide5.xml" Id="R47ca596b8cfa466d"/></Relationships>
</file>

<file path=ppt/slides/_rels/slide106.xml.rels><?xml version='1.0' encoding='UTF-8' standalone='yes'?>
<Relationships xmlns="http://schemas.openxmlformats.org/package/2006/relationships"><Relationship Type="http://schemas.openxmlformats.org/officeDocument/2006/relationships/slideLayout" Target="../copula/slideLayouts/slideLayout1.xml" Id="Rdd1a18d2cfbb4433"/><Relationship Type="http://schemas.openxmlformats.org/officeDocument/2006/relationships/notesSlide" Target="../copula/notesSlides/notesSlide6.xml" Id="Rf12c1b32d78745c4"/></Relationships>
</file>

<file path=ppt/slides/_rels/slide107.xml.rels><?xml version='1.0' encoding='UTF-8' standalone='yes'?>
<Relationships xmlns="http://schemas.openxmlformats.org/package/2006/relationships"><Relationship Type="http://schemas.openxmlformats.org/officeDocument/2006/relationships/slideLayout" Target="../copula/slideLayouts/slideLayout1.xml" Id="R3485fa04f4d34a98"/><Relationship Type="http://schemas.openxmlformats.org/officeDocument/2006/relationships/chart" Target="../copula/slides/charts/chart1.xml" Id="R4c1dea9802f54a71"/><Relationship Type="http://schemas.openxmlformats.org/officeDocument/2006/relationships/notesSlide" Target="../copula/notesSlides/notesSlide7.xml" Id="R75898a25fed14240"/></Relationships>
</file>

<file path=ppt/slides/_rels/slide108.xml.rels><?xml version='1.0' encoding='UTF-8' standalone='yes'?>
<Relationships xmlns="http://schemas.openxmlformats.org/package/2006/relationships"><Relationship Type="http://schemas.openxmlformats.org/officeDocument/2006/relationships/slideLayout" Target="../copula/slideLayouts/slideLayout1.xml" Id="R20fc8975feb64d72"/><Relationship Type="http://schemas.openxmlformats.org/officeDocument/2006/relationships/notesSlide" Target="../copula/notesSlides/notesSlide8.xml" Id="Reb11794153c9435d"/></Relationships>
</file>

<file path=ppt/slides/_rels/slide109.xml.rels><?xml version='1.0' encoding='UTF-8' standalone='yes'?>
<Relationships xmlns="http://schemas.openxmlformats.org/package/2006/relationships"><Relationship Type="http://schemas.openxmlformats.org/officeDocument/2006/relationships/slideLayout" Target="../copula/slideLayouts/slideLayout1.xml" Id="R1bed4c5c0b394618"/><Relationship Type="http://schemas.openxmlformats.org/officeDocument/2006/relationships/notesSlide" Target="../copula/notesSlides/notesSlide9.xml" Id="R5173f909a0e9456d"/></Relationships>
</file>

<file path=ppt/slides/_rels/slide110.xml.rels><?xml version='1.0' encoding='UTF-8' standalone='yes'?>
<Relationships xmlns="http://schemas.openxmlformats.org/package/2006/relationships"><Relationship Type="http://schemas.openxmlformats.org/officeDocument/2006/relationships/slideLayout" Target="../copula/slideLayouts/slideLayout1.xml" Id="Redfe1b940c7b4969"/><Relationship Type="http://schemas.openxmlformats.org/officeDocument/2006/relationships/notesSlide" Target="../copula/notesSlides/notesSlide10.xml" Id="Rafebe3f5df85457c"/></Relationships>
</file>

<file path=ppt/slides/_rels/slide111.xml.rels><?xml version='1.0' encoding='UTF-8' standalone='yes'?>
<Relationships xmlns="http://schemas.openxmlformats.org/package/2006/relationships"><Relationship Type="http://schemas.openxmlformats.org/officeDocument/2006/relationships/slideLayout" Target="../copula/slideLayouts/slideLayout1.xml" Id="R372792900d1440e7"/><Relationship Type="http://schemas.openxmlformats.org/officeDocument/2006/relationships/chart" Target="../copula/slides/charts/chart2.xml" Id="R64a292c891f541e1"/><Relationship Type="http://schemas.openxmlformats.org/officeDocument/2006/relationships/notesSlide" Target="../copula/notesSlides/notesSlide11.xml" Id="Rd685837ec54c440c"/></Relationships>
</file>

<file path=ppt/slides/_rels/slide112.xml.rels><?xml version='1.0' encoding='UTF-8' standalone='yes'?>
<Relationships xmlns="http://schemas.openxmlformats.org/package/2006/relationships"><Relationship Type="http://schemas.openxmlformats.org/officeDocument/2006/relationships/slideLayout" Target="../copula/slideLayouts/slideLayout1.xml" Id="Rfe821a6241e144ca"/><Relationship Type="http://schemas.openxmlformats.org/officeDocument/2006/relationships/notesSlide" Target="../copula/notesSlides/notesSlide12.xml" Id="R58065d2f00094b57"/></Relationships>
</file>

<file path=ppt/slides/_rels/slide113.xml.rels><?xml version='1.0' encoding='UTF-8' standalone='yes'?>
<Relationships xmlns="http://schemas.openxmlformats.org/package/2006/relationships"><Relationship Type="http://schemas.openxmlformats.org/officeDocument/2006/relationships/slideLayout" Target="../copula/slideLayouts/slideLayout1.xml" Id="R55bba34db63a49f9"/><Relationship Type="http://schemas.openxmlformats.org/officeDocument/2006/relationships/notesSlide" Target="../copula/notesSlides/notesSlide13.xml" Id="R9a3b264f1d284b27"/></Relationships>
</file>

<file path=ppt/slides/_rels/slide114.xml.rels><?xml version='1.0' encoding='UTF-8' standalone='yes'?>
<Relationships xmlns="http://schemas.openxmlformats.org/package/2006/relationships"><Relationship Type="http://schemas.openxmlformats.org/officeDocument/2006/relationships/slideLayout" Target="../copula/slideLayouts/slideLayout1.xml" Id="R64a7a2b255f54935"/><Relationship Type="http://schemas.openxmlformats.org/officeDocument/2006/relationships/notesSlide" Target="../copula/notesSlides/notesSlide14.xml" Id="R176d81316c63460f"/></Relationships>
</file>

<file path=ppt/slides/_rels/slide115.xml.rels><?xml version='1.0' encoding='UTF-8' standalone='yes'?>
<Relationships xmlns="http://schemas.openxmlformats.org/package/2006/relationships"><Relationship Type="http://schemas.openxmlformats.org/officeDocument/2006/relationships/slideLayout" Target="../copula/slideLayouts/slideLayout1.xml" Id="Rd04d29350e614115"/><Relationship Type="http://schemas.openxmlformats.org/officeDocument/2006/relationships/notesSlide" Target="../copula/notesSlides/notesSlide15.xml" Id="Ra49d07528439417d"/></Relationships>
</file>

<file path=ppt/slides/_rels/slide116.xml.rels><?xml version='1.0' encoding='UTF-8' standalone='yes'?>
<Relationships xmlns="http://schemas.openxmlformats.org/package/2006/relationships"><Relationship Type="http://schemas.openxmlformats.org/officeDocument/2006/relationships/slideLayout" Target="../copula/slideLayouts/slideLayout1.xml" Id="R2e5c032bea4446ee"/><Relationship Type="http://schemas.openxmlformats.org/officeDocument/2006/relationships/notesSlide" Target="../copula/notesSlides/notesSlide16.xml" Id="Rae934dcbf44e4e05"/></Relationships>
</file>

<file path=ppt/slides/_rels/slide117.xml.rels><?xml version='1.0' encoding='UTF-8' standalone='yes'?>
<Relationships xmlns="http://schemas.openxmlformats.org/package/2006/relationships"><Relationship Type="http://schemas.openxmlformats.org/officeDocument/2006/relationships/slideLayout" Target="../copula/slideLayouts/slideLayout1.xml" Id="Racaf9de895014b58"/><Relationship Type="http://schemas.openxmlformats.org/officeDocument/2006/relationships/notesSlide" Target="../copula/notesSlides/notesSlide17.xml" Id="R28b6ed94321548f2"/></Relationships>
</file>

<file path=ppt/slides/_rels/slide118.xml.rels><?xml version='1.0' encoding='UTF-8' standalone='yes'?>
<Relationships xmlns="http://schemas.openxmlformats.org/package/2006/relationships"><Relationship Type="http://schemas.openxmlformats.org/officeDocument/2006/relationships/slideLayout" Target="../copula/slideLayouts/slideLayout1.xml" Id="R5e9dd02fc3f74711"/><Relationship Type="http://schemas.openxmlformats.org/officeDocument/2006/relationships/notesSlide" Target="../copula/notesSlides/notesSlide18.xml" Id="R9dbf198b57ac40d9"/></Relationships>
</file>

<file path=ppt/slides/_rels/slide119.xml.rels><?xml version='1.0' encoding='UTF-8' standalone='yes'?>
<Relationships xmlns="http://schemas.openxmlformats.org/package/2006/relationships"><Relationship Type="http://schemas.openxmlformats.org/officeDocument/2006/relationships/slideLayout" Target="../copula/slideLayouts/slideLayout1.xml" Id="R516a601011384977"/><Relationship Type="http://schemas.openxmlformats.org/officeDocument/2006/relationships/notesSlide" Target="../copula/notesSlides/notesSlide19.xml" Id="Rab95105954f64d6a"/></Relationships>
</file>

<file path=ppt/slides/_rels/slide120.xml.rels><?xml version='1.0' encoding='UTF-8' standalone='yes'?>
<Relationships xmlns="http://schemas.openxmlformats.org/package/2006/relationships"><Relationship Type="http://schemas.openxmlformats.org/officeDocument/2006/relationships/slideLayout" Target="../copula/slideLayouts/slideLayout1.xml" Id="Rd9bfecdfae074cb8"/><Relationship Type="http://schemas.openxmlformats.org/officeDocument/2006/relationships/notesSlide" Target="../copula/notesSlides/notesSlide20.xml" Id="Ra3b4f9f301254f96"/></Relationships>
</file>

<file path=ppt/slides/_rels/slide121.xml.rels><?xml version='1.0' encoding='UTF-8' standalone='yes'?>
<Relationships xmlns="http://schemas.openxmlformats.org/package/2006/relationships"><Relationship Type="http://schemas.openxmlformats.org/officeDocument/2006/relationships/slideLayout" Target="../copula/slideLayouts/slideLayout1.xml" Id="R58d52796fdcd459f"/><Relationship Type="http://schemas.openxmlformats.org/officeDocument/2006/relationships/notesSlide" Target="../copula/notesSlides/notesSlide21.xml" Id="Rd35f4af93cb94d40"/></Relationships>
</file>

<file path=ppt/slides/_rels/slide122.xml.rels><?xml version='1.0' encoding='UTF-8' standalone='yes'?>
<Relationships xmlns="http://schemas.openxmlformats.org/package/2006/relationships"><Relationship Type="http://schemas.openxmlformats.org/officeDocument/2006/relationships/slideLayout" Target="../copula/slideLayouts/slideLayout1.xml" Id="Rc60b57a5cbf441cc"/><Relationship Type="http://schemas.openxmlformats.org/officeDocument/2006/relationships/notesSlide" Target="../copula/notesSlides/notesSlide22.xml" Id="R04517ed54c254abd"/></Relationships>
</file>

<file path=ppt/slides/_rels/slide123.xml.rels><?xml version='1.0' encoding='UTF-8' standalone='yes'?>
<Relationships xmlns="http://schemas.openxmlformats.org/package/2006/relationships"><Relationship Type="http://schemas.openxmlformats.org/officeDocument/2006/relationships/slideLayout" Target="../copula/slideLayouts/slideLayout1.xml" Id="R09da36515a5a4942"/><Relationship Type="http://schemas.openxmlformats.org/officeDocument/2006/relationships/notesSlide" Target="../copula/notesSlides/notesSlide23.xml" Id="R73b1dbc7410f4c17"/></Relationships>
</file>

<file path=ppt/slides/_rels/slide124.xml.rels><?xml version='1.0' encoding='UTF-8' standalone='yes'?>
<Relationships xmlns="http://schemas.openxmlformats.org/package/2006/relationships"><Relationship Type="http://schemas.openxmlformats.org/officeDocument/2006/relationships/slideLayout" Target="../copula/slideLayouts/slideLayout1.xml" Id="R87d3b39590064a90"/><Relationship Type="http://schemas.openxmlformats.org/officeDocument/2006/relationships/notesSlide" Target="../copula/notesSlides/notesSlide24.xml" Id="R5f4c916f088444ae"/></Relationships>
</file>

<file path=ppt/slides/_rels/slide125.xml.rels><?xml version='1.0' encoding='UTF-8' standalone='yes'?>
<Relationships xmlns="http://schemas.openxmlformats.org/package/2006/relationships"><Relationship Type="http://schemas.openxmlformats.org/officeDocument/2006/relationships/slideLayout" Target="../copula/slideLayouts/slideLayout1.xml" Id="R65f7adecf77c4d88"/><Relationship Type="http://schemas.openxmlformats.org/officeDocument/2006/relationships/notesSlide" Target="../copula/notesSlides/notesSlide25.xml" Id="R71c3686c29b24b9f"/></Relationships>
</file>

<file path=ppt/slides/_rels/slide126.xml.rels><?xml version='1.0' encoding='UTF-8' standalone='yes'?>
<Relationships xmlns="http://schemas.openxmlformats.org/package/2006/relationships"><Relationship Type="http://schemas.openxmlformats.org/officeDocument/2006/relationships/slideLayout" Target="../copula/slideLayouts/slideLayout1.xml" Id="Rbf2e5e9554324995"/><Relationship Type="http://schemas.openxmlformats.org/officeDocument/2006/relationships/notesSlide" Target="../copula/notesSlides/notesSlide26.xml" Id="Re305c87eba054e54"/></Relationships>
</file>

<file path=ppt/slides/_rels/slide127.xml.rels><?xml version='1.0' encoding='UTF-8' standalone='yes'?>
<Relationships xmlns="http://schemas.openxmlformats.org/package/2006/relationships"><Relationship Type="http://schemas.openxmlformats.org/officeDocument/2006/relationships/slideLayout" Target="../copula/slideLayouts/slideLayout1.xml" Id="R32761a4b528f421b"/><Relationship Type="http://schemas.openxmlformats.org/officeDocument/2006/relationships/notesSlide" Target="../copula/notesSlides/notesSlide27.xml" Id="Rcef467a3faa74234"/></Relationships>
</file>

<file path=ppt/slides/_rels/slide128.xml.rels><?xml version='1.0' encoding='UTF-8' standalone='yes'?>
<Relationships xmlns="http://schemas.openxmlformats.org/package/2006/relationships"><Relationship Type="http://schemas.openxmlformats.org/officeDocument/2006/relationships/slideLayout" Target="../copula/slideLayouts/slideLayout1.xml" Id="Rfc6bd73c395b421a"/><Relationship Type="http://schemas.openxmlformats.org/officeDocument/2006/relationships/notesSlide" Target="../copula/notesSlides/notesSlide28.xml" Id="R833654500e664cec"/></Relationships>
</file>

<file path=ppt/slides/_rels/slide129.xml.rels><?xml version='1.0' encoding='UTF-8' standalone='yes'?>
<Relationships xmlns="http://schemas.openxmlformats.org/package/2006/relationships"><Relationship Type="http://schemas.openxmlformats.org/officeDocument/2006/relationships/slideLayout" Target="../copula/slideLayouts/slideLayout1.xml" Id="R7c4c20ae9fb14958"/><Relationship Type="http://schemas.openxmlformats.org/officeDocument/2006/relationships/notesSlide" Target="../copula/notesSlides/notesSlide29.xml" Id="R7af489ad95874fa8"/></Relationships>
</file>

<file path=ppt/slides/_rels/slide130.xml.rels><?xml version='1.0' encoding='UTF-8' standalone='yes'?>
<Relationships xmlns="http://schemas.openxmlformats.org/package/2006/relationships"><Relationship Type="http://schemas.openxmlformats.org/officeDocument/2006/relationships/slideLayout" Target="../copula/slideLayouts/slideLayout1.xml" Id="R8ccb0a1141154581"/><Relationship Type="http://schemas.openxmlformats.org/officeDocument/2006/relationships/notesSlide" Target="../copula/notesSlides/notesSlide30.xml" Id="R3d2c916265f34ab9"/></Relationships>
</file>

<file path=ppt/slides/_rels/slide131.xml.rels><?xml version='1.0' encoding='UTF-8' standalone='yes'?>
<Relationships xmlns="http://schemas.openxmlformats.org/package/2006/relationships"><Relationship Type="http://schemas.openxmlformats.org/officeDocument/2006/relationships/slideLayout" Target="../copula/slideLayouts/slideLayout1.xml" Id="R1157bd6527ce4efd"/><Relationship Type="http://schemas.openxmlformats.org/officeDocument/2006/relationships/notesSlide" Target="../copula/notesSlides/notesSlide31.xml" Id="R7a13af8eeab442e5"/></Relationships>
</file>

<file path=ppt/slides/_rels/slide132.xml.rels><?xml version='1.0' encoding='UTF-8' standalone='yes'?>
<Relationships xmlns="http://schemas.openxmlformats.org/package/2006/relationships"><Relationship Type="http://schemas.openxmlformats.org/officeDocument/2006/relationships/slideLayout" Target="../copula/slideLayouts/slideLayout1.xml" Id="R32c83344d8a04e0c"/><Relationship Type="http://schemas.openxmlformats.org/officeDocument/2006/relationships/chart" Target="../copula/slides/charts/chart3.xml" Id="R5ccdab36c491433b"/><Relationship Type="http://schemas.openxmlformats.org/officeDocument/2006/relationships/chart" Target="../copula/slides/charts/chart4.xml" Id="Rd7f804ac38104c1b"/><Relationship Type="http://schemas.openxmlformats.org/officeDocument/2006/relationships/chart" Target="../copula/slides/charts/chart5.xml" Id="R6c123be1136b4d78"/><Relationship Type="http://schemas.openxmlformats.org/officeDocument/2006/relationships/notesSlide" Target="../copula/notesSlides/notesSlide32.xml" Id="Rc3d29ebeb8224b1f"/></Relationships>
</file>

<file path=ppt/slides/_rels/slide133.xml.rels><?xml version='1.0' encoding='UTF-8' standalone='yes'?>
<Relationships xmlns="http://schemas.openxmlformats.org/package/2006/relationships"><Relationship Type="http://schemas.openxmlformats.org/officeDocument/2006/relationships/slideLayout" Target="../copula/slideLayouts/slideLayout1.xml" Id="R1070616d7ba84e27"/><Relationship Type="http://schemas.openxmlformats.org/officeDocument/2006/relationships/notesSlide" Target="../copula/notesSlides/notesSlide33.xml" Id="Ra39b70728a11431d"/></Relationships>
</file>

<file path=ppt/slides/_rels/slide134.xml.rels><?xml version='1.0' encoding='UTF-8' standalone='yes'?>
<Relationships xmlns="http://schemas.openxmlformats.org/package/2006/relationships"><Relationship Type="http://schemas.openxmlformats.org/officeDocument/2006/relationships/slideLayout" Target="../copula/slideLayouts/slideLayout1.xml" Id="Rb447a9cf8e174c26"/><Relationship Type="http://schemas.openxmlformats.org/officeDocument/2006/relationships/notesSlide" Target="../copula/notesSlides/notesSlide34.xml" Id="Rce29bd04dd25478a"/></Relationships>
</file>

<file path=ppt/slides/_rels/slide135.xml.rels><?xml version='1.0' encoding='UTF-8' standalone='yes'?>
<Relationships xmlns="http://schemas.openxmlformats.org/package/2006/relationships"><Relationship Type="http://schemas.openxmlformats.org/officeDocument/2006/relationships/slideLayout" Target="../copula/slideLayouts/slideLayout1.xml" Id="Rd0131daaad6547c0"/><Relationship Type="http://schemas.openxmlformats.org/officeDocument/2006/relationships/notesSlide" Target="../copula/notesSlides/notesSlide35.xml" Id="R17deba487b9541a1"/></Relationships>
</file>

<file path=ppt/slides/_rels/slide136.xml.rels><?xml version='1.0' encoding='UTF-8' standalone='yes'?>
<Relationships xmlns="http://schemas.openxmlformats.org/package/2006/relationships"><Relationship Type="http://schemas.openxmlformats.org/officeDocument/2006/relationships/slideLayout" Target="../copula/slideLayouts/slideLayout1.xml" Id="R5fa4f7fb63224d34"/><Relationship Type="http://schemas.openxmlformats.org/officeDocument/2006/relationships/notesSlide" Target="../copula/notesSlides/notesSlide36.xml" Id="R8a215bdf4dd84555"/></Relationships>
</file>

<file path=ppt/slides/_rels/slide137.xml.rels><?xml version='1.0' encoding='UTF-8' standalone='yes'?>
<Relationships xmlns="http://schemas.openxmlformats.org/package/2006/relationships"><Relationship Type="http://schemas.openxmlformats.org/officeDocument/2006/relationships/slideLayout" Target="../copula/slideLayouts/slideLayout1.xml" Id="R885898478ece4b0d"/><Relationship Type="http://schemas.openxmlformats.org/officeDocument/2006/relationships/notesSlide" Target="../copula/notesSlides/notesSlide37.xml" Id="Re58099b1dc504c31"/></Relationships>
</file>

<file path=ppt/slides/_rels/slide138.xml.rels><?xml version='1.0' encoding='UTF-8' standalone='yes'?>
<Relationships xmlns="http://schemas.openxmlformats.org/package/2006/relationships"><Relationship Type="http://schemas.openxmlformats.org/officeDocument/2006/relationships/slideLayout" Target="../copula/slideLayouts/slideLayout1.xml" Id="R3972b987d0544596"/><Relationship Type="http://schemas.openxmlformats.org/officeDocument/2006/relationships/notesSlide" Target="../copula/notesSlides/notesSlide38.xml" Id="Rdabb6a8c67fe4f6f"/></Relationships>
</file>

<file path=ppt/slides/_rels/slide139.xml.rels><?xml version='1.0' encoding='UTF-8' standalone='yes'?>
<Relationships xmlns="http://schemas.openxmlformats.org/package/2006/relationships"><Relationship Type="http://schemas.openxmlformats.org/officeDocument/2006/relationships/slideLayout" Target="../copula/slideLayouts/slideLayout1.xml" Id="Rb8d17317dfd9429f"/><Relationship Type="http://schemas.openxmlformats.org/officeDocument/2006/relationships/notesSlide" Target="../copula/notesSlides/notesSlide39.xml" Id="R8c591bd718374ac6"/></Relationships>
</file>

<file path=ppt/slides/_rels/slide140.xml.rels><?xml version='1.0' encoding='UTF-8' standalone='yes'?>
<Relationships xmlns="http://schemas.openxmlformats.org/package/2006/relationships"><Relationship Type="http://schemas.openxmlformats.org/officeDocument/2006/relationships/slideLayout" Target="../copula/slideLayouts/slideLayout1.xml" Id="R7d084213a0cd422e"/><Relationship Type="http://schemas.openxmlformats.org/officeDocument/2006/relationships/notesSlide" Target="../copula/notesSlides/notesSlide40.xml" Id="Rde714c22e64a49b5"/></Relationships>
</file>

<file path=ppt/slides/_rels/slide141.xml.rels><?xml version='1.0' encoding='UTF-8' standalone='yes'?>
<Relationships xmlns="http://schemas.openxmlformats.org/package/2006/relationships"><Relationship Type="http://schemas.openxmlformats.org/officeDocument/2006/relationships/slideLayout" Target="../copula/slideLayouts/slideLayout1.xml" Id="Rb35bf0ec317a4c53"/><Relationship Type="http://schemas.openxmlformats.org/officeDocument/2006/relationships/notesSlide" Target="../copula/notesSlides/notesSlide41.xml" Id="R971a8b2b4faa47ed"/></Relationships>
</file>

<file path=ppt/slides/_rels/slide142.xml.rels><?xml version='1.0' encoding='UTF-8' standalone='yes'?>
<Relationships xmlns="http://schemas.openxmlformats.org/package/2006/relationships"><Relationship Type="http://schemas.openxmlformats.org/officeDocument/2006/relationships/slideLayout" Target="../copula/slideLayouts/slideLayout1.xml" Id="R88950ee5aad64d87"/><Relationship Type="http://schemas.openxmlformats.org/officeDocument/2006/relationships/notesSlide" Target="../copula/notesSlides/notesSlide42.xml" Id="Raa0c58a70a264822"/></Relationships>
</file>

<file path=ppt/slides/_rels/slide143.xml.rels><?xml version='1.0' encoding='UTF-8' standalone='yes'?>
<Relationships xmlns="http://schemas.openxmlformats.org/package/2006/relationships"><Relationship Type="http://schemas.openxmlformats.org/officeDocument/2006/relationships/slideLayout" Target="../copula/slideLayouts/slideLayout1.xml" Id="R415ae04ce9414f36"/><Relationship Type="http://schemas.openxmlformats.org/officeDocument/2006/relationships/notesSlide" Target="../copula/notesSlides/notesSlide43.xml" Id="R98b81bda53d24580"/></Relationships>
</file>

<file path=ppt/slides/_rels/slide144.xml.rels><?xml version='1.0' encoding='UTF-8' standalone='yes'?>
<Relationships xmlns="http://schemas.openxmlformats.org/package/2006/relationships"><Relationship Type="http://schemas.openxmlformats.org/officeDocument/2006/relationships/slideLayout" Target="../copula/slideLayouts/slideLayout1.xml" Id="R9d55902319304f30"/><Relationship Type="http://schemas.openxmlformats.org/officeDocument/2006/relationships/notesSlide" Target="../copula/notesSlides/notesSlide44.xml" Id="R36d4c1356a974f39"/></Relationships>
</file>

<file path=ppt/slides/_rels/slide145.xml.rels><?xml version='1.0' encoding='UTF-8' standalone='yes'?>
<Relationships xmlns="http://schemas.openxmlformats.org/package/2006/relationships"><Relationship Type="http://schemas.openxmlformats.org/officeDocument/2006/relationships/slideLayout" Target="../copula/slideLayouts/slideLayout1.xml" Id="R8365a93c49b14547"/><Relationship Type="http://schemas.openxmlformats.org/officeDocument/2006/relationships/notesSlide" Target="../copula/notesSlides/notesSlide45.xml" Id="Rf74df853260d4fde"/></Relationships>
</file>

<file path=ppt/slides/_rels/slide146.xml.rels><?xml version='1.0' encoding='UTF-8' standalone='yes'?>
<Relationships xmlns="http://schemas.openxmlformats.org/package/2006/relationships"><Relationship Type="http://schemas.openxmlformats.org/officeDocument/2006/relationships/slideLayout" Target="../copula/slideLayouts/slideLayout1.xml" Id="R0742b90590324888"/><Relationship Type="http://schemas.openxmlformats.org/officeDocument/2006/relationships/notesSlide" Target="../copula/notesSlides/notesSlide46.xml" Id="Rf0611af62731411c"/></Relationships>
</file>

<file path=ppt/slides/_rels/slide147.xml.rels><?xml version='1.0' encoding='UTF-8' standalone='yes'?>
<Relationships xmlns="http://schemas.openxmlformats.org/package/2006/relationships"><Relationship Type="http://schemas.openxmlformats.org/officeDocument/2006/relationships/slideLayout" Target="../copula/slideLayouts/slideLayout1.xml" Id="R81c8d22ac80b44ab"/><Relationship Type="http://schemas.openxmlformats.org/officeDocument/2006/relationships/notesSlide" Target="../copula/notesSlides/notesSlide47.xml" Id="R0740c7d62e8c4526"/></Relationships>
</file>

<file path=ppt/slides/_rels/slide148.xml.rels><?xml version='1.0' encoding='UTF-8' standalone='yes'?>
<Relationships xmlns="http://schemas.openxmlformats.org/package/2006/relationships"><Relationship Type="http://schemas.openxmlformats.org/officeDocument/2006/relationships/slideLayout" Target="../copula/slideLayouts/slideLayout1.xml" Id="R66d454e7e50f447d"/><Relationship Type="http://schemas.openxmlformats.org/officeDocument/2006/relationships/notesSlide" Target="../copula/notesSlides/notesSlide48.xml" Id="R7e5d9d785c6e4b3f"/></Relationships>
</file>

<file path=ppt/slides/_rels/slide149.xml.rels><?xml version='1.0' encoding='UTF-8' standalone='yes'?>
<Relationships xmlns="http://schemas.openxmlformats.org/package/2006/relationships"><Relationship Type="http://schemas.openxmlformats.org/officeDocument/2006/relationships/slideLayout" Target="../copula/slideLayouts/slideLayout1.xml" Id="Re8d445a5b32847da"/><Relationship Type="http://schemas.openxmlformats.org/officeDocument/2006/relationships/notesSlide" Target="../copula/notesSlides/notesSlide49.xml" Id="R8ad55cbfcae1483d"/></Relationships>
</file>

<file path=ppt/slides/_rels/slide150.xml.rels><?xml version='1.0' encoding='UTF-8' standalone='yes'?>
<Relationships xmlns="http://schemas.openxmlformats.org/package/2006/relationships"><Relationship Type="http://schemas.openxmlformats.org/officeDocument/2006/relationships/slideLayout" Target="../copula/slideLayouts/slideLayout1.xml" Id="R66fdf326c3134788"/><Relationship Type="http://schemas.openxmlformats.org/officeDocument/2006/relationships/notesSlide" Target="../copula/notesSlides/notesSlide50.xml" Id="Rc367f80cbfbc4069"/></Relationships>
</file>

<file path=ppt/slides/_rels/slide151.xml.rels><?xml version='1.0' encoding='UTF-8' standalone='yes'?>
<Relationships xmlns="http://schemas.openxmlformats.org/package/2006/relationships"><Relationship Type="http://schemas.openxmlformats.org/officeDocument/2006/relationships/slideLayout" Target="../copula/slideLayouts/slideLayout1.xml" Id="Rff69bdca810d46b3"/><Relationship Type="http://schemas.openxmlformats.org/officeDocument/2006/relationships/notesSlide" Target="../copula/notesSlides/notesSlide51.xml" Id="Rd975d76032484504"/></Relationships>
</file>

<file path=ppt/slides/_rels/slide152.xml.rels><?xml version='1.0' encoding='UTF-8' standalone='yes'?>
<Relationships xmlns="http://schemas.openxmlformats.org/package/2006/relationships"><Relationship Type="http://schemas.openxmlformats.org/officeDocument/2006/relationships/slideLayout" Target="../copula/slideLayouts/slideLayout1.xml" Id="R94580ca64af54ed7"/><Relationship Type="http://schemas.openxmlformats.org/officeDocument/2006/relationships/notesSlide" Target="../copula/notesSlides/notesSlide52.xml" Id="Raed31e93ea3e4196"/></Relationships>
</file>

<file path=ppt/slides/_rels/slide153.xml.rels><?xml version='1.0' encoding='UTF-8' standalone='yes'?>
<Relationships xmlns="http://schemas.openxmlformats.org/package/2006/relationships"><Relationship Type="http://schemas.openxmlformats.org/officeDocument/2006/relationships/slideLayout" Target="../copula/slideLayouts/slideLayout1.xml" Id="Rb0cc746100ec432b"/><Relationship Type="http://schemas.openxmlformats.org/officeDocument/2006/relationships/notesSlide" Target="../copula/notesSlides/notesSlide53.xml" Id="R7f6b11ae84df428b"/></Relationships>
</file>

<file path=ppt/slides/_rels/slide154.xml.rels><?xml version='1.0' encoding='UTF-8' standalone='yes'?>
<Relationships xmlns="http://schemas.openxmlformats.org/package/2006/relationships"><Relationship Type="http://schemas.openxmlformats.org/officeDocument/2006/relationships/slideLayout" Target="../copula/slideLayouts/slideLayout1.xml" Id="Rbe41018233cb4d35"/><Relationship Type="http://schemas.openxmlformats.org/officeDocument/2006/relationships/notesSlide" Target="../copula/notesSlides/notesSlide54.xml" Id="R6faeb3b4bf9c4902"/></Relationships>
</file>

<file path=ppt/slides/_rels/slide155.xml.rels><?xml version='1.0' encoding='UTF-8' standalone='yes'?>
<Relationships xmlns="http://schemas.openxmlformats.org/package/2006/relationships"><Relationship Type="http://schemas.openxmlformats.org/officeDocument/2006/relationships/slideLayout" Target="../copula/slideLayouts/slideLayout1.xml" Id="R13dcd9e3da834cf5"/><Relationship Type="http://schemas.openxmlformats.org/officeDocument/2006/relationships/notesSlide" Target="../copula/notesSlides/notesSlide55.xml" Id="R3715478a62084d20"/></Relationships>
</file>

<file path=ppt/slides/_rels/slide156.xml.rels><?xml version='1.0' encoding='UTF-8' standalone='yes'?>
<Relationships xmlns="http://schemas.openxmlformats.org/package/2006/relationships"><Relationship Type="http://schemas.openxmlformats.org/officeDocument/2006/relationships/slideLayout" Target="../copula/slideLayouts/slideLayout1.xml" Id="Re9b25591b00c404a"/><Relationship Type="http://schemas.openxmlformats.org/officeDocument/2006/relationships/notesSlide" Target="../copula/notesSlides/notesSlide56.xml" Id="R0f868e8d6622433f"/></Relationships>
</file>

<file path=ppt/slides/_rels/slide157.xml.rels><?xml version='1.0' encoding='UTF-8' standalone='yes'?>
<Relationships xmlns="http://schemas.openxmlformats.org/package/2006/relationships"><Relationship Type="http://schemas.openxmlformats.org/officeDocument/2006/relationships/slideLayout" Target="../copula/slideLayouts/slideLayout1.xml" Id="R59fd0298961a4d61"/><Relationship Type="http://schemas.openxmlformats.org/officeDocument/2006/relationships/notesSlide" Target="../copula/notesSlides/notesSlide57.xml" Id="R8cd6e3c75a8a49a2"/></Relationships>
</file>

<file path=ppt/slides/_rels/slide158.xml.rels><?xml version='1.0' encoding='UTF-8' standalone='yes'?>
<Relationships xmlns="http://schemas.openxmlformats.org/package/2006/relationships"><Relationship Type="http://schemas.openxmlformats.org/officeDocument/2006/relationships/slideLayout" Target="../copula/slideLayouts/slideLayout1.xml" Id="R0eb92ffc8e65471a"/><Relationship Type="http://schemas.openxmlformats.org/officeDocument/2006/relationships/notesSlide" Target="../copula/notesSlides/notesSlide58.xml" Id="Ra764746cab9e4d9c"/></Relationships>
</file>

<file path=ppt/slides/_rels/slide159.xml.rels><?xml version='1.0' encoding='UTF-8' standalone='yes'?>
<Relationships xmlns="http://schemas.openxmlformats.org/package/2006/relationships"><Relationship Type="http://schemas.openxmlformats.org/officeDocument/2006/relationships/slideLayout" Target="../copula/slideLayouts/slideLayout1.xml" Id="R2e7e9a948d704ae3"/><Relationship Type="http://schemas.openxmlformats.org/officeDocument/2006/relationships/notesSlide" Target="../copula/notesSlides/notesSlide59.xml" Id="Rdb9c12c65e19494b"/></Relationships>
</file>

<file path=ppt/slides/_rels/slide160.xml.rels><?xml version='1.0' encoding='UTF-8' standalone='yes'?>
<Relationships xmlns="http://schemas.openxmlformats.org/package/2006/relationships"><Relationship Type="http://schemas.openxmlformats.org/officeDocument/2006/relationships/slideLayout" Target="../copula/slideLayouts/slideLayout1.xml" Id="R0725b9868b674a51"/><Relationship Type="http://schemas.openxmlformats.org/officeDocument/2006/relationships/notesSlide" Target="../copula/notesSlides/notesSlide60.xml" Id="R82dcb1304cc54a86"/></Relationships>
</file>

<file path=ppt/slides/_rels/slide161.xml.rels><?xml version='1.0' encoding='UTF-8' standalone='yes'?>
<Relationships xmlns="http://schemas.openxmlformats.org/package/2006/relationships"><Relationship Type="http://schemas.openxmlformats.org/officeDocument/2006/relationships/slideLayout" Target="../copula/slideLayouts/slideLayout1.xml" Id="Rbf1d869a4ab64900"/><Relationship Type="http://schemas.openxmlformats.org/officeDocument/2006/relationships/notesSlide" Target="../copula/notesSlides/notesSlide61.xml" Id="Rd78dd99506ae4bbe"/></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ED6C025-1587-4B8E-8A23-E6969BE2097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今回の進捗と発表の流れ</a:t>
            </a:r>
          </a:p>
        </p:txBody>
      </p:sp>
      <p:sp>
        <p:nvSpPr>
          <p:cNvPr id="2" name="">
            <a:extLst xmlns:a="http://schemas.openxmlformats.org/drawingml/2006/main">
              <a:ext uri="{FF2B5EF4-FFF2-40B4-BE49-F238E27FC236}">
                <a16:creationId xmlns:a16="http://schemas.microsoft.com/office/drawing/2014/main" id="{B2C4C3B0-ED78-4852-8BC2-741D2FB2236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54D40B-DB96-40C8-A760-8906B9716B3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前回決めた問題設定に対し、データ拡張の生成方法を具体化する。</a:t>
            </a:r>
          </a:p>
        </p:txBody>
      </p:sp>
      <p:sp>
        <p:nvSpPr>
          <p:cNvPr id="4" name="">
            <a:extLst xmlns:a="http://schemas.openxmlformats.org/drawingml/2006/main">
              <a:ext uri="{FF2B5EF4-FFF2-40B4-BE49-F238E27FC236}">
                <a16:creationId xmlns:a16="http://schemas.microsoft.com/office/drawing/2014/main" id="{834276C9-4E94-4C66-A23F-42588CEC0CA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BE831CB4-7C79-4D69-8CD7-34B3B251DC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FE439F46-FB97-4AB3-B57A-3A6F649C2ADC}"/>
              </a:ext>
            </a:extLst>
          </p:cNvPr>
          <p:cNvSpPr>
            <a:spLocks xmlns:a="http://schemas.openxmlformats.org/drawingml/2006/main" noGrp="1"/>
          </p:cNvSpPr>
          <p:nvPr/>
        </p:nvSpPr>
        <p:spPr>
          <a:xfrm xmlns:a="http://schemas.openxmlformats.org/drawingml/2006/main">
            <a:off x="552450" y="193357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FADD4BF-9A8A-44B4-BEA6-20BBAD5777C4}"/>
              </a:ext>
            </a:extLst>
          </p:cNvPr>
          <p:cNvSpPr>
            <a:spLocks xmlns:a="http://schemas.openxmlformats.org/drawingml/2006/main" noGrp="1"/>
          </p:cNvSpPr>
          <p:nvPr/>
        </p:nvSpPr>
        <p:spPr>
          <a:xfrm xmlns:a="http://schemas.openxmlformats.org/drawingml/2006/main">
            <a:off x="1257300" y="193357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具体例：列ごとの分布と、列どうしの関係を分ける</a:t>
            </a:r>
          </a:p>
        </p:txBody>
      </p:sp>
      <p:sp>
        <p:nvSpPr>
          <p:cNvPr id="8" name="">
            <a:extLst xmlns:a="http://schemas.openxmlformats.org/drawingml/2006/main">
              <a:ext uri="{FF2B5EF4-FFF2-40B4-BE49-F238E27FC236}">
                <a16:creationId xmlns:a16="http://schemas.microsoft.com/office/drawing/2014/main" id="{25031463-9253-4AAF-8107-24DF0D6010DF}"/>
              </a:ext>
            </a:extLst>
          </p:cNvPr>
          <p:cNvSpPr>
            <a:spLocks xmlns:a="http://schemas.openxmlformats.org/drawingml/2006/main" noGrp="1"/>
          </p:cNvSpPr>
          <p:nvPr/>
        </p:nvSpPr>
        <p:spPr>
          <a:xfrm xmlns:a="http://schemas.openxmlformats.org/drawingml/2006/main">
            <a:off x="552450" y="275510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8B2E03C-41F8-43CD-ADD4-42E15D6AFD73}"/>
              </a:ext>
            </a:extLst>
          </p:cNvPr>
          <p:cNvSpPr>
            <a:spLocks xmlns:a="http://schemas.openxmlformats.org/drawingml/2006/main" noGrp="1"/>
          </p:cNvSpPr>
          <p:nvPr/>
        </p:nvSpPr>
        <p:spPr>
          <a:xfrm xmlns:a="http://schemas.openxmlformats.org/drawingml/2006/main">
            <a:off x="1257300" y="275510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定義と原理：累積確率・コピュラ・Sklarの定理</a:t>
            </a:r>
          </a:p>
        </p:txBody>
      </p:sp>
      <p:sp>
        <p:nvSpPr>
          <p:cNvPr id="10" name="">
            <a:extLst xmlns:a="http://schemas.openxmlformats.org/drawingml/2006/main">
              <a:ext uri="{FF2B5EF4-FFF2-40B4-BE49-F238E27FC236}">
                <a16:creationId xmlns:a16="http://schemas.microsoft.com/office/drawing/2014/main" id="{0E2B9DC6-5098-4A70-BDF9-1E74C82C5CC2}"/>
              </a:ext>
            </a:extLst>
          </p:cNvPr>
          <p:cNvSpPr>
            <a:spLocks xmlns:a="http://schemas.openxmlformats.org/drawingml/2006/main" noGrp="1"/>
          </p:cNvSpPr>
          <p:nvPr/>
        </p:nvSpPr>
        <p:spPr>
          <a:xfrm xmlns:a="http://schemas.openxmlformats.org/drawingml/2006/main">
            <a:off x="552450" y="357663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EE6CBA6-583F-4DD6-BDB4-7C5D0E26BFAD}"/>
              </a:ext>
            </a:extLst>
          </p:cNvPr>
          <p:cNvSpPr>
            <a:spLocks xmlns:a="http://schemas.openxmlformats.org/drawingml/2006/main" noGrp="1"/>
          </p:cNvSpPr>
          <p:nvPr/>
        </p:nvSpPr>
        <p:spPr>
          <a:xfrm xmlns:a="http://schemas.openxmlformats.org/drawingml/2006/main">
            <a:off x="1257300" y="357663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提案への接続：条件付き生成で、VIMEの置換を変更</a:t>
            </a:r>
          </a:p>
        </p:txBody>
      </p:sp>
      <p:sp>
        <p:nvSpPr>
          <p:cNvPr id="12" name="">
            <a:extLst xmlns:a="http://schemas.openxmlformats.org/drawingml/2006/main">
              <a:ext uri="{FF2B5EF4-FFF2-40B4-BE49-F238E27FC236}">
                <a16:creationId xmlns:a16="http://schemas.microsoft.com/office/drawing/2014/main" id="{ADAFFF46-4BCC-4F4E-AEA0-E894992E2F50}"/>
              </a:ext>
            </a:extLst>
          </p:cNvPr>
          <p:cNvSpPr>
            <a:spLocks xmlns:a="http://schemas.openxmlformats.org/drawingml/2006/main" noGrp="1"/>
          </p:cNvSpPr>
          <p:nvPr/>
        </p:nvSpPr>
        <p:spPr>
          <a:xfrm xmlns:a="http://schemas.openxmlformats.org/drawingml/2006/main">
            <a:off x="552450" y="439816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873F94A-680A-46B3-927A-72B9646DF318}"/>
              </a:ext>
            </a:extLst>
          </p:cNvPr>
          <p:cNvSpPr>
            <a:spLocks xmlns:a="http://schemas.openxmlformats.org/drawingml/2006/main" noGrp="1"/>
          </p:cNvSpPr>
          <p:nvPr/>
        </p:nvSpPr>
        <p:spPr>
          <a:xfrm xmlns:a="http://schemas.openxmlformats.org/drawingml/2006/main">
            <a:off x="1257300" y="439816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現在の実装・探索的結果と、これから検証すること</a:t>
            </a:r>
          </a:p>
        </p:txBody>
      </p:sp>
      <p:sp>
        <p:nvSpPr>
          <p:cNvPr id="14" name="">
            <a:extLst xmlns:a="http://schemas.openxmlformats.org/drawingml/2006/main">
              <a:ext uri="{FF2B5EF4-FFF2-40B4-BE49-F238E27FC236}">
                <a16:creationId xmlns:a16="http://schemas.microsoft.com/office/drawing/2014/main" id="{889DD0BE-5918-4E5D-AFEA-EA5E33B0721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950DF4-BF3A-4F31-9AAE-9C888347669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本日の中心：コピュラを使う理由と、生成の手順を理解する</a:t>
            </a:r>
          </a:p>
        </p:txBody>
      </p:sp>
    </p:spTree>
    <p:extLst>
      <p:ext uri="{BB962C8B-B14F-4D97-AF65-F5344CB8AC3E}">
        <p14:creationId xmlns:p14="http://schemas.microsoft.com/office/powerpoint/2010/main" val="1347361026"/>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CAFC47-077C-4034-BBA6-3B1DD87BB6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本研究で変えたい部分</a:t>
            </a:r>
          </a:p>
        </p:txBody>
      </p:sp>
      <p:sp>
        <p:nvSpPr>
          <p:cNvPr id="2" name="">
            <a:extLst xmlns:a="http://schemas.openxmlformats.org/drawingml/2006/main">
              <a:ext uri="{FF2B5EF4-FFF2-40B4-BE49-F238E27FC236}">
                <a16:creationId xmlns:a16="http://schemas.microsoft.com/office/drawing/2014/main" id="{F70CC858-9A43-40BD-913E-90CCE123CA4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B0F4CC-D30B-4F1E-B0E8-C21C08F0C31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変える対象は「どの値で、マスクした特徴を置き換えるか」。</a:t>
            </a:r>
          </a:p>
        </p:txBody>
      </p:sp>
      <p:sp>
        <p:nvSpPr>
          <p:cNvPr id="4" name="">
            <a:extLst xmlns:a="http://schemas.openxmlformats.org/drawingml/2006/main">
              <a:ext uri="{FF2B5EF4-FFF2-40B4-BE49-F238E27FC236}">
                <a16:creationId xmlns:a16="http://schemas.microsoft.com/office/drawing/2014/main" id="{77B6FA18-E272-4686-B23C-4B24B3521F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AE56D55D-40A2-4BBA-933E-84BC3019CCD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B519FC13-CF18-4983-8D4B-6BF7BD23AE61}"/>
              </a:ext>
            </a:extLst>
          </p:cNvPr>
          <p:cNvSpPr>
            <a:spLocks xmlns:a="http://schemas.openxmlformats.org/drawingml/2006/main" noGrp="1"/>
          </p:cNvSpPr>
          <p:nvPr/>
        </p:nvSpPr>
        <p:spPr>
          <a:xfrm xmlns:a="http://schemas.openxmlformats.org/drawingml/2006/main">
            <a:off x="514350" y="19812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AB9B51-6299-4B83-9BCF-F0FE936A8957}"/>
              </a:ext>
            </a:extLst>
          </p:cNvPr>
          <p:cNvSpPr>
            <a:spLocks xmlns:a="http://schemas.openxmlformats.org/drawingml/2006/main" noGrp="1"/>
          </p:cNvSpPr>
          <p:nvPr/>
        </p:nvSpPr>
        <p:spPr>
          <a:xfrm xmlns:a="http://schemas.openxmlformats.org/drawingml/2006/main">
            <a:off x="704850" y="20955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既存の置換</a:t>
            </a:r>
          </a:p>
        </p:txBody>
      </p:sp>
      <p:sp>
        <p:nvSpPr>
          <p:cNvPr id="8" name="">
            <a:extLst xmlns:a="http://schemas.openxmlformats.org/drawingml/2006/main">
              <a:ext uri="{FF2B5EF4-FFF2-40B4-BE49-F238E27FC236}">
                <a16:creationId xmlns:a16="http://schemas.microsoft.com/office/drawing/2014/main" id="{023F0A12-A1C1-4EBB-A7E2-9A8A9659FE61}"/>
              </a:ext>
            </a:extLst>
          </p:cNvPr>
          <p:cNvSpPr>
            <a:spLocks xmlns:a="http://schemas.openxmlformats.org/drawingml/2006/main" noGrp="1"/>
          </p:cNvSpPr>
          <p:nvPr/>
        </p:nvSpPr>
        <p:spPr>
          <a:xfrm xmlns:a="http://schemas.openxmlformats.org/drawingml/2006/main">
            <a:off x="704850" y="26479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身長は元の人のまま</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体重だけ別の人から取る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列の値はもっともらしくても、</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組合せは不自然になり得る。</a:t>
            </a:r>
          </a:p>
        </p:txBody>
      </p:sp>
      <p:sp>
        <p:nvSpPr>
          <p:cNvPr id="9" name="">
            <a:extLst xmlns:a="http://schemas.openxmlformats.org/drawingml/2006/main">
              <a:ext uri="{FF2B5EF4-FFF2-40B4-BE49-F238E27FC236}">
                <a16:creationId xmlns:a16="http://schemas.microsoft.com/office/drawing/2014/main" id="{702D34D6-9A1D-4394-AF3F-76C00C1A1F4D}"/>
              </a:ext>
            </a:extLst>
          </p:cNvPr>
          <p:cNvSpPr>
            <a:spLocks xmlns:a="http://schemas.openxmlformats.org/drawingml/2006/main" noGrp="1"/>
          </p:cNvSpPr>
          <p:nvPr/>
        </p:nvSpPr>
        <p:spPr>
          <a:xfrm xmlns:a="http://schemas.openxmlformats.org/drawingml/2006/main">
            <a:off x="6076950" y="19812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9C72543-9B38-41E9-8BE5-A8B79A75A650}"/>
              </a:ext>
            </a:extLst>
          </p:cNvPr>
          <p:cNvSpPr>
            <a:spLocks xmlns:a="http://schemas.openxmlformats.org/drawingml/2006/main" noGrp="1"/>
          </p:cNvSpPr>
          <p:nvPr/>
        </p:nvSpPr>
        <p:spPr>
          <a:xfrm xmlns:a="http://schemas.openxmlformats.org/drawingml/2006/main">
            <a:off x="6267450" y="20955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今回の方針</a:t>
            </a:r>
          </a:p>
        </p:txBody>
      </p:sp>
      <p:sp>
        <p:nvSpPr>
          <p:cNvPr id="11" name="">
            <a:extLst xmlns:a="http://schemas.openxmlformats.org/drawingml/2006/main">
              <a:ext uri="{FF2B5EF4-FFF2-40B4-BE49-F238E27FC236}">
                <a16:creationId xmlns:a16="http://schemas.microsoft.com/office/drawing/2014/main" id="{10764E86-56F1-4638-B855-527E168EBA5B}"/>
              </a:ext>
            </a:extLst>
          </p:cNvPr>
          <p:cNvSpPr>
            <a:spLocks xmlns:a="http://schemas.openxmlformats.org/drawingml/2006/main" noGrp="1"/>
          </p:cNvSpPr>
          <p:nvPr/>
        </p:nvSpPr>
        <p:spPr>
          <a:xfrm xmlns:a="http://schemas.openxmlformats.org/drawingml/2006/main">
            <a:off x="6267450" y="26479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残す身長を条件にして、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それに合う体重の分布から取る。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ラベルなしの訓練データから</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変数間の関係を学習する。</a:t>
            </a:r>
          </a:p>
        </p:txBody>
      </p:sp>
      <p:sp>
        <p:nvSpPr>
          <p:cNvPr id="12" name="">
            <a:extLst xmlns:a="http://schemas.openxmlformats.org/drawingml/2006/main">
              <a:ext uri="{FF2B5EF4-FFF2-40B4-BE49-F238E27FC236}">
                <a16:creationId xmlns:a16="http://schemas.microsoft.com/office/drawing/2014/main" id="{FB9F6070-BD2E-4752-B042-A2B9E89B956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6884CE-25F0-40B5-9561-880ADFB5E9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検証する仮説：関係を考慮した置換が、表現学習に役立つか</a:t>
            </a:r>
          </a:p>
        </p:txBody>
      </p:sp>
    </p:spTree>
    <p:extLst>
      <p:ext uri="{BB962C8B-B14F-4D97-AF65-F5344CB8AC3E}">
        <p14:creationId xmlns:p14="http://schemas.microsoft.com/office/powerpoint/2010/main" val="1836969068"/>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9D900C-1BBD-42DA-BCE8-5AB3E64C01C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例：値を並べ替えると何が変わる？</a:t>
            </a:r>
          </a:p>
        </p:txBody>
      </p:sp>
      <p:sp>
        <p:nvSpPr>
          <p:cNvPr id="2" name="">
            <a:extLst xmlns:a="http://schemas.openxmlformats.org/drawingml/2006/main">
              <a:ext uri="{FF2B5EF4-FFF2-40B4-BE49-F238E27FC236}">
                <a16:creationId xmlns:a16="http://schemas.microsoft.com/office/drawing/2014/main" id="{2F0F72B4-FA9A-4B48-8269-A36892DC7C0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0F4203-D774-4216-9C88-91B4F81EA8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説明用の4人。同じ体重の値でも、身長との組合せで意味が変わる。</a:t>
            </a:r>
          </a:p>
        </p:txBody>
      </p:sp>
      <p:sp>
        <p:nvSpPr>
          <p:cNvPr id="4" name="">
            <a:extLst xmlns:a="http://schemas.openxmlformats.org/drawingml/2006/main">
              <a:ext uri="{FF2B5EF4-FFF2-40B4-BE49-F238E27FC236}">
                <a16:creationId xmlns:a16="http://schemas.microsoft.com/office/drawing/2014/main" id="{484EBAB1-F15D-4025-BB3B-C27C917B684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E0004F8-F68D-4DD8-9CCC-2F8D083A72D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graphicFrame>
        <p:nvGraphicFramePr>
          <p:cNvPr id="14" name=""/>
          <p:cNvGraphicFramePr/>
          <p:nvPr/>
        </p:nvGraphicFramePr>
        <p:xfrm>
          <a:off xmlns:a="http://schemas.openxmlformats.org/drawingml/2006/main" x="514350" y="2076450"/>
          <a:ext xmlns:a="http://schemas.openxmlformats.org/drawingml/2006/main" cx="11163300" cy="3000375"/>
        </p:xfrm>
        <a:graphic xmlns:a="http://schemas.openxmlformats.org/drawingml/2006/main">
          <a:graphicData uri="http://schemas.openxmlformats.org/drawingml/2006/table">
            <a:tbl>
              <a:tblPr/>
              <a:tblGrid>
                <a:gridCol w="2790825"/>
                <a:gridCol w="2790825"/>
                <a:gridCol w="2790825"/>
                <a:gridCol w="2790825"/>
              </a:tblGrid>
              <a:tr h="600075">
                <a:tc>
                  <a:txBody>
                    <a:bodyPr/>
                    <a:lstStyle/>
                    <a:p>
                      <a:pPr algn="ctr"/>
                      <a:r>
                        <a:rPr sz="2175"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身長（cm）</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元の体重（kg）</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並べ替え後（kg）</a:t>
                      </a:r>
                    </a:p>
                  </a:txBody>
                  <a:tcPr marL="91440" marR="91440" marT="45720" marB="45720" anchor="ctr">
                    <a:solidFill>
                      <a:srgbClr val="E7F2EC"/>
                    </a:solidFill>
                  </a:tcPr>
                </a:tc>
              </a:tr>
              <a:tr h="600075">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6F6F6"/>
                    </a:solidFill>
                  </a:tcPr>
                </a:tc>
              </a:tr>
              <a:tr h="600075">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CC21DEE-F41A-41E8-8AB7-F4AA84FEBF4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A50996-334B-485D-9A3E-3263E63220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各列の「値の集合」は同じでも、行の「組合せ」は違う</a:t>
            </a:r>
          </a:p>
        </p:txBody>
      </p:sp>
    </p:spTree>
    <p:extLst>
      <p:ext uri="{BB962C8B-B14F-4D97-AF65-F5344CB8AC3E}">
        <p14:creationId xmlns:p14="http://schemas.microsoft.com/office/powerpoint/2010/main" val="2062476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31F283-6250-4313-BCC0-D2E0CEDDDF1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「分けて表す」とは何か</a:t>
            </a:r>
          </a:p>
        </p:txBody>
      </p:sp>
      <p:sp>
        <p:nvSpPr>
          <p:cNvPr id="2" name="">
            <a:extLst xmlns:a="http://schemas.openxmlformats.org/drawingml/2006/main">
              <a:ext uri="{FF2B5EF4-FFF2-40B4-BE49-F238E27FC236}">
                <a16:creationId xmlns:a16="http://schemas.microsoft.com/office/drawing/2014/main" id="{C4FB8631-E31F-4A3D-B2A4-280C4E20920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AFE2A7-D7F2-4022-887A-63C6F32D945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別々に保管するのは、各列の値の分布と、位置どうしの組合せ。</a:t>
            </a:r>
          </a:p>
        </p:txBody>
      </p:sp>
      <p:sp>
        <p:nvSpPr>
          <p:cNvPr id="4" name="">
            <a:extLst xmlns:a="http://schemas.openxmlformats.org/drawingml/2006/main">
              <a:ext uri="{FF2B5EF4-FFF2-40B4-BE49-F238E27FC236}">
                <a16:creationId xmlns:a16="http://schemas.microsoft.com/office/drawing/2014/main" id="{E1892EE3-6B42-4D2E-BE6A-756C893B158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C724374-A98C-42F9-8A0B-BFCD1B25202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sp>
        <p:nvSpPr>
          <p:cNvPr id="6" name="">
            <a:extLst xmlns:a="http://schemas.openxmlformats.org/drawingml/2006/main">
              <a:ext uri="{FF2B5EF4-FFF2-40B4-BE49-F238E27FC236}">
                <a16:creationId xmlns:a16="http://schemas.microsoft.com/office/drawing/2014/main" id="{1CFE4248-8C71-4AAD-A7A6-F2988FFC4086}"/>
              </a:ext>
            </a:extLst>
          </p:cNvPr>
          <p:cNvSpPr>
            <a:spLocks xmlns:a="http://schemas.openxmlformats.org/drawingml/2006/main" noGrp="1"/>
          </p:cNvSpPr>
          <p:nvPr/>
        </p:nvSpPr>
        <p:spPr>
          <a:xfrm xmlns:a="http://schemas.openxmlformats.org/drawingml/2006/main">
            <a:off x="514350" y="2000250"/>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2E8F9D-1514-4F16-B56F-C28535DDF25E}"/>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① 周辺分布</a:t>
            </a:r>
          </a:p>
        </p:txBody>
      </p:sp>
      <p:sp>
        <p:nvSpPr>
          <p:cNvPr id="8" name="">
            <a:extLst xmlns:a="http://schemas.openxmlformats.org/drawingml/2006/main">
              <a:ext uri="{FF2B5EF4-FFF2-40B4-BE49-F238E27FC236}">
                <a16:creationId xmlns:a16="http://schemas.microsoft.com/office/drawing/2014/main" id="{2EFFCC19-C9C4-40E7-9B9B-7C741D0B5DB5}"/>
              </a:ext>
            </a:extLst>
          </p:cNvPr>
          <p:cNvSpPr>
            <a:spLocks xmlns:a="http://schemas.openxmlformats.org/drawingml/2006/main" noGrp="1"/>
          </p:cNvSpPr>
          <p:nvPr/>
        </p:nvSpPr>
        <p:spPr>
          <a:xfrm xmlns:a="http://schemas.openxmlformats.org/drawingml/2006/main">
            <a:off x="704850" y="2667000"/>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155、165、175、185 cm</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48、57、68、82 kg</a:t>
            </a:r>
          </a:p>
        </p:txBody>
      </p:sp>
      <p:sp>
        <p:nvSpPr>
          <p:cNvPr id="9" name="">
            <a:extLst xmlns:a="http://schemas.openxmlformats.org/drawingml/2006/main">
              <a:ext uri="{FF2B5EF4-FFF2-40B4-BE49-F238E27FC236}">
                <a16:creationId xmlns:a16="http://schemas.microsoft.com/office/drawing/2014/main" id="{EF1ACA2B-BC2C-4EF7-A674-69DDA656C2BC}"/>
              </a:ext>
            </a:extLst>
          </p:cNvPr>
          <p:cNvSpPr>
            <a:spLocks xmlns:a="http://schemas.openxmlformats.org/drawingml/2006/main" noGrp="1"/>
          </p:cNvSpPr>
          <p:nvPr/>
        </p:nvSpPr>
        <p:spPr>
          <a:xfrm xmlns:a="http://schemas.openxmlformats.org/drawingml/2006/main">
            <a:off x="6076950" y="2000250"/>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D029D4-B5D5-4561-B0B0-3DE536AF0403}"/>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② 依存構造</a:t>
            </a:r>
          </a:p>
        </p:txBody>
      </p:sp>
      <p:sp>
        <p:nvSpPr>
          <p:cNvPr id="11" name="">
            <a:extLst xmlns:a="http://schemas.openxmlformats.org/drawingml/2006/main">
              <a:ext uri="{FF2B5EF4-FFF2-40B4-BE49-F238E27FC236}">
                <a16:creationId xmlns:a16="http://schemas.microsoft.com/office/drawing/2014/main" id="{9DCD9C88-E36C-480C-9BB9-3A9EA4C17B76}"/>
              </a:ext>
            </a:extLst>
          </p:cNvPr>
          <p:cNvSpPr>
            <a:spLocks xmlns:a="http://schemas.openxmlformats.org/drawingml/2006/main" noGrp="1"/>
          </p:cNvSpPr>
          <p:nvPr/>
        </p:nvSpPr>
        <p:spPr>
          <a:xfrm xmlns:a="http://schemas.openxmlformats.org/drawingml/2006/main">
            <a:off x="6267450" y="2667000"/>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元の表：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身長の順位1 → 体重の順位1</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身長の順位4 → 体重の順位4</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逆の表：順位1 → 順位4</a:t>
            </a:r>
          </a:p>
        </p:txBody>
      </p:sp>
      <p:sp>
        <p:nvSpPr>
          <p:cNvPr id="12" name="">
            <a:extLst xmlns:a="http://schemas.openxmlformats.org/drawingml/2006/main">
              <a:ext uri="{FF2B5EF4-FFF2-40B4-BE49-F238E27FC236}">
                <a16:creationId xmlns:a16="http://schemas.microsoft.com/office/drawing/2014/main" id="{86FD2786-D1CF-4173-81F1-BDDCCF491E3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D772F59-7ACB-4C8F-94BA-2EF638E71EB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周辺分布が「値」を決め、コピュラが「位置の組合せ」を表す</a:t>
            </a:r>
          </a:p>
        </p:txBody>
      </p:sp>
    </p:spTree>
    <p:extLst>
      <p:ext uri="{BB962C8B-B14F-4D97-AF65-F5344CB8AC3E}">
        <p14:creationId xmlns:p14="http://schemas.microsoft.com/office/powerpoint/2010/main" val="293785083"/>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9394BF-8A24-4A9E-8ECC-7F6E46AA55C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累積確率：170 cmはどの位置？</a:t>
            </a:r>
          </a:p>
        </p:txBody>
      </p:sp>
      <p:sp>
        <p:nvSpPr>
          <p:cNvPr id="2" name="">
            <a:extLst xmlns:a="http://schemas.openxmlformats.org/drawingml/2006/main">
              <a:ext uri="{FF2B5EF4-FFF2-40B4-BE49-F238E27FC236}">
                <a16:creationId xmlns:a16="http://schemas.microsoft.com/office/drawing/2014/main" id="{41F91A5D-D5F4-4CB5-86C1-385145A910F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4C8077-5BAB-4178-82AE-DD3C048A60F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「170 cm以下の人が、全体の何割いるか」を数える。</a:t>
            </a:r>
          </a:p>
        </p:txBody>
      </p:sp>
      <p:sp>
        <p:nvSpPr>
          <p:cNvPr id="4" name="">
            <a:extLst xmlns:a="http://schemas.openxmlformats.org/drawingml/2006/main">
              <a:ext uri="{FF2B5EF4-FFF2-40B4-BE49-F238E27FC236}">
                <a16:creationId xmlns:a16="http://schemas.microsoft.com/office/drawing/2014/main" id="{07E053BC-38EE-4D4D-918C-A81D1F68FC4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61B3CC3-8AFF-4616-8949-75199823FEA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143125"/>
          <a:ext xmlns:a="http://schemas.openxmlformats.org/drawingml/2006/main" cx="11163300" cy="1381125"/>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0563">
                <a:tc>
                  <a:txBody>
                    <a:bodyPr/>
                    <a:lstStyle/>
                    <a:p>
                      <a:pPr algn="ctr"/>
                      <a:r>
                        <a:rPr sz="1800"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10</a:t>
                      </a:r>
                    </a:p>
                  </a:txBody>
                  <a:tcPr marL="91440" marR="91440" marT="45720" marB="45720" anchor="ctr">
                    <a:solidFill>
                      <a:srgbClr val="E7F2EC"/>
                    </a:solidFill>
                  </a:tcPr>
                </a:tc>
              </a:tr>
              <a:tr h="690563">
                <a:tc>
                  <a:txBody>
                    <a:bodyPr/>
                    <a:lstStyle/>
                    <a:p>
                      <a:pPr algn="ctr"/>
                      <a:r>
                        <a:rPr sz="1800" b="0">
                          <a:solidFill>
                            <a:srgbClr val="222222"/>
                          </a:solidFill>
                          <a:latin typeface="Noto Sans JP"/>
                          <a:ea typeface="Noto Sans JP"/>
                          <a:cs typeface="Noto Sans JP"/>
                        </a:rPr>
                        <a:t>身長 cm</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163</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168</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185</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0D99C52-C925-46B7-BF71-648B3589B488}"/>
              </a:ext>
            </a:extLst>
          </p:cNvPr>
          <p:cNvSpPr>
            <a:spLocks xmlns:a="http://schemas.openxmlformats.org/drawingml/2006/main" noGrp="1"/>
          </p:cNvSpPr>
          <p:nvPr/>
        </p:nvSpPr>
        <p:spPr>
          <a:xfrm xmlns:a="http://schemas.openxmlformats.org/drawingml/2006/main">
            <a:off x="514350" y="37623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FFB4BB-5D2A-4A47-BA4E-C269D6BAF492}"/>
              </a:ext>
            </a:extLst>
          </p:cNvPr>
          <p:cNvSpPr>
            <a:spLocks xmlns:a="http://schemas.openxmlformats.org/drawingml/2006/main" noGrp="1"/>
          </p:cNvSpPr>
          <p:nvPr/>
        </p:nvSpPr>
        <p:spPr>
          <a:xfrm xmlns:a="http://schemas.openxmlformats.org/drawingml/2006/main">
            <a:off x="704850" y="38576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F̂ 身長(170) = 170 cm以下の人数 / 全人数 = 7 / 10 = 0.7</a:t>
            </a:r>
          </a:p>
        </p:txBody>
      </p:sp>
      <p:sp>
        <p:nvSpPr>
          <p:cNvPr id="9" name="">
            <a:extLst xmlns:a="http://schemas.openxmlformats.org/drawingml/2006/main">
              <a:ext uri="{FF2B5EF4-FFF2-40B4-BE49-F238E27FC236}">
                <a16:creationId xmlns:a16="http://schemas.microsoft.com/office/drawing/2014/main" id="{01B3A99D-0D08-4A1D-8A5E-F606769DAA6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A26B0B-F809-444D-B23C-4315AB9E384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0.7は「低い側から70%の位置」。170 cmになる確率ではない</a:t>
            </a:r>
          </a:p>
        </p:txBody>
      </p:sp>
    </p:spTree>
    <p:extLst>
      <p:ext uri="{BB962C8B-B14F-4D97-AF65-F5344CB8AC3E}">
        <p14:creationId xmlns:p14="http://schemas.microsoft.com/office/powerpoint/2010/main" val="1995989963"/>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DA2D5C-E19F-4829-BF51-231D258CABC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なぜ、確率の位置へ変えるのか</a:t>
            </a:r>
          </a:p>
        </p:txBody>
      </p:sp>
      <p:sp>
        <p:nvSpPr>
          <p:cNvPr id="2" name="">
            <a:extLst xmlns:a="http://schemas.openxmlformats.org/drawingml/2006/main">
              <a:ext uri="{FF2B5EF4-FFF2-40B4-BE49-F238E27FC236}">
                <a16:creationId xmlns:a16="http://schemas.microsoft.com/office/drawing/2014/main" id="{B94D9F4C-1307-498B-9E39-C8FF520A7A6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D55B2E-C4E1-44CE-99B8-D81BDACBF4C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単位や分布の形が違う列を、0〜1の共通のものさしで見る。</a:t>
            </a:r>
          </a:p>
        </p:txBody>
      </p:sp>
      <p:sp>
        <p:nvSpPr>
          <p:cNvPr id="4" name="">
            <a:extLst xmlns:a="http://schemas.openxmlformats.org/drawingml/2006/main">
              <a:ext uri="{FF2B5EF4-FFF2-40B4-BE49-F238E27FC236}">
                <a16:creationId xmlns:a16="http://schemas.microsoft.com/office/drawing/2014/main" id="{A9ADB918-A91B-4B75-9945-3235BE25C9E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403932D-E75E-4AB5-A297-6D29CF2791D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57400"/>
          <a:ext xmlns:a="http://schemas.openxmlformats.org/drawingml/2006/main" cx="11163300" cy="2476500"/>
        </p:xfrm>
        <a:graphic xmlns:a="http://schemas.openxmlformats.org/drawingml/2006/main">
          <a:graphicData uri="http://schemas.openxmlformats.org/drawingml/2006/table">
            <a:tbl>
              <a:tblPr/>
              <a:tblGrid>
                <a:gridCol w="2790825"/>
                <a:gridCol w="2790825"/>
                <a:gridCol w="2790825"/>
                <a:gridCol w="2790825"/>
              </a:tblGrid>
              <a:tr h="825500">
                <a:tc>
                  <a:txBody>
                    <a:bodyPr/>
                    <a:lstStyle/>
                    <a:p>
                      <a:pPr algn="ctr"/>
                      <a:r>
                        <a:rPr sz="2175"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元の値（説明用）</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位置</a:t>
                      </a:r>
                    </a:p>
                  </a:txBody>
                  <a:tcPr marL="91440" marR="91440" marT="45720" marB="45720" anchor="ctr">
                    <a:solidFill>
                      <a:srgbClr val="E7F2EC"/>
                    </a:solidFill>
                  </a:tcPr>
                </a:tc>
              </a:tr>
              <a:tr h="825500">
                <a:tc>
                  <a:txBody>
                    <a:bodyPr/>
                    <a:lstStyle/>
                    <a:p>
                      <a:pPr algn="ctr"/>
                      <a:r>
                        <a:rPr sz="2175" b="0">
                          <a:solidFill>
                            <a:srgbClr val="222222"/>
                          </a:solidFill>
                          <a:latin typeface="Noto Sans JP"/>
                          <a:ea typeface="Noto Sans JP"/>
                          <a:cs typeface="Noto Sans JP"/>
                        </a:rPr>
                        <a:t>身長</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 cm</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u = 0.8</a:t>
                      </a:r>
                    </a:p>
                  </a:txBody>
                  <a:tcPr marL="91440" marR="91440" marT="45720" marB="45720" anchor="ctr">
                    <a:solidFill>
                      <a:srgbClr val="FFFFFF"/>
                    </a:solidFill>
                  </a:tcPr>
                </a:tc>
              </a:tr>
              <a:tr h="825500">
                <a:tc>
                  <a:txBody>
                    <a:bodyPr/>
                    <a:lstStyle/>
                    <a:p>
                      <a:pPr algn="ctr"/>
                      <a:r>
                        <a:rPr sz="2175" b="0">
                          <a:solidFill>
                            <a:srgbClr val="222222"/>
                          </a:solidFill>
                          <a:latin typeface="Noto Sans JP"/>
                          <a:ea typeface="Noto Sans JP"/>
                          <a:cs typeface="Noto Sans JP"/>
                        </a:rPr>
                        <a:t>体重</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60%</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v = 0.6</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CD9E168-B601-4E5A-AB0D-D5855DBED4CE}"/>
              </a:ext>
            </a:extLst>
          </p:cNvPr>
          <p:cNvSpPr>
            <a:spLocks xmlns:a="http://schemas.openxmlformats.org/drawingml/2006/main" noGrp="1"/>
          </p:cNvSpPr>
          <p:nvPr/>
        </p:nvSpPr>
        <p:spPr>
          <a:xfrm xmlns:a="http://schemas.openxmlformats.org/drawingml/2006/main">
            <a:off x="666750" y="4762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この人は「身長は高い側・体重もやや高い側」にいる。</a:t>
            </a:r>
          </a:p>
        </p:txBody>
      </p:sp>
      <p:sp>
        <p:nvSpPr>
          <p:cNvPr id="8" name="">
            <a:extLst xmlns:a="http://schemas.openxmlformats.org/drawingml/2006/main">
              <a:ext uri="{FF2B5EF4-FFF2-40B4-BE49-F238E27FC236}">
                <a16:creationId xmlns:a16="http://schemas.microsoft.com/office/drawing/2014/main" id="{3667BF0F-586B-4A3D-98C3-A8E7130502E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0A5394-51D8-49E9-9C79-D3F86975D20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位置は基準集団の分布で決まる。cmやkgを直接比較しない</a:t>
            </a:r>
          </a:p>
        </p:txBody>
      </p:sp>
    </p:spTree>
    <p:extLst>
      <p:ext uri="{BB962C8B-B14F-4D97-AF65-F5344CB8AC3E}">
        <p14:creationId xmlns:p14="http://schemas.microsoft.com/office/powerpoint/2010/main" val="34317770"/>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B9A09E-F5B4-4378-A98E-2B9ED07843B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コピュラが見るのは、位置の組</a:t>
            </a:r>
          </a:p>
        </p:txBody>
      </p:sp>
      <p:sp>
        <p:nvSpPr>
          <p:cNvPr id="2" name="">
            <a:extLst xmlns:a="http://schemas.openxmlformats.org/drawingml/2006/main">
              <a:ext uri="{FF2B5EF4-FFF2-40B4-BE49-F238E27FC236}">
                <a16:creationId xmlns:a16="http://schemas.microsoft.com/office/drawing/2014/main" id="{FF4290E7-1F37-4570-AE3A-F464001D71D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F7271A-C941-4053-AB31-D5E5AFBEFEA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同じ人の (u, v) を、多くの人について集める。</a:t>
            </a:r>
          </a:p>
        </p:txBody>
      </p:sp>
      <p:sp>
        <p:nvSpPr>
          <p:cNvPr id="4" name="">
            <a:extLst xmlns:a="http://schemas.openxmlformats.org/drawingml/2006/main">
              <a:ext uri="{FF2B5EF4-FFF2-40B4-BE49-F238E27FC236}">
                <a16:creationId xmlns:a16="http://schemas.microsoft.com/office/drawing/2014/main" id="{6FB0B090-D298-46C7-AE52-F60E8B0DD67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DFBBB99-A21B-4AF0-B457-B916FE9F74E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17" name="Chart"/>
          <p:cNvGraphicFramePr/>
          <p:nvPr/>
        </p:nvGraphicFramePr>
        <p:xfrm>
          <a:off xmlns:a="http://schemas.openxmlformats.org/drawingml/2006/main" x="609600" y="2000250"/>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4c1dea9802f54a71"/>
          </a:graphicData>
        </a:graphic>
      </p:graphicFrame>
      <p:sp>
        <p:nvSpPr>
          <p:cNvPr id="7" name="">
            <a:extLst xmlns:a="http://schemas.openxmlformats.org/drawingml/2006/main">
              <a:ext uri="{FF2B5EF4-FFF2-40B4-BE49-F238E27FC236}">
                <a16:creationId xmlns:a16="http://schemas.microsoft.com/office/drawing/2014/main" id="{2FFB09A7-14ED-4BD7-8CD9-11738D4F1B0C}"/>
              </a:ext>
            </a:extLst>
          </p:cNvPr>
          <p:cNvSpPr>
            <a:spLocks xmlns:a="http://schemas.openxmlformats.org/drawingml/2006/main" noGrp="1"/>
          </p:cNvSpPr>
          <p:nvPr/>
        </p:nvSpPr>
        <p:spPr>
          <a:xfrm xmlns:a="http://schemas.openxmlformats.org/drawingml/2006/main">
            <a:off x="6838950" y="2095500"/>
            <a:ext cx="47625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A1C2AC-5AB7-4FA1-AB38-FFD1E6B44411}"/>
              </a:ext>
            </a:extLst>
          </p:cNvPr>
          <p:cNvSpPr>
            <a:spLocks xmlns:a="http://schemas.openxmlformats.org/drawingml/2006/main" noGrp="1"/>
          </p:cNvSpPr>
          <p:nvPr/>
        </p:nvSpPr>
        <p:spPr>
          <a:xfrm xmlns:a="http://schemas.openxmlformats.org/drawingml/2006/main">
            <a:off x="7029450" y="22098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読み取る関係</a:t>
            </a:r>
          </a:p>
        </p:txBody>
      </p:sp>
      <p:sp>
        <p:nvSpPr>
          <p:cNvPr id="9" name="">
            <a:extLst xmlns:a="http://schemas.openxmlformats.org/drawingml/2006/main">
              <a:ext uri="{FF2B5EF4-FFF2-40B4-BE49-F238E27FC236}">
                <a16:creationId xmlns:a16="http://schemas.microsoft.com/office/drawing/2014/main" id="{1BD69429-DF95-4779-9565-4B11EEB73E41}"/>
              </a:ext>
            </a:extLst>
          </p:cNvPr>
          <p:cNvSpPr>
            <a:spLocks xmlns:a="http://schemas.openxmlformats.org/drawingml/2006/main" noGrp="1"/>
          </p:cNvSpPr>
          <p:nvPr/>
        </p:nvSpPr>
        <p:spPr>
          <a:xfrm xmlns:a="http://schemas.openxmlformats.org/drawingml/2006/main">
            <a:off x="7029450" y="2762250"/>
            <a:ext cx="4381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身長の位置が高いとき、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体重の位置も高いか。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値の単位を除いて、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どの位置の組が</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どれくらい現れるかを見る。</a:t>
            </a:r>
          </a:p>
        </p:txBody>
      </p:sp>
      <p:sp>
        <p:nvSpPr>
          <p:cNvPr id="10" name="">
            <a:extLst xmlns:a="http://schemas.openxmlformats.org/drawingml/2006/main">
              <a:ext uri="{FF2B5EF4-FFF2-40B4-BE49-F238E27FC236}">
                <a16:creationId xmlns:a16="http://schemas.microsoft.com/office/drawing/2014/main" id="{6D69928F-051E-4EAC-B45B-59A89BC8643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117511-B68D-4C5B-A987-0AFFCCB8BAD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コピュラは、位置の「同時分布」を表す</a:t>
            </a:r>
          </a:p>
        </p:txBody>
      </p:sp>
    </p:spTree>
    <p:extLst>
      <p:ext uri="{BB962C8B-B14F-4D97-AF65-F5344CB8AC3E}">
        <p14:creationId xmlns:p14="http://schemas.microsoft.com/office/powerpoint/2010/main" val="1362099275"/>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98842E-B9ED-4DC3-B787-82D81306977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数式を読むための記号</a:t>
            </a:r>
          </a:p>
        </p:txBody>
      </p:sp>
      <p:sp>
        <p:nvSpPr>
          <p:cNvPr id="2" name="">
            <a:extLst xmlns:a="http://schemas.openxmlformats.org/drawingml/2006/main">
              <a:ext uri="{FF2B5EF4-FFF2-40B4-BE49-F238E27FC236}">
                <a16:creationId xmlns:a16="http://schemas.microsoft.com/office/drawing/2014/main" id="{AFFFFFCB-9877-4B40-A55D-44255ED7465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376CB1-F7E9-4BD3-802B-DBC29C57BC9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大文字は変数、小文字は境界や具体的な値。</a:t>
            </a:r>
          </a:p>
        </p:txBody>
      </p:sp>
      <p:sp>
        <p:nvSpPr>
          <p:cNvPr id="4" name="">
            <a:extLst xmlns:a="http://schemas.openxmlformats.org/drawingml/2006/main">
              <a:ext uri="{FF2B5EF4-FFF2-40B4-BE49-F238E27FC236}">
                <a16:creationId xmlns:a16="http://schemas.microsoft.com/office/drawing/2014/main" id="{2463467F-A13D-4645-A938-5874C439B90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86B626D-1637-4A06-A426-DC8F83FD26C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graphicFrame>
        <p:nvGraphicFramePr>
          <p:cNvPr id="14" name=""/>
          <p:cNvGraphicFramePr/>
          <p:nvPr/>
        </p:nvGraphicFramePr>
        <p:xfrm>
          <a:off xmlns:a="http://schemas.openxmlformats.org/drawingml/2006/main" x="514350" y="1924050"/>
          <a:ext xmlns:a="http://schemas.openxmlformats.org/drawingml/2006/main" cx="11163300" cy="3381375"/>
        </p:xfrm>
        <a:graphic xmlns:a="http://schemas.openxmlformats.org/drawingml/2006/main">
          <a:graphicData uri="http://schemas.openxmlformats.org/drawingml/2006/table">
            <a:tbl>
              <a:tblPr/>
              <a:tblGrid>
                <a:gridCol w="3721100"/>
                <a:gridCol w="3721100"/>
                <a:gridCol w="3721100"/>
              </a:tblGrid>
              <a:tr h="676275">
                <a:tc>
                  <a:txBody>
                    <a:bodyPr/>
                    <a:lstStyle/>
                    <a:p>
                      <a:pPr algn="ctr"/>
                      <a:r>
                        <a:rPr sz="1950" b="1">
                          <a:solidFill>
                            <a:srgbClr val="2E7D5B"/>
                          </a:solidFill>
                          <a:latin typeface="Noto Sans JP"/>
                          <a:ea typeface="Noto Sans JP"/>
                          <a:cs typeface="Noto Sans JP"/>
                        </a:rPr>
                        <a:t>記号</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意味</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身長・体重の例</a:t>
                      </a:r>
                    </a:p>
                  </a:txBody>
                  <a:tcPr marL="91440" marR="91440" marT="45720" marB="45720" anchor="ctr">
                    <a:solidFill>
                      <a:srgbClr val="E7F2EC"/>
                    </a:solidFill>
                  </a:tcPr>
                </a:tc>
              </a:tr>
              <a:tr h="676275">
                <a:tc>
                  <a:txBody>
                    <a:bodyPr/>
                    <a:lstStyle/>
                    <a:p>
                      <a:pPr algn="ctr"/>
                      <a:r>
                        <a:rPr sz="1950" b="0">
                          <a:solidFill>
                            <a:srgbClr val="222222"/>
                          </a:solidFill>
                          <a:latin typeface="Noto Sans JP"/>
                          <a:ea typeface="Noto Sans JP"/>
                          <a:cs typeface="Noto Sans JP"/>
                        </a:rPr>
                        <a:t>X, 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元の値の確率変数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身長と体重</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Fₓ(x), Fᵧ(y)</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各列の累積分布関数</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その値以下になる確率</a:t>
                      </a:r>
                    </a:p>
                  </a:txBody>
                  <a:tcPr marL="91440" marR="91440" marT="45720" marB="45720" anchor="ctr">
                    <a:solidFill>
                      <a:srgbClr val="F6F6F6"/>
                    </a:solidFill>
                  </a:tcPr>
                </a:tc>
              </a:tr>
              <a:tr h="676275">
                <a:tc>
                  <a:txBody>
                    <a:bodyPr/>
                    <a:lstStyle/>
                    <a:p>
                      <a:pPr algn="ctr"/>
                      <a:r>
                        <a:rPr sz="1950" b="0">
                          <a:solidFill>
                            <a:srgbClr val="222222"/>
                          </a:solidFill>
                          <a:latin typeface="Noto Sans JP"/>
                          <a:ea typeface="Noto Sans JP"/>
                          <a:cs typeface="Noto Sans JP"/>
                        </a:rPr>
                        <a:t>U = Fₓ(X), V = Fᵧ(Y)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確率位置へ変換した変数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0〜1の位置</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C(u, v)</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位置の同時累積分布</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U ≤ u かつ V ≤ vの確率</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D6B7B08-6E16-4A99-AD99-5B57FB34D99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FBDE96-9A53-4A53-A93B-91518040713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「≤」は、境界より小さい側をすべて含める</a:t>
            </a:r>
          </a:p>
        </p:txBody>
      </p:sp>
    </p:spTree>
    <p:extLst>
      <p:ext uri="{BB962C8B-B14F-4D97-AF65-F5344CB8AC3E}">
        <p14:creationId xmlns:p14="http://schemas.microsoft.com/office/powerpoint/2010/main" val="117264132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C7504A-3FC2-4112-BE26-A7975C6C69C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a:t>
            </a:r>
          </a:p>
        </p:txBody>
      </p:sp>
      <p:sp>
        <p:nvSpPr>
          <p:cNvPr id="2" name="">
            <a:extLst xmlns:a="http://schemas.openxmlformats.org/drawingml/2006/main">
              <a:ext uri="{FF2B5EF4-FFF2-40B4-BE49-F238E27FC236}">
                <a16:creationId xmlns:a16="http://schemas.microsoft.com/office/drawing/2014/main" id="{1E892535-CDB7-46DE-BE01-40708CAB8D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6A310D-66F6-40AF-AE68-CF1D486B905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各成分が0〜1の一様分布を持つ、同時累積分布関数。</a:t>
            </a:r>
          </a:p>
        </p:txBody>
      </p:sp>
      <p:sp>
        <p:nvSpPr>
          <p:cNvPr id="4" name="">
            <a:extLst xmlns:a="http://schemas.openxmlformats.org/drawingml/2006/main">
              <a:ext uri="{FF2B5EF4-FFF2-40B4-BE49-F238E27FC236}">
                <a16:creationId xmlns:a16="http://schemas.microsoft.com/office/drawing/2014/main" id="{F3B8F4AC-490D-497F-BD7A-8DD621C27D8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74B4D09-E121-40F2-9DEA-D74DC4EF65C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422FBA74-7EE2-47F2-AB17-01F8269389B3}"/>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B883DF-FD8F-43D3-BFC6-9844A5D660DC}"/>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2B6777"/>
                </a:solidFill>
                <a:latin typeface="Noto Sans JP"/>
                <a:ea typeface="Noto Sans JP"/>
                <a:cs typeface="Noto Sans JP"/>
              </a:defRPr>
            </a:pPr>
            <a:r>
              <a:rPr sz="345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FAB9D314-8904-4AA1-9F07-C24E282AEF36}"/>
              </a:ext>
            </a:extLst>
          </p:cNvPr>
          <p:cNvSpPr>
            <a:spLocks xmlns:a="http://schemas.openxmlformats.org/drawingml/2006/main" noGrp="1"/>
          </p:cNvSpPr>
          <p:nvPr/>
        </p:nvSpPr>
        <p:spPr>
          <a:xfrm xmlns:a="http://schemas.openxmlformats.org/drawingml/2006/main">
            <a:off x="552450" y="328612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6A19BA2-A44C-44BD-B7F0-54688CE42E55}"/>
              </a:ext>
            </a:extLst>
          </p:cNvPr>
          <p:cNvSpPr>
            <a:spLocks xmlns:a="http://schemas.openxmlformats.org/drawingml/2006/main" noGrp="1"/>
          </p:cNvSpPr>
          <p:nvPr/>
        </p:nvSpPr>
        <p:spPr>
          <a:xfrm xmlns:a="http://schemas.openxmlformats.org/drawingml/2006/main">
            <a:off x="1257300" y="328612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V はそれぞれ Uniform(0, 1) に従う。</a:t>
            </a:r>
          </a:p>
        </p:txBody>
      </p:sp>
      <p:sp>
        <p:nvSpPr>
          <p:cNvPr id="10" name="">
            <a:extLst xmlns:a="http://schemas.openxmlformats.org/drawingml/2006/main">
              <a:ext uri="{FF2B5EF4-FFF2-40B4-BE49-F238E27FC236}">
                <a16:creationId xmlns:a16="http://schemas.microsoft.com/office/drawing/2014/main" id="{24C48027-9A5B-4E85-821E-391DA88A3824}"/>
              </a:ext>
            </a:extLst>
          </p:cNvPr>
          <p:cNvSpPr>
            <a:spLocks xmlns:a="http://schemas.openxmlformats.org/drawingml/2006/main" noGrp="1"/>
          </p:cNvSpPr>
          <p:nvPr/>
        </p:nvSpPr>
        <p:spPr>
          <a:xfrm xmlns:a="http://schemas.openxmlformats.org/drawingml/2006/main">
            <a:off x="552450" y="3968750"/>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2BCF98BE-8EE0-4E9F-A726-C2BFC60022CE}"/>
              </a:ext>
            </a:extLst>
          </p:cNvPr>
          <p:cNvSpPr>
            <a:spLocks xmlns:a="http://schemas.openxmlformats.org/drawingml/2006/main" noGrp="1"/>
          </p:cNvSpPr>
          <p:nvPr/>
        </p:nvSpPr>
        <p:spPr>
          <a:xfrm xmlns:a="http://schemas.openxmlformats.org/drawingml/2006/main">
            <a:off x="1257300" y="3968750"/>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ただし、U と V が独立とは限らない。</a:t>
            </a:r>
          </a:p>
        </p:txBody>
      </p:sp>
      <p:sp>
        <p:nvSpPr>
          <p:cNvPr id="12" name="">
            <a:extLst xmlns:a="http://schemas.openxmlformats.org/drawingml/2006/main">
              <a:ext uri="{FF2B5EF4-FFF2-40B4-BE49-F238E27FC236}">
                <a16:creationId xmlns:a16="http://schemas.microsoft.com/office/drawing/2014/main" id="{903C4081-23F1-4751-A328-3365BFC49FB0}"/>
              </a:ext>
            </a:extLst>
          </p:cNvPr>
          <p:cNvSpPr>
            <a:spLocks xmlns:a="http://schemas.openxmlformats.org/drawingml/2006/main" noGrp="1"/>
          </p:cNvSpPr>
          <p:nvPr/>
        </p:nvSpPr>
        <p:spPr>
          <a:xfrm xmlns:a="http://schemas.openxmlformats.org/drawingml/2006/main">
            <a:off x="552450" y="465137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9B99996-E2AA-4491-A6DC-F5F413C34C64}"/>
              </a:ext>
            </a:extLst>
          </p:cNvPr>
          <p:cNvSpPr>
            <a:spLocks xmlns:a="http://schemas.openxmlformats.org/drawingml/2006/main" noGrp="1"/>
          </p:cNvSpPr>
          <p:nvPr/>
        </p:nvSpPr>
        <p:spPr>
          <a:xfrm xmlns:a="http://schemas.openxmlformats.org/drawingml/2006/main">
            <a:off x="1257300" y="465137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 は「両方の条件を同時に満たす確率」。</a:t>
            </a:r>
          </a:p>
        </p:txBody>
      </p:sp>
      <p:sp>
        <p:nvSpPr>
          <p:cNvPr id="14" name="">
            <a:extLst xmlns:a="http://schemas.openxmlformats.org/drawingml/2006/main">
              <a:ext uri="{FF2B5EF4-FFF2-40B4-BE49-F238E27FC236}">
                <a16:creationId xmlns:a16="http://schemas.microsoft.com/office/drawing/2014/main" id="{A7D126AB-72F5-4456-B1D6-260F70A9EBA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79B9022-7A76-4423-9B3A-FF553148FC4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周辺が同じ一様分布でも、組合せの関係はCによって違う</a:t>
            </a:r>
          </a:p>
        </p:txBody>
      </p:sp>
    </p:spTree>
    <p:extLst>
      <p:ext uri="{BB962C8B-B14F-4D97-AF65-F5344CB8AC3E}">
        <p14:creationId xmlns:p14="http://schemas.microsoft.com/office/powerpoint/2010/main" val="914219077"/>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B2A301-B245-473F-962B-D639F026C97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C(0.8, 0.5)は何を数える？</a:t>
            </a:r>
          </a:p>
        </p:txBody>
      </p:sp>
      <p:sp>
        <p:nvSpPr>
          <p:cNvPr id="2" name="">
            <a:extLst xmlns:a="http://schemas.openxmlformats.org/drawingml/2006/main">
              <a:ext uri="{FF2B5EF4-FFF2-40B4-BE49-F238E27FC236}">
                <a16:creationId xmlns:a16="http://schemas.microsoft.com/office/drawing/2014/main" id="{DA8871C7-031A-4DF1-8FF7-6F8351C312D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2C7399-46FC-4BCA-97C0-90ED90FB2B4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身長の位置が0.8以下、かつ体重の位置が0.5以下の人の割合。</a:t>
            </a:r>
          </a:p>
        </p:txBody>
      </p:sp>
      <p:sp>
        <p:nvSpPr>
          <p:cNvPr id="4" name="">
            <a:extLst xmlns:a="http://schemas.openxmlformats.org/drawingml/2006/main">
              <a:ext uri="{FF2B5EF4-FFF2-40B4-BE49-F238E27FC236}">
                <a16:creationId xmlns:a16="http://schemas.microsoft.com/office/drawing/2014/main" id="{F1636115-4B47-4EDC-A1AE-B4AF262B9E0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376455D-CE2F-45DB-8DFD-817388DA627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C365E75D-DC2B-4155-860B-025E09DE6793}"/>
              </a:ext>
            </a:extLst>
          </p:cNvPr>
          <p:cNvSpPr>
            <a:spLocks xmlns:a="http://schemas.openxmlformats.org/drawingml/2006/main" noGrp="1"/>
          </p:cNvSpPr>
          <p:nvPr/>
        </p:nvSpPr>
        <p:spPr>
          <a:xfrm xmlns:a="http://schemas.openxmlformats.org/drawingml/2006/main">
            <a:off x="514350" y="2047875"/>
            <a:ext cx="531495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42D993-C467-4C3D-BB56-5CDA7E89409A}"/>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二つの条件を重ねる</a:t>
            </a:r>
          </a:p>
        </p:txBody>
      </p:sp>
      <p:sp>
        <p:nvSpPr>
          <p:cNvPr id="8" name="">
            <a:extLst xmlns:a="http://schemas.openxmlformats.org/drawingml/2006/main">
              <a:ext uri="{FF2B5EF4-FFF2-40B4-BE49-F238E27FC236}">
                <a16:creationId xmlns:a16="http://schemas.microsoft.com/office/drawing/2014/main" id="{B97B9849-B901-47B9-9E58-C495C8A2E96E}"/>
              </a:ext>
            </a:extLst>
          </p:cNvPr>
          <p:cNvSpPr>
            <a:spLocks xmlns:a="http://schemas.openxmlformats.org/drawingml/2006/main" noGrp="1"/>
          </p:cNvSpPr>
          <p:nvPr/>
        </p:nvSpPr>
        <p:spPr>
          <a:xfrm xmlns:a="http://schemas.openxmlformats.org/drawingml/2006/main">
            <a:off x="704850" y="2714625"/>
            <a:ext cx="49339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条件1：U ≤ 0.8</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身長が低い側から80%まで</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条件2：V ≤ 0.5</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体重が軽い側から50%まで</a:t>
            </a:r>
          </a:p>
        </p:txBody>
      </p:sp>
      <p:sp>
        <p:nvSpPr>
          <p:cNvPr id="9" name="">
            <a:extLst xmlns:a="http://schemas.openxmlformats.org/drawingml/2006/main">
              <a:ext uri="{FF2B5EF4-FFF2-40B4-BE49-F238E27FC236}">
                <a16:creationId xmlns:a16="http://schemas.microsoft.com/office/drawing/2014/main" id="{BCD48D70-FC16-4358-A353-14954D89229E}"/>
              </a:ext>
            </a:extLst>
          </p:cNvPr>
          <p:cNvSpPr>
            <a:spLocks xmlns:a="http://schemas.openxmlformats.org/drawingml/2006/main" noGrp="1"/>
          </p:cNvSpPr>
          <p:nvPr/>
        </p:nvSpPr>
        <p:spPr>
          <a:xfrm xmlns:a="http://schemas.openxmlformats.org/drawingml/2006/main">
            <a:off x="6076950" y="2047875"/>
            <a:ext cx="560070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37891A-A55A-4DDF-BB43-055033844B83}"/>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両方を満たす部分</a:t>
            </a:r>
          </a:p>
        </p:txBody>
      </p:sp>
      <p:sp>
        <p:nvSpPr>
          <p:cNvPr id="11" name="">
            <a:extLst xmlns:a="http://schemas.openxmlformats.org/drawingml/2006/main">
              <a:ext uri="{FF2B5EF4-FFF2-40B4-BE49-F238E27FC236}">
                <a16:creationId xmlns:a16="http://schemas.microsoft.com/office/drawing/2014/main" id="{EFFA5DC1-C9B1-4F5F-8E4B-A4A9B79D0F6D}"/>
              </a:ext>
            </a:extLst>
          </p:cNvPr>
          <p:cNvSpPr>
            <a:spLocks xmlns:a="http://schemas.openxmlformats.org/drawingml/2006/main" noGrp="1"/>
          </p:cNvSpPr>
          <p:nvPr/>
        </p:nvSpPr>
        <p:spPr>
          <a:xfrm xmlns:a="http://schemas.openxmlformats.org/drawingml/2006/main">
            <a:off x="6267450" y="2714625"/>
            <a:ext cx="52197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「身長がこの範囲」かつ</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「体重もこの範囲」</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点の分布により割合が変わる。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ただ長方形の面積を計算する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とは限らない。</a:t>
            </a:r>
          </a:p>
        </p:txBody>
      </p:sp>
      <p:sp>
        <p:nvSpPr>
          <p:cNvPr id="12" name="">
            <a:extLst xmlns:a="http://schemas.openxmlformats.org/drawingml/2006/main">
              <a:ext uri="{FF2B5EF4-FFF2-40B4-BE49-F238E27FC236}">
                <a16:creationId xmlns:a16="http://schemas.microsoft.com/office/drawing/2014/main" id="{B4C8D35C-A586-4CEE-83C1-589AF4B5C22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CABC114-0501-4AFB-B78D-8642C7654E8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Cは同時確率。条件付き確率とは区別する</a:t>
            </a:r>
          </a:p>
        </p:txBody>
      </p:sp>
    </p:spTree>
    <p:extLst>
      <p:ext uri="{BB962C8B-B14F-4D97-AF65-F5344CB8AC3E}">
        <p14:creationId xmlns:p14="http://schemas.microsoft.com/office/powerpoint/2010/main" val="1060339608"/>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DBDD28-647D-4A98-BA7B-4CE9F692054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同時確率を、図で見る</a:t>
            </a:r>
          </a:p>
        </p:txBody>
      </p:sp>
      <p:sp>
        <p:nvSpPr>
          <p:cNvPr id="2" name="">
            <a:extLst xmlns:a="http://schemas.openxmlformats.org/drawingml/2006/main">
              <a:ext uri="{FF2B5EF4-FFF2-40B4-BE49-F238E27FC236}">
                <a16:creationId xmlns:a16="http://schemas.microsoft.com/office/drawing/2014/main" id="{32696D1F-6AD8-47B7-8BAB-F463B8AECC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158EDD-20CF-4555-B878-0B4E4830B51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独立の説明例：左下の範囲に入るのは100点中40点。</a:t>
            </a:r>
          </a:p>
        </p:txBody>
      </p:sp>
      <p:sp>
        <p:nvSpPr>
          <p:cNvPr id="4" name="">
            <a:extLst xmlns:a="http://schemas.openxmlformats.org/drawingml/2006/main">
              <a:ext uri="{FF2B5EF4-FFF2-40B4-BE49-F238E27FC236}">
                <a16:creationId xmlns:a16="http://schemas.microsoft.com/office/drawing/2014/main" id="{1B1622B5-3F91-4021-B8EB-7DF33268224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60E790A-3855-46C0-A8B7-03897CA46AF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17" name="Chart"/>
          <p:cNvGraphicFramePr/>
          <p:nvPr/>
        </p:nvGraphicFramePr>
        <p:xfrm>
          <a:off xmlns:a="http://schemas.openxmlformats.org/drawingml/2006/main" x="609600" y="1952625"/>
          <a:ext xmlns:a="http://schemas.openxmlformats.org/drawingml/2006/main" cx="6191250" cy="3486150"/>
        </p:xfrm>
        <a:graphic xmlns:a="http://schemas.openxmlformats.org/drawingml/2006/main">
          <a:graphicData uri="http://schemas.openxmlformats.org/drawingml/2006/chart">
            <c:chart xmlns:r="http://schemas.openxmlformats.org/officeDocument/2006/relationships" xmlns:c="http://schemas.openxmlformats.org/drawingml/2006/chart" r:id="R64a292c891f541e1"/>
          </a:graphicData>
        </a:graphic>
      </p:graphicFrame>
      <p:sp>
        <p:nvSpPr>
          <p:cNvPr id="7" name="">
            <a:extLst xmlns:a="http://schemas.openxmlformats.org/drawingml/2006/main">
              <a:ext uri="{FF2B5EF4-FFF2-40B4-BE49-F238E27FC236}">
                <a16:creationId xmlns:a16="http://schemas.microsoft.com/office/drawing/2014/main" id="{3DD9E5CB-434C-4A97-AD33-02A2629B081D}"/>
              </a:ext>
            </a:extLst>
          </p:cNvPr>
          <p:cNvSpPr>
            <a:spLocks xmlns:a="http://schemas.openxmlformats.org/drawingml/2006/main" noGrp="1"/>
          </p:cNvSpPr>
          <p:nvPr/>
        </p:nvSpPr>
        <p:spPr>
          <a:xfrm xmlns:a="http://schemas.openxmlformats.org/drawingml/2006/main">
            <a:off x="7086600" y="2095500"/>
            <a:ext cx="4552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D709A7-65B7-4966-9747-6E63E43C9462}"/>
              </a:ext>
            </a:extLst>
          </p:cNvPr>
          <p:cNvSpPr>
            <a:spLocks xmlns:a="http://schemas.openxmlformats.org/drawingml/2006/main" noGrp="1"/>
          </p:cNvSpPr>
          <p:nvPr/>
        </p:nvSpPr>
        <p:spPr>
          <a:xfrm xmlns:a="http://schemas.openxmlformats.org/drawingml/2006/main">
            <a:off x="7277100" y="2209800"/>
            <a:ext cx="417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緑の点を数える</a:t>
            </a:r>
          </a:p>
        </p:txBody>
      </p:sp>
      <p:sp>
        <p:nvSpPr>
          <p:cNvPr id="9" name="">
            <a:extLst xmlns:a="http://schemas.openxmlformats.org/drawingml/2006/main">
              <a:ext uri="{FF2B5EF4-FFF2-40B4-BE49-F238E27FC236}">
                <a16:creationId xmlns:a16="http://schemas.microsoft.com/office/drawing/2014/main" id="{81889222-7D3D-410C-95FF-179D83EAD6B4}"/>
              </a:ext>
            </a:extLst>
          </p:cNvPr>
          <p:cNvSpPr>
            <a:spLocks xmlns:a="http://schemas.openxmlformats.org/drawingml/2006/main" noGrp="1"/>
          </p:cNvSpPr>
          <p:nvPr/>
        </p:nvSpPr>
        <p:spPr>
          <a:xfrm xmlns:a="http://schemas.openxmlformats.org/drawingml/2006/main">
            <a:off x="7277100" y="2762250"/>
            <a:ext cx="4171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0.8 かつ V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左下の範囲：40点</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全体：100点</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C(0.8, 0.5) = 0.4</a:t>
            </a:r>
          </a:p>
        </p:txBody>
      </p:sp>
      <p:sp>
        <p:nvSpPr>
          <p:cNvPr id="10" name="">
            <a:extLst xmlns:a="http://schemas.openxmlformats.org/drawingml/2006/main">
              <a:ext uri="{FF2B5EF4-FFF2-40B4-BE49-F238E27FC236}">
                <a16:creationId xmlns:a16="http://schemas.microsoft.com/office/drawing/2014/main" id="{D1F90F81-0729-4FAD-B97A-2BE3B09370E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F1C6A74-557A-4137-9486-F64D61FD471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一般のCでは、同じ範囲でも点の集まり方で確率が変わる</a:t>
            </a:r>
          </a:p>
        </p:txBody>
      </p:sp>
    </p:spTree>
    <p:extLst>
      <p:ext uri="{BB962C8B-B14F-4D97-AF65-F5344CB8AC3E}">
        <p14:creationId xmlns:p14="http://schemas.microsoft.com/office/powerpoint/2010/main" val="1846024653"/>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D7ABAB-57F9-4483-8609-24C06DBB3FD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A0BBA6EE-99C8-4736-A4A4-993B9E71F87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FD4B0F-AF8A-4727-AD77-A5819CED5AE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1CB957B0-A9A5-49A7-A4A3-E13E5F4A4AD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C57D545-42A3-4E6F-B03A-062AD0F55D4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F65B447E-835B-401D-9A57-FB1F5B36C44E}"/>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421C4E-9FD4-49D4-857A-47F890204180}"/>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0E23DBDE-19CD-43A9-8095-20CDC25820F4}"/>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28513BA5-7FB3-408E-9DD0-A578C962D7FE}"/>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C4776E34-40AB-4D8E-A7DD-B56BC015E992}"/>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9763E87-59EB-4BF0-82E7-40C5EB998192}"/>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2F0EE50D-F870-49EE-A652-5FF1F4DDE2EF}"/>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C5438A62-7E1C-4BC1-A421-8571FADCBF25}"/>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471C1FCB-F209-4899-91E8-3D5BE95D62A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3A181E7-BB70-45D8-BFAD-63223925232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1609984796"/>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F97131-18E0-4E3F-92DE-47ECEF699A3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780BC2F3-7626-4F56-AEFE-4411E4E4AA0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AE3489-8D7E-42C9-A9FF-19D4ACA2C5D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042FA79D-3882-46CF-BC19-D902AB583B9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535A72F-E67D-454B-B0D4-9B53B6F169B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6AF79B37-676D-4211-BB8E-9E2E5705FE40}"/>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C4C2C1-BAF9-47E5-B8C0-94621F245389}"/>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68CB2F1C-C279-4BB8-95E8-848570F7414C}"/>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DB654A3-F883-4CB9-BA74-B5B0BDF8F35A}"/>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7EA7151F-B534-4808-B0BB-676DF44FBB17}"/>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C20A971E-F4A8-45A5-8659-A7D5EF0B297C}"/>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01EFE3AF-A204-45C0-BA90-9C1A1426D8A8}"/>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6D0CEBE-1FDA-4B44-9BB0-E69FD720EABF}"/>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204DD4C8-5297-4296-8ADC-39AA29C51A3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EA97157-9318-42C0-8A4E-4A841C1B89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1561931481"/>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E9F92A2-DFD9-469F-92B2-315131D815C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4113FC6D-7E94-479B-8BB0-1245CDDDE3C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C14DF8-CB5D-4599-BA84-2B3A50EBB30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6F1677ED-B843-46C3-9C7A-48A5DC6267E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2129CC2-751B-455E-A1DE-0159B54B0CE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DC904789-A9A0-4670-8400-13533277FBEF}"/>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3D1223-7DB5-49B3-8E7E-CEDD7637E65A}"/>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71EF5027-A456-4861-A49D-4C78AF8CE2DE}"/>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8AC8330A-59D7-45FF-B0A8-F7C68D498D82}"/>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EA275AD6-ACFF-4637-9740-F1556984C3AD}"/>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C1012F9-EE40-478C-B9F9-3C552DDFD1B8}"/>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03A7CDC1-BDA0-4CC4-8663-D0BB4676CE4D}"/>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B79FEDF9-440F-4BF7-87BA-41928C5FE6DA}"/>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FC9E9513-0223-41BE-B8F8-B858356F2B2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E78653-0DEE-49CE-9C34-78480868345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1007331709"/>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F9632C-AE8D-4B17-9BA1-3D5AB252F9B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同じ周辺分布でも、同時確率は違う</a:t>
            </a:r>
          </a:p>
        </p:txBody>
      </p:sp>
      <p:sp>
        <p:nvSpPr>
          <p:cNvPr id="2" name="">
            <a:extLst xmlns:a="http://schemas.openxmlformats.org/drawingml/2006/main">
              <a:ext uri="{FF2B5EF4-FFF2-40B4-BE49-F238E27FC236}">
                <a16:creationId xmlns:a16="http://schemas.microsoft.com/office/drawing/2014/main" id="{EF6F47A3-9F05-4817-AEBB-76188F173E3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83443D-62BB-4581-A50D-9958EB249F4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どの場合も、身長・体重の位置はそれぞれ一様分布。</a:t>
            </a:r>
          </a:p>
        </p:txBody>
      </p:sp>
      <p:sp>
        <p:nvSpPr>
          <p:cNvPr id="4" name="">
            <a:extLst xmlns:a="http://schemas.openxmlformats.org/drawingml/2006/main">
              <a:ext uri="{FF2B5EF4-FFF2-40B4-BE49-F238E27FC236}">
                <a16:creationId xmlns:a16="http://schemas.microsoft.com/office/drawing/2014/main" id="{DDFABC81-9B80-4AC0-BCCF-1926580D518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6FA0941-4CC9-496D-9371-C2001AF52F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4" name=""/>
          <p:cNvGraphicFramePr/>
          <p:nvPr/>
        </p:nvGraphicFramePr>
        <p:xfrm>
          <a:off xmlns:a="http://schemas.openxmlformats.org/drawingml/2006/main" x="514350" y="2114550"/>
          <a:ext xmlns:a="http://schemas.openxmlformats.org/drawingml/2006/main" cx="11163300" cy="2762250"/>
        </p:xfrm>
        <a:graphic xmlns:a="http://schemas.openxmlformats.org/drawingml/2006/main">
          <a:graphicData uri="http://schemas.openxmlformats.org/drawingml/2006/table">
            <a:tbl>
              <a:tblPr/>
              <a:tblGrid>
                <a:gridCol w="3721100"/>
                <a:gridCol w="3721100"/>
                <a:gridCol w="3721100"/>
              </a:tblGrid>
              <a:tr h="690563">
                <a:tc>
                  <a:txBody>
                    <a:bodyPr/>
                    <a:lstStyle/>
                    <a:p>
                      <a:pPr algn="ctr"/>
                      <a:r>
                        <a:rPr sz="2100"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C(u, v)</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C(0.8, 0.5)</a:t>
                      </a:r>
                    </a:p>
                  </a:txBody>
                  <a:tcPr marL="91440" marR="91440" marT="45720" marB="45720" anchor="ctr">
                    <a:solidFill>
                      <a:srgbClr val="E7F2EC"/>
                    </a:solidFill>
                  </a:tcPr>
                </a:tc>
              </a:tr>
              <a:tr h="690563">
                <a:tc>
                  <a:txBody>
                    <a:bodyPr/>
                    <a:lstStyle/>
                    <a:p>
                      <a:pPr algn="ctr"/>
                      <a:r>
                        <a:rPr sz="2100" b="0">
                          <a:solidFill>
                            <a:srgbClr val="222222"/>
                          </a:solidFill>
                          <a:latin typeface="Noto Sans JP"/>
                          <a:ea typeface="Noto Sans JP"/>
                          <a:cs typeface="Noto Sans JP"/>
                        </a:rPr>
                        <a:t>独立</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uv</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0.4</a:t>
                      </a:r>
                    </a:p>
                  </a:txBody>
                  <a:tcPr marL="91440" marR="91440" marT="45720" marB="45720" anchor="ctr">
                    <a:solidFill>
                      <a:srgbClr val="FFFFFF"/>
                    </a:solidFill>
                  </a:tcPr>
                </a:tc>
              </a:tr>
              <a:tr h="690563">
                <a:tc>
                  <a:txBody>
                    <a:bodyPr/>
                    <a:lstStyle/>
                    <a:p>
                      <a:pPr algn="ctr"/>
                      <a:r>
                        <a:rPr sz="2100" b="0">
                          <a:solidFill>
                            <a:srgbClr val="222222"/>
                          </a:solidFill>
                          <a:latin typeface="Noto Sans JP"/>
                          <a:ea typeface="Noto Sans JP"/>
                          <a:cs typeface="Noto Sans JP"/>
                        </a:rPr>
                        <a:t>完全に同じ位置：V = 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min(u, v)</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a:t>
                      </a:r>
                    </a:p>
                  </a:txBody>
                  <a:tcPr marL="91440" marR="91440" marT="45720" marB="45720" anchor="ctr">
                    <a:solidFill>
                      <a:srgbClr val="F6F6F6"/>
                    </a:solidFill>
                  </a:tcPr>
                </a:tc>
              </a:tr>
              <a:tr h="690563">
                <a:tc>
                  <a:txBody>
                    <a:bodyPr/>
                    <a:lstStyle/>
                    <a:p>
                      <a:pPr algn="ctr"/>
                      <a:r>
                        <a:rPr sz="2100" b="0">
                          <a:solidFill>
                            <a:srgbClr val="222222"/>
                          </a:solidFill>
                          <a:latin typeface="Noto Sans JP"/>
                          <a:ea typeface="Noto Sans JP"/>
                          <a:cs typeface="Noto Sans JP"/>
                        </a:rPr>
                        <a:t>完全に逆の位置：V = 1 − U</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max(u + v − 1, 0)</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0.3</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192FC28-4C51-43CC-AE38-EB810FF7B84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35904E-A037-45C3-8429-8D90B9C3667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コピュラの役割：周辺分布だけでは決まらない同時確率を表す</a:t>
            </a:r>
          </a:p>
        </p:txBody>
      </p:sp>
    </p:spTree>
    <p:extLst>
      <p:ext uri="{BB962C8B-B14F-4D97-AF65-F5344CB8AC3E}">
        <p14:creationId xmlns:p14="http://schemas.microsoft.com/office/powerpoint/2010/main" val="563684224"/>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55C976-F597-479A-A960-420B37593ED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元の値との接続：Sklarの定理</a:t>
            </a:r>
          </a:p>
        </p:txBody>
      </p:sp>
      <p:sp>
        <p:nvSpPr>
          <p:cNvPr id="2" name="">
            <a:extLst xmlns:a="http://schemas.openxmlformats.org/drawingml/2006/main">
              <a:ext uri="{FF2B5EF4-FFF2-40B4-BE49-F238E27FC236}">
                <a16:creationId xmlns:a16="http://schemas.microsoft.com/office/drawing/2014/main" id="{940E1F05-DE6C-4C8B-B0D8-80B7409CC6D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B00F2A-7AC1-4176-97BC-8F1D651536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元の同時分布は「周辺分布」と「コピュラ」で表せる。</a:t>
            </a:r>
          </a:p>
        </p:txBody>
      </p:sp>
      <p:sp>
        <p:nvSpPr>
          <p:cNvPr id="4" name="">
            <a:extLst xmlns:a="http://schemas.openxmlformats.org/drawingml/2006/main">
              <a:ext uri="{FF2B5EF4-FFF2-40B4-BE49-F238E27FC236}">
                <a16:creationId xmlns:a16="http://schemas.microsoft.com/office/drawing/2014/main" id="{9070C512-C8F5-4A7D-B581-4CFC6A3D08A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3E128C7-F8CF-4CFE-9A76-1362FD2CAAA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C48F52A6-4E2F-4142-8D52-E95AD4062FF9}"/>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0D6FF4-3D32-44C8-90BB-99D67814C3AD}"/>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525" b="1">
                <a:solidFill>
                  <a:srgbClr val="2B6777"/>
                </a:solidFill>
                <a:latin typeface="Noto Sans JP"/>
                <a:ea typeface="Noto Sans JP"/>
                <a:cs typeface="Noto Sans JP"/>
              </a:defRPr>
            </a:pPr>
            <a:r>
              <a:rPr sz="3525" b="1">
                <a:solidFill>
                  <a:srgbClr val="2B6777"/>
                </a:solidFill>
                <a:latin typeface="Noto Sans JP"/>
                <a:ea typeface="Noto Sans JP"/>
                <a:cs typeface="Noto Sans JP"/>
              </a:rPr>
              <a:t>H(x, y) = C(Fₓ(x), Fᵧ(y))</a:t>
            </a:r>
          </a:p>
        </p:txBody>
      </p:sp>
      <p:sp>
        <p:nvSpPr>
          <p:cNvPr id="8" name="">
            <a:extLst xmlns:a="http://schemas.openxmlformats.org/drawingml/2006/main">
              <a:ext uri="{FF2B5EF4-FFF2-40B4-BE49-F238E27FC236}">
                <a16:creationId xmlns:a16="http://schemas.microsoft.com/office/drawing/2014/main" id="{4C600470-7EC8-4270-B8A0-246781CCE9D4}"/>
              </a:ext>
            </a:extLst>
          </p:cNvPr>
          <p:cNvSpPr>
            <a:spLocks xmlns:a="http://schemas.openxmlformats.org/drawingml/2006/main" noGrp="1"/>
          </p:cNvSpPr>
          <p:nvPr/>
        </p:nvSpPr>
        <p:spPr>
          <a:xfrm xmlns:a="http://schemas.openxmlformats.org/drawingml/2006/main">
            <a:off x="552450" y="333375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59D23A8-AE7C-4C5A-A736-F4F301544AC1}"/>
              </a:ext>
            </a:extLst>
          </p:cNvPr>
          <p:cNvSpPr>
            <a:spLocks xmlns:a="http://schemas.openxmlformats.org/drawingml/2006/main" noGrp="1"/>
          </p:cNvSpPr>
          <p:nvPr/>
        </p:nvSpPr>
        <p:spPr>
          <a:xfrm xmlns:a="http://schemas.openxmlformats.org/drawingml/2006/main">
            <a:off x="1257300" y="333375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Fₓ(x)：身長の境界xを、位置uへ変える。</a:t>
            </a:r>
          </a:p>
        </p:txBody>
      </p:sp>
      <p:sp>
        <p:nvSpPr>
          <p:cNvPr id="10" name="">
            <a:extLst xmlns:a="http://schemas.openxmlformats.org/drawingml/2006/main">
              <a:ext uri="{FF2B5EF4-FFF2-40B4-BE49-F238E27FC236}">
                <a16:creationId xmlns:a16="http://schemas.microsoft.com/office/drawing/2014/main" id="{F235BE16-716B-4B23-B9CA-8069E900BCEE}"/>
              </a:ext>
            </a:extLst>
          </p:cNvPr>
          <p:cNvSpPr>
            <a:spLocks xmlns:a="http://schemas.openxmlformats.org/drawingml/2006/main" noGrp="1"/>
          </p:cNvSpPr>
          <p:nvPr/>
        </p:nvSpPr>
        <p:spPr>
          <a:xfrm xmlns:a="http://schemas.openxmlformats.org/drawingml/2006/main">
            <a:off x="552450" y="4010025"/>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BF261AF-44BB-4C9F-8FC9-2F7855FE8672}"/>
              </a:ext>
            </a:extLst>
          </p:cNvPr>
          <p:cNvSpPr>
            <a:spLocks xmlns:a="http://schemas.openxmlformats.org/drawingml/2006/main" noGrp="1"/>
          </p:cNvSpPr>
          <p:nvPr/>
        </p:nvSpPr>
        <p:spPr>
          <a:xfrm xmlns:a="http://schemas.openxmlformats.org/drawingml/2006/main">
            <a:off x="1257300" y="4010025"/>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Fᵧ(y)：体重の境界yを、位置vへ変える。</a:t>
            </a:r>
          </a:p>
        </p:txBody>
      </p:sp>
      <p:sp>
        <p:nvSpPr>
          <p:cNvPr id="12" name="">
            <a:extLst xmlns:a="http://schemas.openxmlformats.org/drawingml/2006/main">
              <a:ext uri="{FF2B5EF4-FFF2-40B4-BE49-F238E27FC236}">
                <a16:creationId xmlns:a16="http://schemas.microsoft.com/office/drawing/2014/main" id="{D8872111-D4A1-4AAE-A68F-9E04288F6F0A}"/>
              </a:ext>
            </a:extLst>
          </p:cNvPr>
          <p:cNvSpPr>
            <a:spLocks xmlns:a="http://schemas.openxmlformats.org/drawingml/2006/main" noGrp="1"/>
          </p:cNvSpPr>
          <p:nvPr/>
        </p:nvSpPr>
        <p:spPr>
          <a:xfrm xmlns:a="http://schemas.openxmlformats.org/drawingml/2006/main">
            <a:off x="552450" y="468630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EF8555E-CF17-4582-98D5-B868D432D9EA}"/>
              </a:ext>
            </a:extLst>
          </p:cNvPr>
          <p:cNvSpPr>
            <a:spLocks xmlns:a="http://schemas.openxmlformats.org/drawingml/2006/main" noGrp="1"/>
          </p:cNvSpPr>
          <p:nvPr/>
        </p:nvSpPr>
        <p:spPr>
          <a:xfrm xmlns:a="http://schemas.openxmlformats.org/drawingml/2006/main">
            <a:off x="1257300" y="468630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C(u, v)：その二つを同時に満たす確率を返す。</a:t>
            </a:r>
          </a:p>
        </p:txBody>
      </p:sp>
      <p:sp>
        <p:nvSpPr>
          <p:cNvPr id="14" name="">
            <a:extLst xmlns:a="http://schemas.openxmlformats.org/drawingml/2006/main">
              <a:ext uri="{FF2B5EF4-FFF2-40B4-BE49-F238E27FC236}">
                <a16:creationId xmlns:a16="http://schemas.microsoft.com/office/drawing/2014/main" id="{EB9893E7-CB8B-4996-9668-B393D9A3681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522B4A-E8CC-4303-B8DC-4DA9723556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連続な周辺分布なら、このCは一意に決まる</a:t>
            </a:r>
          </a:p>
        </p:txBody>
      </p:sp>
    </p:spTree>
    <p:extLst>
      <p:ext uri="{BB962C8B-B14F-4D97-AF65-F5344CB8AC3E}">
        <p14:creationId xmlns:p14="http://schemas.microsoft.com/office/powerpoint/2010/main" val="68815805"/>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1BB1E2-375B-4EB5-BAE4-490FECB8E9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生成する場合は、逆向きに使う</a:t>
            </a:r>
          </a:p>
        </p:txBody>
      </p:sp>
      <p:sp>
        <p:nvSpPr>
          <p:cNvPr id="2" name="">
            <a:extLst xmlns:a="http://schemas.openxmlformats.org/drawingml/2006/main">
              <a:ext uri="{FF2B5EF4-FFF2-40B4-BE49-F238E27FC236}">
                <a16:creationId xmlns:a16="http://schemas.microsoft.com/office/drawing/2014/main" id="{DE14BCC9-7B1C-4C5B-AD55-28CB05BB435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653AEF-E0D9-4A52-8B50-FC0661F5A1B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位置の組を作ってから、各列の元の単位へ戻す。</a:t>
            </a:r>
          </a:p>
        </p:txBody>
      </p:sp>
      <p:sp>
        <p:nvSpPr>
          <p:cNvPr id="4" name="">
            <a:extLst xmlns:a="http://schemas.openxmlformats.org/drawingml/2006/main">
              <a:ext uri="{FF2B5EF4-FFF2-40B4-BE49-F238E27FC236}">
                <a16:creationId xmlns:a16="http://schemas.microsoft.com/office/drawing/2014/main" id="{8AC3A8E5-B766-4C2D-BFBB-CDC145790B6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B893C05-7432-4C35-86D7-A65133EAC70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B4F1C693-92AD-4EC6-A354-01E7E8073BB7}"/>
              </a:ext>
            </a:extLst>
          </p:cNvPr>
          <p:cNvSpPr>
            <a:spLocks xmlns:a="http://schemas.openxmlformats.org/drawingml/2006/main" noGrp="1"/>
          </p:cNvSpPr>
          <p:nvPr/>
        </p:nvSpPr>
        <p:spPr>
          <a:xfrm xmlns:a="http://schemas.openxmlformats.org/drawingml/2006/main">
            <a:off x="514350" y="2038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FD5BCE-8754-4726-8880-50950BEF0563}"/>
              </a:ext>
            </a:extLst>
          </p:cNvPr>
          <p:cNvSpPr>
            <a:spLocks xmlns:a="http://schemas.openxmlformats.org/drawingml/2006/main" noGrp="1"/>
          </p:cNvSpPr>
          <p:nvPr/>
        </p:nvSpPr>
        <p:spPr>
          <a:xfrm xmlns:a="http://schemas.openxmlformats.org/drawingml/2006/main">
            <a:off x="704850" y="2133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(U, V) ~ C  →  X = Fₓ⁻¹(U),  Y = Fᵧ⁻¹(V)</a:t>
            </a:r>
          </a:p>
        </p:txBody>
      </p:sp>
      <p:sp>
        <p:nvSpPr>
          <p:cNvPr id="8" name="">
            <a:extLst xmlns:a="http://schemas.openxmlformats.org/drawingml/2006/main">
              <a:ext uri="{FF2B5EF4-FFF2-40B4-BE49-F238E27FC236}">
                <a16:creationId xmlns:a16="http://schemas.microsoft.com/office/drawing/2014/main" id="{5CF86D6D-8035-41F6-AEA8-86D0E3B69DD2}"/>
              </a:ext>
            </a:extLst>
          </p:cNvPr>
          <p:cNvSpPr>
            <a:spLocks xmlns:a="http://schemas.openxmlformats.org/drawingml/2006/main" noGrp="1"/>
          </p:cNvSpPr>
          <p:nvPr/>
        </p:nvSpPr>
        <p:spPr>
          <a:xfrm xmlns:a="http://schemas.openxmlformats.org/drawingml/2006/main">
            <a:off x="552450" y="33528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9F685ED-4E61-439B-B53B-A948CF0C25DA}"/>
              </a:ext>
            </a:extLst>
          </p:cNvPr>
          <p:cNvSpPr>
            <a:spLocks xmlns:a="http://schemas.openxmlformats.org/drawingml/2006/main" noGrp="1"/>
          </p:cNvSpPr>
          <p:nvPr/>
        </p:nvSpPr>
        <p:spPr>
          <a:xfrm xmlns:a="http://schemas.openxmlformats.org/drawingml/2006/main">
            <a:off x="1257300" y="33528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周辺分布：どんな身長・体重の値が存在するか。</a:t>
            </a:r>
          </a:p>
        </p:txBody>
      </p:sp>
      <p:sp>
        <p:nvSpPr>
          <p:cNvPr id="10" name="">
            <a:extLst xmlns:a="http://schemas.openxmlformats.org/drawingml/2006/main">
              <a:ext uri="{FF2B5EF4-FFF2-40B4-BE49-F238E27FC236}">
                <a16:creationId xmlns:a16="http://schemas.microsoft.com/office/drawing/2014/main" id="{75F763F3-1ABD-4AC7-BB1B-795E415C0DEE}"/>
              </a:ext>
            </a:extLst>
          </p:cNvPr>
          <p:cNvSpPr>
            <a:spLocks xmlns:a="http://schemas.openxmlformats.org/drawingml/2006/main" noGrp="1"/>
          </p:cNvSpPr>
          <p:nvPr/>
        </p:nvSpPr>
        <p:spPr>
          <a:xfrm xmlns:a="http://schemas.openxmlformats.org/drawingml/2006/main">
            <a:off x="552450" y="40132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6099FB50-32D3-421C-A6AB-512218577E4D}"/>
              </a:ext>
            </a:extLst>
          </p:cNvPr>
          <p:cNvSpPr>
            <a:spLocks xmlns:a="http://schemas.openxmlformats.org/drawingml/2006/main" noGrp="1"/>
          </p:cNvSpPr>
          <p:nvPr/>
        </p:nvSpPr>
        <p:spPr>
          <a:xfrm xmlns:a="http://schemas.openxmlformats.org/drawingml/2006/main">
            <a:off x="1257300" y="40132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コピュラ：どんな位置の組を一緒に作るか。</a:t>
            </a:r>
          </a:p>
        </p:txBody>
      </p:sp>
      <p:sp>
        <p:nvSpPr>
          <p:cNvPr id="12" name="">
            <a:extLst xmlns:a="http://schemas.openxmlformats.org/drawingml/2006/main">
              <a:ext uri="{FF2B5EF4-FFF2-40B4-BE49-F238E27FC236}">
                <a16:creationId xmlns:a16="http://schemas.microsoft.com/office/drawing/2014/main" id="{A52BCA5A-8DC0-44FB-A13C-FED7D1BDAC8D}"/>
              </a:ext>
            </a:extLst>
          </p:cNvPr>
          <p:cNvSpPr>
            <a:spLocks xmlns:a="http://schemas.openxmlformats.org/drawingml/2006/main" noGrp="1"/>
          </p:cNvSpPr>
          <p:nvPr/>
        </p:nvSpPr>
        <p:spPr>
          <a:xfrm xmlns:a="http://schemas.openxmlformats.org/drawingml/2006/main">
            <a:off x="552450" y="46736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5907F1B1-3284-4579-9609-FCD0E6DB3E9E}"/>
              </a:ext>
            </a:extLst>
          </p:cNvPr>
          <p:cNvSpPr>
            <a:spLocks xmlns:a="http://schemas.openxmlformats.org/drawingml/2006/main" noGrp="1"/>
          </p:cNvSpPr>
          <p:nvPr/>
        </p:nvSpPr>
        <p:spPr>
          <a:xfrm xmlns:a="http://schemas.openxmlformats.org/drawingml/2006/main">
            <a:off x="1257300" y="46736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逆累積分布：位置から、cm・kgへ戻す。</a:t>
            </a:r>
          </a:p>
        </p:txBody>
      </p:sp>
      <p:sp>
        <p:nvSpPr>
          <p:cNvPr id="14" name="">
            <a:extLst xmlns:a="http://schemas.openxmlformats.org/drawingml/2006/main">
              <a:ext uri="{FF2B5EF4-FFF2-40B4-BE49-F238E27FC236}">
                <a16:creationId xmlns:a16="http://schemas.microsoft.com/office/drawing/2014/main" id="{28297F34-8D31-407B-A9D5-845ED01039C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1B2A72A-A388-4994-BCA2-CD83A4069B6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本研究では「残した列の位置」を条件に、置換する列の位置を作る</a:t>
            </a:r>
          </a:p>
        </p:txBody>
      </p:sp>
    </p:spTree>
    <p:extLst>
      <p:ext uri="{BB962C8B-B14F-4D97-AF65-F5344CB8AC3E}">
        <p14:creationId xmlns:p14="http://schemas.microsoft.com/office/powerpoint/2010/main" val="109718892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2AF8E4-52E3-4309-BDFD-9463A0C5F3F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70414F81-2B02-4CAC-A961-C2F9A8B901E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8444AC-6113-4CC1-ADF3-AF168B0879F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F650C6AD-EE96-4027-BECE-F216D5AB283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E93A2D0-E588-4A08-9B49-925D7407F7A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CF23BF8-574F-437F-A862-E884FB84895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E7D177-5899-4777-9D61-9E7170D807F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1274810396"/>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6BD5FE-E046-4FB6-8961-7ED42AEADA6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「裾の依存」は、相関と何が違う？</a:t>
            </a:r>
          </a:p>
        </p:txBody>
      </p:sp>
      <p:sp>
        <p:nvSpPr>
          <p:cNvPr id="2" name="">
            <a:extLst xmlns:a="http://schemas.openxmlformats.org/drawingml/2006/main">
              <a:ext uri="{FF2B5EF4-FFF2-40B4-BE49-F238E27FC236}">
                <a16:creationId xmlns:a16="http://schemas.microsoft.com/office/drawing/2014/main" id="{86A7724A-6A2D-4941-BF3C-C6C638D27C8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6E73C6-D955-44F4-817B-7CE3D4FB2DE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各変数が極端に大きい／小さいとき、もう一方も極端かを見る。</a:t>
            </a:r>
          </a:p>
        </p:txBody>
      </p:sp>
      <p:sp>
        <p:nvSpPr>
          <p:cNvPr id="4" name="">
            <a:extLst xmlns:a="http://schemas.openxmlformats.org/drawingml/2006/main">
              <a:ext uri="{FF2B5EF4-FFF2-40B4-BE49-F238E27FC236}">
                <a16:creationId xmlns:a16="http://schemas.microsoft.com/office/drawing/2014/main" id="{EEA276C7-9293-47AE-92B3-574B27CC324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605176C-A1BA-4FA9-B450-017FEDA95FB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7EFF7491-9DE4-4780-9DA2-2E69B21D2E79}"/>
              </a:ext>
            </a:extLst>
          </p:cNvPr>
          <p:cNvSpPr>
            <a:spLocks xmlns:a="http://schemas.openxmlformats.org/drawingml/2006/main" noGrp="1"/>
          </p:cNvSpPr>
          <p:nvPr/>
        </p:nvSpPr>
        <p:spPr>
          <a:xfrm xmlns:a="http://schemas.openxmlformats.org/drawingml/2006/main">
            <a:off x="514350" y="2095500"/>
            <a:ext cx="531495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639E4C-7CEA-4F32-953E-D4E30F686928}"/>
              </a:ext>
            </a:extLst>
          </p:cNvPr>
          <p:cNvSpPr>
            <a:spLocks xmlns:a="http://schemas.openxmlformats.org/drawingml/2006/main" noGrp="1"/>
          </p:cNvSpPr>
          <p:nvPr/>
        </p:nvSpPr>
        <p:spPr>
          <a:xfrm xmlns:a="http://schemas.openxmlformats.org/drawingml/2006/main">
            <a:off x="704850" y="22098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上側の裾</a:t>
            </a:r>
          </a:p>
        </p:txBody>
      </p:sp>
      <p:sp>
        <p:nvSpPr>
          <p:cNvPr id="8" name="">
            <a:extLst xmlns:a="http://schemas.openxmlformats.org/drawingml/2006/main">
              <a:ext uri="{FF2B5EF4-FFF2-40B4-BE49-F238E27FC236}">
                <a16:creationId xmlns:a16="http://schemas.microsoft.com/office/drawing/2014/main" id="{C3A76E8A-7F56-4822-91DB-262ADB593C5A}"/>
              </a:ext>
            </a:extLst>
          </p:cNvPr>
          <p:cNvSpPr>
            <a:spLocks xmlns:a="http://schemas.openxmlformats.org/drawingml/2006/main" noGrp="1"/>
          </p:cNvSpPr>
          <p:nvPr/>
        </p:nvSpPr>
        <p:spPr>
          <a:xfrm xmlns:a="http://schemas.openxmlformats.org/drawingml/2006/main">
            <a:off x="704850" y="2762250"/>
            <a:ext cx="49339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上位1%の大雨があるとき、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別地点も上位1%になりやすいか。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Gumbel・Joe：上側の依存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Student-t：上下両側</a:t>
            </a:r>
          </a:p>
        </p:txBody>
      </p:sp>
      <p:sp>
        <p:nvSpPr>
          <p:cNvPr id="9" name="">
            <a:extLst xmlns:a="http://schemas.openxmlformats.org/drawingml/2006/main">
              <a:ext uri="{FF2B5EF4-FFF2-40B4-BE49-F238E27FC236}">
                <a16:creationId xmlns:a16="http://schemas.microsoft.com/office/drawing/2014/main" id="{5693E0CA-7B16-4F31-8F37-93B02957AB57}"/>
              </a:ext>
            </a:extLst>
          </p:cNvPr>
          <p:cNvSpPr>
            <a:spLocks xmlns:a="http://schemas.openxmlformats.org/drawingml/2006/main" noGrp="1"/>
          </p:cNvSpPr>
          <p:nvPr/>
        </p:nvSpPr>
        <p:spPr>
          <a:xfrm xmlns:a="http://schemas.openxmlformats.org/drawingml/2006/main">
            <a:off x="6076950" y="2095500"/>
            <a:ext cx="56007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4D9C5D-717A-4500-AF02-C14A4FB627C8}"/>
              </a:ext>
            </a:extLst>
          </p:cNvPr>
          <p:cNvSpPr>
            <a:spLocks xmlns:a="http://schemas.openxmlformats.org/drawingml/2006/main" noGrp="1"/>
          </p:cNvSpPr>
          <p:nvPr/>
        </p:nvSpPr>
        <p:spPr>
          <a:xfrm xmlns:a="http://schemas.openxmlformats.org/drawingml/2006/main">
            <a:off x="6267450" y="22098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下側の裾</a:t>
            </a:r>
          </a:p>
        </p:txBody>
      </p:sp>
      <p:sp>
        <p:nvSpPr>
          <p:cNvPr id="11" name="">
            <a:extLst xmlns:a="http://schemas.openxmlformats.org/drawingml/2006/main">
              <a:ext uri="{FF2B5EF4-FFF2-40B4-BE49-F238E27FC236}">
                <a16:creationId xmlns:a16="http://schemas.microsoft.com/office/drawing/2014/main" id="{052C4B74-5D70-454E-8C9A-EE1BC64AC595}"/>
              </a:ext>
            </a:extLst>
          </p:cNvPr>
          <p:cNvSpPr>
            <a:spLocks xmlns:a="http://schemas.openxmlformats.org/drawingml/2006/main" noGrp="1"/>
          </p:cNvSpPr>
          <p:nvPr/>
        </p:nvSpPr>
        <p:spPr>
          <a:xfrm xmlns:a="http://schemas.openxmlformats.org/drawingml/2006/main">
            <a:off x="6267450" y="2762250"/>
            <a:ext cx="52197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下位1%の収益になるとき、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別の資産も下位1%か。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Clayton：下側の依存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Gaussian：漸近的な裾依存は0</a:t>
            </a:r>
          </a:p>
        </p:txBody>
      </p:sp>
      <p:sp>
        <p:nvSpPr>
          <p:cNvPr id="12" name="">
            <a:extLst xmlns:a="http://schemas.openxmlformats.org/drawingml/2006/main">
              <a:ext uri="{FF2B5EF4-FFF2-40B4-BE49-F238E27FC236}">
                <a16:creationId xmlns:a16="http://schemas.microsoft.com/office/drawing/2014/main" id="{FB8C07FA-4C2A-44FB-9468-26F90EB313A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8DA635-9E19-4C29-A861-C4D3BB02F01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各列の裾が重いことと、列どうしの裾依存は別の性質</a:t>
            </a:r>
          </a:p>
        </p:txBody>
      </p:sp>
    </p:spTree>
    <p:extLst>
      <p:ext uri="{BB962C8B-B14F-4D97-AF65-F5344CB8AC3E}">
        <p14:creationId xmlns:p14="http://schemas.microsoft.com/office/powerpoint/2010/main" val="1338369930"/>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8682F8-E56B-48F5-A1B8-61773B283A1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58923BCC-01FF-4DA6-AC8D-4A679CAA2C8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4C22AC-217C-4C25-865D-BD4089591AD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条件付き分布を計算しやすく、置換器だけの比較を始められる。</a:t>
            </a:r>
          </a:p>
        </p:txBody>
      </p:sp>
      <p:sp>
        <p:nvSpPr>
          <p:cNvPr id="4" name="">
            <a:extLst xmlns:a="http://schemas.openxmlformats.org/drawingml/2006/main">
              <a:ext uri="{FF2B5EF4-FFF2-40B4-BE49-F238E27FC236}">
                <a16:creationId xmlns:a16="http://schemas.microsoft.com/office/drawing/2014/main" id="{C3581D49-12BF-4CF4-A678-10B4AC2B0B5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8EBFBAAF-2E06-481A-BCE3-5041051CD12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sp>
        <p:nvSpPr>
          <p:cNvPr id="6" name="">
            <a:extLst xmlns:a="http://schemas.openxmlformats.org/drawingml/2006/main">
              <a:ext uri="{FF2B5EF4-FFF2-40B4-BE49-F238E27FC236}">
                <a16:creationId xmlns:a16="http://schemas.microsoft.com/office/drawing/2014/main" id="{44F4B038-3DF8-40DD-B57D-EE92E73424FC}"/>
              </a:ext>
            </a:extLst>
          </p:cNvPr>
          <p:cNvSpPr>
            <a:spLocks xmlns:a="http://schemas.openxmlformats.org/drawingml/2006/main" noGrp="1"/>
          </p:cNvSpPr>
          <p:nvPr/>
        </p:nvSpPr>
        <p:spPr>
          <a:xfrm xmlns:a="http://schemas.openxmlformats.org/drawingml/2006/main">
            <a:off x="514350" y="2047875"/>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74EE83-C872-41BF-B19B-FF15E31A2E1A}"/>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採用する理由</a:t>
            </a:r>
          </a:p>
        </p:txBody>
      </p:sp>
      <p:sp>
        <p:nvSpPr>
          <p:cNvPr id="8" name="">
            <a:extLst xmlns:a="http://schemas.openxmlformats.org/drawingml/2006/main">
              <a:ext uri="{FF2B5EF4-FFF2-40B4-BE49-F238E27FC236}">
                <a16:creationId xmlns:a16="http://schemas.microsoft.com/office/drawing/2014/main" id="{8ED09A79-D516-47AC-918E-6273F25DAB5F}"/>
              </a:ext>
            </a:extLst>
          </p:cNvPr>
          <p:cNvSpPr>
            <a:spLocks xmlns:a="http://schemas.openxmlformats.org/drawingml/2006/main" noGrp="1"/>
          </p:cNvSpPr>
          <p:nvPr/>
        </p:nvSpPr>
        <p:spPr>
          <a:xfrm xmlns:a="http://schemas.openxmlformats.org/drawingml/2006/main">
            <a:off x="704850" y="2714625"/>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相関行列Rで依存を表す。</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複数列を同時に条件付き生成。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訓練にクラスラベルが不要。</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既存コードに生成器として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組み込みやすい。</a:t>
            </a:r>
          </a:p>
        </p:txBody>
      </p:sp>
      <p:sp>
        <p:nvSpPr>
          <p:cNvPr id="9" name="">
            <a:extLst xmlns:a="http://schemas.openxmlformats.org/drawingml/2006/main">
              <a:ext uri="{FF2B5EF4-FFF2-40B4-BE49-F238E27FC236}">
                <a16:creationId xmlns:a16="http://schemas.microsoft.com/office/drawing/2014/main" id="{395485E5-72E3-4031-8999-372B81954558}"/>
              </a:ext>
            </a:extLst>
          </p:cNvPr>
          <p:cNvSpPr>
            <a:spLocks xmlns:a="http://schemas.openxmlformats.org/drawingml/2006/main" noGrp="1"/>
          </p:cNvSpPr>
          <p:nvPr/>
        </p:nvSpPr>
        <p:spPr>
          <a:xfrm xmlns:a="http://schemas.openxmlformats.org/drawingml/2006/main">
            <a:off x="6076950" y="2047875"/>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9291C7-1DDD-409E-9A15-01C76D647593}"/>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表現できないこともある</a:t>
            </a:r>
          </a:p>
        </p:txBody>
      </p:sp>
      <p:sp>
        <p:nvSpPr>
          <p:cNvPr id="11" name="">
            <a:extLst xmlns:a="http://schemas.openxmlformats.org/drawingml/2006/main">
              <a:ext uri="{FF2B5EF4-FFF2-40B4-BE49-F238E27FC236}">
                <a16:creationId xmlns:a16="http://schemas.microsoft.com/office/drawing/2014/main" id="{B81B6D87-DF73-483C-AE14-DD0C45EC60B8}"/>
              </a:ext>
            </a:extLst>
          </p:cNvPr>
          <p:cNvSpPr>
            <a:spLocks xmlns:a="http://schemas.openxmlformats.org/drawingml/2006/main" noGrp="1"/>
          </p:cNvSpPr>
          <p:nvPr/>
        </p:nvSpPr>
        <p:spPr>
          <a:xfrm xmlns:a="http://schemas.openxmlformats.org/drawingml/2006/main">
            <a:off x="6267450" y="2714625"/>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潜在空間のU字型・多峰性を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任意に表せるわけではない。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非退化なGaussian copulaは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上下の漸近的な裾依存が0。</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カテゴリ列への適用も要検討。</a:t>
            </a:r>
          </a:p>
        </p:txBody>
      </p:sp>
      <p:sp>
        <p:nvSpPr>
          <p:cNvPr id="12" name="">
            <a:extLst xmlns:a="http://schemas.openxmlformats.org/drawingml/2006/main">
              <a:ext uri="{FF2B5EF4-FFF2-40B4-BE49-F238E27FC236}">
                <a16:creationId xmlns:a16="http://schemas.microsoft.com/office/drawing/2014/main" id="{14B48272-257D-491E-9902-B855554618B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D0EE5E-2F3A-4B11-B0B2-A5131338C03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「コピュラなら何でも捉える」とは言わず、まず仮定を検証する</a:t>
            </a:r>
          </a:p>
        </p:txBody>
      </p:sp>
    </p:spTree>
    <p:extLst>
      <p:ext uri="{BB962C8B-B14F-4D97-AF65-F5344CB8AC3E}">
        <p14:creationId xmlns:p14="http://schemas.microsoft.com/office/powerpoint/2010/main" val="1164821634"/>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57E976-E830-4AB2-9CDF-FD97F5C5DA6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学習手順①：値を位置へ変える</a:t>
            </a:r>
          </a:p>
        </p:txBody>
      </p:sp>
      <p:sp>
        <p:nvSpPr>
          <p:cNvPr id="2" name="">
            <a:extLst xmlns:a="http://schemas.openxmlformats.org/drawingml/2006/main">
              <a:ext uri="{FF2B5EF4-FFF2-40B4-BE49-F238E27FC236}">
                <a16:creationId xmlns:a16="http://schemas.microsoft.com/office/drawing/2014/main" id="{85482A1A-3084-43BA-A3F4-5D411B55358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AD266A-2DB7-4EC0-8991-C1E8E09BE7B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訓練データだけから、各列の経験的な周辺分布を推定する。</a:t>
            </a:r>
          </a:p>
        </p:txBody>
      </p:sp>
      <p:sp>
        <p:nvSpPr>
          <p:cNvPr id="4" name="">
            <a:extLst xmlns:a="http://schemas.openxmlformats.org/drawingml/2006/main">
              <a:ext uri="{FF2B5EF4-FFF2-40B4-BE49-F238E27FC236}">
                <a16:creationId xmlns:a16="http://schemas.microsoft.com/office/drawing/2014/main" id="{29FBE51F-45C7-49F3-B8EB-55E94A10FF8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A90ED3F0-E81E-461E-B798-F7322E98A10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sp>
        <p:nvSpPr>
          <p:cNvPr id="6" name="">
            <a:extLst xmlns:a="http://schemas.openxmlformats.org/drawingml/2006/main">
              <a:ext uri="{FF2B5EF4-FFF2-40B4-BE49-F238E27FC236}">
                <a16:creationId xmlns:a16="http://schemas.microsoft.com/office/drawing/2014/main" id="{8ECE42E6-3220-418C-8972-A821D2E430B7}"/>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B41C11-67C0-440E-A255-2FF7D6D8C8AB}"/>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uᵢⱼ = (rᵢⱼ − 0.5) / n</a:t>
            </a:r>
          </a:p>
        </p:txBody>
      </p:sp>
      <p:graphicFrame>
        <p:nvGraphicFramePr>
          <p:cNvPr id="18" name=""/>
          <p:cNvGraphicFramePr/>
          <p:nvPr/>
        </p:nvGraphicFramePr>
        <p:xfrm>
          <a:off xmlns:a="http://schemas.openxmlformats.org/drawingml/2006/main" x="514350" y="3448050"/>
          <a:ext xmlns:a="http://schemas.openxmlformats.org/drawingml/2006/main" cx="11163300" cy="1771650"/>
        </p:xfrm>
        <a:graphic xmlns:a="http://schemas.openxmlformats.org/drawingml/2006/main">
          <a:graphicData uri="http://schemas.openxmlformats.org/drawingml/2006/table">
            <a:tbl>
              <a:tblPr/>
              <a:tblGrid>
                <a:gridCol w="2232660"/>
                <a:gridCol w="2232660"/>
                <a:gridCol w="2232660"/>
                <a:gridCol w="2232660"/>
                <a:gridCol w="2232660"/>
              </a:tblGrid>
              <a:tr h="590550">
                <a:tc>
                  <a:txBody>
                    <a:bodyPr/>
                    <a:lstStyle/>
                    <a:p>
                      <a:pPr algn="ctr"/>
                      <a:r>
                        <a:rPr sz="2100" b="1">
                          <a:solidFill>
                            <a:srgbClr val="2E7D5B"/>
                          </a:solidFill>
                          <a:latin typeface="Noto Sans JP"/>
                          <a:ea typeface="Noto Sans JP"/>
                          <a:cs typeface="Noto Sans JP"/>
                        </a:rPr>
                        <a:t>身長：説明用4人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155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165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175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185</a:t>
                      </a:r>
                    </a:p>
                  </a:txBody>
                  <a:tcPr marL="91440" marR="91440" marT="45720" marB="45720" anchor="ctr">
                    <a:solidFill>
                      <a:srgbClr val="E7F2EC"/>
                    </a:solidFill>
                  </a:tcPr>
                </a:tc>
              </a:tr>
              <a:tr h="590550">
                <a:tc>
                  <a:txBody>
                    <a:bodyPr/>
                    <a:lstStyle/>
                    <a:p>
                      <a:pPr algn="ctr"/>
                      <a:r>
                        <a:rPr sz="2100" b="0">
                          <a:solidFill>
                            <a:srgbClr val="222222"/>
                          </a:solidFill>
                          <a:latin typeface="Noto Sans JP"/>
                          <a:ea typeface="Noto Sans JP"/>
                          <a:cs typeface="Noto Sans JP"/>
                        </a:rPr>
                        <a:t>順位r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3</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a:t>
                      </a:r>
                    </a:p>
                  </a:txBody>
                  <a:tcPr marL="91440" marR="91440" marT="45720" marB="45720" anchor="ctr">
                    <a:solidFill>
                      <a:srgbClr val="FFFFFF"/>
                    </a:solidFill>
                  </a:tcPr>
                </a:tc>
              </a:tr>
              <a:tr h="590550">
                <a:tc>
                  <a:txBody>
                    <a:bodyPr/>
                    <a:lstStyle/>
                    <a:p>
                      <a:pPr algn="ctr"/>
                      <a:r>
                        <a:rPr sz="2100" b="0">
                          <a:solidFill>
                            <a:srgbClr val="222222"/>
                          </a:solidFill>
                          <a:latin typeface="Noto Sans JP"/>
                          <a:ea typeface="Noto Sans JP"/>
                          <a:cs typeface="Noto Sans JP"/>
                        </a:rPr>
                        <a:t>推定用の位置u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0.125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0.375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0.625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0.875</a:t>
                      </a:r>
                    </a:p>
                  </a:txBody>
                  <a:tcPr marL="91440" marR="91440" marT="45720" marB="45720" anchor="ctr">
                    <a:solidFill>
                      <a:srgbClr val="F6F6F6"/>
                    </a:solidFill>
                  </a:tcPr>
                </a:tc>
              </a:tr>
            </a:tbl>
          </a:graphicData>
        </a:graphic>
      </p:graphicFrame>
      <p:sp>
        <p:nvSpPr>
          <p:cNvPr id="9" name="">
            <a:extLst xmlns:a="http://schemas.openxmlformats.org/drawingml/2006/main">
              <a:ext uri="{FF2B5EF4-FFF2-40B4-BE49-F238E27FC236}">
                <a16:creationId xmlns:a16="http://schemas.microsoft.com/office/drawing/2014/main" id="{16632053-8277-49E4-88AF-4772178977E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46F0D0-FBB5-47A1-8E55-52F4E22EDF7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0・1を避ける。逆正規変換で無限大になるのを防ぐ</a:t>
            </a:r>
          </a:p>
        </p:txBody>
      </p:sp>
    </p:spTree>
    <p:extLst>
      <p:ext uri="{BB962C8B-B14F-4D97-AF65-F5344CB8AC3E}">
        <p14:creationId xmlns:p14="http://schemas.microsoft.com/office/powerpoint/2010/main" val="114788376"/>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2CFFFD-EB76-47D3-984F-6CF17852747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学習手順②：位置を潜在正規へ</a:t>
            </a:r>
          </a:p>
        </p:txBody>
      </p:sp>
      <p:sp>
        <p:nvSpPr>
          <p:cNvPr id="2" name="">
            <a:extLst xmlns:a="http://schemas.openxmlformats.org/drawingml/2006/main">
              <a:ext uri="{FF2B5EF4-FFF2-40B4-BE49-F238E27FC236}">
                <a16:creationId xmlns:a16="http://schemas.microsoft.com/office/drawing/2014/main" id="{61032BC0-D2C9-42FF-8304-315494FEF80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85246E-93DC-47CA-8CEF-ED07302D766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標準正規分布の累積分布Φを使って、位置を数値zへ写す。</a:t>
            </a:r>
          </a:p>
        </p:txBody>
      </p:sp>
      <p:sp>
        <p:nvSpPr>
          <p:cNvPr id="4" name="">
            <a:extLst xmlns:a="http://schemas.openxmlformats.org/drawingml/2006/main">
              <a:ext uri="{FF2B5EF4-FFF2-40B4-BE49-F238E27FC236}">
                <a16:creationId xmlns:a16="http://schemas.microsoft.com/office/drawing/2014/main" id="{E7C6A4F5-752F-416B-ADBA-4B955EA22A5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DB5D592E-06B9-4E34-B7C9-0C1A0A93CF5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sp>
        <p:nvSpPr>
          <p:cNvPr id="6" name="">
            <a:extLst xmlns:a="http://schemas.openxmlformats.org/drawingml/2006/main">
              <a:ext uri="{FF2B5EF4-FFF2-40B4-BE49-F238E27FC236}">
                <a16:creationId xmlns:a16="http://schemas.microsoft.com/office/drawing/2014/main" id="{32A16340-9C5B-4DBF-95E4-F4B996DF19FE}"/>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226505-E35C-404A-96CC-5E8D0B22B922}"/>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zᵢⱼ = Φ⁻¹(uᵢⱼ)</a:t>
            </a:r>
          </a:p>
        </p:txBody>
      </p:sp>
      <p:graphicFrame>
        <p:nvGraphicFramePr>
          <p:cNvPr id="19" name=""/>
          <p:cNvGraphicFramePr/>
          <p:nvPr/>
        </p:nvGraphicFramePr>
        <p:xfrm>
          <a:off xmlns:a="http://schemas.openxmlformats.org/drawingml/2006/main" x="514350" y="3419475"/>
          <a:ext xmlns:a="http://schemas.openxmlformats.org/drawingml/2006/main" cx="11163300" cy="1428750"/>
        </p:xfrm>
        <a:graphic xmlns:a="http://schemas.openxmlformats.org/drawingml/2006/main">
          <a:graphicData uri="http://schemas.openxmlformats.org/drawingml/2006/table">
            <a:tbl>
              <a:tblPr/>
              <a:tblGrid>
                <a:gridCol w="1860550"/>
                <a:gridCol w="1860550"/>
                <a:gridCol w="1860550"/>
                <a:gridCol w="1860550"/>
                <a:gridCol w="1860550"/>
                <a:gridCol w="1860550"/>
              </a:tblGrid>
              <a:tr h="714375">
                <a:tc>
                  <a:txBody>
                    <a:bodyPr/>
                    <a:lstStyle/>
                    <a:p>
                      <a:pPr algn="ctr"/>
                      <a:r>
                        <a:rPr sz="2175" b="1">
                          <a:solidFill>
                            <a:srgbClr val="2E7D5B"/>
                          </a:solidFill>
                          <a:latin typeface="Noto Sans JP"/>
                          <a:ea typeface="Noto Sans JP"/>
                          <a:cs typeface="Noto Sans JP"/>
                        </a:rPr>
                        <a:t>位置u</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0.1</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0.2</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0.5</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0.8</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0.9</a:t>
                      </a:r>
                    </a:p>
                  </a:txBody>
                  <a:tcPr marL="91440" marR="91440" marT="45720" marB="45720" anchor="ctr">
                    <a:solidFill>
                      <a:srgbClr val="E7F2EC"/>
                    </a:solidFill>
                  </a:tcPr>
                </a:tc>
              </a:tr>
              <a:tr h="714375">
                <a:tc>
                  <a:txBody>
                    <a:bodyPr/>
                    <a:lstStyle/>
                    <a:p>
                      <a:pPr algn="ctr"/>
                      <a:r>
                        <a:rPr sz="2175" b="0">
                          <a:solidFill>
                            <a:srgbClr val="222222"/>
                          </a:solidFill>
                          <a:latin typeface="Noto Sans JP"/>
                          <a:ea typeface="Noto Sans JP"/>
                          <a:cs typeface="Noto Sans JP"/>
                        </a:rPr>
                        <a:t>潜在値z</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B2C9816-D5E7-4D96-851C-E48D835005D4}"/>
              </a:ext>
            </a:extLst>
          </p:cNvPr>
          <p:cNvSpPr>
            <a:spLocks xmlns:a="http://schemas.openxmlformats.org/drawingml/2006/main" noGrp="1"/>
          </p:cNvSpPr>
          <p:nvPr/>
        </p:nvSpPr>
        <p:spPr>
          <a:xfrm xmlns:a="http://schemas.openxmlformats.org/drawingml/2006/main">
            <a:off x="723900" y="49815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高い位置は正のz、中央は0、低い位置は負のz。</a:t>
            </a:r>
          </a:p>
        </p:txBody>
      </p:sp>
      <p:sp>
        <p:nvSpPr>
          <p:cNvPr id="10" name="">
            <a:extLst xmlns:a="http://schemas.openxmlformats.org/drawingml/2006/main">
              <a:ext uri="{FF2B5EF4-FFF2-40B4-BE49-F238E27FC236}">
                <a16:creationId xmlns:a16="http://schemas.microsoft.com/office/drawing/2014/main" id="{C83CB43E-C588-471E-9FE2-1AEA33B720B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6F7F31-62C5-4A50-ABA9-5CDD958C447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Φは位置へ、Φ⁻¹は潜在正規の値へ変換する</a:t>
            </a:r>
          </a:p>
        </p:txBody>
      </p:sp>
    </p:spTree>
    <p:extLst>
      <p:ext uri="{BB962C8B-B14F-4D97-AF65-F5344CB8AC3E}">
        <p14:creationId xmlns:p14="http://schemas.microsoft.com/office/powerpoint/2010/main" val="470676159"/>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41E13BC-18AF-417D-AA3D-F75D5F838E4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学習手順③：依存をRとして推定</a:t>
            </a:r>
          </a:p>
        </p:txBody>
      </p:sp>
      <p:sp>
        <p:nvSpPr>
          <p:cNvPr id="2" name="">
            <a:extLst xmlns:a="http://schemas.openxmlformats.org/drawingml/2006/main">
              <a:ext uri="{FF2B5EF4-FFF2-40B4-BE49-F238E27FC236}">
                <a16:creationId xmlns:a16="http://schemas.microsoft.com/office/drawing/2014/main" id="{3CA95616-3BF2-400C-8D37-4BF3341813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79B612-0901-44CD-9755-5212D58149C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同じ行の潜在値の組から相関行列Rを求める。</a:t>
            </a:r>
          </a:p>
        </p:txBody>
      </p:sp>
      <p:sp>
        <p:nvSpPr>
          <p:cNvPr id="4" name="">
            <a:extLst xmlns:a="http://schemas.openxmlformats.org/drawingml/2006/main">
              <a:ext uri="{FF2B5EF4-FFF2-40B4-BE49-F238E27FC236}">
                <a16:creationId xmlns:a16="http://schemas.microsoft.com/office/drawing/2014/main" id="{D537C327-5737-4F0D-BF1B-1BB260F77DD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0C6DDCE8-EE0F-4746-B55C-F7ADF6E5255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sp>
        <p:nvSpPr>
          <p:cNvPr id="6" name="">
            <a:extLst xmlns:a="http://schemas.openxmlformats.org/drawingml/2006/main">
              <a:ext uri="{FF2B5EF4-FFF2-40B4-BE49-F238E27FC236}">
                <a16:creationId xmlns:a16="http://schemas.microsoft.com/office/drawing/2014/main" id="{18A453D8-C610-4F5A-AD7B-53CBCFF1245D}"/>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A85C90-6851-4977-949A-DAA692BA8313}"/>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Z = (Z₁, …, Z𝑑) ~ N(0, R)</a:t>
            </a:r>
          </a:p>
        </p:txBody>
      </p:sp>
      <p:sp>
        <p:nvSpPr>
          <p:cNvPr id="8" name="">
            <a:extLst xmlns:a="http://schemas.openxmlformats.org/drawingml/2006/main">
              <a:ext uri="{FF2B5EF4-FFF2-40B4-BE49-F238E27FC236}">
                <a16:creationId xmlns:a16="http://schemas.microsoft.com/office/drawing/2014/main" id="{3D256BCE-FA9B-4AAC-8676-E0F221F3A8AC}"/>
              </a:ext>
            </a:extLst>
          </p:cNvPr>
          <p:cNvSpPr>
            <a:spLocks xmlns:a="http://schemas.openxmlformats.org/drawingml/2006/main" noGrp="1"/>
          </p:cNvSpPr>
          <p:nvPr/>
        </p:nvSpPr>
        <p:spPr>
          <a:xfrm xmlns:a="http://schemas.openxmlformats.org/drawingml/2006/main">
            <a:off x="514350" y="3362325"/>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BBF609-1D43-4F06-9FC9-1ACABB1E6D9A}"/>
              </a:ext>
            </a:extLst>
          </p:cNvPr>
          <p:cNvSpPr>
            <a:spLocks xmlns:a="http://schemas.openxmlformats.org/drawingml/2006/main" noGrp="1"/>
          </p:cNvSpPr>
          <p:nvPr/>
        </p:nvSpPr>
        <p:spPr>
          <a:xfrm xmlns:a="http://schemas.openxmlformats.org/drawingml/2006/main">
            <a:off x="704850" y="34766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Rが表すもの</a:t>
            </a:r>
          </a:p>
        </p:txBody>
      </p:sp>
      <p:sp>
        <p:nvSpPr>
          <p:cNvPr id="10" name="">
            <a:extLst xmlns:a="http://schemas.openxmlformats.org/drawingml/2006/main">
              <a:ext uri="{FF2B5EF4-FFF2-40B4-BE49-F238E27FC236}">
                <a16:creationId xmlns:a16="http://schemas.microsoft.com/office/drawing/2014/main" id="{E58E490D-5BC3-414B-A373-1951BD28E8F7}"/>
              </a:ext>
            </a:extLst>
          </p:cNvPr>
          <p:cNvSpPr>
            <a:spLocks xmlns:a="http://schemas.openxmlformats.org/drawingml/2006/main" noGrp="1"/>
          </p:cNvSpPr>
          <p:nvPr/>
        </p:nvSpPr>
        <p:spPr>
          <a:xfrm xmlns:a="http://schemas.openxmlformats.org/drawingml/2006/main">
            <a:off x="704850" y="4029075"/>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列ごとの分布を揃えた後の、</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潜在値どうしの相関。</a:t>
            </a:r>
          </a:p>
        </p:txBody>
      </p:sp>
      <p:sp>
        <p:nvSpPr>
          <p:cNvPr id="11" name="">
            <a:extLst xmlns:a="http://schemas.openxmlformats.org/drawingml/2006/main">
              <a:ext uri="{FF2B5EF4-FFF2-40B4-BE49-F238E27FC236}">
                <a16:creationId xmlns:a16="http://schemas.microsoft.com/office/drawing/2014/main" id="{3F091DE1-D03D-4887-8F1B-8059E223E85C}"/>
              </a:ext>
            </a:extLst>
          </p:cNvPr>
          <p:cNvSpPr>
            <a:spLocks xmlns:a="http://schemas.openxmlformats.org/drawingml/2006/main" noGrp="1"/>
          </p:cNvSpPr>
          <p:nvPr/>
        </p:nvSpPr>
        <p:spPr>
          <a:xfrm xmlns:a="http://schemas.openxmlformats.org/drawingml/2006/main">
            <a:off x="6076950" y="3362325"/>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86A7A7-1749-4528-9D31-030287D3B566}"/>
              </a:ext>
            </a:extLst>
          </p:cNvPr>
          <p:cNvSpPr>
            <a:spLocks xmlns:a="http://schemas.openxmlformats.org/drawingml/2006/main" noGrp="1"/>
          </p:cNvSpPr>
          <p:nvPr/>
        </p:nvSpPr>
        <p:spPr>
          <a:xfrm xmlns:a="http://schemas.openxmlformats.org/drawingml/2006/main">
            <a:off x="6267450" y="34766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ここで置く仮定</a:t>
            </a:r>
          </a:p>
        </p:txBody>
      </p:sp>
      <p:sp>
        <p:nvSpPr>
          <p:cNvPr id="13" name="">
            <a:extLst xmlns:a="http://schemas.openxmlformats.org/drawingml/2006/main">
              <a:ext uri="{FF2B5EF4-FFF2-40B4-BE49-F238E27FC236}">
                <a16:creationId xmlns:a16="http://schemas.microsoft.com/office/drawing/2014/main" id="{74E43CDE-3C62-4687-A309-F519B191CBD6}"/>
              </a:ext>
            </a:extLst>
          </p:cNvPr>
          <p:cNvSpPr>
            <a:spLocks xmlns:a="http://schemas.openxmlformats.org/drawingml/2006/main" noGrp="1"/>
          </p:cNvSpPr>
          <p:nvPr/>
        </p:nvSpPr>
        <p:spPr>
          <a:xfrm xmlns:a="http://schemas.openxmlformats.org/drawingml/2006/main">
            <a:off x="6267450" y="4029075"/>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各列が正規になっただけでは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同時正規とは限らない。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同時正規性はモデルの仮定。</a:t>
            </a:r>
          </a:p>
        </p:txBody>
      </p:sp>
      <p:sp>
        <p:nvSpPr>
          <p:cNvPr id="14" name="">
            <a:extLst xmlns:a="http://schemas.openxmlformats.org/drawingml/2006/main">
              <a:ext uri="{FF2B5EF4-FFF2-40B4-BE49-F238E27FC236}">
                <a16:creationId xmlns:a16="http://schemas.microsoft.com/office/drawing/2014/main" id="{57049764-AD72-4167-945A-D08D64B838B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E5EDF58-C270-4669-9357-C0B74CD7353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周辺変換と「同時分布の仮定」は、別のステップ</a:t>
            </a:r>
          </a:p>
        </p:txBody>
      </p:sp>
    </p:spTree>
    <p:extLst>
      <p:ext uri="{BB962C8B-B14F-4D97-AF65-F5344CB8AC3E}">
        <p14:creationId xmlns:p14="http://schemas.microsoft.com/office/powerpoint/2010/main" val="887745371"/>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2FAC66C-5C6A-422E-BA55-7795F6A3BF8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生成手順：残す列を条件にする</a:t>
            </a:r>
          </a:p>
        </p:txBody>
      </p:sp>
      <p:sp>
        <p:nvSpPr>
          <p:cNvPr id="2" name="">
            <a:extLst xmlns:a="http://schemas.openxmlformats.org/drawingml/2006/main">
              <a:ext uri="{FF2B5EF4-FFF2-40B4-BE49-F238E27FC236}">
                <a16:creationId xmlns:a16="http://schemas.microsoft.com/office/drawing/2014/main" id="{1BF32FBB-82ED-48C4-AC23-2962B1D73B1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21C3E3-EABC-40D3-8BFB-EB3FBEBF0C7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身長を固定し、体重だけを置換する例。</a:t>
            </a:r>
          </a:p>
        </p:txBody>
      </p:sp>
      <p:sp>
        <p:nvSpPr>
          <p:cNvPr id="4" name="">
            <a:extLst xmlns:a="http://schemas.openxmlformats.org/drawingml/2006/main">
              <a:ext uri="{FF2B5EF4-FFF2-40B4-BE49-F238E27FC236}">
                <a16:creationId xmlns:a16="http://schemas.microsoft.com/office/drawing/2014/main" id="{D7920FBE-6AB4-446B-9A57-632FE5C7A2B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25D441D6-A0A9-463F-9C11-D1C7B8123AE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499C8466-9653-4058-AD47-B639BE057047}"/>
              </a:ext>
            </a:extLst>
          </p:cNvPr>
          <p:cNvSpPr>
            <a:spLocks xmlns:a="http://schemas.openxmlformats.org/drawingml/2006/main" noGrp="1"/>
          </p:cNvSpPr>
          <p:nvPr/>
        </p:nvSpPr>
        <p:spPr>
          <a:xfrm xmlns:a="http://schemas.openxmlformats.org/drawingml/2006/main">
            <a:off x="552450" y="195262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5AEB168-47F0-4170-9644-E4E7871FEBA8}"/>
              </a:ext>
            </a:extLst>
          </p:cNvPr>
          <p:cNvSpPr>
            <a:spLocks xmlns:a="http://schemas.openxmlformats.org/drawingml/2006/main" noGrp="1"/>
          </p:cNvSpPr>
          <p:nvPr/>
        </p:nvSpPr>
        <p:spPr>
          <a:xfrm xmlns:a="http://schemas.openxmlformats.org/drawingml/2006/main">
            <a:off x="1257300" y="195262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元の行：身長175 cm、体重68 kg。体重をマスクする。</a:t>
            </a:r>
          </a:p>
        </p:txBody>
      </p:sp>
      <p:sp>
        <p:nvSpPr>
          <p:cNvPr id="8" name="">
            <a:extLst xmlns:a="http://schemas.openxmlformats.org/drawingml/2006/main">
              <a:ext uri="{FF2B5EF4-FFF2-40B4-BE49-F238E27FC236}">
                <a16:creationId xmlns:a16="http://schemas.microsoft.com/office/drawing/2014/main" id="{CECF724F-1830-48D7-BC72-70A7B75D8670}"/>
              </a:ext>
            </a:extLst>
          </p:cNvPr>
          <p:cNvSpPr>
            <a:spLocks xmlns:a="http://schemas.openxmlformats.org/drawingml/2006/main" noGrp="1"/>
          </p:cNvSpPr>
          <p:nvPr/>
        </p:nvSpPr>
        <p:spPr>
          <a:xfrm xmlns:a="http://schemas.openxmlformats.org/drawingml/2006/main">
            <a:off x="552450" y="277415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CFFEA289-BEBF-4FCD-85A4-9DB806976BDE}"/>
              </a:ext>
            </a:extLst>
          </p:cNvPr>
          <p:cNvSpPr>
            <a:spLocks xmlns:a="http://schemas.openxmlformats.org/drawingml/2006/main" noGrp="1"/>
          </p:cNvSpPr>
          <p:nvPr/>
        </p:nvSpPr>
        <p:spPr>
          <a:xfrm xmlns:a="http://schemas.openxmlformats.org/drawingml/2006/main">
            <a:off x="1257300" y="277415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残る身長の位置：u = Fₓ(175) = 0.8。</a:t>
            </a:r>
          </a:p>
        </p:txBody>
      </p:sp>
      <p:sp>
        <p:nvSpPr>
          <p:cNvPr id="10" name="">
            <a:extLst xmlns:a="http://schemas.openxmlformats.org/drawingml/2006/main">
              <a:ext uri="{FF2B5EF4-FFF2-40B4-BE49-F238E27FC236}">
                <a16:creationId xmlns:a16="http://schemas.microsoft.com/office/drawing/2014/main" id="{71B8FBCA-E5C0-41FD-BB31-AC9D133C5EC0}"/>
              </a:ext>
            </a:extLst>
          </p:cNvPr>
          <p:cNvSpPr>
            <a:spLocks xmlns:a="http://schemas.openxmlformats.org/drawingml/2006/main" noGrp="1"/>
          </p:cNvSpPr>
          <p:nvPr/>
        </p:nvSpPr>
        <p:spPr>
          <a:xfrm xmlns:a="http://schemas.openxmlformats.org/drawingml/2006/main">
            <a:off x="552450" y="359568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B01E5BC7-CB90-4A79-A4CE-A6C652F433B5}"/>
              </a:ext>
            </a:extLst>
          </p:cNvPr>
          <p:cNvSpPr>
            <a:spLocks xmlns:a="http://schemas.openxmlformats.org/drawingml/2006/main" noGrp="1"/>
          </p:cNvSpPr>
          <p:nvPr/>
        </p:nvSpPr>
        <p:spPr>
          <a:xfrm xmlns:a="http://schemas.openxmlformats.org/drawingml/2006/main">
            <a:off x="1257300" y="359568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潜在値へ：zₓ = Φ⁻¹(0.8) ≈ 0.842。</a:t>
            </a:r>
          </a:p>
        </p:txBody>
      </p:sp>
      <p:sp>
        <p:nvSpPr>
          <p:cNvPr id="12" name="">
            <a:extLst xmlns:a="http://schemas.openxmlformats.org/drawingml/2006/main">
              <a:ext uri="{FF2B5EF4-FFF2-40B4-BE49-F238E27FC236}">
                <a16:creationId xmlns:a16="http://schemas.microsoft.com/office/drawing/2014/main" id="{40B210B1-B260-454D-AED7-D45A88C6A8A2}"/>
              </a:ext>
            </a:extLst>
          </p:cNvPr>
          <p:cNvSpPr>
            <a:spLocks xmlns:a="http://schemas.openxmlformats.org/drawingml/2006/main" noGrp="1"/>
          </p:cNvSpPr>
          <p:nvPr/>
        </p:nvSpPr>
        <p:spPr>
          <a:xfrm xmlns:a="http://schemas.openxmlformats.org/drawingml/2006/main">
            <a:off x="552450" y="441721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D6FDCA62-3BE2-4174-9B55-C254F342420A}"/>
              </a:ext>
            </a:extLst>
          </p:cNvPr>
          <p:cNvSpPr>
            <a:spLocks xmlns:a="http://schemas.openxmlformats.org/drawingml/2006/main" noGrp="1"/>
          </p:cNvSpPr>
          <p:nvPr/>
        </p:nvSpPr>
        <p:spPr>
          <a:xfrm xmlns:a="http://schemas.openxmlformats.org/drawingml/2006/main">
            <a:off x="1257300" y="441721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zₓを条件に、体重側の潜在値zᵧをサンプリングする。</a:t>
            </a:r>
          </a:p>
        </p:txBody>
      </p:sp>
      <p:sp>
        <p:nvSpPr>
          <p:cNvPr id="14" name="">
            <a:extLst xmlns:a="http://schemas.openxmlformats.org/drawingml/2006/main">
              <a:ext uri="{FF2B5EF4-FFF2-40B4-BE49-F238E27FC236}">
                <a16:creationId xmlns:a16="http://schemas.microsoft.com/office/drawing/2014/main" id="{B6E4B241-2833-43C0-BF26-FA0044486AF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33F6C95-7F69-48F5-8B45-3E12500E40C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生成した体重と元の身長を組にし、身長は変更しない</a:t>
            </a:r>
          </a:p>
        </p:txBody>
      </p:sp>
    </p:spTree>
    <p:extLst>
      <p:ext uri="{BB962C8B-B14F-4D97-AF65-F5344CB8AC3E}">
        <p14:creationId xmlns:p14="http://schemas.microsoft.com/office/powerpoint/2010/main" val="1637102738"/>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ED3D04-EA93-4DBF-BB3B-CF409AB53CC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なぜ条件付き正規分布になるのか</a:t>
            </a:r>
          </a:p>
        </p:txBody>
      </p:sp>
      <p:sp>
        <p:nvSpPr>
          <p:cNvPr id="2" name="">
            <a:extLst xmlns:a="http://schemas.openxmlformats.org/drawingml/2006/main">
              <a:ext uri="{FF2B5EF4-FFF2-40B4-BE49-F238E27FC236}">
                <a16:creationId xmlns:a16="http://schemas.microsoft.com/office/drawing/2014/main" id="{C03B5A9E-90EE-4F61-BD32-F2EA2E11623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D591B6-EF2E-4502-8BE6-B0E9C714864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二つの潜在値を、相関ρのある標準正規としてモデル化したため。</a:t>
            </a:r>
          </a:p>
        </p:txBody>
      </p:sp>
      <p:sp>
        <p:nvSpPr>
          <p:cNvPr id="4" name="">
            <a:extLst xmlns:a="http://schemas.openxmlformats.org/drawingml/2006/main">
              <a:ext uri="{FF2B5EF4-FFF2-40B4-BE49-F238E27FC236}">
                <a16:creationId xmlns:a16="http://schemas.microsoft.com/office/drawing/2014/main" id="{D60AB431-2161-4A3E-8FFF-C50FA716F48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3D8E9AD5-CE07-4F03-BBB0-C3775B62BBF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EFAD5680-C261-4B57-8D7D-1F6D8247030D}"/>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980E3C-C059-4A40-A1AF-DF23B7B62692}"/>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Zₓ = zₓ  ~  N(ρzₓ, 1 − ρ²)</a:t>
            </a:r>
          </a:p>
        </p:txBody>
      </p:sp>
      <p:graphicFrame>
        <p:nvGraphicFramePr>
          <p:cNvPr id="18" name=""/>
          <p:cNvGraphicFramePr/>
          <p:nvPr/>
        </p:nvGraphicFramePr>
        <p:xfrm>
          <a:off xmlns:a="http://schemas.openxmlformats.org/drawingml/2006/main" x="514350" y="3381375"/>
          <a:ext xmlns:a="http://schemas.openxmlformats.org/drawingml/2006/main" cx="11163300" cy="1962150"/>
        </p:xfrm>
        <a:graphic xmlns:a="http://schemas.openxmlformats.org/drawingml/2006/main">
          <a:graphicData uri="http://schemas.openxmlformats.org/drawingml/2006/table">
            <a:tbl>
              <a:tblPr/>
              <a:tblGrid>
                <a:gridCol w="3721100"/>
                <a:gridCol w="3721100"/>
                <a:gridCol w="3721100"/>
              </a:tblGrid>
              <a:tr h="490538">
                <a:tc>
                  <a:txBody>
                    <a:bodyPr/>
                    <a:lstStyle/>
                    <a:p>
                      <a:pPr algn="ctr"/>
                      <a:r>
                        <a:rPr sz="1875" b="1">
                          <a:solidFill>
                            <a:srgbClr val="2E7D5B"/>
                          </a:solidFill>
                          <a:latin typeface="Noto Sans JP"/>
                          <a:ea typeface="Noto Sans JP"/>
                          <a:cs typeface="Noto Sans JP"/>
                        </a:rPr>
                        <a:t>説明用の設定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計算</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意味</a:t>
                      </a:r>
                    </a:p>
                  </a:txBody>
                  <a:tcPr marL="91440" marR="91440" marT="45720" marB="45720" anchor="ctr">
                    <a:solidFill>
                      <a:srgbClr val="E7F2EC"/>
                    </a:solidFill>
                  </a:tcPr>
                </a:tc>
              </a:tr>
              <a:tr h="490538">
                <a:tc>
                  <a:txBody>
                    <a:bodyPr/>
                    <a:lstStyle/>
                    <a:p>
                      <a:pPr algn="ctr"/>
                      <a:r>
                        <a:rPr sz="1875" b="0">
                          <a:solidFill>
                            <a:srgbClr val="222222"/>
                          </a:solidFill>
                          <a:latin typeface="Noto Sans JP"/>
                          <a:ea typeface="Noto Sans JP"/>
                          <a:cs typeface="Noto Sans JP"/>
                        </a:rPr>
                        <a:t>ρ = 0.6, zₓ ≈ 0.842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 = 0.6 × 0.842 ≈ 0.505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高い側へ分布が動く</a:t>
                      </a:r>
                    </a:p>
                  </a:txBody>
                  <a:tcPr marL="91440" marR="91440" marT="45720" marB="45720" anchor="ctr">
                    <a:solidFill>
                      <a:srgbClr val="FFFFFF"/>
                    </a:solidFill>
                  </a:tcPr>
                </a:tc>
              </a:tr>
              <a:tr h="490538">
                <a:tc>
                  <a:txBody>
                    <a:bodyPr/>
                    <a:lstStyle/>
                    <a:p>
                      <a:pPr algn="ctr"/>
                      <a:r>
                        <a:rPr sz="1875" b="0">
                          <a:solidFill>
                            <a:srgbClr val="222222"/>
                          </a:solidFill>
                          <a:latin typeface="Noto Sans JP"/>
                          <a:ea typeface="Noto Sans JP"/>
                          <a:cs typeface="Noto Sans JP"/>
                        </a:rPr>
                        <a:t>条件付き分散</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1 − 0.6² = 0.64</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不確実性が残る</a:t>
                      </a:r>
                    </a:p>
                  </a:txBody>
                  <a:tcPr marL="91440" marR="91440" marT="45720" marB="45720" anchor="ctr">
                    <a:solidFill>
                      <a:srgbClr val="F6F6F6"/>
                    </a:solidFill>
                  </a:tcPr>
                </a:tc>
              </a:tr>
              <a:tr h="490538">
                <a:tc>
                  <a:txBody>
                    <a:bodyPr/>
                    <a:lstStyle/>
                    <a:p>
                      <a:pPr algn="ctr"/>
                      <a:r>
                        <a:rPr sz="1875" b="0">
                          <a:solidFill>
                            <a:srgbClr val="222222"/>
                          </a:solidFill>
                          <a:latin typeface="Noto Sans JP"/>
                          <a:ea typeface="Noto Sans JP"/>
                          <a:cs typeface="Noto Sans JP"/>
                        </a:rPr>
                        <a:t>条件付き標準偏差</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√0.64 = 0.8</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平均の周りから値を生成</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A6D9C94-5885-4067-9B97-6CBC7E5BD53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F36ED7-A75A-450E-8AB6-C1BE2A85E81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「もっともらしい一つの値」へ固定せず、分布から生成する</a:t>
            </a:r>
          </a:p>
        </p:txBody>
      </p:sp>
    </p:spTree>
    <p:extLst>
      <p:ext uri="{BB962C8B-B14F-4D97-AF65-F5344CB8AC3E}">
        <p14:creationId xmlns:p14="http://schemas.microsoft.com/office/powerpoint/2010/main" val="1691110498"/>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8E70F2-FE79-498C-B311-E3DC990B585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サンプリングを、数字で追う</a:t>
            </a:r>
          </a:p>
        </p:txBody>
      </p:sp>
      <p:sp>
        <p:nvSpPr>
          <p:cNvPr id="2" name="">
            <a:extLst xmlns:a="http://schemas.openxmlformats.org/drawingml/2006/main">
              <a:ext uri="{FF2B5EF4-FFF2-40B4-BE49-F238E27FC236}">
                <a16:creationId xmlns:a16="http://schemas.microsoft.com/office/drawing/2014/main" id="{84ADE51B-95AD-4109-8852-99378B6F720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13A9C3-1F18-4651-872D-FFAEBB6ECA7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標準正規の乱数εを引き、平均と標準偏差で変換する。</a:t>
            </a:r>
          </a:p>
        </p:txBody>
      </p:sp>
      <p:sp>
        <p:nvSpPr>
          <p:cNvPr id="4" name="">
            <a:extLst xmlns:a="http://schemas.openxmlformats.org/drawingml/2006/main">
              <a:ext uri="{FF2B5EF4-FFF2-40B4-BE49-F238E27FC236}">
                <a16:creationId xmlns:a16="http://schemas.microsoft.com/office/drawing/2014/main" id="{0AB53F3B-4E9B-4697-9570-F00384DB087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3F3A8287-41BC-4B8B-BCA5-86A6A0FCF3D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96E32EE5-D7B5-49B9-AE50-F3B490CC50F6}"/>
              </a:ext>
            </a:extLst>
          </p:cNvPr>
          <p:cNvSpPr>
            <a:spLocks xmlns:a="http://schemas.openxmlformats.org/drawingml/2006/main" noGrp="1"/>
          </p:cNvSpPr>
          <p:nvPr/>
        </p:nvSpPr>
        <p:spPr>
          <a:xfrm xmlns:a="http://schemas.openxmlformats.org/drawingml/2006/main">
            <a:off x="514350" y="1914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11D6D0-68EE-4F30-BB15-DFBF9B7E672B}"/>
              </a:ext>
            </a:extLst>
          </p:cNvPr>
          <p:cNvSpPr>
            <a:spLocks xmlns:a="http://schemas.openxmlformats.org/drawingml/2006/main" noGrp="1"/>
          </p:cNvSpPr>
          <p:nvPr/>
        </p:nvSpPr>
        <p:spPr>
          <a:xfrm xmlns:a="http://schemas.openxmlformats.org/drawingml/2006/main">
            <a:off x="704850" y="2009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0.505 + 0.8ε ,   ε ~ N(0, 1)</a:t>
            </a:r>
          </a:p>
        </p:txBody>
      </p:sp>
      <p:graphicFrame>
        <p:nvGraphicFramePr>
          <p:cNvPr id="18" name=""/>
          <p:cNvGraphicFramePr/>
          <p:nvPr/>
        </p:nvGraphicFramePr>
        <p:xfrm>
          <a:off xmlns:a="http://schemas.openxmlformats.org/drawingml/2006/main" x="514350" y="335280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511969">
                <a:tc>
                  <a:txBody>
                    <a:bodyPr/>
                    <a:lstStyle/>
                    <a:p>
                      <a:pPr algn="ctr"/>
                      <a:r>
                        <a:rPr sz="2100" b="1">
                          <a:solidFill>
                            <a:srgbClr val="2E7D5B"/>
                          </a:solidFill>
                          <a:latin typeface="Noto Sans JP"/>
                          <a:ea typeface="Noto Sans JP"/>
                          <a:cs typeface="Noto Sans JP"/>
                        </a:rPr>
                        <a:t>説明用のε</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潜在値zᵧ</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体重の位置 v = Φ(zᵧ)</a:t>
                      </a:r>
                    </a:p>
                  </a:txBody>
                  <a:tcPr marL="91440" marR="91440" marT="45720" marB="45720" anchor="ctr">
                    <a:solidFill>
                      <a:srgbClr val="E7F2EC"/>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−0.295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約0.384</a:t>
                      </a:r>
                    </a:p>
                  </a:txBody>
                  <a:tcPr marL="91440" marR="91440" marT="45720" marB="45720" anchor="ctr">
                    <a:solidFill>
                      <a:srgbClr val="FFFFFF"/>
                    </a:solidFill>
                  </a:tcPr>
                </a:tc>
              </a:tr>
              <a:tr h="511969">
                <a:tc>
                  <a:txBody>
                    <a:bodyPr/>
                    <a:lstStyle/>
                    <a:p>
                      <a:pPr algn="ctr"/>
                      <a:r>
                        <a:rPr sz="2100"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0.505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約0.693</a:t>
                      </a:r>
                    </a:p>
                  </a:txBody>
                  <a:tcPr marL="91440" marR="91440" marT="45720" marB="45720" anchor="ctr">
                    <a:solidFill>
                      <a:srgbClr val="F6F6F6"/>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1.305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約0.904</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1CC9608-A2D9-4A0D-A58F-18535FD76CA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4E8BF3E-1877-419C-A62E-51A76179FFA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同じ身長でも、関係を反映しながら複数の体重を作れる</a:t>
            </a:r>
          </a:p>
        </p:txBody>
      </p:sp>
    </p:spTree>
    <p:extLst>
      <p:ext uri="{BB962C8B-B14F-4D97-AF65-F5344CB8AC3E}">
        <p14:creationId xmlns:p14="http://schemas.microsoft.com/office/powerpoint/2010/main" val="1918452461"/>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19D055-B37B-4054-8953-CCEC71AC45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最後に、位置を元の単位へ戻す</a:t>
            </a:r>
          </a:p>
        </p:txBody>
      </p:sp>
      <p:sp>
        <p:nvSpPr>
          <p:cNvPr id="2" name="">
            <a:extLst xmlns:a="http://schemas.openxmlformats.org/drawingml/2006/main">
              <a:ext uri="{FF2B5EF4-FFF2-40B4-BE49-F238E27FC236}">
                <a16:creationId xmlns:a16="http://schemas.microsoft.com/office/drawing/2014/main" id="{59747078-528E-46A4-9B91-D077A1936D4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2822B3-8442-4D8D-AE10-293D880A682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各列で覚えておいた逆累積分布を使う。</a:t>
            </a:r>
          </a:p>
        </p:txBody>
      </p:sp>
      <p:sp>
        <p:nvSpPr>
          <p:cNvPr id="4" name="">
            <a:extLst xmlns:a="http://schemas.openxmlformats.org/drawingml/2006/main">
              <a:ext uri="{FF2B5EF4-FFF2-40B4-BE49-F238E27FC236}">
                <a16:creationId xmlns:a16="http://schemas.microsoft.com/office/drawing/2014/main" id="{B9D4ABC2-CA22-4DA7-AF57-CBD6C792930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CCB01062-437B-4770-A39D-DD41904B525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573FB916-46A7-4713-8E82-78E7A6D981E7}"/>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BFC305-734C-4E9D-8931-511A4FCDB1E1}"/>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体重の生成値 y′ = Fᵧ⁻¹(v)</a:t>
            </a:r>
          </a:p>
        </p:txBody>
      </p:sp>
      <p:sp>
        <p:nvSpPr>
          <p:cNvPr id="8" name="">
            <a:extLst xmlns:a="http://schemas.openxmlformats.org/drawingml/2006/main">
              <a:ext uri="{FF2B5EF4-FFF2-40B4-BE49-F238E27FC236}">
                <a16:creationId xmlns:a16="http://schemas.microsoft.com/office/drawing/2014/main" id="{8F977C4F-F08E-4FEE-B2FC-DC72F75AEA2F}"/>
              </a:ext>
            </a:extLst>
          </p:cNvPr>
          <p:cNvSpPr>
            <a:spLocks xmlns:a="http://schemas.openxmlformats.org/drawingml/2006/main" noGrp="1"/>
          </p:cNvSpPr>
          <p:nvPr/>
        </p:nvSpPr>
        <p:spPr>
          <a:xfrm xmlns:a="http://schemas.openxmlformats.org/drawingml/2006/main">
            <a:off x="628650" y="3076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説明用：Y ~ N(65, 10²) と仮定 → y′ = 65 + 10 Φ⁻¹(v)</a:t>
            </a:r>
          </a:p>
        </p:txBody>
      </p:sp>
      <p:graphicFrame>
        <p:nvGraphicFramePr>
          <p:cNvPr id="20" name=""/>
          <p:cNvGraphicFramePr/>
          <p:nvPr/>
        </p:nvGraphicFramePr>
        <p:xfrm>
          <a:off xmlns:a="http://schemas.openxmlformats.org/drawingml/2006/main" x="514350" y="3571875"/>
          <a:ext xmlns:a="http://schemas.openxmlformats.org/drawingml/2006/main" cx="11163300" cy="1781175"/>
        </p:xfrm>
        <a:graphic xmlns:a="http://schemas.openxmlformats.org/drawingml/2006/main">
          <a:graphicData uri="http://schemas.openxmlformats.org/drawingml/2006/table">
            <a:tbl>
              <a:tblPr/>
              <a:tblGrid>
                <a:gridCol w="3721100"/>
                <a:gridCol w="3721100"/>
                <a:gridCol w="3721100"/>
              </a:tblGrid>
              <a:tr h="445294">
                <a:tc>
                  <a:txBody>
                    <a:bodyPr/>
                    <a:lstStyle/>
                    <a:p>
                      <a:pPr algn="ctr"/>
                      <a:r>
                        <a:rPr sz="2025" b="1">
                          <a:solidFill>
                            <a:srgbClr val="2E7D5B"/>
                          </a:solidFill>
                          <a:latin typeface="Noto Sans JP"/>
                          <a:ea typeface="Noto Sans JP"/>
                          <a:cs typeface="Noto Sans JP"/>
                        </a:rPr>
                        <a:t>位置v</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説明用の体重分布から戻す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生成した行</a:t>
                      </a:r>
                    </a:p>
                  </a:txBody>
                  <a:tcPr marL="91440" marR="91440" marT="45720" marB="45720" anchor="ctr">
                    <a:solidFill>
                      <a:srgbClr val="E7F2EC"/>
                    </a:solidFill>
                  </a:tcPr>
                </a:tc>
              </a:tr>
              <a:tr h="445294">
                <a:tc>
                  <a:txBody>
                    <a:bodyPr/>
                    <a:lstStyle/>
                    <a:p>
                      <a:pPr algn="ctr"/>
                      <a:r>
                        <a:rPr sz="2025" b="0">
                          <a:solidFill>
                            <a:srgbClr val="222222"/>
                          </a:solidFill>
                          <a:latin typeface="Noto Sans JP"/>
                          <a:ea typeface="Noto Sans JP"/>
                          <a:cs typeface="Noto Sans JP"/>
                        </a:rPr>
                        <a:t>0.384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約62.0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62.0 kg</a:t>
                      </a:r>
                    </a:p>
                  </a:txBody>
                  <a:tcPr marL="91440" marR="91440" marT="45720" marB="45720" anchor="ctr">
                    <a:solidFill>
                      <a:srgbClr val="FFFFFF"/>
                    </a:solidFill>
                  </a:tcPr>
                </a:tc>
              </a:tr>
              <a:tr h="445294">
                <a:tc>
                  <a:txBody>
                    <a:bodyPr/>
                    <a:lstStyle/>
                    <a:p>
                      <a:pPr algn="ctr"/>
                      <a:r>
                        <a:rPr sz="2025" b="0">
                          <a:solidFill>
                            <a:srgbClr val="222222"/>
                          </a:solidFill>
                          <a:latin typeface="Noto Sans JP"/>
                          <a:ea typeface="Noto Sans JP"/>
                          <a:cs typeface="Noto Sans JP"/>
                        </a:rPr>
                        <a:t>0.693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約70.0 kg</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175 cm, 70.0 kg</a:t>
                      </a:r>
                    </a:p>
                  </a:txBody>
                  <a:tcPr marL="91440" marR="91440" marT="45720" marB="45720" anchor="ctr">
                    <a:solidFill>
                      <a:srgbClr val="F6F6F6"/>
                    </a:solidFill>
                  </a:tcPr>
                </a:tc>
              </a:tr>
              <a:tr h="445294">
                <a:tc>
                  <a:txBody>
                    <a:bodyPr/>
                    <a:lstStyle/>
                    <a:p>
                      <a:pPr algn="ctr"/>
                      <a:r>
                        <a:rPr sz="2025" b="0">
                          <a:solidFill>
                            <a:srgbClr val="222222"/>
                          </a:solidFill>
                          <a:latin typeface="Noto Sans JP"/>
                          <a:ea typeface="Noto Sans JP"/>
                          <a:cs typeface="Noto Sans JP"/>
                        </a:rPr>
                        <a:t>0.904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約78.0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78.0 kg</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2CAEEE1-5FD1-4395-BD97-C10DDEEB877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91B7FA2-FDC4-4519-BA96-1B3D67EB15E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実装では、ラベルなし訓練データの経験分位点で元スケールへ戻す</a:t>
            </a:r>
          </a:p>
        </p:txBody>
      </p:sp>
    </p:spTree>
    <p:extLst>
      <p:ext uri="{BB962C8B-B14F-4D97-AF65-F5344CB8AC3E}">
        <p14:creationId xmlns:p14="http://schemas.microsoft.com/office/powerpoint/2010/main" val="1803705081"/>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DCB924-3831-4234-9770-BCEA15F97C9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複数のマスク列も、一緒に生成する</a:t>
            </a:r>
          </a:p>
        </p:txBody>
      </p:sp>
      <p:sp>
        <p:nvSpPr>
          <p:cNvPr id="2" name="">
            <a:extLst xmlns:a="http://schemas.openxmlformats.org/drawingml/2006/main">
              <a:ext uri="{FF2B5EF4-FFF2-40B4-BE49-F238E27FC236}">
                <a16:creationId xmlns:a16="http://schemas.microsoft.com/office/drawing/2014/main" id="{F4915D94-1235-4308-A330-87571732561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852AD5-AE1B-4CC4-8235-7CE4E41E3C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身長を残し、体重と腹囲を置換するなら、2列を同時に引く。</a:t>
            </a:r>
          </a:p>
        </p:txBody>
      </p:sp>
      <p:sp>
        <p:nvSpPr>
          <p:cNvPr id="4" name="">
            <a:extLst xmlns:a="http://schemas.openxmlformats.org/drawingml/2006/main">
              <a:ext uri="{FF2B5EF4-FFF2-40B4-BE49-F238E27FC236}">
                <a16:creationId xmlns:a16="http://schemas.microsoft.com/office/drawing/2014/main" id="{0DD59B65-387E-4952-BEA9-1BD3EBE23B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90E565DF-FEA3-40C7-A83C-635B4E11394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C26D8E34-D600-4423-8482-2537118CCCC3}"/>
              </a:ext>
            </a:extLst>
          </p:cNvPr>
          <p:cNvSpPr>
            <a:spLocks xmlns:a="http://schemas.openxmlformats.org/drawingml/2006/main" noGrp="1"/>
          </p:cNvSpPr>
          <p:nvPr/>
        </p:nvSpPr>
        <p:spPr>
          <a:xfrm xmlns:a="http://schemas.openxmlformats.org/drawingml/2006/main">
            <a:off x="514350" y="20193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86BFB1A-E65F-4EC0-883F-266B398B99F4}"/>
              </a:ext>
            </a:extLst>
          </p:cNvPr>
          <p:cNvSpPr>
            <a:spLocks xmlns:a="http://schemas.openxmlformats.org/drawingml/2006/main" noGrp="1"/>
          </p:cNvSpPr>
          <p:nvPr/>
        </p:nvSpPr>
        <p:spPr>
          <a:xfrm xmlns:a="http://schemas.openxmlformats.org/drawingml/2006/main">
            <a:off x="704850" y="21336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個別に引くと</a:t>
            </a:r>
          </a:p>
        </p:txBody>
      </p:sp>
      <p:sp>
        <p:nvSpPr>
          <p:cNvPr id="8" name="">
            <a:extLst xmlns:a="http://schemas.openxmlformats.org/drawingml/2006/main">
              <a:ext uri="{FF2B5EF4-FFF2-40B4-BE49-F238E27FC236}">
                <a16:creationId xmlns:a16="http://schemas.microsoft.com/office/drawing/2014/main" id="{9363BD3E-4BD7-4774-8BFE-EF209FD91038}"/>
              </a:ext>
            </a:extLst>
          </p:cNvPr>
          <p:cNvSpPr>
            <a:spLocks xmlns:a="http://schemas.openxmlformats.org/drawingml/2006/main" noGrp="1"/>
          </p:cNvSpPr>
          <p:nvPr/>
        </p:nvSpPr>
        <p:spPr>
          <a:xfrm xmlns:a="http://schemas.openxmlformats.org/drawingml/2006/main">
            <a:off x="704850" y="26860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体重を生成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腹囲を生成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体重と腹囲の、残った依存を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無視することがある。</a:t>
            </a:r>
          </a:p>
        </p:txBody>
      </p:sp>
      <p:sp>
        <p:nvSpPr>
          <p:cNvPr id="9" name="">
            <a:extLst xmlns:a="http://schemas.openxmlformats.org/drawingml/2006/main">
              <a:ext uri="{FF2B5EF4-FFF2-40B4-BE49-F238E27FC236}">
                <a16:creationId xmlns:a16="http://schemas.microsoft.com/office/drawing/2014/main" id="{830A9014-D08E-4811-8E55-067788660524}"/>
              </a:ext>
            </a:extLst>
          </p:cNvPr>
          <p:cNvSpPr>
            <a:spLocks xmlns:a="http://schemas.openxmlformats.org/drawingml/2006/main" noGrp="1"/>
          </p:cNvSpPr>
          <p:nvPr/>
        </p:nvSpPr>
        <p:spPr>
          <a:xfrm xmlns:a="http://schemas.openxmlformats.org/drawingml/2006/main">
            <a:off x="6076950" y="20193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998754-2431-48D6-B732-4124E289827A}"/>
              </a:ext>
            </a:extLst>
          </p:cNvPr>
          <p:cNvSpPr>
            <a:spLocks xmlns:a="http://schemas.openxmlformats.org/drawingml/2006/main" noGrp="1"/>
          </p:cNvSpPr>
          <p:nvPr/>
        </p:nvSpPr>
        <p:spPr>
          <a:xfrm xmlns:a="http://schemas.openxmlformats.org/drawingml/2006/main">
            <a:off x="6267450" y="21336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今回の生成</a:t>
            </a:r>
          </a:p>
        </p:txBody>
      </p:sp>
      <p:sp>
        <p:nvSpPr>
          <p:cNvPr id="11" name="">
            <a:extLst xmlns:a="http://schemas.openxmlformats.org/drawingml/2006/main">
              <a:ext uri="{FF2B5EF4-FFF2-40B4-BE49-F238E27FC236}">
                <a16:creationId xmlns:a16="http://schemas.microsoft.com/office/drawing/2014/main" id="{1C62874E-06B5-40B3-AA66-54C9AF139011}"/>
              </a:ext>
            </a:extLst>
          </p:cNvPr>
          <p:cNvSpPr>
            <a:spLocks xmlns:a="http://schemas.openxmlformats.org/drawingml/2006/main" noGrp="1"/>
          </p:cNvSpPr>
          <p:nvPr/>
        </p:nvSpPr>
        <p:spPr>
          <a:xfrm xmlns:a="http://schemas.openxmlformats.org/drawingml/2006/main">
            <a:off x="6267450" y="26860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身長を条件に、</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（体重・腹囲）の組を引く。</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条件付き平均だけでなく、</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条件付き共分散も使う。</a:t>
            </a:r>
          </a:p>
        </p:txBody>
      </p:sp>
      <p:sp>
        <p:nvSpPr>
          <p:cNvPr id="12" name="">
            <a:extLst xmlns:a="http://schemas.openxmlformats.org/drawingml/2006/main">
              <a:ext uri="{FF2B5EF4-FFF2-40B4-BE49-F238E27FC236}">
                <a16:creationId xmlns:a16="http://schemas.microsoft.com/office/drawing/2014/main" id="{9037D07A-A510-41A0-A098-433F40065BE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502467-F9EF-4B27-9E25-2BD8798BF7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観測列との関係と、置換列どうしの関係を両方扱う</a:t>
            </a:r>
          </a:p>
        </p:txBody>
      </p:sp>
    </p:spTree>
    <p:extLst>
      <p:ext uri="{BB962C8B-B14F-4D97-AF65-F5344CB8AC3E}">
        <p14:creationId xmlns:p14="http://schemas.microsoft.com/office/powerpoint/2010/main" val="1794490597"/>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6DE39C-DCA2-4C9A-9393-29D88CBA2A7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VIMEのどこに組み込むか</a:t>
            </a:r>
          </a:p>
        </p:txBody>
      </p:sp>
      <p:sp>
        <p:nvSpPr>
          <p:cNvPr id="2" name="">
            <a:extLst xmlns:a="http://schemas.openxmlformats.org/drawingml/2006/main">
              <a:ext uri="{FF2B5EF4-FFF2-40B4-BE49-F238E27FC236}">
                <a16:creationId xmlns:a16="http://schemas.microsoft.com/office/drawing/2014/main" id="{BE49DB72-6381-466F-BB9E-6E0DA25F04F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5FB71B-6A20-46CB-A6C5-8484CA0D62C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学習課題を揃え、置換器だけを変更した比較を行う。</a:t>
            </a:r>
          </a:p>
        </p:txBody>
      </p:sp>
      <p:sp>
        <p:nvSpPr>
          <p:cNvPr id="4" name="">
            <a:extLst xmlns:a="http://schemas.openxmlformats.org/drawingml/2006/main">
              <a:ext uri="{FF2B5EF4-FFF2-40B4-BE49-F238E27FC236}">
                <a16:creationId xmlns:a16="http://schemas.microsoft.com/office/drawing/2014/main" id="{F08C3D99-119D-401D-814A-FD2650C1B4B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3403D05C-7C7B-4223-B9B6-B86EE3014D3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sp>
        <p:nvSpPr>
          <p:cNvPr id="6" name="">
            <a:extLst xmlns:a="http://schemas.openxmlformats.org/drawingml/2006/main">
              <a:ext uri="{FF2B5EF4-FFF2-40B4-BE49-F238E27FC236}">
                <a16:creationId xmlns:a16="http://schemas.microsoft.com/office/drawing/2014/main" id="{00AD6B30-FBCE-4D97-95D0-1049C3F40E22}"/>
              </a:ext>
            </a:extLst>
          </p:cNvPr>
          <p:cNvSpPr>
            <a:spLocks xmlns:a="http://schemas.openxmlformats.org/drawingml/2006/main" noGrp="1"/>
          </p:cNvSpPr>
          <p:nvPr/>
        </p:nvSpPr>
        <p:spPr>
          <a:xfrm xmlns:a="http://schemas.openxmlformats.org/drawingml/2006/main">
            <a:off x="552450" y="1933575"/>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D64BEF3A-52F3-4362-BF57-DA39DB9E84A4}"/>
              </a:ext>
            </a:extLst>
          </p:cNvPr>
          <p:cNvSpPr>
            <a:spLocks xmlns:a="http://schemas.openxmlformats.org/drawingml/2006/main" noGrp="1"/>
          </p:cNvSpPr>
          <p:nvPr/>
        </p:nvSpPr>
        <p:spPr>
          <a:xfrm xmlns:a="http://schemas.openxmlformats.org/drawingml/2006/main">
            <a:off x="1257300" y="1933575"/>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準備：ラベルなし訓練データで周辺分布・Rを学習。</a:t>
            </a:r>
          </a:p>
        </p:txBody>
      </p:sp>
      <p:sp>
        <p:nvSpPr>
          <p:cNvPr id="8" name="">
            <a:extLst xmlns:a="http://schemas.openxmlformats.org/drawingml/2006/main">
              <a:ext uri="{FF2B5EF4-FFF2-40B4-BE49-F238E27FC236}">
                <a16:creationId xmlns:a16="http://schemas.microsoft.com/office/drawing/2014/main" id="{C28FF325-A925-4C3E-A4D6-0689855D20D3}"/>
              </a:ext>
            </a:extLst>
          </p:cNvPr>
          <p:cNvSpPr>
            <a:spLocks xmlns:a="http://schemas.openxmlformats.org/drawingml/2006/main" noGrp="1"/>
          </p:cNvSpPr>
          <p:nvPr/>
        </p:nvSpPr>
        <p:spPr>
          <a:xfrm xmlns:a="http://schemas.openxmlformats.org/drawingml/2006/main">
            <a:off x="552450" y="2767013"/>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98C53DC-3A0E-4D35-90BB-3940258B404C}"/>
              </a:ext>
            </a:extLst>
          </p:cNvPr>
          <p:cNvSpPr>
            <a:spLocks xmlns:a="http://schemas.openxmlformats.org/drawingml/2006/main" noGrp="1"/>
          </p:cNvSpPr>
          <p:nvPr/>
        </p:nvSpPr>
        <p:spPr>
          <a:xfrm xmlns:a="http://schemas.openxmlformats.org/drawingml/2006/main">
            <a:off x="1257300" y="2767013"/>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自己教師あり：マスク → 条件付き置換 → マスク推定・元値復元。</a:t>
            </a:r>
          </a:p>
        </p:txBody>
      </p:sp>
      <p:sp>
        <p:nvSpPr>
          <p:cNvPr id="10" name="">
            <a:extLst xmlns:a="http://schemas.openxmlformats.org/drawingml/2006/main">
              <a:ext uri="{FF2B5EF4-FFF2-40B4-BE49-F238E27FC236}">
                <a16:creationId xmlns:a16="http://schemas.microsoft.com/office/drawing/2014/main" id="{C353BAEC-5E84-4CE5-91AE-DF4B72C3E144}"/>
              </a:ext>
            </a:extLst>
          </p:cNvPr>
          <p:cNvSpPr>
            <a:spLocks xmlns:a="http://schemas.openxmlformats.org/drawingml/2006/main" noGrp="1"/>
          </p:cNvSpPr>
          <p:nvPr/>
        </p:nvSpPr>
        <p:spPr>
          <a:xfrm xmlns:a="http://schemas.openxmlformats.org/drawingml/2006/main">
            <a:off x="552450" y="3600450"/>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0DB53BD-9130-4CC1-8D60-8ECB5B506FCF}"/>
              </a:ext>
            </a:extLst>
          </p:cNvPr>
          <p:cNvSpPr>
            <a:spLocks xmlns:a="http://schemas.openxmlformats.org/drawingml/2006/main" noGrp="1"/>
          </p:cNvSpPr>
          <p:nvPr/>
        </p:nvSpPr>
        <p:spPr>
          <a:xfrm xmlns:a="http://schemas.openxmlformats.org/drawingml/2006/main">
            <a:off x="1257300" y="3600450"/>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半教師あり：同じ行の複数拡張に対する予測を揃える。</a:t>
            </a:r>
          </a:p>
        </p:txBody>
      </p:sp>
      <p:sp>
        <p:nvSpPr>
          <p:cNvPr id="12" name="">
            <a:extLst xmlns:a="http://schemas.openxmlformats.org/drawingml/2006/main">
              <a:ext uri="{FF2B5EF4-FFF2-40B4-BE49-F238E27FC236}">
                <a16:creationId xmlns:a16="http://schemas.microsoft.com/office/drawing/2014/main" id="{5796A120-3EE5-43B9-89D8-35C8D5FD10F2}"/>
              </a:ext>
            </a:extLst>
          </p:cNvPr>
          <p:cNvSpPr>
            <a:spLocks xmlns:a="http://schemas.openxmlformats.org/drawingml/2006/main" noGrp="1"/>
          </p:cNvSpPr>
          <p:nvPr/>
        </p:nvSpPr>
        <p:spPr>
          <a:xfrm xmlns:a="http://schemas.openxmlformats.org/drawingml/2006/main">
            <a:off x="552450" y="4433888"/>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FFD4166B-5FB8-4836-B6E2-3CDA8832B58F}"/>
              </a:ext>
            </a:extLst>
          </p:cNvPr>
          <p:cNvSpPr>
            <a:spLocks xmlns:a="http://schemas.openxmlformats.org/drawingml/2006/main" noGrp="1"/>
          </p:cNvSpPr>
          <p:nvPr/>
        </p:nvSpPr>
        <p:spPr>
          <a:xfrm xmlns:a="http://schemas.openxmlformats.org/drawingml/2006/main">
            <a:off x="1257300" y="4433888"/>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最終評価：学習に未使用のテストデータで分類性能を測る。</a:t>
            </a:r>
          </a:p>
        </p:txBody>
      </p:sp>
      <p:sp>
        <p:nvSpPr>
          <p:cNvPr id="14" name="">
            <a:extLst xmlns:a="http://schemas.openxmlformats.org/drawingml/2006/main">
              <a:ext uri="{FF2B5EF4-FFF2-40B4-BE49-F238E27FC236}">
                <a16:creationId xmlns:a16="http://schemas.microsoft.com/office/drawing/2014/main" id="{E2C597CC-E426-4AFB-9B98-FD6DAAC18FF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477AB9D-5D9D-45E9-AB27-3B2B630108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独立な列置換 → Gaussian copulaの条件付き置換へ変更</a:t>
            </a:r>
          </a:p>
        </p:txBody>
      </p:sp>
    </p:spTree>
    <p:extLst>
      <p:ext uri="{BB962C8B-B14F-4D97-AF65-F5344CB8AC3E}">
        <p14:creationId xmlns:p14="http://schemas.microsoft.com/office/powerpoint/2010/main" val="167487251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A83D23-1ADA-4A85-9F68-2705AEEFD65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225C0D5D-A17B-49FB-A5E4-C2D77F6BEEF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269F8C-7219-4FC7-BBBB-D1467885DFC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879A1A5E-0F30-48B9-BDE0-E2AA565AF71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C3A7024E-0ADA-41B0-B1B5-B1222865F5D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813AE1F-B6F9-45C8-AF75-9BACBECE4A4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B3AEDFB-AB5C-4073-AC92-06785A9E0AF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173651170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CF53F9-BBAE-415F-BA96-EF0FDB5A907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今の実装でできること・未解決なこと</a:t>
            </a:r>
          </a:p>
        </p:txBody>
      </p:sp>
      <p:sp>
        <p:nvSpPr>
          <p:cNvPr id="2" name="">
            <a:extLst xmlns:a="http://schemas.openxmlformats.org/drawingml/2006/main">
              <a:ext uri="{FF2B5EF4-FFF2-40B4-BE49-F238E27FC236}">
                <a16:creationId xmlns:a16="http://schemas.microsoft.com/office/drawing/2014/main" id="{6AFB754C-FB65-4084-BDF5-7EA3F658BF1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F1A21E-86CC-4296-B8A7-95B72B292A7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自然な特徴の組合せを作ることと、クラスを保つことは別。</a:t>
            </a:r>
          </a:p>
        </p:txBody>
      </p:sp>
      <p:sp>
        <p:nvSpPr>
          <p:cNvPr id="4" name="">
            <a:extLst xmlns:a="http://schemas.openxmlformats.org/drawingml/2006/main">
              <a:ext uri="{FF2B5EF4-FFF2-40B4-BE49-F238E27FC236}">
                <a16:creationId xmlns:a16="http://schemas.microsoft.com/office/drawing/2014/main" id="{DD5AC20D-449D-4A85-8DA5-23FBF7924ED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94C22B9D-57B2-4F4F-90F6-D2D846DF95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DDA1CF05-B194-4F76-AE90-63BFC0BB5445}"/>
              </a:ext>
            </a:extLst>
          </p:cNvPr>
          <p:cNvSpPr>
            <a:spLocks xmlns:a="http://schemas.openxmlformats.org/drawingml/2006/main" noGrp="1"/>
          </p:cNvSpPr>
          <p:nvPr/>
        </p:nvSpPr>
        <p:spPr>
          <a:xfrm xmlns:a="http://schemas.openxmlformats.org/drawingml/2006/main">
            <a:off x="514350" y="1990725"/>
            <a:ext cx="531495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8907F2-D0E5-4518-A0ED-2A3059C8DC04}"/>
              </a:ext>
            </a:extLst>
          </p:cNvPr>
          <p:cNvSpPr>
            <a:spLocks xmlns:a="http://schemas.openxmlformats.org/drawingml/2006/main" noGrp="1"/>
          </p:cNvSpPr>
          <p:nvPr/>
        </p:nvSpPr>
        <p:spPr>
          <a:xfrm xmlns:a="http://schemas.openxmlformats.org/drawingml/2006/main">
            <a:off x="704850" y="21050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現在の対象</a:t>
            </a:r>
          </a:p>
        </p:txBody>
      </p:sp>
      <p:sp>
        <p:nvSpPr>
          <p:cNvPr id="8" name="">
            <a:extLst xmlns:a="http://schemas.openxmlformats.org/drawingml/2006/main">
              <a:ext uri="{FF2B5EF4-FFF2-40B4-BE49-F238E27FC236}">
                <a16:creationId xmlns:a16="http://schemas.microsoft.com/office/drawing/2014/main" id="{1F4D66DE-CC56-4AE4-9507-BFB456F382FF}"/>
              </a:ext>
            </a:extLst>
          </p:cNvPr>
          <p:cNvSpPr>
            <a:spLocks xmlns:a="http://schemas.openxmlformats.org/drawingml/2006/main" noGrp="1"/>
          </p:cNvSpPr>
          <p:nvPr/>
        </p:nvSpPr>
        <p:spPr>
          <a:xfrm xmlns:a="http://schemas.openxmlformats.org/drawingml/2006/main">
            <a:off x="704850" y="2657475"/>
            <a:ext cx="49339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有限値の連続特徴。</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残した特徴は変更しない。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マスク列は同時生成。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列置換との、同一条件比較を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実装済み。</a:t>
            </a:r>
          </a:p>
        </p:txBody>
      </p:sp>
      <p:sp>
        <p:nvSpPr>
          <p:cNvPr id="9" name="">
            <a:extLst xmlns:a="http://schemas.openxmlformats.org/drawingml/2006/main">
              <a:ext uri="{FF2B5EF4-FFF2-40B4-BE49-F238E27FC236}">
                <a16:creationId xmlns:a16="http://schemas.microsoft.com/office/drawing/2014/main" id="{EBDD6E84-5D53-4888-A956-21813234C35E}"/>
              </a:ext>
            </a:extLst>
          </p:cNvPr>
          <p:cNvSpPr>
            <a:spLocks xmlns:a="http://schemas.openxmlformats.org/drawingml/2006/main" noGrp="1"/>
          </p:cNvSpPr>
          <p:nvPr/>
        </p:nvSpPr>
        <p:spPr>
          <a:xfrm xmlns:a="http://schemas.openxmlformats.org/drawingml/2006/main">
            <a:off x="6076950" y="1990725"/>
            <a:ext cx="560070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F8E778-5230-463C-8B58-0C1EE59C7E07}"/>
              </a:ext>
            </a:extLst>
          </p:cNvPr>
          <p:cNvSpPr>
            <a:spLocks xmlns:a="http://schemas.openxmlformats.org/drawingml/2006/main" noGrp="1"/>
          </p:cNvSpPr>
          <p:nvPr/>
        </p:nvSpPr>
        <p:spPr>
          <a:xfrm xmlns:a="http://schemas.openxmlformats.org/drawingml/2006/main">
            <a:off x="6267450" y="21050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未解決の問い</a:t>
            </a:r>
          </a:p>
        </p:txBody>
      </p:sp>
      <p:sp>
        <p:nvSpPr>
          <p:cNvPr id="11" name="">
            <a:extLst xmlns:a="http://schemas.openxmlformats.org/drawingml/2006/main">
              <a:ext uri="{FF2B5EF4-FFF2-40B4-BE49-F238E27FC236}">
                <a16:creationId xmlns:a16="http://schemas.microsoft.com/office/drawing/2014/main" id="{2345768D-1248-4EBB-88C5-7799C3426FF8}"/>
              </a:ext>
            </a:extLst>
          </p:cNvPr>
          <p:cNvSpPr>
            <a:spLocks xmlns:a="http://schemas.openxmlformats.org/drawingml/2006/main" noGrp="1"/>
          </p:cNvSpPr>
          <p:nvPr/>
        </p:nvSpPr>
        <p:spPr>
          <a:xfrm xmlns:a="http://schemas.openxmlformats.org/drawingml/2006/main">
            <a:off x="6267450" y="26574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生成で正解クラスは保たれるか。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カテゴリ・順序列をどう扱うか。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非正規の依存はどこまで表せるか。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置換が弱すぎ／強すぎないか。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分類性能改善は、まだ仮説。</a:t>
            </a:r>
          </a:p>
        </p:txBody>
      </p:sp>
      <p:sp>
        <p:nvSpPr>
          <p:cNvPr id="12" name="">
            <a:extLst xmlns:a="http://schemas.openxmlformats.org/drawingml/2006/main">
              <a:ext uri="{FF2B5EF4-FFF2-40B4-BE49-F238E27FC236}">
                <a16:creationId xmlns:a16="http://schemas.microsoft.com/office/drawing/2014/main" id="{019D6C57-4181-4CF8-ACBF-7B771B6C2AB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D9B1F7-2B5B-4107-BB58-699AAEE2F6B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確証バイアスを「解決済み」とはせず、クラス保持も別に評価する</a:t>
            </a:r>
          </a:p>
        </p:txBody>
      </p:sp>
    </p:spTree>
    <p:extLst>
      <p:ext uri="{BB962C8B-B14F-4D97-AF65-F5344CB8AC3E}">
        <p14:creationId xmlns:p14="http://schemas.microsoft.com/office/powerpoint/2010/main" val="2125165301"/>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17F808-3B9D-4E6F-81EE-3E6450C46C7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動作確認：置換後の関係を図で見る</a:t>
            </a:r>
          </a:p>
        </p:txBody>
      </p:sp>
      <p:sp>
        <p:nvSpPr>
          <p:cNvPr id="2" name="">
            <a:extLst xmlns:a="http://schemas.openxmlformats.org/drawingml/2006/main">
              <a:ext uri="{FF2B5EF4-FFF2-40B4-BE49-F238E27FC236}">
                <a16:creationId xmlns:a16="http://schemas.microsoft.com/office/drawing/2014/main" id="{CD084DD8-2E86-4BBE-AC5D-67D95FE9F8F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242ACE-D74B-4AD5-935B-A35CB26CFC6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既知の依存を持つ合成データで、同じ列を置換した。</a:t>
            </a:r>
          </a:p>
        </p:txBody>
      </p:sp>
      <p:sp>
        <p:nvSpPr>
          <p:cNvPr id="4" name="">
            <a:extLst xmlns:a="http://schemas.openxmlformats.org/drawingml/2006/main">
              <a:ext uri="{FF2B5EF4-FFF2-40B4-BE49-F238E27FC236}">
                <a16:creationId xmlns:a16="http://schemas.microsoft.com/office/drawing/2014/main" id="{750D399D-B5BC-444D-A0B1-CF56373374C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ADACD37-D6C2-4245-8204-59CC5E4CB0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1AB7F86A-DDFE-4AF0-A832-64B24B2EAF86}"/>
              </a:ext>
            </a:extLst>
          </p:cNvPr>
          <p:cNvSpPr>
            <a:spLocks xmlns:a="http://schemas.openxmlformats.org/drawingml/2006/main" noGrp="1"/>
          </p:cNvSpPr>
          <p:nvPr/>
        </p:nvSpPr>
        <p:spPr>
          <a:xfrm xmlns:a="http://schemas.openxmlformats.org/drawingml/2006/main">
            <a:off x="51435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5ccdab36c491433b"/>
          </a:graphicData>
        </a:graphic>
      </p:graphicFrame>
      <p:sp>
        <p:nvSpPr>
          <p:cNvPr id="8" name="">
            <a:extLst xmlns:a="http://schemas.openxmlformats.org/drawingml/2006/main">
              <a:ext uri="{FF2B5EF4-FFF2-40B4-BE49-F238E27FC236}">
                <a16:creationId xmlns:a16="http://schemas.microsoft.com/office/drawing/2014/main" id="{E7942A80-4DF0-46A2-84E2-9C9350907725}"/>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D8FF01A9-53B0-48F5-B495-8771D29BA106}"/>
              </a:ext>
            </a:extLst>
          </p:cNvPr>
          <p:cNvSpPr>
            <a:spLocks xmlns:a="http://schemas.openxmlformats.org/drawingml/2006/main" noGrp="1"/>
          </p:cNvSpPr>
          <p:nvPr/>
        </p:nvSpPr>
        <p:spPr>
          <a:xfrm xmlns:a="http://schemas.openxmlformats.org/drawingml/2006/main">
            <a:off x="4295775"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d7f804ac38104c1b"/>
          </a:graphicData>
        </a:graphic>
      </p:graphicFrame>
      <p:sp>
        <p:nvSpPr>
          <p:cNvPr id="11" name="">
            <a:extLst xmlns:a="http://schemas.openxmlformats.org/drawingml/2006/main">
              <a:ext uri="{FF2B5EF4-FFF2-40B4-BE49-F238E27FC236}">
                <a16:creationId xmlns:a16="http://schemas.microsoft.com/office/drawing/2014/main" id="{4E31D88E-CCAA-46E0-9E9E-441584B42A13}"/>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637B3F15-D4DA-4957-9DC3-4F20E570E305}"/>
              </a:ext>
            </a:extLst>
          </p:cNvPr>
          <p:cNvSpPr>
            <a:spLocks xmlns:a="http://schemas.openxmlformats.org/drawingml/2006/main" noGrp="1"/>
          </p:cNvSpPr>
          <p:nvPr/>
        </p:nvSpPr>
        <p:spPr>
          <a:xfrm xmlns:a="http://schemas.openxmlformats.org/drawingml/2006/main">
            <a:off x="807720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Gaussian copula</a:t>
            </a:r>
          </a:p>
        </p:txBody>
      </p:sp>
      <p:graphicFrame>
        <p:nvGraphicFramePr>
          <p:cNvPr id="29" name="Chart"/>
          <p:cNvGraphicFramePr/>
          <p:nvPr/>
        </p:nvGraphicFramePr>
        <p:xfrm>
          <a:off xmlns:a="http://schemas.openxmlformats.org/drawingml/2006/main" x="807720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6c123be1136b4d78"/>
          </a:graphicData>
        </a:graphic>
      </p:graphicFrame>
      <p:sp>
        <p:nvSpPr>
          <p:cNvPr id="14" name="">
            <a:extLst xmlns:a="http://schemas.openxmlformats.org/drawingml/2006/main">
              <a:ext uri="{FF2B5EF4-FFF2-40B4-BE49-F238E27FC236}">
                <a16:creationId xmlns:a16="http://schemas.microsoft.com/office/drawing/2014/main" id="{6E3F7DA8-5017-4B95-A115-F37F36AEAA78}"/>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F24D0486-0549-4F27-AA9C-ABA5D39CDB8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0A19402-53E4-46D3-8D1D-52D8D44E87E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この設定では、列置換で関係が崩れ、条件付き置換では関係が残る</a:t>
            </a:r>
          </a:p>
        </p:txBody>
      </p:sp>
    </p:spTree>
    <p:extLst>
      <p:ext uri="{BB962C8B-B14F-4D97-AF65-F5344CB8AC3E}">
        <p14:creationId xmlns:p14="http://schemas.microsoft.com/office/powerpoint/2010/main" val="1997962459"/>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4F62FD-8139-4E43-A56B-78B45098E79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合成データの確認で、何が分かるか</a:t>
            </a:r>
          </a:p>
        </p:txBody>
      </p:sp>
      <p:sp>
        <p:nvSpPr>
          <p:cNvPr id="2" name="">
            <a:extLst xmlns:a="http://schemas.openxmlformats.org/drawingml/2006/main">
              <a:ext uri="{FF2B5EF4-FFF2-40B4-BE49-F238E27FC236}">
                <a16:creationId xmlns:a16="http://schemas.microsoft.com/office/drawing/2014/main" id="{6C2700A5-0D16-4D1C-A9BF-E3920A3C397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C7A412-B2E4-4ABC-9FE1-25965A1F0E1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分類性能の証明ではなく、条件付き生成の動作を確認する実験。</a:t>
            </a:r>
          </a:p>
        </p:txBody>
      </p:sp>
      <p:sp>
        <p:nvSpPr>
          <p:cNvPr id="4" name="">
            <a:extLst xmlns:a="http://schemas.openxmlformats.org/drawingml/2006/main">
              <a:ext uri="{FF2B5EF4-FFF2-40B4-BE49-F238E27FC236}">
                <a16:creationId xmlns:a16="http://schemas.microsoft.com/office/drawing/2014/main" id="{F8825411-9B30-4EE7-AEF9-250ED68930E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D3DA7729-5394-4EA6-A8B3-C266DBE3AE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graphicFrame>
        <p:nvGraphicFramePr>
          <p:cNvPr id="15" name=""/>
          <p:cNvGraphicFramePr/>
          <p:nvPr/>
        </p:nvGraphicFramePr>
        <p:xfrm>
          <a:off xmlns:a="http://schemas.openxmlformats.org/drawingml/2006/main" x="514350" y="2085975"/>
          <a:ext xmlns:a="http://schemas.openxmlformats.org/drawingml/2006/main" cx="11163300" cy="2533650"/>
        </p:xfrm>
        <a:graphic xmlns:a="http://schemas.openxmlformats.org/drawingml/2006/main">
          <a:graphicData uri="http://schemas.openxmlformats.org/drawingml/2006/table">
            <a:tbl>
              <a:tblPr/>
              <a:tblGrid>
                <a:gridCol w="3721100"/>
                <a:gridCol w="3721100"/>
                <a:gridCol w="3721100"/>
              </a:tblGrid>
              <a:tr h="633413">
                <a:tc>
                  <a:txBody>
                    <a:bodyPr/>
                    <a:lstStyle/>
                    <a:p>
                      <a:pPr algn="ctr"/>
                      <a:r>
                        <a:rPr sz="2175" b="1">
                          <a:solidFill>
                            <a:srgbClr val="2E7D5B"/>
                          </a:solidFill>
                          <a:latin typeface="Noto Sans JP"/>
                          <a:ea typeface="Noto Sans JP"/>
                          <a:cs typeface="Noto Sans JP"/>
                        </a:rPr>
                        <a:t>対象</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相関</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E[(X₂′ − 0.8 X₁)²]</a:t>
                      </a:r>
                    </a:p>
                  </a:txBody>
                  <a:tcPr marL="91440" marR="91440" marT="45720" marB="45720" anchor="ctr">
                    <a:solidFill>
                      <a:srgbClr val="E7F2EC"/>
                    </a:solidFill>
                  </a:tcPr>
                </a:tc>
              </a:tr>
              <a:tr h="633413">
                <a:tc>
                  <a:txBody>
                    <a:bodyPr/>
                    <a:lstStyle/>
                    <a:p>
                      <a:pPr algn="ctr"/>
                      <a:r>
                        <a:rPr sz="2175" b="0">
                          <a:solidFill>
                            <a:srgbClr val="222222"/>
                          </a:solidFill>
                          <a:latin typeface="Noto Sans JP"/>
                          <a:ea typeface="Noto Sans JP"/>
                          <a:cs typeface="Noto Sans JP"/>
                        </a:rPr>
                        <a:t>元データ</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0.805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0.352</a:t>
                      </a:r>
                    </a:p>
                  </a:txBody>
                  <a:tcPr marL="91440" marR="91440" marT="45720" marB="45720" anchor="ctr">
                    <a:solidFill>
                      <a:srgbClr val="FFFFFF"/>
                    </a:solidFill>
                  </a:tcPr>
                </a:tc>
              </a:tr>
              <a:tr h="633413">
                <a:tc>
                  <a:txBody>
                    <a:bodyPr/>
                    <a:lstStyle/>
                    <a:p>
                      <a:pPr algn="ctr"/>
                      <a:r>
                        <a:rPr sz="2175" b="0">
                          <a:solidFill>
                            <a:srgbClr val="222222"/>
                          </a:solidFill>
                          <a:latin typeface="Noto Sans JP"/>
                          <a:ea typeface="Noto Sans JP"/>
                          <a:cs typeface="Noto Sans JP"/>
                        </a:rPr>
                        <a:t>列置換</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-0.014</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1.653</a:t>
                      </a:r>
                    </a:p>
                  </a:txBody>
                  <a:tcPr marL="91440" marR="91440" marT="45720" marB="45720" anchor="ctr">
                    <a:solidFill>
                      <a:srgbClr val="F6F6F6"/>
                    </a:solidFill>
                  </a:tcPr>
                </a:tc>
              </a:tr>
              <a:tr h="633413">
                <a:tc>
                  <a:txBody>
                    <a:bodyPr/>
                    <a:lstStyle/>
                    <a:p>
                      <a:pPr algn="ctr"/>
                      <a:r>
                        <a:rPr sz="2175" b="0">
                          <a:solidFill>
                            <a:srgbClr val="222222"/>
                          </a:solidFill>
                          <a:latin typeface="Noto Sans JP"/>
                          <a:ea typeface="Noto Sans JP"/>
                          <a:cs typeface="Noto Sans JP"/>
                        </a:rPr>
                        <a:t>Gaussian copula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0.761</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0.409</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E43AD55-FD57-4067-A512-7E91B00E0C89}"/>
              </a:ext>
            </a:extLst>
          </p:cNvPr>
          <p:cNvSpPr>
            <a:spLocks xmlns:a="http://schemas.openxmlformats.org/drawingml/2006/main" noGrp="1"/>
          </p:cNvSpPr>
          <p:nvPr/>
        </p:nvSpPr>
        <p:spPr>
          <a:xfrm xmlns:a="http://schemas.openxmlformats.org/drawingml/2006/main">
            <a:off x="619125" y="486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観測列X₁は両手法で不変。数値は2,500行全体で集計。</a:t>
            </a:r>
          </a:p>
        </p:txBody>
      </p:sp>
      <p:sp>
        <p:nvSpPr>
          <p:cNvPr id="8" name="">
            <a:extLst xmlns:a="http://schemas.openxmlformats.org/drawingml/2006/main">
              <a:ext uri="{FF2B5EF4-FFF2-40B4-BE49-F238E27FC236}">
                <a16:creationId xmlns:a16="http://schemas.microsoft.com/office/drawing/2014/main" id="{099D3736-D0E3-4778-B8E5-69B45EFA97F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A204A8-100D-4557-BA62-109E1E30FCA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Gaussianの仮定に合う例での確認。実データやクラス保持は別に検証する</a:t>
            </a:r>
          </a:p>
        </p:txBody>
      </p:sp>
    </p:spTree>
    <p:extLst>
      <p:ext uri="{BB962C8B-B14F-4D97-AF65-F5344CB8AC3E}">
        <p14:creationId xmlns:p14="http://schemas.microsoft.com/office/powerpoint/2010/main" val="972852064"/>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9AF075-CB1B-42A4-9CE0-7CFF3D6FCB6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1CF5D11A-7660-4C24-9885-B9CFCACC263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DD9974-1CB9-403E-A801-4161C965D1B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保存済みの探索的実験。原論文の結果の再現ではない。</a:t>
            </a:r>
          </a:p>
        </p:txBody>
      </p:sp>
      <p:sp>
        <p:nvSpPr>
          <p:cNvPr id="4" name="">
            <a:extLst xmlns:a="http://schemas.openxmlformats.org/drawingml/2006/main">
              <a:ext uri="{FF2B5EF4-FFF2-40B4-BE49-F238E27FC236}">
                <a16:creationId xmlns:a16="http://schemas.microsoft.com/office/drawing/2014/main" id="{B4B700B3-2E9C-4DA8-AFF2-3A6B96D4E7A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6C380B5-87E7-4FA5-9233-EB20B7C45DD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7468F1-3215-422C-A16D-635EC12996D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DEA09F-D64C-4B49-93BD-13F5F03021A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479683492"/>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0F7D92-C63F-46D9-8972-17838868301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今回の再実行：同じ学習枠組みで比較</a:t>
            </a:r>
          </a:p>
        </p:txBody>
      </p:sp>
      <p:sp>
        <p:nvSpPr>
          <p:cNvPr id="2" name="">
            <a:extLst xmlns:a="http://schemas.openxmlformats.org/drawingml/2006/main">
              <a:ext uri="{FF2B5EF4-FFF2-40B4-BE49-F238E27FC236}">
                <a16:creationId xmlns:a16="http://schemas.microsoft.com/office/drawing/2014/main" id="{E4BF1218-8837-4506-A6A3-31ABFB3A7C9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C001B3-1F58-4ED2-A3DE-7EFCEBE550F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2026年10月4日、VIME内の2種類の置換器を5 seedで実行。</a:t>
            </a:r>
          </a:p>
        </p:txBody>
      </p:sp>
      <p:sp>
        <p:nvSpPr>
          <p:cNvPr id="4" name="">
            <a:extLst xmlns:a="http://schemas.openxmlformats.org/drawingml/2006/main">
              <a:ext uri="{FF2B5EF4-FFF2-40B4-BE49-F238E27FC236}">
                <a16:creationId xmlns:a16="http://schemas.microsoft.com/office/drawing/2014/main" id="{8AF2F2BB-2FB6-464E-8CFD-F2317C36E93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5824D92A-5CDF-453E-A79B-C14E08C7551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809625">
                <a:tc>
                  <a:txBody>
                    <a:bodyPr/>
                    <a:lstStyle/>
                    <a:p>
                      <a:pPr algn="ctr"/>
                      <a:r>
                        <a:rPr sz="1950" b="1">
                          <a:solidFill>
                            <a:srgbClr val="2E7D5B"/>
                          </a:solidFill>
                          <a:latin typeface="Noto Sans JP"/>
                          <a:ea typeface="Noto Sans JP"/>
                          <a:cs typeface="Noto Sans JP"/>
                        </a:rPr>
                        <a:t>データ / ROC-AUC</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Gaussian copula</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差の95% CI</a:t>
                      </a:r>
                    </a:p>
                  </a:txBody>
                  <a:tcPr marL="91440" marR="91440" marT="45720" marB="45720" anchor="ctr">
                    <a:solidFill>
                      <a:srgbClr val="E7F2EC"/>
                    </a:solidFill>
                  </a:tcPr>
                </a:tc>
              </a:tr>
              <a:tr h="809625">
                <a:tc>
                  <a:txBody>
                    <a:bodyPr/>
                    <a:lstStyle/>
                    <a:p>
                      <a:pPr algn="ctr"/>
                      <a:r>
                        <a:rPr sz="195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[−0.005, +0.011]</a:t>
                      </a:r>
                    </a:p>
                  </a:txBody>
                  <a:tcPr marL="91440" marR="91440" marT="45720" marB="45720" anchor="ctr">
                    <a:solidFill>
                      <a:srgbClr val="FFFFFF"/>
                    </a:solidFill>
                  </a:tcPr>
                </a:tc>
              </a:tr>
              <a:tr h="809625">
                <a:tc>
                  <a:txBody>
                    <a:bodyPr/>
                    <a:lstStyle/>
                    <a:p>
                      <a:pPr algn="ctr"/>
                      <a:r>
                        <a:rPr sz="195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48893D9-413E-4337-B4B7-DBFDD51686B8}"/>
              </a:ext>
            </a:extLst>
          </p:cNvPr>
          <p:cNvSpPr>
            <a:spLocks xmlns:a="http://schemas.openxmlformats.org/drawingml/2006/main" noGrp="1"/>
          </p:cNvSpPr>
          <p:nvPr/>
        </p:nvSpPr>
        <p:spPr>
          <a:xfrm xmlns:a="http://schemas.openxmlformats.org/drawingml/2006/main">
            <a:off x="619125" y="4781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平均差：Breast Cancer +0.003 / Wine +0.021</a:t>
            </a:r>
          </a:p>
        </p:txBody>
      </p:sp>
      <p:sp>
        <p:nvSpPr>
          <p:cNvPr id="8" name="">
            <a:extLst xmlns:a="http://schemas.openxmlformats.org/drawingml/2006/main">
              <a:ext uri="{FF2B5EF4-FFF2-40B4-BE49-F238E27FC236}">
                <a16:creationId xmlns:a16="http://schemas.microsoft.com/office/drawing/2014/main" id="{95EB75D0-8E2C-447D-A276-BAEBC197DA3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83A5C5-34B9-44E2-A250-7FF474BBF1F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今回の比較だけで優位性は確定しない。再実行でもデータ・seedへの依存を確認</a:t>
            </a:r>
          </a:p>
        </p:txBody>
      </p:sp>
    </p:spTree>
    <p:extLst>
      <p:ext uri="{BB962C8B-B14F-4D97-AF65-F5344CB8AC3E}">
        <p14:creationId xmlns:p14="http://schemas.microsoft.com/office/powerpoint/2010/main" val="80501059"/>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4C3E17-21CD-47A9-8A75-FA6AAF98C24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再実行結果を、どう解釈するか</a:t>
            </a:r>
          </a:p>
        </p:txBody>
      </p:sp>
      <p:sp>
        <p:nvSpPr>
          <p:cNvPr id="2" name="">
            <a:extLst xmlns:a="http://schemas.openxmlformats.org/drawingml/2006/main">
              <a:ext uri="{FF2B5EF4-FFF2-40B4-BE49-F238E27FC236}">
                <a16:creationId xmlns:a16="http://schemas.microsoft.com/office/drawing/2014/main" id="{BFF07062-94FB-406A-B589-8B235202113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6F113-4474-4490-A9C9-5DF00658623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置換器を変えた効果は、仮定・データ・拡張強度によって変わる。</a:t>
            </a:r>
          </a:p>
        </p:txBody>
      </p:sp>
      <p:sp>
        <p:nvSpPr>
          <p:cNvPr id="4" name="">
            <a:extLst xmlns:a="http://schemas.openxmlformats.org/drawingml/2006/main">
              <a:ext uri="{FF2B5EF4-FFF2-40B4-BE49-F238E27FC236}">
                <a16:creationId xmlns:a16="http://schemas.microsoft.com/office/drawing/2014/main" id="{C5C0E9AC-E52B-4CB9-AA80-6915A0D5C85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F22E52A8-937B-47A3-9DEC-0B9B44E3DA7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6AB824F8-C943-4D47-9266-A993DE8F83DE}"/>
              </a:ext>
            </a:extLst>
          </p:cNvPr>
          <p:cNvSpPr>
            <a:spLocks xmlns:a="http://schemas.openxmlformats.org/drawingml/2006/main" noGrp="1"/>
          </p:cNvSpPr>
          <p:nvPr/>
        </p:nvSpPr>
        <p:spPr>
          <a:xfrm xmlns:a="http://schemas.openxmlformats.org/drawingml/2006/main">
            <a:off x="552450" y="19526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DCBA668-A657-443A-9593-777A82879490}"/>
              </a:ext>
            </a:extLst>
          </p:cNvPr>
          <p:cNvSpPr>
            <a:spLocks xmlns:a="http://schemas.openxmlformats.org/drawingml/2006/main" noGrp="1"/>
          </p:cNvSpPr>
          <p:nvPr/>
        </p:nvSpPr>
        <p:spPr>
          <a:xfrm xmlns:a="http://schemas.openxmlformats.org/drawingml/2006/main">
            <a:off x="1257300" y="19526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2手法は、同じデータ分割・モデル・学習予算で比較した。</a:t>
            </a:r>
          </a:p>
        </p:txBody>
      </p:sp>
      <p:sp>
        <p:nvSpPr>
          <p:cNvPr id="8" name="">
            <a:extLst xmlns:a="http://schemas.openxmlformats.org/drawingml/2006/main">
              <a:ext uri="{FF2B5EF4-FFF2-40B4-BE49-F238E27FC236}">
                <a16:creationId xmlns:a16="http://schemas.microsoft.com/office/drawing/2014/main" id="{D51D5D8F-0606-476F-B5FB-E75BA2B045B7}"/>
              </a:ext>
            </a:extLst>
          </p:cNvPr>
          <p:cNvSpPr>
            <a:spLocks xmlns:a="http://schemas.openxmlformats.org/drawingml/2006/main" noGrp="1"/>
          </p:cNvSpPr>
          <p:nvPr/>
        </p:nvSpPr>
        <p:spPr>
          <a:xfrm xmlns:a="http://schemas.openxmlformats.org/drawingml/2006/main">
            <a:off x="552450" y="27717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92D24BF-E85C-4754-B83C-D15E06219957}"/>
              </a:ext>
            </a:extLst>
          </p:cNvPr>
          <p:cNvSpPr>
            <a:spLocks xmlns:a="http://schemas.openxmlformats.org/drawingml/2006/main" noGrp="1"/>
          </p:cNvSpPr>
          <p:nvPr/>
        </p:nvSpPr>
        <p:spPr>
          <a:xfrm xmlns:a="http://schemas.openxmlformats.org/drawingml/2006/main">
            <a:off x="1257300" y="27717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小さなデータではseedで結果が変わる。5回だけでは不十分。</a:t>
            </a:r>
          </a:p>
        </p:txBody>
      </p:sp>
      <p:sp>
        <p:nvSpPr>
          <p:cNvPr id="10" name="">
            <a:extLst xmlns:a="http://schemas.openxmlformats.org/drawingml/2006/main">
              <a:ext uri="{FF2B5EF4-FFF2-40B4-BE49-F238E27FC236}">
                <a16:creationId xmlns:a16="http://schemas.microsoft.com/office/drawing/2014/main" id="{2E65DA62-491F-4F0C-8641-166B995F8B43}"/>
              </a:ext>
            </a:extLst>
          </p:cNvPr>
          <p:cNvSpPr>
            <a:spLocks xmlns:a="http://schemas.openxmlformats.org/drawingml/2006/main" noGrp="1"/>
          </p:cNvSpPr>
          <p:nvPr/>
        </p:nvSpPr>
        <p:spPr>
          <a:xfrm xmlns:a="http://schemas.openxmlformats.org/drawingml/2006/main">
            <a:off x="552450" y="35909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81F69B89-486D-475F-979A-C3761EBE9683}"/>
              </a:ext>
            </a:extLst>
          </p:cNvPr>
          <p:cNvSpPr>
            <a:spLocks xmlns:a="http://schemas.openxmlformats.org/drawingml/2006/main" noGrp="1"/>
          </p:cNvSpPr>
          <p:nvPr/>
        </p:nvSpPr>
        <p:spPr>
          <a:xfrm xmlns:a="http://schemas.openxmlformats.org/drawingml/2006/main">
            <a:off x="1257300" y="35909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保存済みの2手法のAUCと、今回の再実行の値が一致した。</a:t>
            </a:r>
          </a:p>
        </p:txBody>
      </p:sp>
      <p:sp>
        <p:nvSpPr>
          <p:cNvPr id="12" name="">
            <a:extLst xmlns:a="http://schemas.openxmlformats.org/drawingml/2006/main">
              <a:ext uri="{FF2B5EF4-FFF2-40B4-BE49-F238E27FC236}">
                <a16:creationId xmlns:a16="http://schemas.microsoft.com/office/drawing/2014/main" id="{EE503A1E-8F98-42E4-9B69-6F52A401C6DF}"/>
              </a:ext>
            </a:extLst>
          </p:cNvPr>
          <p:cNvSpPr>
            <a:spLocks xmlns:a="http://schemas.openxmlformats.org/drawingml/2006/main" noGrp="1"/>
          </p:cNvSpPr>
          <p:nvPr/>
        </p:nvSpPr>
        <p:spPr>
          <a:xfrm xmlns:a="http://schemas.openxmlformats.org/drawingml/2006/main">
            <a:off x="552450" y="44100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AA168D7-5F29-4F1A-BEDB-9A2255580C47}"/>
              </a:ext>
            </a:extLst>
          </p:cNvPr>
          <p:cNvSpPr>
            <a:spLocks xmlns:a="http://schemas.openxmlformats.org/drawingml/2006/main" noGrp="1"/>
          </p:cNvSpPr>
          <p:nvPr/>
        </p:nvSpPr>
        <p:spPr>
          <a:xfrm xmlns:a="http://schemas.openxmlformats.org/drawingml/2006/main">
            <a:off x="1257300" y="44100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生成の関係保持と、分類への効果は切り分けて検証する。</a:t>
            </a:r>
          </a:p>
        </p:txBody>
      </p:sp>
      <p:sp>
        <p:nvSpPr>
          <p:cNvPr id="14" name="">
            <a:extLst xmlns:a="http://schemas.openxmlformats.org/drawingml/2006/main">
              <a:ext uri="{FF2B5EF4-FFF2-40B4-BE49-F238E27FC236}">
                <a16:creationId xmlns:a16="http://schemas.microsoft.com/office/drawing/2014/main" id="{0652650F-88F8-4E58-A3AC-550AEEA02D3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5017F8-F1EF-4D88-819C-10CACB0259A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次は、何を保ち何を変えた拡張が学習に役立つかを検証する</a:t>
            </a:r>
          </a:p>
        </p:txBody>
      </p:sp>
    </p:spTree>
    <p:extLst>
      <p:ext uri="{BB962C8B-B14F-4D97-AF65-F5344CB8AC3E}">
        <p14:creationId xmlns:p14="http://schemas.microsoft.com/office/powerpoint/2010/main" val="555220850"/>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AE8353-0F39-4DCA-BE41-42FD6B71AFC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次の検証：何が良くなれば研究になるか</a:t>
            </a:r>
          </a:p>
        </p:txBody>
      </p:sp>
      <p:sp>
        <p:nvSpPr>
          <p:cNvPr id="2" name="">
            <a:extLst xmlns:a="http://schemas.openxmlformats.org/drawingml/2006/main">
              <a:ext uri="{FF2B5EF4-FFF2-40B4-BE49-F238E27FC236}">
                <a16:creationId xmlns:a16="http://schemas.microsoft.com/office/drawing/2014/main" id="{C43B7F96-5349-4B02-B19B-DD627B1A242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731DAA-C98C-47FC-BBB5-EF1D0F4BB7E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分類性能だけでなく、生成の妥当性と学習課題の強度を測る。</a:t>
            </a:r>
          </a:p>
        </p:txBody>
      </p:sp>
      <p:sp>
        <p:nvSpPr>
          <p:cNvPr id="4" name="">
            <a:extLst xmlns:a="http://schemas.openxmlformats.org/drawingml/2006/main">
              <a:ext uri="{FF2B5EF4-FFF2-40B4-BE49-F238E27FC236}">
                <a16:creationId xmlns:a16="http://schemas.microsoft.com/office/drawing/2014/main" id="{772435EF-995D-4339-BE6F-582DDDE3EF5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今後の検証</a:t>
            </a:r>
          </a:p>
        </p:txBody>
      </p:sp>
      <p:sp>
        <p:nvSpPr>
          <p:cNvPr id="5" name="">
            <a:extLst xmlns:a="http://schemas.openxmlformats.org/drawingml/2006/main">
              <a:ext uri="{FF2B5EF4-FFF2-40B4-BE49-F238E27FC236}">
                <a16:creationId xmlns:a16="http://schemas.microsoft.com/office/drawing/2014/main" id="{4B47C784-3AE1-490F-AE5B-46DF1CE48E8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D863D8F0-0C14-4E55-A214-7CE4D6B61653}"/>
              </a:ext>
            </a:extLst>
          </p:cNvPr>
          <p:cNvSpPr>
            <a:spLocks xmlns:a="http://schemas.openxmlformats.org/drawingml/2006/main" noGrp="1"/>
          </p:cNvSpPr>
          <p:nvPr/>
        </p:nvSpPr>
        <p:spPr>
          <a:xfrm xmlns:a="http://schemas.openxmlformats.org/drawingml/2006/main">
            <a:off x="552450" y="1943100"/>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8E3CAA4F-14F7-47CF-BB4D-AB1CE8C55FC7}"/>
              </a:ext>
            </a:extLst>
          </p:cNvPr>
          <p:cNvSpPr>
            <a:spLocks xmlns:a="http://schemas.openxmlformats.org/drawingml/2006/main" noGrp="1"/>
          </p:cNvSpPr>
          <p:nvPr/>
        </p:nvSpPr>
        <p:spPr>
          <a:xfrm xmlns:a="http://schemas.openxmlformats.org/drawingml/2006/main">
            <a:off x="1257300" y="1943100"/>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生成品質：不自然な組合せ・近傍距離・変更量を確認。</a:t>
            </a:r>
          </a:p>
        </p:txBody>
      </p:sp>
      <p:sp>
        <p:nvSpPr>
          <p:cNvPr id="8" name="">
            <a:extLst xmlns:a="http://schemas.openxmlformats.org/drawingml/2006/main">
              <a:ext uri="{FF2B5EF4-FFF2-40B4-BE49-F238E27FC236}">
                <a16:creationId xmlns:a16="http://schemas.microsoft.com/office/drawing/2014/main" id="{82A9980D-FFE0-4C10-A80C-B551278E7720}"/>
              </a:ext>
            </a:extLst>
          </p:cNvPr>
          <p:cNvSpPr>
            <a:spLocks xmlns:a="http://schemas.openxmlformats.org/drawingml/2006/main" noGrp="1"/>
          </p:cNvSpPr>
          <p:nvPr/>
        </p:nvSpPr>
        <p:spPr>
          <a:xfrm xmlns:a="http://schemas.openxmlformats.org/drawingml/2006/main">
            <a:off x="552450" y="2764631"/>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045166A-9194-4AFA-A83A-0DFE4C7910D2}"/>
              </a:ext>
            </a:extLst>
          </p:cNvPr>
          <p:cNvSpPr>
            <a:spLocks xmlns:a="http://schemas.openxmlformats.org/drawingml/2006/main" noGrp="1"/>
          </p:cNvSpPr>
          <p:nvPr/>
        </p:nvSpPr>
        <p:spPr>
          <a:xfrm xmlns:a="http://schemas.openxmlformats.org/drawingml/2006/main">
            <a:off x="1257300" y="2764631"/>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クラス保持：生成で意味が変わらないか、別途調べる。</a:t>
            </a:r>
          </a:p>
        </p:txBody>
      </p:sp>
      <p:sp>
        <p:nvSpPr>
          <p:cNvPr id="10" name="">
            <a:extLst xmlns:a="http://schemas.openxmlformats.org/drawingml/2006/main">
              <a:ext uri="{FF2B5EF4-FFF2-40B4-BE49-F238E27FC236}">
                <a16:creationId xmlns:a16="http://schemas.microsoft.com/office/drawing/2014/main" id="{90B47A7E-9553-455B-848F-43A89D8EE577}"/>
              </a:ext>
            </a:extLst>
          </p:cNvPr>
          <p:cNvSpPr>
            <a:spLocks xmlns:a="http://schemas.openxmlformats.org/drawingml/2006/main" noGrp="1"/>
          </p:cNvSpPr>
          <p:nvPr/>
        </p:nvSpPr>
        <p:spPr>
          <a:xfrm xmlns:a="http://schemas.openxmlformats.org/drawingml/2006/main">
            <a:off x="552450" y="3586163"/>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C2B23D47-D320-4F60-9F38-6EC25A08E12F}"/>
              </a:ext>
            </a:extLst>
          </p:cNvPr>
          <p:cNvSpPr>
            <a:spLocks xmlns:a="http://schemas.openxmlformats.org/drawingml/2006/main" noGrp="1"/>
          </p:cNvSpPr>
          <p:nvPr/>
        </p:nvSpPr>
        <p:spPr>
          <a:xfrm xmlns:a="http://schemas.openxmlformats.org/drawingml/2006/main">
            <a:off x="1257300" y="3586163"/>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分類評価：データとseedを増やし、差の不確実性を見る。</a:t>
            </a:r>
          </a:p>
        </p:txBody>
      </p:sp>
      <p:sp>
        <p:nvSpPr>
          <p:cNvPr id="12" name="">
            <a:extLst xmlns:a="http://schemas.openxmlformats.org/drawingml/2006/main">
              <a:ext uri="{FF2B5EF4-FFF2-40B4-BE49-F238E27FC236}">
                <a16:creationId xmlns:a16="http://schemas.microsoft.com/office/drawing/2014/main" id="{2133D333-54AB-4FFF-9C46-820C0D5F374E}"/>
              </a:ext>
            </a:extLst>
          </p:cNvPr>
          <p:cNvSpPr>
            <a:spLocks xmlns:a="http://schemas.openxmlformats.org/drawingml/2006/main" noGrp="1"/>
          </p:cNvSpPr>
          <p:nvPr/>
        </p:nvSpPr>
        <p:spPr>
          <a:xfrm xmlns:a="http://schemas.openxmlformats.org/drawingml/2006/main">
            <a:off x="552450" y="4407694"/>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3F8E532-465A-4939-8E8E-CFA85FBC975F}"/>
              </a:ext>
            </a:extLst>
          </p:cNvPr>
          <p:cNvSpPr>
            <a:spLocks xmlns:a="http://schemas.openxmlformats.org/drawingml/2006/main" noGrp="1"/>
          </p:cNvSpPr>
          <p:nvPr/>
        </p:nvSpPr>
        <p:spPr>
          <a:xfrm xmlns:a="http://schemas.openxmlformats.org/drawingml/2006/main">
            <a:off x="1257300" y="4407694"/>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モデル仮定：Gaussianとt等を比較し、複雑化の効果を確認。</a:t>
            </a:r>
          </a:p>
        </p:txBody>
      </p:sp>
      <p:sp>
        <p:nvSpPr>
          <p:cNvPr id="14" name="">
            <a:extLst xmlns:a="http://schemas.openxmlformats.org/drawingml/2006/main">
              <a:ext uri="{FF2B5EF4-FFF2-40B4-BE49-F238E27FC236}">
                <a16:creationId xmlns:a16="http://schemas.microsoft.com/office/drawing/2014/main" id="{7C7407C4-40DA-4A49-A3E0-3428D4EF9EE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3A4EB0-F330-4B99-940B-5CBB2D9AB7E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依存を使う → 生成が変わる → 学習が改善する、の各段階を検証</a:t>
            </a:r>
          </a:p>
        </p:txBody>
      </p:sp>
    </p:spTree>
    <p:extLst>
      <p:ext uri="{BB962C8B-B14F-4D97-AF65-F5344CB8AC3E}">
        <p14:creationId xmlns:p14="http://schemas.microsoft.com/office/powerpoint/2010/main" val="2009830563"/>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DB82D7-819F-4262-8FAC-C323A1B32FE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今回の進捗のまとめ</a:t>
            </a:r>
          </a:p>
        </p:txBody>
      </p:sp>
      <p:sp>
        <p:nvSpPr>
          <p:cNvPr id="2" name="">
            <a:extLst xmlns:a="http://schemas.openxmlformats.org/drawingml/2006/main">
              <a:ext uri="{FF2B5EF4-FFF2-40B4-BE49-F238E27FC236}">
                <a16:creationId xmlns:a16="http://schemas.microsoft.com/office/drawing/2014/main" id="{DFBA0FEC-43C2-4A6A-9AB8-0E856B7D538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CD84EE-9912-4852-BC5C-515D5950A0D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「コピュラを使う予定」から、何を学びどう生成するかへ。</a:t>
            </a:r>
          </a:p>
        </p:txBody>
      </p:sp>
      <p:sp>
        <p:nvSpPr>
          <p:cNvPr id="4" name="">
            <a:extLst xmlns:a="http://schemas.openxmlformats.org/drawingml/2006/main">
              <a:ext uri="{FF2B5EF4-FFF2-40B4-BE49-F238E27FC236}">
                <a16:creationId xmlns:a16="http://schemas.microsoft.com/office/drawing/2014/main" id="{2B4EAD30-D36D-4183-A7B6-C709F526643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まとめ</a:t>
            </a:r>
          </a:p>
        </p:txBody>
      </p:sp>
      <p:sp>
        <p:nvSpPr>
          <p:cNvPr id="5" name="">
            <a:extLst xmlns:a="http://schemas.openxmlformats.org/drawingml/2006/main">
              <a:ext uri="{FF2B5EF4-FFF2-40B4-BE49-F238E27FC236}">
                <a16:creationId xmlns:a16="http://schemas.microsoft.com/office/drawing/2014/main" id="{F7A67A12-2B2D-4AA0-81BD-2C5B797A6A8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sp>
        <p:nvSpPr>
          <p:cNvPr id="6" name="">
            <a:extLst xmlns:a="http://schemas.openxmlformats.org/drawingml/2006/main">
              <a:ext uri="{FF2B5EF4-FFF2-40B4-BE49-F238E27FC236}">
                <a16:creationId xmlns:a16="http://schemas.microsoft.com/office/drawing/2014/main" id="{84D8967E-7717-4B07-A55F-B9907F0C9C1F}"/>
              </a:ext>
            </a:extLst>
          </p:cNvPr>
          <p:cNvSpPr>
            <a:spLocks xmlns:a="http://schemas.openxmlformats.org/drawingml/2006/main" noGrp="1"/>
          </p:cNvSpPr>
          <p:nvPr/>
        </p:nvSpPr>
        <p:spPr>
          <a:xfrm xmlns:a="http://schemas.openxmlformats.org/drawingml/2006/main">
            <a:off x="552450" y="1952625"/>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3E23223E-E8C7-434D-9C05-CD6E51D05BAA}"/>
              </a:ext>
            </a:extLst>
          </p:cNvPr>
          <p:cNvSpPr>
            <a:spLocks xmlns:a="http://schemas.openxmlformats.org/drawingml/2006/main" noGrp="1"/>
          </p:cNvSpPr>
          <p:nvPr/>
        </p:nvSpPr>
        <p:spPr>
          <a:xfrm xmlns:a="http://schemas.openxmlformats.org/drawingml/2006/main">
            <a:off x="1257300" y="1952625"/>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コピュラ：各列の分布と、位置の依存を分けて表す。</a:t>
            </a:r>
          </a:p>
        </p:txBody>
      </p:sp>
      <p:sp>
        <p:nvSpPr>
          <p:cNvPr id="8" name="">
            <a:extLst xmlns:a="http://schemas.openxmlformats.org/drawingml/2006/main">
              <a:ext uri="{FF2B5EF4-FFF2-40B4-BE49-F238E27FC236}">
                <a16:creationId xmlns:a16="http://schemas.microsoft.com/office/drawing/2014/main" id="{9B161BB7-4575-40D3-B5B5-67FF109D7CB2}"/>
              </a:ext>
            </a:extLst>
          </p:cNvPr>
          <p:cNvSpPr>
            <a:spLocks xmlns:a="http://schemas.openxmlformats.org/drawingml/2006/main" noGrp="1"/>
          </p:cNvSpPr>
          <p:nvPr/>
        </p:nvSpPr>
        <p:spPr>
          <a:xfrm xmlns:a="http://schemas.openxmlformats.org/drawingml/2006/main">
            <a:off x="552450" y="2776538"/>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D47887F-B63E-4976-84E6-53C64EBEDB22}"/>
              </a:ext>
            </a:extLst>
          </p:cNvPr>
          <p:cNvSpPr>
            <a:spLocks xmlns:a="http://schemas.openxmlformats.org/drawingml/2006/main" noGrp="1"/>
          </p:cNvSpPr>
          <p:nvPr/>
        </p:nvSpPr>
        <p:spPr>
          <a:xfrm xmlns:a="http://schemas.openxmlformats.org/drawingml/2006/main">
            <a:off x="1257300" y="2776538"/>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Gaussian：位置を潜在正規へ変換し、相関Rを推定。</a:t>
            </a:r>
          </a:p>
        </p:txBody>
      </p:sp>
      <p:sp>
        <p:nvSpPr>
          <p:cNvPr id="10" name="">
            <a:extLst xmlns:a="http://schemas.openxmlformats.org/drawingml/2006/main">
              <a:ext uri="{FF2B5EF4-FFF2-40B4-BE49-F238E27FC236}">
                <a16:creationId xmlns:a16="http://schemas.microsoft.com/office/drawing/2014/main" id="{9EF421B8-48FB-407B-8658-A73A0E021932}"/>
              </a:ext>
            </a:extLst>
          </p:cNvPr>
          <p:cNvSpPr>
            <a:spLocks xmlns:a="http://schemas.openxmlformats.org/drawingml/2006/main" noGrp="1"/>
          </p:cNvSpPr>
          <p:nvPr/>
        </p:nvSpPr>
        <p:spPr>
          <a:xfrm xmlns:a="http://schemas.openxmlformats.org/drawingml/2006/main">
            <a:off x="552450" y="3600450"/>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1C939E0C-F0CB-46AB-A44A-477204F17173}"/>
              </a:ext>
            </a:extLst>
          </p:cNvPr>
          <p:cNvSpPr>
            <a:spLocks xmlns:a="http://schemas.openxmlformats.org/drawingml/2006/main" noGrp="1"/>
          </p:cNvSpPr>
          <p:nvPr/>
        </p:nvSpPr>
        <p:spPr>
          <a:xfrm xmlns:a="http://schemas.openxmlformats.org/drawingml/2006/main">
            <a:off x="1257300" y="3600450"/>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拡張：残した列を条件に、マスク列を同時に生成。</a:t>
            </a:r>
          </a:p>
        </p:txBody>
      </p:sp>
      <p:sp>
        <p:nvSpPr>
          <p:cNvPr id="12" name="">
            <a:extLst xmlns:a="http://schemas.openxmlformats.org/drawingml/2006/main">
              <a:ext uri="{FF2B5EF4-FFF2-40B4-BE49-F238E27FC236}">
                <a16:creationId xmlns:a16="http://schemas.microsoft.com/office/drawing/2014/main" id="{A1E3170E-3509-4687-A3A7-CFFCC0122E5F}"/>
              </a:ext>
            </a:extLst>
          </p:cNvPr>
          <p:cNvSpPr>
            <a:spLocks xmlns:a="http://schemas.openxmlformats.org/drawingml/2006/main" noGrp="1"/>
          </p:cNvSpPr>
          <p:nvPr/>
        </p:nvSpPr>
        <p:spPr>
          <a:xfrm xmlns:a="http://schemas.openxmlformats.org/drawingml/2006/main">
            <a:off x="552450" y="4424363"/>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8504CEE-DE67-4D97-891E-A189A3358486}"/>
              </a:ext>
            </a:extLst>
          </p:cNvPr>
          <p:cNvSpPr>
            <a:spLocks xmlns:a="http://schemas.openxmlformats.org/drawingml/2006/main" noGrp="1"/>
          </p:cNvSpPr>
          <p:nvPr/>
        </p:nvSpPr>
        <p:spPr>
          <a:xfrm xmlns:a="http://schemas.openxmlformats.org/drawingml/2006/main">
            <a:off x="1257300" y="4424363"/>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未検証：ラベル保持と、分類性能への継続的な効果。</a:t>
            </a:r>
          </a:p>
        </p:txBody>
      </p:sp>
      <p:sp>
        <p:nvSpPr>
          <p:cNvPr id="14" name="">
            <a:extLst xmlns:a="http://schemas.openxmlformats.org/drawingml/2006/main">
              <a:ext uri="{FF2B5EF4-FFF2-40B4-BE49-F238E27FC236}">
                <a16:creationId xmlns:a16="http://schemas.microsoft.com/office/drawing/2014/main" id="{3F26AA0A-E3CA-407B-BBF1-CEBA37F2B7C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C182F46-863E-4EE9-ADBB-77AA5424DAF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提案の中心：VIMEの置換を、依存に基づく条件付き生成へ</a:t>
            </a:r>
          </a:p>
        </p:txBody>
      </p:sp>
    </p:spTree>
    <p:extLst>
      <p:ext uri="{BB962C8B-B14F-4D97-AF65-F5344CB8AC3E}">
        <p14:creationId xmlns:p14="http://schemas.microsoft.com/office/powerpoint/2010/main" val="129045154"/>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D0DC23-28A1-4157-8D51-D4FF8E1075C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補足：保存済み結果との一致</a:t>
            </a:r>
          </a:p>
        </p:txBody>
      </p:sp>
      <p:sp>
        <p:nvSpPr>
          <p:cNvPr id="2" name="">
            <a:extLst xmlns:a="http://schemas.openxmlformats.org/drawingml/2006/main">
              <a:ext uri="{FF2B5EF4-FFF2-40B4-BE49-F238E27FC236}">
                <a16:creationId xmlns:a16="http://schemas.microsoft.com/office/drawing/2014/main" id="{23864673-167C-4B93-9220-21E85BE93F6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1C3B33-A82D-40F6-AA8A-3C7C6D3D459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B3A1E224-BFE0-4232-8785-48B63A905E0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2946A37B-3CBD-413E-9BD1-724EB26FF6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26739AA-40F3-47F4-9F0E-0EA20CC478B2}"/>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577731AC-A0F7-4B2A-A717-623E811AD63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C78130-B6DC-4CED-A7A6-1D917483271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900202635"/>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FA8DBA-83FE-4E6E-ABCB-6A5BBF085F1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CB240ED2-5B73-4E11-B619-724EE51571B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AE7414-E2E3-45EB-826A-8E4928155A1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127E6460-33B0-44CA-BDFD-EBEA98F67EB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54AA1E70-C3C0-467B-817A-4FAA07B8486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sp>
        <p:nvSpPr>
          <p:cNvPr id="6" name="">
            <a:extLst xmlns:a="http://schemas.openxmlformats.org/drawingml/2006/main">
              <a:ext uri="{FF2B5EF4-FFF2-40B4-BE49-F238E27FC236}">
                <a16:creationId xmlns:a16="http://schemas.microsoft.com/office/drawing/2014/main" id="{C25E122D-8C42-432D-9B1F-364879AD1588}"/>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ADAB18-9774-4FF3-8828-C213563B71B4}"/>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2D8ECA74-B699-40B2-BB60-9A9A61BF31FE}"/>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E17B40F4-8AAF-452A-91FD-3E953CB16297}"/>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65E3CD-3956-4F48-832F-9AFF8EB5F218}"/>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B83E9211-6083-4B28-93D2-21F8FF20D4A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CC9FF86-F81D-4E76-8EBE-E171B0B8091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1741442474"/>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BC92E1-59DD-423D-8159-BB39370DEE3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F59BFE95-36EB-431D-A989-3BA46F0DB2C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9D501E-D11C-409B-BDEB-8F5FB43191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5C24B438-AFBC-4A6E-9AC9-FA339E2E516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45C5CDB9-5968-48F2-B64F-0E2523EE21C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sp>
        <p:nvSpPr>
          <p:cNvPr id="6" name="">
            <a:extLst xmlns:a="http://schemas.openxmlformats.org/drawingml/2006/main">
              <a:ext uri="{FF2B5EF4-FFF2-40B4-BE49-F238E27FC236}">
                <a16:creationId xmlns:a16="http://schemas.microsoft.com/office/drawing/2014/main" id="{1C79DBB3-F4DF-41F6-BBA1-D629A2733C58}"/>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FC5094-0F76-45F7-988C-FF12B15B17DF}"/>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68EFFED5-CAB0-4955-B83A-500C52B7B917}"/>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418CAD-F001-43B8-ABAD-94C9AA6FC215}"/>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223192EA-2D30-44B7-98C3-465137BA1A68}"/>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85DFE053-2404-4828-BB6F-5AF78DE2716D}"/>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AEC5F8-64F5-4BC4-AAFF-49F670300F1B}"/>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89A471E0-2C91-4D54-A970-C6C6CD3E234E}"/>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4FDDE510-ACB3-4790-8A2E-FD74266622B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561BFD-BDDE-4476-A9D7-C232E51336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1838053246"/>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C50DF4-2281-4799-98C1-9981F17BDFE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4696C5FC-AA07-445F-B246-89B641718AF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1DD1F6-DDB9-4875-B1A8-67E8D3F91A1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55291099-D801-4108-AB25-4F7B6FB9139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059C94A5-0325-427E-BCA9-37AF9089784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A7FBE337-361F-4ABA-A998-7643EE203196}"/>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2AC9F5-6FAF-442D-880A-E9F504684DD8}"/>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AA2920BF-8C7C-4EA9-9638-EAF2E321C2FD}"/>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9D71C4-6336-42F9-BCD1-BAE19F43D67C}"/>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9ACD6AD2-3463-4A81-A2DC-FDBF8B532D7F}"/>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32B1CE-7B4F-48F4-A6A2-926842E2D745}"/>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510578EF-BFF6-45EE-807C-D04FEA76C5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25FE7B-29F9-4A55-9350-1FF9EF2D8C0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829833078"/>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CF7B49-D46D-41A3-9404-49D500BE161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685E0DAD-0E5D-48F8-BC1F-6B6A32B6AC2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6B5599-1F8B-4C2A-B796-325AD415FCC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AB8BE67D-5CB1-4B58-9549-85916A55661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9B8E8A3A-F356-4085-9415-D437C6091DA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sp>
        <p:nvSpPr>
          <p:cNvPr id="6" name="">
            <a:extLst xmlns:a="http://schemas.openxmlformats.org/drawingml/2006/main">
              <a:ext uri="{FF2B5EF4-FFF2-40B4-BE49-F238E27FC236}">
                <a16:creationId xmlns:a16="http://schemas.microsoft.com/office/drawing/2014/main" id="{9F4D30AD-3D36-4034-A3CA-96E280C18C51}"/>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96B553-9BF2-405B-9DA4-DD37E7E37597}"/>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C_R(u₁, …, u_d) = Φ_R(Φ⁻¹(u₁), …, Φ⁻¹(u_d))</a:t>
            </a:r>
          </a:p>
        </p:txBody>
      </p:sp>
      <p:sp>
        <p:nvSpPr>
          <p:cNvPr id="8" name="">
            <a:extLst xmlns:a="http://schemas.openxmlformats.org/drawingml/2006/main">
              <a:ext uri="{FF2B5EF4-FFF2-40B4-BE49-F238E27FC236}">
                <a16:creationId xmlns:a16="http://schemas.microsoft.com/office/drawing/2014/main" id="{E674FEF8-DA30-4D09-B763-95C483A422AB}"/>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C899AB62-2EB2-402C-B1C2-F5BDEE437962}"/>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784BBD2E-8AE9-45ED-9282-8E1D25ACECD2}"/>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340FEF5D-6379-4D21-AEC0-8E57A99A7353}"/>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多変量正規モデルで P(Z₁ ≤ z₁, …, Z_d ≤ z_d) を求める。</a:t>
            </a:r>
          </a:p>
        </p:txBody>
      </p:sp>
      <p:sp>
        <p:nvSpPr>
          <p:cNvPr id="12" name="">
            <a:extLst xmlns:a="http://schemas.openxmlformats.org/drawingml/2006/main">
              <a:ext uri="{FF2B5EF4-FFF2-40B4-BE49-F238E27FC236}">
                <a16:creationId xmlns:a16="http://schemas.microsoft.com/office/drawing/2014/main" id="{D792178D-4231-4DBD-BDDD-E6B0BF2980F6}"/>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54F4AA3-AC22-4068-B876-D1911F647297}"/>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26C0635E-A711-4CDF-A5E0-5FF92FEF7C6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4C88B6F-1146-4D4B-B605-5AA21DB37D7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1528638479"/>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3F2906-F183-4033-A15E-D79E478CDE8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AE07AF14-379E-4F2D-9626-9ABA9594D2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91463F-2ADC-4CD5-B10B-2F00C6A2D11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9E659DD6-B195-47C8-880F-95A61706462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CACCB695-4C0C-46CD-985A-2F99447190E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24FDCF2B-5EA0-492A-A9CF-FB5E081EA61B}"/>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E4BF57-0ACF-48FC-A861-D44ADD8D724F}"/>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Z_M | Z_O = z_O ~ N(μ_M|O, Σ_M|O)</a:t>
            </a:r>
          </a:p>
        </p:txBody>
      </p:sp>
      <p:sp>
        <p:nvSpPr>
          <p:cNvPr id="8" name="">
            <a:extLst xmlns:a="http://schemas.openxmlformats.org/drawingml/2006/main">
              <a:ext uri="{FF2B5EF4-FFF2-40B4-BE49-F238E27FC236}">
                <a16:creationId xmlns:a16="http://schemas.microsoft.com/office/drawing/2014/main" id="{5829F9B0-9705-49E7-A705-2B18CBF0D75A}"/>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6F45EDD-5EBC-4F1E-9D39-3967B3394B62}"/>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μ_M|O = R_MO R_OO⁻¹ z_O</a:t>
            </a:r>
          </a:p>
        </p:txBody>
      </p:sp>
      <p:sp>
        <p:nvSpPr>
          <p:cNvPr id="10" name="">
            <a:extLst xmlns:a="http://schemas.openxmlformats.org/drawingml/2006/main">
              <a:ext uri="{FF2B5EF4-FFF2-40B4-BE49-F238E27FC236}">
                <a16:creationId xmlns:a16="http://schemas.microsoft.com/office/drawing/2014/main" id="{0D1E8801-7053-4011-8C54-A22EB1974CF4}"/>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808F70-7724-4D9F-BECB-F6B02E1CF395}"/>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Σ_M|O = R_MM − R_MO R_OO⁻¹ R_OM</a:t>
            </a:r>
          </a:p>
        </p:txBody>
      </p:sp>
      <p:sp>
        <p:nvSpPr>
          <p:cNvPr id="12" name="">
            <a:extLst xmlns:a="http://schemas.openxmlformats.org/drawingml/2006/main">
              <a:ext uri="{FF2B5EF4-FFF2-40B4-BE49-F238E27FC236}">
                <a16:creationId xmlns:a16="http://schemas.microsoft.com/office/drawing/2014/main" id="{F3AD2A5D-F0EE-42E6-841A-00DA7DF2400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EF1D03-2583-4477-B01C-859CB7E8993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772538248"/>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F557DB-947E-4C86-8FE6-2CDBA1BE5CA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BBC30BB6-DE9E-4B01-A7D0-C73F09B3CFB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EA5E2F-4255-4336-9511-F9EADEDAAFC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E72594DD-1740-4F41-A8FC-F37235B5718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71677F55-CC00-4C17-ACAE-D529EB06E2E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432912B-F7E0-4ECB-A155-45A74D3A1BA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426984-9F29-4041-A4B8-E23636BEDB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601392301"/>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E9C62B-34E7-482E-8D5F-FD590375523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C611570C-D3D9-49D2-BBCE-8A1B08DD7FE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8C0AAA-8C37-4473-BAE1-E0C385892A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89D8D7D5-F151-4BD8-AF7E-B990D3467D1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34AED67A-24F1-4A2B-8975-76EFAAC03C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50</a:t>
            </a:r>
          </a:p>
        </p:txBody>
      </p:sp>
      <p:sp>
        <p:nvSpPr>
          <p:cNvPr id="6" name="">
            <a:extLst xmlns:a="http://schemas.openxmlformats.org/drawingml/2006/main">
              <a:ext uri="{FF2B5EF4-FFF2-40B4-BE49-F238E27FC236}">
                <a16:creationId xmlns:a16="http://schemas.microsoft.com/office/drawing/2014/main" id="{093F8EFE-7C1E-4576-AC85-EC39682E357E}"/>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18D5EA-DB9E-470C-95DD-83709D3688C2}"/>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C_ν,R(u) = t_ν,R(t_ν⁻¹(u₁), …, t_ν⁻¹(u_d))</a:t>
            </a:r>
          </a:p>
        </p:txBody>
      </p:sp>
      <p:sp>
        <p:nvSpPr>
          <p:cNvPr id="8" name="">
            <a:extLst xmlns:a="http://schemas.openxmlformats.org/drawingml/2006/main">
              <a:ext uri="{FF2B5EF4-FFF2-40B4-BE49-F238E27FC236}">
                <a16:creationId xmlns:a16="http://schemas.microsoft.com/office/drawing/2014/main" id="{4C8C5738-7CE4-4B86-8E85-2C0C4474CD49}"/>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9AA5EE-CEFD-4179-85CC-2A7F999FC131}"/>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50936900-5204-4E99-8698-EFBE9214312D}"/>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04E2A2B4-5162-4187-A2C1-2CFB657932F2}"/>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56728C-BBE4-4416-AC83-F26DE4B79CF4}"/>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DA7A5255-AE5F-440A-8B87-30357DBD7FB2}"/>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31BAE3C8-61C0-4F00-9F79-C0F6662C4C8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511BFD-4253-4AA0-B28B-5BC77B0DA59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463366188"/>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7F50791-B9C0-40B7-9A80-3C14D824686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55FCE420-FDA9-4DF2-8BAF-0159FE0D65A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2D2C3D-06B0-4595-9C17-8E8830641F3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A4006146-5580-4403-BBC2-63D8F566E4A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6359D19C-3EBF-4F5E-A42C-7B2E17A750A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51</a:t>
            </a:r>
          </a:p>
        </p:txBody>
      </p:sp>
      <p:sp>
        <p:nvSpPr>
          <p:cNvPr id="6" name="">
            <a:extLst xmlns:a="http://schemas.openxmlformats.org/drawingml/2006/main">
              <a:ext uri="{FF2B5EF4-FFF2-40B4-BE49-F238E27FC236}">
                <a16:creationId xmlns:a16="http://schemas.microsoft.com/office/drawing/2014/main" id="{40511B02-0FCC-46B0-B369-030C122EE922}"/>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5A748E-14A9-4186-A513-BF37535B7E14}"/>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C_θ(u,v) = (u⁻ᶿ + v⁻ᶿ − 1)^(−1/θ) ,  θ &gt; 0</a:t>
            </a:r>
          </a:p>
        </p:txBody>
      </p:sp>
      <p:sp>
        <p:nvSpPr>
          <p:cNvPr id="8" name="">
            <a:extLst xmlns:a="http://schemas.openxmlformats.org/drawingml/2006/main">
              <a:ext uri="{FF2B5EF4-FFF2-40B4-BE49-F238E27FC236}">
                <a16:creationId xmlns:a16="http://schemas.microsoft.com/office/drawing/2014/main" id="{EE218C32-C3A5-4BD6-9545-BDAFFCAB638F}"/>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D6BD91B1-CEF3-4EFB-91A2-6FB78081B861}"/>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CFFE456C-11DA-45F3-A6F6-1D48D130BA10}"/>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E2EEF90-C587-4896-BAFE-2D168F57AC33}"/>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下側裾：λL = 2⁻¹/θ、上側裾：λU = 0。</a:t>
            </a:r>
          </a:p>
        </p:txBody>
      </p:sp>
      <p:sp>
        <p:nvSpPr>
          <p:cNvPr id="12" name="">
            <a:extLst xmlns:a="http://schemas.openxmlformats.org/drawingml/2006/main">
              <a:ext uri="{FF2B5EF4-FFF2-40B4-BE49-F238E27FC236}">
                <a16:creationId xmlns:a16="http://schemas.microsoft.com/office/drawing/2014/main" id="{CC4042C5-1263-4B70-A800-9B8EDF1FF03E}"/>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4743EBA-F926-4131-9753-202646148DD1}"/>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A58EE74E-6100-4FD5-81A6-69346445C64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4B7F1E0-8AC2-48D3-AD95-2DEE8DA5FBB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1519635652"/>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1F1896-30A5-4722-A3BE-E4C098F24E5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69051CEE-A984-41C1-B3E0-D6C9AEDAF8A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92ABFC-C404-40FE-BD71-A7104DE44FB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1A712782-3508-4328-9331-E76E930BB3F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82EEE0B5-9373-4D30-A4DD-FECF013354B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52</a:t>
            </a:r>
          </a:p>
        </p:txBody>
      </p:sp>
      <p:sp>
        <p:nvSpPr>
          <p:cNvPr id="6" name="">
            <a:extLst xmlns:a="http://schemas.openxmlformats.org/drawingml/2006/main">
              <a:ext uri="{FF2B5EF4-FFF2-40B4-BE49-F238E27FC236}">
                <a16:creationId xmlns:a16="http://schemas.microsoft.com/office/drawing/2014/main" id="{3D39F3D1-FFAC-4309-98A8-EEDABC82B6C5}"/>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31D5A9-8FDC-444C-A617-E104104AE212}"/>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C_θ(u,v) = exp{−[(−ln u)ᶿ + (−ln v)ᶿ]^(1/θ)}</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λU = 2 − 2¹/θ、λL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CA399E8-9043-42AA-9F10-D225331102C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9780F6-DD00-49D0-BA8F-7659E254324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1609665085"/>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217407-04DB-4A90-9174-3267290BFE1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76CC5052-34B8-4387-9F5F-37F0A1186A1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37A9A6-7A3C-4EA7-9E95-81BEE6C2EAC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F47AFE9C-D10B-49E0-872D-50A1A25CF58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916300E-92C7-4D4E-8DB8-FC85AD7E95D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53</a:t>
            </a:r>
          </a:p>
        </p:txBody>
      </p:sp>
      <p:sp>
        <p:nvSpPr>
          <p:cNvPr id="6" name="">
            <a:extLst xmlns:a="http://schemas.openxmlformats.org/drawingml/2006/main">
              <a:ext uri="{FF2B5EF4-FFF2-40B4-BE49-F238E27FC236}">
                <a16:creationId xmlns:a16="http://schemas.microsoft.com/office/drawing/2014/main" id="{FCAB2793-211B-457F-9BD5-085E695F761B}"/>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2AB9DC-D971-47C8-8412-6A0E1DEA7AA2}"/>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C_θ(u,v) = −(1/θ) ln[1 + (e^(−θu) − 1)(e^(−θv) − 1)/(e^(−θ) − 1)]</a:t>
            </a:r>
          </a:p>
        </p:txBody>
      </p:sp>
      <p:sp>
        <p:nvSpPr>
          <p:cNvPr id="8" name="">
            <a:extLst xmlns:a="http://schemas.openxmlformats.org/drawingml/2006/main">
              <a:ext uri="{FF2B5EF4-FFF2-40B4-BE49-F238E27FC236}">
                <a16:creationId xmlns:a16="http://schemas.microsoft.com/office/drawing/2014/main" id="{79958532-2526-4B6C-82F8-3946D844FF98}"/>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FABBDD1E-09E9-42AD-A01B-7BB8FF7ED174}"/>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489CD2C6-716B-4257-B7FA-325FB8A16B5F}"/>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0181D4D-2150-4437-A1B4-2921E2091180}"/>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BEC78DB8-E9FC-4BD5-BD48-2E4DBD8D96AB}"/>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6A87E0C6-0933-4772-B45E-60DE7DA33A4D}"/>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F69849B2-7920-4E26-8296-E444DE276B2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5D2545A-55B5-452D-A723-1C9ADA96778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1253052575"/>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D4ACB7-BD7E-48FD-8FBE-DB4BF9E4C68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A00C7CEB-BEFC-4322-94F1-66D4B2CDE6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028EED-3CAC-4A4F-968E-419AC81F2C2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単一の家族では足りない関係を、別の構成で扱う。</a:t>
            </a:r>
          </a:p>
        </p:txBody>
      </p:sp>
      <p:sp>
        <p:nvSpPr>
          <p:cNvPr id="4" name="">
            <a:extLst xmlns:a="http://schemas.openxmlformats.org/drawingml/2006/main">
              <a:ext uri="{FF2B5EF4-FFF2-40B4-BE49-F238E27FC236}">
                <a16:creationId xmlns:a16="http://schemas.microsoft.com/office/drawing/2014/main" id="{C7DF51A6-5F1C-4792-AEEF-6CF5ADA7299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3ADEC30-0096-4B1A-96D5-D287FE2BC0E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54</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ペアごとに別の家族を組合せる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構造・家族選択と条件付き計算が複雑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1CA529-D8FB-404F-A723-F95ECDBFB0E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4D5998-E53C-4D29-A155-6FA9CDEEC10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1366535303"/>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D6C673B-C616-43D8-96AA-14538E3C1F3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BF2CCA38-5ED2-4D2E-9B00-C543734AEA4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A400D9-EEED-47CD-AE13-636772111E4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593185CD-3563-4186-B266-DCB6D81374C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9FF2D4BB-D3A6-4C09-B5DC-8C0D4975A2B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55</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C3403C-E90C-40CD-ADF8-DC1766FFDDF5}"/>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CE838FC2-56FB-449C-BE8F-BBEFFE90807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F845D8-334B-4EF6-B6C7-5FA63876B5E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1178924218"/>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27B581-E75B-4C6B-A77A-84148C6A866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E6620FAB-7E58-48C9-941C-33980EA545E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829DF0-3B54-4520-9BA5-36AD4911773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A067C151-53BE-4525-A1F6-0075BF57996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B027F73B-95C4-44AC-A0C7-E0C4E296AA6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56</a:t>
            </a:r>
          </a:p>
        </p:txBody>
      </p:sp>
      <p:sp>
        <p:nvSpPr>
          <p:cNvPr id="6" name="">
            <a:extLst xmlns:a="http://schemas.openxmlformats.org/drawingml/2006/main">
              <a:ext uri="{FF2B5EF4-FFF2-40B4-BE49-F238E27FC236}">
                <a16:creationId xmlns:a16="http://schemas.microsoft.com/office/drawing/2014/main" id="{FDF6B7C6-4C17-4E6A-A111-5D6ACE28F27E}"/>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71DFF766-1B8D-4BAC-A08C-FCEC1213E7CE}"/>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B2F41006-D49A-463A-B432-E9D0DBE447B1}"/>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C4F6B41-1355-4CFA-8999-16B8F95FCD96}"/>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66AB91A0-1303-4272-A2FE-C4249AE563A2}"/>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B972A31-E6BF-4539-A2D9-6CE19E305D96}"/>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C6F9DD87-A439-4866-8769-07D85AEB75FE}"/>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C7F51D3-310A-4D14-A149-A47905F00790}"/>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5022ACAB-4B4A-434D-86ED-E8A7CF655FC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4B5B388-6438-44DC-88AF-967881AC966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1256700603"/>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C21E136-87EE-4EE6-B1A7-EBF1490DC09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1C7A2142-F718-4A8C-8E76-41A607612D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205FC4-07F6-4B31-B373-DFCAA9C7654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7B8B123C-086C-4832-B2A2-02F424B6005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5A26F8B9-2F14-4283-B1DA-8F488FFC46D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57</a:t>
            </a:r>
          </a:p>
        </p:txBody>
      </p:sp>
      <p:sp>
        <p:nvSpPr>
          <p:cNvPr id="6" name="">
            <a:extLst xmlns:a="http://schemas.openxmlformats.org/drawingml/2006/main">
              <a:ext uri="{FF2B5EF4-FFF2-40B4-BE49-F238E27FC236}">
                <a16:creationId xmlns:a16="http://schemas.microsoft.com/office/drawing/2014/main" id="{593977ED-ADD7-4E65-9787-09E1BA65174B}"/>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52709484-E909-4834-8AA1-C75C9F7BA129}"/>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0CF8DF41-B21B-45D2-93F0-67EA81CC06C6}"/>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B3D65535-5E99-47B1-9ECD-89C2B2E54A85}"/>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A1D25637-F352-4CD1-B02C-15CEDEAE1EE5}"/>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1CC510E8-67F1-404C-A953-B26D90A857BA}"/>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3A63E023-0F05-4DF2-8503-B91DF5F153F4}"/>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5B787BCA-3BF8-415F-904D-7CDB022A8790}"/>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0C93DF83-0B2B-438E-ABE3-9147B79E3E6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9A1443-7628-4A77-87E9-7812D0CF6D3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1565402019"/>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DCA18F-AEE7-42B9-8C8F-E3C8FD23DE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9675D384-CE7B-4C88-9A22-A78EAD99FAC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7BE1A1-0CC7-4FB1-9A20-A017E1196D6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33951BC7-4361-46D5-B1B2-7509A714749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00F17EA7-CED3-4DC9-81E5-4D99375D468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58</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09ED2CE1-4A21-453C-A5A8-C95247E0261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2C57BA-AE90-45D4-A74B-5CA96F9CCBD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1293222580"/>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95A1B0-1475-4AFC-82B0-62770483F85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EEA19CFD-5E8E-42E2-B4E8-E32D3A3A76C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BA214E-3AC0-4E5E-AB91-35F37AB3330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93279FE7-892D-4254-9854-FF52E4FB6C1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AB17C63E-8B89-4A6E-AD03-E5DC3CC022A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59</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74600FDD-C61B-41DC-A48C-2ED5C051783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C30945D-02CA-420A-A091-06C46EB6E47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1711905003"/>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CEF892-DBDF-4376-8F17-6004796DD02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0742F6B4-3B35-4706-AF35-F818259F2E0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569D6A-64A0-4921-B158-D1521C96F2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9E5E2CF5-6671-4E73-A3C7-88D1AE7145C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EEF1C547-4203-4ED3-96D7-312661E1190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60</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6D9E2C2-F7F3-4C2A-B538-2381B4E28F10}"/>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B747C5FA-6443-4707-9C7A-6DC8D14EA3E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E89EB6-980B-470D-8360-E8B7D628A6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1422241535"/>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AE38E6-7549-4BF2-8383-70DF42B3F48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E6061C4A-BDAC-465F-84B8-8FAE2FB28E6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023BD8-FBA9-4FC7-99B5-9C97D313765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6E71E913-C068-43B0-AE48-ACF27E6B293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2CD1C368-8A68-4121-B398-411EF193E78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61</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CFEDDFCB-75F8-4F83-8591-A0DA05FBBCB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11A1DF-1500-467D-B763-00B3EB95222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296669766"/>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C5CA0C-3912-410A-8AA6-6CD0733667C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9FF6CF81-55FF-43B4-919E-992993D9E28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E1C8D4-259D-43ED-B933-8F89DA6D77E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0BE3B7A7-5913-4DF3-B726-22AD6427D9B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F849D45A-F3F4-43EE-A2CB-E67D3A466CA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62</a:t>
            </a:r>
          </a:p>
        </p:txBody>
      </p:sp>
      <p:sp>
        <p:nvSpPr>
          <p:cNvPr id="6" name="">
            <a:extLst xmlns:a="http://schemas.openxmlformats.org/drawingml/2006/main">
              <a:ext uri="{FF2B5EF4-FFF2-40B4-BE49-F238E27FC236}">
                <a16:creationId xmlns:a16="http://schemas.microsoft.com/office/drawing/2014/main" id="{A5F29417-866E-48FF-A1CF-191B6512D337}"/>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142B82-9AA8-41B8-84D8-F35FC929F8D0}"/>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ECC62D5C-33D5-433C-BE38-744CFA8810AD}"/>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64576A-76ED-4E11-A451-7D7D8841DEAC}"/>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2F52382C-5EF8-41DB-BEDD-239A3DA64B86}"/>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8143D527-BC15-4CA0-919F-C4D3A6FC979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86B3F8-A889-4E44-BBDB-44AA927C146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202272626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F46579-61BB-409D-BBBB-6346BBAFC79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3DB45847-7002-4A32-BAED-C6113A515E8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565C4D-6E84-4FD5-9564-7D1CE979DA7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8BD9A8F2-0CC8-41CA-9CED-1DE26CB2C09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B9C4BB9D-2F52-4101-899E-09BED8329B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63</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731DEF5-2A4E-40BA-A444-01130A6ADB3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987E3A-14F2-4632-8B19-D53949F42BB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860537268"/>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51704E-935C-45F6-A2B1-033617415C9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405294B4-D627-46BA-B55D-D2DAE6B97F5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16CF7D-AAC0-4FAD-9C2B-B053AF934FC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8F780792-2662-4CD9-BA1F-6213AFBCB7D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604B2C86-92F4-4D08-BE33-6E5AD17FB11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64</a:t>
            </a:r>
          </a:p>
        </p:txBody>
      </p:sp>
      <p:sp>
        <p:nvSpPr>
          <p:cNvPr id="6" name="">
            <a:extLst xmlns:a="http://schemas.openxmlformats.org/drawingml/2006/main">
              <a:ext uri="{FF2B5EF4-FFF2-40B4-BE49-F238E27FC236}">
                <a16:creationId xmlns:a16="http://schemas.microsoft.com/office/drawing/2014/main" id="{8EF25A40-6CEC-48F5-B4E1-DB597BD76727}"/>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A4C144-D331-49B8-80B9-3D6448DB32F5}"/>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FAAC8BD8-A6A2-45A6-8505-7D466EBE22C9}"/>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9243F118-C3C2-4330-836C-75553EF7FFD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D3E935-CF5A-4671-A431-2339A645CFE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675615942"/>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61A477-41F3-40DD-BB66-87B225E7FAE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82D73D42-7C9E-4DAF-A6F7-98C0601C083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36A524-4466-4555-84D1-645795B851A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6977432C-E0B7-4825-BD56-B0CDE0B9E7B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E4E1BDCC-2C82-4CEA-B197-8FCC2D41367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65</a:t>
            </a:r>
          </a:p>
        </p:txBody>
      </p:sp>
      <p:sp>
        <p:nvSpPr>
          <p:cNvPr id="6" name="">
            <a:extLst xmlns:a="http://schemas.openxmlformats.org/drawingml/2006/main">
              <a:ext uri="{FF2B5EF4-FFF2-40B4-BE49-F238E27FC236}">
                <a16:creationId xmlns:a16="http://schemas.microsoft.com/office/drawing/2014/main" id="{F80DA863-1830-4FE6-B453-CDF12089ACFE}"/>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種類：Demarta &amp; McNeil (2005) ／ Czado &amp; Nagler (2022)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応用：Zhao &amp; Udell (KDD 2020) ／ Aas et al. (2021)</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学習：Yoon et al., VIME (NeurIPS 2020) ／ Cui et al. (2024)</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実装：research-bench/src/tabular_research/corruption.py</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比較：research-bench/scripts/quick_compare.py</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保存結果：research-bench/results/repeated_compare.json</a:t>
            </a:r>
          </a:p>
        </p:txBody>
      </p:sp>
      <p:sp>
        <p:nvSpPr>
          <p:cNvPr id="7" name="">
            <a:extLst xmlns:a="http://schemas.openxmlformats.org/drawingml/2006/main">
              <a:ext uri="{FF2B5EF4-FFF2-40B4-BE49-F238E27FC236}">
                <a16:creationId xmlns:a16="http://schemas.microsoft.com/office/drawing/2014/main" id="{6DCBCE29-5CE0-4C33-936A-1172CB58D18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C5E609-19F0-4B57-BA63-36DEEDD5ECF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498954765"/>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